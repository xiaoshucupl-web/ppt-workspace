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731520"/>
            <a:ext cx="128016" cy="128016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77240"/>
            <a:ext cx="10058400" cy="548640"/>
          </a:xfrm>
          <a:prstGeom prst="rect">
            <a:avLst/>
          </a:prstGeom>
          <a:noFill/>
        </p:spPr>
        <p:txBody>
          <a:bodyPr wrap="square" anchor="t" lIns="50800" rIns="50800" tIns="25400" bIns="25400">
            <a:spAutoFit/>
          </a:bodyPr>
          <a:lstStyle/>
          <a:p>
            <a:r>
              <a:rPr sz="2000" b="0" i="0">
                <a:solidFill>
                  <a:srgbClr val="BFCCDD"/>
                </a:solidFill>
                <a:latin typeface="微软雅黑"/>
                <a:ea typeface="微软雅黑"/>
                <a:cs typeface="微软雅黑"/>
              </a:rPr>
              <a:t>《法律文书写作》</a:t>
            </a:r>
          </a:p>
        </p:txBody>
      </p:sp>
      <p:sp>
        <p:nvSpPr>
          <p:cNvPr id="6" name="TextBox 5"/>
          <p:cNvSpPr txBox="1"/>
          <p:nvPr/>
        </p:nvSpPr>
        <p:spPr>
          <a:xfrm>
            <a:off x="1097280" y="1325880"/>
            <a:ext cx="10058400" cy="548640"/>
          </a:xfrm>
          <a:prstGeom prst="rect">
            <a:avLst/>
          </a:prstGeom>
          <a:noFill/>
        </p:spPr>
        <p:txBody>
          <a:bodyPr wrap="square" anchor="t" lIns="50800" rIns="50800" tIns="25400" bIns="25400">
            <a:spAutoFit/>
          </a:bodyPr>
          <a:lstStyle/>
          <a:p>
            <a:r>
              <a:rPr sz="2200" b="1" i="0">
                <a:solidFill>
                  <a:srgbClr val="B6862C"/>
                </a:solidFill>
                <a:latin typeface="微软雅黑"/>
                <a:ea typeface="微软雅黑"/>
                <a:cs typeface="微软雅黑"/>
              </a:rPr>
              <a:t>第二十二讲 · 律师文书（四）</a:t>
            </a:r>
          </a:p>
        </p:txBody>
      </p:sp>
      <p:sp>
        <p:nvSpPr>
          <p:cNvPr id="7" name="TextBox 6"/>
          <p:cNvSpPr txBox="1"/>
          <p:nvPr/>
        </p:nvSpPr>
        <p:spPr>
          <a:xfrm>
            <a:off x="1051560" y="2468880"/>
            <a:ext cx="10241280" cy="1554480"/>
          </a:xfrm>
          <a:prstGeom prst="rect">
            <a:avLst/>
          </a:prstGeom>
          <a:noFill/>
        </p:spPr>
        <p:txBody>
          <a:bodyPr wrap="square" anchor="t" lIns="50800" rIns="50800" tIns="25400" bIns="25400">
            <a:spAutoFit/>
          </a:bodyPr>
          <a:lstStyle/>
          <a:p>
            <a:pPr>
              <a:lnSpc>
                <a:spcPct val="110000"/>
              </a:lnSpc>
            </a:pPr>
            <a:r>
              <a:rPr sz="4000" b="1" i="0">
                <a:solidFill>
                  <a:srgbClr val="FFFFFF"/>
                </a:solidFill>
                <a:latin typeface="微软雅黑"/>
                <a:ea typeface="微软雅黑"/>
                <a:cs typeface="微软雅黑"/>
              </a:rPr>
              <a:t>刑事上诉状、民事上诉状</a:t>
            </a:r>
          </a:p>
          <a:p>
            <a:pPr>
              <a:lnSpc>
                <a:spcPct val="110000"/>
              </a:lnSpc>
            </a:pPr>
            <a:r>
              <a:rPr sz="4000" b="1" i="0">
                <a:solidFill>
                  <a:srgbClr val="FFFFFF"/>
                </a:solidFill>
                <a:latin typeface="微软雅黑"/>
                <a:ea typeface="微软雅黑"/>
                <a:cs typeface="微软雅黑"/>
              </a:rPr>
              <a:t>与行政上诉状</a:t>
            </a:r>
          </a:p>
        </p:txBody>
      </p:sp>
      <p:sp>
        <p:nvSpPr>
          <p:cNvPr id="8" name="TextBox 7"/>
          <p:cNvSpPr txBox="1"/>
          <p:nvPr/>
        </p:nvSpPr>
        <p:spPr>
          <a:xfrm>
            <a:off x="1097280" y="4297680"/>
            <a:ext cx="10058400" cy="731520"/>
          </a:xfrm>
          <a:prstGeom prst="rect">
            <a:avLst/>
          </a:prstGeom>
          <a:noFill/>
        </p:spPr>
        <p:txBody>
          <a:bodyPr wrap="square" anchor="t" lIns="50800" rIns="50800" tIns="25400" bIns="25400">
            <a:spAutoFit/>
          </a:bodyPr>
          <a:lstStyle/>
          <a:p>
            <a:r>
              <a:rPr sz="1900" b="0" i="0">
                <a:solidFill>
                  <a:srgbClr val="D7DEE8"/>
                </a:solidFill>
                <a:latin typeface="微软雅黑"/>
                <a:ea typeface="微软雅黑"/>
                <a:cs typeface="微软雅黑"/>
              </a:rPr>
              <a:t>从“一审起诉”到“不服裁判、请求二审改判”的上诉状写作</a:t>
            </a:r>
          </a:p>
        </p:txBody>
      </p:sp>
      <p:sp>
        <p:nvSpPr>
          <p:cNvPr id="9" name="Rectangle 8"/>
          <p:cNvSpPr/>
          <p:nvPr/>
        </p:nvSpPr>
        <p:spPr>
          <a:xfrm>
            <a:off x="1097280" y="5440680"/>
            <a:ext cx="5486400" cy="17780"/>
          </a:xfrm>
          <a:prstGeom prst="rect">
            <a:avLst/>
          </a:prstGeom>
          <a:solidFill>
            <a:srgbClr val="445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623560"/>
            <a:ext cx="10058400" cy="457200"/>
          </a:xfrm>
          <a:prstGeom prst="rect">
            <a:avLst/>
          </a:prstGeom>
          <a:noFill/>
        </p:spPr>
        <p:txBody>
          <a:bodyPr wrap="square" anchor="t" lIns="50800" rIns="50800" tIns="25400" bIns="25400">
            <a:spAutoFit/>
          </a:bodyPr>
          <a:lstStyle/>
          <a:p>
            <a:r>
              <a:rPr sz="1600" b="0" i="0">
                <a:solidFill>
                  <a:srgbClr val="C8D2E0"/>
                </a:solidFill>
                <a:latin typeface="微软雅黑"/>
                <a:ea typeface="微软雅黑"/>
                <a:cs typeface="微软雅黑"/>
              </a:rPr>
              <a:t>主讲教师：＿＿＿＿＿　法学院</a:t>
            </a:r>
          </a:p>
        </p:txBody>
      </p:sp>
      <p:sp>
        <p:nvSpPr>
          <p:cNvPr id="11" name="TextBox 10"/>
          <p:cNvSpPr txBox="1"/>
          <p:nvPr/>
        </p:nvSpPr>
        <p:spPr>
          <a:xfrm>
            <a:off x="1097280" y="6035040"/>
            <a:ext cx="10058400" cy="457200"/>
          </a:xfrm>
          <a:prstGeom prst="rect">
            <a:avLst/>
          </a:prstGeom>
          <a:noFill/>
        </p:spPr>
        <p:txBody>
          <a:bodyPr wrap="square" anchor="t" lIns="50800" rIns="50800" tIns="25400" bIns="25400">
            <a:spAutoFit/>
          </a:bodyPr>
          <a:lstStyle/>
          <a:p>
            <a:r>
              <a:rPr sz="1300" b="0" i="0">
                <a:solidFill>
                  <a:srgbClr val="8F9DB2"/>
                </a:solidFill>
                <a:latin typeface="微软雅黑"/>
                <a:ea typeface="微软雅黑"/>
                <a:cs typeface="微软雅黑"/>
              </a:rPr>
              <a:t>配套教材：第七章第六节、第七节、第八节</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导入：从起诉状到上诉状</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前几讲学习了刑事自诉状、民事起诉状、附带民事起诉状、行政起诉状，它们的共同功能是“启动一审程序”</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今天学习的三类上诉状，功能是“启动二审程序”：当事人不服一审裁判，依法向上一级人民法院请求撤销、变更原裁判或重新审理</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两审终审制是我国一项重要审判制度，依法上诉是当事人的重要诉讼权利，对被告人的上诉权不得以任何借口加以剥夺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壹</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刑事上诉状</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概念与上诉主体、上诉期限</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内容和写法（首部、请求理由、附项）</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真实范文：刘XX合同诈骗案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一、刑事上诉状的概念与上诉主体、上诉期限</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刑事上诉状：刑事诉讼被告人及其法定代理人不服地方各级人民法院第一审的刑事判决或裁定，依照法定程序和期限向上一级人民法院上诉，请求撤销、变更原裁判，或重新审理而提出的文书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刑事诉讼法》第227条〔待核实具体修正年份〕规定有权上诉的人是：当事人和他的法定代理人；被告人的近亲属和他的辩护人经被告人同意也可以提出上诉；附带民事诉讼的当事人和他们的法定代理人可以对附带民事诉讼部分提出上诉</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上诉一般用书状提出，也可以用口头方式提出</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《刑事诉讼法》第230条〔待核实具体修正年份〕规定：不服判决的上诉期限是10日，不服裁定的上诉期限为5日，从接到判决书、裁定书的第二日起算</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二、刑事上诉状的内容和写法（一）：首部</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首部三项内容</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标题：写明“刑事上诉状”字样</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上诉人栏：写明上诉人的姓名、性别、年龄、民族、户籍地、职业、住址</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案由：写明不服原审判决（或裁定）的事由——“上诉人因XX一案，不服XX人民法院XX年XX月XX日XX刑初XX号刑事判决（或裁定），现提出上诉，上诉的请求和理由如下……”</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请求可从四方面提出</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原审裁判事实认定有错误、有出入、不清楚，或有遗漏，以及认定的事实根本不存在</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原审裁判认定上诉人的行为已构成犯罪，而上诉人只有一般违法行为，或情节显著轻微</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原审裁判适用法律不当，定性、定罪不准</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原审裁判违反法定诉讼程序</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三、刑事上诉状的内容和写法（二）：理由部分的两种写法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6</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上诉理由部分主要是针对原审裁判的不当，采用驳论手法，在反驳中正面说理，阐述上诉的根据</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写法一：先摆出不服的论点，然后逐一进行反驳。可以是先综合归纳概括成几个论点一并摆出再一一反驳，也可以是摆一个驳一个</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写法二：用摆事实讲道理的方法进行反驳，既可以直接反驳其论点，也可以通过反驳论据和论证方法反驳论点</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三点注意：要有针对性，针对原审裁判的不当而非对方当事人（反诉除外）；事实要真实可靠，理由要充分，不可强词夺理；结构上开门见山，不说空话废话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四、刑事上诉状的格式与附项要点</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7</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39" cy="4754880"/>
        </p:xfrm>
        <a:graphic>
          <a:graphicData uri="http://schemas.openxmlformats.org/drawingml/2006/table">
            <a:tbl>
              <a:tblPr firstRow="1" bandRow="1">
                <a:tableStyleId>{5C22544A-7EE6-4342-B048-85BDC9FD1C3A}</a:tableStyleId>
              </a:tblPr>
              <a:tblGrid>
                <a:gridCol w="2766060"/>
                <a:gridCol w="8298179"/>
              </a:tblGrid>
              <a:tr h="950976">
                <a:tc>
                  <a:txBody>
                    <a:bodyPr wrap="square"/>
                    <a:lstStyle/>
                    <a:p>
                      <a:pPr algn="ctr"/>
                      <a:r>
                        <a:rPr sz="1400" b="1" i="0">
                          <a:solidFill>
                            <a:srgbClr val="FFFFFF"/>
                          </a:solidFill>
                          <a:latin typeface="微软雅黑"/>
                          <a:ea typeface="微软雅黑"/>
                          <a:cs typeface="微软雅黑"/>
                        </a:rPr>
                        <a:t>部分</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内容要点</a:t>
                      </a:r>
                    </a:p>
                  </a:txBody>
                  <a:tcPr anchor="ctr">
                    <a:solidFill>
                      <a:srgbClr val="142A47"/>
                    </a:solidFill>
                  </a:tcPr>
                </a:tc>
              </a:tr>
              <a:tr h="950976">
                <a:tc>
                  <a:txBody>
                    <a:bodyPr wrap="square"/>
                    <a:lstStyle/>
                    <a:p>
                      <a:pPr algn="ctr"/>
                      <a:r>
                        <a:rPr sz="1250" b="0" i="0">
                          <a:solidFill>
                            <a:srgbClr val="202020"/>
                          </a:solidFill>
                          <a:latin typeface="微软雅黑"/>
                          <a:ea typeface="微软雅黑"/>
                          <a:cs typeface="微软雅黑"/>
                        </a:rPr>
                        <a:t>首部</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标题“刑事上诉状”、上诉人身份事项、案由</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请求和理由</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请求撤销/变更原裁判或重新审理；理由用驳论手法逐一反驳</a:t>
                      </a:r>
                    </a:p>
                  </a:txBody>
                  <a:tcPr anchor="ctr">
                    <a:solidFill>
                      <a:srgbClr val="EEF1F6"/>
                    </a:solidFill>
                  </a:tcPr>
                </a:tc>
              </a:tr>
              <a:tr h="950976">
                <a:tc>
                  <a:txBody>
                    <a:bodyPr wrap="square"/>
                    <a:lstStyle/>
                    <a:p>
                      <a:pPr algn="ctr"/>
                      <a:r>
                        <a:rPr sz="1250" b="0" i="0">
                          <a:solidFill>
                            <a:srgbClr val="202020"/>
                          </a:solidFill>
                          <a:latin typeface="微软雅黑"/>
                          <a:ea typeface="微软雅黑"/>
                          <a:cs typeface="微软雅黑"/>
                        </a:rPr>
                        <a:t>结尾</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此致XX人民法院转送 / XX人民法院；上诉人签名或盖章并注明年月日</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附项</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本上诉状副本X份；证物X件；书证X件</a:t>
                      </a:r>
                    </a:p>
                  </a:txBody>
                  <a:tcPr anchor="ctr">
                    <a:solidFill>
                      <a:srgbClr val="EEF1F6"/>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五、刑事上诉状真实范文：刘XX合同诈骗案</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8</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教材实例（陈卫东、刘计划《法律文书写作（第五版）》）</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上诉人（原审被告人）：刘XX，男，汉族，38岁，初中文化</a:t>
            </a:r>
          </a:p>
          <a:p>
            <a:pPr>
              <a:lnSpc>
                <a:spcPct val="130000"/>
              </a:lnSpc>
              <a:spcAft>
                <a:spcPts val="300"/>
              </a:spcAft>
            </a:pPr>
            <a:r>
              <a:rPr sz="1600" b="0" i="0">
                <a:solidFill>
                  <a:srgbClr val="202020"/>
                </a:solidFill>
                <a:latin typeface="楷体"/>
                <a:ea typeface="楷体"/>
                <a:cs typeface="楷体"/>
              </a:rPr>
              <a:t>案由：因涉嫌合同诈骗罪一案，不服XX市人民法院(20XX)XX刑初XX号刑事判决，现提出上诉</a:t>
            </a:r>
          </a:p>
          <a:p>
            <a:pPr>
              <a:lnSpc>
                <a:spcPct val="130000"/>
              </a:lnSpc>
              <a:spcAft>
                <a:spcPts val="300"/>
              </a:spcAft>
            </a:pPr>
            <a:r>
              <a:rPr sz="1600" b="0" i="0">
                <a:solidFill>
                  <a:srgbClr val="202020"/>
                </a:solidFill>
                <a:latin typeface="楷体"/>
                <a:ea typeface="楷体"/>
                <a:cs typeface="楷体"/>
              </a:rPr>
              <a:t>上诉请求：1.撤销原判决；2.改判被告人不构成犯罪，不承担刑事责任</a:t>
            </a:r>
          </a:p>
          <a:p>
            <a:pPr>
              <a:lnSpc>
                <a:spcPct val="130000"/>
              </a:lnSpc>
              <a:spcAft>
                <a:spcPts val="300"/>
              </a:spcAft>
            </a:pPr>
            <a:r>
              <a:rPr sz="1600" b="0" i="0">
                <a:solidFill>
                  <a:srgbClr val="202020"/>
                </a:solidFill>
                <a:latin typeface="楷体"/>
                <a:ea typeface="楷体"/>
                <a:cs typeface="楷体"/>
              </a:rPr>
              <a:t>上诉理由：1.上诉人地位决定其无从知晓文化公司无履行合同能力，原判决认定事实错误；2.上诉人无非法占有的主观目的，客观上也未占有施工企业钱财，所收履约金均已交给丁XX</a:t>
            </a:r>
          </a:p>
          <a:p>
            <a:pPr>
              <a:lnSpc>
                <a:spcPct val="130000"/>
              </a:lnSpc>
              <a:spcAft>
                <a:spcPts val="300"/>
              </a:spcAft>
            </a:pPr>
            <a:r>
              <a:rPr sz="1600" b="0" i="0">
                <a:solidFill>
                  <a:srgbClr val="202020"/>
                </a:solidFill>
                <a:latin typeface="楷体"/>
                <a:ea typeface="楷体"/>
                <a:cs typeface="楷体"/>
              </a:rPr>
              <a:t>结语：恳请二审法院本着实事求是、认真负责、有错必纠的工作态度，给上诉人一个公平的判决</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本案上诉理由采用“先摆论点再逐一反驳”的写法，分别针对“明知无履行能力”和“非法占有目的”两个一审认定的关键事实逐项驳论</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贰</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民事上诉状</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概念与上诉期限</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内容和写法（与刑事上诉状通用）</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真实范文：李XX离婚案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六、民事上诉状的概念与上诉期限</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10</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民事上诉状：民事诉讼当事人及其法定代理人不服地方各级人民法院第一审民事判决或裁定，依法向上一级人民法院上诉，请求撤销、变更原审裁判或重新审判而提出的书状</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它是保护民事案件当事人，特别是败诉一方当事人合法权益的一种诉讼文书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上诉期限：不服第一审判决的上诉期限为15日，不服第一审裁定的上诉期限为10日，从接到判决书或裁定书的第二日起算</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上诉人通过原审人民法院或者直接向第二审人民法院提出民事上诉状的，应按照对方当事人的人数提出上诉状副本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七、民事上诉状的内容和写法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首部四项内容</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标题：写明“民事上诉状”字样</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上诉人栏：姓名、性别、年龄、民族、户籍地、职业、住址</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被上诉人栏：姓名、性别、年龄、民族、户籍地、职业、住址</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案由：写明不服原审判决（或裁定）的事由</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请求理由与附项</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请求部分写明不服原审判决（或裁定），要求撤销、变更或重新审判</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理由部分写明依据，写法可参阅刑事上诉状一节所述要求</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格式有两种：格式一供自然当事人用，格式二供法人、非法人组织用</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附项：本上诉状副本X份；证物X件；书证X件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八、民事上诉状真实范文：李XX离婚案</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教材实例（陈卫东、刘计划《法律文书写作（第五版）》）</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上诉人（原审被告）：郑XX，女，40岁；被上诉人（原审原告）：李XX，男，42岁</a:t>
            </a:r>
          </a:p>
          <a:p>
            <a:pPr>
              <a:lnSpc>
                <a:spcPct val="130000"/>
              </a:lnSpc>
              <a:spcAft>
                <a:spcPts val="300"/>
              </a:spcAft>
            </a:pPr>
            <a:r>
              <a:rPr sz="1600" b="0" i="0">
                <a:solidFill>
                  <a:srgbClr val="202020"/>
                </a:solidFill>
                <a:latin typeface="楷体"/>
                <a:ea typeface="楷体"/>
                <a:cs typeface="楷体"/>
              </a:rPr>
              <a:t>案由：不服XX区人民法院(20XX)民初XX号民事判决（判决离婚），提出上诉</a:t>
            </a:r>
          </a:p>
          <a:p>
            <a:pPr>
              <a:lnSpc>
                <a:spcPct val="130000"/>
              </a:lnSpc>
              <a:spcAft>
                <a:spcPts val="300"/>
              </a:spcAft>
            </a:pPr>
            <a:r>
              <a:rPr sz="1600" b="0" i="0">
                <a:solidFill>
                  <a:srgbClr val="202020"/>
                </a:solidFill>
                <a:latin typeface="楷体"/>
                <a:ea typeface="楷体"/>
                <a:cs typeface="楷体"/>
              </a:rPr>
              <a:t>上诉请求：不同意离婚，请求撤销原判</a:t>
            </a:r>
          </a:p>
          <a:p>
            <a:pPr>
              <a:lnSpc>
                <a:spcPct val="130000"/>
              </a:lnSpc>
              <a:spcAft>
                <a:spcPts val="300"/>
              </a:spcAft>
            </a:pPr>
            <a:r>
              <a:rPr sz="1600" b="0" i="0">
                <a:solidFill>
                  <a:srgbClr val="202020"/>
                </a:solidFill>
                <a:latin typeface="楷体"/>
                <a:ea typeface="楷体"/>
                <a:cs typeface="楷体"/>
              </a:rPr>
              <a:t>上诉理由：逐一反驳原判认定的三项事实——“双方经济情况互不公开”与事实不符（有婚前协议及邻居证明）；“经常争吵、感情完全破裂”不合实际；“被告不做和好工作、组织多次调解未见效”与事实不符</a:t>
            </a:r>
          </a:p>
          <a:p>
            <a:pPr>
              <a:lnSpc>
                <a:spcPct val="130000"/>
              </a:lnSpc>
              <a:spcAft>
                <a:spcPts val="300"/>
              </a:spcAft>
            </a:pPr>
            <a:r>
              <a:rPr sz="1600" b="0" i="0">
                <a:solidFill>
                  <a:srgbClr val="202020"/>
                </a:solidFill>
                <a:latin typeface="楷体"/>
                <a:ea typeface="楷体"/>
                <a:cs typeface="楷体"/>
              </a:rPr>
              <a:t>结语：我与李XX的感情并未彻底破裂，尚有和好希望，原离婚判决是错误的，请求撤销原判</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本诉状的特点是针对原判决的论点逐项进行辩驳，阐明了不同意原判决的理由，是“先摆论点再逐一反驳”写法的典型示例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叁</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行政上诉状</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概念</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格式与民事上诉状相同</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真实范文：支XX不服一审行政判决案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九、行政上诉状的概念</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行政上诉状：行政诉讼当事人（原告或被告）不服地方各级人民法院所作出的第一审行政判决或者裁定，依照法定程序和期限，向上一级人民法院提起上诉，请求重新处理的书状</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行政上诉状的格式和制作方法，与民事上诉状的相同</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提示：行政诉讼中原告、被告都可能成为上诉人，这与刑事案件通常仅被告人一方上诉、民事案件双方均可上诉的情况既有相似也有区别，需结合具体案件判断谁是上诉人、谁是被上诉人</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十、行政上诉状真实范文：支XX不服一审行政判决案</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教材实例（陈卫东、刘计划《法律文书写作（第五版）》）</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上诉人（原审原告）：支XX，男，56岁，农民；被上诉人（原审被告）：XX县税务局</a:t>
            </a:r>
          </a:p>
          <a:p>
            <a:pPr>
              <a:lnSpc>
                <a:spcPct val="130000"/>
              </a:lnSpc>
              <a:spcAft>
                <a:spcPts val="300"/>
              </a:spcAft>
            </a:pPr>
            <a:r>
              <a:rPr sz="1600" b="0" i="0">
                <a:solidFill>
                  <a:srgbClr val="202020"/>
                </a:solidFill>
                <a:latin typeface="楷体"/>
                <a:ea typeface="楷体"/>
                <a:cs typeface="楷体"/>
              </a:rPr>
              <a:t>案由：因税务行政处罚一案，不服XX县人民法院(20XX)XX行字第XX号行政判决，现提出上诉</a:t>
            </a:r>
          </a:p>
          <a:p>
            <a:pPr>
              <a:lnSpc>
                <a:spcPct val="130000"/>
              </a:lnSpc>
              <a:spcAft>
                <a:spcPts val="300"/>
              </a:spcAft>
            </a:pPr>
            <a:r>
              <a:rPr sz="1600" b="0" i="0">
                <a:solidFill>
                  <a:srgbClr val="202020"/>
                </a:solidFill>
                <a:latin typeface="楷体"/>
                <a:ea typeface="楷体"/>
                <a:cs typeface="楷体"/>
              </a:rPr>
              <a:t>上诉请求：1.撤销原审行政判决；2.撤销XX县税务局对支XX的行政处理决定；3.XX县税务局赔偿支XX的经济损失1,000元</a:t>
            </a:r>
          </a:p>
          <a:p>
            <a:pPr>
              <a:lnSpc>
                <a:spcPct val="130000"/>
              </a:lnSpc>
              <a:spcAft>
                <a:spcPts val="300"/>
              </a:spcAft>
            </a:pPr>
            <a:r>
              <a:rPr sz="1600" b="0" i="0">
                <a:solidFill>
                  <a:srgbClr val="202020"/>
                </a:solidFill>
                <a:latin typeface="楷体"/>
                <a:ea typeface="楷体"/>
                <a:cs typeface="楷体"/>
              </a:rPr>
              <a:t>上诉理由：一审判决认定支XX为纳税义务人是错误的，纳税义务人应是承包人付XX，这在承包合同中有明确规定；税务机关错误认定致使支XX遭受严重经济损失，依据《国家赔偿法》第2条〔待核实具体修正年份〕应予赔偿</a:t>
            </a:r>
          </a:p>
          <a:p>
            <a:pPr>
              <a:lnSpc>
                <a:spcPct val="130000"/>
              </a:lnSpc>
              <a:spcAft>
                <a:spcPts val="300"/>
              </a:spcAft>
            </a:pPr>
            <a:r>
              <a:rPr sz="1600" b="0" i="0">
                <a:solidFill>
                  <a:srgbClr val="202020"/>
                </a:solidFill>
                <a:latin typeface="楷体"/>
                <a:ea typeface="楷体"/>
                <a:cs typeface="楷体"/>
              </a:rPr>
              <a:t>结语：为此特提出上诉请求，请秉公裁判</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本案上诉请求在“撤销原判+撤销行政处理决定”之外，进一步援引《国家赔偿法》提出赔偿请求，体现行政上诉状请求事项可以多层并列提出的写法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十一、三类上诉状的共通骨架与差异要点</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16</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共通骨架：首部（标题、当事人身份、案由）、请求和理由、结尾致送语、附项，三类上诉状基本通用</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差异一：上诉主体范围不同——刑事案件被告人及其近亲属、辩护人（经同意）均可上诉；民事案件双方当事人均可上诉；行政案件原告、被告均可上诉</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差异二：上诉期限不同——刑事不服判决10日、不服裁定5日；民事不服判决15日、不服裁定10日；行政上诉期限依《行政诉讼法》另有规定</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差异三：理由论证的侧重点不同——刑事上诉状侧重事实认定与法律适用、量刑情节；民事上诉状侧重证据采信与法律关系认定；行政上诉状侧重行政行为合法性审查在二审中的延续</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课堂讨论：上诉状理由部分的两种驳论写法该如何选择</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17</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讨论题：刘XX合同诈骗案采用“先摆论点再逐一反驳”，李XX离婚案也采用类似写法，那么“摆事实讲道理”的写法适用于什么样的案件？</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提示角度一：如果原审裁判存在多个独立的事实认定错误，且每个错误都可以单独成立反驳点，适合用“先摆论点再逐一反驳”的写法，逐项清晰对应</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角度二：如果原审裁判的错误主要体现在证据链条的整体性问题上（比如孤证定案、证据相互矛盾），单独列出论点反而会割裂证据之间的关联，这时更适合用“摆事实讲道理”的写法，把全部事实和证据贯穿起来叙述</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提示角度三：实务中两种写法常常结合使用，先用摆事实讲道理的方式叙述案件全貌，再提炼出几个核心论点逐一驳斥，这样既保证了叙事的连贯性，也保证了论证的针对性</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第二十二讲　刑事上诉状、民事上诉状与行政上诉状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小结与作业</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18</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71600"/>
            <a:ext cx="11064240" cy="4297680"/>
          </a:xfrm>
          <a:prstGeom prst="rect">
            <a:avLst/>
          </a:prstGeom>
          <a:noFill/>
        </p:spPr>
        <p:txBody>
          <a:bodyPr wrap="square" anchor="t" lIns="50800" rIns="50800" tIns="25400" bIns="25400">
            <a:spAutoFit/>
          </a:bodyPr>
          <a:lstStyle/>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刑事上诉状：上诉主体范围广（当事人、法定代理人、近亲属及辩护人经同意），上诉期限判决10日/裁定5日，理由部分用驳论手法</a:t>
            </a:r>
          </a:p>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民事上诉状：格式与刑事上诉状通用，上诉期限判决15日/裁定10日，按当事人是自然人还是法人非法人组织分两种格式</a:t>
            </a:r>
          </a:p>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行政上诉状：格式与民事上诉状相同，原告被告均可上诉，请求事项可以同时包含撤销判决、撤销行政行为、赔偿损失等多项并列请求</a:t>
            </a:r>
          </a:p>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三类上诉状共通骨架：首部、请求和理由、结尾、附项，理由部分均可采用“先摆论点再逐一反驳”或“摆事实讲道理”两种驳论写法</a:t>
            </a:r>
          </a:p>
        </p:txBody>
      </p:sp>
      <p:sp>
        <p:nvSpPr>
          <p:cNvPr id="10" name="Rectangle 9"/>
          <p:cNvSpPr/>
          <p:nvPr/>
        </p:nvSpPr>
        <p:spPr>
          <a:xfrm>
            <a:off x="548640" y="5669280"/>
            <a:ext cx="11064240" cy="6858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733288"/>
            <a:ext cx="10515600" cy="566928"/>
          </a:xfrm>
          <a:prstGeom prst="rect">
            <a:avLst/>
          </a:prstGeom>
          <a:noFill/>
        </p:spPr>
        <p:txBody>
          <a:bodyPr wrap="square" anchor="ctr" lIns="50800" rIns="50800" tIns="25400" bIns="25400">
            <a:spAutoFit/>
          </a:bodyPr>
          <a:lstStyle/>
          <a:p>
            <a:r>
              <a:rPr sz="1500" b="1" i="0">
                <a:solidFill>
                  <a:srgbClr val="B6862C"/>
                </a:solidFill>
                <a:latin typeface="微软雅黑"/>
                <a:ea typeface="微软雅黑"/>
                <a:cs typeface="微软雅黑"/>
              </a:rPr>
              <a:t>思考  </a:t>
            </a:r>
            <a:r>
              <a:rPr sz="1500" b="0" i="0">
                <a:solidFill>
                  <a:srgbClr val="FFFFFF"/>
                </a:solidFill>
                <a:latin typeface="微软雅黑"/>
                <a:ea typeface="微软雅黑"/>
                <a:cs typeface="微软雅黑"/>
              </a:rPr>
              <a:t>作业：请选择一份此前自己拟写过的起诉状（民事或刑事均可），假设一审败诉，针对其中的事实认定或法律适用问题，拟写一份对应的上诉状，理由部分须采用“先摆论点再逐一反驳”的写法。下一讲我们将学习申诉状的写作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