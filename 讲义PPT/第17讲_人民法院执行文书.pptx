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31720"/>
            <a:ext cx="12191695" cy="5486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731520"/>
            <a:ext cx="128016" cy="128016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777240"/>
            <a:ext cx="10058400" cy="548640"/>
          </a:xfrm>
          <a:prstGeom prst="rect">
            <a:avLst/>
          </a:prstGeom>
          <a:noFill/>
        </p:spPr>
        <p:txBody>
          <a:bodyPr wrap="square" anchor="t" lIns="50800" rIns="50800" tIns="25400" bIns="25400">
            <a:spAutoFit/>
          </a:bodyPr>
          <a:lstStyle/>
          <a:p>
            <a:r>
              <a:rPr sz="2000" b="0" i="0">
                <a:solidFill>
                  <a:srgbClr val="BFCCDD"/>
                </a:solidFill>
                <a:latin typeface="微软雅黑"/>
                <a:ea typeface="微软雅黑"/>
                <a:cs typeface="微软雅黑"/>
              </a:rPr>
              <a:t>《法律文书写作》</a:t>
            </a:r>
          </a:p>
        </p:txBody>
      </p:sp>
      <p:sp>
        <p:nvSpPr>
          <p:cNvPr id="6" name="TextBox 5"/>
          <p:cNvSpPr txBox="1"/>
          <p:nvPr/>
        </p:nvSpPr>
        <p:spPr>
          <a:xfrm>
            <a:off x="1097280" y="1325880"/>
            <a:ext cx="10058400" cy="548640"/>
          </a:xfrm>
          <a:prstGeom prst="rect">
            <a:avLst/>
          </a:prstGeom>
          <a:noFill/>
        </p:spPr>
        <p:txBody>
          <a:bodyPr wrap="square" anchor="t" lIns="50800" rIns="50800" tIns="25400" bIns="25400">
            <a:spAutoFit/>
          </a:bodyPr>
          <a:lstStyle/>
          <a:p>
            <a:r>
              <a:rPr sz="2200" b="1" i="0">
                <a:solidFill>
                  <a:srgbClr val="B6862C"/>
                </a:solidFill>
                <a:latin typeface="微软雅黑"/>
                <a:ea typeface="微软雅黑"/>
                <a:cs typeface="微软雅黑"/>
              </a:rPr>
              <a:t>第十七讲 · 法院文书（八）</a:t>
            </a:r>
          </a:p>
        </p:txBody>
      </p:sp>
      <p:sp>
        <p:nvSpPr>
          <p:cNvPr id="7" name="TextBox 6"/>
          <p:cNvSpPr txBox="1"/>
          <p:nvPr/>
        </p:nvSpPr>
        <p:spPr>
          <a:xfrm>
            <a:off x="1051560" y="2468880"/>
            <a:ext cx="10241280" cy="1554480"/>
          </a:xfrm>
          <a:prstGeom prst="rect">
            <a:avLst/>
          </a:prstGeom>
          <a:noFill/>
        </p:spPr>
        <p:txBody>
          <a:bodyPr wrap="square" anchor="t" lIns="50800" rIns="50800" tIns="25400" bIns="25400">
            <a:spAutoFit/>
          </a:bodyPr>
          <a:lstStyle/>
          <a:p>
            <a:pPr>
              <a:lnSpc>
                <a:spcPct val="110000"/>
              </a:lnSpc>
            </a:pPr>
            <a:r>
              <a:rPr sz="4000" b="1" i="0">
                <a:solidFill>
                  <a:srgbClr val="FFFFFF"/>
                </a:solidFill>
                <a:latin typeface="微软雅黑"/>
                <a:ea typeface="微软雅黑"/>
                <a:cs typeface="微软雅黑"/>
              </a:rPr>
              <a:t>人民法院执行文书</a:t>
            </a:r>
          </a:p>
        </p:txBody>
      </p:sp>
      <p:sp>
        <p:nvSpPr>
          <p:cNvPr id="8" name="TextBox 7"/>
          <p:cNvSpPr txBox="1"/>
          <p:nvPr/>
        </p:nvSpPr>
        <p:spPr>
          <a:xfrm>
            <a:off x="1097280" y="4297680"/>
            <a:ext cx="10058400" cy="731520"/>
          </a:xfrm>
          <a:prstGeom prst="rect">
            <a:avLst/>
          </a:prstGeom>
          <a:noFill/>
        </p:spPr>
        <p:txBody>
          <a:bodyPr wrap="square" anchor="t" lIns="50800" rIns="50800" tIns="25400" bIns="25400">
            <a:spAutoFit/>
          </a:bodyPr>
          <a:lstStyle/>
          <a:p>
            <a:r>
              <a:rPr sz="1900" b="0" i="0">
                <a:solidFill>
                  <a:srgbClr val="D7DEE8"/>
                </a:solidFill>
                <a:latin typeface="微软雅黑"/>
                <a:ea typeface="微软雅黑"/>
                <a:cs typeface="微软雅黑"/>
              </a:rPr>
              <a:t>从“实体确定”到“程序实现”：执行文书在法院文书体系中的功能定位</a:t>
            </a:r>
          </a:p>
        </p:txBody>
      </p:sp>
      <p:sp>
        <p:nvSpPr>
          <p:cNvPr id="9" name="Rectangle 8"/>
          <p:cNvSpPr/>
          <p:nvPr/>
        </p:nvSpPr>
        <p:spPr>
          <a:xfrm>
            <a:off x="1097280" y="5440680"/>
            <a:ext cx="5486400" cy="17780"/>
          </a:xfrm>
          <a:prstGeom prst="rect">
            <a:avLst/>
          </a:prstGeom>
          <a:solidFill>
            <a:srgbClr val="445A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623560"/>
            <a:ext cx="10058400" cy="457200"/>
          </a:xfrm>
          <a:prstGeom prst="rect">
            <a:avLst/>
          </a:prstGeom>
          <a:noFill/>
        </p:spPr>
        <p:txBody>
          <a:bodyPr wrap="square" anchor="t" lIns="50800" rIns="50800" tIns="25400" bIns="25400">
            <a:spAutoFit/>
          </a:bodyPr>
          <a:lstStyle/>
          <a:p>
            <a:r>
              <a:rPr sz="1600" b="0" i="0">
                <a:solidFill>
                  <a:srgbClr val="C8D2E0"/>
                </a:solidFill>
                <a:latin typeface="微软雅黑"/>
                <a:ea typeface="微软雅黑"/>
                <a:cs typeface="微软雅黑"/>
              </a:rPr>
              <a:t>主讲教师：＿＿＿＿＿　法学院</a:t>
            </a:r>
          </a:p>
        </p:txBody>
      </p:sp>
      <p:sp>
        <p:nvSpPr>
          <p:cNvPr id="11" name="TextBox 10"/>
          <p:cNvSpPr txBox="1"/>
          <p:nvPr/>
        </p:nvSpPr>
        <p:spPr>
          <a:xfrm>
            <a:off x="1097280" y="6035040"/>
            <a:ext cx="10058400" cy="457200"/>
          </a:xfrm>
          <a:prstGeom prst="rect">
            <a:avLst/>
          </a:prstGeom>
          <a:noFill/>
        </p:spPr>
        <p:txBody>
          <a:bodyPr wrap="square" anchor="t" lIns="50800" rIns="50800" tIns="25400" bIns="25400">
            <a:spAutoFit/>
          </a:bodyPr>
          <a:lstStyle/>
          <a:p>
            <a:r>
              <a:rPr sz="1300" b="0" i="0">
                <a:solidFill>
                  <a:srgbClr val="8F9DB2"/>
                </a:solidFill>
                <a:latin typeface="微软雅黑"/>
                <a:ea typeface="微软雅黑"/>
                <a:cs typeface="微软雅黑"/>
              </a:rPr>
              <a:t>配套教材：第四章第九节</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第十七讲　人民法院执行文书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导入：从调解书到执行文书</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2</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上一讲学习了调解书：调解书与判决书一样，生效后具有强制执行力</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今天学习执行文书：当义务人不履行生效法律文书确定的义务时，如何通过强制执行程序实现权利人的权益</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执行解决的是“已经确定的权利义务关系应当如何实现”这一程序问题，区别于判决书、调解书解决的实体问题</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749039" cy="68580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749039" y="0"/>
            <a:ext cx="54864" cy="68580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86000"/>
            <a:ext cx="2926080" cy="1097280"/>
          </a:xfrm>
          <a:prstGeom prst="rect">
            <a:avLst/>
          </a:prstGeom>
          <a:noFill/>
        </p:spPr>
        <p:txBody>
          <a:bodyPr wrap="square" anchor="t" lIns="50800" rIns="50800" tIns="25400" bIns="25400">
            <a:spAutoFit/>
          </a:bodyPr>
          <a:lstStyle/>
          <a:p>
            <a:r>
              <a:rPr sz="9600" b="1" i="0">
                <a:solidFill>
                  <a:srgbClr val="B6862C"/>
                </a:solidFill>
                <a:latin typeface="微软雅黑"/>
                <a:ea typeface="微软雅黑"/>
                <a:cs typeface="微软雅黑"/>
              </a:rPr>
              <a:t>壹</a:t>
            </a:r>
          </a:p>
        </p:txBody>
      </p:sp>
      <p:sp>
        <p:nvSpPr>
          <p:cNvPr id="6" name="TextBox 5"/>
          <p:cNvSpPr txBox="1"/>
          <p:nvPr/>
        </p:nvSpPr>
        <p:spPr>
          <a:xfrm>
            <a:off x="4206240" y="2468880"/>
            <a:ext cx="7498079" cy="1280160"/>
          </a:xfrm>
          <a:prstGeom prst="rect">
            <a:avLst/>
          </a:prstGeom>
          <a:noFill/>
        </p:spPr>
        <p:txBody>
          <a:bodyPr wrap="square" anchor="ctr" lIns="50800" rIns="50800" tIns="25400" bIns="25400">
            <a:spAutoFit/>
          </a:bodyPr>
          <a:lstStyle/>
          <a:p>
            <a:pPr>
              <a:lnSpc>
                <a:spcPct val="110000"/>
              </a:lnSpc>
            </a:pPr>
            <a:r>
              <a:rPr sz="3400" b="1" i="0">
                <a:solidFill>
                  <a:srgbClr val="142A47"/>
                </a:solidFill>
                <a:latin typeface="微软雅黑"/>
                <a:ea typeface="微软雅黑"/>
                <a:cs typeface="微软雅黑"/>
              </a:rPr>
              <a:t>执行文书概述与体系分类</a:t>
            </a:r>
          </a:p>
        </p:txBody>
      </p:sp>
      <p:sp>
        <p:nvSpPr>
          <p:cNvPr id="7" name="TextBox 6"/>
          <p:cNvSpPr txBox="1"/>
          <p:nvPr/>
        </p:nvSpPr>
        <p:spPr>
          <a:xfrm>
            <a:off x="4206240" y="4023360"/>
            <a:ext cx="7315200" cy="2011680"/>
          </a:xfrm>
          <a:prstGeom prst="rect">
            <a:avLst/>
          </a:prstGeom>
          <a:noFill/>
        </p:spPr>
        <p:txBody>
          <a:bodyPr wrap="square" anchor="t" lIns="50800" rIns="50800" tIns="25400" bIns="25400">
            <a:spAutoFit/>
          </a:bodyPr>
          <a:lstStyle/>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执行的概念</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执行文书的三大类型</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执行人员素质与文书质量的要求</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第十七讲　人民法院执行文书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一、执行的概念</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4</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执行：人民法院的执行组织依据法定的程序，对发生法律效力的法律文书确定的给付内容，以国家的强制力为后盾，依法采取强制措施，迫使义务人履行义务的行为</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随着执行案件数量不断增多、执行难度不断增大，对执行人员的素质和执行法律文书的质量也有着越来越高的要求</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第十七讲　人民法院执行文书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二、执行文书的体系分类</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5</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graphicFrame>
        <p:nvGraphicFramePr>
          <p:cNvPr id="9" name="Table 8"/>
          <p:cNvGraphicFramePr>
            <a:graphicFrameLocks noGrp="1"/>
          </p:cNvGraphicFramePr>
          <p:nvPr/>
        </p:nvGraphicFramePr>
        <p:xfrm>
          <a:off x="548640" y="1417320"/>
          <a:ext cx="11064239" cy="4754880"/>
        </p:xfrm>
        <a:graphic>
          <a:graphicData uri="http://schemas.openxmlformats.org/drawingml/2006/table">
            <a:tbl>
              <a:tblPr firstRow="1" bandRow="1">
                <a:tableStyleId>{5C22544A-7EE6-4342-B048-85BDC9FD1C3A}</a:tableStyleId>
              </a:tblPr>
              <a:tblGrid>
                <a:gridCol w="3540556"/>
                <a:gridCol w="7523683"/>
              </a:tblGrid>
              <a:tr h="1188720">
                <a:tc>
                  <a:txBody>
                    <a:bodyPr wrap="square"/>
                    <a:lstStyle/>
                    <a:p>
                      <a:pPr algn="ctr"/>
                      <a:r>
                        <a:rPr sz="1400" b="1" i="0">
                          <a:solidFill>
                            <a:srgbClr val="FFFFFF"/>
                          </a:solidFill>
                          <a:latin typeface="微软雅黑"/>
                          <a:ea typeface="微软雅黑"/>
                          <a:cs typeface="微软雅黑"/>
                        </a:rPr>
                        <a:t>类型</a:t>
                      </a:r>
                    </a:p>
                  </a:txBody>
                  <a:tcPr anchor="ctr">
                    <a:solidFill>
                      <a:srgbClr val="142A47"/>
                    </a:solidFill>
                  </a:tcPr>
                </a:tc>
                <a:tc>
                  <a:txBody>
                    <a:bodyPr wrap="square"/>
                    <a:lstStyle/>
                    <a:p>
                      <a:pPr algn="ctr"/>
                      <a:r>
                        <a:rPr sz="1400" b="1" i="0">
                          <a:solidFill>
                            <a:srgbClr val="FFFFFF"/>
                          </a:solidFill>
                          <a:latin typeface="微软雅黑"/>
                          <a:ea typeface="微软雅黑"/>
                          <a:cs typeface="微软雅黑"/>
                        </a:rPr>
                        <a:t>具体种类</a:t>
                      </a:r>
                    </a:p>
                  </a:txBody>
                  <a:tcPr anchor="ctr">
                    <a:solidFill>
                      <a:srgbClr val="142A47"/>
                    </a:solidFill>
                  </a:tcPr>
                </a:tc>
              </a:tr>
              <a:tr h="1188720">
                <a:tc>
                  <a:txBody>
                    <a:bodyPr wrap="square"/>
                    <a:lstStyle/>
                    <a:p>
                      <a:pPr algn="ctr"/>
                      <a:r>
                        <a:rPr sz="1250" b="0" i="0">
                          <a:solidFill>
                            <a:srgbClr val="202020"/>
                          </a:solidFill>
                          <a:latin typeface="微软雅黑"/>
                          <a:ea typeface="微软雅黑"/>
                          <a:cs typeface="微软雅黑"/>
                        </a:rPr>
                        <a:t>执行裁定书</a:t>
                      </a:r>
                    </a:p>
                  </a:txBody>
                  <a:tcPr anchor="ctr">
                    <a:solidFill>
                      <a:srgbClr val="FFFFFF"/>
                    </a:solidFill>
                  </a:tcPr>
                </a:tc>
                <a:tc>
                  <a:txBody>
                    <a:bodyPr wrap="square"/>
                    <a:lstStyle/>
                    <a:p>
                      <a:pPr algn="l"/>
                      <a:r>
                        <a:rPr sz="1250" b="0" i="0">
                          <a:solidFill>
                            <a:srgbClr val="202020"/>
                          </a:solidFill>
                          <a:latin typeface="微软雅黑"/>
                          <a:ea typeface="微软雅黑"/>
                          <a:cs typeface="微软雅黑"/>
                        </a:rPr>
                        <a:t>变更或追加被执行主体的裁定书、对当事人或案外人异议的裁定书、不予执行的裁定书</a:t>
                      </a:r>
                    </a:p>
                  </a:txBody>
                  <a:tcPr anchor="ctr">
                    <a:solidFill>
                      <a:srgbClr val="FFFFFF"/>
                    </a:solidFill>
                  </a:tcPr>
                </a:tc>
              </a:tr>
              <a:tr h="1188720">
                <a:tc>
                  <a:txBody>
                    <a:bodyPr wrap="square"/>
                    <a:lstStyle/>
                    <a:p>
                      <a:pPr algn="ctr"/>
                      <a:r>
                        <a:rPr sz="1250" b="0" i="0">
                          <a:solidFill>
                            <a:srgbClr val="202020"/>
                          </a:solidFill>
                          <a:latin typeface="微软雅黑"/>
                          <a:ea typeface="微软雅黑"/>
                          <a:cs typeface="微软雅黑"/>
                        </a:rPr>
                        <a:t>执行决定书</a:t>
                      </a:r>
                    </a:p>
                  </a:txBody>
                  <a:tcPr anchor="ctr">
                    <a:solidFill>
                      <a:srgbClr val="EEF1F6"/>
                    </a:solidFill>
                  </a:tcPr>
                </a:tc>
                <a:tc>
                  <a:txBody>
                    <a:bodyPr wrap="square"/>
                    <a:lstStyle/>
                    <a:p>
                      <a:pPr algn="l"/>
                      <a:r>
                        <a:rPr sz="1250" b="0" i="0">
                          <a:solidFill>
                            <a:srgbClr val="202020"/>
                          </a:solidFill>
                          <a:latin typeface="微软雅黑"/>
                          <a:ea typeface="微软雅黑"/>
                          <a:cs typeface="微软雅黑"/>
                        </a:rPr>
                        <a:t>对妨害执行行为予以处罚的决定书、暂缓执行决定书</a:t>
                      </a:r>
                    </a:p>
                  </a:txBody>
                  <a:tcPr anchor="ctr">
                    <a:solidFill>
                      <a:srgbClr val="EEF1F6"/>
                    </a:solidFill>
                  </a:tcPr>
                </a:tc>
              </a:tr>
              <a:tr h="1188720">
                <a:tc>
                  <a:txBody>
                    <a:bodyPr wrap="square"/>
                    <a:lstStyle/>
                    <a:p>
                      <a:pPr algn="ctr"/>
                      <a:r>
                        <a:rPr sz="1250" b="0" i="0">
                          <a:solidFill>
                            <a:srgbClr val="202020"/>
                          </a:solidFill>
                          <a:latin typeface="微软雅黑"/>
                          <a:ea typeface="微软雅黑"/>
                          <a:cs typeface="微软雅黑"/>
                        </a:rPr>
                        <a:t>执行通知书</a:t>
                      </a:r>
                    </a:p>
                  </a:txBody>
                  <a:tcPr anchor="ctr">
                    <a:solidFill>
                      <a:srgbClr val="FFFFFF"/>
                    </a:solidFill>
                  </a:tcPr>
                </a:tc>
                <a:tc>
                  <a:txBody>
                    <a:bodyPr wrap="square"/>
                    <a:lstStyle/>
                    <a:p>
                      <a:pPr algn="l"/>
                      <a:r>
                        <a:rPr sz="1250" b="0" i="0">
                          <a:solidFill>
                            <a:srgbClr val="202020"/>
                          </a:solidFill>
                          <a:latin typeface="微软雅黑"/>
                          <a:ea typeface="微软雅黑"/>
                          <a:cs typeface="微软雅黑"/>
                        </a:rPr>
                        <a:t>协助执行通知书（及其细分类型）、限期申报财产通知书</a:t>
                      </a:r>
                    </a:p>
                  </a:txBody>
                  <a:tcPr anchor="ct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749039" cy="68580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749039" y="0"/>
            <a:ext cx="54864" cy="68580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86000"/>
            <a:ext cx="2926080" cy="1097280"/>
          </a:xfrm>
          <a:prstGeom prst="rect">
            <a:avLst/>
          </a:prstGeom>
          <a:noFill/>
        </p:spPr>
        <p:txBody>
          <a:bodyPr wrap="square" anchor="t" lIns="50800" rIns="50800" tIns="25400" bIns="25400">
            <a:spAutoFit/>
          </a:bodyPr>
          <a:lstStyle/>
          <a:p>
            <a:r>
              <a:rPr sz="9600" b="1" i="0">
                <a:solidFill>
                  <a:srgbClr val="B6862C"/>
                </a:solidFill>
                <a:latin typeface="微软雅黑"/>
                <a:ea typeface="微软雅黑"/>
                <a:cs typeface="微软雅黑"/>
              </a:rPr>
              <a:t>贰</a:t>
            </a:r>
          </a:p>
        </p:txBody>
      </p:sp>
      <p:sp>
        <p:nvSpPr>
          <p:cNvPr id="6" name="TextBox 5"/>
          <p:cNvSpPr txBox="1"/>
          <p:nvPr/>
        </p:nvSpPr>
        <p:spPr>
          <a:xfrm>
            <a:off x="4206240" y="2468880"/>
            <a:ext cx="7498079" cy="1280160"/>
          </a:xfrm>
          <a:prstGeom prst="rect">
            <a:avLst/>
          </a:prstGeom>
          <a:noFill/>
        </p:spPr>
        <p:txBody>
          <a:bodyPr wrap="square" anchor="ctr" lIns="50800" rIns="50800" tIns="25400" bIns="25400">
            <a:spAutoFit/>
          </a:bodyPr>
          <a:lstStyle/>
          <a:p>
            <a:pPr>
              <a:lnSpc>
                <a:spcPct val="110000"/>
              </a:lnSpc>
            </a:pPr>
            <a:r>
              <a:rPr sz="3400" b="1" i="0">
                <a:solidFill>
                  <a:srgbClr val="142A47"/>
                </a:solidFill>
                <a:latin typeface="微软雅黑"/>
                <a:ea typeface="微软雅黑"/>
                <a:cs typeface="微软雅黑"/>
              </a:rPr>
              <a:t>执行裁定书（一）：变更或追加被执行主体</a:t>
            </a:r>
          </a:p>
        </p:txBody>
      </p:sp>
      <p:sp>
        <p:nvSpPr>
          <p:cNvPr id="7" name="TextBox 6"/>
          <p:cNvSpPr txBox="1"/>
          <p:nvPr/>
        </p:nvSpPr>
        <p:spPr>
          <a:xfrm>
            <a:off x="4206240" y="4023360"/>
            <a:ext cx="7315200" cy="2011680"/>
          </a:xfrm>
          <a:prstGeom prst="rect">
            <a:avLst/>
          </a:prstGeom>
          <a:noFill/>
        </p:spPr>
        <p:txBody>
          <a:bodyPr wrap="square" anchor="t" lIns="50800" rIns="50800" tIns="25400" bIns="25400">
            <a:spAutoFit/>
          </a:bodyPr>
          <a:lstStyle/>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适用情形</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首部写法</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正文与尾部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第十七讲　人民法院执行文书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三、变更或追加被执行主体裁定书的适用情形</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7</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一般情况下，申请执行人和被执行人都是执行依据指明的特定当事人</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但具有法定事由的，应当变更、追加他人为被执行主体，如：被执行人没有可供执行的财产但在外有到期债权；被执行人的开办单位有投资不到位或抽逃资金情形；被执行人被撤销后有继承其权利义务的主体</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第十七讲　人民法院执行文书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四、变更或追加裁定书的首部写法</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8</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人民法院名称、文书种类、案件编号：案件编号应有“执字”表述；文书种类统一表述为“民事裁定书”，而非“执行裁定书”</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执行当事人：申请执行人、被执行人、被变更或追加的被执行主体三部分，写明单位名称、住所地、法定代表人姓名和职务</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案件由来：写明在执行某一案件过程中，人民法院根据申请执行人的请求或依职权启动了变更或追加程序</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第十七讲　人民法院执行文书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五、变更或追加裁定书的正文与尾部</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9</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Rectangle 8"/>
          <p:cNvSpPr/>
          <p:nvPr/>
        </p:nvSpPr>
        <p:spPr>
          <a:xfrm>
            <a:off x="548640" y="1371600"/>
            <a:ext cx="5440680" cy="457200"/>
          </a:xfrm>
          <a:prstGeom prst="rect">
            <a:avLst/>
          </a:prstGeom>
          <a:solidFill>
            <a:srgbClr val="2053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417320"/>
            <a:ext cx="5166360" cy="384048"/>
          </a:xfrm>
          <a:prstGeom prst="rect">
            <a:avLst/>
          </a:prstGeom>
          <a:noFill/>
        </p:spPr>
        <p:txBody>
          <a:bodyPr wrap="square" anchor="ctr" lIns="50800" rIns="50800" tIns="25400" bIns="25400">
            <a:spAutoFit/>
          </a:bodyPr>
          <a:lstStyle/>
          <a:p>
            <a:r>
              <a:rPr sz="1600" b="1" i="0">
                <a:solidFill>
                  <a:srgbClr val="FFFFFF"/>
                </a:solidFill>
                <a:latin typeface="微软雅黑"/>
                <a:ea typeface="微软雅黑"/>
                <a:cs typeface="微软雅黑"/>
              </a:rPr>
              <a:t>正文三要素</a:t>
            </a:r>
          </a:p>
        </p:txBody>
      </p:sp>
      <p:sp>
        <p:nvSpPr>
          <p:cNvPr id="11" name="Rectangle 10"/>
          <p:cNvSpPr/>
          <p:nvPr/>
        </p:nvSpPr>
        <p:spPr>
          <a:xfrm>
            <a:off x="548640" y="1828800"/>
            <a:ext cx="5440680" cy="443484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938528"/>
            <a:ext cx="5074920" cy="4206240"/>
          </a:xfrm>
          <a:prstGeom prst="rect">
            <a:avLst/>
          </a:prstGeom>
          <a:noFill/>
        </p:spPr>
        <p:txBody>
          <a:bodyPr wrap="square" anchor="t" lIns="50800" rIns="50800" tIns="25400" bIns="25400">
            <a:spAutoFit/>
          </a:bodyPr>
          <a:lstStyle/>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变更或追加的基本事实和证据</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变更或追加的理由和法律依据（须全文表述法律依据内容）</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裁定内容：“变更本案的被执行主体为某某公司”</a:t>
            </a:r>
          </a:p>
        </p:txBody>
      </p:sp>
      <p:sp>
        <p:nvSpPr>
          <p:cNvPr id="13" name="Rectangle 12"/>
          <p:cNvSpPr/>
          <p:nvPr/>
        </p:nvSpPr>
        <p:spPr>
          <a:xfrm>
            <a:off x="6199632" y="1371600"/>
            <a:ext cx="5440680" cy="4572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36792" y="1417320"/>
            <a:ext cx="5166360" cy="384048"/>
          </a:xfrm>
          <a:prstGeom prst="rect">
            <a:avLst/>
          </a:prstGeom>
          <a:noFill/>
        </p:spPr>
        <p:txBody>
          <a:bodyPr wrap="square" anchor="ctr" lIns="50800" rIns="50800" tIns="25400" bIns="25400">
            <a:spAutoFit/>
          </a:bodyPr>
          <a:lstStyle/>
          <a:p>
            <a:r>
              <a:rPr sz="1600" b="1" i="0">
                <a:solidFill>
                  <a:srgbClr val="FFFFFF"/>
                </a:solidFill>
                <a:latin typeface="微软雅黑"/>
                <a:ea typeface="微软雅黑"/>
                <a:cs typeface="微软雅黑"/>
              </a:rPr>
              <a:t>尾部三要素</a:t>
            </a:r>
          </a:p>
        </p:txBody>
      </p:sp>
      <p:sp>
        <p:nvSpPr>
          <p:cNvPr id="15" name="Rectangle 14"/>
          <p:cNvSpPr/>
          <p:nvPr/>
        </p:nvSpPr>
        <p:spPr>
          <a:xfrm>
            <a:off x="6199632" y="1828800"/>
            <a:ext cx="5440680" cy="443484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938528"/>
            <a:ext cx="5074920" cy="4206240"/>
          </a:xfrm>
          <a:prstGeom prst="rect">
            <a:avLst/>
          </a:prstGeom>
          <a:noFill/>
        </p:spPr>
        <p:txBody>
          <a:bodyPr wrap="square" anchor="t" lIns="50800" rIns="50800" tIns="25400" bIns="25400">
            <a:spAutoFit/>
          </a:bodyPr>
          <a:lstStyle/>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裁定的法律效力：一经送达即发生法律效力</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执行人、书记员署名，加盖人民法院印章</a:t>
            </a:r>
          </a:p>
          <a:p>
            <a:pPr>
              <a:lnSpc>
                <a:spcPct val="122000"/>
              </a:lnSpc>
              <a:spcAft>
                <a:spcPts val="600"/>
              </a:spcAft>
            </a:pPr>
            <a:r>
              <a:rPr sz="1800" b="1" i="0">
                <a:solidFill>
                  <a:srgbClr val="20538C"/>
                </a:solidFill>
                <a:latin typeface="微软雅黑"/>
                <a:ea typeface="微软雅黑"/>
                <a:cs typeface="微软雅黑"/>
              </a:rPr>
              <a:t>■ </a:t>
            </a:r>
            <a:r>
              <a:rPr sz="1800" b="0" i="0">
                <a:solidFill>
                  <a:srgbClr val="202020"/>
                </a:solidFill>
                <a:latin typeface="微软雅黑"/>
                <a:ea typeface="微软雅黑"/>
                <a:cs typeface="微软雅黑"/>
              </a:rPr>
              <a:t>加盖“本件与原件核对无异”的印戳</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749039" cy="68580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749039" y="0"/>
            <a:ext cx="54864" cy="68580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86000"/>
            <a:ext cx="2926080" cy="1097280"/>
          </a:xfrm>
          <a:prstGeom prst="rect">
            <a:avLst/>
          </a:prstGeom>
          <a:noFill/>
        </p:spPr>
        <p:txBody>
          <a:bodyPr wrap="square" anchor="t" lIns="50800" rIns="50800" tIns="25400" bIns="25400">
            <a:spAutoFit/>
          </a:bodyPr>
          <a:lstStyle/>
          <a:p>
            <a:r>
              <a:rPr sz="9600" b="1" i="0">
                <a:solidFill>
                  <a:srgbClr val="B6862C"/>
                </a:solidFill>
                <a:latin typeface="微软雅黑"/>
                <a:ea typeface="微软雅黑"/>
                <a:cs typeface="微软雅黑"/>
              </a:rPr>
              <a:t>叙</a:t>
            </a:r>
          </a:p>
        </p:txBody>
      </p:sp>
      <p:sp>
        <p:nvSpPr>
          <p:cNvPr id="6" name="TextBox 5"/>
          <p:cNvSpPr txBox="1"/>
          <p:nvPr/>
        </p:nvSpPr>
        <p:spPr>
          <a:xfrm>
            <a:off x="4206240" y="2468880"/>
            <a:ext cx="7498079" cy="1280160"/>
          </a:xfrm>
          <a:prstGeom prst="rect">
            <a:avLst/>
          </a:prstGeom>
          <a:noFill/>
        </p:spPr>
        <p:txBody>
          <a:bodyPr wrap="square" anchor="ctr" lIns="50800" rIns="50800" tIns="25400" bIns="25400">
            <a:spAutoFit/>
          </a:bodyPr>
          <a:lstStyle/>
          <a:p>
            <a:pPr>
              <a:lnSpc>
                <a:spcPct val="110000"/>
              </a:lnSpc>
            </a:pPr>
            <a:r>
              <a:rPr sz="3400" b="1" i="0">
                <a:solidFill>
                  <a:srgbClr val="142A47"/>
                </a:solidFill>
                <a:latin typeface="微软雅黑"/>
                <a:ea typeface="微软雅黑"/>
                <a:cs typeface="微软雅黑"/>
              </a:rPr>
              <a:t>执行裁定书（二）：异议裁定与不予执行裁定</a:t>
            </a:r>
          </a:p>
        </p:txBody>
      </p:sp>
      <p:sp>
        <p:nvSpPr>
          <p:cNvPr id="7" name="TextBox 6"/>
          <p:cNvSpPr txBox="1"/>
          <p:nvPr/>
        </p:nvSpPr>
        <p:spPr>
          <a:xfrm>
            <a:off x="4206240" y="4023360"/>
            <a:ext cx="7315200" cy="2011680"/>
          </a:xfrm>
          <a:prstGeom prst="rect">
            <a:avLst/>
          </a:prstGeom>
          <a:noFill/>
        </p:spPr>
        <p:txBody>
          <a:bodyPr wrap="square" anchor="t" lIns="50800" rIns="50800" tIns="25400" bIns="25400">
            <a:spAutoFit/>
          </a:bodyPr>
          <a:lstStyle/>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案外人异议的公开听证</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不予执行裁定的适用范围</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第十七讲　人民法院执行文书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六、对当事人或案外人异议裁定书的写法</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11</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适用情形：执行措施涉及案外人利益引发异议，或被变更追加的主体提出异议</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正文要点：异议的具体内容和请求、法院查证属实的事实、裁定理由、裁定结果</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审查方式：原则上应当采取公开听证的方式，通过透明公开的形式实现司法公正，这一听证过程应当在裁定书上有所体现</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第十七讲　人民法院执行文书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七、不予执行裁定书的写法</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12</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适用情形：人民法院在执行仲裁裁决或公证机关依法赋予强制执行效力的非诉讼法律文书过程中，依职权或依申请决定不予执行</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正文要点：审查情况（不予执行的理由和法律依据）、裁决内容（不予执行＋申请执行费由申请执行人缴纳）</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尾部：“本裁定一经送达，即发生法律效力”，审判人员署名、书记员署名，加盖院印</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749039" cy="68580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749039" y="0"/>
            <a:ext cx="54864" cy="68580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86000"/>
            <a:ext cx="2926080" cy="1097280"/>
          </a:xfrm>
          <a:prstGeom prst="rect">
            <a:avLst/>
          </a:prstGeom>
          <a:noFill/>
        </p:spPr>
        <p:txBody>
          <a:bodyPr wrap="square" anchor="t" lIns="50800" rIns="50800" tIns="25400" bIns="25400">
            <a:spAutoFit/>
          </a:bodyPr>
          <a:lstStyle/>
          <a:p>
            <a:r>
              <a:rPr sz="9600" b="1" i="0">
                <a:solidFill>
                  <a:srgbClr val="B6862C"/>
                </a:solidFill>
                <a:latin typeface="微软雅黑"/>
                <a:ea typeface="微软雅黑"/>
                <a:cs typeface="微软雅黑"/>
              </a:rPr>
              <a:t>肆</a:t>
            </a:r>
          </a:p>
        </p:txBody>
      </p:sp>
      <p:sp>
        <p:nvSpPr>
          <p:cNvPr id="6" name="TextBox 5"/>
          <p:cNvSpPr txBox="1"/>
          <p:nvPr/>
        </p:nvSpPr>
        <p:spPr>
          <a:xfrm>
            <a:off x="4206240" y="2468880"/>
            <a:ext cx="7498079" cy="1280160"/>
          </a:xfrm>
          <a:prstGeom prst="rect">
            <a:avLst/>
          </a:prstGeom>
          <a:noFill/>
        </p:spPr>
        <p:txBody>
          <a:bodyPr wrap="square" anchor="ctr" lIns="50800" rIns="50800" tIns="25400" bIns="25400">
            <a:spAutoFit/>
          </a:bodyPr>
          <a:lstStyle/>
          <a:p>
            <a:pPr>
              <a:lnSpc>
                <a:spcPct val="110000"/>
              </a:lnSpc>
            </a:pPr>
            <a:r>
              <a:rPr sz="3400" b="1" i="0">
                <a:solidFill>
                  <a:srgbClr val="142A47"/>
                </a:solidFill>
                <a:latin typeface="微软雅黑"/>
                <a:ea typeface="微软雅黑"/>
                <a:cs typeface="微软雅黑"/>
              </a:rPr>
              <a:t>执行决定书：处罚决定与暂缓执行决定</a:t>
            </a:r>
          </a:p>
        </p:txBody>
      </p:sp>
      <p:sp>
        <p:nvSpPr>
          <p:cNvPr id="7" name="TextBox 6"/>
          <p:cNvSpPr txBox="1"/>
          <p:nvPr/>
        </p:nvSpPr>
        <p:spPr>
          <a:xfrm>
            <a:off x="4206240" y="4023360"/>
            <a:ext cx="7315200" cy="2011680"/>
          </a:xfrm>
          <a:prstGeom prst="rect">
            <a:avLst/>
          </a:prstGeom>
          <a:noFill/>
        </p:spPr>
        <p:txBody>
          <a:bodyPr wrap="square" anchor="t" lIns="50800" rIns="50800" tIns="25400" bIns="25400">
            <a:spAutoFit/>
          </a:bodyPr>
          <a:lstStyle/>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妨害执行行为的处罚</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暂缓执行的适用条件</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第十七讲　人民法院执行文书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八、对妨害执行行为予以处罚决定书的写法</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14</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graphicFrame>
        <p:nvGraphicFramePr>
          <p:cNvPr id="9" name="Table 8"/>
          <p:cNvGraphicFramePr>
            <a:graphicFrameLocks noGrp="1"/>
          </p:cNvGraphicFramePr>
          <p:nvPr/>
        </p:nvGraphicFramePr>
        <p:xfrm>
          <a:off x="548640" y="1417320"/>
          <a:ext cx="11064240" cy="4754880"/>
        </p:xfrm>
        <a:graphic>
          <a:graphicData uri="http://schemas.openxmlformats.org/drawingml/2006/table">
            <a:tbl>
              <a:tblPr firstRow="1" bandRow="1">
                <a:tableStyleId>{5C22544A-7EE6-4342-B048-85BDC9FD1C3A}</a:tableStyleId>
              </a:tblPr>
              <a:tblGrid>
                <a:gridCol w="2212848"/>
                <a:gridCol w="8851392"/>
              </a:tblGrid>
              <a:tr h="1188720">
                <a:tc>
                  <a:txBody>
                    <a:bodyPr wrap="square"/>
                    <a:lstStyle/>
                    <a:p>
                      <a:pPr algn="ctr"/>
                      <a:r>
                        <a:rPr sz="1400" b="1" i="0">
                          <a:solidFill>
                            <a:srgbClr val="FFFFFF"/>
                          </a:solidFill>
                          <a:latin typeface="微软雅黑"/>
                          <a:ea typeface="微软雅黑"/>
                          <a:cs typeface="微软雅黑"/>
                        </a:rPr>
                        <a:t>部分</a:t>
                      </a:r>
                    </a:p>
                  </a:txBody>
                  <a:tcPr anchor="ctr">
                    <a:solidFill>
                      <a:srgbClr val="142A47"/>
                    </a:solidFill>
                  </a:tcPr>
                </a:tc>
                <a:tc>
                  <a:txBody>
                    <a:bodyPr wrap="square"/>
                    <a:lstStyle/>
                    <a:p>
                      <a:pPr algn="ctr"/>
                      <a:r>
                        <a:rPr sz="1400" b="1" i="0">
                          <a:solidFill>
                            <a:srgbClr val="FFFFFF"/>
                          </a:solidFill>
                          <a:latin typeface="微软雅黑"/>
                          <a:ea typeface="微软雅黑"/>
                          <a:cs typeface="微软雅黑"/>
                        </a:rPr>
                        <a:t>写法要点</a:t>
                      </a:r>
                    </a:p>
                  </a:txBody>
                  <a:tcPr anchor="ctr">
                    <a:solidFill>
                      <a:srgbClr val="142A47"/>
                    </a:solidFill>
                  </a:tcPr>
                </a:tc>
              </a:tr>
              <a:tr h="1188720">
                <a:tc>
                  <a:txBody>
                    <a:bodyPr wrap="square"/>
                    <a:lstStyle/>
                    <a:p>
                      <a:pPr algn="ctr"/>
                      <a:r>
                        <a:rPr sz="1250" b="0" i="0">
                          <a:solidFill>
                            <a:srgbClr val="202020"/>
                          </a:solidFill>
                          <a:latin typeface="微软雅黑"/>
                          <a:ea typeface="微软雅黑"/>
                          <a:cs typeface="微软雅黑"/>
                        </a:rPr>
                        <a:t>首部</a:t>
                      </a:r>
                    </a:p>
                  </a:txBody>
                  <a:tcPr anchor="ctr">
                    <a:solidFill>
                      <a:srgbClr val="FFFFFF"/>
                    </a:solidFill>
                  </a:tcPr>
                </a:tc>
                <a:tc>
                  <a:txBody>
                    <a:bodyPr wrap="square"/>
                    <a:lstStyle/>
                    <a:p>
                      <a:pPr algn="l"/>
                      <a:r>
                        <a:rPr sz="1250" b="0" i="0">
                          <a:solidFill>
                            <a:srgbClr val="202020"/>
                          </a:solidFill>
                          <a:latin typeface="微软雅黑"/>
                          <a:ea typeface="微软雅黑"/>
                          <a:cs typeface="微软雅黑"/>
                        </a:rPr>
                        <a:t>文书名称依处罚种类表述为“拘留决定书”“罚款决定书”；写明被处罚人基本情况、案件由来</a:t>
                      </a:r>
                    </a:p>
                  </a:txBody>
                  <a:tcPr anchor="ctr">
                    <a:solidFill>
                      <a:srgbClr val="FFFFFF"/>
                    </a:solidFill>
                  </a:tcPr>
                </a:tc>
              </a:tr>
              <a:tr h="1188720">
                <a:tc>
                  <a:txBody>
                    <a:bodyPr wrap="square"/>
                    <a:lstStyle/>
                    <a:p>
                      <a:pPr algn="ctr"/>
                      <a:r>
                        <a:rPr sz="1250" b="0" i="0">
                          <a:solidFill>
                            <a:srgbClr val="202020"/>
                          </a:solidFill>
                          <a:latin typeface="微软雅黑"/>
                          <a:ea typeface="微软雅黑"/>
                          <a:cs typeface="微软雅黑"/>
                        </a:rPr>
                        <a:t>正文</a:t>
                      </a:r>
                    </a:p>
                  </a:txBody>
                  <a:tcPr anchor="ctr">
                    <a:solidFill>
                      <a:srgbClr val="EEF1F6"/>
                    </a:solidFill>
                  </a:tcPr>
                </a:tc>
                <a:tc>
                  <a:txBody>
                    <a:bodyPr wrap="square"/>
                    <a:lstStyle/>
                    <a:p>
                      <a:pPr algn="l"/>
                      <a:r>
                        <a:rPr sz="1250" b="0" i="0">
                          <a:solidFill>
                            <a:srgbClr val="202020"/>
                          </a:solidFill>
                          <a:latin typeface="微软雅黑"/>
                          <a:ea typeface="微软雅黑"/>
                          <a:cs typeface="微软雅黑"/>
                        </a:rPr>
                        <a:t>被处罚人的违法事实及处罚理由、处罚的法律依据、处罚的内容（种类、期限、数量、执行方式）</a:t>
                      </a:r>
                    </a:p>
                  </a:txBody>
                  <a:tcPr anchor="ctr">
                    <a:solidFill>
                      <a:srgbClr val="EEF1F6"/>
                    </a:solidFill>
                  </a:tcPr>
                </a:tc>
              </a:tr>
              <a:tr h="1188720">
                <a:tc>
                  <a:txBody>
                    <a:bodyPr wrap="square"/>
                    <a:lstStyle/>
                    <a:p>
                      <a:pPr algn="ctr"/>
                      <a:r>
                        <a:rPr sz="1250" b="0" i="0">
                          <a:solidFill>
                            <a:srgbClr val="202020"/>
                          </a:solidFill>
                          <a:latin typeface="微软雅黑"/>
                          <a:ea typeface="微软雅黑"/>
                          <a:cs typeface="微软雅黑"/>
                        </a:rPr>
                        <a:t>尾部</a:t>
                      </a:r>
                    </a:p>
                  </a:txBody>
                  <a:tcPr anchor="ctr">
                    <a:solidFill>
                      <a:srgbClr val="FFFFFF"/>
                    </a:solidFill>
                  </a:tcPr>
                </a:tc>
                <a:tc>
                  <a:txBody>
                    <a:bodyPr wrap="square"/>
                    <a:lstStyle/>
                    <a:p>
                      <a:pPr algn="l"/>
                      <a:r>
                        <a:rPr sz="1250" b="0" i="0">
                          <a:solidFill>
                            <a:srgbClr val="202020"/>
                          </a:solidFill>
                          <a:latin typeface="微软雅黑"/>
                          <a:ea typeface="微软雅黑"/>
                          <a:cs typeface="微软雅黑"/>
                        </a:rPr>
                        <a:t>交代复议权利（次日起三日内可申请复议一次）；复议期间不停止决定的执行；写明决定时间，加盖院印</a:t>
                      </a:r>
                    </a:p>
                  </a:txBody>
                  <a:tcPr anchor="ctr">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第十七讲　人民法院执行文书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九、暂缓执行决定书的写法</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15</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适用情形：人民法院在执行程序中，根据被执行人的申请或依职权，依照法律规定决定暂缓执行</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首部：当事人基本情况包括申请执行人、被执行人、利害关系人、担保人</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正文：暂缓执行的理由、法律依据、决定暂缓执行的表述、暂缓执行的具体期限</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送达范围：应当送达当事人、利害关系人、人民法院的审判机构和执行机构，并存档</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749039" cy="68580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749039" y="0"/>
            <a:ext cx="54864" cy="68580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86000"/>
            <a:ext cx="2926080" cy="1097280"/>
          </a:xfrm>
          <a:prstGeom prst="rect">
            <a:avLst/>
          </a:prstGeom>
          <a:noFill/>
        </p:spPr>
        <p:txBody>
          <a:bodyPr wrap="square" anchor="t" lIns="50800" rIns="50800" tIns="25400" bIns="25400">
            <a:spAutoFit/>
          </a:bodyPr>
          <a:lstStyle/>
          <a:p>
            <a:r>
              <a:rPr sz="9600" b="1" i="0">
                <a:solidFill>
                  <a:srgbClr val="B6862C"/>
                </a:solidFill>
                <a:latin typeface="微软雅黑"/>
                <a:ea typeface="微软雅黑"/>
                <a:cs typeface="微软雅黑"/>
              </a:rPr>
              <a:t>伍</a:t>
            </a:r>
          </a:p>
        </p:txBody>
      </p:sp>
      <p:sp>
        <p:nvSpPr>
          <p:cNvPr id="6" name="TextBox 5"/>
          <p:cNvSpPr txBox="1"/>
          <p:nvPr/>
        </p:nvSpPr>
        <p:spPr>
          <a:xfrm>
            <a:off x="4206240" y="2468880"/>
            <a:ext cx="7498079" cy="1280160"/>
          </a:xfrm>
          <a:prstGeom prst="rect">
            <a:avLst/>
          </a:prstGeom>
          <a:noFill/>
        </p:spPr>
        <p:txBody>
          <a:bodyPr wrap="square" anchor="ctr" lIns="50800" rIns="50800" tIns="25400" bIns="25400">
            <a:spAutoFit/>
          </a:bodyPr>
          <a:lstStyle/>
          <a:p>
            <a:pPr>
              <a:lnSpc>
                <a:spcPct val="110000"/>
              </a:lnSpc>
            </a:pPr>
            <a:r>
              <a:rPr sz="3400" b="1" i="0">
                <a:solidFill>
                  <a:srgbClr val="142A47"/>
                </a:solidFill>
                <a:latin typeface="微软雅黑"/>
                <a:ea typeface="微软雅黑"/>
                <a:cs typeface="微软雅黑"/>
              </a:rPr>
              <a:t>执行通知书：协助执行与限期申报财产</a:t>
            </a:r>
          </a:p>
        </p:txBody>
      </p:sp>
      <p:sp>
        <p:nvSpPr>
          <p:cNvPr id="7" name="TextBox 6"/>
          <p:cNvSpPr txBox="1"/>
          <p:nvPr/>
        </p:nvSpPr>
        <p:spPr>
          <a:xfrm>
            <a:off x="4206240" y="4023360"/>
            <a:ext cx="7315200" cy="2011680"/>
          </a:xfrm>
          <a:prstGeom prst="rect">
            <a:avLst/>
          </a:prstGeom>
          <a:noFill/>
        </p:spPr>
        <p:txBody>
          <a:bodyPr wrap="square" anchor="t" lIns="50800" rIns="50800" tIns="25400" bIns="25400">
            <a:spAutoFit/>
          </a:bodyPr>
          <a:lstStyle/>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协助执行通知书的双重含义</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限期申报财产通知书的功能</a:t>
            </a:r>
          </a:p>
          <a:p>
            <a:pPr>
              <a:lnSpc>
                <a:spcPct val="125000"/>
              </a:lnSpc>
              <a:spcAft>
                <a:spcPts val="400"/>
              </a:spcAft>
            </a:pPr>
            <a:r>
              <a:rPr sz="1500" b="0" i="0">
                <a:solidFill>
                  <a:srgbClr val="B6862C"/>
                </a:solidFill>
                <a:latin typeface="微软雅黑"/>
                <a:ea typeface="微软雅黑"/>
                <a:cs typeface="微软雅黑"/>
              </a:rPr>
              <a:t>▍ </a:t>
            </a:r>
            <a:r>
              <a:rPr sz="1600" b="0" i="0">
                <a:solidFill>
                  <a:srgbClr val="3E3E3E"/>
                </a:solidFill>
                <a:latin typeface="微软雅黑"/>
                <a:ea typeface="微软雅黑"/>
                <a:cs typeface="微软雅黑"/>
              </a:rPr>
              <a:t>填写式文书的特点</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第十七讲　人民法院执行文书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十、协助执行通知书</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17</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本身是一种法律文书，同时又是一类法律文书的总称</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功能：人民法院在执行过程中通知有关单位或公民完成法院指定的协助事项</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细分类型：协助查询存款通知书、协助冻结存款通知书、解除冻结存款通知书、指定保管查封财产通知书、责令限期追回款物通知书等</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第十七讲　人民法院执行文书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十一、限期申报财产通知书</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18</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507492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又称财产申报通知书，依据最高人民法院《关于人民法院执行工作若干问题的规定》制作</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功能：供人民法院受理执行案件后责令被执行人向人民法院如实申报财产时使用</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应当同时制作财产申报表，并同时送达被执行人</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协助执行通知书和限期申报财产通知书一般均为填写式文书，按照统一样式填写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第十七讲　人民法院执行文书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范文研读：变更或追加被执行主体裁定书核心条款节录</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19</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Rectangle 8"/>
          <p:cNvSpPr/>
          <p:nvPr/>
        </p:nvSpPr>
        <p:spPr>
          <a:xfrm>
            <a:off x="548640" y="1371600"/>
            <a:ext cx="2286000" cy="42062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408176"/>
            <a:ext cx="2103120" cy="365760"/>
          </a:xfrm>
          <a:prstGeom prst="rect">
            <a:avLst/>
          </a:prstGeom>
          <a:noFill/>
        </p:spPr>
        <p:txBody>
          <a:bodyPr wrap="square" anchor="ctr" lIns="50800" rIns="50800" tIns="25400" bIns="25400">
            <a:spAutoFit/>
          </a:bodyPr>
          <a:lstStyle/>
          <a:p>
            <a:r>
              <a:rPr sz="1500" b="1" i="0">
                <a:solidFill>
                  <a:srgbClr val="FFFFFF"/>
                </a:solidFill>
                <a:latin typeface="微软雅黑"/>
                <a:ea typeface="微软雅黑"/>
                <a:cs typeface="微软雅黑"/>
              </a:rPr>
              <a:t>教材实例</a:t>
            </a:r>
          </a:p>
        </p:txBody>
      </p:sp>
      <p:sp>
        <p:nvSpPr>
          <p:cNvPr id="11" name="Rectangle 10"/>
          <p:cNvSpPr/>
          <p:nvPr/>
        </p:nvSpPr>
        <p:spPr>
          <a:xfrm>
            <a:off x="548640" y="1828800"/>
            <a:ext cx="11064240" cy="4343400"/>
          </a:xfrm>
          <a:prstGeom prst="rect">
            <a:avLst/>
          </a:prstGeom>
          <a:solidFill>
            <a:srgbClr val="F7F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828800"/>
            <a:ext cx="91440" cy="4343400"/>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1993392"/>
            <a:ext cx="10607040" cy="4069080"/>
          </a:xfrm>
          <a:prstGeom prst="rect">
            <a:avLst/>
          </a:prstGeom>
          <a:noFill/>
        </p:spPr>
        <p:txBody>
          <a:bodyPr wrap="square" anchor="t" lIns="50800" rIns="50800" tIns="25400" bIns="25400">
            <a:spAutoFit/>
          </a:bodyPr>
          <a:lstStyle/>
          <a:p>
            <a:pPr>
              <a:lnSpc>
                <a:spcPct val="130000"/>
              </a:lnSpc>
              <a:spcAft>
                <a:spcPts val="300"/>
              </a:spcAft>
            </a:pPr>
            <a:r>
              <a:rPr sz="1600" b="0" i="0">
                <a:solidFill>
                  <a:srgbClr val="202020"/>
                </a:solidFill>
                <a:latin typeface="楷体"/>
                <a:ea typeface="楷体"/>
                <a:cs typeface="楷体"/>
              </a:rPr>
              <a:t>××人民法院 民事裁定书 （××）执字××号</a:t>
            </a:r>
          </a:p>
          <a:p>
            <a:pPr>
              <a:lnSpc>
                <a:spcPct val="130000"/>
              </a:lnSpc>
              <a:spcAft>
                <a:spcPts val="300"/>
              </a:spcAft>
            </a:pPr>
            <a:r>
              <a:rPr sz="1600" b="0" i="0">
                <a:solidFill>
                  <a:srgbClr val="202020"/>
                </a:solidFill>
                <a:latin typeface="楷体"/>
                <a:ea typeface="楷体"/>
                <a:cs typeface="楷体"/>
              </a:rPr>
              <a:t>申请执行人：……被执行人：……</a:t>
            </a:r>
          </a:p>
          <a:p>
            <a:pPr>
              <a:lnSpc>
                <a:spcPct val="130000"/>
              </a:lnSpc>
              <a:spcAft>
                <a:spcPts val="300"/>
              </a:spcAft>
            </a:pPr>
            <a:r>
              <a:rPr sz="1600" b="0" i="0">
                <a:solidFill>
                  <a:srgbClr val="202020"/>
                </a:solidFill>
                <a:latin typeface="楷体"/>
                <a:ea typeface="楷体"/>
                <a:cs typeface="楷体"/>
              </a:rPr>
              <a:t>本院在执行申请执行人与被执行人××纠纷一案过程中，查明被执行人××公司已被注销，其权利义务由××公司继承</a:t>
            </a:r>
          </a:p>
          <a:p>
            <a:pPr>
              <a:lnSpc>
                <a:spcPct val="130000"/>
              </a:lnSpc>
              <a:spcAft>
                <a:spcPts val="300"/>
              </a:spcAft>
            </a:pPr>
            <a:r>
              <a:rPr sz="1600" b="0" i="0">
                <a:solidFill>
                  <a:srgbClr val="202020"/>
                </a:solidFill>
                <a:latin typeface="楷体"/>
                <a:ea typeface="楷体"/>
                <a:cs typeface="楷体"/>
              </a:rPr>
              <a:t>依照……（写明法律依据全文）的规定，裁定如下：变更本案的被执行主体为××公司</a:t>
            </a:r>
          </a:p>
          <a:p>
            <a:pPr>
              <a:lnSpc>
                <a:spcPct val="130000"/>
              </a:lnSpc>
              <a:spcAft>
                <a:spcPts val="300"/>
              </a:spcAft>
            </a:pPr>
            <a:r>
              <a:rPr sz="1600" b="0" i="0">
                <a:solidFill>
                  <a:srgbClr val="202020"/>
                </a:solidFill>
                <a:latin typeface="楷体"/>
                <a:ea typeface="楷体"/>
                <a:cs typeface="楷体"/>
              </a:rPr>
              <a:t>本裁定一经送达，即发生法律效力。</a:t>
            </a:r>
          </a:p>
        </p:txBody>
      </p:sp>
      <p:sp>
        <p:nvSpPr>
          <p:cNvPr id="14" name="TextBox 13"/>
          <p:cNvSpPr txBox="1"/>
          <p:nvPr/>
        </p:nvSpPr>
        <p:spPr>
          <a:xfrm>
            <a:off x="868680" y="6199632"/>
            <a:ext cx="10607040" cy="274320"/>
          </a:xfrm>
          <a:prstGeom prst="rect">
            <a:avLst/>
          </a:prstGeom>
          <a:noFill/>
        </p:spPr>
        <p:txBody>
          <a:bodyPr wrap="square" anchor="t" lIns="50800" rIns="50800" tIns="25400" bIns="25400">
            <a:spAutoFit/>
          </a:bodyPr>
          <a:lstStyle/>
          <a:p>
            <a:r>
              <a:rPr sz="1100" b="0" i="0">
                <a:solidFill>
                  <a:srgbClr val="868686"/>
                </a:solidFill>
                <a:latin typeface="微软雅黑"/>
                <a:ea typeface="微软雅黑"/>
                <a:cs typeface="微软雅黑"/>
              </a:rPr>
              <a:t>陈卫东、刘计划《法律文书写作（第五版）》第四章第九节</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第十七讲　人民法院执行文书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课堂讨论：为什么案外人异议审查要采取公开听证？</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20</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25880"/>
            <a:ext cx="11064240" cy="480060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讨论题：教材强调对案外人异议的审查“原则上应当采取公开听证的方式”，这一要求和普通审判程序的公开审判原则有何异同？</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提示：结合执行程序涉及案外人未经审判程序即可能被采取强制措施这一特点思考</a:t>
            </a:r>
          </a:p>
        </p:txBody>
      </p:sp>
      <p:sp>
        <p:nvSpPr>
          <p:cNvPr id="10" name="Rectangle 9"/>
          <p:cNvSpPr/>
          <p:nvPr/>
        </p:nvSpPr>
        <p:spPr>
          <a:xfrm>
            <a:off x="548640" y="5532120"/>
            <a:ext cx="11064240" cy="749808"/>
          </a:xfrm>
          <a:prstGeom prst="rect">
            <a:avLst/>
          </a:prstGeom>
          <a:solidFill>
            <a:srgbClr val="EC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5532120"/>
            <a:ext cx="91440" cy="749808"/>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596128"/>
            <a:ext cx="10698480" cy="640080"/>
          </a:xfrm>
          <a:prstGeom prst="rect">
            <a:avLst/>
          </a:prstGeom>
          <a:noFill/>
        </p:spPr>
        <p:txBody>
          <a:bodyPr wrap="square" anchor="ctr" lIns="50800" rIns="50800" tIns="25400" bIns="25400">
            <a:spAutoFit/>
          </a:bodyPr>
          <a:lstStyle/>
          <a:p>
            <a:r>
              <a:rPr sz="1400" b="1" i="0">
                <a:solidFill>
                  <a:srgbClr val="B6862C"/>
                </a:solidFill>
                <a:latin typeface="微软雅黑"/>
                <a:ea typeface="微软雅黑"/>
                <a:cs typeface="微软雅黑"/>
              </a:rPr>
              <a:t>提示  </a:t>
            </a:r>
            <a:r>
              <a:rPr sz="1400" b="0" i="0">
                <a:solidFill>
                  <a:srgbClr val="3E3E3E"/>
                </a:solidFill>
                <a:latin typeface="微软雅黑"/>
                <a:ea typeface="微软雅黑"/>
                <a:cs typeface="微软雅黑"/>
              </a:rPr>
              <a:t>课堂讨论</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B68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46304"/>
            <a:ext cx="12191695" cy="969264"/>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01168"/>
            <a:ext cx="10515600" cy="292608"/>
          </a:xfrm>
          <a:prstGeom prst="rect">
            <a:avLst/>
          </a:prstGeom>
          <a:noFill/>
        </p:spPr>
        <p:txBody>
          <a:bodyPr wrap="square" anchor="t" lIns="50800" rIns="50800" tIns="25400" bIns="25400">
            <a:spAutoFit/>
          </a:bodyPr>
          <a:lstStyle/>
          <a:p>
            <a:pPr algn="l"/>
            <a:r>
              <a:rPr sz="1300" b="0" i="0">
                <a:solidFill>
                  <a:srgbClr val="CFD8E6"/>
                </a:solidFill>
                <a:latin typeface="微软雅黑"/>
                <a:ea typeface="微软雅黑"/>
                <a:cs typeface="微软雅黑"/>
              </a:rPr>
              <a:t>第十七讲　人民法院执行文书</a:t>
            </a:r>
          </a:p>
        </p:txBody>
      </p:sp>
      <p:sp>
        <p:nvSpPr>
          <p:cNvPr id="5" name="TextBox 4"/>
          <p:cNvSpPr txBox="1"/>
          <p:nvPr/>
        </p:nvSpPr>
        <p:spPr>
          <a:xfrm>
            <a:off x="502920" y="475488"/>
            <a:ext cx="11155680" cy="603504"/>
          </a:xfrm>
          <a:prstGeom prst="rect">
            <a:avLst/>
          </a:prstGeom>
          <a:noFill/>
        </p:spPr>
        <p:txBody>
          <a:bodyPr wrap="square" anchor="t" lIns="50800" rIns="50800" tIns="25400" bIns="25400">
            <a:spAutoFit/>
          </a:bodyPr>
          <a:lstStyle/>
          <a:p>
            <a:pPr algn="l"/>
            <a:r>
              <a:rPr sz="2600" b="1" i="0">
                <a:solidFill>
                  <a:srgbClr val="FFFFFF"/>
                </a:solidFill>
                <a:latin typeface="微软雅黑"/>
                <a:ea typeface="微软雅黑"/>
                <a:cs typeface="微软雅黑"/>
              </a:rPr>
              <a:t>本讲小结 · 思考 · 作业</a:t>
            </a:r>
          </a:p>
        </p:txBody>
      </p:sp>
      <p:sp>
        <p:nvSpPr>
          <p:cNvPr id="6" name="TextBox 5"/>
          <p:cNvSpPr txBox="1"/>
          <p:nvPr/>
        </p:nvSpPr>
        <p:spPr>
          <a:xfrm>
            <a:off x="11338560" y="6419088"/>
            <a:ext cx="731520" cy="310896"/>
          </a:xfrm>
          <a:prstGeom prst="rect">
            <a:avLst/>
          </a:prstGeom>
          <a:noFill/>
        </p:spPr>
        <p:txBody>
          <a:bodyPr wrap="square" anchor="t" lIns="50800" rIns="50800" tIns="25400" bIns="25400">
            <a:spAutoFit/>
          </a:bodyPr>
          <a:lstStyle/>
          <a:p>
            <a:pPr algn="r"/>
            <a:r>
              <a:rPr sz="1100" b="0" i="0">
                <a:solidFill>
                  <a:srgbClr val="868686"/>
                </a:solidFill>
                <a:latin typeface="微软雅黑"/>
                <a:ea typeface="微软雅黑"/>
                <a:cs typeface="微软雅黑"/>
              </a:rPr>
              <a:t>21</a:t>
            </a:r>
          </a:p>
        </p:txBody>
      </p:sp>
      <p:sp>
        <p:nvSpPr>
          <p:cNvPr id="7" name="Rectangle 6"/>
          <p:cNvSpPr/>
          <p:nvPr/>
        </p:nvSpPr>
        <p:spPr>
          <a:xfrm>
            <a:off x="502920" y="6400800"/>
            <a:ext cx="9144000" cy="15240"/>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419088"/>
            <a:ext cx="7315200" cy="310896"/>
          </a:xfrm>
          <a:prstGeom prst="rect">
            <a:avLst/>
          </a:prstGeom>
          <a:noFill/>
        </p:spPr>
        <p:txBody>
          <a:bodyPr wrap="square" anchor="t" lIns="50800" rIns="50800" tIns="25400" bIns="25400">
            <a:spAutoFit/>
          </a:bodyPr>
          <a:lstStyle/>
          <a:p>
            <a:r>
              <a:rPr sz="1000" b="0" i="0">
                <a:solidFill>
                  <a:srgbClr val="868686"/>
                </a:solidFill>
                <a:latin typeface="微软雅黑"/>
                <a:ea typeface="微软雅黑"/>
                <a:cs typeface="微软雅黑"/>
              </a:rPr>
              <a:t>法律文书写作</a:t>
            </a:r>
          </a:p>
        </p:txBody>
      </p:sp>
      <p:sp>
        <p:nvSpPr>
          <p:cNvPr id="9" name="TextBox 8"/>
          <p:cNvSpPr txBox="1"/>
          <p:nvPr/>
        </p:nvSpPr>
        <p:spPr>
          <a:xfrm>
            <a:off x="548640" y="1371600"/>
            <a:ext cx="11064240" cy="4297680"/>
          </a:xfrm>
          <a:prstGeom prst="rect">
            <a:avLst/>
          </a:prstGeom>
          <a:noFill/>
        </p:spPr>
        <p:txBody>
          <a:bodyPr wrap="square" anchor="t" lIns="50800" rIns="50800" tIns="25400" bIns="25400">
            <a:spAutoFit/>
          </a:bodyPr>
          <a:lstStyle/>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概念与体系：执行的概念、执行文书三大类型（裁定书、决定书、通知书）</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执行裁定书：变更或追加被执行主体、对异议裁定（公开听证）、不予执行裁定三种情形</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执行决定书：妨害执行行为处罚决定（含复议权利）、暂缓执行决定</a:t>
            </a:r>
          </a:p>
          <a:p>
            <a:pPr>
              <a:lnSpc>
                <a:spcPct val="122000"/>
              </a:lnSpc>
              <a:spcAft>
                <a:spcPts val="600"/>
              </a:spcAft>
            </a:pPr>
            <a:r>
              <a:rPr sz="2000" b="1" i="0">
                <a:solidFill>
                  <a:srgbClr val="20538C"/>
                </a:solidFill>
                <a:latin typeface="微软雅黑"/>
                <a:ea typeface="微软雅黑"/>
                <a:cs typeface="微软雅黑"/>
              </a:rPr>
              <a:t>■ </a:t>
            </a:r>
            <a:r>
              <a:rPr sz="2000" b="1" i="0">
                <a:solidFill>
                  <a:srgbClr val="B6862C"/>
                </a:solidFill>
                <a:latin typeface="微软雅黑"/>
                <a:ea typeface="微软雅黑"/>
                <a:cs typeface="微软雅黑"/>
              </a:rPr>
              <a:t>执行通知书：协助执行通知书（及细分类型）、限期申报财产通知书，多为填写式文书</a:t>
            </a:r>
          </a:p>
        </p:txBody>
      </p:sp>
      <p:sp>
        <p:nvSpPr>
          <p:cNvPr id="10" name="Rectangle 9"/>
          <p:cNvSpPr/>
          <p:nvPr/>
        </p:nvSpPr>
        <p:spPr>
          <a:xfrm>
            <a:off x="548640" y="5669280"/>
            <a:ext cx="11064240" cy="685800"/>
          </a:xfrm>
          <a:prstGeom prst="rect">
            <a:avLst/>
          </a:prstGeom>
          <a:solidFill>
            <a:srgbClr val="14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5733288"/>
            <a:ext cx="10515600" cy="566928"/>
          </a:xfrm>
          <a:prstGeom prst="rect">
            <a:avLst/>
          </a:prstGeom>
          <a:noFill/>
        </p:spPr>
        <p:txBody>
          <a:bodyPr wrap="square" anchor="ctr" lIns="50800" rIns="50800" tIns="25400" bIns="25400">
            <a:spAutoFit/>
          </a:bodyPr>
          <a:lstStyle/>
          <a:p>
            <a:r>
              <a:rPr sz="1500" b="1" i="0">
                <a:solidFill>
                  <a:srgbClr val="B6862C"/>
                </a:solidFill>
                <a:latin typeface="微软雅黑"/>
                <a:ea typeface="微软雅黑"/>
                <a:cs typeface="微软雅黑"/>
              </a:rPr>
              <a:t>思考  </a:t>
            </a:r>
            <a:r>
              <a:rPr sz="1500" b="0" i="0">
                <a:solidFill>
                  <a:srgbClr val="FFFFFF"/>
                </a:solidFill>
                <a:latin typeface="微软雅黑"/>
                <a:ea typeface="微软雅黑"/>
                <a:cs typeface="微软雅黑"/>
              </a:rPr>
              <a:t>下一讲我们将学习法庭笔录，包括法庭笔录、评议笔录、宣判笔录的制作要点。</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