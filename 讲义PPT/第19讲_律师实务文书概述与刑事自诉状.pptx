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第十九讲 · 律师文书（一）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律师实务文书概述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与刑事自诉状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从“国家权力的文书”到“当事人意愿的文书”——一个视角的转换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配套教材：第七章导读、第一节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导入：板块转换——从法院文书到律师文书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我们已经系统学习了人民法院的裁判文书、裁定书、调解书、执行文书和笔录，这些文书的共同特点是：以国家审判权为依托，体现的是国家意志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从今天开始，我们转入第七章：律师实务文书。律师实务文书的制作主体不再是国家机关，而是接受当事人委托的律师或律师事务所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这是一次重要的视角转换：理解律师实务文书，要时刻牢记“谁委托、为谁说话、说什么话”这三个问题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律师实务文书概述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律师实务文书的概念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与公检法文书的三点区别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本章关键术语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一、律师实务文书的概念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律师实务文书：律师依法参加诉讼、执行职务或处理非诉讼法律事务的凭证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功能：为当事人、顾问单位和社会提供法律服务，是法律文书的一个重要组成部分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律师和律师事务所的职责、职权都与公、检、法三机关大不相同，因此律师实务文书具有自身独特的属性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二、律师实务文书与公检法文书的区别（一）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行文的受托性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律师或律师事务所接受当事人的聘请或委托，代写各类法律文书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大多按当事人的意愿、并以当事人的名义撰写，而不是以律师自己的名义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这一点与判决书、起诉书等以国家机关名义作出的文书形成鲜明对比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内容的广泛性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既包括诉讼案件的各种文书（诉状、辩护词、代理词），也包括非诉讼法律事务文书（合同、法律意见书）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这是由律师为社会提供法律服务的职业属性所决定的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与公、检、法三机关法律文书相对单一的内容形成区别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三、律师实务文书与公检法文书的区别（二）：功能的单一性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律师实务文书不是以国家权力维护其强制性、约束力的文书，而是代表当事人单方意愿的法律行为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它只代表文书行文主体（即委托人）自身的利益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其作用是引起法律程序的开始以及法律程序的变化，目的是通过诉讼请求得到执法机关的公正处理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提问：请大家结合判决书的“国家强制性”特点，对比思考律师实务文书“代表单方意愿”这一特点，二者在效力上有何根本不同？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四、本章关键术语预览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诉状类：刑事自诉状、刑事自诉反诉状、民事起诉状、附带民事诉讼起诉状、行政起诉状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救济类：刑事上诉状、民事上诉状、行政上诉状、申诉状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应诉与辩护代理类：答辩状、辩护词、代理词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非诉类：合同等法律事务文书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刑事自诉状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概念与适用范围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内容和写法（四部分）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格式与真实范文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五、诉状与刑事自诉状的概念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诉状：自然人、法人或非法人组织，为维护自己的权利，在诉讼过程中向人民法院提交的陈述事实、理由和提出诉讼请求的法律文书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刑事自诉状又称刑事起诉状：刑事自诉案件的被害人或其法定代理人，根据事实和法律直接向人民法院控告被告人犯罪行为，要求追究刑事责任的文书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刑事自诉状与检察院的起诉书在法律性质上相同，区别在于前者以自诉人个人名义提出，后者以国家名义提出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六、刑事自诉状的适用范围（三类自诉案件）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9272"/>
                <a:gridCol w="7744968"/>
              </a:tblGrid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具体范围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告诉才处理的案件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侮辱、诽谤案〔刑法第246条，但严重危害社会秩序和国家利益的除外〕；暴力干涉婚姻自由案〔刑法第257条第1款〕；虐待案〔刑法第260条第1款，但被害人无能力告诉或受强制威吓无法告诉的除外〕；侵占案〔刑法第270条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被害人有证据证明的轻微刑事案件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故意伤害案〔刑法第234条第1款〕；非法侵入住宅案〔刑法第245条〕；侵犯通信自由案〔刑法第252条〕；重婚案〔刑法第258条〕；遗弃案〔刑法第261条〕；部分生产销售伪劣商品案、侵犯知识产权案及刑法分则第四、五章规定的可能判处3年以下有期徒刑的案件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被害人有证据证明的特定案件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被害人有证据证明对被告人侵犯自己人身、财产权利的行为应当依法追究刑事责任，而公安机关或检察院不予追究刑事责任的案件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七、自诉状的写作主体与“不告不理”原则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自诉人不仅可以自己书写诉状，也可以由其法定代理人或委托律师代写诉状——这正是律师参与刑事自诉案件的切入点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对于告诉才处理的案件，遵循“不告不理”原则：如果当事人不告诉，国家机关也无权主动提起诉讼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对于证据不足、可由公安机关受理，或者认为可能判处3年以上有期徒刑的，人民法院应当告知被害人向公安机关报案或移送立案侦查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八、刑事自诉状的内容和写法（一）：首部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标题与自诉人栏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标题写明“刑事自诉状”字样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自诉人栏：姓名、性别、出生年月日、民族、出生地、文化程度、职业、工作单位和职务、住址等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被告人栏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写明被告人的姓名、性别、出生年月日、民族、出生地、文化程度、职业、工作单位和职务、住址等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自诉人和被告人如有数人，应分别写明个人情况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九、刑事自诉状的内容和写法（二）：案由和请求事项、事实和理由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案由和请求事项：写明案由和被告人所犯罪名，例如“控告被告人XX犯暴力干涉婚姻自由罪，请求依法判决”，罪名应具体明确、严格依照刑法规定提出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事实和理由是自诉状的主要部分，应本着实事求是态度，如实反映案件本来情况，既不夸大也不缩小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应写明犯罪的时间、地点、动机、目的、方式、手段、行为过程和危害后果，并写明能够证明所控犯罪的证据（证人证言、书证、物证等）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结尾写“综上所述，被告人XX犯有XX罪，特向你院起诉，请依法判决”，再写“此致”及受理法院名称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十、刑事自诉状的内容和写法（三）：尾部与附项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诉状右下方为具状人签名或盖章，并注明具状年月日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附项常见三类：本诉状副本X份；证物X件；书证X件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自诉状副本应按被告人的人数提交相应份数，便于送达被告人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十一、刑事自诉状真实范文：胡XX自诉章XX虐待案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教材实例（陈卫东、刘计划《法律文书写作（第五版）》）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自诉人：胡XX，女，汉族，XX市人，高中文化，XX公司职工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被告人：章XX（继母），女，汉族，XX市人，初中文化，XX厂职工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案由和诉讼请求：被告人章XX犯虐待罪，请依法裁判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事实和理由：自诉人之女随其父改嫁后，继母章XX多次殴打、辱骂、不让吃饭，邻居及被害人奶奶可作证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法律依据：触犯《刑法》第260条，已构成虐待罪；根据《刑事诉讼法》第210条提起自诉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附：本状副本一份；居委会证明一件；邻居证明两份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教材简要评析：本诉状符合自诉案件的范围，事实清楚，并有人证，格式符合要求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十二、范文写作技巧分析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事实部分按时间顺序叙述了两次施暴经过，第一次警告、第二次诉诸法院，体现了“穷尽其他途径后诉诸法律”的递进逻辑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证据部分明确列出邻居、被害人奶奶作为证人，并附居委会证明，证据来源具体、可查证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法律依据部分既引用刑法实体条文，又引用刑事诉讼法程序条文，体现了实体与程序并重的写作要求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课堂讨论：律师代写刑事自诉状应注意的特殊问题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讨论题：律师接受被害人委托代写刑事自诉状时，相比被害人自己书写，需要额外注意哪些问题？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提示角度一：法律适用的准确性——律师应准确判断案件是否属于法院直接受理的自诉范围，避免因案件性质判断错误导致诉状被驳回或不予受理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提示角度二：证据的固定与提交——律师应协助被害人收集、固定证据，并按教材要求在附项中列明证物、书证的具体份数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提示角度三：代书人身份的注明——律师代写诉状时应在诉状落款处注明代书人身份及所在律师事务所，这也是教材范文中“代书人：XX律师事务所律师XX”这一格式要求的来源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第十九讲　律师实务文书概述与刑事自诉状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小结与作业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律师实务文书与公检法文书的根本区别：受托性、广泛性、功能单一性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刑事自诉状的三类适用范围：告诉才处理、被害人有证据证明的轻微刑事案件、特定的人身财产权利侵犯案件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刑事自诉状的四部分结构：首部、案由和请求事项、事实和理由、附项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“不告不理”原则与自诉人合法权益的程序保障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请选择一个虚构的轻微刑事案情（须注明“教学示例（虚拟案例）”），以律师代书人身份，按照教材四部分结构拟写一份完整的刑事自诉状，并在落款处规范标注代书人身份。下一讲我们将学习刑事自诉反诉状与民事起诉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