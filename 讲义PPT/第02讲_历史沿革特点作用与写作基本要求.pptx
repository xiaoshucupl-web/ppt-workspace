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731520"/>
            <a:ext cx="128016" cy="128016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77724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000" b="0" i="0">
                <a:solidFill>
                  <a:srgbClr val="BFCCDD"/>
                </a:solidFill>
                <a:latin typeface="微软雅黑"/>
                <a:ea typeface="微软雅黑"/>
                <a:cs typeface="微软雅黑"/>
              </a:rPr>
              <a:t>《法律文书写作》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2588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2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第二讲 · 总论（下）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68880"/>
            <a:ext cx="1024128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特点、作用与写作基本要求</a:t>
            </a:r>
          </a:p>
          <a:p>
            <a:pPr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——从历史走到规范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10058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900" b="0" i="0">
                <a:solidFill>
                  <a:srgbClr val="D7DEE8"/>
                </a:solidFill>
                <a:latin typeface="微软雅黑"/>
                <a:ea typeface="微软雅黑"/>
                <a:cs typeface="微软雅黑"/>
              </a:rPr>
              <a:t>在概念之上，立起写作的标尺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5440680"/>
            <a:ext cx="5486400" cy="17780"/>
          </a:xfrm>
          <a:prstGeom prst="rect">
            <a:avLst/>
          </a:prstGeom>
          <a:solidFill>
            <a:srgbClr val="44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62356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600" b="0" i="0">
                <a:solidFill>
                  <a:srgbClr val="C8D2E0"/>
                </a:solidFill>
                <a:latin typeface="微软雅黑"/>
                <a:ea typeface="微软雅黑"/>
                <a:cs typeface="微软雅黑"/>
              </a:rPr>
              <a:t>主讲教师：＿＿＿＿＿　法学院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603504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300" b="0" i="0">
                <a:solidFill>
                  <a:srgbClr val="8F9DB2"/>
                </a:solidFill>
                <a:latin typeface="微软雅黑"/>
                <a:ea typeface="微软雅黑"/>
                <a:cs typeface="微软雅黑"/>
              </a:rPr>
              <a:t>配套教材：第一章第二至五节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第二讲　历史沿革 · 基本特点 · 作用 · 写作基本要求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承上启下：从“是什么”到“怎么写好”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上一讲解决了概念：什么是法律文书、四概念辨析、两种分类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这一讲解决标尺：法律文书凭什么是它现在这个样子，以及好文书的尺子在哪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四条线索——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历史沿革：它从哪里来（第二节）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基本特点：它长什么样、为什么这样（第三节）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作用：它为什么重要（第四节）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写作基本要求：怎样才算写好（第五节）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本讲的落点在“五大特点”和“四项要求”，这是后面每一份文书都要回扣的总纲。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第二节　法律文书的历史沿革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判词，是中国法律文书最古老的形态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格式统一与说理，是贯穿古今的两条线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第二讲　历史沿革 · 基本特点 · 作用 · 写作基本要求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古代（一）：判词与笔录的源头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现存最早的判词：西周青铜器铭文（教材载，1975 年陕西岐山出土）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判决称“劾”，制作判决书称“成狱”；定罪科刑、减刑分寸俱在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秦代《云梦睡虎地秦简》（教材载，1975 年湖北云梦出土）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《爰书》详记“经死”（自缢）案现场勘验：尸位、绳索、痕迹、颜色……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《贼死·爰书》是一份他杀尸体检验报告，记创伤数目、方向、大小并推定凶器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可见秦代对勘验、调查、文书制作已有严格规定——这是笔录的远祖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历史细节均据教材记载（属用户提供材料），具体字形、释读以教材原文为准。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第二讲　历史沿革 · 基本特点 · 作用 · 写作基本要求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古代（二）：判词写作的成熟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唐朝：把写作判词设为科举专科，命题考写判词以选拔官吏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考生就虚拟案件写判决书，宋、明两朝考选官吏也都考写判词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清朝：对判词写作规定了格式，限定不得超过 300 字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张船山、樊增祥的判牍，是写得好的代表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理论研究传统同样深厚——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0" i="0">
                <a:solidFill>
                  <a:srgbClr val="3E3E3E"/>
                </a:solidFill>
                <a:latin typeface="楷体"/>
                <a:ea typeface="楷体"/>
                <a:cs typeface="楷体"/>
              </a:rPr>
              <a:t>    《周礼》：“凡有责者，有判书以治则听”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《文心雕龙·书记》列“律”“契”“券”入文；明代吴讷《文章辨体》、徐师曾《文体明辨》把判词列为专门文体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第二讲　历史沿革 · 基本特点 · 作用 · 写作基本要求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近代到现代：走向统一、规范、说理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1840 年后，清末修律，沈家本《考试法官必要》统一文书格式，开近代之端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新中国：1979 年公、检、法重拟各自文书格式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1980 年司法部颁 8 类 64 种诉讼文书格式，体例完备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1992 年最高法《法院诉讼文书样式（试行）》，1993 年施行；1999 年重颁刑事诉讼文书格式，加强说理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一条主线贯穿至今：格式的统一化、规范化，以及说理性的不断强化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2018 年《刑事诉讼法》修正后，以强化事实叙述、证据分析、增强说理为重点的文书改革持续深化。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第三节　法律文书的基本特点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格式规范 · 内容合法 · 执行强制 · 时间及时 · 用语客观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五个特点，是文书区别于一般文章的根本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第二讲　历史沿革 · 基本特点 · 作用 · 写作基本要求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特点一 · 格式的规范性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最明显的表面特征：固定化——结构、用语、条理都有定式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文书类大多分三部分：首部、主体、尾部，层次分明、便于审查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规范格式的三重意义——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全国统一行使，保证文书的完整、正确、有效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便于司法人员按类型、项目、格式制作，条理清晰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便于科学管理：分类、装订、编号、归档、查阅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语言专业化、固定化，是法律文书区别于一般民用文书的显著标志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现代法治反对“刑不可知，则威不可测”，文书语言要朴实、客观，服务于法制宣传。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第二讲　历史沿革 · 基本特点 · 作用 · 写作基本要求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特点二 · 内容的合法性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核心原则：以事实为根据，以法律为准绳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内容建立在客观事实之上——首部信息要调查核实，主体事实要有充分证据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严格适用程序法：程序公正才能保障实体公正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例：有《刑事诉讼法》第 16 条情形之一的，检察院应作不起诉决定〔2018 修正〕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正确适用实体法：刑事判决叙事要紧扣犯罪构成要件，兼及量刑情节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程序法与实体法，是法律文书立意的最根本依据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第二讲　历史沿革 · 基本特点 · 作用 · 写作基本要求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制作刑事诉讼文书的法律依据（教材所列，注意现行版本）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9220200"/>
              </a:tblGrid>
              <a:tr h="112014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类别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主要依据（标注年份）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</a:tr>
              <a:tr h="112014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程序法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《刑事诉讼法》〔2018 修正〕；最高法《关于适用刑事诉讼法的解释》〔2021〕；《公安机关办理刑事案件程序规定》〔2020〕；《人民检察院刑事诉讼规则》〔2019〕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12014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实体法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《刑法》及其修正案；最高法关于确定罪名的规定等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112014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文书样式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最高法《法院刑事诉讼文书样式》；最高检《刑事诉讼法律文书格式样本（2020 版）》；公安部刑事法律文书式样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053328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2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〔法律修订频繁，引用前务必核对现行有效文本与最新文书样式版本〕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第二讲　历史沿革 · 基本特点 · 作用 · 写作基本要求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特点三 · 执行的强制性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司法机关的法律文书，生效后由国家强制力保证执行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只能由公检法等法定机关制作，他人无权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拒不执行的法律后果——</a:t>
            </a:r>
          </a:p>
          <a:p>
            <a:pPr lvl="2">
              <a:lnSpc>
                <a:spcPct val="122000"/>
              </a:lnSpc>
              <a:spcAft>
                <a:spcPts val="300"/>
              </a:spcAft>
            </a:pPr>
            <a:r>
              <a:rPr sz="1600" b="1" i="0">
                <a:solidFill>
                  <a:srgbClr val="3C6BA5"/>
                </a:solidFill>
                <a:latin typeface="微软雅黑"/>
                <a:ea typeface="微软雅黑"/>
                <a:cs typeface="微软雅黑"/>
              </a:rPr>
              <a:t>        — </a:t>
            </a:r>
            <a:r>
              <a:rPr sz="1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《刑法》第 313 条：对法院判决、裁定有能力执行而拒不执行，情节严重的，构成拒不执行判决、裁定罪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当事人的诉状：无强制执行力，但对程序有法定约束力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“不告不理”：判决受诉请范围约束；答辩状的理由证据，司法机关须查证回应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民事强制执行只针对财产给付等义务，不能以拘押人身的方式强迫履行；构成犯罪的另当别论。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第二讲　历史沿革 · 基本特点 · 作用 · 写作基本要求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特点四 · 时间的及时性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及时性是程序公正的重要原则，贯穿司法全过程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在诉讼期限内须有相应文书，时间上不能滞后、也不能提前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种类不能混淆：逮捕须先出示逮捕证，不能“先抓后补”〔区别于域外无证逮捕〕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起诉期限内检察院须及时制作起诉书；审判期限内法院须及时判决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及时执行生效文书，同样是司法公正的保证——执行难是长期课题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第二讲　历史沿革 · 基本特点 · 作用 · 写作基本要求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特点五 · 用语的客观性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司法的本质属性：中立、公正、客观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机关文书：用准确语言客观表述事实，不得带个人感情或文学化辞藻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当事人文书：可有立场，但仍须以事实为据，不得夸大或捏造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故意提供虚假信息、意图侵权的，要承担法律责任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造句宜用肯定、陈述、判断句；忌反问、疑问、设问、感叹等加重感情色彩的句式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缜密严谨，切忌矫揉造作、华而不实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第二讲　历史沿革 · 基本特点 · 作用 · 写作基本要求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五大特点一览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64238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9502"/>
                <a:gridCol w="5649824"/>
                <a:gridCol w="2824912"/>
              </a:tblGrid>
              <a:tr h="74676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特点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要害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一句话记忆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格式规范性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首部·主体·尾部，定式化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形式上“像”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内容合法性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以事实为根据，以法律为准绳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内容上“对”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执行强制性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国家强制力保证执行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效果上“硬”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时间及时性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诉讼期限内，不滞后不提前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时间上“准”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用语客观性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中立陈述，不掺感情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语言上“冷”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053328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2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像、对、硬、准、冷——五个字，串起法律文书区别于一般文章的全部根性。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第四节　法律文书的作用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记载与体现法律的实施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对内规范办案，对外宣示正义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第二讲　历史沿革 · 基本特点 · 作用 · 写作基本要求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作用（上）：体现国家意志，适用法律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一、体现国家意志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法律文书具有权威性、严肃性，发生效力后由国家权力保证实现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当事人必须直接承受其法律效力——所以制作必须慎重，从内容到格式到文字都要正确无误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二、适时、准确适用法律，惩罚犯罪、维护权利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文书有很强时限性、时效性，制作要及时，以免贻误时机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“以事实为根据，以法律为准绳”，有法必依、执法必严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第二讲　历史沿革 · 基本特点 · 作用 · 写作基本要求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作用（下）：调整关系、教育公民、评估素质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三、调整国家、集体、个人之间的法律关系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主要体现在民事文书：判断是非、调处纠纷、确认权利义务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四、教育公民遵守法律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公开使用的法律文书是法制宣传的方式，界限明确，使群众明辨合法与非法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五、法律工作者素质的评估标准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文书有独特的推理论证与表达方式，须经专门训练；写文书的水平，是考核法律人的重要尺度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第五节　法律文书写作的基本要求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遵循格式 · 认定事实 · 适用法律 · 逻辑说理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这四条，是贯穿全课的写作总纲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第二讲　历史沿革 · 基本特点 · 作用 · 写作基本要求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要求一 · 严格地遵循格式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法律文书实用性强、形式要求严，首先要严格遵循格式与结构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不同文书要求不同——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表格类：准确、严格填写，使人一目了然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叙述类：在格式之外，还要运用逻辑，准确叙事、合理用权、有说服力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规范性与灵活性有力结合，是叙述类文书的基本功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第二讲　历史沿革 · 基本特点 · 作用 · 写作基本要求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要求二 · 客观地认定事实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事实是制作文书的基础，也是结论的根据；认定事实的客观性有三个方面——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① 准确揭示案件事实的本来面貌：前因后果、来龙去脉如实叙写，不添枝加叶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② 全面阐述案件事实的各个侧面：数罪、附带民事等都要条分缕析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③ 确切表达关键部分的事实：分清主次，突出主导方面，不记流水账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《刑事诉讼法》第 53 条：公安提请批准逮捕书、检察院起诉书、法院判决书，必须忠实于事实真相〔2018 修正〕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认定事实失去客观性，在审判中就可能造成重罪轻判或轻罪重判。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第二讲　历史沿革 · 基本特点 · 作用 · 写作基本要求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要求三 · 准确地适用法律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严格依法制作，集中体现“以事实为根据，以法律为准绳”，具体三点——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证据确凿充分、论证理由充足、结论正确；忌“可能”“大概”“也许”“恐怕”等模糊语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据什么法、哪一条哪一款，都要交代得清清楚楚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刑事文书必须严把罪与非罪；民事文书须体现权利义务，分清是非曲直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依据：最高法《关于裁判文书引用法律、法规等规范性法律文件的规定》〔2009〕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并须严格依照法定程序——什么文书由谁制作、谁审批、何手续生效，法律均有明文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第二讲　历史沿革 · 基本特点 · 作用 · 写作基本要求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要求四 · 有力的逻辑说理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这是写作要求的灵魂，也是当前文书改革的重点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长期痛点：判决书对事实、证据的认定不能准确严格体现，缺乏说理，失去说服与教育功效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持续的制度回应——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最高检《关于加强检察法律文书说理工作的意见》〔2017 修订〕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最高法系列文书样式，并持续以“强化说理”为方向修订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随 2018 年《刑事诉讼法》修正，以强化事实叙述、证据分析、增强说理为重点的改革进一步深化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说理不是辞藻，而是把“事实—证据—法律—结论”的链条，一环一环焊死给当事人看。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第二讲　历史沿革 · 基本特点 · 作用 · 写作基本要求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本讲小结 · 思考 · 作业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4297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历史：判词为源，格式统一与说理强化是古今两条主线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五大特点：格式规范（像）、内容合法（对）、执行强制（硬）、时间及时（准）、用语客观（冷）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五项作用：体现国家意志、适用法律惩罚犯罪、调整法律关系、教育公民、评估素质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四项要求：遵循格式、客观认定事实、准确适用法律、有力逻辑说理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下一讲起进入实战：第 3 讲公安机关文书——立案三书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733288"/>
            <a:ext cx="105156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思考  </a:t>
            </a: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作业：找一份真实判决书，对照“四项要求”给它打分，指出它在“说理”上的一处优点和一处不足（300 字）。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