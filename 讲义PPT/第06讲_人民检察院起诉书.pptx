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第六讲 · 检察文书（核心）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人民检察院起诉书</a:t>
            </a:r>
          </a:p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——说理类文书的第一块硬骨头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代表国家提起公诉的文书，文书写作的标杆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配套教材：第三章第一节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导入：为什么起诉书是“标杆文书”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检察法律文书：检察机关行使检察权、实现检察职能而制作的司法公文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起诉书，是其中分量最重的一种——它把一个人正式推上被告席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三重身份——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对法院：交付审判的书面凭证，是审判的对象与边界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对被告人及辩护人：法庭辩护所针对的“靶子”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对社会：揭露犯罪、宣传法制、教育群众的公开教材，作为档案永久保存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历史名例：纽伦堡审判纳粹、远东法庭审日本战犯、我国特别检察厅审“两案”，起诉书均开庭前公布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起诉书写得好不好，最能见检察官的功力。把它吃透，其他说理类文书触类旁通。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一、概念与三大特征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概念：人民检察院依照法定诉讼程序，代表国家向法院对犯罪嫌疑人提起公诉的文书（通称公诉书）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特征一：必须由人民检察院制作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公安机关无权向法院提交起诉书，只能向检察院提出起诉意见书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特征二：所指控的犯罪事实必须已经查清，证据确实、充分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犯罪事实＝时间、地点、手段、情节、后果、动机、目的等主客观情况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特征三：必须经检察长批准，才能移送法院提起公诉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制作依据：刑事诉讼法 + 最高检《人民检察院工作文书格式样本（2020 版）》《刑事诉讼法律文书格式样本（2020 版）》。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二、起诉书的七部分结构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首部 · 被告人情况 · 案由审查 · 案件事实 · 证据 · 要求与根据 · 尾部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结构是骨架，事实与说理是血肉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七部分结构总览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4425696"/>
                <a:gridCol w="4425696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写什么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要害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（一）首部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检察院名称、文号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文号＝简称＋刑诉＋年度（4 位）＋顺序号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（二）被告人情况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姓名、身份、前科、强制措施等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项目齐全、调查核实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（三）案由与审查过程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案由、来源、已审查材料、告知权利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三项交代清楚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（四）案件事实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经审查查明的犯罪事实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全书重心，七要素＋排列法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（五）证据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认定事实的主要证据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一事一证／一罪一证，不展开论证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（六）要求与根据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本院认为＋法律依据＋公诉请求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结论性，逻辑严密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（七）尾部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此致法院、检察官署名、附项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署名、日期、印章、附件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（一）首部 ·（二）被告人基本情况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首部两项：检察院名称（地方院冠省名；涉外冠“中华人民共和国”）、文号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被告人基本情况——按顺序写明（缺项是硬伤）：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姓名、性别、出生年月日、公民身份号码、民族、文化程度、职业或工作单位及职务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是否系人大代表或政协委员、户籍地、住址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曾受刑事处罚、与定罪量刑有关的行政处罚情况；因本案采取强制措施的情况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注意：曾用名/别名/绰号括注；外国人附外文姓名、国籍、护照号；多名被告按主从顺序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前科与强制措施叙写要素：时间、种类、原因、决定/执行机关——这些直接关系量刑。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（三）案由和案件的审查过程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功能：交代“受理的是什么案、案件从何而来、审查了哪些材料”三项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公安移送案件的范式表述——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0" i="0">
                <a:solidFill>
                  <a:srgbClr val="3E3E3E"/>
                </a:solidFill>
                <a:latin typeface="楷体"/>
                <a:ea typeface="楷体"/>
                <a:cs typeface="楷体"/>
              </a:rPr>
              <a:t>    “本案由 XX 公安局侦查终结，以被告人 XX 涉嫌 XX 罪，于 XX 年 XX 月 XX 日向本院移送起诉。”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0" i="0">
                <a:solidFill>
                  <a:srgbClr val="3E3E3E"/>
                </a:solidFill>
                <a:latin typeface="楷体"/>
                <a:ea typeface="楷体"/>
                <a:cs typeface="楷体"/>
              </a:rPr>
              <a:t>    “本院受理后，于 XX 年 XX 月 XX 日告知被告人有权委托辩护人……依法讯问了被告人，审查了全部案件材料。”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认罪认罚案件还须告知“认罪认罚可能导致的法律后果”，并写明同意适用的程序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（四）案件事实 —— 起诉书的主体与重心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记叙犯罪事实必备七要素：时间、地点、动机、目的、情节、手段、结果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起诉书事实 ≠ 起诉意见书事实的复述，三点不同——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审核上：起诉书严于意见书（检察院严格审查核实后的成熟结论）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记叙上：起诉书简于意见书（主要犯罪事实突出，明晰而简略）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排列上：起诉书要有严密逻辑性和说明力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围绕刑法规定的该罪构成要件叙写；多次犯罪逐一列举，共同犯罪先共同后单独、按主从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记住：事实部分是“监控录像”，客观叙写不下判断；定性留到“本院认为”。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犯罪事实的四种排列法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153"/>
                <a:gridCol w="4959831"/>
                <a:gridCol w="3815255"/>
              </a:tblGrid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排列法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适用情形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效果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按时间顺序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一般案件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易叙清楚，显示犯罪连续性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突出主罪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一人犯数罪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先主后次，主次分明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综合归纳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作案多次、罪名情节大致相同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概括叙写，避免重复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罪、证分述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便利行文（一定条件下也可罪证合并）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罪证分明，一目了然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（五）证据 ·（六）起诉的要求和根据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证据：指明主要证据的名称、种类即可，不必展开分析论证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一事一证：每起事实后写明据以认定的主要证据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一罪一证：作案多起、概括叙述时，于该罪后概括写明证据种类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起诉的要求和根据（本院认为）：文字不多，但每句都是结论，三个逻辑过程——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分析认定：确定行为性质（简括、符合客观）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分析论证：以逻辑推理论证有罪、应受处罚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分析说明：援引刑法定罪条款、刑诉法第 176 条提起公诉，请依法判处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“本院认为”的链条：定性 → 危害程度、情节 → 触犯刑法某条 → 应以某罪追责 → 据刑诉法 176 条提起公诉。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（七）尾部 · 五种格式速记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尾部：此致 XX 人民法院；检察官、检察官助理署名；日期（签发日）；加盖院印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附项：被告人现处所、案卷证据册数、证人名单、涉案款物、附带民事情况等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2020 版样本提供五种格式，按“主体×程序”组合记忆——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自然人 / 单位 × 普通程序 / 认罪认罚程序（四种）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第五种：刑事附带民事起诉书（诉讼请求＋事实证据理由＋据刑诉法第 101 条第 2 款）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认罪认罚格式的附项多两样：认罪认罚具结书、量刑建议书。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三、范文研读：陈某某故意杀人案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教材实例（北京市检一分院起诉书，2020）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看七部分如何在一份真文书里落地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范文（上）：首部 · 被告人 · 审查过程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北京市人民检察院第一分院　起诉书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京一分检公诉刑诉〔2020〕XX 号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被告人陈某某，男，××××年××月××日出生，……小学文化程度，农民，户籍地及住址××。因无证驾驶，于2004年2月11日被北京市公安局延庆分局行政拘留三日。因涉嫌故意杀人罪，于2020年5月22日被刑事拘留，同年6月24日经本院批准逮捕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本案由北京市公安局侦查终结，以被告人陈某某涉嫌故意杀人罪，于2020年8月21日向本院移送审查起诉。本院受理后……依法讯问了被告人，听取了辩护人的意见，审查了全部案件材料。被告人同意本案适用普通程序审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来源：教材第三章第一节“实例”（陈某某故意杀人案起诉书）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范文（中）：经依法审查查明（犯罪事实）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经依法审查查明：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被告人陈某某于2020年5月21日8时许，在本市××村西北林地，因感情纠纷与前妻杨某某（女，殁年××岁）发生争执，陈某某持刀砍切、刺划杨某某头面部、颈部、会阴部及四肢多刀，伤及颈部大血管，致杨某某创伤性失血性休克死亡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被告人陈某某于2020年5月21日向公安机关投案，并自愿如实供述自己的罪行。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5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点：时间、地点、起因（感情纠纷）、手段（持刀多刀、部位）、结果（失血性休克死亡）、自首情节，要素齐备而不渲染。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来源：教材实例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范文（下）：证据 · 本院认为 · 尾部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认定上述事实的证据如下：物证（刀具两把）；书证（离婚协议书等）；证人证言；被告人供述和辩解；鉴定意见（尸体检验鉴定书等）；勘验检查辨认笔录；视听资料（报警录音等）；其他证明材料（到案经过等）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本院认为，被告人陈某某故意非法剥夺他人生命，致一人死亡，其行为触犯了《中华人民共和国刑法》第二百三十二条……应当以故意杀人罪追究其刑事责任。被告人……自愿如实供述自己的罪行，根据《刑事诉讼法》第十五条之规定，可以依法从宽处理。根据《刑事诉讼法》第一百七十六条之规定，提起公诉，请依法判处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此致　北京市第一中级人民法院　　检察官：×××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来源：教材实例（法条：刑法232条、刑诉法15条、176条）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范文点评：好在哪里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事实：七要素齐备，客观叙写，不带“民愤极大”一类渲染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证据：按八类法定证据种类“一案一证”概括列举，干净利落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本院认为：定性（故意非法剥夺生命）→ 触犯刑法 232 条 → 故意杀人罪 → 据 176 条公诉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认罪认罚：投案、如实供述写入事实，据刑诉法 15 条说明从宽，附具结书、量刑建议书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整体：首尾呼应、繁简得当，是一份“经得起历史检验”的合格起诉书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四、制作要领与常见错误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细致 · 准确 · 全面 · 观点材料一致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起诉书的错误，大多错在“分寸”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四个制作要领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一要细致：犯罪的时间、地点、人物、事件（手段情节）、原因（动机目的）、后果，交代清楚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共同犯罪还要分清共同责任与各被告人各自的责任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二要准确：分析实事求是，既不无限上纲，也不轻描淡写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三要全面：既讲从重也讲从轻，既揭露犯罪也正视客观原因，防止片面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四要观点与材料一致：用材料说明观点，用观点统率材料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易错点：错在“分寸”（教材反例）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失之过重：轻伤案件，起诉书却写“行凶伤人，民愤极大，血债累累，令人发指”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失之过轻：故意杀人案，结论却只写“业已构成犯罪”，配不上罪行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观点与材料不一：写“当前……被告竟敢在1984年至1988年连续盗伐森林”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“当前”的时间观点，与“1984—1988 年”的事实表述自相矛盾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通病根源：主观定性挤占客观叙事；情绪化用语代替证据与逻辑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记住第一讲的话：叙事归叙事，说理归说理。起诉书更是如此。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认罪认罚起诉书的特别之处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告知：除辩护权外，须告知“认罪认罚可能导致的法律后果”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事实：写入“到案后自愿如实供述、与被害人和解或赔偿取得谅解”等量刑事实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证据：注明“收集程序合法、内容客观真实”，被告人对事实证据无异议、自愿认罪认罚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本院认为：据《刑事诉讼法》第 15 条说明从宽，提出量刑建议（或附量刑建议书）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附项：增加“认罪认罚具结书”“量刑建议书”各一份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认罪认罚从宽是 2018 年刑诉法确立的重要制度，第 9 讲专门展开。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第六讲　人民检察院起诉书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概念三特征：检察院制作、事实查清证据充分、检察长批准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七部分：首部、被告人、案由审查、案件事实、证据、要求与根据、尾部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两个核心：犯罪事实（七要素＋四排列法）、本院认为（分析认定—论证—说明）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四要领：细致、准确、全面、观点材料一致；通病是“分寸”失当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下一讲：人民检察院不起诉决定书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作业：给定一起简单盗窃案的案情材料（自拟），起草一份起诉书的“经依法审查查明”与“本院认为”两段（400 字）。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