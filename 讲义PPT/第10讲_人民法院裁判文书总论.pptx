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731520"/>
            <a:ext cx="128016" cy="128016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77240"/>
            <a:ext cx="10058400" cy="548640"/>
          </a:xfrm>
          <a:prstGeom prst="rect">
            <a:avLst/>
          </a:prstGeom>
          <a:noFill/>
        </p:spPr>
        <p:txBody>
          <a:bodyPr wrap="square" anchor="t" lIns="50800" rIns="50800" tIns="25400" bIns="25400">
            <a:spAutoFit/>
          </a:bodyPr>
          <a:lstStyle/>
          <a:p>
            <a:r>
              <a:rPr sz="2000" b="0" i="0">
                <a:solidFill>
                  <a:srgbClr val="BFCCDD"/>
                </a:solidFill>
                <a:latin typeface="微软雅黑"/>
                <a:ea typeface="微软雅黑"/>
                <a:cs typeface="微软雅黑"/>
              </a:rPr>
              <a:t>《法律文书写作》</a:t>
            </a:r>
          </a:p>
        </p:txBody>
      </p:sp>
      <p:sp>
        <p:nvSpPr>
          <p:cNvPr id="6" name="TextBox 5"/>
          <p:cNvSpPr txBox="1"/>
          <p:nvPr/>
        </p:nvSpPr>
        <p:spPr>
          <a:xfrm>
            <a:off x="1097280" y="1325880"/>
            <a:ext cx="10058400" cy="548640"/>
          </a:xfrm>
          <a:prstGeom prst="rect">
            <a:avLst/>
          </a:prstGeom>
          <a:noFill/>
        </p:spPr>
        <p:txBody>
          <a:bodyPr wrap="square" anchor="t" lIns="50800" rIns="50800" tIns="25400" bIns="25400">
            <a:spAutoFit/>
          </a:bodyPr>
          <a:lstStyle/>
          <a:p>
            <a:r>
              <a:rPr sz="2200" b="1" i="0">
                <a:solidFill>
                  <a:srgbClr val="B6862C"/>
                </a:solidFill>
                <a:latin typeface="微软雅黑"/>
                <a:ea typeface="微软雅黑"/>
                <a:cs typeface="微软雅黑"/>
              </a:rPr>
              <a:t>第十讲 · 法院文书（一）</a:t>
            </a:r>
          </a:p>
        </p:txBody>
      </p:sp>
      <p:sp>
        <p:nvSpPr>
          <p:cNvPr id="7" name="TextBox 6"/>
          <p:cNvSpPr txBox="1"/>
          <p:nvPr/>
        </p:nvSpPr>
        <p:spPr>
          <a:xfrm>
            <a:off x="1051560" y="2468880"/>
            <a:ext cx="10241280" cy="1554480"/>
          </a:xfrm>
          <a:prstGeom prst="rect">
            <a:avLst/>
          </a:prstGeom>
          <a:noFill/>
        </p:spPr>
        <p:txBody>
          <a:bodyPr wrap="square" anchor="t" lIns="50800" rIns="50800" tIns="25400" bIns="25400">
            <a:spAutoFit/>
          </a:bodyPr>
          <a:lstStyle/>
          <a:p>
            <a:pPr>
              <a:lnSpc>
                <a:spcPct val="110000"/>
              </a:lnSpc>
            </a:pPr>
            <a:r>
              <a:rPr sz="4000" b="1" i="0">
                <a:solidFill>
                  <a:srgbClr val="FFFFFF"/>
                </a:solidFill>
                <a:latin typeface="微软雅黑"/>
                <a:ea typeface="微软雅黑"/>
                <a:cs typeface="微软雅黑"/>
              </a:rPr>
              <a:t>人民法院</a:t>
            </a:r>
          </a:p>
          <a:p>
            <a:pPr>
              <a:lnSpc>
                <a:spcPct val="110000"/>
              </a:lnSpc>
            </a:pPr>
            <a:r>
              <a:rPr sz="4000" b="1" i="0">
                <a:solidFill>
                  <a:srgbClr val="FFFFFF"/>
                </a:solidFill>
                <a:latin typeface="微软雅黑"/>
                <a:ea typeface="微软雅黑"/>
                <a:cs typeface="微软雅黑"/>
              </a:rPr>
              <a:t>裁判文书总论</a:t>
            </a:r>
          </a:p>
        </p:txBody>
      </p:sp>
      <p:sp>
        <p:nvSpPr>
          <p:cNvPr id="8" name="TextBox 7"/>
          <p:cNvSpPr txBox="1"/>
          <p:nvPr/>
        </p:nvSpPr>
        <p:spPr>
          <a:xfrm>
            <a:off x="1097280" y="4297680"/>
            <a:ext cx="10058400" cy="731520"/>
          </a:xfrm>
          <a:prstGeom prst="rect">
            <a:avLst/>
          </a:prstGeom>
          <a:noFill/>
        </p:spPr>
        <p:txBody>
          <a:bodyPr wrap="square" anchor="t" lIns="50800" rIns="50800" tIns="25400" bIns="25400">
            <a:spAutoFit/>
          </a:bodyPr>
          <a:lstStyle/>
          <a:p>
            <a:r>
              <a:rPr sz="1900" b="0" i="0">
                <a:solidFill>
                  <a:srgbClr val="D7DEE8"/>
                </a:solidFill>
                <a:latin typeface="微软雅黑"/>
                <a:ea typeface="微软雅黑"/>
                <a:cs typeface="微软雅黑"/>
              </a:rPr>
              <a:t>从检察院的“监督”到法院的“裁判”：制作主体的根本转换</a:t>
            </a:r>
          </a:p>
        </p:txBody>
      </p:sp>
      <p:sp>
        <p:nvSpPr>
          <p:cNvPr id="9" name="Rectangle 8"/>
          <p:cNvSpPr/>
          <p:nvPr/>
        </p:nvSpPr>
        <p:spPr>
          <a:xfrm>
            <a:off x="1097280" y="5440680"/>
            <a:ext cx="5486400" cy="17780"/>
          </a:xfrm>
          <a:prstGeom prst="rect">
            <a:avLst/>
          </a:prstGeom>
          <a:solidFill>
            <a:srgbClr val="445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623560"/>
            <a:ext cx="10058400" cy="457200"/>
          </a:xfrm>
          <a:prstGeom prst="rect">
            <a:avLst/>
          </a:prstGeom>
          <a:noFill/>
        </p:spPr>
        <p:txBody>
          <a:bodyPr wrap="square" anchor="t" lIns="50800" rIns="50800" tIns="25400" bIns="25400">
            <a:spAutoFit/>
          </a:bodyPr>
          <a:lstStyle/>
          <a:p>
            <a:r>
              <a:rPr sz="1600" b="0" i="0">
                <a:solidFill>
                  <a:srgbClr val="C8D2E0"/>
                </a:solidFill>
                <a:latin typeface="微软雅黑"/>
                <a:ea typeface="微软雅黑"/>
                <a:cs typeface="微软雅黑"/>
              </a:rPr>
              <a:t>主讲教师：＿＿＿＿＿　法学院</a:t>
            </a:r>
          </a:p>
        </p:txBody>
      </p:sp>
      <p:sp>
        <p:nvSpPr>
          <p:cNvPr id="11" name="TextBox 10"/>
          <p:cNvSpPr txBox="1"/>
          <p:nvPr/>
        </p:nvSpPr>
        <p:spPr>
          <a:xfrm>
            <a:off x="1097280" y="6035040"/>
            <a:ext cx="10058400" cy="457200"/>
          </a:xfrm>
          <a:prstGeom prst="rect">
            <a:avLst/>
          </a:prstGeom>
          <a:noFill/>
        </p:spPr>
        <p:txBody>
          <a:bodyPr wrap="square" anchor="t" lIns="50800" rIns="50800" tIns="25400" bIns="25400">
            <a:spAutoFit/>
          </a:bodyPr>
          <a:lstStyle/>
          <a:p>
            <a:r>
              <a:rPr sz="1300" b="0" i="0">
                <a:solidFill>
                  <a:srgbClr val="8F9DB2"/>
                </a:solidFill>
                <a:latin typeface="微软雅黑"/>
                <a:ea typeface="微软雅黑"/>
                <a:cs typeface="微软雅黑"/>
              </a:rPr>
              <a:t>配套教材：第四章导读、第一节节选</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导入：制作主体的根本转换</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4800600"/>
          </a:xfrm>
          <a:prstGeom prst="rect">
            <a:avLst/>
          </a:prstGeom>
          <a:noFill/>
        </p:spPr>
        <p:txBody>
          <a:bodyPr wrap="square" anchor="t" lIns="50800" rIns="50800" tIns="25400" bIns="25400">
            <a:spAutoFit/>
          </a:bodyPr>
          <a:lstStyle/>
          <a:p>
            <a:pPr>
              <a:lnSpc>
                <a:spcPct val="122000"/>
              </a:lnSpc>
              <a:spcAft>
                <a:spcPts val="600"/>
              </a:spcAft>
            </a:pPr>
            <a:r>
              <a:rPr sz="2100" b="1" i="0">
                <a:solidFill>
                  <a:srgbClr val="20538C"/>
                </a:solidFill>
                <a:latin typeface="微软雅黑"/>
                <a:ea typeface="微软雅黑"/>
                <a:cs typeface="微软雅黑"/>
              </a:rPr>
              <a:t>第1讲到第9讲，文书制作主体是公安机关、人民检察院，核心是侦查权、追诉权、监督权</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从今天起，文书制作主体转变为人民法院，核心是审判权——代表国家对案件作出最终的、有强制力的处理决定</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审判权和追诉权的关系：检察院负责“提出指控”，法院负责“作出裁断”，二者职权配置不同，文书功能定位也完全不同</a:t>
            </a:r>
          </a:p>
        </p:txBody>
      </p:sp>
      <p:sp>
        <p:nvSpPr>
          <p:cNvPr id="10" name="Rectangle 9"/>
          <p:cNvSpPr/>
          <p:nvPr/>
        </p:nvSpPr>
        <p:spPr>
          <a:xfrm>
            <a:off x="548640" y="5532120"/>
            <a:ext cx="11064240" cy="749808"/>
          </a:xfrm>
          <a:prstGeom prst="rect">
            <a:avLst/>
          </a:prstGeom>
          <a:solidFill>
            <a:srgbClr val="EC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532120"/>
            <a:ext cx="91440" cy="749808"/>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96128"/>
            <a:ext cx="10698480" cy="640080"/>
          </a:xfrm>
          <a:prstGeom prst="rect">
            <a:avLst/>
          </a:prstGeom>
          <a:noFill/>
        </p:spPr>
        <p:txBody>
          <a:bodyPr wrap="square" anchor="ctr" lIns="50800" rIns="50800" tIns="25400" bIns="25400">
            <a:spAutoFit/>
          </a:bodyPr>
          <a:lstStyle/>
          <a:p>
            <a:r>
              <a:rPr sz="1400" b="1" i="0">
                <a:solidFill>
                  <a:srgbClr val="B6862C"/>
                </a:solidFill>
                <a:latin typeface="微软雅黑"/>
                <a:ea typeface="微软雅黑"/>
                <a:cs typeface="微软雅黑"/>
              </a:rPr>
              <a:t>提示  </a:t>
            </a:r>
            <a:r>
              <a:rPr sz="1400" b="0" i="0">
                <a:solidFill>
                  <a:srgbClr val="3E3E3E"/>
                </a:solidFill>
                <a:latin typeface="微软雅黑"/>
                <a:ea typeface="微软雅黑"/>
                <a:cs typeface="微软雅黑"/>
              </a:rPr>
              <a:t>提问：大家觉得，为什么判决书要由法院制作，不能由检察院和法院共同制作？这涉及审判独立和控审分离的基本诉讼原理，留待下面展开。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一、人民法院主要法律文书的三大分类</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3</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刑事审判法律文书：判决书、裁定书、各类笔录等，处理刑事案件</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民事审判法律文书：判决书、裁定书、调解书等，处理民事纠纷</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行政审判法律文书：判决书、裁定书等，处理行政争议</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本章按审级为主线展开：一审刑事判决书→二审刑事判决书→一审民事判决书→二审民事判决书→一审行政判决书→二审行政判决书</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壹</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第一节　裁判文书改革的背景</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四份标准样式文件</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改革的现实动因</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样式更新的延续性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二、裁判文书改革的四份标准样式文件</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480060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1999年《法院刑事诉讼文书样式》（样本）</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2015年《行政诉讼文书样式（试行）》</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2016年《民事诉讼文书样式》</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2020年《公益诉讼文书样式（试行）》</a:t>
            </a:r>
          </a:p>
        </p:txBody>
      </p:sp>
      <p:sp>
        <p:nvSpPr>
          <p:cNvPr id="10" name="Rectangle 9"/>
          <p:cNvSpPr/>
          <p:nvPr/>
        </p:nvSpPr>
        <p:spPr>
          <a:xfrm>
            <a:off x="548640" y="5532120"/>
            <a:ext cx="11064240" cy="749808"/>
          </a:xfrm>
          <a:prstGeom prst="rect">
            <a:avLst/>
          </a:prstGeom>
          <a:solidFill>
            <a:srgbClr val="EC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532120"/>
            <a:ext cx="91440" cy="749808"/>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96128"/>
            <a:ext cx="10698480" cy="640080"/>
          </a:xfrm>
          <a:prstGeom prst="rect">
            <a:avLst/>
          </a:prstGeom>
          <a:noFill/>
        </p:spPr>
        <p:txBody>
          <a:bodyPr wrap="square" anchor="ctr" lIns="50800" rIns="50800" tIns="25400" bIns="25400">
            <a:spAutoFit/>
          </a:bodyPr>
          <a:lstStyle/>
          <a:p>
            <a:r>
              <a:rPr sz="1400" b="1" i="0">
                <a:solidFill>
                  <a:srgbClr val="B6862C"/>
                </a:solidFill>
                <a:latin typeface="微软雅黑"/>
                <a:ea typeface="微软雅黑"/>
                <a:cs typeface="微软雅黑"/>
              </a:rPr>
              <a:t>提示  </a:t>
            </a:r>
            <a:r>
              <a:rPr sz="1400" b="0" i="0">
                <a:solidFill>
                  <a:srgbClr val="3E3E3E"/>
                </a:solidFill>
                <a:latin typeface="微软雅黑"/>
                <a:ea typeface="微软雅黑"/>
                <a:cs typeface="微软雅黑"/>
              </a:rPr>
              <a:t>最高人民法院通过这一系列文件，统一了人民法院文书制作标准，提升法官诉讼文书制作能力、提高写作质效、减少制作瑕疵和疏漏。</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三、补充样式的持续更新</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2019年《最高人民法院关于印发人民法院特赦案件法律文书样式的通知》</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2020年《民事诉讼程序繁简分流改革试点相关诉讼文书样式》</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裁判文书规范化是一个持续的、动态的过程，会随司法改革和新型案件类型的出现不断补充更新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贰</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第二节　判决书的概念与法律效力</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判决的本质</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判决书的法律效力特征</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判决与裁定的区分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四、判决书的概念</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100" b="1" i="0">
                <a:solidFill>
                  <a:srgbClr val="20538C"/>
                </a:solidFill>
                <a:latin typeface="微软雅黑"/>
                <a:ea typeface="微软雅黑"/>
                <a:cs typeface="微软雅黑"/>
              </a:rPr>
              <a:t>判决：人民法院代表国家行使审判权，依法对审理终结的案件所作出的处理决定</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判决书：这个决定的书面表现形式</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制作书面判决书的目的：便于当事人了解法院决定以利于执行；便于上级法院和检察院实行审判监督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五、判决书的法律效力特征</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9</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480060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判决书是国家政策、法律在每个案件中的具体化，是十分重要的法律文书</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在整个诉讼活动中，它是案件的结论，对诉讼当事人具有强制性</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发生法律效力后具有稳定性，非经审判监督程序不得变更或撤销</a:t>
            </a:r>
          </a:p>
        </p:txBody>
      </p:sp>
      <p:sp>
        <p:nvSpPr>
          <p:cNvPr id="10" name="Rectangle 9"/>
          <p:cNvSpPr/>
          <p:nvPr/>
        </p:nvSpPr>
        <p:spPr>
          <a:xfrm>
            <a:off x="548640" y="5532120"/>
            <a:ext cx="11064240" cy="749808"/>
          </a:xfrm>
          <a:prstGeom prst="rect">
            <a:avLst/>
          </a:prstGeom>
          <a:solidFill>
            <a:srgbClr val="EC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532120"/>
            <a:ext cx="91440" cy="749808"/>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96128"/>
            <a:ext cx="10698480" cy="640080"/>
          </a:xfrm>
          <a:prstGeom prst="rect">
            <a:avLst/>
          </a:prstGeom>
          <a:noFill/>
        </p:spPr>
        <p:txBody>
          <a:bodyPr wrap="square" anchor="ctr" lIns="50800" rIns="50800" tIns="25400" bIns="25400">
            <a:spAutoFit/>
          </a:bodyPr>
          <a:lstStyle/>
          <a:p>
            <a:r>
              <a:rPr sz="1400" b="1" i="0">
                <a:solidFill>
                  <a:srgbClr val="B6862C"/>
                </a:solidFill>
                <a:latin typeface="微软雅黑"/>
                <a:ea typeface="微软雅黑"/>
                <a:cs typeface="微软雅黑"/>
              </a:rPr>
              <a:t>提示  </a:t>
            </a:r>
            <a:r>
              <a:rPr sz="1400" b="0" i="0">
                <a:solidFill>
                  <a:srgbClr val="3E3E3E"/>
                </a:solidFill>
                <a:latin typeface="微软雅黑"/>
                <a:ea typeface="微软雅黑"/>
                <a:cs typeface="微软雅黑"/>
              </a:rPr>
              <a:t>这一点和我们第8讲讲抗诉书时强调的“审判监督程序”正好呼应——判决一旦生效就具有稳定性，只有通过法定的审判监督程序才能纠正错误，不能随意推翻。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六、一审刑事判决的两种结论</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10</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有罪判决</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1" i="0">
                <a:solidFill>
                  <a:srgbClr val="B6862C"/>
                </a:solidFill>
                <a:latin typeface="微软雅黑"/>
                <a:ea typeface="微软雅黑"/>
                <a:cs typeface="微软雅黑"/>
              </a:rPr>
              <a:t>确定被告人有罪</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应当作出有罪判决</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需要进一步确定量刑（结合第9讲量刑建议书）</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无罪判决</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1" i="0">
                <a:solidFill>
                  <a:srgbClr val="B6862C"/>
                </a:solidFill>
                <a:latin typeface="微软雅黑"/>
                <a:ea typeface="微软雅黑"/>
                <a:cs typeface="微软雅黑"/>
              </a:rPr>
              <a:t>确定被告人无罪</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应当作出无罪判决</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无论有罪无罪，都应制作判决书</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七、一审刑事判决书的五部分结构（总览）</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480060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1. 首部：法院名称、案号、公诉机关或自诉人、被告人基本情况、辩护人情况</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2. 事实：法院查明的案件事实</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3. 理由：定罪量刑的法律分析与说理</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4. 判决结果：具体的裁判结论</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5. 尾部：合议庭署名、日期、上诉权利告知等</a:t>
            </a:r>
          </a:p>
        </p:txBody>
      </p:sp>
      <p:sp>
        <p:nvSpPr>
          <p:cNvPr id="10" name="Rectangle 9"/>
          <p:cNvSpPr/>
          <p:nvPr/>
        </p:nvSpPr>
        <p:spPr>
          <a:xfrm>
            <a:off x="548640" y="5532120"/>
            <a:ext cx="11064240" cy="749808"/>
          </a:xfrm>
          <a:prstGeom prst="rect">
            <a:avLst/>
          </a:prstGeom>
          <a:solidFill>
            <a:srgbClr val="EC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532120"/>
            <a:ext cx="91440" cy="749808"/>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96128"/>
            <a:ext cx="10698480" cy="640080"/>
          </a:xfrm>
          <a:prstGeom prst="rect">
            <a:avLst/>
          </a:prstGeom>
          <a:noFill/>
        </p:spPr>
        <p:txBody>
          <a:bodyPr wrap="square" anchor="ctr" lIns="50800" rIns="50800" tIns="25400" bIns="25400">
            <a:spAutoFit/>
          </a:bodyPr>
          <a:lstStyle/>
          <a:p>
            <a:r>
              <a:rPr sz="1400" b="1" i="0">
                <a:solidFill>
                  <a:srgbClr val="B6862C"/>
                </a:solidFill>
                <a:latin typeface="微软雅黑"/>
                <a:ea typeface="微软雅黑"/>
                <a:cs typeface="微软雅黑"/>
              </a:rPr>
              <a:t>提示  </a:t>
            </a:r>
            <a:r>
              <a:rPr sz="1400" b="0" i="0">
                <a:solidFill>
                  <a:srgbClr val="3E3E3E"/>
                </a:solidFill>
                <a:latin typeface="微软雅黑"/>
                <a:ea typeface="微软雅黑"/>
                <a:cs typeface="微软雅黑"/>
              </a:rPr>
              <a:t>这五部分结构是下一讲《一审刑事判决书》要逐一展开讲解的核心内容，今天只建立总体框架，细节留给下一讲。</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八、首部的关键改革点：从“公诉人”到“公诉机关”</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旧写法：“公诉人XX人民检察院检察长（或检察员）XX”——这是不确切的</a:t>
            </a:r>
          </a:p>
          <a:p>
            <a:pPr>
              <a:lnSpc>
                <a:spcPct val="122000"/>
              </a:lnSpc>
              <a:spcAft>
                <a:spcPts val="600"/>
              </a:spcAft>
            </a:pPr>
            <a:r>
              <a:rPr sz="2100" b="1" i="0">
                <a:solidFill>
                  <a:srgbClr val="20538C"/>
                </a:solidFill>
                <a:latin typeface="微软雅黑"/>
                <a:ea typeface="微软雅黑"/>
                <a:cs typeface="微软雅黑"/>
              </a:rPr>
              <a:t>依据《人民检察院组织法》第20条、〔刑事诉讼法2018年修正〕第169条：代表国家提起公诉的是人民检察院，不是检察院内的某个人</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现行写法：直接写“公诉机关XX人民检察院”</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改革意义：避免起诉书署名检察人员和出庭支持公诉检察人员不一致导致判决书姓名前后矛盾的问题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范文研读：判决书首部公诉机关项写法对照</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13</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公诉机关项写法对照</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旧写法（不确切）：公诉人　XX人民检察院检察长（或检察员）　XX</a:t>
            </a:r>
          </a:p>
          <a:p>
            <a:pPr>
              <a:lnSpc>
                <a:spcPct val="130000"/>
              </a:lnSpc>
              <a:spcAft>
                <a:spcPts val="300"/>
              </a:spcAft>
            </a:pPr>
            <a:r>
              <a:rPr sz="1600" b="0" i="0">
                <a:solidFill>
                  <a:srgbClr val="202020"/>
                </a:solidFill>
                <a:latin typeface="楷体"/>
                <a:ea typeface="楷体"/>
                <a:cs typeface="楷体"/>
              </a:rPr>
              <a:t>现行写法：公诉机关　XX人民检察院</a:t>
            </a:r>
          </a:p>
          <a:p>
            <a:pPr>
              <a:lnSpc>
                <a:spcPct val="130000"/>
              </a:lnSpc>
              <a:spcAft>
                <a:spcPts val="300"/>
              </a:spcAft>
            </a:pPr>
            <a:r>
              <a:rPr sz="1600" b="0" i="0">
                <a:solidFill>
                  <a:srgbClr val="202020"/>
                </a:solidFill>
                <a:latin typeface="楷体"/>
                <a:ea typeface="楷体"/>
                <a:cs typeface="楷体"/>
              </a:rPr>
              <a:t>理由：根据《人民检察院组织法》第20条、〔刑事诉讼法2018年修正〕第169条，代表国家提起公诉的主体是检察院这一机关，而非检察院内的具体某个人</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教材实例：陈卫东、刘计划《法律文书写作（第五版）》第四章第一节</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九、被告人项的十项书写规则（要点摘要）</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有别名、化名、绰号的，应在姓名后注明；职业、文化程度与案情有关联的应写入</a:t>
            </a:r>
          </a:p>
          <a:p>
            <a:pPr>
              <a:lnSpc>
                <a:spcPct val="122000"/>
              </a:lnSpc>
              <a:spcAft>
                <a:spcPts val="600"/>
              </a:spcAft>
            </a:pPr>
            <a:r>
              <a:rPr sz="2100" b="1" i="0">
                <a:solidFill>
                  <a:srgbClr val="20538C"/>
                </a:solidFill>
                <a:latin typeface="微软雅黑"/>
                <a:ea typeface="微软雅黑"/>
                <a:cs typeface="微软雅黑"/>
              </a:rPr>
              <a:t>曾受刑事处罚、行政处罚、劳动教养或限制自由期间逃跑过、可能构成累犯或法定从重情节的，应写明事由和时间</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“因本案所受强制措施情况”应写明被拘留、逮捕的时间，没有的不写此项</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同案被告人二人以上的，按主犯、从犯、协从犯顺序列项书写</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未成年被告人必须写明出生年月日，成年被告人确实查不清的，可以写年龄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叙</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第三节　刑事审判文书之外：本章其余文书板块预览</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民事、行政判决书板块</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调解书与执行类文书</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笔录类文书</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十、本章后续板块预览（一）：判决书与裁定书</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一审刑事判决书、二审刑事判决书——第11、12讲</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一审民事判决书、二审民事判决书（或终审民事判决书）——第13、14讲</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一审行政判决书、二审行政判决书——第15、16讲</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十一、本章后续板块预览（二）：调解书与执行类文书</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调解书：当事人在法院主持下达成调解协议时制作</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执行裁定书、执行决定书、执行通知书：分别对应执行程序中的不同环节和功能</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这些文书将在第17讲《调解书·执行文书·笔录》中系统展开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十二、本章后续板块预览（三）：笔录类文书</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480060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法庭笔录：记录庭审全过程的法律文书</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合议庭评议笔录：记录合议庭对案件评议过程的文书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宣判笔录：记录宣判过程的文书</a:t>
            </a:r>
          </a:p>
        </p:txBody>
      </p:sp>
      <p:sp>
        <p:nvSpPr>
          <p:cNvPr id="10" name="Rectangle 9"/>
          <p:cNvSpPr/>
          <p:nvPr/>
        </p:nvSpPr>
        <p:spPr>
          <a:xfrm>
            <a:off x="548640" y="5532120"/>
            <a:ext cx="11064240" cy="749808"/>
          </a:xfrm>
          <a:prstGeom prst="rect">
            <a:avLst/>
          </a:prstGeom>
          <a:solidFill>
            <a:srgbClr val="EC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532120"/>
            <a:ext cx="91440" cy="749808"/>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96128"/>
            <a:ext cx="10698480" cy="640080"/>
          </a:xfrm>
          <a:prstGeom prst="rect">
            <a:avLst/>
          </a:prstGeom>
          <a:noFill/>
        </p:spPr>
        <p:txBody>
          <a:bodyPr wrap="square" anchor="ctr" lIns="50800" rIns="50800" tIns="25400" bIns="25400">
            <a:spAutoFit/>
          </a:bodyPr>
          <a:lstStyle/>
          <a:p>
            <a:r>
              <a:rPr sz="1400" b="1" i="0">
                <a:solidFill>
                  <a:srgbClr val="B6862C"/>
                </a:solidFill>
                <a:latin typeface="微软雅黑"/>
                <a:ea typeface="微软雅黑"/>
                <a:cs typeface="微软雅黑"/>
              </a:rPr>
              <a:t>提示  </a:t>
            </a:r>
            <a:r>
              <a:rPr sz="1400" b="0" i="0">
                <a:solidFill>
                  <a:srgbClr val="3E3E3E"/>
                </a:solidFill>
                <a:latin typeface="微软雅黑"/>
                <a:ea typeface="微软雅黑"/>
                <a:cs typeface="微软雅黑"/>
              </a:rPr>
              <a:t>笔录类文书虽然不直接对外公开生效，但是裁判文书形成过程的重要程序记录，在审判监督和案件复查中具有重要的证据和参考价值。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本章学时分布一览表</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19</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39" cy="4754880"/>
        </p:xfrm>
        <a:graphic>
          <a:graphicData uri="http://schemas.openxmlformats.org/drawingml/2006/table">
            <a:tbl>
              <a:tblPr firstRow="1" bandRow="1">
                <a:tableStyleId>{5C22544A-7EE6-4342-B048-85BDC9FD1C3A}</a:tableStyleId>
              </a:tblPr>
              <a:tblGrid>
                <a:gridCol w="3595878"/>
                <a:gridCol w="4149089"/>
                <a:gridCol w="3319272"/>
              </a:tblGrid>
              <a:tr h="950976">
                <a:tc>
                  <a:txBody>
                    <a:bodyPr wrap="square"/>
                    <a:lstStyle/>
                    <a:p>
                      <a:pPr algn="ctr"/>
                      <a:r>
                        <a:rPr sz="1400" b="1" i="0">
                          <a:solidFill>
                            <a:srgbClr val="FFFFFF"/>
                          </a:solidFill>
                          <a:latin typeface="微软雅黑"/>
                          <a:ea typeface="微软雅黑"/>
                          <a:cs typeface="微软雅黑"/>
                        </a:rPr>
                        <a:t>文书大类</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代表文书</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对应学时</a:t>
                      </a:r>
                    </a:p>
                  </a:txBody>
                  <a:tcPr anchor="ctr">
                    <a:solidFill>
                      <a:srgbClr val="142A47"/>
                    </a:solidFill>
                  </a:tcPr>
                </a:tc>
              </a:tr>
              <a:tr h="950976">
                <a:tc>
                  <a:txBody>
                    <a:bodyPr wrap="square"/>
                    <a:lstStyle/>
                    <a:p>
                      <a:pPr algn="ctr"/>
                      <a:r>
                        <a:rPr sz="1250" b="0" i="0">
                          <a:solidFill>
                            <a:srgbClr val="202020"/>
                          </a:solidFill>
                          <a:latin typeface="微软雅黑"/>
                          <a:ea typeface="微软雅黑"/>
                          <a:cs typeface="微软雅黑"/>
                        </a:rPr>
                        <a:t>刑事审判文书</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一审/二审刑事判决书</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第11、12讲</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民事审判文书</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一审/二审民事判决书</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第13、14讲</a:t>
                      </a:r>
                    </a:p>
                  </a:txBody>
                  <a:tcPr anchor="ctr">
                    <a:solidFill>
                      <a:srgbClr val="EEF1F6"/>
                    </a:solidFill>
                  </a:tcPr>
                </a:tc>
              </a:tr>
              <a:tr h="950976">
                <a:tc>
                  <a:txBody>
                    <a:bodyPr wrap="square"/>
                    <a:lstStyle/>
                    <a:p>
                      <a:pPr algn="ctr"/>
                      <a:r>
                        <a:rPr sz="1250" b="0" i="0">
                          <a:solidFill>
                            <a:srgbClr val="202020"/>
                          </a:solidFill>
                          <a:latin typeface="微软雅黑"/>
                          <a:ea typeface="微软雅黑"/>
                          <a:cs typeface="微软雅黑"/>
                        </a:rPr>
                        <a:t>行政审判文书</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一审/二审行政判决书</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第15、16讲</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调解与执行文书</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调解书、执行裁定书等</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第17讲</a:t>
                      </a:r>
                    </a:p>
                  </a:txBody>
                  <a:tcPr anchor="ctr">
                    <a:solidFill>
                      <a:srgbClr val="EEF1F6"/>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课堂讨论：判决书的强制力来自哪里？</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20</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问题：判决书的“强制性”和检察院起诉书的“追诉力”有什么本质区别？</a:t>
            </a:r>
          </a:p>
          <a:p>
            <a:pPr>
              <a:lnSpc>
                <a:spcPct val="122000"/>
              </a:lnSpc>
              <a:spcAft>
                <a:spcPts val="600"/>
              </a:spcAft>
            </a:pPr>
            <a:r>
              <a:rPr sz="2000" b="1" i="0">
                <a:solidFill>
                  <a:srgbClr val="20538C"/>
                </a:solidFill>
                <a:latin typeface="微软雅黑"/>
                <a:ea typeface="微软雅黑"/>
                <a:cs typeface="微软雅黑"/>
              </a:rPr>
              <a:t>■ </a:t>
            </a:r>
            <a:r>
              <a:rPr sz="2000" b="0" i="0">
                <a:solidFill>
                  <a:srgbClr val="202020"/>
                </a:solidFill>
                <a:latin typeface="微软雅黑"/>
                <a:ea typeface="微软雅黑"/>
                <a:cs typeface="微软雅黑"/>
              </a:rPr>
              <a:t>提示：结合审判权与公诉权在诉讼职权配置中的不同地位展开分析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第十讲　人民法院裁判文书总论</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本讲小结 · 思考 · 作业</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71600"/>
            <a:ext cx="11064240" cy="429768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人民法院主要法律文书分为刑事、民事、行政三大类，按审级为主线展开学习</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判决书是法院代表国家行使审判权对案件作出的处理决定，具有强制性和稳定性，非经审判监督程序不得变更</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一审刑事判决书五部分结构：首部、事实、理由、判决结果、尾部，下一讲将逐一展开</a:t>
            </a:r>
          </a:p>
        </p:txBody>
      </p:sp>
      <p:sp>
        <p:nvSpPr>
          <p:cNvPr id="10" name="Rectangle 9"/>
          <p:cNvSpPr/>
          <p:nvPr/>
        </p:nvSpPr>
        <p:spPr>
          <a:xfrm>
            <a:off x="548640" y="5669280"/>
            <a:ext cx="11064240" cy="6858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733288"/>
            <a:ext cx="10515600" cy="566928"/>
          </a:xfrm>
          <a:prstGeom prst="rect">
            <a:avLst/>
          </a:prstGeom>
          <a:noFill/>
        </p:spPr>
        <p:txBody>
          <a:bodyPr wrap="square" anchor="ctr" lIns="50800" rIns="50800" tIns="25400" bIns="25400">
            <a:spAutoFit/>
          </a:bodyPr>
          <a:lstStyle/>
          <a:p>
            <a:r>
              <a:rPr sz="1500" b="1" i="0">
                <a:solidFill>
                  <a:srgbClr val="B6862C"/>
                </a:solidFill>
                <a:latin typeface="微软雅黑"/>
                <a:ea typeface="微软雅黑"/>
                <a:cs typeface="微软雅黑"/>
              </a:rPr>
              <a:t>思考  </a:t>
            </a:r>
            <a:r>
              <a:rPr sz="1500" b="0" i="0">
                <a:solidFill>
                  <a:srgbClr val="FFFFFF"/>
                </a:solidFill>
                <a:latin typeface="微软雅黑"/>
                <a:ea typeface="微软雅黑"/>
                <a:cs typeface="微软雅黑"/>
              </a:rPr>
              <a:t>作业：请查阅最高人民法院现行有效的诉讼文书样式文件目录，列出至少三份你所知道的法院诉讼文书样式名称及发布年份，下次课交流。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