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第一讲 · 导论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法律文书的概念与类别</a:t>
            </a:r>
          </a:p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——兼课程导论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法学专业必修课 · 1.5 学分 · 24 学时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配套教材：陈卫东、刘计划《法律文书写作（第五版）》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一、这门课要解决什么问题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你已经学了“法律是什么”，这门课教你“把法律写出来”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前两年学的是规则、原理、体系；本课解决的是：案子来了，怎么落到一份有效力的文书上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法律文书写作是部门法知识向法律职业技能转化的枢纽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它综合性强——一份起诉书背后是刑法、刑诉法、证据法的合力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它应用性强——格式、用语、引注都有硬规矩，错一处就可能无效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它实践性强——法官、检察官、律师每天都在写，写得好不好直接影响当事人权益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一句话：会不会写文书，是区分“学过法律的人”和“能办案的人”的分水岭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本讲不要求你立刻会写，要求你先建立“什么是法律文书”的准确概念。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二、为什么必须专门练习写作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误区：以为懂了实体法，文书自然就会写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实体法解决“判什么”，文书解决“怎么把判的理由写得让人信服”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司法实践的老问题：裁判文书“不说理”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事实认定公式化、证据罗列不分析、说理一笔带过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0" i="0">
                <a:solidFill>
                  <a:srgbClr val="3E3E3E"/>
                </a:solidFill>
                <a:latin typeface="楷体"/>
                <a:ea typeface="楷体"/>
                <a:cs typeface="楷体"/>
              </a:rPr>
              <a:t>    谢觉哉早年即强调判词“要让人一看就懂”，反对呆板地“引用第几百几十条”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近三十年的改革主线，就是“强化事实叙述、强化证据分析、强化说理”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无论英美法系还是大陆法系，都把判决书看成一篇“论文”——理由写清楚，公正才令人信服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三、课程安排与考核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总学时 24（每节 45 分钟），学分 1.5，共 24 讲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教学方式：讲授 + 范文研读 + 案例分析 + 课堂写作实训 + 文书“找茬”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每讲配套：一套 PPT 课件 + 一份逐字讲稿，并附“问题与思考”和写作小练习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考核（建议）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平时（出勤＋随堂练习）30%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期中文书作业（一份起诉状或起诉书）20%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期末写作考试（现场起草＋修改一份文书）50%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一条纪律：文书无小事。日期、姓名、案号、法条，错一个字都可能是事故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四、课程地图：七大模块 · 24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第一模块　总论：概念、特点、作用、写作基本要求（第 1–2 讲）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第二模块　公安机关文书：立案、提请批准逮捕书、起诉意见书、侦查笔录（第 3–5 讲）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第三模块　人民检察院文书：起诉书、不起诉决定书、抗诉书、量刑建议、认罪认罚（第 6–9 讲）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第四模块　人民法院文书：刑事/民事/行政一审二审判决书、裁定、调解、执行、笔录（第 10–17 讲）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第五模块　公证法律文书（第 18 讲）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第六模块　仲裁法律文书（第 19–20 讲）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第七模块　律师实务文书：各类诉状、上诉状、申诉状、答辩状、辩护词代理词、合同（第 21–23 讲）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综合实训：通病诊断与修改、总复习（第 24 讲）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法院文书是全课重心——8 讲，因为判决书是法律文书写作的“集大成者”。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第一节　法律文书的概念和类别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先把“法律文书”这个概念本身界定清楚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再与三个近义概念划清边界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最后建立分类的坐标系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导入：一起刑事案件里有多少份文书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设想一起普通的盗窃案，从案发到执行完毕——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立案阶段：受案登记表、立案报告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侦查阶段：讯问笔录、现场勘验笔录、搜查证、提请批准逮捕书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审查起诉：（检察院）批准逮捕决定书、起诉书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审判阶段：开庭传票、法庭笔录、刑事判决书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执行阶段：执行通知书、收监……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一个案子，少则十几份、多则几十份文书，环环相扣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每一份都由“特定主体、在特定程序、按特定格式”制作，缺一不可、错位不行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这就是我们这门课的研究对象。先问：到底什么样的文书，才叫“法律文书”？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（一）法律文书的定义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教材定义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法律文书，是指在司法程序中，司法机关和公证、仲裁机构处理各类普通诉讼案件和特殊诉讼案件时使用或制作的，以及案件当事人、律师自书或代书的，具有法律效力或法律意义的文书的总称。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5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——它是一个国家司法活动的书面表现形式和真实记录。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来源：教材第一章第一节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定义拆解：抓住四个关键词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① 在司法程序中——划定时间和场域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不在司法程序里产生的文书（如普通合同），不是严格意义的法律文书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② 司法机关 / 公证仲裁机构 + 当事人、律师——划定制作主体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既包括公权力机关，也包括打官司的两造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③ 处理诉讼案件和特殊诉讼案件——划定适用范围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诉讼（刑民行）＋特殊诉讼（公证、宣告失踪死亡、破产等）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④ 具有法律效力或法律意义——划定本质属性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“效力”是能直接产生权利义务后果；“意义”是对程序有法定约束力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特征一 · 时间性：必须产生于司法程序中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法律文书的制作时间，必须落在“司法程序”这条时间轴上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司法程序＝从诉讼程序启动，到执行完毕的全过程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公诉案件：侦查机关发现犯罪事实、作出立案决定，程序即启动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自诉案件：自诉人提交刑事自诉状，程序启动；判决执行完毕或撤诉、和解，程序终结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反例：依习惯、约定订立的文书，虽受法律保护，但不在司法程序中，不是法律文书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意义：判断一份材料是不是法律文书，先看它“生在哪个程序节点上”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特征二 · 制作主体：两类主体，一条本质分界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第一类　国家司法机关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侦查机关（公安、检察、国家安全机关，及军队、监狱对其管辖案件的侦查部门）、人民检察院、人民法院，以及公证机关、仲裁机构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第二类　与案件有关的诉讼当事人（公民个人或组织）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原告被告、自诉人、申请人等自书或委托律师代书的诉状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本质区别：是否有权“自动”启动国家强制力保障执行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机关文书：生效后由国家强制力直接保障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当事人文书（诉状）：无强制执行力，但对程序有法定约束力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两类主体文书的对照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司法机关制作的文书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如：逮捕证、起诉书、判决书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体现国家意志、行使司法权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生效后国家强制力自动保障执行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只能由法定机关制作，他人无权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用语中立、客观，不掺感情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当事人制作的文书（诉状）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如：起诉状、答辩状、上诉状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为自己主张权利、陈述立场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无强制执行力，但有法定约束力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“不告不理”：判决受诉请范围约束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可有立场，但仍须以事实为据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特征三 · 适用范围：程序法是前提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一句要害：不受程序法调整的活动，不会产生法律文书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即——程序法是法律文书产生的前提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案件范围包括两类：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诉讼案件：刑事、民事、行政三大诉讼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特殊诉讼案件：公证，以及宣告失踪、宣告死亡、破产等遵循特别程序的司法活动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所以“法律文书”比你想象的要宽——不止判决起诉，也含公证、仲裁、特别程序文书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小结：判断“是不是法律文书”的三把尺子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第一把尺　时间：是否产生于司法程序之中？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第二把尺　主体：是否由法定司法机关或案件当事人制作？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第三把尺　属性：是否具有法律效力或法律意义、受程序法调整？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三者同时满足，才是严格意义上的法律文书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例：双方私下签的借条——有法律效力，但不产生于司法程序，故不是法律文书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例：法院出具的支付令、调解书——三尺皆合，是法律文书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记住这三把尺子，后面所有文书的“身份”都能用它来校验。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（二）辨析之一：法律文书 与 法律文件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法律文件（上位、范围更宽）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国家和社会法制活动中制作的、具有法律效力的文件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9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按适用客体分两类——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规范性法律文件：法律法规，普遍约束力，是法的渊源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6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非规范性法律文件：判决、裁决、行政命令等个别性文件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法律文书（与文件交叉）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二者是交叉关系，不是包含关系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重合部分：非规范性法律文件中，由司法机关制作的、处理诉讼与非诉案件的判决、裁定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不重合部分：侦查、起诉等中间程序文书（逮捕证、起诉书、诉状等）——是文书但不是“文件”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另一侧：法律法规是“文件”但不是“文书”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图解：法律文件与法律文书的交叉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把它想成两个相交的圆——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左圆（法律文件）独有：规范性文件＝法律、法规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重合区：非规范性法律文件＝判决、裁决、行政命令（既是文件，也是文书）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右圆（法律文书）独有：中间程序文书＝逮捕证、起诉书、公证文书、诉状等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一句话区分：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“文件”看效力客体（普遍 / 个别）；“文书”看是否在司法程序中处理具体案件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我国未建立判例效力制度，非规范性文件的效力仅及于特定案件、特定主体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易混点：很多同学把“法律文件”和“法律文书”当同义词——错。前者含法律法规，后者不含。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（二）辨析之二：司法文书 与 诉讼文书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司法文书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由国家司法机关（含司法行政机关）制作使用的、处理诉讼案件的公文书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制作主体：公安、检察、法院、监狱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外延较窄：通常排斥公证机关的公证文书，也不含当事人的诉状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诉讼文书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涉及诉讼程序的、由国家机关和个人制作的、有法律效力或意义的文书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范围：既含机关在诉讼全过程的文书，也含当事人制作的诉状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排斥非诉案件的公证文书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四概念一张表看清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824"/>
                <a:gridCol w="3188001"/>
                <a:gridCol w="1687765"/>
                <a:gridCol w="2062824"/>
                <a:gridCol w="2062824"/>
              </a:tblGrid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概念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制作主体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是否含诉状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是否含公证文书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是否含法律法规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法律文件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国家与社会法制活动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（视情）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是（规范性）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法律文书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司法机关＋当事人＋公证仲裁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司法文书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公安/检察/法院/监狱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诉讼文书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国家机关＋个人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口诀：法律文书“最讲程序”，司法文书“最讲机关”，诉讼文书“最讲诉讼”，法律文件“最讲效力客体”。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（三）法律文书的类别：三种分类标准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为什么要分类？机关各司其职、程序具体严格，文书种类自然繁多，须建坐标系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标准一　按表现形式：文书类、报告类、笔录类、证件类、其他类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标准二　按机关职能：公安、检察、法院、公证等各自常用文书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标准三　按格式体制：说理类（拟制/制作）、表格类、填空类、笔录类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本讲重点讲前两种——它们最常用，也最能帮你建立“文书地图”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按表现形式（1）文书类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特点：体现公检法三机关“分工负责、互相配合、互相制约”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提请批准逮捕书：公安要求逮捕嫌疑人，移送同级检察院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批准逮捕决定书：检察院作出批捕决定，送公安执行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起诉意见书：公安侦查终结、认为应追责，移送检察院审查起诉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起诉书：检察院向法院提起公诉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不起诉决定书 / 抗诉书：检察院不诉或对错误裁判提出抗诉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判决书 / 裁定书：法院就实体 / 程序问题作出的结论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执行通知书：法院交付执行时制作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按表现形式（2）报告类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特点：机关“内部”办案使用的文书，不直接对外发生效力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公安机关立案报告：审查控告检举材料后，认为有犯罪事实、符合立案标准而制作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公安机关侦破报告：案件侦查终结后的内部报告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人民法院审结报告：案件审理终结后，审判人员制作的内部报告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死刑案件综合报告、复核死缓案件审结报告等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关键区分：报告类是“对内”的，文书类很多是“对外、对相对人”的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易错：把“立案报告”和“立案决定书”混为一谈。前者对内、后者对外。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按表现形式（3）笔录类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特点：如实反映和记载侦查、起诉、审判各阶段的实际情况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讯问笔录：讯问犯罪嫌疑人、被告人时记载提问、回答、供述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勘查笔录 / 尸体检验笔录：对场所、物品、人身、尸体勘验检查的记载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侦查实验笔录：为判断某事件是否可能发生而重演、记录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搜查笔录、证言笔录：搜查、证人陈述的记载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法庭笔录、评议笔录、宣判笔录：审判活动各环节的记载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笔录最讲究“客观如实”——它的生命在于真实，瑕疵笔录可能丧失证据能力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按表现形式（4）证件类 ·（5）其他类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证件类：在诉讼活动中起证明作用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拘留证、逮捕证、搜查证：执行强制措施 / 搜查时出示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释放证明、刑满释放证：依法释放、刑满释放时发给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其他类：体例特殊、用途专门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通知书、通缉令、公诉词、调解书、公证书、布告等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提示：证件类多为格式化、填空式，熟悉即可制作；难的是说理类文书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按机关职能分类（常用文书举要）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8851392"/>
              </a:tblGrid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机关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常用法律文书举要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公安机关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拘留证、逮捕证、搜查证、讯问笔录、勘查笔录、提请批准逮捕书、起诉意见书、立案报告、破案报告、通缉令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人民检察院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批准逮捕决定书、不批准逮捕决定书、起诉书、不起诉决定书、抗诉书、量刑建议书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人民法院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判决书、裁定书、调解书、执行通知书、审结报告、法庭笔录、宣判笔录、布告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公证机关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公证书、证明书、委托证明书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2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三机关文书“接力”完成诉讼，看懂这张表，就看懂了刑事诉讼的文书流转。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现行文书格式样本体系（务必更新到位）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检察：《人民检察院刑事诉讼法律文书格式样本（2020 版）》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共 11 类、223 种：立案、回避、辩护与代理、证据、强制措施、侦查、公诉、执行监督、特别程序、申诉、通用文书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公安：《公安机关刑事法律文书式样（2012 版）》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8 大类、95 种：立案管辖回避、律师参与、强制措施、侦查取证、技术侦查、执行、刑事通用、规范性文书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法院：《法院刑事诉讼文书样式》等系列样式，并持续以“强化说理”为方向修订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写作铁律：永远以“现行有效”的格式样本和法律文本为准，不可凭旧版想当然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〔条文与样本版本请以现行有效文本为准〕教材第五版据 2020/2022 年文件修订。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三个最常见的认知误区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误区一：法律文件＝法律文书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纠正：交叉关系。法律法规是文件不是文书；逮捕证是文书不是文件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误区二：合同也是法律文书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纠正：除要式合同的个别特征外，合同不产生于司法程序，不完全具备法律文书特征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误区三：内部报告和对外决定一回事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纠正：立案报告（对内）≠ 立案决定书（对外）；审结报告（对内）≠ 判决书（对外）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这三处，是历年考试和实务中最容易栽跟头的地方。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第一讲　导论 · 法律文书的概念与类别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概念：法律文书＝司法程序中、由法定主体制作、具有法律效力或意义的文书总称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三特征：时间性（在程序中）、主体性（机关＋当事人）、范围性（程序法为前提）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四辨析：法律文书 / 法律文件 / 司法文书 / 诉讼文书，边界要清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两分类：按表现形式（文书/报告/笔录/证件/其他）、按机关职能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下一讲：法律文书的历史沿革、五大基本特点、作用与写作基本要求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作业：任选一份你见过的法律文书，用“三把尺子”判断它是不是法律文书，并说明属于哪一类（200 字）。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