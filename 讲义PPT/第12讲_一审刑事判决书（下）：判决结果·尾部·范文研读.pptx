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128016" cy="128016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000" b="0" i="0">
                <a:solidFill>
                  <a:srgbClr val="BFCCDD"/>
                </a:solidFill>
                <a:latin typeface="微软雅黑"/>
                <a:ea typeface="微软雅黑"/>
                <a:cs typeface="微软雅黑"/>
              </a:rPr>
              <a:t>《法律文书写作》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2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第十二讲 · 法院文书（三）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02412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一审刑事判决书（下）：</a:t>
            </a:r>
          </a:p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判决结果·尾部·范文研读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900" b="0" i="0">
                <a:solidFill>
                  <a:srgbClr val="D7DEE8"/>
                </a:solidFill>
                <a:latin typeface="微软雅黑"/>
                <a:ea typeface="微软雅黑"/>
                <a:cs typeface="微软雅黑"/>
              </a:rPr>
              <a:t>“画龙点睛”的部分：把事实和理由，落实为最终的裁判结论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440680"/>
            <a:ext cx="5486400" cy="17780"/>
          </a:xfrm>
          <a:prstGeom prst="rect">
            <a:avLst/>
          </a:prstGeom>
          <a:solidFill>
            <a:srgbClr val="44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0" i="0">
                <a:solidFill>
                  <a:srgbClr val="C8D2E0"/>
                </a:solidFill>
                <a:latin typeface="微软雅黑"/>
                <a:ea typeface="微软雅黑"/>
                <a:cs typeface="微软雅黑"/>
              </a:rPr>
              <a:t>主讲教师：＿＿＿＿＿　法学院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00" b="0" i="0">
                <a:solidFill>
                  <a:srgbClr val="8F9DB2"/>
                </a:solidFill>
                <a:latin typeface="微软雅黑"/>
                <a:ea typeface="微软雅黑"/>
                <a:cs typeface="微软雅黑"/>
              </a:rPr>
              <a:t>配套教材：第四章第一节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第十二讲　一审刑事判决书（下）：判决结果·尾部·范文研读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导入：从“为什么判”到“判什么”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上一讲学了首部剩余内容、事实部分四方面、理由部分四点要求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今天聚焦判决书的“画龙点睛”之处：判决结果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再学尾部写法，最后完整研读一份范文，贯通五部分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判决结果部分的八点书写要求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刑罚全称的规范写法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数罪并罚、单位犯罪等特殊情形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无罪判决的特殊表述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第十二讲　一审刑事判决书（下）：判决结果·尾部·范文研读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一、判决结果的定位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判决结果是依照有关法律条文的具体规定，对被告人作出的定性处理的结论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是判决书“画龙点睛”的部分，应当字字斟酌、严格推敲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第十二讲　一审刑事判决书（下）：判决结果·尾部·范文研读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二、书写要求（1）（2）：刑罚的全称与刑期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（1）判处的各种刑罚，应按法律规定写明全称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不能“削足适履”：不能简为判处“死缓”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不能“画蛇添足”：判处“死刑”的，不能写为“死刑立即执行”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（2）有期的刑罚应当写明刑种、刑期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判处有期徒刑或者管制刑的，应在随后括号中标明刑期的起止和折抵情况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第十二讲　一审刑事判决书（下）：判决结果·尾部·范文研读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三、书写要求（3）（4）：附加刑与追缴退赔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（3）有附加刑的，应在主刑之后写明附加刑种类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判处罚金的，要写明罚金的具体数额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判处没收财产的，应写明是没收个人所有财产的一部还是全部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（4）追缴、退赔和没收财物的，应写明其名称和数额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财物多、种类杂的，只写种类和总数，另列清单作为附件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第十二讲　一审刑事判决书（下）：判决结果·尾部·范文研读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四、书写要求（5）（6）：数罪并罚与多人案件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（5）数罪并罚的，应当分别定罪量刑（包括主刑和附加刑）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然后按照刑法总则第四章第四节的规定，决定执行的刑罚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不应“估堆”量刑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（6）一案多人的，应以罪责的主次或者应判刑罚的重轻为顺序，逐人分项引述法律依据，定罪判处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第十二讲　一审刑事判决书（下）：判决结果·尾部·范文研读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五、书写要求（7）：单位犯罪的特殊写法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机关、团体、企业或事业单位构成犯罪被判处经济处罚的：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首先写明被告（单位）犯什么罪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其次写明判处罚金或者没收财产的种类和数额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主管责任人员、直接责任人员因此构成犯罪的，再续项列写对他们的定罪判刑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第十二讲　一审刑事判决书（下）：判决结果·尾部·范文研读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六、书写要求（8）：无罪判决的特殊表述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10835"/>
                <a:gridCol w="5753404"/>
              </a:tblGrid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适用情形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判决结果表述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〔刑诉法2018年修正〕第200条第2项（证据不足）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判决结果仍表述为“被告人无罪”；理由中写“证据不足，××人民检察院指控的犯罪不能成立”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第200条第3项（依法宣告无罪）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判决结果表述为“被告人无罪”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未达刑事责任年龄 / 精神病人不负刑事责任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宣告“被告人××不负刑事责任”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950976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被告人死亡，缺席审理确认无罪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宣告“被告人××无罪”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尾部的写法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署名规则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年月日与决定日期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印戳与核对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第十二讲　一审刑事判决书（下）：判决结果·尾部·范文研读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七、尾部书写要点（1）（2）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（1）署名规则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合议庭一般成员是陪审员：署“人民陪审员：××”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合议庭一般成员是助理审判员：署“代理审判员：××”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助理审判员任审判长 / 院长庭长参加合议庭：均署“审判长：××”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独任审判：审判员署“审判员：××”，助理审判员署“代理审判员：××”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（2）年月日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尾部的年月日为判决的决定日期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经审委会讨论的案件，写审委会作出决定的日期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未经审委会讨论的，写合议庭评议或复议作出决定的日期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年月日上面加盖院印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第十二讲　一审刑事判决书（下）：判决结果·尾部·范文研读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八、尾部书写要点（3）：核对印戳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判决书原本上不写“本件与原本核对无异”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应将其制成专用印戳，由书记员核对正本与原本无异后加盖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加盖位置：正本末页年月日的左下方、书记员署名的左上方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若有个别涂改之处，应盖校对章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完整范文研读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第一审公诉案件适用普通程序用格式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适用普通程序审理“被告人认罪案件”用格式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适用简易程序用格式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第十二讲　一审刑事判决书（下）：判决结果·尾部·范文研读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范文研读：普通程序判决书首部至理由部分节录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××人民法院 刑事判决书 （××）××刑初××号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公诉机关：××人民检察院。被告人：××……因本案于××年××月××日被刑事拘留，同年××月××日被逮捕。现羁押于××看守所。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××人民检察院……指控被告人××犯××罪……向本院提起公诉。本院依法组成合议庭，公开开庭审理了本案。……现已审理终结。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经审理查明：……（简要概括犯罪事实内容）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上述事实，被告人在开庭审理过程中亦无异议，且有物证××、书证××、证人××的证言……等证据证实，足以认定。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本院认为，被告人××的行为（具体）已构成××罪……依照《中华人民共和国刑法》第××条（第××款）的规定，判决如下：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陈卫东、刘计划《法律文书写作（第五版）》第四章第一节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第十二讲　一审刑事判决书（下）：判决结果·尾部·范文研读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范文研读：判决结果与尾部节录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被告人××犯××罪，判处……（写明判处的具体内容）（刑期从判决执行之日起计算。判决执行以前先行羁押的，羁押一日折抵刑期一日，即自××年××月××日起至××年××月××日止）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如不服本判决，可在接到判决书的第二日起十日内，通过本院或者直接向××人民法院提出上诉。书面上诉的，应交上诉状正本一份，副本×份。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审判长×× 审判员×× 审判员××（院印）××年××月××日 本件与原本核对无异 书记员××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陈卫东、刘计划《法律文书写作（第五版）》第四章第一节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第十二讲　一审刑事判决书（下）：判决结果·尾部·范文研读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九、三种格式的差异对照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3126"/>
                <a:gridCol w="4425696"/>
                <a:gridCol w="2655417"/>
              </a:tblGrid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格式类型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审判组织表述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上诉法院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普通程序用格式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本院依法组成合议庭，公开（或不公开）开庭审理了本案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向××人民法院提出上诉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普通程序审理认罪案件用格式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本院依法组成合议庭……上述事实，被告人在开庭审理过程中亦无异议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向××人民法院提出上诉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118872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简易程序用格式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本院依法适用简易程序，实行独任审判，公开（或不公开）开庭审理了本案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向××中级人民法院提出上诉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第十二讲　一审刑事判决书（下）：判决结果·尾部·范文研读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课堂讨论：为什么简易程序判决书的上诉法院写法不同？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讨论题：简易程序案件写“向××中级人民法院提出上诉”，普通程序案件写“向××人民法院提出上诉”，这种差异说明了什么？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提示：结合审级管辖与简易程序适用的案件范围思考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课堂讨论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第十二讲　一审刑事判决书（下）：判决结果·尾部·范文研读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十、五部分结构的整体贯通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首部：交代谁审理、谁被告、谁辩护、案件由来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事实：交代法院查明了什么、控辩双方各自的说法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理由：交代为什么这样定罪量刑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判决结果：交代最终的具体裁判结论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尾部：交代审判组织和后续的上诉权利等程序性事项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第十二讲　一审刑事判决书（下）：判决结果·尾部·范文研读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本讲小结 · 思考 · 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判决结果八点要求：刑罚全称、刑期写法、附加刑、追缴退赔、数罪并罚、多人案件、单位犯罪、无罪判决的特殊表述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尾部三点要求：署名规则、年月日的确定、核对印戳的写法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完整范文研读：把五部分作为有机整体贯通理解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下一讲我们将进入二审刑事判决书与裁定书的学习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33288"/>
            <a:ext cx="10515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思考  </a:t>
            </a: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作业：请结合今天的范文，自行拟写一份简化版一审刑事判决书（事实部分可以用一个虚构教学示例案情），五部分内容齐全，下次课随机抽查讲评。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