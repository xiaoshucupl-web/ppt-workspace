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5486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731520"/>
            <a:ext cx="128016" cy="128016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77240"/>
            <a:ext cx="10058400" cy="548640"/>
          </a:xfrm>
          <a:prstGeom prst="rect">
            <a:avLst/>
          </a:prstGeom>
          <a:noFill/>
        </p:spPr>
        <p:txBody>
          <a:bodyPr wrap="square" anchor="t" lIns="50800" rIns="50800" tIns="25400" bIns="25400">
            <a:spAutoFit/>
          </a:bodyPr>
          <a:lstStyle/>
          <a:p>
            <a:r>
              <a:rPr sz="2000" b="0" i="0">
                <a:solidFill>
                  <a:srgbClr val="BFCCDD"/>
                </a:solidFill>
                <a:latin typeface="微软雅黑"/>
                <a:ea typeface="微软雅黑"/>
                <a:cs typeface="微软雅黑"/>
              </a:rPr>
              <a:t>《法律文书写作》</a:t>
            </a:r>
          </a:p>
        </p:txBody>
      </p:sp>
      <p:sp>
        <p:nvSpPr>
          <p:cNvPr id="6" name="TextBox 5"/>
          <p:cNvSpPr txBox="1"/>
          <p:nvPr/>
        </p:nvSpPr>
        <p:spPr>
          <a:xfrm>
            <a:off x="1097280" y="1325880"/>
            <a:ext cx="10058400" cy="548640"/>
          </a:xfrm>
          <a:prstGeom prst="rect">
            <a:avLst/>
          </a:prstGeom>
          <a:noFill/>
        </p:spPr>
        <p:txBody>
          <a:bodyPr wrap="square" anchor="t" lIns="50800" rIns="50800" tIns="25400" bIns="25400">
            <a:spAutoFit/>
          </a:bodyPr>
          <a:lstStyle/>
          <a:p>
            <a:r>
              <a:rPr sz="2200" b="1" i="0">
                <a:solidFill>
                  <a:srgbClr val="B6862C"/>
                </a:solidFill>
                <a:latin typeface="微软雅黑"/>
                <a:ea typeface="微软雅黑"/>
                <a:cs typeface="微软雅黑"/>
              </a:rPr>
              <a:t>第二十讲 · 律师文书（二）</a:t>
            </a:r>
          </a:p>
        </p:txBody>
      </p:sp>
      <p:sp>
        <p:nvSpPr>
          <p:cNvPr id="7" name="TextBox 6"/>
          <p:cNvSpPr txBox="1"/>
          <p:nvPr/>
        </p:nvSpPr>
        <p:spPr>
          <a:xfrm>
            <a:off x="1051560" y="2468880"/>
            <a:ext cx="10241280" cy="1554480"/>
          </a:xfrm>
          <a:prstGeom prst="rect">
            <a:avLst/>
          </a:prstGeom>
          <a:noFill/>
        </p:spPr>
        <p:txBody>
          <a:bodyPr wrap="square" anchor="t" lIns="50800" rIns="50800" tIns="25400" bIns="25400">
            <a:spAutoFit/>
          </a:bodyPr>
          <a:lstStyle/>
          <a:p>
            <a:pPr>
              <a:lnSpc>
                <a:spcPct val="110000"/>
              </a:lnSpc>
            </a:pPr>
            <a:r>
              <a:rPr sz="4000" b="1" i="0">
                <a:solidFill>
                  <a:srgbClr val="FFFFFF"/>
                </a:solidFill>
                <a:latin typeface="微软雅黑"/>
                <a:ea typeface="微软雅黑"/>
                <a:cs typeface="微软雅黑"/>
              </a:rPr>
              <a:t>刑事自诉反诉状</a:t>
            </a:r>
          </a:p>
          <a:p>
            <a:pPr>
              <a:lnSpc>
                <a:spcPct val="110000"/>
              </a:lnSpc>
            </a:pPr>
            <a:r>
              <a:rPr sz="4000" b="1" i="0">
                <a:solidFill>
                  <a:srgbClr val="FFFFFF"/>
                </a:solidFill>
                <a:latin typeface="微软雅黑"/>
                <a:ea typeface="微软雅黑"/>
                <a:cs typeface="微软雅黑"/>
              </a:rPr>
              <a:t>与民事起诉状</a:t>
            </a:r>
          </a:p>
        </p:txBody>
      </p:sp>
      <p:sp>
        <p:nvSpPr>
          <p:cNvPr id="8" name="TextBox 7"/>
          <p:cNvSpPr txBox="1"/>
          <p:nvPr/>
        </p:nvSpPr>
        <p:spPr>
          <a:xfrm>
            <a:off x="1097280" y="4297680"/>
            <a:ext cx="10058400" cy="731520"/>
          </a:xfrm>
          <a:prstGeom prst="rect">
            <a:avLst/>
          </a:prstGeom>
          <a:noFill/>
        </p:spPr>
        <p:txBody>
          <a:bodyPr wrap="square" anchor="t" lIns="50800" rIns="50800" tIns="25400" bIns="25400">
            <a:spAutoFit/>
          </a:bodyPr>
          <a:lstStyle/>
          <a:p>
            <a:r>
              <a:rPr sz="1900" b="0" i="0">
                <a:solidFill>
                  <a:srgbClr val="D7DEE8"/>
                </a:solidFill>
                <a:latin typeface="微软雅黑"/>
                <a:ea typeface="微软雅黑"/>
                <a:cs typeface="微软雅黑"/>
              </a:rPr>
              <a:t>从“刑事自诉”到“民事维权”的两条诉状写作主线</a:t>
            </a:r>
          </a:p>
        </p:txBody>
      </p:sp>
      <p:sp>
        <p:nvSpPr>
          <p:cNvPr id="9" name="Rectangle 8"/>
          <p:cNvSpPr/>
          <p:nvPr/>
        </p:nvSpPr>
        <p:spPr>
          <a:xfrm>
            <a:off x="1097280" y="5440680"/>
            <a:ext cx="5486400" cy="17780"/>
          </a:xfrm>
          <a:prstGeom prst="rect">
            <a:avLst/>
          </a:prstGeom>
          <a:solidFill>
            <a:srgbClr val="445A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623560"/>
            <a:ext cx="10058400" cy="457200"/>
          </a:xfrm>
          <a:prstGeom prst="rect">
            <a:avLst/>
          </a:prstGeom>
          <a:noFill/>
        </p:spPr>
        <p:txBody>
          <a:bodyPr wrap="square" anchor="t" lIns="50800" rIns="50800" tIns="25400" bIns="25400">
            <a:spAutoFit/>
          </a:bodyPr>
          <a:lstStyle/>
          <a:p>
            <a:r>
              <a:rPr sz="1600" b="0" i="0">
                <a:solidFill>
                  <a:srgbClr val="C8D2E0"/>
                </a:solidFill>
                <a:latin typeface="微软雅黑"/>
                <a:ea typeface="微软雅黑"/>
                <a:cs typeface="微软雅黑"/>
              </a:rPr>
              <a:t>主讲教师：＿＿＿＿＿　法学院</a:t>
            </a:r>
          </a:p>
        </p:txBody>
      </p:sp>
      <p:sp>
        <p:nvSpPr>
          <p:cNvPr id="11" name="TextBox 10"/>
          <p:cNvSpPr txBox="1"/>
          <p:nvPr/>
        </p:nvSpPr>
        <p:spPr>
          <a:xfrm>
            <a:off x="1097280" y="6035040"/>
            <a:ext cx="10058400" cy="457200"/>
          </a:xfrm>
          <a:prstGeom prst="rect">
            <a:avLst/>
          </a:prstGeom>
          <a:noFill/>
        </p:spPr>
        <p:txBody>
          <a:bodyPr wrap="square" anchor="t" lIns="50800" rIns="50800" tIns="25400" bIns="25400">
            <a:spAutoFit/>
          </a:bodyPr>
          <a:lstStyle/>
          <a:p>
            <a:r>
              <a:rPr sz="1300" b="0" i="0">
                <a:solidFill>
                  <a:srgbClr val="8F9DB2"/>
                </a:solidFill>
                <a:latin typeface="微软雅黑"/>
                <a:ea typeface="微软雅黑"/>
                <a:cs typeface="微软雅黑"/>
              </a:rPr>
              <a:t>配套教材：第七章第二节、第三节</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第二十讲　刑事自诉反诉状与民事起诉状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导入：从刑事自诉状到反诉状、民事起诉状</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2</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上一讲学习了刑事自诉状：被害人主动控告被告人犯罪行为的文书</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今天首先学习刑事自诉反诉状：自诉案件中被告人对自诉人提起反诉的文书，是对自诉程序的补充和制衡</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然后转入民事起诉状：原告就民事权益争议向法院提起诉讼的文书，是民事诉讼程序的第一份文书</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壹</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刑事自诉反诉状</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概念与成立条件</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内容和写法</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格式与真实范文</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第二十讲　刑事自诉反诉状与民事起诉状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一、刑事自诉反诉状的概念</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4</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反诉：被告人作为被害人控告自诉人犯有与本案有关联的罪行，要求人民法院审判、追究自诉人刑事责任的诉讼活动</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刑事自诉反诉状：反诉人提起反诉时提交的诉状</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反诉制度的意义：使案件中可能存在的双向加害关系能够得到一并全面审理，避免“只追究一方、放过另一方”</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第二十讲　刑事自诉反诉状与民事起诉状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二、刑事自诉反诉状的成立条件（五项）</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5</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graphicFrame>
        <p:nvGraphicFramePr>
          <p:cNvPr id="9" name="Table 8"/>
          <p:cNvGraphicFramePr>
            <a:graphicFrameLocks noGrp="1"/>
          </p:cNvGraphicFramePr>
          <p:nvPr/>
        </p:nvGraphicFramePr>
        <p:xfrm>
          <a:off x="548640" y="1417320"/>
          <a:ext cx="11064240" cy="4754880"/>
        </p:xfrm>
        <a:graphic>
          <a:graphicData uri="http://schemas.openxmlformats.org/drawingml/2006/table">
            <a:tbl>
              <a:tblPr firstRow="1" bandRow="1">
                <a:tableStyleId>{5C22544A-7EE6-4342-B048-85BDC9FD1C3A}</a:tableStyleId>
              </a:tblPr>
              <a:tblGrid>
                <a:gridCol w="2212848"/>
                <a:gridCol w="8851392"/>
              </a:tblGrid>
              <a:tr h="792480">
                <a:tc>
                  <a:txBody>
                    <a:bodyPr wrap="square"/>
                    <a:lstStyle/>
                    <a:p>
                      <a:pPr algn="ctr"/>
                      <a:r>
                        <a:rPr sz="1400" b="1" i="0">
                          <a:solidFill>
                            <a:srgbClr val="FFFFFF"/>
                          </a:solidFill>
                          <a:latin typeface="微软雅黑"/>
                          <a:ea typeface="微软雅黑"/>
                          <a:cs typeface="微软雅黑"/>
                        </a:rPr>
                        <a:t>序号</a:t>
                      </a:r>
                    </a:p>
                  </a:txBody>
                  <a:tcPr anchor="ctr">
                    <a:solidFill>
                      <a:srgbClr val="142A47"/>
                    </a:solidFill>
                  </a:tcPr>
                </a:tc>
                <a:tc>
                  <a:txBody>
                    <a:bodyPr wrap="square"/>
                    <a:lstStyle/>
                    <a:p>
                      <a:pPr algn="ctr"/>
                      <a:r>
                        <a:rPr sz="1400" b="1" i="0">
                          <a:solidFill>
                            <a:srgbClr val="FFFFFF"/>
                          </a:solidFill>
                          <a:latin typeface="微软雅黑"/>
                          <a:ea typeface="微软雅黑"/>
                          <a:cs typeface="微软雅黑"/>
                        </a:rPr>
                        <a:t>条件</a:t>
                      </a:r>
                    </a:p>
                  </a:txBody>
                  <a:tcPr anchor="ctr">
                    <a:solidFill>
                      <a:srgbClr val="142A47"/>
                    </a:solidFill>
                  </a:tcPr>
                </a:tc>
              </a:tr>
              <a:tr h="792480">
                <a:tc>
                  <a:txBody>
                    <a:bodyPr wrap="square"/>
                    <a:lstStyle/>
                    <a:p>
                      <a:pPr algn="ctr"/>
                      <a:r>
                        <a:rPr sz="1250" b="0" i="0">
                          <a:solidFill>
                            <a:srgbClr val="202020"/>
                          </a:solidFill>
                          <a:latin typeface="微软雅黑"/>
                          <a:ea typeface="微软雅黑"/>
                          <a:cs typeface="微软雅黑"/>
                        </a:rPr>
                        <a:t>1</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反诉只能由本案的被告人或者其法定代理人提出</a:t>
                      </a:r>
                    </a:p>
                  </a:txBody>
                  <a:tcPr anchor="ctr">
                    <a:solidFill>
                      <a:srgbClr val="FFFFFF"/>
                    </a:solidFill>
                  </a:tcPr>
                </a:tc>
              </a:tr>
              <a:tr h="792480">
                <a:tc>
                  <a:txBody>
                    <a:bodyPr wrap="square"/>
                    <a:lstStyle/>
                    <a:p>
                      <a:pPr algn="ctr"/>
                      <a:r>
                        <a:rPr sz="1250" b="0" i="0">
                          <a:solidFill>
                            <a:srgbClr val="202020"/>
                          </a:solidFill>
                          <a:latin typeface="微软雅黑"/>
                          <a:ea typeface="微软雅黑"/>
                          <a:cs typeface="微软雅黑"/>
                        </a:rPr>
                        <a:t>2</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反诉的对象必须是本案中的自诉人（指控自诉人的法定代理人不属于反诉，是独立诉讼）</a:t>
                      </a:r>
                    </a:p>
                  </a:txBody>
                  <a:tcPr anchor="ctr">
                    <a:solidFill>
                      <a:srgbClr val="EEF1F6"/>
                    </a:solidFill>
                  </a:tcPr>
                </a:tc>
              </a:tr>
              <a:tr h="792480">
                <a:tc>
                  <a:txBody>
                    <a:bodyPr wrap="square"/>
                    <a:lstStyle/>
                    <a:p>
                      <a:pPr algn="ctr"/>
                      <a:r>
                        <a:rPr sz="1250" b="0" i="0">
                          <a:solidFill>
                            <a:srgbClr val="202020"/>
                          </a:solidFill>
                          <a:latin typeface="微软雅黑"/>
                          <a:ea typeface="微软雅黑"/>
                          <a:cs typeface="微软雅黑"/>
                        </a:rPr>
                        <a:t>3</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反诉提起的时间只能是在人民法院对自诉案件的判决宣告前</a:t>
                      </a:r>
                    </a:p>
                  </a:txBody>
                  <a:tcPr anchor="ctr">
                    <a:solidFill>
                      <a:srgbClr val="FFFFFF"/>
                    </a:solidFill>
                  </a:tcPr>
                </a:tc>
              </a:tr>
              <a:tr h="792480">
                <a:tc>
                  <a:txBody>
                    <a:bodyPr wrap="square"/>
                    <a:lstStyle/>
                    <a:p>
                      <a:pPr algn="ctr"/>
                      <a:r>
                        <a:rPr sz="1250" b="0" i="0">
                          <a:solidFill>
                            <a:srgbClr val="202020"/>
                          </a:solidFill>
                          <a:latin typeface="微软雅黑"/>
                          <a:ea typeface="微软雅黑"/>
                          <a:cs typeface="微软雅黑"/>
                        </a:rPr>
                        <a:t>4</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反诉所控告的犯罪行为必须是与自诉案件有关的犯罪行为</a:t>
                      </a:r>
                    </a:p>
                  </a:txBody>
                  <a:tcPr anchor="ctr">
                    <a:solidFill>
                      <a:srgbClr val="EEF1F6"/>
                    </a:solidFill>
                  </a:tcPr>
                </a:tc>
              </a:tr>
              <a:tr h="792480">
                <a:tc>
                  <a:txBody>
                    <a:bodyPr wrap="square"/>
                    <a:lstStyle/>
                    <a:p>
                      <a:pPr algn="ctr"/>
                      <a:r>
                        <a:rPr sz="1250" b="0" i="0">
                          <a:solidFill>
                            <a:srgbClr val="202020"/>
                          </a:solidFill>
                          <a:latin typeface="微软雅黑"/>
                          <a:ea typeface="微软雅黑"/>
                          <a:cs typeface="微软雅黑"/>
                        </a:rPr>
                        <a:t>5</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反诉的案件必须属于人民法院直接受理的告诉才处理或被害人有证据证明的轻微刑事案件</a:t>
                      </a:r>
                    </a:p>
                  </a:txBody>
                  <a:tcPr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第二十讲　刑事自诉反诉状与民事起诉状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三、刑事自诉反诉状的内容和写法（一）</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6</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5440680" cy="457200"/>
          </a:xfrm>
          <a:prstGeom prst="rect">
            <a:avLst/>
          </a:prstGeom>
          <a:solidFill>
            <a:srgbClr val="2053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首部</a:t>
            </a:r>
          </a:p>
        </p:txBody>
      </p:sp>
      <p:sp>
        <p:nvSpPr>
          <p:cNvPr id="11" name="Rectangle 10"/>
          <p:cNvSpPr/>
          <p:nvPr/>
        </p:nvSpPr>
        <p:spPr>
          <a:xfrm>
            <a:off x="548640"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标题，在诉状正中写明“反诉状”字样</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当事人基本情况栏写明“反诉人（本诉被告人）”“被反诉人（本诉原告人）”，用括号注明原审中的地位</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当事人基本情况栏的基本内容同自诉状</a:t>
            </a:r>
          </a:p>
        </p:txBody>
      </p:sp>
      <p:sp>
        <p:nvSpPr>
          <p:cNvPr id="13" name="Rectangle 12"/>
          <p:cNvSpPr/>
          <p:nvPr/>
        </p:nvSpPr>
        <p:spPr>
          <a:xfrm>
            <a:off x="6199632" y="1371600"/>
            <a:ext cx="5440680" cy="4572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正文与尾部</a:t>
            </a:r>
          </a:p>
        </p:txBody>
      </p:sp>
      <p:sp>
        <p:nvSpPr>
          <p:cNvPr id="15" name="Rectangle 14"/>
          <p:cNvSpPr/>
          <p:nvPr/>
        </p:nvSpPr>
        <p:spPr>
          <a:xfrm>
            <a:off x="6199632"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正文写明反诉请求、事实与理由、证据等内容</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反诉请求必须限于人民法院能够直接受理的告诉才处理或被害人有证据证明的轻微刑事案件</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尾部与自诉状的结尾相同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第二十讲　刑事自诉反诉状与民事起诉状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四、刑事自诉反诉状真实范文：韦XX反诉汪XX侮辱案</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7</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2286000" cy="42062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08176"/>
            <a:ext cx="2103120" cy="365760"/>
          </a:xfrm>
          <a:prstGeom prst="rect">
            <a:avLst/>
          </a:prstGeom>
          <a:noFill/>
        </p:spPr>
        <p:txBody>
          <a:bodyPr wrap="square" anchor="ctr" lIns="50800" rIns="50800" tIns="25400" bIns="25400">
            <a:spAutoFit/>
          </a:bodyPr>
          <a:lstStyle/>
          <a:p>
            <a:r>
              <a:rPr sz="1500" b="1" i="0">
                <a:solidFill>
                  <a:srgbClr val="FFFFFF"/>
                </a:solidFill>
                <a:latin typeface="微软雅黑"/>
                <a:ea typeface="微软雅黑"/>
                <a:cs typeface="微软雅黑"/>
              </a:rPr>
              <a:t>教材实例（陈卫东、刘计划《法律文书写作（第五版）》）</a:t>
            </a:r>
          </a:p>
        </p:txBody>
      </p:sp>
      <p:sp>
        <p:nvSpPr>
          <p:cNvPr id="11" name="Rectangle 10"/>
          <p:cNvSpPr/>
          <p:nvPr/>
        </p:nvSpPr>
        <p:spPr>
          <a:xfrm>
            <a:off x="548640" y="1828800"/>
            <a:ext cx="11064240" cy="4343400"/>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828800"/>
            <a:ext cx="91440" cy="43434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1993392"/>
            <a:ext cx="10607040" cy="4069080"/>
          </a:xfrm>
          <a:prstGeom prst="rect">
            <a:avLst/>
          </a:prstGeom>
          <a:noFill/>
        </p:spPr>
        <p:txBody>
          <a:bodyPr wrap="square" anchor="t" lIns="50800" rIns="50800" tIns="25400" bIns="25400">
            <a:spAutoFit/>
          </a:bodyPr>
          <a:lstStyle/>
          <a:p>
            <a:pPr>
              <a:lnSpc>
                <a:spcPct val="130000"/>
              </a:lnSpc>
              <a:spcAft>
                <a:spcPts val="300"/>
              </a:spcAft>
            </a:pPr>
            <a:r>
              <a:rPr sz="1600" b="0" i="0">
                <a:solidFill>
                  <a:srgbClr val="202020"/>
                </a:solidFill>
                <a:latin typeface="楷体"/>
                <a:ea typeface="楷体"/>
                <a:cs typeface="楷体"/>
              </a:rPr>
              <a:t>反诉人（本诉被告人）：韦XX，男，中专文化，XX建筑公司职工</a:t>
            </a:r>
          </a:p>
          <a:p>
            <a:pPr>
              <a:lnSpc>
                <a:spcPct val="130000"/>
              </a:lnSpc>
              <a:spcAft>
                <a:spcPts val="300"/>
              </a:spcAft>
            </a:pPr>
            <a:r>
              <a:rPr sz="1600" b="0" i="0">
                <a:solidFill>
                  <a:srgbClr val="202020"/>
                </a:solidFill>
                <a:latin typeface="楷体"/>
                <a:ea typeface="楷体"/>
                <a:cs typeface="楷体"/>
              </a:rPr>
              <a:t>被反诉人（本诉原告人）：汪XX，男，大学文化，XX中学教师</a:t>
            </a:r>
          </a:p>
          <a:p>
            <a:pPr>
              <a:lnSpc>
                <a:spcPct val="130000"/>
              </a:lnSpc>
              <a:spcAft>
                <a:spcPts val="300"/>
              </a:spcAft>
            </a:pPr>
            <a:r>
              <a:rPr sz="1600" b="0" i="0">
                <a:solidFill>
                  <a:srgbClr val="202020"/>
                </a:solidFill>
                <a:latin typeface="楷体"/>
                <a:ea typeface="楷体"/>
                <a:cs typeface="楷体"/>
              </a:rPr>
              <a:t>案由和反诉请求：为汪XX诉故意伤害一案，反诉侮辱罪，请依法惩处并给予赔偿</a:t>
            </a:r>
          </a:p>
          <a:p>
            <a:pPr>
              <a:lnSpc>
                <a:spcPct val="130000"/>
              </a:lnSpc>
              <a:spcAft>
                <a:spcPts val="300"/>
              </a:spcAft>
            </a:pPr>
            <a:r>
              <a:rPr sz="1600" b="0" i="0">
                <a:solidFill>
                  <a:srgbClr val="202020"/>
                </a:solidFill>
                <a:latin typeface="楷体"/>
                <a:ea typeface="楷体"/>
                <a:cs typeface="楷体"/>
              </a:rPr>
              <a:t>事实与理由：因排队拥挤无意踩脚致争执，汪XX在公共场合多次公然贬低韦XX人格，触犯《刑法》第246条，构成侮辱罪</a:t>
            </a:r>
          </a:p>
          <a:p>
            <a:pPr>
              <a:lnSpc>
                <a:spcPct val="130000"/>
              </a:lnSpc>
              <a:spcAft>
                <a:spcPts val="300"/>
              </a:spcAft>
            </a:pPr>
            <a:r>
              <a:rPr sz="1600" b="0" i="0">
                <a:solidFill>
                  <a:srgbClr val="202020"/>
                </a:solidFill>
                <a:latin typeface="楷体"/>
                <a:ea typeface="楷体"/>
                <a:cs typeface="楷体"/>
              </a:rPr>
              <a:t>法律依据：根据《刑事诉讼法》第213条提起反诉，请予合并审理</a:t>
            </a:r>
          </a:p>
          <a:p>
            <a:pPr>
              <a:lnSpc>
                <a:spcPct val="130000"/>
              </a:lnSpc>
              <a:spcAft>
                <a:spcPts val="300"/>
              </a:spcAft>
            </a:pPr>
            <a:r>
              <a:rPr sz="1600" b="0" i="0">
                <a:solidFill>
                  <a:srgbClr val="202020"/>
                </a:solidFill>
                <a:latin typeface="楷体"/>
                <a:ea typeface="楷体"/>
                <a:cs typeface="楷体"/>
              </a:rPr>
              <a:t>落款：反诉人韦XX（签章）；代书人：XX律师事务所律师XX</a:t>
            </a:r>
          </a:p>
        </p:txBody>
      </p:sp>
      <p:sp>
        <p:nvSpPr>
          <p:cNvPr id="14" name="TextBox 13"/>
          <p:cNvSpPr txBox="1"/>
          <p:nvPr/>
        </p:nvSpPr>
        <p:spPr>
          <a:xfrm>
            <a:off x="868680" y="6199632"/>
            <a:ext cx="10607040" cy="274320"/>
          </a:xfrm>
          <a:prstGeom prst="rect">
            <a:avLst/>
          </a:prstGeom>
          <a:noFill/>
        </p:spPr>
        <p:txBody>
          <a:bodyPr wrap="square" anchor="t" lIns="50800" rIns="50800" tIns="25400" bIns="25400">
            <a:spAutoFit/>
          </a:bodyPr>
          <a:lstStyle/>
          <a:p>
            <a:r>
              <a:rPr sz="1100" b="0" i="0">
                <a:solidFill>
                  <a:srgbClr val="868686"/>
                </a:solidFill>
                <a:latin typeface="微软雅黑"/>
                <a:ea typeface="微软雅黑"/>
                <a:cs typeface="微软雅黑"/>
              </a:rPr>
              <a:t>本案为本诉（故意伤害自诉）与反诉（侮辱罪反诉）合并审理的典型例子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贰</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民事起诉状</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受理条件与案件类型</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内容和制作方法（首部、正文、尾部）</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格式与真实范文</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第二十讲　刑事自诉反诉状与民事起诉状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五、民事起诉状的概念与受理条件</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9</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民事起诉状：民事案件原告人或其法定代理人，为维护民事权益，就有关民事权利义务争执向人民法院提起诉讼的书状</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《民事诉讼法》第119条规定起诉须符合四项条件：原告是与本案有直接利害关系的公民、法人和非法人组织；有明确的被告；有具体的诉讼请求和事实理由；属于受理范围和受诉法院管辖</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民事案件主要分两大类：婚姻家庭案件（离婚、抚养、赡养、扶养）；财产权益案件（所有权、继承、损害赔偿、合同纠纷）</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第二十讲　刑事自诉反诉状与民事起诉状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六、民事起诉状的内容和制作方法（一）：首部</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10</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5440680" cy="457200"/>
          </a:xfrm>
          <a:prstGeom prst="rect">
            <a:avLst/>
          </a:prstGeom>
          <a:solidFill>
            <a:srgbClr val="2053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文书名称与原告身份事项</a:t>
            </a:r>
          </a:p>
        </p:txBody>
      </p:sp>
      <p:sp>
        <p:nvSpPr>
          <p:cNvPr id="11" name="Rectangle 10"/>
          <p:cNvSpPr/>
          <p:nvPr/>
        </p:nvSpPr>
        <p:spPr>
          <a:xfrm>
            <a:off x="548640"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文书名称：上部正中写“民事诉状”或“民事起诉状”</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原告是自然人：姓名、性别、出生年月日、民族、职业、工作单位和住所</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原告是未成年人：另写法定代理人姓名、性别、同原告的关系</a:t>
            </a:r>
          </a:p>
        </p:txBody>
      </p:sp>
      <p:sp>
        <p:nvSpPr>
          <p:cNvPr id="13" name="Rectangle 12"/>
          <p:cNvSpPr/>
          <p:nvPr/>
        </p:nvSpPr>
        <p:spPr>
          <a:xfrm>
            <a:off x="6199632" y="1371600"/>
            <a:ext cx="5440680" cy="4572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法人、非法人组织原告与被告身份事项</a:t>
            </a:r>
          </a:p>
        </p:txBody>
      </p:sp>
      <p:sp>
        <p:nvSpPr>
          <p:cNvPr id="15" name="Rectangle 14"/>
          <p:cNvSpPr/>
          <p:nvPr/>
        </p:nvSpPr>
        <p:spPr>
          <a:xfrm>
            <a:off x="6199632"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原告是法人的，写明名称和住所，另起一行写明法定代表人姓名和职务</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原告是个体工商户、个人合伙的，按规范写明经营者信息及字号</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被告身份事项写法同原告，但不写“企业性质”等项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第二十讲　刑事自诉反诉状与民事起诉状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七、民事起诉状的内容和制作方法（二）：正文之诉讼请求</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11</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诉讼请求：起诉人请求人民法院解决民事权益争议的具体事项，即起诉人所要达到的目的要求</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写作要求“四要四不要”：一要明确，不要含糊；二要具体，不要笼统；三要合理合法，不要提无理要求；四要相对固定，不要任意变换</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如有必要申请财产保全或先行给付，应作为独立一项要求提出；立案后才申请的，应另写申请书</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第二十讲　刑事自诉反诉状与民事起诉状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八、民事起诉状的内容和制作方法（三）：正文之事实</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12</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事实：双方争议的事实或被告侵权的事实及证据，包括法律关系、纠纷发生发展过程、争执焦点、被告应承担的责任</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如原告自己有一定责任，亦应提及，不能把过错完全推给被告</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写作要求“六要六不要”：一要和诉讼请求一致；二要写得具体清楚；三要实事求是；四要把关键情节交代清楚；五要有理有据；六要心平气和地摆事实</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举证遵循“谁主张，谁举证”原则，要列举证据名称内容、说明来源可靠程度、写明证人姓名职业住所、提交证据原件或复印件</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第二十讲　刑事自诉反诉状与民事起诉状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九、民事起诉状的内容和制作方法（四）：正文之理由与尾部</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13</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理由：概括分析纠纷的性质、危害、结果及责任，提出诉讼请求所依据的法律条款，包括认定事实的理由和提出法律根据的理由</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引用法律条文要全面具体，应引到条、款、项，不能只引条；写作要求“三要三不要”：一要讲道理，不要强词夺理；二要提供证据，不要空口无凭；三要有针对性地引用法律条款，不要没有法律根据</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尾部依次写明：致送法院名称、起诉人签名盖章、起诉时间、附项（本状副本X份）；代书人应在年月日右下角写明姓名、工作单位和职务</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第二十讲　刑事自诉反诉状与民事起诉状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十、民事起诉状真实范文：XX工业总公司诉请认定合作合同书无效案</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14</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2286000" cy="42062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08176"/>
            <a:ext cx="2103120" cy="365760"/>
          </a:xfrm>
          <a:prstGeom prst="rect">
            <a:avLst/>
          </a:prstGeom>
          <a:noFill/>
        </p:spPr>
        <p:txBody>
          <a:bodyPr wrap="square" anchor="ctr" lIns="50800" rIns="50800" tIns="25400" bIns="25400">
            <a:spAutoFit/>
          </a:bodyPr>
          <a:lstStyle/>
          <a:p>
            <a:r>
              <a:rPr sz="1500" b="1" i="0">
                <a:solidFill>
                  <a:srgbClr val="FFFFFF"/>
                </a:solidFill>
                <a:latin typeface="微软雅黑"/>
                <a:ea typeface="微软雅黑"/>
                <a:cs typeface="微软雅黑"/>
              </a:rPr>
              <a:t>教材实例（陈卫东、刘计划《法律文书写作（第五版）》）</a:t>
            </a:r>
          </a:p>
        </p:txBody>
      </p:sp>
      <p:sp>
        <p:nvSpPr>
          <p:cNvPr id="11" name="Rectangle 10"/>
          <p:cNvSpPr/>
          <p:nvPr/>
        </p:nvSpPr>
        <p:spPr>
          <a:xfrm>
            <a:off x="548640" y="1828800"/>
            <a:ext cx="11064240" cy="4343400"/>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828800"/>
            <a:ext cx="91440" cy="43434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1993392"/>
            <a:ext cx="10607040" cy="4069080"/>
          </a:xfrm>
          <a:prstGeom prst="rect">
            <a:avLst/>
          </a:prstGeom>
          <a:noFill/>
        </p:spPr>
        <p:txBody>
          <a:bodyPr wrap="square" anchor="t" lIns="50800" rIns="50800" tIns="25400" bIns="25400">
            <a:spAutoFit/>
          </a:bodyPr>
          <a:lstStyle/>
          <a:p>
            <a:pPr>
              <a:lnSpc>
                <a:spcPct val="130000"/>
              </a:lnSpc>
              <a:spcAft>
                <a:spcPts val="300"/>
              </a:spcAft>
            </a:pPr>
            <a:r>
              <a:rPr sz="1600" b="0" i="0">
                <a:solidFill>
                  <a:srgbClr val="202020"/>
                </a:solidFill>
                <a:latin typeface="楷体"/>
                <a:ea typeface="楷体"/>
                <a:cs typeface="楷体"/>
              </a:rPr>
              <a:t>原告：XX华益工业总公司（法定代表人余XX，公司董事长兼总经理）；委托代理人：XX律师事务所律师张XX</a:t>
            </a:r>
          </a:p>
          <a:p>
            <a:pPr>
              <a:lnSpc>
                <a:spcPct val="130000"/>
              </a:lnSpc>
              <a:spcAft>
                <a:spcPts val="300"/>
              </a:spcAft>
            </a:pPr>
            <a:r>
              <a:rPr sz="1600" b="0" i="0">
                <a:solidFill>
                  <a:srgbClr val="202020"/>
                </a:solidFill>
                <a:latin typeface="楷体"/>
                <a:ea typeface="楷体"/>
                <a:cs typeface="楷体"/>
              </a:rPr>
              <a:t>被告：XX市南方石油化工公司（法定代表人滕XX，公司总经理）</a:t>
            </a:r>
          </a:p>
          <a:p>
            <a:pPr>
              <a:lnSpc>
                <a:spcPct val="130000"/>
              </a:lnSpc>
              <a:spcAft>
                <a:spcPts val="300"/>
              </a:spcAft>
            </a:pPr>
            <a:r>
              <a:rPr sz="1600" b="0" i="0">
                <a:solidFill>
                  <a:srgbClr val="202020"/>
                </a:solidFill>
                <a:latin typeface="楷体"/>
                <a:ea typeface="楷体"/>
                <a:cs typeface="楷体"/>
              </a:rPr>
              <a:t>诉讼请求：确认合作合同书无效；判令被告返还原告全部财产、退还代偿贷款及其他债务；判令被告赔偿因侵权造成的经济损失；诉讼费用由被告负担</a:t>
            </a:r>
          </a:p>
          <a:p>
            <a:pPr>
              <a:lnSpc>
                <a:spcPct val="130000"/>
              </a:lnSpc>
              <a:spcAft>
                <a:spcPts val="300"/>
              </a:spcAft>
            </a:pPr>
            <a:r>
              <a:rPr sz="1600" b="0" i="0">
                <a:solidFill>
                  <a:srgbClr val="202020"/>
                </a:solidFill>
                <a:latin typeface="楷体"/>
                <a:ea typeface="楷体"/>
                <a:cs typeface="楷体"/>
              </a:rPr>
              <a:t>事实与理由要点一：转让公司全部资产的重大事项未经董事会讨论通过，违反公司合同书和章程关于重大事宜须董事会一致通过的规定</a:t>
            </a:r>
          </a:p>
          <a:p>
            <a:pPr>
              <a:lnSpc>
                <a:spcPct val="130000"/>
              </a:lnSpc>
              <a:spcAft>
                <a:spcPts val="300"/>
              </a:spcAft>
            </a:pPr>
            <a:r>
              <a:rPr sz="1600" b="0" i="0">
                <a:solidFill>
                  <a:srgbClr val="202020"/>
                </a:solidFill>
                <a:latin typeface="楷体"/>
                <a:ea typeface="楷体"/>
                <a:cs typeface="楷体"/>
              </a:rPr>
              <a:t>事实与理由要点二：经办人超越代理权限，授权书并非授权转让公司全部资产的真实意思表示</a:t>
            </a:r>
          </a:p>
        </p:txBody>
      </p:sp>
      <p:sp>
        <p:nvSpPr>
          <p:cNvPr id="14" name="TextBox 13"/>
          <p:cNvSpPr txBox="1"/>
          <p:nvPr/>
        </p:nvSpPr>
        <p:spPr>
          <a:xfrm>
            <a:off x="868680" y="6199632"/>
            <a:ext cx="10607040" cy="274320"/>
          </a:xfrm>
          <a:prstGeom prst="rect">
            <a:avLst/>
          </a:prstGeom>
          <a:noFill/>
        </p:spPr>
        <p:txBody>
          <a:bodyPr wrap="square" anchor="t" lIns="50800" rIns="50800" tIns="25400" bIns="25400">
            <a:spAutoFit/>
          </a:bodyPr>
          <a:lstStyle/>
          <a:p>
            <a:r>
              <a:rPr sz="1100" b="0" i="0">
                <a:solidFill>
                  <a:srgbClr val="868686"/>
                </a:solidFill>
                <a:latin typeface="微软雅黑"/>
                <a:ea typeface="微软雅黑"/>
                <a:cs typeface="微软雅黑"/>
              </a:rPr>
              <a:t>教材提示：本案理由部分逐条对应公司章程条款和授权书内容，体现“引用法律条文要全面、具体”的写作要求</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第二十讲　刑事自诉反诉状与民事起诉状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十一、范文写作技巧分析</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15</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诉讼请求部分四项请求层次清晰：确认合同无效→财产返还→债务处理→侵权赔偿→诉讼费用负担，逐项递进、相对固定</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事实与理由部分围绕“越权代理”“程序违法”两条主线展开，每一论点均附具体证据材料（见附件X），充分体现“要提供证据，不要空口无凭”</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理由部分逐条引用公司合同书、章程中关于重大事项决策程序的具体条款编号，体现“引用法律条文要全面、具体，应引到条、款、项”的写作要求</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第二十讲　刑事自诉反诉状与民事起诉状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课堂讨论：民事起诉状“事实”与“理由”的关系</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16</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讨论题：民事起诉状中的“事实”部分和“理由”部分分别承担什么不同功能？二者能否合并书写？</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提示角度一：事实部分是“摆事实”，回答“发生了什么”；理由部分是“讲法理”，回答“这些事实在法律上意味着什么、应当如何处理”</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提示角度二：事实部分要求“实事求是、不夸大不缩小”，理由部分要求“有针对性地引用法律条款”，二者写作标准并不相同，混在一起容易使诉状说理混乱</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提示角度三：结合范文分析，范文将“合同无效的两点理由”单独列出、逐条论证，这种结构安排对法官审查诉状有何便利？</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提示角度四：结合律师执业实践，思考案情简单、争议焦点单一的案件（如普通借款纠纷）与案情复杂、涉及多个法律关系交织的案件（如公司治理、合同效力认定案件），在“事实与理由是否分开书写”这一策略选择上是否应当有所不同，理由是什么？</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第二十讲　刑事自诉反诉状与民事起诉状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小结与作业</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17</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71600"/>
            <a:ext cx="11064240" cy="4297680"/>
          </a:xfrm>
          <a:prstGeom prst="rect">
            <a:avLst/>
          </a:prstGeom>
          <a:noFill/>
        </p:spPr>
        <p:txBody>
          <a:bodyPr wrap="square" anchor="t" lIns="50800" rIns="50800" tIns="25400" bIns="25400">
            <a:spAutoFit/>
          </a:bodyPr>
          <a:lstStyle/>
          <a:p>
            <a:pPr lvl="1">
              <a:lnSpc>
                <a:spcPct val="122000"/>
              </a:lnSpc>
              <a:spcAft>
                <a:spcPts val="300"/>
              </a:spcAft>
            </a:pPr>
            <a:r>
              <a:rPr sz="1800" b="1" i="0">
                <a:solidFill>
                  <a:srgbClr val="B6862C"/>
                </a:solidFill>
                <a:latin typeface="微软雅黑"/>
                <a:ea typeface="微软雅黑"/>
                <a:cs typeface="微软雅黑"/>
              </a:rPr>
              <a:t>    ● </a:t>
            </a:r>
            <a:r>
              <a:rPr sz="1800" b="1" i="0">
                <a:solidFill>
                  <a:srgbClr val="B6862C"/>
                </a:solidFill>
                <a:latin typeface="微软雅黑"/>
                <a:ea typeface="微软雅黑"/>
                <a:cs typeface="微软雅黑"/>
              </a:rPr>
              <a:t>刑事自诉反诉状的五项成立条件，反诉与本诉合并审理的程序意义</a:t>
            </a:r>
          </a:p>
          <a:p>
            <a:pPr lvl="1">
              <a:lnSpc>
                <a:spcPct val="122000"/>
              </a:lnSpc>
              <a:spcAft>
                <a:spcPts val="300"/>
              </a:spcAft>
            </a:pPr>
            <a:r>
              <a:rPr sz="1800" b="1" i="0">
                <a:solidFill>
                  <a:srgbClr val="B6862C"/>
                </a:solidFill>
                <a:latin typeface="微软雅黑"/>
                <a:ea typeface="微软雅黑"/>
                <a:cs typeface="微软雅黑"/>
              </a:rPr>
              <a:t>    ● </a:t>
            </a:r>
            <a:r>
              <a:rPr sz="1800" b="1" i="0">
                <a:solidFill>
                  <a:srgbClr val="B6862C"/>
                </a:solidFill>
                <a:latin typeface="微软雅黑"/>
                <a:ea typeface="微软雅黑"/>
                <a:cs typeface="微软雅黑"/>
              </a:rPr>
              <a:t>民事起诉状的四项受理条件（原告资格、明确被告、具体请求与事实理由、受理范围与管辖）</a:t>
            </a:r>
          </a:p>
          <a:p>
            <a:pPr lvl="1">
              <a:lnSpc>
                <a:spcPct val="122000"/>
              </a:lnSpc>
              <a:spcAft>
                <a:spcPts val="300"/>
              </a:spcAft>
            </a:pPr>
            <a:r>
              <a:rPr sz="1800" b="1" i="0">
                <a:solidFill>
                  <a:srgbClr val="B6862C"/>
                </a:solidFill>
                <a:latin typeface="微软雅黑"/>
                <a:ea typeface="微软雅黑"/>
                <a:cs typeface="微软雅黑"/>
              </a:rPr>
              <a:t>    ● </a:t>
            </a:r>
            <a:r>
              <a:rPr sz="1800" b="1" i="0">
                <a:solidFill>
                  <a:srgbClr val="B6862C"/>
                </a:solidFill>
                <a:latin typeface="微软雅黑"/>
                <a:ea typeface="微软雅黑"/>
                <a:cs typeface="微软雅黑"/>
              </a:rPr>
              <a:t>民事起诉状正文三部分：诉讼请求“四要四不要”、事实“六要六不要”、理由“三要三不要”</a:t>
            </a:r>
          </a:p>
          <a:p>
            <a:pPr lvl="1">
              <a:lnSpc>
                <a:spcPct val="122000"/>
              </a:lnSpc>
              <a:spcAft>
                <a:spcPts val="300"/>
              </a:spcAft>
            </a:pPr>
            <a:r>
              <a:rPr sz="1800" b="1" i="0">
                <a:solidFill>
                  <a:srgbClr val="B6862C"/>
                </a:solidFill>
                <a:latin typeface="微软雅黑"/>
                <a:ea typeface="微软雅黑"/>
                <a:cs typeface="微软雅黑"/>
              </a:rPr>
              <a:t>    ● </a:t>
            </a:r>
            <a:r>
              <a:rPr sz="1800" b="1" i="0">
                <a:solidFill>
                  <a:srgbClr val="B6862C"/>
                </a:solidFill>
                <a:latin typeface="微软雅黑"/>
                <a:ea typeface="微软雅黑"/>
                <a:cs typeface="微软雅黑"/>
              </a:rPr>
              <a:t>民事起诉状首部因原告类型不同（自然人/法人/非法人组织/个体工商户）而有不同写法</a:t>
            </a:r>
          </a:p>
        </p:txBody>
      </p:sp>
      <p:sp>
        <p:nvSpPr>
          <p:cNvPr id="10" name="Rectangle 9"/>
          <p:cNvSpPr/>
          <p:nvPr/>
        </p:nvSpPr>
        <p:spPr>
          <a:xfrm>
            <a:off x="548640" y="5669280"/>
            <a:ext cx="11064240" cy="6858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733288"/>
            <a:ext cx="10515600" cy="566928"/>
          </a:xfrm>
          <a:prstGeom prst="rect">
            <a:avLst/>
          </a:prstGeom>
          <a:noFill/>
        </p:spPr>
        <p:txBody>
          <a:bodyPr wrap="square" anchor="ctr" lIns="50800" rIns="50800" tIns="25400" bIns="25400">
            <a:spAutoFit/>
          </a:bodyPr>
          <a:lstStyle/>
          <a:p>
            <a:r>
              <a:rPr sz="1500" b="1" i="0">
                <a:solidFill>
                  <a:srgbClr val="B6862C"/>
                </a:solidFill>
                <a:latin typeface="微软雅黑"/>
                <a:ea typeface="微软雅黑"/>
                <a:cs typeface="微软雅黑"/>
              </a:rPr>
              <a:t>思考  </a:t>
            </a:r>
            <a:r>
              <a:rPr sz="1500" b="0" i="0">
                <a:solidFill>
                  <a:srgbClr val="FFFFFF"/>
                </a:solidFill>
                <a:latin typeface="微软雅黑"/>
                <a:ea typeface="微软雅黑"/>
                <a:cs typeface="微软雅黑"/>
              </a:rPr>
              <a:t>作业：请选择一个虚构的民事纠纷案情（须注明“教学示例（虚拟案例）”），拟写一份完整的民事起诉状，诉讼请求不少于两项，并在事实与理由部分分别落实“六要六不要”和“三要三不要”的写作要求。下一讲我们将学习附带民事诉讼起诉状与行政起诉状。</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