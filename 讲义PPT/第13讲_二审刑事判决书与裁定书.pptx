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731520"/>
            <a:ext cx="128016" cy="128016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77240"/>
            <a:ext cx="10058400" cy="548640"/>
          </a:xfrm>
          <a:prstGeom prst="rect">
            <a:avLst/>
          </a:prstGeom>
          <a:noFill/>
        </p:spPr>
        <p:txBody>
          <a:bodyPr wrap="square" anchor="t" lIns="50800" rIns="50800" tIns="25400" bIns="25400">
            <a:spAutoFit/>
          </a:bodyPr>
          <a:lstStyle/>
          <a:p>
            <a:r>
              <a:rPr sz="2000" b="0" i="0">
                <a:solidFill>
                  <a:srgbClr val="BFCCDD"/>
                </a:solidFill>
                <a:latin typeface="微软雅黑"/>
                <a:ea typeface="微软雅黑"/>
                <a:cs typeface="微软雅黑"/>
              </a:rPr>
              <a:t>《法律文书写作》</a:t>
            </a:r>
          </a:p>
        </p:txBody>
      </p:sp>
      <p:sp>
        <p:nvSpPr>
          <p:cNvPr id="6" name="TextBox 5"/>
          <p:cNvSpPr txBox="1"/>
          <p:nvPr/>
        </p:nvSpPr>
        <p:spPr>
          <a:xfrm>
            <a:off x="1097280" y="1325880"/>
            <a:ext cx="10058400" cy="548640"/>
          </a:xfrm>
          <a:prstGeom prst="rect">
            <a:avLst/>
          </a:prstGeom>
          <a:noFill/>
        </p:spPr>
        <p:txBody>
          <a:bodyPr wrap="square" anchor="t" lIns="50800" rIns="50800" tIns="25400" bIns="25400">
            <a:spAutoFit/>
          </a:bodyPr>
          <a:lstStyle/>
          <a:p>
            <a:r>
              <a:rPr sz="2200" b="1" i="0">
                <a:solidFill>
                  <a:srgbClr val="B6862C"/>
                </a:solidFill>
                <a:latin typeface="微软雅黑"/>
                <a:ea typeface="微软雅黑"/>
                <a:cs typeface="微软雅黑"/>
              </a:rPr>
              <a:t>第十三讲 · 法院文书（四）</a:t>
            </a:r>
          </a:p>
        </p:txBody>
      </p:sp>
      <p:sp>
        <p:nvSpPr>
          <p:cNvPr id="7" name="TextBox 6"/>
          <p:cNvSpPr txBox="1"/>
          <p:nvPr/>
        </p:nvSpPr>
        <p:spPr>
          <a:xfrm>
            <a:off x="1051560" y="2468880"/>
            <a:ext cx="10241280" cy="1554480"/>
          </a:xfrm>
          <a:prstGeom prst="rect">
            <a:avLst/>
          </a:prstGeom>
          <a:noFill/>
        </p:spPr>
        <p:txBody>
          <a:bodyPr wrap="square" anchor="t" lIns="50800" rIns="50800" tIns="25400" bIns="25400">
            <a:spAutoFit/>
          </a:bodyPr>
          <a:lstStyle/>
          <a:p>
            <a:pPr>
              <a:lnSpc>
                <a:spcPct val="110000"/>
              </a:lnSpc>
            </a:pPr>
            <a:r>
              <a:rPr sz="4000" b="1" i="0">
                <a:solidFill>
                  <a:srgbClr val="FFFFFF"/>
                </a:solidFill>
                <a:latin typeface="微软雅黑"/>
                <a:ea typeface="微软雅黑"/>
                <a:cs typeface="微软雅黑"/>
              </a:rPr>
              <a:t>二审刑事判决书与裁定书</a:t>
            </a:r>
          </a:p>
        </p:txBody>
      </p:sp>
      <p:sp>
        <p:nvSpPr>
          <p:cNvPr id="8" name="TextBox 7"/>
          <p:cNvSpPr txBox="1"/>
          <p:nvPr/>
        </p:nvSpPr>
        <p:spPr>
          <a:xfrm>
            <a:off x="1097280" y="4297680"/>
            <a:ext cx="10058400" cy="731520"/>
          </a:xfrm>
          <a:prstGeom prst="rect">
            <a:avLst/>
          </a:prstGeom>
          <a:noFill/>
        </p:spPr>
        <p:txBody>
          <a:bodyPr wrap="square" anchor="t" lIns="50800" rIns="50800" tIns="25400" bIns="25400">
            <a:spAutoFit/>
          </a:bodyPr>
          <a:lstStyle/>
          <a:p>
            <a:r>
              <a:rPr sz="1900" b="0" i="0">
                <a:solidFill>
                  <a:srgbClr val="D7DEE8"/>
                </a:solidFill>
                <a:latin typeface="微软雅黑"/>
                <a:ea typeface="微软雅黑"/>
                <a:cs typeface="微软雅黑"/>
              </a:rPr>
              <a:t>一审判决书的五部分结构，在二审程序中如何变化与调整</a:t>
            </a:r>
          </a:p>
        </p:txBody>
      </p:sp>
      <p:sp>
        <p:nvSpPr>
          <p:cNvPr id="9" name="Rectangle 8"/>
          <p:cNvSpPr/>
          <p:nvPr/>
        </p:nvSpPr>
        <p:spPr>
          <a:xfrm>
            <a:off x="1097280" y="5440680"/>
            <a:ext cx="5486400" cy="17780"/>
          </a:xfrm>
          <a:prstGeom prst="rect">
            <a:avLst/>
          </a:prstGeom>
          <a:solidFill>
            <a:srgbClr val="445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623560"/>
            <a:ext cx="10058400" cy="457200"/>
          </a:xfrm>
          <a:prstGeom prst="rect">
            <a:avLst/>
          </a:prstGeom>
          <a:noFill/>
        </p:spPr>
        <p:txBody>
          <a:bodyPr wrap="square" anchor="t" lIns="50800" rIns="50800" tIns="25400" bIns="25400">
            <a:spAutoFit/>
          </a:bodyPr>
          <a:lstStyle/>
          <a:p>
            <a:r>
              <a:rPr sz="1600" b="0" i="0">
                <a:solidFill>
                  <a:srgbClr val="C8D2E0"/>
                </a:solidFill>
                <a:latin typeface="微软雅黑"/>
                <a:ea typeface="微软雅黑"/>
                <a:cs typeface="微软雅黑"/>
              </a:rPr>
              <a:t>主讲教师：＿＿＿＿＿　法学院</a:t>
            </a:r>
          </a:p>
        </p:txBody>
      </p:sp>
      <p:sp>
        <p:nvSpPr>
          <p:cNvPr id="11" name="TextBox 10"/>
          <p:cNvSpPr txBox="1"/>
          <p:nvPr/>
        </p:nvSpPr>
        <p:spPr>
          <a:xfrm>
            <a:off x="1097280" y="6035040"/>
            <a:ext cx="10058400" cy="457200"/>
          </a:xfrm>
          <a:prstGeom prst="rect">
            <a:avLst/>
          </a:prstGeom>
          <a:noFill/>
        </p:spPr>
        <p:txBody>
          <a:bodyPr wrap="square" anchor="t" lIns="50800" rIns="50800" tIns="25400" bIns="25400">
            <a:spAutoFit/>
          </a:bodyPr>
          <a:lstStyle/>
          <a:p>
            <a:r>
              <a:rPr sz="1300" b="0" i="0">
                <a:solidFill>
                  <a:srgbClr val="8F9DB2"/>
                </a:solidFill>
                <a:latin typeface="微软雅黑"/>
                <a:ea typeface="微软雅黑"/>
                <a:cs typeface="微软雅黑"/>
              </a:rPr>
              <a:t>配套教材：第四章第二节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导入：从一审判决书到二审刑事判决书</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前三讲完整学习了一审刑事判决书的五部分结构：首部、事实、理由、判决结果、尾部</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今天进入二审：审理对象不是案件本身从零审理，而是针对上诉、抗诉理由进行审查</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格式与一审基本相同，但有自己的特点，逐一对照学习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壹</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第二审刑事判决书的概念与功能</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概念与法律依据</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全面审查原则</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制度功能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一、第二审刑事判决书的概念</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第二审刑事判决书，是第二审人民法院根据当事人的上诉或者人民检察院的抗诉</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依照〔刑事诉讼法2018年修正〕规定的第二审程序，对第一审人民法院作出的尚未发生法律效力的判决或裁定进行审查后作出的书面决定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二、上诉权与抗诉权的法律依据</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上诉权（第227条）</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被告人、自诉人和他们的法定代理人，不服一审判决、裁定的，有权用书状或者口头向上一级人民法院上诉</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被告人的辩护人和近亲属，经被告人同意，可以提出上诉</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附带民事诉讼当事人，可以对附带民事诉讼部分提出上诉</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抗诉权（第228条）</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地方各级人民检察院认为本级法院第一审判决、裁定确有错误的</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应当向上一级人民法院提出抗诉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三、全面审查原则与制度功能</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二审法院应当就一审判决认定事实是否清楚、适用法律是否正确、诉讼程序是否合法，进行全面审查</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不受上诉或者抗诉范围的限制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制度功能：及时纠正轻罪重判、重罪轻判、有罪定无罪、无罪定有罪等错误</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有利于准确惩罚犯罪、保护被告人合法权益</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有利于上级法院监督指导下级法院审判工作，提高办案质量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贰</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二审判决书首部的特殊写法</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文书编号“刑终”字</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抗诉人、上诉人的称谓</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案件来源与上诉抗诉理由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四、文书编号：“刑终”字的含义</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二审判决书案号写为“（××）××刑终××号”</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案号用“刑终”字，说明这是第二审人民法院适用第二审程序作出的终审的、即发生法律效力的判决</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与一审“刑初”字相对应，体现两审终审制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五、抗诉人、上诉人的称谓写法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40" cy="4754880"/>
        </p:xfrm>
        <a:graphic>
          <a:graphicData uri="http://schemas.openxmlformats.org/drawingml/2006/table">
            <a:tbl>
              <a:tblPr firstRow="1" bandRow="1">
                <a:tableStyleId>{5C22544A-7EE6-4342-B048-85BDC9FD1C3A}</a:tableStyleId>
              </a:tblPr>
              <a:tblGrid>
                <a:gridCol w="4425696"/>
                <a:gridCol w="6638544"/>
              </a:tblGrid>
              <a:tr h="950976">
                <a:tc>
                  <a:txBody>
                    <a:bodyPr wrap="square"/>
                    <a:lstStyle/>
                    <a:p>
                      <a:pPr algn="ctr"/>
                      <a:r>
                        <a:rPr sz="1400" b="1" i="0">
                          <a:solidFill>
                            <a:srgbClr val="FFFFFF"/>
                          </a:solidFill>
                          <a:latin typeface="微软雅黑"/>
                          <a:ea typeface="微软雅黑"/>
                          <a:cs typeface="微软雅黑"/>
                        </a:rPr>
                        <a:t>情形</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称谓写法</a:t>
                      </a:r>
                    </a:p>
                  </a:txBody>
                  <a:tcPr anchor="ctr">
                    <a:solidFill>
                      <a:srgbClr val="142A47"/>
                    </a:solidFill>
                  </a:tcPr>
                </a:tc>
              </a:tr>
              <a:tr h="950976">
                <a:tc>
                  <a:txBody>
                    <a:bodyPr wrap="square"/>
                    <a:lstStyle/>
                    <a:p>
                      <a:pPr algn="ctr"/>
                      <a:r>
                        <a:rPr sz="1250" b="0" i="0">
                          <a:solidFill>
                            <a:srgbClr val="202020"/>
                          </a:solidFill>
                          <a:latin typeface="微软雅黑"/>
                          <a:ea typeface="微软雅黑"/>
                          <a:cs typeface="微软雅黑"/>
                        </a:rPr>
                        <a:t>检察机关提出抗诉</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第一项写“抗诉机关”，第二项写“原审被告人”</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公诉案件被告人提出上诉</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第一项写“原公诉机关”，第二项写“上诉人（原审被告人）”</a:t>
                      </a:r>
                    </a:p>
                  </a:txBody>
                  <a:tcPr anchor="ctr">
                    <a:solidFill>
                      <a:srgbClr val="EEF1F6"/>
                    </a:solidFill>
                  </a:tcPr>
                </a:tc>
              </a:tr>
              <a:tr h="950976">
                <a:tc>
                  <a:txBody>
                    <a:bodyPr wrap="square"/>
                    <a:lstStyle/>
                    <a:p>
                      <a:pPr algn="ctr"/>
                      <a:r>
                        <a:rPr sz="1250" b="0" i="0">
                          <a:solidFill>
                            <a:srgbClr val="202020"/>
                          </a:solidFill>
                          <a:latin typeface="微软雅黑"/>
                          <a:ea typeface="微软雅黑"/>
                          <a:cs typeface="微软雅黑"/>
                        </a:rPr>
                        <a:t>辩护人 / 近亲属经同意提出上诉</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上诉人仍为原审被告人，审理经过改写为“……经征得原审被告人同意，提出上诉”</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共同犯罪个别被告人上诉</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第二项写“上诉人”并注明原审诉讼地位，未上诉者第三项写“原审被告人”以便二审一并处理</a:t>
                      </a:r>
                    </a:p>
                  </a:txBody>
                  <a:tcPr anchor="ctr">
                    <a:solidFill>
                      <a:srgbClr val="EEF1F6"/>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六、自诉案件、附带民事诉讼当事人的称谓写法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10</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自诉人提出上诉：第一项写“上诉人（原审自诉人）”，第二项写“原审被告人”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被告人提出上诉：第一项写“上诉人（原审被告人）”，第二项写“原审自诉人”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双方都上诉：分别列“上诉人（原审自诉人）”“上诉人（原审被告人）”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附带民事诉讼当事人上诉：第一项写“上诉人”，第二项写“被上诉人”，并注明原审诉讼地位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七、案件来源、一审处理结果、上诉抗诉理由的写法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标准表述：“××人民法院审理……一案，于××年××月××日作出（××）××刑初××号刑事判决。被告人××不服，提出上诉。”</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检察机关抗诉表述为：“××人民检察院不同意原判，向本院提出抗诉。”</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未开庭审理的改写为：“经过阅卷，讯问被告人，听取其他当事人、辩护人、诉讼代理人的意见，认为事实清楚，决定不开庭审理。”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叙</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事实部分：针对性叙述</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三种叙述方法</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与一审事实部分的区别</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八、事实部分的三种叙述方法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13</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（1）上诉或抗诉对原判认定事实没有异议，二审确认原判事实无误的：事实部分可概括叙述</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（2）上诉或抗诉对原判认定事实全部否认的：用二审查证核实的证据材料，逐一写明事实，提出认定或否定的根据和理由</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（3）上诉或抗诉认为原判事实部分不符的：没有争议的事实略述，有争议的事实详述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肆</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理由部分：分析论证三种情形</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适用法律错误或量刑不当</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事实不清或证据不足</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事实与法律均不当</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九、理由部分的三种论证情形</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（1）原判事实没有错误，但适用法律确有错误或量刑不当的：写明原判不当之处及改判理由</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（2）原判事实不清或证据不足的：写明哪些事实不清（部分还是全部）、证据不足，以及改判根据和理由</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（3）原判事实和适用法律均不当的：充分说明否定原判的根据和理由</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改判须写明改判依据的法律条文，先引程序法、再引实体法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伍</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判决结果：三种主文情形</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全部改判</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部分改判</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查清事实后直接改判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十、二审判决结果的主文表述</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39" cy="4754880"/>
        </p:xfrm>
        <a:graphic>
          <a:graphicData uri="http://schemas.openxmlformats.org/drawingml/2006/table">
            <a:tbl>
              <a:tblPr firstRow="1" bandRow="1">
                <a:tableStyleId>{5C22544A-7EE6-4342-B048-85BDC9FD1C3A}</a:tableStyleId>
              </a:tblPr>
              <a:tblGrid>
                <a:gridCol w="3983126"/>
                <a:gridCol w="7081113"/>
              </a:tblGrid>
              <a:tr h="950976">
                <a:tc>
                  <a:txBody>
                    <a:bodyPr wrap="square"/>
                    <a:lstStyle/>
                    <a:p>
                      <a:pPr algn="ctr"/>
                      <a:r>
                        <a:rPr sz="1400" b="1" i="0">
                          <a:solidFill>
                            <a:srgbClr val="FFFFFF"/>
                          </a:solidFill>
                          <a:latin typeface="微软雅黑"/>
                          <a:ea typeface="微软雅黑"/>
                          <a:cs typeface="微软雅黑"/>
                        </a:rPr>
                        <a:t>情形</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主文表述要点</a:t>
                      </a:r>
                    </a:p>
                  </a:txBody>
                  <a:tcPr anchor="ctr">
                    <a:solidFill>
                      <a:srgbClr val="142A47"/>
                    </a:solidFill>
                  </a:tcPr>
                </a:tc>
              </a:tr>
              <a:tr h="950976">
                <a:tc>
                  <a:txBody>
                    <a:bodyPr wrap="square"/>
                    <a:lstStyle/>
                    <a:p>
                      <a:pPr algn="ctr"/>
                      <a:r>
                        <a:rPr sz="1250" b="0" i="0">
                          <a:solidFill>
                            <a:srgbClr val="202020"/>
                          </a:solidFill>
                          <a:latin typeface="微软雅黑"/>
                          <a:ea typeface="微软雅黑"/>
                          <a:cs typeface="微软雅黑"/>
                        </a:rPr>
                        <a:t>全部改判</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“一、撤销××人民法院（××）××刑初××号刑事判决；二、上诉人（原审被告人）××……（写明改判内容）”</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部分改判</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“一、维持……判决第××项；二、撤销……判决第××项；三、上诉人（原审被告人）××……（写明部分改判内容）”</a:t>
                      </a:r>
                    </a:p>
                  </a:txBody>
                  <a:tcPr anchor="ctr">
                    <a:solidFill>
                      <a:srgbClr val="EEF1F6"/>
                    </a:solidFill>
                  </a:tcPr>
                </a:tc>
              </a:tr>
              <a:tr h="950976">
                <a:tc>
                  <a:txBody>
                    <a:bodyPr wrap="square"/>
                    <a:lstStyle/>
                    <a:p>
                      <a:pPr algn="ctr"/>
                      <a:r>
                        <a:rPr sz="1250" b="0" i="0">
                          <a:solidFill>
                            <a:srgbClr val="202020"/>
                          </a:solidFill>
                          <a:latin typeface="微软雅黑"/>
                          <a:ea typeface="微软雅黑"/>
                          <a:cs typeface="微软雅黑"/>
                        </a:rPr>
                        <a:t>原判事实不清/证据不足后查清改判</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同“全部改判”表述：先撤销原判，再写明改判内容</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原判定性、适用法律均不当，应宣告无罪</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“一、撤销原判决；二、上诉人（原审被告人）××无罪”</a:t>
                      </a:r>
                    </a:p>
                  </a:txBody>
                  <a:tcPr anchor="ctr">
                    <a:solidFill>
                      <a:srgbClr val="EEF1F6"/>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陆</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尾部写法与维持原判、发回重审</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“本判决为终审判决”</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署名规则的特殊性</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维持原判与发回重审的程序分工</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十一、尾部书写要点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判决结果左下方另起一行写“本判决为终审判决”，不必加“不准上诉”字样</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高级人民法院改判判处死刑的，续写“由本院依法报送最高人民法院核准以后发生法律效力”</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最高人民法院或高级法院改判判处死刑（含死缓）的，只写“本判决为终审判决”即可</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依〔刑事诉讼法2018年修正〕第183条第4款，由审判员（或代理审判员）按审判长、审判员顺序署名，不涉及陪审员、独任审判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范文研读：沈某盗窃罪二审刑事判决书（二审改判）节录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20</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四川省成都市中级人民法院 刑事判决书 （2021）川01刑终××号</a:t>
            </a:r>
          </a:p>
          <a:p>
            <a:pPr>
              <a:lnSpc>
                <a:spcPct val="130000"/>
              </a:lnSpc>
              <a:spcAft>
                <a:spcPts val="300"/>
              </a:spcAft>
            </a:pPr>
            <a:r>
              <a:rPr sz="1600" b="0" i="0">
                <a:solidFill>
                  <a:srgbClr val="202020"/>
                </a:solidFill>
                <a:latin typeface="楷体"/>
                <a:ea typeface="楷体"/>
                <a:cs typeface="楷体"/>
              </a:rPr>
              <a:t>抗诉机关：成都市新都区人民检察院。原审被告人：沈某……现羁押于成都市看守所。</a:t>
            </a:r>
          </a:p>
          <a:p>
            <a:pPr>
              <a:lnSpc>
                <a:spcPct val="130000"/>
              </a:lnSpc>
              <a:spcAft>
                <a:spcPts val="300"/>
              </a:spcAft>
            </a:pPr>
            <a:r>
              <a:rPr sz="1600" b="0" i="0">
                <a:solidFill>
                  <a:srgbClr val="202020"/>
                </a:solidFill>
                <a:latin typeface="楷体"/>
                <a:ea typeface="楷体"/>
                <a:cs typeface="楷体"/>
              </a:rPr>
              <a:t>成都市新都区人民法院……作出（2020）川0114刑初××号刑事判决。宣判后，成都市新都区人民检察院以原判判处原审被告人沈某罚金金额违反法律规定……为由，向本院提出抗诉。</a:t>
            </a:r>
          </a:p>
          <a:p>
            <a:pPr>
              <a:lnSpc>
                <a:spcPct val="130000"/>
              </a:lnSpc>
              <a:spcAft>
                <a:spcPts val="300"/>
              </a:spcAft>
            </a:pPr>
            <a:r>
              <a:rPr sz="1600" b="0" i="0">
                <a:solidFill>
                  <a:srgbClr val="202020"/>
                </a:solidFill>
                <a:latin typeface="楷体"/>
                <a:ea typeface="楷体"/>
                <a:cs typeface="楷体"/>
              </a:rPr>
              <a:t>本院认为：……原判对沈某所处罚金数额为人民币4000元，确系罚金处罚不当，抗诉意见及辩护意见均成立，本院予以采纳。</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陈卫东、刘计划《法律文书写作（第五版）》第四章第二节</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课堂讨论：维持原判为什么不能先“维持”再“加刑”？</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480060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讨论题：一审判实刑、二审拟改判缓刑，或抗诉后二审拟数罪并罚加刑，能否先“维持原判”再宣告缓刑或加刑？</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提示：思考一个案件能否同时存在两个互相矛盾的生效判决</a:t>
            </a:r>
          </a:p>
        </p:txBody>
      </p:sp>
      <p:sp>
        <p:nvSpPr>
          <p:cNvPr id="10" name="Rectangle 9"/>
          <p:cNvSpPr/>
          <p:nvPr/>
        </p:nvSpPr>
        <p:spPr>
          <a:xfrm>
            <a:off x="548640" y="5532120"/>
            <a:ext cx="11064240" cy="749808"/>
          </a:xfrm>
          <a:prstGeom prst="rect">
            <a:avLst/>
          </a:prstGeom>
          <a:solidFill>
            <a:srgbClr val="EC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532120"/>
            <a:ext cx="91440" cy="749808"/>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96128"/>
            <a:ext cx="10698480" cy="640080"/>
          </a:xfrm>
          <a:prstGeom prst="rect">
            <a:avLst/>
          </a:prstGeom>
          <a:noFill/>
        </p:spPr>
        <p:txBody>
          <a:bodyPr wrap="square" anchor="ctr" lIns="50800" rIns="50800" tIns="25400" bIns="25400">
            <a:spAutoFit/>
          </a:bodyPr>
          <a:lstStyle/>
          <a:p>
            <a:r>
              <a:rPr sz="1400" b="1" i="0">
                <a:solidFill>
                  <a:srgbClr val="B6862C"/>
                </a:solidFill>
                <a:latin typeface="微软雅黑"/>
                <a:ea typeface="微软雅黑"/>
                <a:cs typeface="微软雅黑"/>
              </a:rPr>
              <a:t>提示  </a:t>
            </a:r>
            <a:r>
              <a:rPr sz="1400" b="0" i="0">
                <a:solidFill>
                  <a:srgbClr val="3E3E3E"/>
                </a:solidFill>
                <a:latin typeface="微软雅黑"/>
                <a:ea typeface="微软雅黑"/>
                <a:cs typeface="微软雅黑"/>
              </a:rPr>
              <a:t>课堂讨论</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第十三讲　二审刑事判决书与裁定书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本讲小结 · 思考 · 作业</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71600"/>
            <a:ext cx="11064240" cy="429768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二审判决书首部：刑终字号、抗诉人上诉人称谓规则、案件来源写法</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事实、理由部分：针对上诉抗诉理由展开论证的三种写法</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判决结果：全部改判、部分改判、查清事实后改判三种主文情形</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尾部：本判决为终审判决、署名规则的特殊性</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下一讲我们将进入一审民事判决书的学习</a:t>
            </a:r>
          </a:p>
        </p:txBody>
      </p:sp>
      <p:sp>
        <p:nvSpPr>
          <p:cNvPr id="10" name="Rectangle 9"/>
          <p:cNvSpPr/>
          <p:nvPr/>
        </p:nvSpPr>
        <p:spPr>
          <a:xfrm>
            <a:off x="548640" y="5669280"/>
            <a:ext cx="11064240" cy="6858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733288"/>
            <a:ext cx="10515600" cy="566928"/>
          </a:xfrm>
          <a:prstGeom prst="rect">
            <a:avLst/>
          </a:prstGeom>
          <a:noFill/>
        </p:spPr>
        <p:txBody>
          <a:bodyPr wrap="square" anchor="ctr" lIns="50800" rIns="50800" tIns="25400" bIns="25400">
            <a:spAutoFit/>
          </a:bodyPr>
          <a:lstStyle/>
          <a:p>
            <a:r>
              <a:rPr sz="1500" b="1" i="0">
                <a:solidFill>
                  <a:srgbClr val="B6862C"/>
                </a:solidFill>
                <a:latin typeface="微软雅黑"/>
                <a:ea typeface="微软雅黑"/>
                <a:cs typeface="微软雅黑"/>
              </a:rPr>
              <a:t>思考  </a:t>
            </a:r>
            <a:r>
              <a:rPr sz="1500" b="0" i="0">
                <a:solidFill>
                  <a:srgbClr val="FFFFFF"/>
                </a:solidFill>
                <a:latin typeface="微软雅黑"/>
                <a:ea typeface="微软雅黑"/>
                <a:cs typeface="微软雅黑"/>
              </a:rPr>
              <a:t>作业：请结合沈某盗窃罪二审判决书范文，分析其判决结果部分属于哪一种主文情形，并说明理由部分是如何针对抗诉意见展开论证的。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