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31520"/>
            <a:ext cx="128016" cy="128016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000" b="0" i="0">
                <a:solidFill>
                  <a:srgbClr val="BFCCDD"/>
                </a:solidFill>
                <a:latin typeface="微软雅黑"/>
                <a:ea typeface="微软雅黑"/>
                <a:cs typeface="微软雅黑"/>
              </a:rPr>
              <a:t>《法律文书写作》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2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第十五讲 · 法院文书（六）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1024128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第二审人民法院民事判决书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900" b="0" i="0">
                <a:solidFill>
                  <a:srgbClr val="D7DEE8"/>
                </a:solidFill>
                <a:latin typeface="微软雅黑"/>
                <a:ea typeface="微软雅黑"/>
                <a:cs typeface="微软雅黑"/>
              </a:rPr>
              <a:t>从一审民事判决书到二审：当事人称谓、事实详略与裁判结果的变化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440680"/>
            <a:ext cx="5486400" cy="17780"/>
          </a:xfrm>
          <a:prstGeom prst="rect">
            <a:avLst/>
          </a:prstGeom>
          <a:solidFill>
            <a:srgbClr val="44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62356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600" b="0" i="0">
                <a:solidFill>
                  <a:srgbClr val="C8D2E0"/>
                </a:solidFill>
                <a:latin typeface="微软雅黑"/>
                <a:ea typeface="微软雅黑"/>
                <a:cs typeface="微软雅黑"/>
              </a:rPr>
              <a:t>主讲教师：＿＿＿＿＿　法学院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00" b="0" i="0">
                <a:solidFill>
                  <a:srgbClr val="8F9DB2"/>
                </a:solidFill>
                <a:latin typeface="微软雅黑"/>
                <a:ea typeface="微软雅黑"/>
                <a:cs typeface="微软雅黑"/>
              </a:rPr>
              <a:t>配套教材：第四章第四节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第十五讲　第二审人民法院民事判决书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导入：从一审民事判决书到二审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上一讲学完了第一审民事判决书的写法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二审（或终审）民事判决书：上一级法院对不服一审判决、裁定提起上诉的案件作出的判决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制度功能：纠正一审可能发生的错误，保障当事人合法权益，提高审判质量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第二审民事判决书的概念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概念界定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与二审刑事判决书的呼应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制度功能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第十五讲　第二审人民法院民事判决书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一、第二审民事判决书的概念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上一级人民法院按照上诉审程序，审理当事人不服一审判决、裁定而提起上诉的民事案件，对此作出的判决书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也称“终审民事判决书”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功能：及时有效纠正一审民事判决或裁定可能发生的错误，切实保障当事人合法权益，提高审判质量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首部：当事人称谓的特殊写法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上诉人（原审原告/被告）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被上诉人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案由与审理经过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第十五讲　第二审人民法院民事判决书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二、首部当事人称谓写法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3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556"/>
                <a:gridCol w="7523683"/>
              </a:tblGrid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情形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称谓写法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原告提起上诉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上诉人（原审原告）：姓名、性别、年龄、户籍地、职业、住址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被告提起上诉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上诉人（原审被告）：姓名、性别、年龄、民族、户籍地、职业、住址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上诉人的对方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被上诉人：姓名、性别、年龄、民族、户籍地、职业、住址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有代理人的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分别写明代理人姓名及身份等项，并写明与当事人的关系，写在上诉人、被上诉人的次行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第十五讲　第二审人民法院民事判决书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三、案由与审理经过的写法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标准表述：“上诉人××因××一案，对××人民法院××年××月××日（××）××民初××号民事判决不服，向本院提出上诉。”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再写开庭审理的时间、审判组织和审判方式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合议庭：“本院于××年××月××日，由审判员××担任审判长，和审判员××、××组成合议庭，书记员××担任记录，依法公开（或不公开）进行审理”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独任审判：“本院于××年××月××日依法公开（或不公开）开庭进行了审理”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事实部分：着重审查上诉理由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全面审查一审案卷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着重针对上诉人提出的问题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无分歧事实可概述或不写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第十五讲　第二审人民法院民事判决书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四、事实部分的写法要求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应在全面审查一审案卷、材料和证据的基础上书写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写明审查清楚的当事人双方争议的主要事实和认定的证据，以及原审法院判决的内容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作为上诉审判决，应着重针对上诉人所提出的问题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对没有分歧的事实，可以采取概述的方法，或者干脆不写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理由部分：两层论证结构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对上诉理由的分析认定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对原审判决的认定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实事求是、分清是非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第十五讲　第二审人民法院民事判决书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五、理由部分的两层论证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40680" cy="457200"/>
          </a:xfrm>
          <a:prstGeom prst="rect">
            <a:avLst/>
          </a:prstGeom>
          <a:solidFill>
            <a:srgbClr val="205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第一层：上诉理由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写明上诉人不服原审判决的理由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对这些理由进行分析认定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正确的予以支持，错误的予以驳斥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371600"/>
            <a:ext cx="5440680" cy="4572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第二层：原审判决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写明对原审判决的认定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原审判决正确的，应予维持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原审判决错误的，应当及时纠正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裁判结果：四种主文情形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维持原判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全部改判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部分改判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发回重审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第十五讲　第二审人民法院民事判决书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六、裁判结果四种情形的表述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5696"/>
                <a:gridCol w="6638544"/>
              </a:tblGrid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情形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主文表述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原判认定事实正确、适用法律恰当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“维持原判，驳回上诉”，或“原判正确，应予维持，上诉无理，予以驳回”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原判认定事实正确、适用法律不当（全部改判）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“一、撤销××人民法院（××）××民初××号民事判决；二、……（改判内容）”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原判认定事实正确、适用法律不当（部分改判）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“一、维持……第××项；二、撤销……第××项；三、……（部分改判内容）”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原判认定事实不清、证据不足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“原判决撤销；发回××人民法院重新审判”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尾部与落款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“本判决为终审判决，不得上诉”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署名为审判长和审判员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落款与一审民事判决书相同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第十五讲　第二审人民法院民事判决书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七、尾部的写法要点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写明：“本判决为终审判决，不得上诉。”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其他项目与第一审民事判决书相同，但审判人员署名应是审判长和审判员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落款部分内容同第一审民事判决书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第十五讲　第二审人民法院民事判决书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范文研读：上海美某实业公司网络侵权案二审判决书节录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上海市第一中级人民法院 民事判决书 (2020)沪01民终××号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上诉人（原审原告）：上海美某实业有限公司……上诉人（原审被告）：浙江淘宝网络有限公司……被上诉人（原审被告）：苏州美伊某化妆品有限公司……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上诉人美某公司、淘宝公司因与被上诉人美伊某公司网络侵权责任纠纷一案，不服上海市金山区人民法院(2019)沪0116民初××号民事判决，向本院提起上诉。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美某公司上诉请求：撤销一审判决第一、二、三、五项……淘宝公司上诉请求：撤销一审判决第二项……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本院认为：……（针对各方上诉理由逐一分析认定）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陈卫东、刘计划《法律文书写作（第五版）》第四章第四节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第十五讲　第二审人民法院民事判决书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课堂讨论：二审改判与发回重审如何选择？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讨论题：原审判决事实认定有误，但二审法院已经查清了真实情况，应当改判还是发回重审？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提示：结合“事实不清、证据不足”与“事实认定错误但已查清”两种情形的区别思考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课堂讨论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第十五讲　第二审人民法院民事判决书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本讲小结 · 思考 · 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概念：二审（或终审）民事判决书的概念与制度功能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首部：上诉人（原审原告/被告）、被上诉人的称谓写法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事实：着重针对上诉理由审查，无分歧事实可概述或不写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理由：两层论证——对上诉理由的认定、对原审判决的认定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裁判结果：维持原判、全部改判、部分改判、发回重审四种情形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下一讲我们将学习调解书与执行文书的写法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33288"/>
            <a:ext cx="10515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思考  </a:t>
            </a: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作业：请结合今天学习的四种裁判结果情形，自行拟写一份简化版二审民事判决书的裁判结果部分（可用虚构教学示例案情，注明“教学示例（虚拟案例）”）。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