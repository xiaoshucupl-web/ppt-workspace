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第十四讲 · 法院文书（五）</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第一审人民法院民事判决书</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从“惩罚犯罪”到“平等主体间权利义务的认定”：判决书写法的转换</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配套教材：第四章第三节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导入：从刑事判决书到民事判决书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前面四讲学完了一审、二审刑事判决书与裁定书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今天进入民事判决书：解决的是平等主体之间的民事权益争议，不是惩罚犯罪</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结构相似（首部、事实、理由、判决结果、尾部），但具体写法因案件性质不同而有实质差异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第一审民事判决书的概念与法律依据</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概念</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《民事诉讼法》第152条</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与刑事判决书总体要求的一致性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一、第一审民事判决书的概念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第一审民事判决书是第一审人民法院依照民事诉讼法规定的第一审程序，对审理终结的第一审民事案件就实体问题作出的书面决定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民事案件：有关民事权利和义务的案件，包括财产权益纠纷、婚姻家庭纠纷、经济纠纷案件</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与刑事判决书制作的总体要求一致：语言简练，判决有理有据，使人信服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二、《民事诉讼法》第152条的四项内容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（一）案由、诉讼请求、争议的事实和理由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（二）判决认定的事实和理由、适用的法律和理由</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（三）判决结果和诉讼费用的负担</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（四）上诉期间和上诉的法院</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判决书由审判人员、书记员署名，加盖人民法院印章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首部：当事人身份事项与诉讼代理人称谓</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自然人、法人、其他组织的身份写法</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诉讼代理人书写规则</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案由与审理经过</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三、当事人身份事项的写法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540556"/>
                <a:gridCol w="7523683"/>
              </a:tblGrid>
              <a:tr h="950976">
                <a:tc>
                  <a:txBody>
                    <a:bodyPr wrap="square"/>
                    <a:lstStyle/>
                    <a:p>
                      <a:pPr algn="ctr"/>
                      <a:r>
                        <a:rPr sz="1400" b="1" i="0">
                          <a:solidFill>
                            <a:srgbClr val="FFFFFF"/>
                          </a:solidFill>
                          <a:latin typeface="微软雅黑"/>
                          <a:ea typeface="微软雅黑"/>
                          <a:cs typeface="微软雅黑"/>
                        </a:rPr>
                        <a:t>当事人类型</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书写要求</a:t>
                      </a:r>
                    </a:p>
                  </a:txBody>
                  <a:tcPr anchor="ctr">
                    <a:solidFill>
                      <a:srgbClr val="142A47"/>
                    </a:solidFill>
                  </a:tcPr>
                </a:tc>
              </a:tr>
              <a:tr h="950976">
                <a:tc>
                  <a:txBody>
                    <a:bodyPr wrap="square"/>
                    <a:lstStyle/>
                    <a:p>
                      <a:pPr algn="ctr"/>
                      <a:r>
                        <a:rPr sz="1250" b="0" i="0">
                          <a:solidFill>
                            <a:srgbClr val="202020"/>
                          </a:solidFill>
                          <a:latin typeface="微软雅黑"/>
                          <a:ea typeface="微软雅黑"/>
                          <a:cs typeface="微软雅黑"/>
                        </a:rPr>
                        <a:t>自然人</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姓名、性别、出生年月日、民族、户籍地、职业或工作单位和职务、住址（住所地与经常居住地不一致的写经常居住地）</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法人</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第一项写法人名称和所在地址，第二项写法定代表人姓名和职务</a:t>
                      </a:r>
                    </a:p>
                  </a:txBody>
                  <a:tcPr anchor="ctr">
                    <a:solidFill>
                      <a:srgbClr val="EEF1F6"/>
                    </a:solidFill>
                  </a:tcPr>
                </a:tc>
              </a:tr>
              <a:tr h="950976">
                <a:tc>
                  <a:txBody>
                    <a:bodyPr wrap="square"/>
                    <a:lstStyle/>
                    <a:p>
                      <a:pPr algn="ctr"/>
                      <a:r>
                        <a:rPr sz="1250" b="0" i="0">
                          <a:solidFill>
                            <a:srgbClr val="202020"/>
                          </a:solidFill>
                          <a:latin typeface="微软雅黑"/>
                          <a:ea typeface="微软雅黑"/>
                          <a:cs typeface="微软雅黑"/>
                        </a:rPr>
                        <a:t>不具备法人条件的组织 / 个人合伙</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写明名称或字号和所在地址，另起一行写代表人姓名、性别、职务</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个体工商户</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写明业主姓名、性别、出生年月日、民族、户籍地、住址；有字号的注明“系……业主”</a:t>
                      </a:r>
                    </a:p>
                  </a:txBody>
                  <a:tcPr anchor="ctr">
                    <a:solidFill>
                      <a:srgbClr val="EEF1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四、诉讼代理人的称谓规则</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诉讼代理人分为法定代理人和委托代理人两种</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法定代理人：姓名后用括号注明与当事人的关系</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近亲属作委托代理人的：姓名后括号注明与当事人的关系</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律师作诉讼代理人：只需写明姓名和所在律师事务所名称</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诉讼代理人的身份事项应写在被代理的当事人的下一行，不要与当事人分开集中书写</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不能笼统称为“代理人”，要具体写明是法定代理人还是委托代理人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五、案由、审判组织、开庭审理过程的写法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标准表述：“原告××诉被告××××（案由）一案，本院受理后，依法组成合议庭（或依法由审判员××独任审判）公开（或不公开）开庭进行了审理。”</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被告提出反诉的：可在本诉称谓后用括号注明反诉称谓，如“原告（反诉被告）”“被告（反诉原告）”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叙</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事实部分：“两段法”的书写方法</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当事人争议的事实</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判决认定的事实</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反诉与反驳的区分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六、事实部分的两方面内容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（1）原告的具体诉讼请求、双方争议的事实和各自的理由</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原告的请求、被告的答辩、第三人的意见，都应客观、如实写进判决书，不论是否合理合法</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（2）判决认定的事实</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包括当事人之间的法律关系、纠纷发生的时间地点原因经过情节、争议焦点、认定事实的证据，共八个要素</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八个要素并非每案必备，视案件具体情况有几个写几个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七、“事实叙述两段法”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第一段：争议的事实</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简要叙述原告的诉讼请求及所根据的事实</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叙述被告答辩的意见</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突出双方争议的焦点</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第二段：认定的事实</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根据法庭查明的事实，客观叙述纠纷的来龙去脉</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不能只写认定事实、不写争议事实</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体现当事人诉讼地位平等原则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八、反诉与反驳的区分</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反诉：被告反诉的，应将反诉事实写在判决书上，并明确标明“反诉”二字</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反驳：被告为维护合法权益提出理由反对原告请求，以否认或减轻自己的民事责任</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举例：辩称已退还原告15000元——属于反驳；要求原告每月付3000元住房费——属于反诉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肆</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理由部分：说理要求与法律适用</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以事实为根据、以法律为准绳</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阐述理由要有针对性</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法律适用的三项注意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九、判决理由的书写要点</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坚持“以事实为根据、以法律为准绳”：摆事实、讲道理、以理服人，切忌简单生硬、乱扣帽子</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阐述理由要有针对性：切忌“无的放矢”、讲空洞道理</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说理逻辑要严密：论据与论点之间要有内在联系</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分析事实要恰如其分：不夸大、不缩小，用词恰当、表达准确、语气平和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十、适用法律的三项注意</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16</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983126"/>
                <a:gridCol w="7081113"/>
              </a:tblGrid>
              <a:tr h="1188720">
                <a:tc>
                  <a:txBody>
                    <a:bodyPr wrap="square"/>
                    <a:lstStyle/>
                    <a:p>
                      <a:pPr algn="ctr"/>
                      <a:r>
                        <a:rPr sz="1400" b="1" i="0">
                          <a:solidFill>
                            <a:srgbClr val="FFFFFF"/>
                          </a:solidFill>
                          <a:latin typeface="微软雅黑"/>
                          <a:ea typeface="微软雅黑"/>
                          <a:cs typeface="微软雅黑"/>
                        </a:rPr>
                        <a:t>注意事项</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具体要求</a:t>
                      </a:r>
                    </a:p>
                  </a:txBody>
                  <a:tcPr anchor="ctr">
                    <a:solidFill>
                      <a:srgbClr val="142A47"/>
                    </a:solidFill>
                  </a:tcPr>
                </a:tc>
              </a:tr>
              <a:tr h="1188720">
                <a:tc>
                  <a:txBody>
                    <a:bodyPr wrap="square"/>
                    <a:lstStyle/>
                    <a:p>
                      <a:pPr algn="ctr"/>
                      <a:r>
                        <a:rPr sz="1250" b="0" i="0">
                          <a:solidFill>
                            <a:srgbClr val="202020"/>
                          </a:solidFill>
                          <a:latin typeface="微软雅黑"/>
                          <a:ea typeface="微软雅黑"/>
                          <a:cs typeface="微软雅黑"/>
                        </a:rPr>
                        <a:t>正确理解条文</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防止错引和漏引</a:t>
                      </a:r>
                    </a:p>
                  </a:txBody>
                  <a:tcPr anchor="ctr">
                    <a:solidFill>
                      <a:srgbClr val="FFFFFF"/>
                    </a:solidFill>
                  </a:tcPr>
                </a:tc>
              </a:tr>
              <a:tr h="1188720">
                <a:tc>
                  <a:txBody>
                    <a:bodyPr wrap="square"/>
                    <a:lstStyle/>
                    <a:p>
                      <a:pPr algn="ctr"/>
                      <a:r>
                        <a:rPr sz="1250" b="0" i="0">
                          <a:solidFill>
                            <a:srgbClr val="202020"/>
                          </a:solidFill>
                          <a:latin typeface="微软雅黑"/>
                          <a:ea typeface="微软雅黑"/>
                          <a:cs typeface="微软雅黑"/>
                        </a:rPr>
                        <a:t>按条款项目顺序引用</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条下为款，款下为项，项下为目；没有分款直接分项的，只写“第×条第×项”</a:t>
                      </a:r>
                    </a:p>
                  </a:txBody>
                  <a:tcPr anchor="ctr">
                    <a:solidFill>
                      <a:srgbClr val="EEF1F6"/>
                    </a:solidFill>
                  </a:tcPr>
                </a:tc>
              </a:tr>
              <a:tr h="1188720">
                <a:tc>
                  <a:txBody>
                    <a:bodyPr wrap="square"/>
                    <a:lstStyle/>
                    <a:p>
                      <a:pPr algn="ctr"/>
                      <a:r>
                        <a:rPr sz="1250" b="0" i="0">
                          <a:solidFill>
                            <a:srgbClr val="202020"/>
                          </a:solidFill>
                          <a:latin typeface="微软雅黑"/>
                          <a:ea typeface="微软雅黑"/>
                          <a:cs typeface="微软雅黑"/>
                        </a:rPr>
                        <a:t>具体引用至款项</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分条款项或分条项的，应具体写明第几条第几款第几项，不要笼统写第几条</a:t>
                      </a:r>
                    </a:p>
                  </a:txBody>
                  <a:tcPr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伍</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判决主文：明确、具体、完整</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明确</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具体</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完整</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十一、判决主文的三项要求</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明确：清楚指出解决纠纷的结论，不能含混不清、似是而非</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示例：“准予××与××离婚”“驳回××的离婚诉讼请求”</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具体：决定的事项必须具体、有实在意义，没有实在意义的词句不要写上</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完整：给付之诉要写明谁给付谁、给付标的物、数额、时间和方法</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一审判决给付或履行的时间不写具体年月日，只写“自本判决生效后××日内”</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十二、诉讼费用负担的写法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另起一行写明诉讼费用由谁负担</a:t>
            </a:r>
          </a:p>
          <a:p>
            <a:pPr lvl="1">
              <a:lnSpc>
                <a:spcPct val="122000"/>
              </a:lnSpc>
              <a:spcAft>
                <a:spcPts val="300"/>
              </a:spcAft>
            </a:pPr>
            <a:r>
              <a:rPr sz="1800" b="1" i="0">
                <a:solidFill>
                  <a:srgbClr val="B6862C"/>
                </a:solidFill>
                <a:latin typeface="微软雅黑"/>
                <a:ea typeface="微软雅黑"/>
                <a:cs typeface="微软雅黑"/>
              </a:rPr>
              <a:t>    ● </a:t>
            </a:r>
            <a:r>
              <a:rPr sz="1800" b="0" i="0">
                <a:solidFill>
                  <a:srgbClr val="202020"/>
                </a:solidFill>
                <a:latin typeface="微软雅黑"/>
                <a:ea typeface="微软雅黑"/>
                <a:cs typeface="微软雅黑"/>
              </a:rPr>
              <a:t>示例：“诉讼费用××元，由被告××负担。自本判决生效后××日内交纳。”</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部分胜诉部分败诉的，按比例分担，分别写明各自负担的具体数额</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诉讼费用负担的决定不是判决主文的内容，不能作为主文的一项写入主文里面</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陆</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尾部与落款：与刑事判决书的差异</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上诉期限15日/30日</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署名规则</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核对戳</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十三、尾部与落款的写法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尾部</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包括诉讼费用负担和告知事项</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与一审刑事判决书基本相同</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区别：民事判决书上诉期限为15日，住在国外的当事人为30日</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落款</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署名：审判长不论审判职务均署“审判长”，独任审理署“审判员”或“代理审判员”</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日期：作出裁判的日期，即签发日期；当庭宣判的写宣判日期</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核对戳：加盖“本件与原本核对无异”字样的印戳</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十四、制作中应当避免的常见问题</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983126"/>
                <a:gridCol w="7081113"/>
              </a:tblGrid>
              <a:tr h="950976">
                <a:tc>
                  <a:txBody>
                    <a:bodyPr wrap="square"/>
                    <a:lstStyle/>
                    <a:p>
                      <a:pPr algn="ctr"/>
                      <a:r>
                        <a:rPr sz="1400" b="1" i="0">
                          <a:solidFill>
                            <a:srgbClr val="FFFFFF"/>
                          </a:solidFill>
                          <a:latin typeface="微软雅黑"/>
                          <a:ea typeface="微软雅黑"/>
                          <a:cs typeface="微软雅黑"/>
                        </a:rPr>
                        <a:t>问题类型</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具体表现</a:t>
                      </a:r>
                    </a:p>
                  </a:txBody>
                  <a:tcPr anchor="ctr">
                    <a:solidFill>
                      <a:srgbClr val="142A47"/>
                    </a:solidFill>
                  </a:tcPr>
                </a:tc>
              </a:tr>
              <a:tr h="950976">
                <a:tc>
                  <a:txBody>
                    <a:bodyPr wrap="square"/>
                    <a:lstStyle/>
                    <a:p>
                      <a:pPr algn="ctr"/>
                      <a:r>
                        <a:rPr sz="1250" b="0" i="0">
                          <a:solidFill>
                            <a:srgbClr val="202020"/>
                          </a:solidFill>
                          <a:latin typeface="微软雅黑"/>
                          <a:ea typeface="微软雅黑"/>
                          <a:cs typeface="微软雅黑"/>
                        </a:rPr>
                        <a:t>漏列、错列当事人</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未成年人未列为当事人；把死者列为当事人；遗漏共同诉讼人</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第三人错列</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把共同原告、共同被告或证人错列为第三人</a:t>
                      </a:r>
                    </a:p>
                  </a:txBody>
                  <a:tcPr anchor="ctr">
                    <a:solidFill>
                      <a:srgbClr val="EEF1F6"/>
                    </a:solidFill>
                  </a:tcPr>
                </a:tc>
              </a:tr>
              <a:tr h="950976">
                <a:tc>
                  <a:txBody>
                    <a:bodyPr wrap="square"/>
                    <a:lstStyle/>
                    <a:p>
                      <a:pPr algn="ctr"/>
                      <a:r>
                        <a:rPr sz="1250" b="0" i="0">
                          <a:solidFill>
                            <a:srgbClr val="202020"/>
                          </a:solidFill>
                          <a:latin typeface="微软雅黑"/>
                          <a:ea typeface="微软雅黑"/>
                          <a:cs typeface="微软雅黑"/>
                        </a:rPr>
                        <a:t>诉讼代理人称谓不准确</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统称“代理人”，不写明是法定代理人还是委托代理人</a:t>
                      </a:r>
                    </a:p>
                  </a:txBody>
                  <a:tcPr anchor="ctr">
                    <a:solidFill>
                      <a:srgbClr val="FFFFFF"/>
                    </a:solidFill>
                  </a:tcPr>
                </a:tc>
              </a:tr>
              <a:tr h="950976">
                <a:tc>
                  <a:txBody>
                    <a:bodyPr wrap="square"/>
                    <a:lstStyle/>
                    <a:p>
                      <a:pPr algn="ctr"/>
                      <a:r>
                        <a:rPr sz="1250" b="0" i="0">
                          <a:solidFill>
                            <a:srgbClr val="202020"/>
                          </a:solidFill>
                          <a:latin typeface="微软雅黑"/>
                          <a:ea typeface="微软雅黑"/>
                          <a:cs typeface="微软雅黑"/>
                        </a:rPr>
                        <a:t>反诉与反驳混同</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不标明反诉，把反诉内容当反驳处理</a:t>
                      </a:r>
                    </a:p>
                  </a:txBody>
                  <a:tcPr anchor="ctr">
                    <a:solidFill>
                      <a:srgbClr val="EEF1F6"/>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范文研读：第一审民事判决书首部至判决结果节录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23</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××人民法院 民事判决书 （××）××民初××号</a:t>
            </a:r>
          </a:p>
          <a:p>
            <a:pPr>
              <a:lnSpc>
                <a:spcPct val="130000"/>
              </a:lnSpc>
              <a:spcAft>
                <a:spcPts val="300"/>
              </a:spcAft>
            </a:pPr>
            <a:r>
              <a:rPr sz="1600" b="0" i="0">
                <a:solidFill>
                  <a:srgbClr val="202020"/>
                </a:solidFill>
                <a:latin typeface="楷体"/>
                <a:ea typeface="楷体"/>
                <a:cs typeface="楷体"/>
              </a:rPr>
              <a:t>原告：……（写明姓名或名称等基本情况）被告：……（写明姓名或名称等基本情况）</a:t>
            </a:r>
          </a:p>
          <a:p>
            <a:pPr>
              <a:lnSpc>
                <a:spcPct val="130000"/>
              </a:lnSpc>
              <a:spcAft>
                <a:spcPts val="300"/>
              </a:spcAft>
            </a:pPr>
            <a:r>
              <a:rPr sz="1600" b="0" i="0">
                <a:solidFill>
                  <a:srgbClr val="202020"/>
                </a:solidFill>
                <a:latin typeface="楷体"/>
                <a:ea typeface="楷体"/>
                <a:cs typeface="楷体"/>
              </a:rPr>
              <a:t>原告××诉称：……（概述原告提出的具体诉讼请求和所根据的事实与理由）被告××辩称：……（概述被告答辩的主要内容）</a:t>
            </a:r>
          </a:p>
          <a:p>
            <a:pPr>
              <a:lnSpc>
                <a:spcPct val="130000"/>
              </a:lnSpc>
              <a:spcAft>
                <a:spcPts val="300"/>
              </a:spcAft>
            </a:pPr>
            <a:r>
              <a:rPr sz="1600" b="0" i="0">
                <a:solidFill>
                  <a:srgbClr val="202020"/>
                </a:solidFill>
                <a:latin typeface="楷体"/>
                <a:ea typeface="楷体"/>
                <a:cs typeface="楷体"/>
              </a:rPr>
              <a:t>经审理查明：……（写明法院认定的事实和证据）</a:t>
            </a:r>
          </a:p>
          <a:p>
            <a:pPr>
              <a:lnSpc>
                <a:spcPct val="130000"/>
              </a:lnSpc>
              <a:spcAft>
                <a:spcPts val="300"/>
              </a:spcAft>
            </a:pPr>
            <a:r>
              <a:rPr sz="1600" b="0" i="0">
                <a:solidFill>
                  <a:srgbClr val="202020"/>
                </a:solidFill>
                <a:latin typeface="楷体"/>
                <a:ea typeface="楷体"/>
                <a:cs typeface="楷体"/>
              </a:rPr>
              <a:t>本院认为：……（写明判决的理由）依照……（写明判决所依据的法律条款项）的规定，判决如下：……</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陈卫东、刘计划《法律文书写作（第五版）》第四章第三节</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课堂讨论：为什么民事判决书要写“两段法”？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讨论题：刑事判决书的事实部分是法院“查明”的事实为主，民事判决书为什么要先写当事人争议的事实，再写法院认定的事实？</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提示：结合民事诉讼当事人诉讼地位平等原则、不告不理原则思考</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课堂讨论</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第十四讲　第一审人民法院民事判决书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本讲小结 · 思考 · 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概念与依据：第一审民事判决书的概念、《民事诉讼法》第152条四项内容</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首部：当事人身份事项、诉讼代理人称谓的书写规则</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事实：“两段法”书写方法，反诉与反驳的区分</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理由：以事实为根据、以法律为准绳，法律适用三项注意</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判决主文：明确、具体、完整三项要求</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下一讲我们将进入第二审（或终审）民事判决书的学习</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作业：请结合今天学习的“两段法”，自行拟写一份简化版第一审民事判决书事实部分（可用虚构教学示例案情，注明“教学示例（虚拟案例）”），区分写出当事人争议的事实和判决认定的事实。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