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731520"/>
            <a:ext cx="128016" cy="128016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77724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000" b="0" i="0">
                <a:solidFill>
                  <a:srgbClr val="BFCCDD"/>
                </a:solidFill>
                <a:latin typeface="微软雅黑"/>
                <a:ea typeface="微软雅黑"/>
                <a:cs typeface="微软雅黑"/>
              </a:rPr>
              <a:t>《法律文书写作》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2588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2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第二十四讲 · 律师文书（六）· 课程总结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68880"/>
            <a:ext cx="1024128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答辩状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10058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900" b="0" i="0">
                <a:solidFill>
                  <a:srgbClr val="D7DEE8"/>
                </a:solidFill>
                <a:latin typeface="微软雅黑"/>
                <a:ea typeface="微软雅黑"/>
                <a:cs typeface="微软雅黑"/>
              </a:rPr>
              <a:t>与诉状、上诉状相对应的另一类重要诉讼文书——本课程最后一讲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5440680"/>
            <a:ext cx="5486400" cy="17780"/>
          </a:xfrm>
          <a:prstGeom prst="rect">
            <a:avLst/>
          </a:prstGeom>
          <a:solidFill>
            <a:srgbClr val="44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62356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600" b="0" i="0">
                <a:solidFill>
                  <a:srgbClr val="C8D2E0"/>
                </a:solidFill>
                <a:latin typeface="微软雅黑"/>
                <a:ea typeface="微软雅黑"/>
                <a:cs typeface="微软雅黑"/>
              </a:rPr>
              <a:t>主讲教师：＿＿＿＿＿　法学院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603504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300" b="0" i="0">
                <a:solidFill>
                  <a:srgbClr val="8F9DB2"/>
                </a:solidFill>
                <a:latin typeface="微软雅黑"/>
                <a:ea typeface="微软雅黑"/>
                <a:cs typeface="微软雅黑"/>
              </a:rPr>
              <a:t>配套教材：第七章第十节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第二十四讲　答辩状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导入：从“起诉的一方”到“应诉的一方”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本课程前面学习的起诉状、上诉状、申诉状，写作者都站在“提起诉讼请求一方”的立场上，主动启动或推进诉讼程序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今天学习的答辩状，写作者站在“被诉的一方”立场上，是被告人、被上诉人针对原告人、上诉人的诉状、上诉状内容提出答复和辩护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这是本课程最后一讲，学完答辩状，大家就完整掌握了从起诉、上诉、申诉到答辩的诉讼文书全链条，请大家结合前面23讲的内容，体会答辩状在整个诉讼文书体系中的位置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第二十四讲　答辩状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一、答辩状的概念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答辩状：在诉讼活动中，被告人、被上诉人等针对原告人、上诉人的诉状、上诉状的内容，提出的答复和辩护的书状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答辩状分民事答辩状、行政答辩状，它是与诉状、上诉状相对应的一种诉讼文书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意义：被告人、被上诉人通过答辩状反驳原告人、上诉人的诉讼请求，阐述自己的正当要求，不仅有利于保护被告人、被上诉人的合法权利，而且有利于人民法院全面、客观地查清案件事实，正确地适用法律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第二十四讲　答辩状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二、答辩状的内容和写法（一）：首部与答辩理由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440680" cy="457200"/>
          </a:xfrm>
          <a:prstGeom prst="rect">
            <a:avLst/>
          </a:prstGeom>
          <a:solidFill>
            <a:srgbClr val="205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5166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首部三项内容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5440680" cy="443484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38528"/>
            <a:ext cx="507492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标题：应写“答辩状”字样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答辩人身份概况：项目与上诉状相同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案由：写明为何人提出的何案提出答辩，行文如“现因XX为XX（案由）一案，答辩如下……”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371600"/>
            <a:ext cx="5440680" cy="4572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417320"/>
            <a:ext cx="5166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答辩理由和答辩意见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1828800"/>
            <a:ext cx="5440680" cy="443484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938528"/>
            <a:ext cx="507492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答辩理由：应当明确地回答诉状中提出的问题，阐明自己对案件的具体主张和理由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答辩意见其一：依据法律和事实，说明答辩理由的正确性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答辩意见其二：揭示对方诉状中的矛盾，请求人民法院依法准确裁判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第二十四讲　答辩状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三、答辩状写作的两点注意事项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第一，答辩应当具有针对性，有的放矢，不要把与本案无关的事实牵连进来，更不可答非所问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第二，答辩应当合情、合理、合法，不能强词夺理、无理诡辩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结尾：写明答辩状应送交的人民法院、答辩人姓名，并注明答辩年月日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第二十四讲　答辩状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四、答辩状的三种格式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6423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1563"/>
                <a:gridCol w="4646980"/>
                <a:gridCol w="4425696"/>
              </a:tblGrid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格式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适用对象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首部特别事项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格式一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自然人对民事起诉提出答辩用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答辩人身份概况同民事起诉状被告项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格式二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法人或非法人组织对民事起诉提出答辩用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答辩人名称、所在地址、法定代表人姓名职务、电话、企业性质、工商登记核准号、经营范围和方式、开户银行账号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格式三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被诉行政机关提出答辩用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答辩人名称、所在地址、代表人姓名职务、电话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答辩状真实范文（一）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XX机械厂合同纠纷案民事答辩状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案情：联合加工英国报废货轮合同纠纷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写作技巧：摆事实、讲道理、提出证据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第二十四讲　答辩状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五、民事答辩状真实范文：XX机械厂合同纠纷案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286000" cy="42062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08176"/>
            <a:ext cx="21031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教材实例（陈卫东、刘计划《法律文书写作（第五版）》）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1064240" cy="4343400"/>
          </a:xfrm>
          <a:prstGeom prst="rect">
            <a:avLst/>
          </a:prstGeom>
          <a:solidFill>
            <a:srgbClr val="F7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91440" cy="43434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93392"/>
            <a:ext cx="10607040" cy="4069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答辩人：XX市XX机械厂，法定代表人宋XX，委托代理人周XX、陈XX（XX律师事务所律师）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案由：为XX市XX公司诉我厂联合加工英国报废货轮合同纠纷一案，提出答辩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答辩要点一：合同系双方自愿签订，更改船名、推迟提船日期系双方协商一致的口头协议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答辩要点二：原告在履行过程中背信弃义，多次提出倒卖船只，其行为不仅违约而且违法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答辩要点三：经调查，原告系街道办事处聘请农民进城办的集体企业，根本没有资格经营拆船业务，企图利用经济合同买空卖空、牟取暴利，对此负有不可推卸的责任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答辩意见：双方签订合同无效，请法院确认，依据《中华人民共和国民法典》第577条要求原告赔偿经济损失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199632"/>
            <a:ext cx="10607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教材实例：XX机械厂合同纠纷案民事答辩状（陈卫东、刘计划《法律文书写作（第五版）》）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第二十四讲　答辩状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六、范文（一）简要评析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本答辩状针对起诉状歪曲的事实，予以澄清。摆事实，讲道理，提出证据；文字简洁；格式符合要求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写作技巧：答辩人没有停留在“原告说的不是事实”这种空泛反驳，而是完整还原合同订立、变更、履行的全过程，并指出原告隐瞒法定经营范围这一关键事实，从根本上动摇了原告诉讼请求的正当性基础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答辩状真实范文（二）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XX县城乡建设委员会土地管理行政处罚案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案情：违章占地建房行政处罚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写作技巧：摆出事实，举出法律根据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第二十四讲　答辩状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七、行政答辩状真实范文：XX县城乡建设委员会土地管理行政处罚案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286000" cy="42062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08176"/>
            <a:ext cx="21031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教材实例（陈卫东、刘计划《法律文书写作（第五版）》）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1064240" cy="4343400"/>
          </a:xfrm>
          <a:prstGeom prst="rect">
            <a:avLst/>
          </a:prstGeom>
          <a:solidFill>
            <a:srgbClr val="F7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91440" cy="43434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93392"/>
            <a:ext cx="10607040" cy="4069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答辩人：XX省XX县城乡建设委员会，法定代表人冉XX，县城乡建设委员会主任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案由：为郑XX不服土地管理行政处罚提起行政诉讼，提出答辩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事实：郑XX未经土地管理部门审核批准、未领取建房许可证，擅自在承包耕地上兴建住房，违反《XX省土地管理实施办法》第21条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处理经过：乡政府多次劝阻施工并发出违章建筑通知书，郑XX不予理睬，经调查核实，依据《土地管理法》第62条第3款、第77条作出拆除处罚决定〔以上条文为教材范文原文表述，具体条文请大家以现行《土地管理法》为准核实，标注待核实〕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答辩意见：郑XX以“建房是经群众讨论通过的”为由不服处罚，这个所谓“理由”站不住脚，请依法裁判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199632"/>
            <a:ext cx="10607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教材实例：XX县城乡建设委员会土地管理行政处罚案行政答辩状（陈卫东、刘计划《法律文书写作（第五版）》）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第二十四讲　答辩状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八、范文（二）简要评析与课堂讨论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本答辩状摆出事实，举出行政处罚决定的法律根据，附录有关行政法规，格式也符合要求，是一份写得较好的答辩状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讨论：两份范文的答辩思路有何共通之处？均是先完整陈述己方掌握的事实经过，再点出对方诉状中的事实漏洞或法律依据不足之处，最后明确提出己方答辩意见——这正是“摆事实讲道理”在答辩状写作中的具体运用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请大家思考：行政答辩状中，行政机关作为答辩人，举证责任分配规则与民事答辩状有何不同？提示：行政诉讼中被告对其作出的行政行为负有举证责任，这要求行政答辩状的事实陈述部分必须更加扎实、更加注重程序合法性的说明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第二十四讲　答辩状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九、答辩状与本课程已学文书的体系关联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起诉状/上诉状/申诉状提出请求，答辩状回应请求，二者共同构成完整的诉讼文书对话结构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答辩状理由部分的写法（摆事实讲道理、依据法律和事实说明正确性、揭示对方矛盾），与上诉状理由部分的两种驳论写法一脉相承，都是诉讼文书说理论证的共同方法论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答辩状的格式分类（自然人/法人非法人组织/行政机关）呼应了我们在民事起诉状、行政起诉状中学过的当事人主体分类规则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第二十四讲　答辩状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全课程总结与结课寄语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4297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本课程24讲，从刑事自诉状、民事起诉状、附带民事起诉状、行政起诉状，到刑事/民事/行政上诉状，到申诉状，再到今天的答辩状，完整覆盖了诉讼文书从启动一审、启动二审、审判监督到应诉答辩的全部环节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各类文书写法虽有差异，但贯穿全课程的共同方法论是一致的：首部身份事项准确具体、事实陈述客观真实、理由部分摆事实讲道理或先摆论点逐一反驳、请求具体明确、结尾格式规范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贯穿全课程的写作纪律：严禁编造法条、案例、数据；引用须标注核实状态；教学示例须注明“教学示例（虚拟案例）”；法律条文修正频繁的领域须标注修正年份或〔待核实〕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733288"/>
            <a:ext cx="105156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思考  </a:t>
            </a: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本课程至此全部讲授完毕。希望大家在今后的学习和实务工作中，把这24讲学到的诉讼文书写作方法内化为扎实的职业能力，祝大家学有所成。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