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731520"/>
            <a:ext cx="128016" cy="128016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77724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000" b="0" i="0">
                <a:solidFill>
                  <a:srgbClr val="BFCCDD"/>
                </a:solidFill>
                <a:latin typeface="微软雅黑"/>
                <a:ea typeface="微软雅黑"/>
                <a:cs typeface="微软雅黑"/>
              </a:rPr>
              <a:t>《法律文书写作》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325880"/>
            <a:ext cx="100584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22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第四讲 · 公安文书（二）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68880"/>
            <a:ext cx="1024128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提请批准逮捕书</a:t>
            </a:r>
          </a:p>
          <a:p>
            <a:pPr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——与起诉意见书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97680"/>
            <a:ext cx="1005840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900" b="0" i="0">
                <a:solidFill>
                  <a:srgbClr val="D7DEE8"/>
                </a:solidFill>
                <a:latin typeface="微软雅黑"/>
                <a:ea typeface="微软雅黑"/>
                <a:cs typeface="微软雅黑"/>
              </a:rPr>
              <a:t>从“限制人身自由”到“移送审查起诉”的两道关口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5440680"/>
            <a:ext cx="5486400" cy="17780"/>
          </a:xfrm>
          <a:prstGeom prst="rect">
            <a:avLst/>
          </a:prstGeom>
          <a:solidFill>
            <a:srgbClr val="44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600" b="0" i="0">
                <a:solidFill>
                  <a:srgbClr val="C8D2E0"/>
                </a:solidFill>
                <a:latin typeface="微软雅黑"/>
                <a:ea typeface="微软雅黑"/>
                <a:cs typeface="微软雅黑"/>
              </a:rPr>
              <a:t>主讲教师：＿＿＿＿＿　法学院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6035040"/>
            <a:ext cx="100584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300" b="0" i="0">
                <a:solidFill>
                  <a:srgbClr val="8F9DB2"/>
                </a:solidFill>
                <a:latin typeface="微软雅黑"/>
                <a:ea typeface="微软雅黑"/>
                <a:cs typeface="微软雅黑"/>
              </a:rPr>
              <a:t>配套教材：第二章第四、五节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导入：上一讲到这一讲，案子走到哪一步了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上一讲：受案登记表 → 立案报告 → 破案报告，案件事实已经查清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这一讲处理两个新问题——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嫌疑人要不要继续羁押？谁来决定？怎么写申请？→ 提请批准逮捕书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侦查终结后，要不要把人移交检察院起诉？怎么写移交报告？→ 起诉意见书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一条时间轴：立案→侦查→（必要时）提请批准逮捕→侦查终结→起诉意见书→移送检察院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这两份文书，一份管“人身自由”，一份管“案件流向”，都是公安机关向检察院打的报告，但功能完全不同。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第一节　提请批准逮捕书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概念与两个特征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九部分结构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逮捕三要件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使用规定与范例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一、概念与两个特征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概念：公安机关需要依法对犯罪嫌疑人采取强制性限制羁押时，向同级检察院提出请求批准逮捕的书面文件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特征一：必须由公安机关制作，公安机关无权自行决定逮捕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公安机关要求逮捕，必须制作此文书送检察院批准——这是“侦诉分离、互相制约”的制度设计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特征二：犯罪事实必须有证据证明，且必须是采用取保候审、监视居住等方法尚不足以防止社会危险性的情形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换言之：逮捕不是“想关就关”，要满足实体条件，下面专门讲三要件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提请批准逮捕书是请求性文书，决定权在检察院，这一点贯穿全篇。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二、逮捕三要件——比教材更系统的提炼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教材原文分散在结论部分的写法里，我们把它系统化为三要件，便于记忆与适用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要件一　证据要件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有证据证明有犯罪事实——不要求达到“确实充分”的起诉标准，但要求有证据指向犯罪事实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要件二　刑罚要件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可能判处徒刑以上刑罚——这是逮捕区别于其他强制措施的门槛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要件三　必要性要件（社会危险性）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采取取保候审、监视居住尚不足以防止社会危险性，依〔刑事诉讼法2018年修正〕第81条第1款列明的五类情形之一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三要件缺一不可，提请批准逮捕书的“综上所述”段，就是依次落实这三要件的论证段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辨析：拘留 ≠ 逮捕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刑事诉讼法上五种强制措施：拘传、取保候审、监视居住、拘留、逮捕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拘留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情况紧急时公安机关可自行决定的临时性措施，期限较短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逮捕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须经检察院审查批准，是持续时间更长、更正式的羁押措施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常见流程：先刑事拘留 → 提请批准逮捕 → 检察院批准后转为逮捕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提请批准逮捕书九部分结构总览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067"/>
                <a:gridCol w="4766134"/>
                <a:gridCol w="3915038"/>
              </a:tblGrid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一、名称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XX公安局提请批准逮捕书＋发文字号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字号＝代字＋部门简称＋“提捕”＋年度＋顺序号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二、嫌疑人个人情况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姓名、性别、出生、身份证号等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多名嫌疑人逐一写明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三、辩护律师情况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姓名、所在律所、执业证号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无律师可不写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四、案由和案件来源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涉嫌罪名、来源途径、归案情况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三项交代清楚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五、犯罪事实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经侦查认定的事实＋逮捕理由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多次/数罪/共同犯罪分别处理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六、证据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认定事实的相关证据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说明证据与事实的关系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七、认罪认罚情况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自愿认罪认罚的简要说明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无则省略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八、结论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罪状＋法条＋三要件论证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全篇说理核心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九、尾部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检察院名称、公章、年月日、附项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卷数页数不可漏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教材实例（一）：王XX提请批准逮捕书 · 首部+事实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节选自《法律文书写作（第五版）》第二章第四节范例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XX市公安局提请批准逮捕书　XX公提捕字〔2020〕XX号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犯罪嫌疑人王XX，男，19XX年XX月XX日出生，江苏省XX区人，初中文化，现住XX路南街4号。2007年因偷窃被劳教2年。2020年11月19日因涉嫌盗窃罪、抢劫罪、放火罪被刑事拘留。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经依法侦查查明：犯罪嫌疑人王XX因赌博欠债，于2020年10月28日早晨携带钳子意欲盗窃，入户行窃两家后，在第三家行窃时被发现，遂持菜刀朝被害人李XX头部砍数刀，又持剪刀扎刺颈部，致被害人失血过多死亡；后为毁灭证据放火焚烧尸体。共抢劫现金5000元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（教学提示：本范例案号、人物姓名等均经教材脱敏处理，引用时请向学生说明这是教材公开范文，不是真实可查证的案号。）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陈卫东、刘计划《法律文书写作（第五版）》第二章第四节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教材实例（二）：王XX案 · 证据与结论段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教材实例（续） · 三要件如何落到结论段里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认定上述事实的证据：克丝钳子、菜刀、带血剪刀、油瓶、带指纹火柴盒、血手套、现场脚印、尸检鉴定书、调查报告、讯问记录等。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综上所述：王XX以非法占有为目的入户盗窃，数额巨大、情节严重（证据要件＋事实）；在居民楼内故意杀人后放火毁灭罪证，手段残忍、足以危及公共安全（情节严重，对应可能判处徒刑以上刑罚——刑罚要件）；其抗拒抓捕、毁灭证据、企图逃跑，有现实社会危险性（必要性要件）。依〔刑事诉讼法2018年修正〕第81条、第87条之规定，符合逮捕条件，特提请批准逮捕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你们对照着读：这一段把“证据—刑罚—必要性”三要件依次落实，是结论段说理的标准范式。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陈卫东、刘计划《法律文书写作（第五版）》第二章第四节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749039" y="0"/>
            <a:ext cx="54864" cy="68580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9260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96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7498079" cy="12801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>
              <a:lnSpc>
                <a:spcPct val="110000"/>
              </a:lnSpc>
            </a:pPr>
            <a:r>
              <a:rPr sz="3400" b="1" i="0">
                <a:solidFill>
                  <a:srgbClr val="142A47"/>
                </a:solidFill>
                <a:latin typeface="微软雅黑"/>
                <a:ea typeface="微软雅黑"/>
                <a:cs typeface="微软雅黑"/>
              </a:rPr>
              <a:t>第二节　起诉意见书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4023360"/>
            <a:ext cx="7315200" cy="2011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概念与四个特征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五部分内容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与起诉书的衔接与区别</a:t>
            </a:r>
          </a:p>
          <a:p>
            <a:pPr>
              <a:lnSpc>
                <a:spcPct val="125000"/>
              </a:lnSpc>
              <a:spcAft>
                <a:spcPts val="400"/>
              </a:spcAft>
            </a:pPr>
            <a:r>
              <a:rPr sz="1500" b="0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▍ </a:t>
            </a:r>
            <a:r>
              <a:rPr sz="16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使用规定与范例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三、起诉意见书的概念与四个特征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概念：公安机关侦查终结认为应追究刑事责任、需要起诉时，制作移送检察院审查决定的文书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特征一：制作主体为侦查机关，以公安机关为主——体现“侦诉分离”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特征二：必须是已构成犯罪、应追究刑事责任、需要起诉的情形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特征三：必须事实清楚、证据确实充分的前提下制作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特征四：仅是“意见”，起诉与否由检察院决定——绝不能写“故提起公诉，请依法判刑”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特征四是教材特别强调的易错点：公安机关一旦在意见书里写“提起公诉”，等于越权行使了检察权，这是性质错误，不是文风问题。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起诉意见书五部分内容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417320"/>
          <a:ext cx="1106423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3067"/>
                <a:gridCol w="4936353"/>
                <a:gridCol w="3744819"/>
              </a:tblGrid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写什么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要害</a:t>
                      </a:r>
                    </a:p>
                  </a:txBody>
                  <a:tcPr anchor="ctr">
                    <a:solidFill>
                      <a:srgbClr val="142A47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（一）首部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标题字号、嫌疑人个人情况、辩护律师情况、案由来源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侦查终结时间务必写明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（二）犯罪事实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时间地点动机目的手段情节结果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围绕该罪构成要件叙写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（三）起诉理由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性质、危害程度、应负罪责、法律依据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为检察院审查起诉奠定基础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（四）尾部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移请审查、此致检察院、批准、年月日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另起一段，不可并入附项</a:t>
                      </a:r>
                    </a:p>
                  </a:txBody>
                  <a:tcPr anchor="ctr">
                    <a:solidFill>
                      <a:srgbClr val="EEF1F6"/>
                    </a:solidFill>
                  </a:tcPr>
                </a:tc>
              </a:tr>
              <a:tr h="792480">
                <a:tc>
                  <a:txBody>
                    <a:bodyPr wrap="square"/>
                    <a:lstStyle/>
                    <a:p>
                      <a:pPr algn="ctr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（五）附项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预审卷宗卷数页数、随案移交物品数量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02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细节不可忽略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起诉意见书 vs 提请批准逮捕书：别再混了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40680" cy="457200"/>
          </a:xfrm>
          <a:prstGeom prst="rect">
            <a:avLst/>
          </a:prstGeom>
          <a:solidFill>
            <a:srgbClr val="205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提请批准逮捕书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管的是：人身自由的限制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制作时点：侦查中，需要羁押时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审批方：检察院（批准逮捕）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核心论证：三要件（证据/刑罚/必要性）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371600"/>
            <a:ext cx="5440680" cy="4572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417320"/>
            <a:ext cx="516636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起诉意见书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1828800"/>
            <a:ext cx="5440680" cy="4434840"/>
          </a:xfrm>
          <a:prstGeom prst="rect">
            <a:avLst/>
          </a:prstGeom>
          <a:solidFill>
            <a:srgbClr val="EE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938528"/>
            <a:ext cx="5074920" cy="4206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管的是：案件是否移送审查起诉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制作时点：侦查终结后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审批方：检察院（决定起诉与否）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18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核心论证：罪状＋构成要件＋法条依据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四、起诉意见书与起诉书的衔接与区别——高频考点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衔接：起诉意见书是起诉书的“原材料”，起诉书在它基础上进一步审查、提炼、定稿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区别一　主体不同：起诉意见书由公安机关制作；起诉书由检察院制作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区别二　效力不同：意见书是“建议”，起诉书才是真正把人推上法庭的诉讼文书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区别三　审核标准不同：起诉书严于意见书——检察院要重新、独立地审查证据是否确实充分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区别四　叙事繁简不同：起诉书简于意见书——意见书可以相对完整地铺陈侦查过程，起诉书要求“明晰而简略”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区别五　排列要求不同：起诉书排列要有更严密的逻辑性和说明力，因为它要直接面对法庭质证和辩护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我们第6讲学过起诉书的“经依法审查查明”，这一段事实，骨架往往就来自起诉意见书的“经依法侦查查明”，但检察官要重新核实、提炼，不是照抄。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教材实例：崔XX等故意伤害、窝藏案起诉意见书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2286000" cy="42062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08176"/>
            <a:ext cx="210312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教材实例 · 共同犯罪中“分别处理”的写法示范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28800"/>
            <a:ext cx="11064240" cy="4343400"/>
          </a:xfrm>
          <a:prstGeom prst="rect">
            <a:avLst/>
          </a:prstGeom>
          <a:solidFill>
            <a:srgbClr val="F7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28800"/>
            <a:ext cx="91440" cy="4343400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993392"/>
            <a:ext cx="10607040" cy="4069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犯罪嫌疑人崔XX涉嫌故意伤害罪，张甲、兔XX、张乙、段XX涉嫌窝藏罪——共五人，但涉嫌两个不同罪名。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经依法侦查查明：崔XX在被城管查处后持刀将城管队员李XX颈部扎伤，致急性失血性休克死亡；张甲、兔XX、张乙、段XX明知崔XX负案，仍为其提供资金及藏匿地点，帮助其逃匿。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结论：崔XX的行为触犯〔刑法〕第二百三十四条，涉嫌故意伤害罪；张甲等四人的行为均触犯〔刑法〕第三百一十条，涉嫌窝藏罪。依〔刑事诉讼法2018年修正〕第162条之规定，移送审查起诉。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600" b="0" i="0">
                <a:solidFill>
                  <a:srgbClr val="202020"/>
                </a:solidFill>
                <a:latin typeface="楷体"/>
                <a:ea typeface="楷体"/>
                <a:cs typeface="楷体"/>
              </a:rPr>
              <a:t>你们看这份范例怎么处理“一案数罪、一案数人”：先写共同的事实经过，再把每个人对应的罪名分别列出，结论段也分别落实法条，不是笼统地写“以上五人均涉嫌犯罪”。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6199632"/>
            <a:ext cx="10607040" cy="2743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陈卫东、刘计划《法律文书写作（第五版）》第二章第五节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五、起诉意见书的使用规定与时限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移送：连同案卷材料、证据移送同级检察院，并告知嫌疑人及辩护律师案件移送情况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检察院审查期限：一般1个月以内决定；重大复杂案件可延长15日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认罪认罚、符合速裁程序：10日以内决定，可能判处有期徒刑超过1年的可延长至15日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退回补充侦查：事实不清、证据不足，或遗漏应追究的人和罪行，可退回公安机关补充侦查，也可自行侦查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补充侦查应在1个月内完毕，时间单独计算；补充侦查以二次为限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“补充侦查以二次为限”是一条硬性程序约束，超过两次检察院不能再退回，要自己决定如何处理，这一点常考。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辨析延伸：扬言报复对象不限于本人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追问：嫌疑人扬言报复的对象是举报人家属，还能否落入必要性要件？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法条字面：第81条写“被害人、举报人、控告人”本人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实质理解：对近亲属实施打击报复，本质上也是瓦解举报人安全感、施加心理强制的方式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结论：应结合立法目的理解，落入该条规定的实质涵盖范围，不能机械抠字面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课堂讨论：一道结论段写作题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4800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1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我给大家一个简化案情，大家口头练习一下提请批准逮捕书结论段的三要件论证——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案情：嫌疑人涉嫌盗窃数额较大的财物，已被取保候审，但取保期间又两次潜入同一小区作案，且扬言报复举报人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我问大家：这种情况，三要件分别怎么落实？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证据要件：有证据证明两次盗窃事实（现场监控、失主陈述、赃物起获）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刑罚要件：数额较大且多次盗窃，可能判处徒刑以上刑罚</a:t>
            </a:r>
          </a:p>
          <a:p>
            <a:pPr lvl="1">
              <a:lnSpc>
                <a:spcPct val="122000"/>
              </a:lnSpc>
              <a:spcAft>
                <a:spcPts val="300"/>
              </a:spcAft>
            </a:pP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    ● </a:t>
            </a:r>
            <a:r>
              <a:rPr sz="18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必要性要件：取保候审期间再犯，且有威胁报复举报人的言行，足以说明取保候审已不足以防止其社会危险性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64240" cy="749808"/>
          </a:xfrm>
          <a:prstGeom prst="rect">
            <a:avLst/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91440" cy="749808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1069848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4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提示  </a:t>
            </a:r>
            <a:r>
              <a:rPr sz="1400" b="0" i="0">
                <a:solidFill>
                  <a:srgbClr val="3E3E3E"/>
                </a:solidFill>
                <a:latin typeface="微软雅黑"/>
                <a:ea typeface="微软雅黑"/>
                <a:cs typeface="微软雅黑"/>
              </a:rPr>
              <a:t>这道题练的是：必要性要件不是抽象空谈“有社会危险性”，而是要从具体行为（再犯、威胁报复）里找到支撑。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六、两份文书共同的写作纪律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11064240" cy="5074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纪律一：意见性文书不能僭越决定权——意见书不能写“提起公诉”，逮捕书不能写“逮捕”，只能“提请”“移请”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纪律二：嫌疑人个人情况项目要齐，多名嫌疑人逐一写明，不能因为“情况类似”而合并简化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纪律三：犯罪事实叙写仍要遵循“七要素”，并围绕该罪构成要件叙写，不能堆砌与定罪无关的细节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纪律四：附项（卷宗页数、移交物品）属于细节性内容，但教材特别强调“不应忽略”——文书的完备性体现在这些不起眼的地方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68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6304"/>
            <a:ext cx="12191695" cy="969264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105156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0" i="0">
                <a:solidFill>
                  <a:srgbClr val="CFD8E6"/>
                </a:solidFill>
                <a:latin typeface="微软雅黑"/>
                <a:ea typeface="微软雅黑"/>
                <a:cs typeface="微软雅黑"/>
              </a:rPr>
              <a:t>第四讲　提请批准逮捕书·起诉意见书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11155680" cy="603504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本讲小结 · 思考 · 作业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19088"/>
            <a:ext cx="73152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/>
            <a:r>
              <a:rPr sz="11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9144000" cy="15240"/>
          </a:xfrm>
          <a:prstGeom prst="rect">
            <a:avLst/>
          </a:prstGeom>
          <a:solidFill>
            <a:srgbClr val="D8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7315200" cy="310896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r>
              <a:rPr sz="1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法律文书写作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42976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提请批准逮捕书：管人身自由，逮捕三要件——证据、刑罚、必要性，结论段依次论证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起诉意见书：管案件流向，五部分——首部、事实、理由、尾部、附项，核心戒律是“意见不是决定”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202020"/>
                </a:solidFill>
                <a:latin typeface="微软雅黑"/>
                <a:ea typeface="微软雅黑"/>
                <a:cs typeface="微软雅黑"/>
              </a:rPr>
              <a:t>两者都向检察院移送，但功能、时点、审批结果完全不同；起诉意见书与起诉书是原材料与成品的关系</a:t>
            </a:r>
          </a:p>
          <a:p>
            <a:pPr>
              <a:lnSpc>
                <a:spcPct val="122000"/>
              </a:lnSpc>
              <a:spcAft>
                <a:spcPts val="600"/>
              </a:spcAft>
            </a:pPr>
            <a:r>
              <a:rPr sz="2000" b="1" i="0">
                <a:solidFill>
                  <a:srgbClr val="20538C"/>
                </a:solidFill>
                <a:latin typeface="微软雅黑"/>
                <a:ea typeface="微软雅黑"/>
                <a:cs typeface="微软雅黑"/>
              </a:rPr>
              <a:t>■ </a:t>
            </a:r>
            <a:r>
              <a:rPr sz="2000" b="0" i="0">
                <a:solidFill>
                  <a:srgbClr val="868686"/>
                </a:solidFill>
                <a:latin typeface="微软雅黑"/>
                <a:ea typeface="微软雅黑"/>
                <a:cs typeface="微软雅黑"/>
              </a:rPr>
              <a:t>下一讲：侦查笔录——现场勘查、侦查实验、讯问询问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669280"/>
            <a:ext cx="11064240" cy="685800"/>
          </a:xfrm>
          <a:prstGeom prst="rect">
            <a:avLst/>
          </a:prstGeom>
          <a:solidFill>
            <a:srgbClr val="14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733288"/>
            <a:ext cx="1051560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r>
              <a:rPr sz="1500" b="1" i="0">
                <a:solidFill>
                  <a:srgbClr val="B6862C"/>
                </a:solidFill>
                <a:latin typeface="微软雅黑"/>
                <a:ea typeface="微软雅黑"/>
                <a:cs typeface="微软雅黑"/>
              </a:rPr>
              <a:t>思考  </a:t>
            </a:r>
            <a:r>
              <a:rPr sz="1500" b="0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作业：练习写一份简化的起诉意见书“犯罪事实”段（约300字），案情自拟，注意围绕构成要件叙写、不夹带定性判断。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