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31520"/>
            <a:ext cx="128016" cy="128016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77240"/>
            <a:ext cx="10058400" cy="548640"/>
          </a:xfrm>
          <a:prstGeom prst="rect">
            <a:avLst/>
          </a:prstGeom>
          <a:noFill/>
        </p:spPr>
        <p:txBody>
          <a:bodyPr wrap="square" anchor="t" lIns="50800" rIns="50800" tIns="25400" bIns="25400">
            <a:spAutoFit/>
          </a:bodyPr>
          <a:lstStyle/>
          <a:p>
            <a:r>
              <a:rPr sz="2000" b="0" i="0">
                <a:solidFill>
                  <a:srgbClr val="BFCCDD"/>
                </a:solidFill>
                <a:latin typeface="微软雅黑"/>
                <a:ea typeface="微软雅黑"/>
                <a:cs typeface="微软雅黑"/>
              </a:rPr>
              <a:t>《法律文书写作》</a:t>
            </a:r>
          </a:p>
        </p:txBody>
      </p:sp>
      <p:sp>
        <p:nvSpPr>
          <p:cNvPr id="6" name="TextBox 5"/>
          <p:cNvSpPr txBox="1"/>
          <p:nvPr/>
        </p:nvSpPr>
        <p:spPr>
          <a:xfrm>
            <a:off x="1097280" y="1325880"/>
            <a:ext cx="10058400" cy="548640"/>
          </a:xfrm>
          <a:prstGeom prst="rect">
            <a:avLst/>
          </a:prstGeom>
          <a:noFill/>
        </p:spPr>
        <p:txBody>
          <a:bodyPr wrap="square" anchor="t" lIns="50800" rIns="50800" tIns="25400" bIns="25400">
            <a:spAutoFit/>
          </a:bodyPr>
          <a:lstStyle/>
          <a:p>
            <a:r>
              <a:rPr sz="2200" b="1" i="0">
                <a:solidFill>
                  <a:srgbClr val="B6862C"/>
                </a:solidFill>
                <a:latin typeface="微软雅黑"/>
                <a:ea typeface="微软雅黑"/>
                <a:cs typeface="微软雅黑"/>
              </a:rPr>
              <a:t>第二十一讲 · 律师文书（三）</a:t>
            </a:r>
          </a:p>
        </p:txBody>
      </p:sp>
      <p:sp>
        <p:nvSpPr>
          <p:cNvPr id="7" name="TextBox 6"/>
          <p:cNvSpPr txBox="1"/>
          <p:nvPr/>
        </p:nvSpPr>
        <p:spPr>
          <a:xfrm>
            <a:off x="1051560" y="2468880"/>
            <a:ext cx="10241280" cy="1554480"/>
          </a:xfrm>
          <a:prstGeom prst="rect">
            <a:avLst/>
          </a:prstGeom>
          <a:noFill/>
        </p:spPr>
        <p:txBody>
          <a:bodyPr wrap="square" anchor="t" lIns="50800" rIns="50800" tIns="25400" bIns="25400">
            <a:spAutoFit/>
          </a:bodyPr>
          <a:lstStyle/>
          <a:p>
            <a:pPr>
              <a:lnSpc>
                <a:spcPct val="110000"/>
              </a:lnSpc>
            </a:pPr>
            <a:r>
              <a:rPr sz="4000" b="1" i="0">
                <a:solidFill>
                  <a:srgbClr val="FFFFFF"/>
                </a:solidFill>
                <a:latin typeface="微软雅黑"/>
                <a:ea typeface="微软雅黑"/>
                <a:cs typeface="微软雅黑"/>
              </a:rPr>
              <a:t>附带民事起诉状</a:t>
            </a:r>
          </a:p>
          <a:p>
            <a:pPr>
              <a:lnSpc>
                <a:spcPct val="110000"/>
              </a:lnSpc>
            </a:pPr>
            <a:r>
              <a:rPr sz="4000" b="1" i="0">
                <a:solidFill>
                  <a:srgbClr val="FFFFFF"/>
                </a:solidFill>
                <a:latin typeface="微软雅黑"/>
                <a:ea typeface="微软雅黑"/>
                <a:cs typeface="微软雅黑"/>
              </a:rPr>
              <a:t>与行政起诉状</a:t>
            </a:r>
          </a:p>
        </p:txBody>
      </p:sp>
      <p:sp>
        <p:nvSpPr>
          <p:cNvPr id="8" name="TextBox 7"/>
          <p:cNvSpPr txBox="1"/>
          <p:nvPr/>
        </p:nvSpPr>
        <p:spPr>
          <a:xfrm>
            <a:off x="1097280" y="4297680"/>
            <a:ext cx="10058400" cy="731520"/>
          </a:xfrm>
          <a:prstGeom prst="rect">
            <a:avLst/>
          </a:prstGeom>
          <a:noFill/>
        </p:spPr>
        <p:txBody>
          <a:bodyPr wrap="square" anchor="t" lIns="50800" rIns="50800" tIns="25400" bIns="25400">
            <a:spAutoFit/>
          </a:bodyPr>
          <a:lstStyle/>
          <a:p>
            <a:r>
              <a:rPr sz="1900" b="0" i="0">
                <a:solidFill>
                  <a:srgbClr val="D7DEE8"/>
                </a:solidFill>
                <a:latin typeface="微软雅黑"/>
                <a:ea typeface="微软雅黑"/>
                <a:cs typeface="微软雅黑"/>
              </a:rPr>
              <a:t>从“依附刑事诉讼的民事赔偿”到“民告官”的诉状写作</a:t>
            </a:r>
          </a:p>
        </p:txBody>
      </p:sp>
      <p:sp>
        <p:nvSpPr>
          <p:cNvPr id="9" name="Rectangle 8"/>
          <p:cNvSpPr/>
          <p:nvPr/>
        </p:nvSpPr>
        <p:spPr>
          <a:xfrm>
            <a:off x="1097280" y="5440680"/>
            <a:ext cx="5486400" cy="17780"/>
          </a:xfrm>
          <a:prstGeom prst="rect">
            <a:avLst/>
          </a:prstGeom>
          <a:solidFill>
            <a:srgbClr val="445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23560"/>
            <a:ext cx="10058400" cy="457200"/>
          </a:xfrm>
          <a:prstGeom prst="rect">
            <a:avLst/>
          </a:prstGeom>
          <a:noFill/>
        </p:spPr>
        <p:txBody>
          <a:bodyPr wrap="square" anchor="t" lIns="50800" rIns="50800" tIns="25400" bIns="25400">
            <a:spAutoFit/>
          </a:bodyPr>
          <a:lstStyle/>
          <a:p>
            <a:r>
              <a:rPr sz="1600" b="0" i="0">
                <a:solidFill>
                  <a:srgbClr val="C8D2E0"/>
                </a:solidFill>
                <a:latin typeface="微软雅黑"/>
                <a:ea typeface="微软雅黑"/>
                <a:cs typeface="微软雅黑"/>
              </a:rPr>
              <a:t>主讲教师：＿＿＿＿＿　法学院</a:t>
            </a:r>
          </a:p>
        </p:txBody>
      </p:sp>
      <p:sp>
        <p:nvSpPr>
          <p:cNvPr id="11" name="TextBox 10"/>
          <p:cNvSpPr txBox="1"/>
          <p:nvPr/>
        </p:nvSpPr>
        <p:spPr>
          <a:xfrm>
            <a:off x="1097280" y="6035040"/>
            <a:ext cx="10058400" cy="457200"/>
          </a:xfrm>
          <a:prstGeom prst="rect">
            <a:avLst/>
          </a:prstGeom>
          <a:noFill/>
        </p:spPr>
        <p:txBody>
          <a:bodyPr wrap="square" anchor="t" lIns="50800" rIns="50800" tIns="25400" bIns="25400">
            <a:spAutoFit/>
          </a:bodyPr>
          <a:lstStyle/>
          <a:p>
            <a:r>
              <a:rPr sz="1300" b="0" i="0">
                <a:solidFill>
                  <a:srgbClr val="8F9DB2"/>
                </a:solidFill>
                <a:latin typeface="微软雅黑"/>
                <a:ea typeface="微软雅黑"/>
                <a:cs typeface="微软雅黑"/>
              </a:rPr>
              <a:t>配套教材：第七章第四节、第五节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导入：从民事起诉状到附带民事起诉状、行政起诉状</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上一讲学习了民事起诉状：原告就民事权益争议独立向法院提起诉讼的文书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今天首先学习附带民事起诉状：依附于刑事诉讼程序的一种特殊民事诉讼文书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然后学习行政起诉状：公民、法人或其他组织对行政机关的行政行为不服，依法提起诉讼的文书，这是我们第一次接触“民告官”的诉讼文书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壹</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附带民事起诉状</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概念与依附性特征</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内容和写法（首部、正文、尾部）</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格式与真实范文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一、附带民事起诉状的概念</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附带民事诉讼：依附于刑事诉讼的特殊民事诉讼，因犯罪行为而遭受物质损失的被害人或其近亲属、被害单位、代表国家的人民检察院，在刑事诉讼进行过程中向法院提起，要求被告人赔偿物质损失的诉讼活动</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附带民事起诉状：附带民事诉讼原告人在刑事诉讼进程中，向人民法院提起诉讼，要求被告人赔偿因其行为而遭受的物质损失的诉讼文书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提起附带民事诉讼应当提交附带民事诉状，如书写确实有困难，可以口头提起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二、附带民事起诉状的内容和写法（一）：首部</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原告身份事项</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文书名称：上部正中写“附带民事起诉状”</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原告是自然人：依次写明姓名、性别、年龄、民族、户籍地（可省去）、职业、工作单位和住所、邮政编码</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原告是未成年人：另写法定代理人姓名、性别、同原告的关系</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原告是法人或非法人组织：写全称、住所、邮政编码、企业性质、工商登记核准号、经营范围和方式、开户银行和账号，另写法定代表人姓名、职务、电话</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被告身份事项</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附带民事诉讼被告人的身份事项，基本上同原告各项</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对被告人出生年月日确实不知的，可写其年龄</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如法定代表人委托代理人的，应另写明委托代理人及其身份事项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三、附带民事起诉状的内容和写法（二）：正文之诉讼请求与事实理由</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正文包括诉讼请求和事实与理由两项，写作要求与民事起诉状大致相同</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特殊要求：附带民事诉讼依附于刑事诉讼，要求赔偿的损失必须是被告人的行为直接造成的，理由部分应着重说清被告人的行为与被害人物质损失之间的直接因果关系</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损失分两类：积极损失，指已经造成的客观存在的物质损失；消极损失，指被害人将来必然遭受的物质损失，如终身治疗所需医疗费用</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重要限制：我国《刑事诉讼法》规定只能对物质损失提起附带民事诉讼，对于精神损失不能以附带民事诉讼方式提出赔偿要求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四、附带民事起诉状的格式与书写要点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3097987"/>
                <a:gridCol w="7966252"/>
              </a:tblGrid>
              <a:tr h="792480">
                <a:tc>
                  <a:txBody>
                    <a:bodyPr wrap="square"/>
                    <a:lstStyle/>
                    <a:p>
                      <a:pPr algn="ctr"/>
                      <a:r>
                        <a:rPr sz="1400" b="1" i="0">
                          <a:solidFill>
                            <a:srgbClr val="FFFFFF"/>
                          </a:solidFill>
                          <a:latin typeface="微软雅黑"/>
                          <a:ea typeface="微软雅黑"/>
                          <a:cs typeface="微软雅黑"/>
                        </a:rPr>
                        <a:t>项目</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要求</a:t>
                      </a:r>
                    </a:p>
                  </a:txBody>
                  <a:tcPr anchor="ctr">
                    <a:solidFill>
                      <a:srgbClr val="142A47"/>
                    </a:solidFill>
                  </a:tcPr>
                </a:tc>
              </a:tr>
              <a:tr h="792480">
                <a:tc>
                  <a:txBody>
                    <a:bodyPr wrap="square"/>
                    <a:lstStyle/>
                    <a:p>
                      <a:pPr algn="ctr"/>
                      <a:r>
                        <a:rPr sz="1250" b="0" i="0">
                          <a:solidFill>
                            <a:srgbClr val="202020"/>
                          </a:solidFill>
                          <a:latin typeface="微软雅黑"/>
                          <a:ea typeface="微软雅黑"/>
                          <a:cs typeface="微软雅黑"/>
                        </a:rPr>
                        <a:t>书写方式</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用钢笔或毛笔书写或印刷</a:t>
                      </a:r>
                    </a:p>
                  </a:txBody>
                  <a:tcPr anchor="ctr">
                    <a:solidFill>
                      <a:srgbClr val="FFFFFF"/>
                    </a:solidFill>
                  </a:tcPr>
                </a:tc>
              </a:tr>
              <a:tr h="792480">
                <a:tc>
                  <a:txBody>
                    <a:bodyPr wrap="square"/>
                    <a:lstStyle/>
                    <a:p>
                      <a:pPr algn="ctr"/>
                      <a:r>
                        <a:rPr sz="1250" b="0" i="0">
                          <a:solidFill>
                            <a:srgbClr val="202020"/>
                          </a:solidFill>
                          <a:latin typeface="微软雅黑"/>
                          <a:ea typeface="微软雅黑"/>
                          <a:cs typeface="微软雅黑"/>
                        </a:rPr>
                        <a:t>当事人项</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原告、被告均应写明姓名、性别、出生年月日、民族、出生地、文化程度、职业或工作单位和职务、住址等</a:t>
                      </a:r>
                    </a:p>
                  </a:txBody>
                  <a:tcPr anchor="ctr">
                    <a:solidFill>
                      <a:srgbClr val="EEF1F6"/>
                    </a:solidFill>
                  </a:tcPr>
                </a:tc>
              </a:tr>
              <a:tr h="792480">
                <a:tc>
                  <a:txBody>
                    <a:bodyPr wrap="square"/>
                    <a:lstStyle/>
                    <a:p>
                      <a:pPr algn="ctr"/>
                      <a:r>
                        <a:rPr sz="1250" b="0" i="0">
                          <a:solidFill>
                            <a:srgbClr val="202020"/>
                          </a:solidFill>
                          <a:latin typeface="微软雅黑"/>
                          <a:ea typeface="微软雅黑"/>
                          <a:cs typeface="微软雅黑"/>
                        </a:rPr>
                        <a:t>诉讼请求栏</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应写明具体的诉讼请求事项</a:t>
                      </a:r>
                    </a:p>
                  </a:txBody>
                  <a:tcPr anchor="ctr">
                    <a:solidFill>
                      <a:srgbClr val="FFFFFF"/>
                    </a:solidFill>
                  </a:tcPr>
                </a:tc>
              </a:tr>
              <a:tr h="792480">
                <a:tc>
                  <a:txBody>
                    <a:bodyPr wrap="square"/>
                    <a:lstStyle/>
                    <a:p>
                      <a:pPr algn="ctr"/>
                      <a:r>
                        <a:rPr sz="1250" b="0" i="0">
                          <a:solidFill>
                            <a:srgbClr val="202020"/>
                          </a:solidFill>
                          <a:latin typeface="微软雅黑"/>
                          <a:ea typeface="微软雅黑"/>
                          <a:cs typeface="微软雅黑"/>
                        </a:rPr>
                        <a:t>事实与理由</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空格不够用时可以增加中页</a:t>
                      </a:r>
                    </a:p>
                  </a:txBody>
                  <a:tcPr anchor="ctr">
                    <a:solidFill>
                      <a:srgbClr val="EEF1F6"/>
                    </a:solidFill>
                  </a:tcPr>
                </a:tc>
              </a:tr>
              <a:tr h="792480">
                <a:tc>
                  <a:txBody>
                    <a:bodyPr wrap="square"/>
                    <a:lstStyle/>
                    <a:p>
                      <a:pPr algn="ctr"/>
                      <a:r>
                        <a:rPr sz="1250" b="0" i="0">
                          <a:solidFill>
                            <a:srgbClr val="202020"/>
                          </a:solidFill>
                          <a:latin typeface="微软雅黑"/>
                          <a:ea typeface="微软雅黑"/>
                          <a:cs typeface="微软雅黑"/>
                        </a:rPr>
                        <a:t>副本份数</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起诉状副本应按被告人的人数提交相应份数</a:t>
                      </a:r>
                    </a:p>
                  </a:txBody>
                  <a:tcPr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五、附带民事起诉状真实范文：张XX交通肇事案</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教材实例（陈卫东、刘计划《法律文书写作（第五版）》）</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附带民事诉讼原告人：何甲，系本案另一被害人何乙之父；附带民事诉讼被告人：张XX，XX市公安局局长</a:t>
            </a:r>
          </a:p>
          <a:p>
            <a:pPr>
              <a:lnSpc>
                <a:spcPct val="130000"/>
              </a:lnSpc>
              <a:spcAft>
                <a:spcPts val="300"/>
              </a:spcAft>
            </a:pPr>
            <a:r>
              <a:rPr sz="1600" b="0" i="0">
                <a:solidFill>
                  <a:srgbClr val="202020"/>
                </a:solidFill>
                <a:latin typeface="楷体"/>
                <a:ea typeface="楷体"/>
                <a:cs typeface="楷体"/>
              </a:rPr>
              <a:t>诉讼请求：1.赔偿原告人及被害人医疗费共计53,698元；2.赔偿被害人何乙的丧葬费10,000元；3.赔偿原告人预期治疗费用及生活费50,000元</a:t>
            </a:r>
          </a:p>
          <a:p>
            <a:pPr>
              <a:lnSpc>
                <a:spcPct val="130000"/>
              </a:lnSpc>
              <a:spcAft>
                <a:spcPts val="300"/>
              </a:spcAft>
            </a:pPr>
            <a:r>
              <a:rPr sz="1600" b="0" i="0">
                <a:solidFill>
                  <a:srgbClr val="202020"/>
                </a:solidFill>
                <a:latin typeface="楷体"/>
                <a:ea typeface="楷体"/>
                <a:cs typeface="楷体"/>
              </a:rPr>
              <a:t>事实与理由：被告人驾车撞倒被害人父子，明知撞人却为逃避责任加速拖行300米致何乙死亡、何甲终身残疾</a:t>
            </a:r>
          </a:p>
          <a:p>
            <a:pPr>
              <a:lnSpc>
                <a:spcPct val="130000"/>
              </a:lnSpc>
              <a:spcAft>
                <a:spcPts val="300"/>
              </a:spcAft>
            </a:pPr>
            <a:r>
              <a:rPr sz="1600" b="0" i="0">
                <a:solidFill>
                  <a:srgbClr val="202020"/>
                </a:solidFill>
                <a:latin typeface="楷体"/>
                <a:ea typeface="楷体"/>
                <a:cs typeface="楷体"/>
              </a:rPr>
              <a:t>法律依据：根据《刑事诉讼法》第101条〔待核实具体修正年份对应条文序号〕的规定提起附带民事诉讼，请依法判处</a:t>
            </a:r>
          </a:p>
          <a:p>
            <a:pPr>
              <a:lnSpc>
                <a:spcPct val="130000"/>
              </a:lnSpc>
              <a:spcAft>
                <a:spcPts val="300"/>
              </a:spcAft>
            </a:pPr>
            <a:r>
              <a:rPr sz="1600" b="0" i="0">
                <a:solidFill>
                  <a:srgbClr val="202020"/>
                </a:solidFill>
                <a:latin typeface="楷体"/>
                <a:ea typeface="楷体"/>
                <a:cs typeface="楷体"/>
              </a:rPr>
              <a:t>附项：本诉状副本1份；XX市人民医院证明</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本案诉讼请求分项对应医疗费、丧葬费、预期治疗费及生活费三类物质损失，体现“损失分类列明、具体到金额”的写作要求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贰</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行政起诉状</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概念与受理条件</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原告被告资格认定</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诉讼请求与写作要点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六、行政起诉状的概念与受理条件</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行政起诉状，又称行政诉状：自然人、法人或非法人组织认为行政机关及其工作人员的行政行为侵犯其合法权益时，依据事实和法律向人民法院提起行政诉讼，要求裁判所提出的书面请求</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《行政诉讼法》第49条〔待核实具体修正年份〕规定提起行政诉讼须符合四个条件，与提起民事诉讼的四个条件基本相同，同时还要符合第12条规定的人民法院受理行政案件的范围</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人民法院接到起诉状，经审查，应当在7日内立案或者作出裁定不予受理；原告对裁定不服的，可以提起上诉</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七、行政起诉状的写作要点（一）：当事人称谓与资格认定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原告资格</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应称当事人双方为原告、被告，不能称“起诉人”“应诉人”</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原告包括自然人、法人或非法人组织；有权提起诉讼的自然人已死亡，其近亲属可以代为提起诉讼</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有权提起诉讼的法人或非法人组织已终止，承受其权利的法人或非法人组织可以提起诉讼</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被告资格</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被告只能是行政机关：原告直接起诉的，作出行政行为的行政机关是被告</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经复议案件，复议机关维持原行为的，原行政机关是被告；复议机关改变原行为的，复议机关是被告</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两个以上行政机关共同作出行政行为的，是共同被告；被授权组织、被委托组织作出行政行为的，分别认定被授权组织、委托的行政机关为被告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八、行政起诉状的写作要点（二）：诉讼时效与诉讼请求</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应在诉讼时效期限内向有管辖权的人民法院提交起诉状。行政诉讼时效期限一般为15日，也有比这短或长的，应根据具体法律法规而定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一审管辖一般由最初作出行政行为的行政机关所在地基层人民法院管辖；少数重大案件（确认发明专利权、海关处理、对省级以上政府提起诉讼等）由中级以上人民法院管辖</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诉讼请求应针对行政行为的不同情形分别提出：主要证据不足、适用法律法规错误、违反法定程序、超越职权、滥用职权等，可请求撤销或部分撤销；不履行或拖延履行法定职责的，可请求判决其限期履行；行政处罚显失公允的，可请求判决变更处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起诉状应附行政处罚决定书或行政复议决定书；其他参照民事起诉状制作方法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九、行政起诉状真实范文：支XX不服县税务局行政处罚决定案</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教材实例（陈卫东、刘计划《法律文书写作（第五版）》）</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原告：支XX，XX省XX县农民；被告：XX县税务局，法定代表人XX，税务局局长</a:t>
            </a:r>
          </a:p>
          <a:p>
            <a:pPr>
              <a:lnSpc>
                <a:spcPct val="130000"/>
              </a:lnSpc>
              <a:spcAft>
                <a:spcPts val="300"/>
              </a:spcAft>
            </a:pPr>
            <a:r>
              <a:rPr sz="1600" b="0" i="0">
                <a:solidFill>
                  <a:srgbClr val="202020"/>
                </a:solidFill>
                <a:latin typeface="楷体"/>
                <a:ea typeface="楷体"/>
                <a:cs typeface="楷体"/>
              </a:rPr>
              <a:t>请求事项：要求撤销税务处罚和赔偿经济损失1,000元</a:t>
            </a:r>
          </a:p>
          <a:p>
            <a:pPr>
              <a:lnSpc>
                <a:spcPct val="130000"/>
              </a:lnSpc>
              <a:spcAft>
                <a:spcPts val="300"/>
              </a:spcAft>
            </a:pPr>
            <a:r>
              <a:rPr sz="1600" b="0" i="0">
                <a:solidFill>
                  <a:srgbClr val="202020"/>
                </a:solidFill>
                <a:latin typeface="楷体"/>
                <a:ea typeface="楷体"/>
                <a:cs typeface="楷体"/>
              </a:rPr>
              <a:t>事实与理由：支XX依承包合同约定不负担税金，但县税务局认定其为纳税义务人并处以补税3,400元、罚款500元的处罚决定，原告不服申请复议被维持</a:t>
            </a:r>
          </a:p>
          <a:p>
            <a:pPr>
              <a:lnSpc>
                <a:spcPct val="130000"/>
              </a:lnSpc>
              <a:spcAft>
                <a:spcPts val="300"/>
              </a:spcAft>
            </a:pPr>
            <a:r>
              <a:rPr sz="1600" b="0" i="0">
                <a:solidFill>
                  <a:srgbClr val="202020"/>
                </a:solidFill>
                <a:latin typeface="楷体"/>
                <a:ea typeface="楷体"/>
                <a:cs typeface="楷体"/>
              </a:rPr>
              <a:t>诉状指出地、县、乡三级税务机关均认定支XX为纳税义务人，但这一认定不符合承包合同的实际约定</a:t>
            </a:r>
          </a:p>
          <a:p>
            <a:pPr>
              <a:lnSpc>
                <a:spcPct val="130000"/>
              </a:lnSpc>
              <a:spcAft>
                <a:spcPts val="300"/>
              </a:spcAft>
            </a:pPr>
            <a:r>
              <a:rPr sz="1600" b="0" i="0">
                <a:solidFill>
                  <a:srgbClr val="202020"/>
                </a:solidFill>
                <a:latin typeface="楷体"/>
                <a:ea typeface="楷体"/>
                <a:cs typeface="楷体"/>
              </a:rPr>
              <a:t>附项：本诉状副本2份；XX县税务局处罚决定1件（复印件）</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本案体现行政起诉状围绕“行政行为所依据的事实认定是否准确”这一核心争点展开论证的写法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十、两类诉状的写作技巧对比分析</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共同点：首部都要写明当事人身份事项，正文都包括诉讼请求和事实理由，尾部格式基本一致，体现诉状写作的共通骨架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不同点一：附带民事起诉状强调因果关系论证（被告人行为与物质损失的直接因果关系），行政起诉状强调行政行为合法性审查（证据、程序、职权、法律适用四个维度）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不同点二：附带民事起诉状的被告通常是自然人（刑事被告人），行政起诉状的被告资格认定规则较为复杂，需要根据是否经过复议、是否共同作出行政行为等情形分别判断</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不同点三：行政起诉状对诉讼时效要求更为严格（一般15日），律师在受理行政案件委托时，必须第一时间核实时效是否已过，避免因超过时效而丧失诉权</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课堂讨论：附带民事诉讼“依附性”的利与弊</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讨论题：附带民事诉讼依附于刑事诉讼程序进行，这种“依附性”设计对被害人维权而言，有哪些便利，又可能带来哪些局限？</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提示角度一：便利方面，被害人不必另行提起独立的民事诉讼，可以在刑事诉讼程序中一并解决民事赔偿问题，节约诉讼成本和时间</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提示角度二：局限方面，附带民事诉讼只能就物质损失提出请求，精神损失不能通过这一途径获得赔偿，被害人如果想要精神损害赔偿，只能另行提起独立的民事诉讼</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提示角度三：局限方面，附带民事诉讼的审理进度依附于刑事诉讼的进度，如果刑事案件因证据不足、管辖争议等原因长期未能审结，被害人的民事赔偿请求也会随之被拖延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第二十一讲　附带民事起诉状与行政起诉状</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小结与作业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71600"/>
            <a:ext cx="11064240" cy="4297680"/>
          </a:xfrm>
          <a:prstGeom prst="rect">
            <a:avLst/>
          </a:prstGeom>
          <a:noFill/>
        </p:spPr>
        <p:txBody>
          <a:bodyPr wrap="square" anchor="t" lIns="50800" rIns="50800" tIns="25400" bIns="25400">
            <a:spAutoFit/>
          </a:bodyPr>
          <a:lstStyle/>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附带民事起诉状的依附性特征：只能就物质损失（积极损失、消极损失）提起，精神损失须另行起诉</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附带民事起诉状理由部分应着重论证被告人行为与物质损失之间的直接因果关系</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行政起诉状的受理条件与民事起诉状基本相同，但被告资格认定规则更复杂，需结合复议、共同行政行为等情形判断</a:t>
            </a:r>
          </a:p>
          <a:p>
            <a:pPr lvl="1">
              <a:lnSpc>
                <a:spcPct val="122000"/>
              </a:lnSpc>
              <a:spcAft>
                <a:spcPts val="300"/>
              </a:spcAft>
            </a:pPr>
            <a:r>
              <a:rPr sz="1800" b="1" i="0">
                <a:solidFill>
                  <a:srgbClr val="B6862C"/>
                </a:solidFill>
                <a:latin typeface="微软雅黑"/>
                <a:ea typeface="微软雅黑"/>
                <a:cs typeface="微软雅黑"/>
              </a:rPr>
              <a:t>    ● </a:t>
            </a:r>
            <a:r>
              <a:rPr sz="1800" b="1" i="0">
                <a:solidFill>
                  <a:srgbClr val="B6862C"/>
                </a:solidFill>
                <a:latin typeface="微软雅黑"/>
                <a:ea typeface="微软雅黑"/>
                <a:cs typeface="微软雅黑"/>
              </a:rPr>
              <a:t>行政起诉状诉讼请求应针对证据不足、程序违法、超越职权、滥用职权、不履行职责、处罚显失公允等不同情形分别提出</a:t>
            </a:r>
          </a:p>
        </p:txBody>
      </p:sp>
      <p:sp>
        <p:nvSpPr>
          <p:cNvPr id="10" name="Rectangle 9"/>
          <p:cNvSpPr/>
          <p:nvPr/>
        </p:nvSpPr>
        <p:spPr>
          <a:xfrm>
            <a:off x="548640" y="5669280"/>
            <a:ext cx="11064240" cy="6858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566928"/>
          </a:xfrm>
          <a:prstGeom prst="rect">
            <a:avLst/>
          </a:prstGeom>
          <a:noFill/>
        </p:spPr>
        <p:txBody>
          <a:bodyPr wrap="square" anchor="ctr" lIns="50800" rIns="50800" tIns="25400" bIns="25400">
            <a:spAutoFit/>
          </a:bodyPr>
          <a:lstStyle/>
          <a:p>
            <a:r>
              <a:rPr sz="1500" b="1" i="0">
                <a:solidFill>
                  <a:srgbClr val="B6862C"/>
                </a:solidFill>
                <a:latin typeface="微软雅黑"/>
                <a:ea typeface="微软雅黑"/>
                <a:cs typeface="微软雅黑"/>
              </a:rPr>
              <a:t>思考  </a:t>
            </a:r>
            <a:r>
              <a:rPr sz="1500" b="0" i="0">
                <a:solidFill>
                  <a:srgbClr val="FFFFFF"/>
                </a:solidFill>
                <a:latin typeface="微软雅黑"/>
                <a:ea typeface="微软雅黑"/>
                <a:cs typeface="微软雅黑"/>
              </a:rPr>
              <a:t>作业：请选择一个虚构的交通肇事案情（须注明“教学示例（虚拟案例）”），拟写一份附带民事起诉状，诉讼请求中须区分积极损失与消极损失分别列明金额及计算依据。下一讲我们将学习刑事上诉状、民事上诉状与行政上诉状。</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