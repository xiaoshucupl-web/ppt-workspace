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5486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731520"/>
            <a:ext cx="128016" cy="128016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777240"/>
            <a:ext cx="10058400" cy="548640"/>
          </a:xfrm>
          <a:prstGeom prst="rect">
            <a:avLst/>
          </a:prstGeom>
          <a:noFill/>
        </p:spPr>
        <p:txBody>
          <a:bodyPr wrap="square" anchor="t" lIns="50800" rIns="50800" tIns="25400" bIns="25400">
            <a:spAutoFit/>
          </a:bodyPr>
          <a:lstStyle/>
          <a:p>
            <a:r>
              <a:rPr sz="2000" b="0" i="0">
                <a:solidFill>
                  <a:srgbClr val="BFCCDD"/>
                </a:solidFill>
                <a:latin typeface="微软雅黑"/>
                <a:ea typeface="微软雅黑"/>
                <a:cs typeface="微软雅黑"/>
              </a:rPr>
              <a:t>《法律文书写作》</a:t>
            </a:r>
          </a:p>
        </p:txBody>
      </p:sp>
      <p:sp>
        <p:nvSpPr>
          <p:cNvPr id="6" name="TextBox 5"/>
          <p:cNvSpPr txBox="1"/>
          <p:nvPr/>
        </p:nvSpPr>
        <p:spPr>
          <a:xfrm>
            <a:off x="1097280" y="1325880"/>
            <a:ext cx="10058400" cy="548640"/>
          </a:xfrm>
          <a:prstGeom prst="rect">
            <a:avLst/>
          </a:prstGeom>
          <a:noFill/>
        </p:spPr>
        <p:txBody>
          <a:bodyPr wrap="square" anchor="t" lIns="50800" rIns="50800" tIns="25400" bIns="25400">
            <a:spAutoFit/>
          </a:bodyPr>
          <a:lstStyle/>
          <a:p>
            <a:r>
              <a:rPr sz="2200" b="1" i="0">
                <a:solidFill>
                  <a:srgbClr val="B6862C"/>
                </a:solidFill>
                <a:latin typeface="微软雅黑"/>
                <a:ea typeface="微软雅黑"/>
                <a:cs typeface="微软雅黑"/>
              </a:rPr>
              <a:t>第二十三讲 · 律师文书（五）</a:t>
            </a:r>
          </a:p>
        </p:txBody>
      </p:sp>
      <p:sp>
        <p:nvSpPr>
          <p:cNvPr id="7" name="TextBox 6"/>
          <p:cNvSpPr txBox="1"/>
          <p:nvPr/>
        </p:nvSpPr>
        <p:spPr>
          <a:xfrm>
            <a:off x="1051560" y="2468880"/>
            <a:ext cx="10241280" cy="1554480"/>
          </a:xfrm>
          <a:prstGeom prst="rect">
            <a:avLst/>
          </a:prstGeom>
          <a:noFill/>
        </p:spPr>
        <p:txBody>
          <a:bodyPr wrap="square" anchor="t" lIns="50800" rIns="50800" tIns="25400" bIns="25400">
            <a:spAutoFit/>
          </a:bodyPr>
          <a:lstStyle/>
          <a:p>
            <a:pPr>
              <a:lnSpc>
                <a:spcPct val="110000"/>
              </a:lnSpc>
            </a:pPr>
            <a:r>
              <a:rPr sz="4000" b="1" i="0">
                <a:solidFill>
                  <a:srgbClr val="FFFFFF"/>
                </a:solidFill>
                <a:latin typeface="微软雅黑"/>
                <a:ea typeface="微软雅黑"/>
                <a:cs typeface="微软雅黑"/>
              </a:rPr>
              <a:t>申诉状</a:t>
            </a:r>
          </a:p>
        </p:txBody>
      </p:sp>
      <p:sp>
        <p:nvSpPr>
          <p:cNvPr id="8" name="TextBox 7"/>
          <p:cNvSpPr txBox="1"/>
          <p:nvPr/>
        </p:nvSpPr>
        <p:spPr>
          <a:xfrm>
            <a:off x="1097280" y="4297680"/>
            <a:ext cx="10058400" cy="731520"/>
          </a:xfrm>
          <a:prstGeom prst="rect">
            <a:avLst/>
          </a:prstGeom>
          <a:noFill/>
        </p:spPr>
        <p:txBody>
          <a:bodyPr wrap="square" anchor="t" lIns="50800" rIns="50800" tIns="25400" bIns="25400">
            <a:spAutoFit/>
          </a:bodyPr>
          <a:lstStyle/>
          <a:p>
            <a:r>
              <a:rPr sz="1900" b="0" i="0">
                <a:solidFill>
                  <a:srgbClr val="D7DEE8"/>
                </a:solidFill>
                <a:latin typeface="微软雅黑"/>
                <a:ea typeface="微软雅黑"/>
                <a:cs typeface="微软雅黑"/>
              </a:rPr>
              <a:t>判决、裁定已生效之后，请求复查纠正的最后救济渠道</a:t>
            </a:r>
          </a:p>
        </p:txBody>
      </p:sp>
      <p:sp>
        <p:nvSpPr>
          <p:cNvPr id="9" name="Rectangle 8"/>
          <p:cNvSpPr/>
          <p:nvPr/>
        </p:nvSpPr>
        <p:spPr>
          <a:xfrm>
            <a:off x="1097280" y="5440680"/>
            <a:ext cx="5486400" cy="17780"/>
          </a:xfrm>
          <a:prstGeom prst="rect">
            <a:avLst/>
          </a:prstGeom>
          <a:solidFill>
            <a:srgbClr val="445A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623560"/>
            <a:ext cx="10058400" cy="457200"/>
          </a:xfrm>
          <a:prstGeom prst="rect">
            <a:avLst/>
          </a:prstGeom>
          <a:noFill/>
        </p:spPr>
        <p:txBody>
          <a:bodyPr wrap="square" anchor="t" lIns="50800" rIns="50800" tIns="25400" bIns="25400">
            <a:spAutoFit/>
          </a:bodyPr>
          <a:lstStyle/>
          <a:p>
            <a:r>
              <a:rPr sz="1600" b="0" i="0">
                <a:solidFill>
                  <a:srgbClr val="C8D2E0"/>
                </a:solidFill>
                <a:latin typeface="微软雅黑"/>
                <a:ea typeface="微软雅黑"/>
                <a:cs typeface="微软雅黑"/>
              </a:rPr>
              <a:t>主讲教师：＿＿＿＿＿　法学院</a:t>
            </a:r>
          </a:p>
        </p:txBody>
      </p:sp>
      <p:sp>
        <p:nvSpPr>
          <p:cNvPr id="11" name="TextBox 10"/>
          <p:cNvSpPr txBox="1"/>
          <p:nvPr/>
        </p:nvSpPr>
        <p:spPr>
          <a:xfrm>
            <a:off x="1097280" y="6035040"/>
            <a:ext cx="10058400" cy="457200"/>
          </a:xfrm>
          <a:prstGeom prst="rect">
            <a:avLst/>
          </a:prstGeom>
          <a:noFill/>
        </p:spPr>
        <p:txBody>
          <a:bodyPr wrap="square" anchor="t" lIns="50800" rIns="50800" tIns="25400" bIns="25400">
            <a:spAutoFit/>
          </a:bodyPr>
          <a:lstStyle/>
          <a:p>
            <a:r>
              <a:rPr sz="1300" b="0" i="0">
                <a:solidFill>
                  <a:srgbClr val="8F9DB2"/>
                </a:solidFill>
                <a:latin typeface="微软雅黑"/>
                <a:ea typeface="微软雅黑"/>
                <a:cs typeface="微软雅黑"/>
              </a:rPr>
              <a:t>配套教材：第七章第九节</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第二十三讲　申诉状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导入：上诉状之后，还有什么救济渠道</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2</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上一讲学习的三类上诉状，都是针对“尚未发生法律效力”的一审裁判提出的，上诉一经提出，就启动了第二审程序</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但实务中常常遇到这样的情形：二审裁判已经生效，甚至当事人当时没有上诉、裁判已经生效，后来才发现裁判确有错误，这时候还能不能寻求救济？</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今天学习的申诉状，正是回答这个问题的文书：它针对的是“已经发生法律效力”的判决、裁定，请大家带着这个问题往下听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第二十三讲　申诉状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一、申诉状的概念</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3</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申诉状（又称申诉书）：诉讼当事人及其法定代理人、近亲属认为已经发生法律效力的判决、裁定有错误，向人民法院或人民检察院提出申请复查纠正的书状</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无论是刑事案件还是民事案件，都可以提出申诉状</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申诉状是运用审判监督程序维护社会主义法治、保证准确裁判的一种诉讼文书</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申诉案件一般由原审人民法院审查处理，是人民法院再审案件的来源之一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第二十三讲　申诉状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二、申诉与上诉的关键区别</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4</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对象不同：上诉针对尚未生效的一审裁判；申诉针对已经发生法律效力的判决、裁定</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引起的程序不同：申诉引起审判监督程序；上诉引起第二审程序，这是二者最核心的区别</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提出主体范围更广：申诉的主体除了诉讼当事人及其法定代理人，还包括近亲属，这一点和上诉的主体范围有相似之处，但申诉强调的是对“已生效裁判”的不服，权利基础和审理程序都不同</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受理机关不同：申诉可以向人民法院提出，也可以向人民检察院提出，由检察院启动的称为检察监督，这是中国特色的法律监督制度在申诉环节的体现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49039"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49039" y="0"/>
            <a:ext cx="54864" cy="68580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2926080" cy="1097280"/>
          </a:xfrm>
          <a:prstGeom prst="rect">
            <a:avLst/>
          </a:prstGeom>
          <a:noFill/>
        </p:spPr>
        <p:txBody>
          <a:bodyPr wrap="square" anchor="t" lIns="50800" rIns="50800" tIns="25400" bIns="25400">
            <a:spAutoFit/>
          </a:bodyPr>
          <a:lstStyle/>
          <a:p>
            <a:r>
              <a:rPr sz="9600" b="1" i="0">
                <a:solidFill>
                  <a:srgbClr val="B6862C"/>
                </a:solidFill>
                <a:latin typeface="微软雅黑"/>
                <a:ea typeface="微软雅黑"/>
                <a:cs typeface="微软雅黑"/>
              </a:rPr>
              <a:t>壹</a:t>
            </a:r>
          </a:p>
        </p:txBody>
      </p:sp>
      <p:sp>
        <p:nvSpPr>
          <p:cNvPr id="6" name="TextBox 5"/>
          <p:cNvSpPr txBox="1"/>
          <p:nvPr/>
        </p:nvSpPr>
        <p:spPr>
          <a:xfrm>
            <a:off x="4206240" y="2468880"/>
            <a:ext cx="7498079" cy="1280160"/>
          </a:xfrm>
          <a:prstGeom prst="rect">
            <a:avLst/>
          </a:prstGeom>
          <a:noFill/>
        </p:spPr>
        <p:txBody>
          <a:bodyPr wrap="square" anchor="ctr" lIns="50800" rIns="50800" tIns="25400" bIns="25400">
            <a:spAutoFit/>
          </a:bodyPr>
          <a:lstStyle/>
          <a:p>
            <a:pPr>
              <a:lnSpc>
                <a:spcPct val="110000"/>
              </a:lnSpc>
            </a:pPr>
            <a:r>
              <a:rPr sz="3400" b="1" i="0">
                <a:solidFill>
                  <a:srgbClr val="142A47"/>
                </a:solidFill>
                <a:latin typeface="微软雅黑"/>
                <a:ea typeface="微软雅黑"/>
                <a:cs typeface="微软雅黑"/>
              </a:rPr>
              <a:t>申诉状的内容和写法</a:t>
            </a:r>
          </a:p>
        </p:txBody>
      </p:sp>
      <p:sp>
        <p:nvSpPr>
          <p:cNvPr id="7" name="TextBox 6"/>
          <p:cNvSpPr txBox="1"/>
          <p:nvPr/>
        </p:nvSpPr>
        <p:spPr>
          <a:xfrm>
            <a:off x="4206240" y="4023360"/>
            <a:ext cx="7315200" cy="2011680"/>
          </a:xfrm>
          <a:prstGeom prst="rect">
            <a:avLst/>
          </a:prstGeom>
          <a:noFill/>
        </p:spPr>
        <p:txBody>
          <a:bodyPr wrap="square" anchor="t" lIns="50800" rIns="50800" tIns="25400" bIns="25400">
            <a:spAutoFit/>
          </a:bodyPr>
          <a:lstStyle/>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首部：标题、申诉人状况、案由</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请求事项与事实理由</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结尾与附项</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第二十三讲　申诉状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三、申诉状的内容和写法（一）：首部</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6</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Rectangle 8"/>
          <p:cNvSpPr/>
          <p:nvPr/>
        </p:nvSpPr>
        <p:spPr>
          <a:xfrm>
            <a:off x="548640" y="1371600"/>
            <a:ext cx="5440680" cy="457200"/>
          </a:xfrm>
          <a:prstGeom prst="rect">
            <a:avLst/>
          </a:prstGeom>
          <a:solidFill>
            <a:srgbClr val="2053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417320"/>
            <a:ext cx="5166360" cy="384048"/>
          </a:xfrm>
          <a:prstGeom prst="rect">
            <a:avLst/>
          </a:prstGeom>
          <a:noFill/>
        </p:spPr>
        <p:txBody>
          <a:bodyPr wrap="square" anchor="ctr" lIns="50800" rIns="50800" tIns="25400" bIns="25400">
            <a:spAutoFit/>
          </a:bodyPr>
          <a:lstStyle/>
          <a:p>
            <a:r>
              <a:rPr sz="1600" b="1" i="0">
                <a:solidFill>
                  <a:srgbClr val="FFFFFF"/>
                </a:solidFill>
                <a:latin typeface="微软雅黑"/>
                <a:ea typeface="微软雅黑"/>
                <a:cs typeface="微软雅黑"/>
              </a:rPr>
              <a:t>首部三项内容</a:t>
            </a:r>
          </a:p>
        </p:txBody>
      </p:sp>
      <p:sp>
        <p:nvSpPr>
          <p:cNvPr id="11" name="Rectangle 10"/>
          <p:cNvSpPr/>
          <p:nvPr/>
        </p:nvSpPr>
        <p:spPr>
          <a:xfrm>
            <a:off x="548640" y="1828800"/>
            <a:ext cx="5440680" cy="443484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938528"/>
            <a:ext cx="5074920" cy="4206240"/>
          </a:xfrm>
          <a:prstGeom prst="rect">
            <a:avLst/>
          </a:prstGeom>
          <a:noFill/>
        </p:spPr>
        <p:txBody>
          <a:bodyPr wrap="square" anchor="t" lIns="50800" rIns="50800" tIns="25400" bIns="25400">
            <a:spAutoFit/>
          </a:bodyPr>
          <a:lstStyle/>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标题：根据具体案件情况，写明“刑事申诉状”“民事申诉状”“行政申诉状”</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申诉人状况：姓名、性别、出生年月日、民族、出生地、文化程度、职业或工作单位和职务、住址等；如申诉人在押，应写明现押处所；如系被告人的辩护人、近亲属申诉，应写明申诉人姓名、职业、同被告人的关系；如系法人或非法人组织，应写明名称、所在地址、法定代表人或代表人姓名和职务；民事案件当事人申诉的，应将对方当事人的身份状况写明</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案由：写明申诉人是何人、因何案、不服何处人民法院何字何号判决或裁定而提出申诉。例如：“申诉人XX对XX人民法院(20XX)XX民/刑/行初终XX号刑/民事/行政判决（裁定），提出申诉”</a:t>
            </a:r>
          </a:p>
        </p:txBody>
      </p:sp>
      <p:sp>
        <p:nvSpPr>
          <p:cNvPr id="13" name="Rectangle 12"/>
          <p:cNvSpPr/>
          <p:nvPr/>
        </p:nvSpPr>
        <p:spPr>
          <a:xfrm>
            <a:off x="6199632" y="1371600"/>
            <a:ext cx="5440680" cy="4572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1417320"/>
            <a:ext cx="5166360" cy="384048"/>
          </a:xfrm>
          <a:prstGeom prst="rect">
            <a:avLst/>
          </a:prstGeom>
          <a:noFill/>
        </p:spPr>
        <p:txBody>
          <a:bodyPr wrap="square" anchor="ctr" lIns="50800" rIns="50800" tIns="25400" bIns="25400">
            <a:spAutoFit/>
          </a:bodyPr>
          <a:lstStyle/>
          <a:p>
            <a:r>
              <a:rPr sz="1600" b="1" i="0">
                <a:solidFill>
                  <a:srgbClr val="FFFFFF"/>
                </a:solidFill>
                <a:latin typeface="微软雅黑"/>
                <a:ea typeface="微软雅黑"/>
                <a:cs typeface="微软雅黑"/>
              </a:rPr>
              <a:t>与上诉状首部的对比</a:t>
            </a:r>
          </a:p>
        </p:txBody>
      </p:sp>
      <p:sp>
        <p:nvSpPr>
          <p:cNvPr id="15" name="Rectangle 14"/>
          <p:cNvSpPr/>
          <p:nvPr/>
        </p:nvSpPr>
        <p:spPr>
          <a:xfrm>
            <a:off x="6199632" y="1828800"/>
            <a:ext cx="5440680" cy="443484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938528"/>
            <a:ext cx="5074920" cy="4206240"/>
          </a:xfrm>
          <a:prstGeom prst="rect">
            <a:avLst/>
          </a:prstGeom>
          <a:noFill/>
        </p:spPr>
        <p:txBody>
          <a:bodyPr wrap="square" anchor="t" lIns="50800" rIns="50800" tIns="25400" bIns="25400">
            <a:spAutoFit/>
          </a:bodyPr>
          <a:lstStyle/>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相同点：申诉状的格式、内容和写法要求大体与上诉状的相同</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不同点一：标题须根据案件性质冠以“刑事/民事/行政申诉状”，明确表明这是针对已生效裁判提出的</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不同点二：案由部分须援引的是已经发生法律效力的终审裁判文书号，而非一审裁判文书号</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不同点三：申诉人范围比上诉人更宽，明确包含近亲属，这一点要在首部身份事项中如实写明同被申诉对象的关系</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第二十三讲　申诉状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四、申诉状的内容和写法（二）：请求事项</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7</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这部分应简明扼要地提出申诉要求，明确提出要求撤销、变更原判或再审，以纠正原裁判之不当</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请求事项务必具体明确，不能笼统地说“请求纠正错误”，而应当写清楚是请求撤销原判、变更原判，还是请求依法再审，必要时还应写明变更后应当作出的具体处理结果</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请求事项与后面事实理由部分的论证必须一一对应，不能在请求中提出某项要求，却在理由部分完全没有论证支撑</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第二十三讲　申诉状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五、申诉状的内容和写法（三）：事实与理由</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8</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这部分是申诉状的主要部分，写作时应当注意两个方面</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第一，针对原裁判在认定事实或适用法律上的错误，摆事实讲道理，逐一加以申辩和反驳。在摆事实时力求客观、全面，不应把道听途说、未经证实的传闻作为反驳原裁判的依据。对于原裁判适用法律不当的，应当在申诉状中提出正确适用的法律和应当援引的具体条款</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第二，为了增强申诉的说服力，应当提供足够的证据，以利于查明案件的情况，正确地适用法律</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这部分的写法要求与上诉状的写法要求基本相同。应当注意的是，申诉状中，除了反驳原裁判错误之处外，常常列举新的事实和证据，从另一个方面论证原裁判的错误，这是申诉状区别于上诉状理由部分的一个重要特点</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第二十三讲　申诉状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六、申诉状的结尾与格式要点</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9</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graphicFrame>
        <p:nvGraphicFramePr>
          <p:cNvPr id="9" name="Table 8"/>
          <p:cNvGraphicFramePr>
            <a:graphicFrameLocks noGrp="1"/>
          </p:cNvGraphicFramePr>
          <p:nvPr/>
        </p:nvGraphicFramePr>
        <p:xfrm>
          <a:off x="548640" y="1417320"/>
          <a:ext cx="11064239" cy="4754880"/>
        </p:xfrm>
        <a:graphic>
          <a:graphicData uri="http://schemas.openxmlformats.org/drawingml/2006/table">
            <a:tbl>
              <a:tblPr firstRow="1" bandRow="1">
                <a:tableStyleId>{5C22544A-7EE6-4342-B048-85BDC9FD1C3A}</a:tableStyleId>
              </a:tblPr>
              <a:tblGrid>
                <a:gridCol w="2766060"/>
                <a:gridCol w="8298179"/>
              </a:tblGrid>
              <a:tr h="792480">
                <a:tc>
                  <a:txBody>
                    <a:bodyPr wrap="square"/>
                    <a:lstStyle/>
                    <a:p>
                      <a:pPr algn="ctr"/>
                      <a:r>
                        <a:rPr sz="1400" b="1" i="0">
                          <a:solidFill>
                            <a:srgbClr val="FFFFFF"/>
                          </a:solidFill>
                          <a:latin typeface="微软雅黑"/>
                          <a:ea typeface="微软雅黑"/>
                          <a:cs typeface="微软雅黑"/>
                        </a:rPr>
                        <a:t>部分</a:t>
                      </a:r>
                    </a:p>
                  </a:txBody>
                  <a:tcPr anchor="ctr">
                    <a:solidFill>
                      <a:srgbClr val="142A47"/>
                    </a:solidFill>
                  </a:tcPr>
                </a:tc>
                <a:tc>
                  <a:txBody>
                    <a:bodyPr wrap="square"/>
                    <a:lstStyle/>
                    <a:p>
                      <a:pPr algn="ctr"/>
                      <a:r>
                        <a:rPr sz="1400" b="1" i="0">
                          <a:solidFill>
                            <a:srgbClr val="FFFFFF"/>
                          </a:solidFill>
                          <a:latin typeface="微软雅黑"/>
                          <a:ea typeface="微软雅黑"/>
                          <a:cs typeface="微软雅黑"/>
                        </a:rPr>
                        <a:t>内容要点</a:t>
                      </a:r>
                    </a:p>
                  </a:txBody>
                  <a:tcPr anchor="ctr">
                    <a:solidFill>
                      <a:srgbClr val="142A47"/>
                    </a:solidFill>
                  </a:tcPr>
                </a:tc>
              </a:tr>
              <a:tr h="792480">
                <a:tc>
                  <a:txBody>
                    <a:bodyPr wrap="square"/>
                    <a:lstStyle/>
                    <a:p>
                      <a:pPr algn="ctr"/>
                      <a:r>
                        <a:rPr sz="1250" b="0" i="0">
                          <a:solidFill>
                            <a:srgbClr val="202020"/>
                          </a:solidFill>
                          <a:latin typeface="微软雅黑"/>
                          <a:ea typeface="微软雅黑"/>
                          <a:cs typeface="微软雅黑"/>
                        </a:rPr>
                        <a:t>首部</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标题冠以案件性质；申诉人身份事项；案由援引终审裁判文书号</a:t>
                      </a:r>
                    </a:p>
                  </a:txBody>
                  <a:tcPr anchor="ctr">
                    <a:solidFill>
                      <a:srgbClr val="FFFFFF"/>
                    </a:solidFill>
                  </a:tcPr>
                </a:tc>
              </a:tr>
              <a:tr h="792480">
                <a:tc>
                  <a:txBody>
                    <a:bodyPr wrap="square"/>
                    <a:lstStyle/>
                    <a:p>
                      <a:pPr algn="ctr"/>
                      <a:r>
                        <a:rPr sz="1250" b="0" i="0">
                          <a:solidFill>
                            <a:srgbClr val="202020"/>
                          </a:solidFill>
                          <a:latin typeface="微软雅黑"/>
                          <a:ea typeface="微软雅黑"/>
                          <a:cs typeface="微软雅黑"/>
                        </a:rPr>
                        <a:t>请求事项</a:t>
                      </a:r>
                    </a:p>
                  </a:txBody>
                  <a:tcPr anchor="ctr">
                    <a:solidFill>
                      <a:srgbClr val="EEF1F6"/>
                    </a:solidFill>
                  </a:tcPr>
                </a:tc>
                <a:tc>
                  <a:txBody>
                    <a:bodyPr wrap="square"/>
                    <a:lstStyle/>
                    <a:p>
                      <a:pPr algn="l"/>
                      <a:r>
                        <a:rPr sz="1250" b="0" i="0">
                          <a:solidFill>
                            <a:srgbClr val="202020"/>
                          </a:solidFill>
                          <a:latin typeface="微软雅黑"/>
                          <a:ea typeface="微软雅黑"/>
                          <a:cs typeface="微软雅黑"/>
                        </a:rPr>
                        <a:t>明确要求撤销、变更原判或再审</a:t>
                      </a:r>
                    </a:p>
                  </a:txBody>
                  <a:tcPr anchor="ctr">
                    <a:solidFill>
                      <a:srgbClr val="EEF1F6"/>
                    </a:solidFill>
                  </a:tcPr>
                </a:tc>
              </a:tr>
              <a:tr h="792480">
                <a:tc>
                  <a:txBody>
                    <a:bodyPr wrap="square"/>
                    <a:lstStyle/>
                    <a:p>
                      <a:pPr algn="ctr"/>
                      <a:r>
                        <a:rPr sz="1250" b="0" i="0">
                          <a:solidFill>
                            <a:srgbClr val="202020"/>
                          </a:solidFill>
                          <a:latin typeface="微软雅黑"/>
                          <a:ea typeface="微软雅黑"/>
                          <a:cs typeface="微软雅黑"/>
                        </a:rPr>
                        <a:t>事实与理由</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摆事实讲道理逐一申辩反驳；常需列举新的事实和证据</a:t>
                      </a:r>
                    </a:p>
                  </a:txBody>
                  <a:tcPr anchor="ctr">
                    <a:solidFill>
                      <a:srgbClr val="FFFFFF"/>
                    </a:solidFill>
                  </a:tcPr>
                </a:tc>
              </a:tr>
              <a:tr h="792480">
                <a:tc>
                  <a:txBody>
                    <a:bodyPr wrap="square"/>
                    <a:lstStyle/>
                    <a:p>
                      <a:pPr algn="ctr"/>
                      <a:r>
                        <a:rPr sz="1250" b="0" i="0">
                          <a:solidFill>
                            <a:srgbClr val="202020"/>
                          </a:solidFill>
                          <a:latin typeface="微软雅黑"/>
                          <a:ea typeface="微软雅黑"/>
                          <a:cs typeface="微软雅黑"/>
                        </a:rPr>
                        <a:t>结尾</a:t>
                      </a:r>
                    </a:p>
                  </a:txBody>
                  <a:tcPr anchor="ctr">
                    <a:solidFill>
                      <a:srgbClr val="EEF1F6"/>
                    </a:solidFill>
                  </a:tcPr>
                </a:tc>
                <a:tc>
                  <a:txBody>
                    <a:bodyPr wrap="square"/>
                    <a:lstStyle/>
                    <a:p>
                      <a:pPr algn="l"/>
                      <a:r>
                        <a:rPr sz="1250" b="0" i="0">
                          <a:solidFill>
                            <a:srgbClr val="202020"/>
                          </a:solidFill>
                          <a:latin typeface="微软雅黑"/>
                          <a:ea typeface="微软雅黑"/>
                          <a:cs typeface="微软雅黑"/>
                        </a:rPr>
                        <a:t>此致XX人民法院；申诉人签名或盖章并注明具状年月日；如系代书须注明代书人姓名和单位</a:t>
                      </a:r>
                    </a:p>
                  </a:txBody>
                  <a:tcPr anchor="ctr">
                    <a:solidFill>
                      <a:srgbClr val="EEF1F6"/>
                    </a:solidFill>
                  </a:tcPr>
                </a:tc>
              </a:tr>
              <a:tr h="792480">
                <a:tc>
                  <a:txBody>
                    <a:bodyPr wrap="square"/>
                    <a:lstStyle/>
                    <a:p>
                      <a:pPr algn="ctr"/>
                      <a:r>
                        <a:rPr sz="1250" b="0" i="0">
                          <a:solidFill>
                            <a:srgbClr val="202020"/>
                          </a:solidFill>
                          <a:latin typeface="微软雅黑"/>
                          <a:ea typeface="微软雅黑"/>
                          <a:cs typeface="微软雅黑"/>
                        </a:rPr>
                        <a:t>附项</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附：原审判决书复印件一份等</a:t>
                      </a:r>
                    </a:p>
                  </a:txBody>
                  <a:tcPr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第二十三讲　申诉状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七、申诉状真实范文：彭XX故意伤害致死案刑事申诉状</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10</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Rectangle 8"/>
          <p:cNvSpPr/>
          <p:nvPr/>
        </p:nvSpPr>
        <p:spPr>
          <a:xfrm>
            <a:off x="548640" y="1371600"/>
            <a:ext cx="2286000" cy="42062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408176"/>
            <a:ext cx="2103120" cy="365760"/>
          </a:xfrm>
          <a:prstGeom prst="rect">
            <a:avLst/>
          </a:prstGeom>
          <a:noFill/>
        </p:spPr>
        <p:txBody>
          <a:bodyPr wrap="square" anchor="ctr" lIns="50800" rIns="50800" tIns="25400" bIns="25400">
            <a:spAutoFit/>
          </a:bodyPr>
          <a:lstStyle/>
          <a:p>
            <a:r>
              <a:rPr sz="1500" b="1" i="0">
                <a:solidFill>
                  <a:srgbClr val="FFFFFF"/>
                </a:solidFill>
                <a:latin typeface="微软雅黑"/>
                <a:ea typeface="微软雅黑"/>
                <a:cs typeface="微软雅黑"/>
              </a:rPr>
              <a:t>教材实例（陈卫东、刘计划《法律文书写作（第五版）》）</a:t>
            </a:r>
          </a:p>
        </p:txBody>
      </p:sp>
      <p:sp>
        <p:nvSpPr>
          <p:cNvPr id="11" name="Rectangle 10"/>
          <p:cNvSpPr/>
          <p:nvPr/>
        </p:nvSpPr>
        <p:spPr>
          <a:xfrm>
            <a:off x="548640" y="1828800"/>
            <a:ext cx="11064240" cy="4343400"/>
          </a:xfrm>
          <a:prstGeom prst="rect">
            <a:avLst/>
          </a:prstGeom>
          <a:solidFill>
            <a:srgbClr val="F7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828800"/>
            <a:ext cx="91440" cy="43434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1993392"/>
            <a:ext cx="10607040" cy="4069080"/>
          </a:xfrm>
          <a:prstGeom prst="rect">
            <a:avLst/>
          </a:prstGeom>
          <a:noFill/>
        </p:spPr>
        <p:txBody>
          <a:bodyPr wrap="square" anchor="t" lIns="50800" rIns="50800" tIns="25400" bIns="25400">
            <a:spAutoFit/>
          </a:bodyPr>
          <a:lstStyle/>
          <a:p>
            <a:pPr>
              <a:lnSpc>
                <a:spcPct val="130000"/>
              </a:lnSpc>
              <a:spcAft>
                <a:spcPts val="300"/>
              </a:spcAft>
            </a:pPr>
            <a:r>
              <a:rPr sz="1600" b="0" i="0">
                <a:solidFill>
                  <a:srgbClr val="202020"/>
                </a:solidFill>
                <a:latin typeface="楷体"/>
                <a:ea typeface="楷体"/>
                <a:cs typeface="楷体"/>
              </a:rPr>
              <a:t>申诉人：刘甲（受害人刘乙之兄），男，31岁，汉族，XX区建设局第三施工队工人</a:t>
            </a:r>
          </a:p>
          <a:p>
            <a:pPr>
              <a:lnSpc>
                <a:spcPct val="130000"/>
              </a:lnSpc>
              <a:spcAft>
                <a:spcPts val="300"/>
              </a:spcAft>
            </a:pPr>
            <a:r>
              <a:rPr sz="1600" b="0" i="0">
                <a:solidFill>
                  <a:srgbClr val="202020"/>
                </a:solidFill>
                <a:latin typeface="楷体"/>
                <a:ea typeface="楷体"/>
                <a:cs typeface="楷体"/>
              </a:rPr>
              <a:t>案由：因“故意伤害致死”一案，不服XX市高级人民法院(20XX)高刑终XX号刑事判决，提出申诉</a:t>
            </a:r>
          </a:p>
          <a:p>
            <a:pPr>
              <a:lnSpc>
                <a:spcPct val="130000"/>
              </a:lnSpc>
              <a:spcAft>
                <a:spcPts val="300"/>
              </a:spcAft>
            </a:pPr>
            <a:r>
              <a:rPr sz="1600" b="0" i="0">
                <a:solidFill>
                  <a:srgbClr val="202020"/>
                </a:solidFill>
                <a:latin typeface="楷体"/>
                <a:ea typeface="楷体"/>
                <a:cs typeface="楷体"/>
              </a:rPr>
              <a:t>申诉理由一：判决书定彭XX为故意伤害致死罪不恰当，应定故意杀人罪——刘乙并未对彭或其他人造成人身威胁，彭XX没有必要用三棱刮刀“主持正义”，若真出于正义而非故意杀人，完全可以采取劝阻和以理服人的方法</a:t>
            </a:r>
          </a:p>
          <a:p>
            <a:pPr>
              <a:lnSpc>
                <a:spcPct val="130000"/>
              </a:lnSpc>
              <a:spcAft>
                <a:spcPts val="300"/>
              </a:spcAft>
            </a:pPr>
            <a:r>
              <a:rPr sz="1600" b="0" i="0">
                <a:solidFill>
                  <a:srgbClr val="202020"/>
                </a:solidFill>
                <a:latin typeface="楷体"/>
                <a:ea typeface="楷体"/>
                <a:cs typeface="楷体"/>
              </a:rPr>
              <a:t>申诉理由二：判决书案情叙述与事实有出入——判决书称刘乙对修建队书记“拦截”“挑衅”，但事实是刘乙当时根本不在场，是申诉人母亲与书记之间发生冲突，刘乙只是后来去找母亲回家吃饭时被彭XX持刀刺死</a:t>
            </a:r>
          </a:p>
          <a:p>
            <a:pPr>
              <a:lnSpc>
                <a:spcPct val="130000"/>
              </a:lnSpc>
              <a:spcAft>
                <a:spcPts val="300"/>
              </a:spcAft>
            </a:pPr>
            <a:r>
              <a:rPr sz="1600" b="0" i="0">
                <a:solidFill>
                  <a:srgbClr val="202020"/>
                </a:solidFill>
                <a:latin typeface="楷体"/>
                <a:ea typeface="楷体"/>
                <a:cs typeface="楷体"/>
              </a:rPr>
              <a:t>申诉理由三：原审依据《刑法》第234条第2款判处彭XX有期徒刑7年，属定性不当、适用法律错误、判刑过轻，应按《刑法》第232条治罪</a:t>
            </a:r>
          </a:p>
          <a:p>
            <a:pPr>
              <a:lnSpc>
                <a:spcPct val="130000"/>
              </a:lnSpc>
              <a:spcAft>
                <a:spcPts val="300"/>
              </a:spcAft>
            </a:pPr>
            <a:r>
              <a:rPr sz="1600" b="0" i="0">
                <a:solidFill>
                  <a:srgbClr val="202020"/>
                </a:solidFill>
                <a:latin typeface="楷体"/>
                <a:ea typeface="楷体"/>
                <a:cs typeface="楷体"/>
              </a:rPr>
              <a:t>请求事项：请求法院对此案重新复查审理，依法对杀人犯彭XX从严惩处</a:t>
            </a:r>
          </a:p>
        </p:txBody>
      </p:sp>
      <p:sp>
        <p:nvSpPr>
          <p:cNvPr id="14" name="TextBox 13"/>
          <p:cNvSpPr txBox="1"/>
          <p:nvPr/>
        </p:nvSpPr>
        <p:spPr>
          <a:xfrm>
            <a:off x="868680" y="6199632"/>
            <a:ext cx="10607040" cy="274320"/>
          </a:xfrm>
          <a:prstGeom prst="rect">
            <a:avLst/>
          </a:prstGeom>
          <a:noFill/>
        </p:spPr>
        <p:txBody>
          <a:bodyPr wrap="square" anchor="t" lIns="50800" rIns="50800" tIns="25400" bIns="25400">
            <a:spAutoFit/>
          </a:bodyPr>
          <a:lstStyle/>
          <a:p>
            <a:r>
              <a:rPr sz="1100" b="0" i="0">
                <a:solidFill>
                  <a:srgbClr val="868686"/>
                </a:solidFill>
                <a:latin typeface="微软雅黑"/>
                <a:ea typeface="微软雅黑"/>
                <a:cs typeface="微软雅黑"/>
              </a:rPr>
              <a:t>教材实例：彭XX故意伤害致死案刑事申诉状（陈卫东、刘计划《法律文书写作（第五版）》）</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第二十三讲　申诉状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八、范文简要评析</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11</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这份申诉状从定性、事实和适用法律三个方面反驳了原判决，提出了申诉意见，重点突出，反驳有力</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针对原判决认定刘乙进行“拦截”“挑衅”，申诉人提出了与此相反的事实（刘乙当时根本不在现场），为反驳原判定性、适用法律奠定了基础——这正体现了前面讲到的“常列举新的事实，从另一个方面论证原裁判的错误”的写法特点</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三个理由层层递进：先从罪名定性入手（故意伤害致死还是故意杀人），再回到案件事实本身（“拦截”“挑衅”是否属实），最后落到法律适用和量刑结论，这种从“定性—事实—量刑”逐层展开的论证结构，值得大家在写作申诉状时借鉴</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第二十三讲　申诉状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九、课堂讨论：申诉状的举证说理强度为何更高</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12</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讨论题：教材在申诉状部分特别强调“应当提供足够的证据”“常常列举新的事实和证据”，这一要求在上诉状部分并没有被同等强调，为什么申诉状对举证说理的要求更高？</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提示一：从程序性质看，上诉启动的是第二审程序，二审法院本身就要对一审裁判进行全面审查，当事人的上诉理由只是审查的一个方面；而申诉启动的是审判监督程序，这是对已经生效裁判的非常规救济，法院在决定是否启动再审之前，会先对申诉理由进行审查，审查标准更为严格</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提示二：从生效裁判的稳定性价值来看，生效裁判一旦被随意推翻，会损害司法裁判的既判力和社会公众对司法的信赖，因此法律对申诉设置了更高的门槛，要求申诉人拿出更充分、更新的事实和证据，证明原裁判“确有错误”，而不能仅凭对裁判结果的不满就提出申诉</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提示三：这也提示我们，律师在代理申诉案件时，工作重点往往不是简单重复一审、二审已经提出过的意见，而应当尽可能挖掘新的证据材料或者发现原审中被忽略的程序性问题，这正是彭XX案申诉状给我们的启示——提出刘乙根本不在场这一关键事实</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第二十三讲　申诉状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小结与作业</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13</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71600"/>
            <a:ext cx="11064240" cy="4297680"/>
          </a:xfrm>
          <a:prstGeom prst="rect">
            <a:avLst/>
          </a:prstGeom>
          <a:noFill/>
        </p:spPr>
        <p:txBody>
          <a:bodyPr wrap="square" anchor="t" lIns="50800" rIns="50800" tIns="25400" bIns="25400">
            <a:spAutoFit/>
          </a:bodyPr>
          <a:lstStyle/>
          <a:p>
            <a:pPr lvl="1">
              <a:lnSpc>
                <a:spcPct val="122000"/>
              </a:lnSpc>
              <a:spcAft>
                <a:spcPts val="300"/>
              </a:spcAft>
            </a:pPr>
            <a:r>
              <a:rPr sz="1800" b="1" i="0">
                <a:solidFill>
                  <a:srgbClr val="B6862C"/>
                </a:solidFill>
                <a:latin typeface="微软雅黑"/>
                <a:ea typeface="微软雅黑"/>
                <a:cs typeface="微软雅黑"/>
              </a:rPr>
              <a:t>    ● </a:t>
            </a:r>
            <a:r>
              <a:rPr sz="1800" b="1" i="0">
                <a:solidFill>
                  <a:srgbClr val="B6862C"/>
                </a:solidFill>
                <a:latin typeface="微软雅黑"/>
                <a:ea typeface="微软雅黑"/>
                <a:cs typeface="微软雅黑"/>
              </a:rPr>
              <a:t>申诉状：已发生法律效力的判决、裁定有错误时，向法院或检察院申请复查纠正的书状；申诉引起审判监督程序，区别于引起第二审程序的上诉</a:t>
            </a:r>
          </a:p>
          <a:p>
            <a:pPr lvl="1">
              <a:lnSpc>
                <a:spcPct val="122000"/>
              </a:lnSpc>
              <a:spcAft>
                <a:spcPts val="300"/>
              </a:spcAft>
            </a:pPr>
            <a:r>
              <a:rPr sz="1800" b="1" i="0">
                <a:solidFill>
                  <a:srgbClr val="B6862C"/>
                </a:solidFill>
                <a:latin typeface="微软雅黑"/>
                <a:ea typeface="微软雅黑"/>
                <a:cs typeface="微软雅黑"/>
              </a:rPr>
              <a:t>    ● </a:t>
            </a:r>
            <a:r>
              <a:rPr sz="1800" b="1" i="0">
                <a:solidFill>
                  <a:srgbClr val="B6862C"/>
                </a:solidFill>
                <a:latin typeface="微软雅黑"/>
                <a:ea typeface="微软雅黑"/>
                <a:cs typeface="微软雅黑"/>
              </a:rPr>
              <a:t>申诉状四部分写法：首部（标题、申诉人状况、案由援引终审裁判文书号）、请求事项、事实与理由（摆事实讲道理、常列举新证据）、结尾（此致、签名、附项）</a:t>
            </a:r>
          </a:p>
          <a:p>
            <a:pPr lvl="1">
              <a:lnSpc>
                <a:spcPct val="122000"/>
              </a:lnSpc>
              <a:spcAft>
                <a:spcPts val="300"/>
              </a:spcAft>
            </a:pPr>
            <a:r>
              <a:rPr sz="1800" b="1" i="0">
                <a:solidFill>
                  <a:srgbClr val="B6862C"/>
                </a:solidFill>
                <a:latin typeface="微软雅黑"/>
                <a:ea typeface="微软雅黑"/>
                <a:cs typeface="微软雅黑"/>
              </a:rPr>
              <a:t>    ● </a:t>
            </a:r>
            <a:r>
              <a:rPr sz="1800" b="1" i="0">
                <a:solidFill>
                  <a:srgbClr val="B6862C"/>
                </a:solidFill>
                <a:latin typeface="微软雅黑"/>
                <a:ea typeface="微软雅黑"/>
                <a:cs typeface="微软雅黑"/>
              </a:rPr>
              <a:t>彭XX案申诉状从定性、事实、法律适用三方面反驳原判，提出关键的新事实（被害人不在场），值得借鉴</a:t>
            </a:r>
          </a:p>
        </p:txBody>
      </p:sp>
      <p:sp>
        <p:nvSpPr>
          <p:cNvPr id="10" name="Rectangle 9"/>
          <p:cNvSpPr/>
          <p:nvPr/>
        </p:nvSpPr>
        <p:spPr>
          <a:xfrm>
            <a:off x="548640" y="5669280"/>
            <a:ext cx="11064240" cy="6858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733288"/>
            <a:ext cx="10515600" cy="566928"/>
          </a:xfrm>
          <a:prstGeom prst="rect">
            <a:avLst/>
          </a:prstGeom>
          <a:noFill/>
        </p:spPr>
        <p:txBody>
          <a:bodyPr wrap="square" anchor="ctr" lIns="50800" rIns="50800" tIns="25400" bIns="25400">
            <a:spAutoFit/>
          </a:bodyPr>
          <a:lstStyle/>
          <a:p>
            <a:r>
              <a:rPr sz="1500" b="1" i="0">
                <a:solidFill>
                  <a:srgbClr val="B6862C"/>
                </a:solidFill>
                <a:latin typeface="微软雅黑"/>
                <a:ea typeface="微软雅黑"/>
                <a:cs typeface="微软雅黑"/>
              </a:rPr>
              <a:t>思考  </a:t>
            </a:r>
            <a:r>
              <a:rPr sz="1500" b="0" i="0">
                <a:solidFill>
                  <a:srgbClr val="FFFFFF"/>
                </a:solidFill>
                <a:latin typeface="微软雅黑"/>
                <a:ea typeface="微软雅黑"/>
                <a:cs typeface="微软雅黑"/>
              </a:rPr>
              <a:t>下一讲我们将学习答辩状的写作方法，这是与诉状、上诉状相对应的另一类重要诉讼文书。</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