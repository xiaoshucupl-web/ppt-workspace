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请注意“应当取得”四个字：这不是倡导性规定，而是强制性的任职资格条件。未取得法律职业资格而从事上述职业的，任职行为本身即不合法。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请比较三个定义的落点：律师定义于“提供法律服务”，法官定义于“行使审判权”，检察官定义于“行使检察权”。一个是服务提供者，两个是公权力行使者——这一区别，正是三者职业伦理内容差异的根源。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01</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第一编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总论：法律职业与职业伦理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从“法律人是谁”出发，建立职业伦理的概念框架、规范体系与评价标准</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第1课时　导论：法律职业伦理为何是法学教育的必修课</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第2课时　法律职业：概念、特征与法律职业共同体</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第3课时　法律职业伦理的概念、性质与理论基础</a:t>
            </a:r>
            <a:endParaRPr lang="en-US" sz="1350" dirty="0"/>
          </a:p>
        </p:txBody>
      </p:sp>
      <p:sp>
        <p:nvSpPr>
          <p:cNvPr id="14" name="Text 12"/>
          <p:cNvSpPr/>
          <p:nvPr/>
        </p:nvSpPr>
        <p:spPr>
          <a:xfrm>
            <a:off x="8476488" y="378675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4</a:t>
            </a:r>
            <a:endParaRPr lang="en-US" sz="1250" dirty="0"/>
          </a:p>
        </p:txBody>
      </p:sp>
      <p:sp>
        <p:nvSpPr>
          <p:cNvPr id="15" name="Text 13"/>
          <p:cNvSpPr/>
          <p:nvPr/>
        </p:nvSpPr>
        <p:spPr>
          <a:xfrm>
            <a:off x="8823960" y="378675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第4课时　法律职业伦理的渊源、体系与中外发展</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法律职业：概念、特征与法律职业共同体</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在讨论“法律人应当怎样行为”之前，必须先回答“法律人究竟是谁”</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“职业”与“工作”“行业”有什么本质区别？</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法律职业凭什么享有垄断性的准入门槛？</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法律职业共同体是现实，还是一个理想？</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从“职业”到“法律职业共同体”</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一、什么是“职业”：一个被误用的词</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二、法律职业的四项特征</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三、法律职业资格制度：准入的门槛</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四、法律职业的范围：广义与狭义</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五、法律职业共同体：理想与现实</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什么是“职业”：一个被误用的词</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职业球员、职业杀手、职业分类——它们和“法律职业”说的是同一件事吗？</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概念澄清</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我们日常所说的“职业”，至少有三种含义</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汉语中的“职业”一词高度含混。请先把三种用法区分开来，否则后面的讨论会失焦。</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第一种：occupation（谋生的工作）。</a:t>
            </a:r>
            <a:endParaRPr lang="en-US" sz="1600" dirty="0"/>
          </a:p>
          <a:p>
            <a:pPr lvl="1" marL="457200" indent="-228600">
              <a:lnSpc>
                <a:spcPts val="2400"/>
              </a:lnSpc>
              <a:spcAft>
                <a:spcPts val="800"/>
              </a:spcAft>
              <a:buSzPct val="100000"/>
              <a:buChar char="▫"/>
            </a:pPr>
            <a:r>
              <a:rPr lang="en-US" sz="1500" dirty="0">
                <a:solidFill>
                  <a:srgbClr val="6B7684"/>
                </a:solidFill>
                <a:latin typeface="微软雅黑" pitchFamily="34" charset="0"/>
                <a:ea typeface="微软雅黑" pitchFamily="34" charset="-122"/>
                <a:cs typeface="微软雅黑" pitchFamily="34" charset="-120"/>
              </a:rPr>
              <a:t>指个人赖以谋生的活动。在这个意义上，快递员、程序员、教师、律师都是“职业”，彼此之间没有高下之分。人口普查中的“职业分类”用的就是这个含义。</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第二种：professional（专业化、以此为生的）。</a:t>
            </a:r>
            <a:endParaRPr lang="en-US" sz="1600" dirty="0"/>
          </a:p>
          <a:p>
            <a:pPr lvl="1" marL="457200" indent="-228600">
              <a:lnSpc>
                <a:spcPts val="2400"/>
              </a:lnSpc>
              <a:spcAft>
                <a:spcPts val="800"/>
              </a:spcAft>
              <a:buSzPct val="100000"/>
              <a:buChar char="▫"/>
            </a:pPr>
            <a:r>
              <a:rPr lang="en-US" sz="1500" dirty="0">
                <a:solidFill>
                  <a:srgbClr val="6B7684"/>
                </a:solidFill>
                <a:latin typeface="微软雅黑" pitchFamily="34" charset="0"/>
                <a:ea typeface="微软雅黑" pitchFamily="34" charset="-122"/>
                <a:cs typeface="微软雅黑" pitchFamily="34" charset="-120"/>
              </a:rPr>
              <a:t>与“业余”相对。“职业球员”“职业棋手”中的“职业”就是这个意思，强调的是以此为生、训练有素，而非兼职玩票。“职业杀手”这种用法则是一种修辞借用。</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第三种：profession（专门职业 / 专业）。</a:t>
            </a:r>
            <a:endParaRPr lang="en-US" sz="1600" dirty="0"/>
          </a:p>
          <a:p>
            <a:pPr lvl="1" marL="457200" indent="-228600">
              <a:lnSpc>
                <a:spcPts val="2400"/>
              </a:lnSpc>
              <a:spcAft>
                <a:spcPts val="800"/>
              </a:spcAft>
              <a:buSzPct val="100000"/>
              <a:buChar char="▫"/>
            </a:pPr>
            <a:r>
              <a:rPr lang="en-US" sz="1500" dirty="0">
                <a:solidFill>
                  <a:srgbClr val="6B7684"/>
                </a:solidFill>
                <a:latin typeface="微软雅黑" pitchFamily="34" charset="0"/>
                <a:ea typeface="微软雅黑" pitchFamily="34" charset="-122"/>
                <a:cs typeface="微软雅黑" pitchFamily="34" charset="-120"/>
              </a:rPr>
              <a:t>这才是“法律职业伦理”中“职业”的确切含义。传统上只有三种职业被称为 profession：神职、医生、律师。它们的共同点是：博学、准入受限、自我管理、承担公共责任、以服务而非牟利为宗旨。</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词源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profession：一个来自“宣誓”的词</a:t>
            </a:r>
            <a:endParaRPr lang="en-US" sz="2800" dirty="0"/>
          </a:p>
        </p:txBody>
      </p:sp>
      <p:sp>
        <p:nvSpPr>
          <p:cNvPr id="4" name="Shape 2"/>
          <p:cNvSpPr/>
          <p:nvPr/>
        </p:nvSpPr>
        <p:spPr>
          <a:xfrm>
            <a:off x="566928" y="2181924"/>
            <a:ext cx="3527450" cy="3335401"/>
          </a:xfrm>
          <a:prstGeom prst="roundRect">
            <a:avLst>
              <a:gd name="adj" fmla="val 2741"/>
            </a:avLst>
          </a:prstGeom>
          <a:solidFill>
            <a:srgbClr val="F2F4F8"/>
          </a:solidFill>
          <a:ln w="12700">
            <a:solidFill>
              <a:srgbClr val="F2F4F8"/>
            </a:solidFill>
            <a:prstDash val="solid"/>
          </a:ln>
        </p:spPr>
      </p:sp>
      <p:sp>
        <p:nvSpPr>
          <p:cNvPr id="5" name="Shape 3"/>
          <p:cNvSpPr/>
          <p:nvPr/>
        </p:nvSpPr>
        <p:spPr>
          <a:xfrm>
            <a:off x="886968" y="2474532"/>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611692"/>
            <a:ext cx="182880" cy="182880"/>
          </a:xfrm>
          <a:prstGeom prst="rect">
            <a:avLst/>
          </a:prstGeom>
        </p:spPr>
      </p:pic>
      <p:sp>
        <p:nvSpPr>
          <p:cNvPr id="7" name="Text 4"/>
          <p:cNvSpPr/>
          <p:nvPr/>
        </p:nvSpPr>
        <p:spPr>
          <a:xfrm>
            <a:off x="886968"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源于 profess（公开宣告）</a:t>
            </a:r>
            <a:endParaRPr lang="en-US" sz="1700" dirty="0"/>
          </a:p>
        </p:txBody>
      </p:sp>
      <p:sp>
        <p:nvSpPr>
          <p:cNvPr id="8" name="Text 5"/>
          <p:cNvSpPr/>
          <p:nvPr/>
        </p:nvSpPr>
        <p:spPr>
          <a:xfrm>
            <a:off x="886968"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拉丁语 professio，意为“公开的宣告、声明”。中世纪修士加入修会时须公开宣誓，宣告自己献身于某种理想，这一行为即 profession。</a:t>
            </a:r>
            <a:endParaRPr lang="en-US" sz="1450" dirty="0"/>
          </a:p>
        </p:txBody>
      </p:sp>
      <p:sp>
        <p:nvSpPr>
          <p:cNvPr id="9" name="Shape 6"/>
          <p:cNvSpPr/>
          <p:nvPr/>
        </p:nvSpPr>
        <p:spPr>
          <a:xfrm>
            <a:off x="4332122" y="2181924"/>
            <a:ext cx="3527450" cy="3335401"/>
          </a:xfrm>
          <a:prstGeom prst="roundRect">
            <a:avLst>
              <a:gd name="adj" fmla="val 2741"/>
            </a:avLst>
          </a:prstGeom>
          <a:solidFill>
            <a:srgbClr val="F2F4F8"/>
          </a:solidFill>
          <a:ln w="12700">
            <a:solidFill>
              <a:srgbClr val="F2F4F8"/>
            </a:solidFill>
            <a:prstDash val="solid"/>
          </a:ln>
        </p:spPr>
      </p:sp>
      <p:sp>
        <p:nvSpPr>
          <p:cNvPr id="10" name="Shape 7"/>
          <p:cNvSpPr/>
          <p:nvPr/>
        </p:nvSpPr>
        <p:spPr>
          <a:xfrm>
            <a:off x="4652162" y="2474532"/>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4789322" y="2611692"/>
            <a:ext cx="182880" cy="182880"/>
          </a:xfrm>
          <a:prstGeom prst="rect">
            <a:avLst/>
          </a:prstGeom>
        </p:spPr>
      </p:pic>
      <p:sp>
        <p:nvSpPr>
          <p:cNvPr id="12" name="Text 8"/>
          <p:cNvSpPr/>
          <p:nvPr/>
        </p:nvSpPr>
        <p:spPr>
          <a:xfrm>
            <a:off x="4652162"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转指须经宣誓的博学职业</a:t>
            </a:r>
            <a:endParaRPr lang="en-US" sz="1700" dirty="0"/>
          </a:p>
        </p:txBody>
      </p:sp>
      <p:sp>
        <p:nvSpPr>
          <p:cNvPr id="13" name="Text 9"/>
          <p:cNvSpPr/>
          <p:nvPr/>
        </p:nvSpPr>
        <p:spPr>
          <a:xfrm>
            <a:off x="4652162"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词义演变后，用以描述那些要求新成员公开宣誓、声明其致力于该职业理想与业务的博学行当。至今英美法律人取得执业资格仍须宣誓，我国亦有法律职业人员宪法宣誓制度。</a:t>
            </a:r>
            <a:endParaRPr lang="en-US" sz="1450" dirty="0"/>
          </a:p>
        </p:txBody>
      </p:sp>
      <p:sp>
        <p:nvSpPr>
          <p:cNvPr id="14" name="Shape 10"/>
          <p:cNvSpPr/>
          <p:nvPr/>
        </p:nvSpPr>
        <p:spPr>
          <a:xfrm>
            <a:off x="8097317" y="2181924"/>
            <a:ext cx="3527450" cy="3335401"/>
          </a:xfrm>
          <a:prstGeom prst="roundRect">
            <a:avLst>
              <a:gd name="adj" fmla="val 2741"/>
            </a:avLst>
          </a:prstGeom>
          <a:solidFill>
            <a:srgbClr val="F2F4F8"/>
          </a:solidFill>
          <a:ln w="12700">
            <a:solidFill>
              <a:srgbClr val="F2F4F8"/>
            </a:solidFill>
            <a:prstDash val="solid"/>
          </a:ln>
        </p:spPr>
      </p:sp>
      <p:sp>
        <p:nvSpPr>
          <p:cNvPr id="15" name="Shape 11"/>
          <p:cNvSpPr/>
          <p:nvPr/>
        </p:nvSpPr>
        <p:spPr>
          <a:xfrm>
            <a:off x="8417357" y="2474532"/>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8554517" y="2611692"/>
            <a:ext cx="182880" cy="182880"/>
          </a:xfrm>
          <a:prstGeom prst="rect">
            <a:avLst/>
          </a:prstGeom>
        </p:spPr>
      </p:pic>
      <p:sp>
        <p:nvSpPr>
          <p:cNvPr id="17" name="Text 12"/>
          <p:cNvSpPr/>
          <p:nvPr/>
        </p:nvSpPr>
        <p:spPr>
          <a:xfrm>
            <a:off x="8417357" y="3096324"/>
            <a:ext cx="2887370" cy="539750"/>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宣誓的含义：先有承诺，后有权利</a:t>
            </a:r>
            <a:endParaRPr lang="en-US" sz="1700" dirty="0"/>
          </a:p>
        </p:txBody>
      </p:sp>
      <p:sp>
        <p:nvSpPr>
          <p:cNvPr id="18" name="Text 13"/>
          <p:cNvSpPr/>
          <p:nvPr/>
        </p:nvSpPr>
        <p:spPr>
          <a:xfrm>
            <a:off x="8417357" y="3764090"/>
            <a:ext cx="2887370" cy="15337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宣誓意味着：你先向共同体承诺遵守某些标准，共同体才授予你从业的资格。职业伦理不是执业之后附加的负担，而是取得执业资格的前提条件。</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学说</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profession 的构成要素：学界的公认清单</a:t>
            </a:r>
            <a:endParaRPr lang="en-US" sz="2800" dirty="0"/>
          </a:p>
        </p:txBody>
      </p:sp>
      <p:sp>
        <p:nvSpPr>
          <p:cNvPr id="4" name="Shape 2"/>
          <p:cNvSpPr/>
          <p:nvPr/>
        </p:nvSpPr>
        <p:spPr>
          <a:xfrm>
            <a:off x="566928" y="1316736"/>
            <a:ext cx="11057839"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841248" y="150876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62379"/>
            <a:ext cx="204826" cy="204826"/>
          </a:xfrm>
          <a:prstGeom prst="rect">
            <a:avLst/>
          </a:prstGeom>
        </p:spPr>
      </p:pic>
      <p:sp>
        <p:nvSpPr>
          <p:cNvPr id="7" name="Text 4"/>
          <p:cNvSpPr/>
          <p:nvPr/>
        </p:nvSpPr>
        <p:spPr>
          <a:xfrm>
            <a:off x="1536192" y="1503934"/>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博学性（learned）</a:t>
            </a:r>
            <a:endParaRPr lang="en-US" sz="1400" dirty="0"/>
          </a:p>
        </p:txBody>
      </p:sp>
      <p:sp>
        <p:nvSpPr>
          <p:cNvPr id="8" name="Text 5"/>
          <p:cNvSpPr/>
          <p:nvPr/>
        </p:nvSpPr>
        <p:spPr>
          <a:xfrm>
            <a:off x="1536192" y="1804670"/>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以系统的、需要长期训练才能掌握的理论知识为基础。这种知识不能靠短期培训或经验模仿获得，必须经由正规教育体系传授。</a:t>
            </a:r>
            <a:endParaRPr lang="en-US" sz="1200" dirty="0"/>
          </a:p>
        </p:txBody>
      </p:sp>
      <p:sp>
        <p:nvSpPr>
          <p:cNvPr id="9" name="Shape 6"/>
          <p:cNvSpPr/>
          <p:nvPr/>
        </p:nvSpPr>
        <p:spPr>
          <a:xfrm>
            <a:off x="566928" y="2359152"/>
            <a:ext cx="11057839" cy="896112"/>
          </a:xfrm>
          <a:prstGeom prst="roundRect">
            <a:avLst>
              <a:gd name="adj" fmla="val 8163"/>
            </a:avLst>
          </a:prstGeom>
          <a:solidFill>
            <a:srgbClr val="FFFFFF"/>
          </a:solidFill>
          <a:ln w="12700">
            <a:solidFill>
              <a:srgbClr val="D5DBE5"/>
            </a:solidFill>
            <a:prstDash val="solid"/>
          </a:ln>
        </p:spPr>
      </p:sp>
      <p:sp>
        <p:nvSpPr>
          <p:cNvPr id="10" name="Shape 7"/>
          <p:cNvSpPr/>
          <p:nvPr/>
        </p:nvSpPr>
        <p:spPr>
          <a:xfrm>
            <a:off x="841248" y="2551176"/>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704795"/>
            <a:ext cx="204826" cy="204826"/>
          </a:xfrm>
          <a:prstGeom prst="rect">
            <a:avLst/>
          </a:prstGeom>
        </p:spPr>
      </p:pic>
      <p:sp>
        <p:nvSpPr>
          <p:cNvPr id="12" name="Text 8"/>
          <p:cNvSpPr/>
          <p:nvPr/>
        </p:nvSpPr>
        <p:spPr>
          <a:xfrm>
            <a:off x="1536192" y="2546350"/>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公共精神（public service）</a:t>
            </a:r>
            <a:endParaRPr lang="en-US" sz="1400" dirty="0"/>
          </a:p>
        </p:txBody>
      </p:sp>
      <p:sp>
        <p:nvSpPr>
          <p:cNvPr id="13" name="Text 9"/>
          <p:cNvSpPr/>
          <p:nvPr/>
        </p:nvSpPr>
        <p:spPr>
          <a:xfrm>
            <a:off x="1536192" y="2847086"/>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以服务公众为宗旨，服务本身具有重要的社会价值；从业者与所服务的对象之间存在紧密的个人联系与信任关系，而非一次性的市场交易。</a:t>
            </a:r>
            <a:endParaRPr lang="en-US" sz="1200" dirty="0"/>
          </a:p>
        </p:txBody>
      </p:sp>
      <p:sp>
        <p:nvSpPr>
          <p:cNvPr id="14" name="Shape 10"/>
          <p:cNvSpPr/>
          <p:nvPr/>
        </p:nvSpPr>
        <p:spPr>
          <a:xfrm>
            <a:off x="566928" y="3401568"/>
            <a:ext cx="11057839" cy="896112"/>
          </a:xfrm>
          <a:prstGeom prst="roundRect">
            <a:avLst>
              <a:gd name="adj" fmla="val 8163"/>
            </a:avLst>
          </a:prstGeom>
          <a:solidFill>
            <a:srgbClr val="F2F4F8"/>
          </a:solidFill>
          <a:ln w="12700">
            <a:solidFill>
              <a:srgbClr val="F2F4F8"/>
            </a:solidFill>
            <a:prstDash val="solid"/>
          </a:ln>
        </p:spPr>
      </p:sp>
      <p:sp>
        <p:nvSpPr>
          <p:cNvPr id="15" name="Shape 11"/>
          <p:cNvSpPr/>
          <p:nvPr/>
        </p:nvSpPr>
        <p:spPr>
          <a:xfrm>
            <a:off x="841248" y="359359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747211"/>
            <a:ext cx="204826" cy="204826"/>
          </a:xfrm>
          <a:prstGeom prst="rect">
            <a:avLst/>
          </a:prstGeom>
        </p:spPr>
      </p:pic>
      <p:sp>
        <p:nvSpPr>
          <p:cNvPr id="17" name="Text 12"/>
          <p:cNvSpPr/>
          <p:nvPr/>
        </p:nvSpPr>
        <p:spPr>
          <a:xfrm>
            <a:off x="1536192" y="358876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准入门槛（entry barrier）</a:t>
            </a:r>
            <a:endParaRPr lang="en-US" sz="1400" dirty="0"/>
          </a:p>
        </p:txBody>
      </p:sp>
      <p:sp>
        <p:nvSpPr>
          <p:cNvPr id="18" name="Text 13"/>
          <p:cNvSpPr/>
          <p:nvPr/>
        </p:nvSpPr>
        <p:spPr>
          <a:xfrm>
            <a:off x="1536192" y="3889502"/>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通过考试、执照、实习等制度限制进入，非经许可不得从事。这既是对公众的保护，也带来了垄断性的执业利益。</a:t>
            </a:r>
            <a:endParaRPr lang="en-US" sz="1200" dirty="0"/>
          </a:p>
        </p:txBody>
      </p:sp>
      <p:sp>
        <p:nvSpPr>
          <p:cNvPr id="19" name="Shape 14"/>
          <p:cNvSpPr/>
          <p:nvPr/>
        </p:nvSpPr>
        <p:spPr>
          <a:xfrm>
            <a:off x="566928" y="4443984"/>
            <a:ext cx="11057839" cy="896112"/>
          </a:xfrm>
          <a:prstGeom prst="roundRect">
            <a:avLst>
              <a:gd name="adj" fmla="val 8163"/>
            </a:avLst>
          </a:prstGeom>
          <a:solidFill>
            <a:srgbClr val="FFFFFF"/>
          </a:solidFill>
          <a:ln w="12700">
            <a:solidFill>
              <a:srgbClr val="D5DBE5"/>
            </a:solidFill>
            <a:prstDash val="solid"/>
          </a:ln>
        </p:spPr>
      </p:sp>
      <p:sp>
        <p:nvSpPr>
          <p:cNvPr id="20" name="Shape 15"/>
          <p:cNvSpPr/>
          <p:nvPr/>
        </p:nvSpPr>
        <p:spPr>
          <a:xfrm>
            <a:off x="841248" y="4636008"/>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789627"/>
            <a:ext cx="204826" cy="204826"/>
          </a:xfrm>
          <a:prstGeom prst="rect">
            <a:avLst/>
          </a:prstGeom>
        </p:spPr>
      </p:pic>
      <p:sp>
        <p:nvSpPr>
          <p:cNvPr id="22" name="Text 16"/>
          <p:cNvSpPr/>
          <p:nvPr/>
        </p:nvSpPr>
        <p:spPr>
          <a:xfrm>
            <a:off x="1536192" y="4631182"/>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自治与自律（autonomy）</a:t>
            </a:r>
            <a:endParaRPr lang="en-US" sz="1400" dirty="0"/>
          </a:p>
        </p:txBody>
      </p:sp>
      <p:sp>
        <p:nvSpPr>
          <p:cNvPr id="23" name="Text 17"/>
          <p:cNvSpPr/>
          <p:nvPr/>
        </p:nvSpPr>
        <p:spPr>
          <a:xfrm>
            <a:off x="1536192" y="4931918"/>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由同行组成的自治组织进行管理，通过道德准则对成员加以控制，并享有一定程度的独立性，摆脱纯粹的个人考虑或外部干预。</a:t>
            </a:r>
            <a:endParaRPr lang="en-US" sz="1200" dirty="0"/>
          </a:p>
        </p:txBody>
      </p:sp>
      <p:sp>
        <p:nvSpPr>
          <p:cNvPr id="24" name="Shape 18"/>
          <p:cNvSpPr/>
          <p:nvPr/>
        </p:nvSpPr>
        <p:spPr>
          <a:xfrm>
            <a:off x="566928" y="5486400"/>
            <a:ext cx="11057839" cy="896112"/>
          </a:xfrm>
          <a:prstGeom prst="roundRect">
            <a:avLst>
              <a:gd name="adj" fmla="val 8163"/>
            </a:avLst>
          </a:prstGeom>
          <a:solidFill>
            <a:srgbClr val="F2F4F8"/>
          </a:solidFill>
          <a:ln w="12700">
            <a:solidFill>
              <a:srgbClr val="F2F4F8"/>
            </a:solidFill>
            <a:prstDash val="solid"/>
          </a:ln>
        </p:spPr>
      </p:sp>
      <p:sp>
        <p:nvSpPr>
          <p:cNvPr id="25" name="Shape 19"/>
          <p:cNvSpPr/>
          <p:nvPr/>
        </p:nvSpPr>
        <p:spPr>
          <a:xfrm>
            <a:off x="841248" y="5678424"/>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32043"/>
            <a:ext cx="204826" cy="204826"/>
          </a:xfrm>
          <a:prstGeom prst="rect">
            <a:avLst/>
          </a:prstGeom>
        </p:spPr>
      </p:pic>
      <p:sp>
        <p:nvSpPr>
          <p:cNvPr id="27" name="Text 20"/>
          <p:cNvSpPr/>
          <p:nvPr/>
        </p:nvSpPr>
        <p:spPr>
          <a:xfrm>
            <a:off x="1536192" y="5673598"/>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高声望与相应的高标准</a:t>
            </a:r>
            <a:endParaRPr lang="en-US" sz="1400" dirty="0"/>
          </a:p>
        </p:txBody>
      </p:sp>
      <p:sp>
        <p:nvSpPr>
          <p:cNvPr id="28" name="Text 21"/>
          <p:cNvSpPr/>
          <p:nvPr/>
        </p:nvSpPr>
        <p:spPr>
          <a:xfrm>
            <a:off x="1536192" y="5974334"/>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职业享有高于一般行业的社会声望与收入，作为对价，社会有权要求其成员遵守高于一般人的行为标准。这是理解职业伦理正当性的关键。</a:t>
            </a:r>
            <a:endParaRPr lang="en-US" sz="12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职业是这样一群人：他们持有共同的专业知识，以此谋生，同时又宣称自己的首要义务不是牟利，而是服务。</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职业社会学的经典命题</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这一“服务优先于牟利”的宣称，正是职业区别于一般行业的分水岭，也是职业伦理全部约束力的来源</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法律职业的四项特征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专业性、公共性、自治性、伦理性——四者互相支撑，缺一不可</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专业性：法律人凭什么被称为专业人士</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共同的教育背景</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系统的法学教育塑造了共同的知识结构。学过法学的人和没学过的人，看同一件事的方式完全不同——前者会自动去找“请求权基础”“构成要件”“证明责任”。</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独特的法律思维</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以权利义务为分析线索，以合法性为首要判断，重视程序，遵循先例与体系，讲究“以法律术语思考”。这是一种需要长期训练才能形成的思维习惯。</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共同的话语体系</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善意取得、表见代理、期待可能性、既判力——这套术语构成了法律人之间的“行话”，使精确交流成为可能，同时也构成了对外行的天然屏障。</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严格的资格准入</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国家统一法律职业资格考试是专业性的制度保障。它把“具备专业能力”这一事实判断，转化为“取得法律职业资格”这一制度事实。</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专业性的制度基础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法律职业资格的法律依据</a:t>
            </a:r>
            <a:endParaRPr lang="en-US" sz="2800" dirty="0"/>
          </a:p>
        </p:txBody>
      </p:sp>
      <p:sp>
        <p:nvSpPr>
          <p:cNvPr id="4" name="Shape 2"/>
          <p:cNvSpPr/>
          <p:nvPr/>
        </p:nvSpPr>
        <p:spPr>
          <a:xfrm>
            <a:off x="566928" y="1316736"/>
            <a:ext cx="11057839" cy="1467739"/>
          </a:xfrm>
          <a:prstGeom prst="roundRect">
            <a:avLst>
              <a:gd name="adj" fmla="val 623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《中共中央关于全面推进依法治国若干重大问题的决定》（2014年）</a:t>
            </a:r>
            <a:endParaRPr lang="en-US" sz="1500" dirty="0"/>
          </a:p>
        </p:txBody>
      </p:sp>
      <p:sp>
        <p:nvSpPr>
          <p:cNvPr id="8" name="Text 6"/>
          <p:cNvSpPr/>
          <p:nvPr/>
        </p:nvSpPr>
        <p:spPr>
          <a:xfrm>
            <a:off x="960120" y="1956816"/>
            <a:ext cx="10271455" cy="60820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完善法律职业准入制度，健全国家统一法律职业资格考试制度，建立法律职业人员统一职前培训制度。</a:t>
            </a:r>
            <a:endParaRPr lang="en-US" sz="1550" dirty="0"/>
          </a:p>
        </p:txBody>
      </p:sp>
      <p:sp>
        <p:nvSpPr>
          <p:cNvPr id="9" name="Shape 7"/>
          <p:cNvSpPr/>
          <p:nvPr/>
        </p:nvSpPr>
        <p:spPr>
          <a:xfrm>
            <a:off x="566928" y="2967355"/>
            <a:ext cx="11057839" cy="2058289"/>
          </a:xfrm>
          <a:prstGeom prst="roundRect">
            <a:avLst>
              <a:gd name="adj" fmla="val 4443"/>
            </a:avLst>
          </a:prstGeom>
          <a:solidFill>
            <a:srgbClr val="F6F1E8"/>
          </a:solidFill>
          <a:ln w="12700">
            <a:solidFill>
              <a:srgbClr val="F6F1E8"/>
            </a:solidFill>
            <a:prstDash val="solid"/>
          </a:ln>
        </p:spPr>
      </p:sp>
      <p:sp>
        <p:nvSpPr>
          <p:cNvPr id="10" name="Shape 8"/>
          <p:cNvSpPr/>
          <p:nvPr/>
        </p:nvSpPr>
        <p:spPr>
          <a:xfrm>
            <a:off x="877824" y="320509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0509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18681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《国家统一法律职业资格考试实施办法》（2018年）第二条</a:t>
            </a:r>
            <a:endParaRPr lang="en-US" sz="1500" dirty="0"/>
          </a:p>
        </p:txBody>
      </p:sp>
      <p:sp>
        <p:nvSpPr>
          <p:cNvPr id="13" name="Text 11"/>
          <p:cNvSpPr/>
          <p:nvPr/>
        </p:nvSpPr>
        <p:spPr>
          <a:xfrm>
            <a:off x="960120" y="3607435"/>
            <a:ext cx="10271455" cy="119875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国家统一法律职业资格考试，是国家按照条件公平、机会均等、程序公开、择优录用的原则，选拔合格法律职业人才的国家考试。</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初任法官、初任检察官、申请律师执业、初任公证员，以及担任法律顾问、仲裁员（法律类）和政府部门中初次从事行政处罚决定审核、行政复议、行政裁决的公务员，应当取得国家统一法律职业资格。</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请注意“应当取得”四个字：这不是倡导性规定，而是强制性的任职资格条件。未取得法律职业资格而从事上述职业的，任职行为本身即不合法。</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制度演进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从司法考试到法律职业资格考试：三点重要进展</a:t>
            </a:r>
            <a:endParaRPr lang="en-US" sz="2800" dirty="0"/>
          </a:p>
        </p:txBody>
      </p:sp>
      <p:sp>
        <p:nvSpPr>
          <p:cNvPr id="4" name="Shape 2"/>
          <p:cNvSpPr/>
          <p:nvPr/>
        </p:nvSpPr>
        <p:spPr>
          <a:xfrm>
            <a:off x="566928" y="1316736"/>
            <a:ext cx="11057839" cy="1356836"/>
          </a:xfrm>
          <a:prstGeom prst="roundRect">
            <a:avLst>
              <a:gd name="adj" fmla="val 5391"/>
            </a:avLst>
          </a:prstGeom>
          <a:solidFill>
            <a:srgbClr val="F2F4F8"/>
          </a:solidFill>
          <a:ln w="12700">
            <a:solidFill>
              <a:srgbClr val="F2F4F8"/>
            </a:solidFill>
            <a:prstDash val="solid"/>
          </a:ln>
        </p:spPr>
      </p:sp>
      <p:sp>
        <p:nvSpPr>
          <p:cNvPr id="5" name="Shape 3"/>
          <p:cNvSpPr/>
          <p:nvPr/>
        </p:nvSpPr>
        <p:spPr>
          <a:xfrm>
            <a:off x="841248" y="1757410"/>
            <a:ext cx="475488" cy="475488"/>
          </a:xfrm>
          <a:prstGeom prst="ellipse">
            <a:avLst/>
          </a:prstGeom>
          <a:solidFill>
            <a:srgbClr val="13233F"/>
          </a:solidFill>
          <a:ln w="12700">
            <a:solidFill>
              <a:srgbClr val="13233F"/>
            </a:solidFill>
            <a:prstDash val="solid"/>
          </a:ln>
        </p:spPr>
      </p:sp>
      <p:sp>
        <p:nvSpPr>
          <p:cNvPr id="6" name="Text 4"/>
          <p:cNvSpPr/>
          <p:nvPr/>
        </p:nvSpPr>
        <p:spPr>
          <a:xfrm>
            <a:off x="841248" y="1757410"/>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2138"/>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第一，适用主体扩大</a:t>
            </a:r>
            <a:endParaRPr lang="en-US" sz="1500" dirty="0"/>
          </a:p>
        </p:txBody>
      </p:sp>
      <p:sp>
        <p:nvSpPr>
          <p:cNvPr id="8" name="Text 6"/>
          <p:cNvSpPr/>
          <p:nvPr/>
        </p:nvSpPr>
        <p:spPr>
          <a:xfrm>
            <a:off x="1499616" y="1789986"/>
            <a:ext cx="9887407" cy="718185"/>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由原来的法官、检察官、律师、公证员四类，扩大到从事行政处罚决定审核、行政复议、行政裁决的公务员，以及法律顾问、仲裁员（法律类）。名称也相应地由“国家统一司法考试”改为“国家统一法律职业资格考试”。这一扩大意味着“法律职业”的外延在制度上被正式拓宽。</a:t>
            </a:r>
            <a:endParaRPr lang="en-US" sz="1300" dirty="0"/>
          </a:p>
        </p:txBody>
      </p:sp>
      <p:sp>
        <p:nvSpPr>
          <p:cNvPr id="9" name="Shape 7"/>
          <p:cNvSpPr/>
          <p:nvPr/>
        </p:nvSpPr>
        <p:spPr>
          <a:xfrm>
            <a:off x="566928" y="2792444"/>
            <a:ext cx="11057839" cy="1117441"/>
          </a:xfrm>
          <a:prstGeom prst="roundRect">
            <a:avLst>
              <a:gd name="adj" fmla="val 6546"/>
            </a:avLst>
          </a:prstGeom>
          <a:solidFill>
            <a:srgbClr val="FFFFFF"/>
          </a:solidFill>
          <a:ln w="12700">
            <a:solidFill>
              <a:srgbClr val="D5DBE5"/>
            </a:solidFill>
            <a:prstDash val="solid"/>
          </a:ln>
        </p:spPr>
      </p:sp>
      <p:sp>
        <p:nvSpPr>
          <p:cNvPr id="10" name="Shape 8"/>
          <p:cNvSpPr/>
          <p:nvPr/>
        </p:nvSpPr>
        <p:spPr>
          <a:xfrm>
            <a:off x="841248" y="3113421"/>
            <a:ext cx="475488" cy="475488"/>
          </a:xfrm>
          <a:prstGeom prst="ellipse">
            <a:avLst/>
          </a:prstGeom>
          <a:solidFill>
            <a:srgbClr val="13233F"/>
          </a:solidFill>
          <a:ln w="12700">
            <a:solidFill>
              <a:srgbClr val="13233F"/>
            </a:solidFill>
            <a:prstDash val="solid"/>
          </a:ln>
        </p:spPr>
      </p:sp>
      <p:sp>
        <p:nvSpPr>
          <p:cNvPr id="11" name="Text 9"/>
          <p:cNvSpPr/>
          <p:nvPr/>
        </p:nvSpPr>
        <p:spPr>
          <a:xfrm>
            <a:off x="841248" y="3113421"/>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957846"/>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第二，报考条件限缩</a:t>
            </a:r>
            <a:endParaRPr lang="en-US" sz="1500" dirty="0"/>
          </a:p>
        </p:txBody>
      </p:sp>
      <p:sp>
        <p:nvSpPr>
          <p:cNvPr id="13" name="Text 11"/>
          <p:cNvSpPr/>
          <p:nvPr/>
        </p:nvSpPr>
        <p:spPr>
          <a:xfrm>
            <a:off x="1499616" y="3265694"/>
            <a:ext cx="9887407" cy="478790"/>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实行“学历+学位”的双重要求：全日制普通高等学校法学类本科学历并获学士及以上学位；或全日制普通高等学校非法学类本科及以上学历并获法律硕士、法学硕士及以上学位；或全日制普通高等学校非法学类本科及以上学历并获相应学位且从事法律工作满三年。</a:t>
            </a:r>
            <a:endParaRPr lang="en-US" sz="1300" dirty="0"/>
          </a:p>
        </p:txBody>
      </p:sp>
      <p:sp>
        <p:nvSpPr>
          <p:cNvPr id="14" name="Shape 12"/>
          <p:cNvSpPr/>
          <p:nvPr/>
        </p:nvSpPr>
        <p:spPr>
          <a:xfrm>
            <a:off x="566928" y="4028758"/>
            <a:ext cx="11057839" cy="1117441"/>
          </a:xfrm>
          <a:prstGeom prst="roundRect">
            <a:avLst>
              <a:gd name="adj" fmla="val 6546"/>
            </a:avLst>
          </a:prstGeom>
          <a:solidFill>
            <a:srgbClr val="F2F4F8"/>
          </a:solidFill>
          <a:ln w="12700">
            <a:solidFill>
              <a:srgbClr val="F2F4F8"/>
            </a:solidFill>
            <a:prstDash val="solid"/>
          </a:ln>
        </p:spPr>
      </p:sp>
      <p:sp>
        <p:nvSpPr>
          <p:cNvPr id="15" name="Shape 13"/>
          <p:cNvSpPr/>
          <p:nvPr/>
        </p:nvSpPr>
        <p:spPr>
          <a:xfrm>
            <a:off x="841248" y="4349734"/>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434973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4194159"/>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第三，两阶段考试</a:t>
            </a:r>
            <a:endParaRPr lang="en-US" sz="1500" dirty="0"/>
          </a:p>
        </p:txBody>
      </p:sp>
      <p:sp>
        <p:nvSpPr>
          <p:cNvPr id="18" name="Text 16"/>
          <p:cNvSpPr/>
          <p:nvPr/>
        </p:nvSpPr>
        <p:spPr>
          <a:xfrm>
            <a:off x="1499616" y="4502007"/>
            <a:ext cx="9887407" cy="478790"/>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分为客观题与主观题两个阶段。客观题考查法律知识的广度与准确性，主观题考查法律适用、论证说理与文书写作能力。客观题成绩在本年度及次年度有效，为考生提供了缓冲。</a:t>
            </a:r>
            <a:endParaRPr lang="en-US" sz="1300" dirty="0"/>
          </a:p>
        </p:txBody>
      </p:sp>
      <p:sp>
        <p:nvSpPr>
          <p:cNvPr id="19" name="Shape 17"/>
          <p:cNvSpPr/>
          <p:nvPr/>
        </p:nvSpPr>
        <p:spPr>
          <a:xfrm>
            <a:off x="566928" y="5265071"/>
            <a:ext cx="11057839" cy="1117441"/>
          </a:xfrm>
          <a:prstGeom prst="roundRect">
            <a:avLst>
              <a:gd name="adj" fmla="val 6546"/>
            </a:avLst>
          </a:prstGeom>
          <a:solidFill>
            <a:srgbClr val="FFFFFF"/>
          </a:solidFill>
          <a:ln w="12700">
            <a:solidFill>
              <a:srgbClr val="D5DBE5"/>
            </a:solidFill>
            <a:prstDash val="solid"/>
          </a:ln>
        </p:spPr>
      </p:sp>
      <p:sp>
        <p:nvSpPr>
          <p:cNvPr id="20" name="Shape 18"/>
          <p:cNvSpPr/>
          <p:nvPr/>
        </p:nvSpPr>
        <p:spPr>
          <a:xfrm>
            <a:off x="841248" y="5586047"/>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5586047"/>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5430472"/>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配套：统一职前培训与宣誓制度</a:t>
            </a:r>
            <a:endParaRPr lang="en-US" sz="1500" dirty="0"/>
          </a:p>
        </p:txBody>
      </p:sp>
      <p:sp>
        <p:nvSpPr>
          <p:cNvPr id="23" name="Text 21"/>
          <p:cNvSpPr/>
          <p:nvPr/>
        </p:nvSpPr>
        <p:spPr>
          <a:xfrm>
            <a:off x="1499616" y="5738320"/>
            <a:ext cx="9887407" cy="478790"/>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取得资格并不等于可以立即独立执业。律师须经一年实习，法官、检察官须经统一职前培训并实行员额遴选。同时，国家工作人员就职时须依法进行宪法宣誓——这正是 profession 一词“宣誓”本义的现代回归。</a:t>
            </a:r>
            <a:endParaRPr lang="en-US" sz="13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公共性：法律职业服务于何种价值</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公平与正义</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法律职业的正当性最终建立在其对公平正义的实现之上。一个不能带来公正的司法制度，无论多么专业、多么高效，都会丧失存在的理由。</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秩序</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法律职业通过定分止争维持社会秩序。纠纷交由中立第三方依既定规则解决，是文明社会区别于丛林状态的关键装置。</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信赖</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公众对法律职业的信赖，是法律得以自愿遵守的心理基础。绝大多数人守法不是因为害怕制裁，而是因为相信这套制度值得尊重。</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普遍性</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法律职业的服务面向一切人，不因当事人的身份、财富、地位而区别对待。法律援助制度正是这一普遍性要求的制度化表达。</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自治性：为什么法律职业需要自我管理</a:t>
            </a:r>
            <a:endParaRPr lang="en-US" sz="2800" dirty="0"/>
          </a:p>
        </p:txBody>
      </p:sp>
      <p:sp>
        <p:nvSpPr>
          <p:cNvPr id="4" name="Shape 2"/>
          <p:cNvSpPr/>
          <p:nvPr/>
        </p:nvSpPr>
        <p:spPr>
          <a:xfrm>
            <a:off x="566928" y="2126933"/>
            <a:ext cx="5410048" cy="3445383"/>
          </a:xfrm>
          <a:prstGeom prst="roundRect">
            <a:avLst>
              <a:gd name="adj" fmla="val 2654"/>
            </a:avLst>
          </a:prstGeom>
          <a:solidFill>
            <a:srgbClr val="F2F4F8"/>
          </a:solidFill>
          <a:ln w="12700">
            <a:solidFill>
              <a:srgbClr val="F2F4F8"/>
            </a:solidFill>
            <a:prstDash val="solid"/>
          </a:ln>
        </p:spPr>
      </p:sp>
      <p:sp>
        <p:nvSpPr>
          <p:cNvPr id="5" name="Shape 3"/>
          <p:cNvSpPr/>
          <p:nvPr/>
        </p:nvSpPr>
        <p:spPr>
          <a:xfrm>
            <a:off x="841248" y="23829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829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自治性的三重内容</a:t>
            </a:r>
            <a:endParaRPr lang="en-US" sz="1600" dirty="0"/>
          </a:p>
        </p:txBody>
      </p:sp>
      <p:sp>
        <p:nvSpPr>
          <p:cNvPr id="7" name="Text 5"/>
          <p:cNvSpPr/>
          <p:nvPr/>
        </p:nvSpPr>
        <p:spPr>
          <a:xfrm>
            <a:off x="932688" y="3041333"/>
            <a:ext cx="4678528" cy="22932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独立：不受不当的外部干预。律师独立于国家机关与委托人，法官独立于当事人与外部势力，检察官依法独立行使检察权。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组织：拥有自己的行业自治组织。我国实行律师协会与司法行政机关“两结合”的管理体制。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规则：由行业自行制定执业行为规范，并据以进行惩戒。《律师执业行为规范》即由中华全国律师协会制定。</a:t>
            </a:r>
            <a:endParaRPr lang="en-US" sz="1450" dirty="0"/>
          </a:p>
        </p:txBody>
      </p:sp>
      <p:sp>
        <p:nvSpPr>
          <p:cNvPr id="8" name="Shape 6"/>
          <p:cNvSpPr/>
          <p:nvPr/>
        </p:nvSpPr>
        <p:spPr>
          <a:xfrm>
            <a:off x="6214720" y="2126933"/>
            <a:ext cx="5410048" cy="3445383"/>
          </a:xfrm>
          <a:prstGeom prst="roundRect">
            <a:avLst>
              <a:gd name="adj" fmla="val 2654"/>
            </a:avLst>
          </a:prstGeom>
          <a:solidFill>
            <a:srgbClr val="F6F1E8"/>
          </a:solidFill>
          <a:ln w="12700">
            <a:solidFill>
              <a:srgbClr val="F6F1E8"/>
            </a:solidFill>
            <a:prstDash val="solid"/>
          </a:ln>
        </p:spPr>
      </p:sp>
      <p:sp>
        <p:nvSpPr>
          <p:cNvPr id="9" name="Shape 7"/>
          <p:cNvSpPr/>
          <p:nvPr/>
        </p:nvSpPr>
        <p:spPr>
          <a:xfrm>
            <a:off x="6489040" y="23829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3829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为什么必须自治</a:t>
            </a:r>
            <a:endParaRPr lang="en-US" sz="1600" dirty="0"/>
          </a:p>
        </p:txBody>
      </p:sp>
      <p:sp>
        <p:nvSpPr>
          <p:cNvPr id="11" name="Text 9"/>
          <p:cNvSpPr/>
          <p:nvPr/>
        </p:nvSpPr>
        <p:spPr>
          <a:xfrm>
            <a:off x="6580480" y="3041333"/>
            <a:ext cx="4678528" cy="22932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专业判断只能由同行评价：律师是否勤勉、法官论证是否充分，外行难以判断，只能交由懂行的同行来衡量。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独立性是履职的前提：如果律师的执业资格完全由被他起诉的行政机关掌握，辩护将无法进行。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自治必须以自律为对价：行业自治的正当性来自其严格约束成员的能力。自治组织若沦为“护短组织”，社会必然收回自治权。</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伦理性：法律职业的自我约束</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有职业的产生，就必然有职业伦理的要求。医生的职业伦理是救死扶伤，教师的职业伦理是有教无类，法律职业的伦理则围绕“公正”展开。</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职业伦理属于专业伦理学或应用伦理学的范畴，是从业人员以伦理自然律为基础，根据本行业的专业知识，经逻辑推演而形成的规范体系。</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它随着职业的出现而产生并逐步发展，是社会道德在特定职业领域的具体化。社会一般道德要求“诚实”，落到律师身上就具体化为“不得向法庭提交虚假证据”。</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法律职业伦理具有其他职业伦理少有的特点：高度成文化、高度规范化，并诉诸制度化建构加以保障——它往往直接由法律和行业规范加以规定，违反者要承担确定的法律责任。</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这正是本课程与一般“职业道德教育”的根本区别：我们讨论的不是应然的劝导，而是实然的、有制裁后果的规范。</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法律职业的范围：广义与狭义</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谁是法律人？这个问题的答案，决定了职业伦理规范的适用范围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范围界定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两种界定方式及其意义</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狭义说：法官、检察官、律师（及法学学者）</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以直接参与法律运行核心环节为标准。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法官行使审判权，检察官行使检察权，律师提供法律服务并制约公权力——三者构成诉讼的基本结构。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法学学者通过法教义学的建构影响法律的解释与适用，故亦常被纳入。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意义：这一范围内的主体，其职业伦理规范最为发达、最为严格。</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广义说：一切从事法律工作的人员</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包括侦查员、检察员、审判员、执行员、仲裁员、公证员、律师、基层法律服务工作者以及司法辅助人员。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甚至可以包括立法工作者、企业法律顾问、公司律师、公职律师。</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意义：随着法治国家建设推进，法律职业的外延持续扩张，2018年法考适用主体的扩大即是明证。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注意：外延越大，统一的伦理标准越难建立，规范只能分层设置。</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法定界定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四类核心法律职业的法定定义</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《律师法》第二条</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本法所称律师，是指依法取得律师执业证书，接受委托或者指定，为当事人提供法律服务的执业人员。律师应当维护当事人合法权益，维护法律正确实施，维护社会公平和正义。</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《法官法》第二条</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法官是依法行使国家审判权的审判人员，包括最高人民法院、地方各级人民法院和军事法院等专门人民法院的院长、副院长、审判委员会委员和审判员。</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《检察官法》第二条</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检察官是依法行使国家检察权的检察人员，包括最高人民检察院、地方各级人民检察院和军事检察院等专门人民检察院的检察长、副检察长、检察委员会委员和检察员。</a:t>
            </a:r>
            <a:endParaRPr lang="en-US" sz="850" dirty="0"/>
          </a:p>
        </p:txBody>
      </p:sp>
      <p:sp>
        <p:nvSpPr>
          <p:cNvPr id="19" name="Shape 1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20" name="Text 1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请比较三个定义的落点：律师定义于“提供法律服务”，法官定义于“行使审判权”，检察官定义于“行使检察权”。一个是服务提供者，两个是公权力行使者——这一区别，正是三者职业伦理内容差异的根源。</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外延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其他取得法律职业资格的主体</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公证员——《公证法》第六条、第十六条</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证机构是依法设立，不以营利为目的，依法独立行使公证职能、承担民事责任的证明机构；公证员是符合本法规定条件，在公证机构从事公证业务的执业人员。公证员的核心伦理要求是真实性与合法性审查义务。</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仲裁员（法律类）——《仲裁法》第十三条</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仲裁委员会应当从公道正派的人员中聘任仲裁员。仲裁员须通过法律职业资格考试并从事仲裁工作满八年，或从事律师工作满八年，或曾任法官满八年，或具有法律高级职称等。仲裁员的核心伦理要求是独立性与披露义务。</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特定岗位公务员——《公务员法》第二十三条</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国家对行政机关中初次从事行政处罚决定审核、行政复议、行政裁决、法律顾问的公务员，实行统一法律职业资格考试制度。这类主体兼具公务员纪律与法律职业伦理的双重约束。</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公职律师、公司律师与法律顾问</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公职律师在党政机关任职，公司律师在国有企业任职，二者均需取得律师执业证书。其特殊之处在于：既受《律师法》约束，又受所在单位的管理，容易产生“忠于单位”与“忠于法律”的角色冲突。</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法律职业共同体：理想与现实</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共同的知识、共同的语言、共同的思维，能否催生共同的伦理？</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法律职业共同体的四根支柱</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共同的知识</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受过相同的法学教育，掌握同一套法教义学体系。这使得一名法官能够看懂律师的代理词，一名律师能够预测法官的裁判思路。</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共同的语言</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使用同一套法律术语与论证方式。共同语言降低了沟通成本，也构成了共同体的边界。</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共同的思维</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以合法性为首要判断标准，重视程序，讲究证据，遵循体系。这种思维方式使法律人在面对同一事实时，会提出结构相似的问题。</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共同的伦理</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共同信奉法治、公正、正当程序等基本价值，并遵守各自角色所要求的行为规范。这是共同体最难形成、也最容易破裂的一根支柱。</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现实的裂缝</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共同体是一个尚未完成的建构</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我们必须诚实地承认：法律职业共同体在中国仍然是一个“进行中的理想”，而非既成的现实。至少存在以下几重张力。</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角色对立的张力：控辩之间、律师与法官之间，在具体案件中处于对抗位置。一旦对抗被理解为敌对，“共同体”就无从谈起。近年来关于律师执业权利保障的争论，本质上就是这一张力的表现。</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流动不畅的张力：成熟法治国家中，律师、法官、检察官之间存在双向流动，法官多从资深律师中遴选。我国已建立从律师、法学专家中公开选拔法官检察官的制度，但规模仍然有限，职业身份之间的壁垒依然存在。</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利益结构的张力：法官、检察官是公职人员，收入稳定但受严格约束；律师面向市场，收入弹性大但风险自负。不同的利益结构会塑造不同的行为逻辑。</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伦理标准差异的张力：三类职业的伦理要求内容不同——律师须忠诚于委托人，检察官须客观公正，法官须中立。误将一方的伦理标准套用于另一方，是实践中大量误解与冲突的根源。</a:t>
            </a:r>
            <a:endParaRPr lang="en-US" sz="1550" dirty="0"/>
          </a:p>
          <a:p>
            <a:pPr marL="228600" indent="-228600">
              <a:lnSpc>
                <a:spcPts val="2325"/>
              </a:lnSpc>
              <a:spcAft>
                <a:spcPts val="800"/>
              </a:spcAft>
              <a:buSzPct val="100000"/>
              <a:buChar char="■"/>
            </a:pPr>
            <a:r>
              <a:rPr lang="en-US" sz="1550" b="1" dirty="0">
                <a:solidFill>
                  <a:srgbClr val="32404F"/>
                </a:solidFill>
                <a:latin typeface="微软雅黑" pitchFamily="34" charset="0"/>
                <a:ea typeface="微软雅黑" pitchFamily="34" charset="-122"/>
                <a:cs typeface="微软雅黑" pitchFamily="34" charset="-120"/>
              </a:rPr>
              <a:t>认识这些裂缝，不是为了否定共同体，而是为了理解：共同体需要通过制度建设与职业伦理的共同信守来逐步建成。这正是各位这一代法律人的任务。</a:t>
            </a:r>
            <a:endParaRPr lang="en-US" sz="15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当“共同体”遭遇具体的对抗</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研讨案例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法庭上的冲突：辩护人被“训诫”之后</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刑事案件庭审中，辩护律师就非法证据排除问题反复申请，多次被审判长以“与本案无关”打断。律师坚持要求将其申请记入笔录，审判长认为其“扰乱法庭秩序”，予以训诫，并警告将报请司法行政机关处理。律师当庭表示抗议，随后退庭。</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庭后，律师在社交媒体上发布长文，指责法官剥夺辩护权；法院则通报称律师无正当理由退庭，已依法向司法行政机关通报。事件迅速发酵，形成舆论对立。</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需要说明的是：《刑事诉讼法》规定了法庭秩序的维护权，也规定了辩护人的辩护权；《律师法》第三十七条规定律师在法庭上发表的代理、辩护意见不受法律追究（但发表危害国家安全、恶意诽谤他人、严重扰乱法庭秩序的言论除外）；《律师执业行为规范》则要求律师尊重法庭、遵守法庭规则。</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审判长的打断与训诫，边界应当如何划定？</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律师当庭退庭是否属于正当的抗议方式？有无更妥当的救济途径？</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双方各自违反了哪些具体规范？请指出条文。</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这一事件对“法律职业共同体”意味着什么？</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428496"/>
            <a:ext cx="11057839" cy="1174496"/>
          </a:xfrm>
          <a:prstGeom prst="roundRect">
            <a:avLst>
              <a:gd name="adj" fmla="val 7007"/>
            </a:avLst>
          </a:prstGeom>
          <a:solidFill>
            <a:srgbClr val="ECF3F2"/>
          </a:solidFill>
          <a:ln w="12700">
            <a:solidFill>
              <a:srgbClr val="ECF3F2"/>
            </a:solidFill>
            <a:prstDash val="solid"/>
          </a:ln>
        </p:spPr>
      </p:sp>
      <p:sp>
        <p:nvSpPr>
          <p:cNvPr id="5" name="Shape 3"/>
          <p:cNvSpPr/>
          <p:nvPr/>
        </p:nvSpPr>
        <p:spPr>
          <a:xfrm>
            <a:off x="859536" y="178714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871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71094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“法律职业”与“法律行业”是同一个概念吗？如果一名律师完全以商业逻辑经营，把法律服务视为纯粹的商品交易，他还属于 profession 吗？</a:t>
            </a:r>
            <a:endParaRPr lang="en-US" sz="1600" dirty="0"/>
          </a:p>
        </p:txBody>
      </p:sp>
      <p:sp>
        <p:nvSpPr>
          <p:cNvPr id="8" name="Shape 6"/>
          <p:cNvSpPr/>
          <p:nvPr/>
        </p:nvSpPr>
        <p:spPr>
          <a:xfrm>
            <a:off x="566928" y="2749296"/>
            <a:ext cx="11057839" cy="1174496"/>
          </a:xfrm>
          <a:prstGeom prst="roundRect">
            <a:avLst>
              <a:gd name="adj" fmla="val 7007"/>
            </a:avLst>
          </a:prstGeom>
          <a:solidFill>
            <a:srgbClr val="ECF3F2"/>
          </a:solidFill>
          <a:ln w="12700">
            <a:solidFill>
              <a:srgbClr val="ECF3F2"/>
            </a:solidFill>
            <a:prstDash val="solid"/>
          </a:ln>
        </p:spPr>
      </p:sp>
      <p:sp>
        <p:nvSpPr>
          <p:cNvPr id="9" name="Shape 7"/>
          <p:cNvSpPr/>
          <p:nvPr/>
        </p:nvSpPr>
        <p:spPr>
          <a:xfrm>
            <a:off x="859536" y="310794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07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3174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法律职业的垄断性准入，客观上抬高了法律服务的价格，是否有损于公众获得法律帮助的权利？应当如何平衡准入门槛与服务可及性？</a:t>
            </a:r>
            <a:endParaRPr lang="en-US" sz="1600" dirty="0"/>
          </a:p>
        </p:txBody>
      </p:sp>
      <p:sp>
        <p:nvSpPr>
          <p:cNvPr id="12" name="Shape 10"/>
          <p:cNvSpPr/>
          <p:nvPr/>
        </p:nvSpPr>
        <p:spPr>
          <a:xfrm>
            <a:off x="566928" y="4070096"/>
            <a:ext cx="11057839" cy="879856"/>
          </a:xfrm>
          <a:prstGeom prst="roundRect">
            <a:avLst>
              <a:gd name="adj" fmla="val 9353"/>
            </a:avLst>
          </a:prstGeom>
          <a:solidFill>
            <a:srgbClr val="ECF3F2"/>
          </a:solidFill>
          <a:ln w="12700">
            <a:solidFill>
              <a:srgbClr val="ECF3F2"/>
            </a:solidFill>
            <a:prstDash val="solid"/>
          </a:ln>
        </p:spPr>
      </p:sp>
      <p:sp>
        <p:nvSpPr>
          <p:cNvPr id="13" name="Shape 11"/>
          <p:cNvSpPr/>
          <p:nvPr/>
        </p:nvSpPr>
        <p:spPr>
          <a:xfrm>
            <a:off x="859536" y="42814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81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57624"/>
            <a:ext cx="9887407" cy="3048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假设某地推行“律师、法官、检察官定期交流任职”制度，你认为这会促进还是损害法律职业共同体的形成？</a:t>
            </a:r>
            <a:endParaRPr lang="en-US" sz="1600" dirty="0"/>
          </a:p>
        </p:txBody>
      </p:sp>
      <p:sp>
        <p:nvSpPr>
          <p:cNvPr id="16" name="Shape 14"/>
          <p:cNvSpPr/>
          <p:nvPr/>
        </p:nvSpPr>
        <p:spPr>
          <a:xfrm>
            <a:off x="566928" y="5096256"/>
            <a:ext cx="11057839" cy="1174496"/>
          </a:xfrm>
          <a:prstGeom prst="roundRect">
            <a:avLst>
              <a:gd name="adj" fmla="val 7007"/>
            </a:avLst>
          </a:prstGeom>
          <a:solidFill>
            <a:srgbClr val="ECF3F2"/>
          </a:solidFill>
          <a:ln w="12700">
            <a:solidFill>
              <a:srgbClr val="ECF3F2"/>
            </a:solidFill>
            <a:prstDash val="solid"/>
          </a:ln>
        </p:spPr>
      </p:sp>
      <p:sp>
        <p:nvSpPr>
          <p:cNvPr id="17" name="Shape 15"/>
          <p:cNvSpPr/>
          <p:nvPr/>
        </p:nvSpPr>
        <p:spPr>
          <a:xfrm>
            <a:off x="859536" y="545490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454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37870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人工智能法律工具已能完成大量检索、审查与文书起草工作。如果“专业知识”不再由法律人独占，法律职业的正当性基础会不会动摇？</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23</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第2课时要点回顾</a:t>
            </a:r>
            <a:endParaRPr lang="en-US" sz="3000" dirty="0"/>
          </a:p>
        </p:txBody>
      </p:sp>
      <p:sp>
        <p:nvSpPr>
          <p:cNvPr id="4" name="Shape 2"/>
          <p:cNvSpPr/>
          <p:nvPr/>
        </p:nvSpPr>
        <p:spPr>
          <a:xfrm>
            <a:off x="566928" y="1591056"/>
            <a:ext cx="11057839" cy="907491"/>
          </a:xfrm>
          <a:prstGeom prst="roundRect">
            <a:avLst>
              <a:gd name="adj" fmla="val 8061"/>
            </a:avLst>
          </a:prstGeom>
          <a:solidFill>
            <a:srgbClr val="25395F"/>
          </a:solidFill>
          <a:ln w="12700">
            <a:solidFill>
              <a:srgbClr val="25395F"/>
            </a:solidFill>
            <a:prstDash val="solid"/>
          </a:ln>
        </p:spPr>
      </p:sp>
      <p:sp>
        <p:nvSpPr>
          <p:cNvPr id="5" name="Shape 3"/>
          <p:cNvSpPr/>
          <p:nvPr/>
        </p:nvSpPr>
        <p:spPr>
          <a:xfrm>
            <a:off x="859536" y="1843634"/>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64334"/>
            <a:ext cx="160934" cy="160934"/>
          </a:xfrm>
          <a:prstGeom prst="rect">
            <a:avLst/>
          </a:prstGeom>
        </p:spPr>
      </p:pic>
      <p:sp>
        <p:nvSpPr>
          <p:cNvPr id="7" name="Text 4"/>
          <p:cNvSpPr/>
          <p:nvPr/>
        </p:nvSpPr>
        <p:spPr>
          <a:xfrm>
            <a:off x="1444752" y="1740002"/>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“职业”（profession）源于“宣誓”，指博学、准入受限、自我管理、承担公共责任的专门职业，与泛指的 occupation 须严格区分。</a:t>
            </a:r>
            <a:endParaRPr lang="en-US" sz="1600" dirty="0"/>
          </a:p>
        </p:txBody>
      </p:sp>
      <p:sp>
        <p:nvSpPr>
          <p:cNvPr id="8" name="Shape 5"/>
          <p:cNvSpPr/>
          <p:nvPr/>
        </p:nvSpPr>
        <p:spPr>
          <a:xfrm>
            <a:off x="566928" y="2635707"/>
            <a:ext cx="11057839" cy="907491"/>
          </a:xfrm>
          <a:prstGeom prst="roundRect">
            <a:avLst>
              <a:gd name="adj" fmla="val 8061"/>
            </a:avLst>
          </a:prstGeom>
          <a:solidFill>
            <a:srgbClr val="25395F"/>
          </a:solidFill>
          <a:ln w="12700">
            <a:solidFill>
              <a:srgbClr val="25395F"/>
            </a:solidFill>
            <a:prstDash val="solid"/>
          </a:ln>
        </p:spPr>
      </p:sp>
      <p:sp>
        <p:nvSpPr>
          <p:cNvPr id="9" name="Shape 6"/>
          <p:cNvSpPr/>
          <p:nvPr/>
        </p:nvSpPr>
        <p:spPr>
          <a:xfrm>
            <a:off x="859536" y="2888285"/>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3008986"/>
            <a:ext cx="160934" cy="160934"/>
          </a:xfrm>
          <a:prstGeom prst="rect">
            <a:avLst/>
          </a:prstGeom>
        </p:spPr>
      </p:pic>
      <p:sp>
        <p:nvSpPr>
          <p:cNvPr id="11" name="Text 7"/>
          <p:cNvSpPr/>
          <p:nvPr/>
        </p:nvSpPr>
        <p:spPr>
          <a:xfrm>
            <a:off x="1444752" y="2784653"/>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法律职业具有四项特征：专业性（教育、思维、话语、资格）、公共性（公正、秩序、信赖、普遍）、自治性（独立、组织、规则）与伦理性。</a:t>
            </a:r>
            <a:endParaRPr lang="en-US" sz="1600" dirty="0"/>
          </a:p>
        </p:txBody>
      </p:sp>
      <p:sp>
        <p:nvSpPr>
          <p:cNvPr id="12" name="Shape 8"/>
          <p:cNvSpPr/>
          <p:nvPr/>
        </p:nvSpPr>
        <p:spPr>
          <a:xfrm>
            <a:off x="566928" y="3680358"/>
            <a:ext cx="11057839" cy="612851"/>
          </a:xfrm>
          <a:prstGeom prst="roundRect">
            <a:avLst>
              <a:gd name="adj" fmla="val 11936"/>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834384"/>
            <a:ext cx="9997135" cy="3048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国家统一法律职业资格考试改革的三点进展：适用主体扩大、报考条件限缩、客观题与主观题两阶段考试。</a:t>
            </a:r>
            <a:endParaRPr lang="en-US" sz="1600" dirty="0"/>
          </a:p>
        </p:txBody>
      </p:sp>
      <p:sp>
        <p:nvSpPr>
          <p:cNvPr id="16" name="Shape 11"/>
          <p:cNvSpPr/>
          <p:nvPr/>
        </p:nvSpPr>
        <p:spPr>
          <a:xfrm>
            <a:off x="566928" y="4430370"/>
            <a:ext cx="11057839" cy="907491"/>
          </a:xfrm>
          <a:prstGeom prst="roundRect">
            <a:avLst>
              <a:gd name="adj" fmla="val 8061"/>
            </a:avLst>
          </a:prstGeom>
          <a:solidFill>
            <a:srgbClr val="25395F"/>
          </a:solidFill>
          <a:ln w="12700">
            <a:solidFill>
              <a:srgbClr val="25395F"/>
            </a:solidFill>
            <a:prstDash val="solid"/>
          </a:ln>
        </p:spPr>
      </p:sp>
      <p:sp>
        <p:nvSpPr>
          <p:cNvPr id="17" name="Shape 12"/>
          <p:cNvSpPr/>
          <p:nvPr/>
        </p:nvSpPr>
        <p:spPr>
          <a:xfrm>
            <a:off x="859536" y="468294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803648"/>
            <a:ext cx="160934" cy="160934"/>
          </a:xfrm>
          <a:prstGeom prst="rect">
            <a:avLst/>
          </a:prstGeom>
        </p:spPr>
      </p:pic>
      <p:sp>
        <p:nvSpPr>
          <p:cNvPr id="19" name="Text 13"/>
          <p:cNvSpPr/>
          <p:nvPr/>
        </p:nvSpPr>
        <p:spPr>
          <a:xfrm>
            <a:off x="1444752" y="4579315"/>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法律职业有广狭二义：狭义指法官、检察官、律师（及法学学者），广义涵盖一切从事法律工作的人员。规范的适用范围随之分层。</a:t>
            </a:r>
            <a:endParaRPr lang="en-US" sz="1600" dirty="0"/>
          </a:p>
        </p:txBody>
      </p:sp>
      <p:sp>
        <p:nvSpPr>
          <p:cNvPr id="20" name="Shape 14"/>
          <p:cNvSpPr/>
          <p:nvPr/>
        </p:nvSpPr>
        <p:spPr>
          <a:xfrm>
            <a:off x="566928" y="5475021"/>
            <a:ext cx="11057839" cy="907491"/>
          </a:xfrm>
          <a:prstGeom prst="roundRect">
            <a:avLst>
              <a:gd name="adj" fmla="val 8061"/>
            </a:avLst>
          </a:prstGeom>
          <a:solidFill>
            <a:srgbClr val="25395F"/>
          </a:solidFill>
          <a:ln w="12700">
            <a:solidFill>
              <a:srgbClr val="25395F"/>
            </a:solidFill>
            <a:prstDash val="solid"/>
          </a:ln>
        </p:spPr>
      </p:sp>
      <p:sp>
        <p:nvSpPr>
          <p:cNvPr id="21" name="Shape 15"/>
          <p:cNvSpPr/>
          <p:nvPr/>
        </p:nvSpPr>
        <p:spPr>
          <a:xfrm>
            <a:off x="859536" y="572759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848299"/>
            <a:ext cx="160934" cy="160934"/>
          </a:xfrm>
          <a:prstGeom prst="rect">
            <a:avLst/>
          </a:prstGeom>
        </p:spPr>
      </p:pic>
      <p:sp>
        <p:nvSpPr>
          <p:cNvPr id="23" name="Text 16"/>
          <p:cNvSpPr/>
          <p:nvPr/>
        </p:nvSpPr>
        <p:spPr>
          <a:xfrm>
            <a:off x="1444752" y="5623966"/>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法律职业共同体建立在共同的知识、语言、思维与伦理之上，在我国仍是一个需要通过制度建设逐步实现的目标。</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2026-08-23T10:56:04Z</dcterms:created>
  <dcterms:modified xsi:type="dcterms:W3CDTF">2026-08-23T10:56:04Z</dcterms:modified>
</cp:coreProperties>
</file>