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两处限定：其一，例外仅指向“准备或者正在实施”的犯罪，即面向未来的危险，而非已经完成的既往犯罪；其二，例外指向的是特定重大犯罪类型。按此标准，“平静湖案”若发生在我国，律师同样负有保密义务——这正是本课程第16课时要展开的核心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德法兼修”四字是理解本课程性质的钥匙：“法”指向知识与技能，“德”指向品格与判断。二者不是先后关系，而是同一过程的两面——本课程要培养的，不是知道规范的人，而是能够在规范沉默处仍作出正当选择的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7863840" y="-685800"/>
            <a:ext cx="4206240" cy="4206240"/>
          </a:xfrm>
          <a:prstGeom prst="ellipse">
            <a:avLst/>
          </a:prstGeom>
          <a:solidFill>
            <a:srgbClr val="13233F"/>
          </a:solidFill>
          <a:ln w="12700">
            <a:solidFill>
              <a:srgbClr val="B08D57">
                <a:alpha val="12000"/>
              </a:srgbClr>
            </a:solidFill>
            <a:prstDash val="solid"/>
          </a:ln>
        </p:spPr>
      </p:sp>
      <p:sp>
        <p:nvSpPr>
          <p:cNvPr id="3" name="Shape 1"/>
          <p:cNvSpPr/>
          <p:nvPr/>
        </p:nvSpPr>
        <p:spPr>
          <a:xfrm>
            <a:off x="8503920" y="-45720"/>
            <a:ext cx="2926080" cy="2926080"/>
          </a:xfrm>
          <a:prstGeom prst="ellipse">
            <a:avLst/>
          </a:prstGeom>
          <a:solidFill>
            <a:srgbClr val="13233F"/>
          </a:solidFill>
          <a:ln w="12700">
            <a:solidFill>
              <a:srgbClr val="B08D57">
                <a:alpha val="18000"/>
              </a:srgbClr>
            </a:solidFill>
            <a:prstDash val="solid"/>
          </a:ln>
        </p:spPr>
      </p:sp>
      <p:sp>
        <p:nvSpPr>
          <p:cNvPr id="4" name="Shape 2"/>
          <p:cNvSpPr/>
          <p:nvPr/>
        </p:nvSpPr>
        <p:spPr>
          <a:xfrm>
            <a:off x="9098280" y="548640"/>
            <a:ext cx="1737360" cy="1737360"/>
          </a:xfrm>
          <a:prstGeom prst="ellipse">
            <a:avLst/>
          </a:prstGeom>
          <a:solidFill>
            <a:srgbClr val="13233F"/>
          </a:solidFill>
          <a:ln w="12700">
            <a:solidFill>
              <a:srgbClr val="B08D57">
                <a:alpha val="26000"/>
              </a:srgbClr>
            </a:solidFill>
            <a:prstDash val="solid"/>
          </a:ln>
        </p:spPr>
      </p:sp>
      <p:pic>
        <p:nvPicPr>
          <p:cNvPr id="5" name="Image 0" descr="preencoded.png">    </p:cNvPr>
          <p:cNvPicPr>
            <a:picLocks noChangeAspect="1"/>
          </p:cNvPicPr>
          <p:nvPr/>
        </p:nvPicPr>
        <p:blipFill>
          <a:blip r:embed="rId1"/>
          <a:stretch>
            <a:fillRect/>
          </a:stretch>
        </p:blipFill>
        <p:spPr>
          <a:xfrm>
            <a:off x="9006840" y="457200"/>
            <a:ext cx="1920240" cy="1920240"/>
          </a:xfrm>
          <a:prstGeom prst="rect">
            <a:avLst/>
          </a:prstGeom>
        </p:spPr>
      </p:pic>
      <p:sp>
        <p:nvSpPr>
          <p:cNvPr id="6" name="Text 3"/>
          <p:cNvSpPr/>
          <p:nvPr/>
        </p:nvSpPr>
        <p:spPr>
          <a:xfrm>
            <a:off x="612648" y="1691640"/>
            <a:ext cx="7863840" cy="292608"/>
          </a:xfrm>
          <a:prstGeom prst="rect">
            <a:avLst/>
          </a:prstGeom>
          <a:noFill/>
          <a:ln/>
        </p:spPr>
        <p:txBody>
          <a:bodyPr wrap="square" lIns="0" tIns="0" rIns="0" bIns="0" rtlCol="0" anchor="ctr"/>
          <a:lstStyle/>
          <a:p>
            <a:pPr indent="0" marL="0">
              <a:buNone/>
            </a:pPr>
            <a:r>
              <a:rPr lang="en-US" sz="1500" b="1" spc="300" kern="0" dirty="0">
                <a:solidFill>
                  <a:srgbClr val="D9C29B"/>
                </a:solidFill>
                <a:latin typeface="微软雅黑" pitchFamily="34" charset="0"/>
                <a:ea typeface="微软雅黑" pitchFamily="34" charset="-122"/>
                <a:cs typeface="微软雅黑" pitchFamily="34" charset="-120"/>
              </a:rPr>
              <a:t>法学专业核心必修课</a:t>
            </a:r>
            <a:endParaRPr lang="en-US" sz="1500" dirty="0"/>
          </a:p>
        </p:txBody>
      </p:sp>
      <p:sp>
        <p:nvSpPr>
          <p:cNvPr id="7" name="Text 4"/>
          <p:cNvSpPr/>
          <p:nvPr/>
        </p:nvSpPr>
        <p:spPr>
          <a:xfrm>
            <a:off x="566928" y="2084832"/>
            <a:ext cx="8229600" cy="1371600"/>
          </a:xfrm>
          <a:prstGeom prst="rect">
            <a:avLst/>
          </a:prstGeom>
          <a:noFill/>
          <a:ln/>
        </p:spPr>
        <p:txBody>
          <a:bodyPr wrap="square" lIns="0" tIns="0" rIns="0" bIns="0" rtlCol="0" anchor="t"/>
          <a:lstStyle/>
          <a:p>
            <a:pPr indent="0" marL="0">
              <a:buNone/>
            </a:pPr>
            <a:r>
              <a:rPr lang="en-US" sz="6000" b="1" spc="200" kern="0" dirty="0">
                <a:solidFill>
                  <a:srgbClr val="FFFFFF"/>
                </a:solidFill>
                <a:latin typeface="微软雅黑" pitchFamily="34" charset="0"/>
                <a:ea typeface="微软雅黑" pitchFamily="34" charset="-122"/>
                <a:cs typeface="微软雅黑" pitchFamily="34" charset="-120"/>
              </a:rPr>
              <a:t>法律职业伦理</a:t>
            </a:r>
            <a:endParaRPr lang="en-US" sz="6000" dirty="0"/>
          </a:p>
        </p:txBody>
      </p:sp>
      <p:sp>
        <p:nvSpPr>
          <p:cNvPr id="8" name="Text 5"/>
          <p:cNvSpPr/>
          <p:nvPr/>
        </p:nvSpPr>
        <p:spPr>
          <a:xfrm>
            <a:off x="612648" y="3566160"/>
            <a:ext cx="8229600" cy="457200"/>
          </a:xfrm>
          <a:prstGeom prst="rect">
            <a:avLst/>
          </a:prstGeom>
          <a:noFill/>
          <a:ln/>
        </p:spPr>
        <p:txBody>
          <a:bodyPr wrap="square" lIns="0" tIns="0" rIns="0" bIns="0" rtlCol="0" anchor="ctr"/>
          <a:lstStyle/>
          <a:p>
            <a:pPr indent="0" marL="0">
              <a:buNone/>
            </a:pPr>
            <a:r>
              <a:rPr lang="en-US" sz="1800" dirty="0">
                <a:solidFill>
                  <a:srgbClr val="D9C29B"/>
                </a:solidFill>
                <a:latin typeface="微软雅黑" pitchFamily="34" charset="0"/>
                <a:ea typeface="微软雅黑" pitchFamily="34" charset="-122"/>
                <a:cs typeface="微软雅黑" pitchFamily="34" charset="-120"/>
              </a:rPr>
              <a:t>Legal Profession Ethics ——  法治中国的职业良知</a:t>
            </a:r>
            <a:endParaRPr lang="en-US" sz="1800" dirty="0"/>
          </a:p>
        </p:txBody>
      </p:sp>
      <p:sp>
        <p:nvSpPr>
          <p:cNvPr id="9" name="Shape 6"/>
          <p:cNvSpPr/>
          <p:nvPr/>
        </p:nvSpPr>
        <p:spPr>
          <a:xfrm>
            <a:off x="612648" y="4242816"/>
            <a:ext cx="1229868" cy="420624"/>
          </a:xfrm>
          <a:prstGeom prst="roundRect">
            <a:avLst>
              <a:gd name="adj" fmla="val 50000"/>
            </a:avLst>
          </a:prstGeom>
          <a:solidFill>
            <a:srgbClr val="25395F"/>
          </a:solidFill>
          <a:ln w="12700">
            <a:solidFill>
              <a:srgbClr val="25395F"/>
            </a:solidFill>
            <a:prstDash val="solid"/>
          </a:ln>
        </p:spPr>
      </p:sp>
      <p:sp>
        <p:nvSpPr>
          <p:cNvPr id="10" name="Text 7"/>
          <p:cNvSpPr/>
          <p:nvPr/>
        </p:nvSpPr>
        <p:spPr>
          <a:xfrm>
            <a:off x="612648" y="4242816"/>
            <a:ext cx="1229868"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24 课时</a:t>
            </a:r>
            <a:endParaRPr lang="en-US" sz="1300" dirty="0"/>
          </a:p>
        </p:txBody>
      </p:sp>
      <p:sp>
        <p:nvSpPr>
          <p:cNvPr id="11" name="Shape 8"/>
          <p:cNvSpPr/>
          <p:nvPr/>
        </p:nvSpPr>
        <p:spPr>
          <a:xfrm>
            <a:off x="2007108" y="4242816"/>
            <a:ext cx="1060704" cy="420624"/>
          </a:xfrm>
          <a:prstGeom prst="roundRect">
            <a:avLst>
              <a:gd name="adj" fmla="val 50000"/>
            </a:avLst>
          </a:prstGeom>
          <a:solidFill>
            <a:srgbClr val="25395F"/>
          </a:solidFill>
          <a:ln w="12700">
            <a:solidFill>
              <a:srgbClr val="25395F"/>
            </a:solidFill>
            <a:prstDash val="solid"/>
          </a:ln>
        </p:spPr>
      </p:sp>
      <p:sp>
        <p:nvSpPr>
          <p:cNvPr id="12" name="Text 9"/>
          <p:cNvSpPr/>
          <p:nvPr/>
        </p:nvSpPr>
        <p:spPr>
          <a:xfrm>
            <a:off x="2007108"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法学本科</a:t>
            </a:r>
            <a:endParaRPr lang="en-US" sz="1300" dirty="0"/>
          </a:p>
        </p:txBody>
      </p:sp>
      <p:sp>
        <p:nvSpPr>
          <p:cNvPr id="13" name="Shape 10"/>
          <p:cNvSpPr/>
          <p:nvPr/>
        </p:nvSpPr>
        <p:spPr>
          <a:xfrm>
            <a:off x="3232404" y="4242816"/>
            <a:ext cx="1060704" cy="420624"/>
          </a:xfrm>
          <a:prstGeom prst="roundRect">
            <a:avLst>
              <a:gd name="adj" fmla="val 50000"/>
            </a:avLst>
          </a:prstGeom>
          <a:solidFill>
            <a:srgbClr val="25395F"/>
          </a:solidFill>
          <a:ln w="12700">
            <a:solidFill>
              <a:srgbClr val="25395F"/>
            </a:solidFill>
            <a:prstDash val="solid"/>
          </a:ln>
        </p:spPr>
      </p:sp>
      <p:sp>
        <p:nvSpPr>
          <p:cNvPr id="14" name="Text 11"/>
          <p:cNvSpPr/>
          <p:nvPr/>
        </p:nvSpPr>
        <p:spPr>
          <a:xfrm>
            <a:off x="3232404"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专业必修</a:t>
            </a:r>
            <a:endParaRPr lang="en-US" sz="1300" dirty="0"/>
          </a:p>
        </p:txBody>
      </p:sp>
      <p:sp>
        <p:nvSpPr>
          <p:cNvPr id="15" name="Shape 12"/>
          <p:cNvSpPr/>
          <p:nvPr/>
        </p:nvSpPr>
        <p:spPr>
          <a:xfrm>
            <a:off x="4457700" y="4242816"/>
            <a:ext cx="1060704" cy="420624"/>
          </a:xfrm>
          <a:prstGeom prst="roundRect">
            <a:avLst>
              <a:gd name="adj" fmla="val 50000"/>
            </a:avLst>
          </a:prstGeom>
          <a:solidFill>
            <a:srgbClr val="25395F"/>
          </a:solidFill>
          <a:ln w="12700">
            <a:solidFill>
              <a:srgbClr val="25395F"/>
            </a:solidFill>
            <a:prstDash val="solid"/>
          </a:ln>
        </p:spPr>
      </p:sp>
      <p:sp>
        <p:nvSpPr>
          <p:cNvPr id="16" name="Text 13"/>
          <p:cNvSpPr/>
          <p:nvPr/>
        </p:nvSpPr>
        <p:spPr>
          <a:xfrm>
            <a:off x="4457700"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 学分</a:t>
            </a:r>
            <a:endParaRPr lang="en-US" sz="1300" dirty="0"/>
          </a:p>
        </p:txBody>
      </p:sp>
      <p:sp>
        <p:nvSpPr>
          <p:cNvPr id="17" name="Text 14"/>
          <p:cNvSpPr/>
          <p:nvPr/>
        </p:nvSpPr>
        <p:spPr>
          <a:xfrm>
            <a:off x="612648" y="5248656"/>
            <a:ext cx="5486400" cy="402336"/>
          </a:xfrm>
          <a:prstGeom prst="rect">
            <a:avLst/>
          </a:prstGeom>
          <a:noFill/>
          <a:ln/>
        </p:spPr>
        <p:txBody>
          <a:bodyPr wrap="square" lIns="0" tIns="0" rIns="0" bIns="0"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王晓淑</a:t>
            </a:r>
            <a:endParaRPr lang="en-US" sz="2400" dirty="0"/>
          </a:p>
        </p:txBody>
      </p:sp>
      <p:sp>
        <p:nvSpPr>
          <p:cNvPr id="18" name="Text 15"/>
          <p:cNvSpPr/>
          <p:nvPr/>
        </p:nvSpPr>
        <p:spPr>
          <a:xfrm>
            <a:off x="612648" y="5687568"/>
            <a:ext cx="5486400" cy="310896"/>
          </a:xfrm>
          <a:prstGeom prst="rect">
            <a:avLst/>
          </a:prstGeom>
          <a:noFill/>
          <a:ln/>
        </p:spPr>
        <p:txBody>
          <a:bodyPr wrap="square" lIns="0" tIns="0" rIns="0" bIns="0" rtlCol="0" anchor="ctr"/>
          <a:lstStyle/>
          <a:p>
            <a:pPr indent="0" marL="0">
              <a:buNone/>
            </a:pPr>
            <a:r>
              <a:rPr lang="en-US" sz="1400" dirty="0">
                <a:solidFill>
                  <a:srgbClr val="6B7684"/>
                </a:solidFill>
                <a:latin typeface="微软雅黑" pitchFamily="34" charset="0"/>
                <a:ea typeface="微软雅黑" pitchFamily="34" charset="-122"/>
                <a:cs typeface="微软雅黑" pitchFamily="34" charset="-120"/>
              </a:rPr>
              <a:t>法学院 · 法学专业核心必修课</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课程总览 · COURSE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a:t>
            </a:r>
            <a:endParaRPr lang="en-US" sz="2800" dirty="0"/>
          </a:p>
        </p:txBody>
      </p:sp>
      <p:sp>
        <p:nvSpPr>
          <p:cNvPr id="4" name="Shape 2"/>
          <p:cNvSpPr/>
          <p:nvPr/>
        </p:nvSpPr>
        <p:spPr>
          <a:xfrm>
            <a:off x="566928" y="2359152"/>
            <a:ext cx="5300320"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731520" y="2624328"/>
            <a:ext cx="365760" cy="365760"/>
          </a:xfrm>
          <a:prstGeom prst="ellipse">
            <a:avLst/>
          </a:prstGeom>
          <a:solidFill>
            <a:srgbClr val="B08D57"/>
          </a:solidFill>
          <a:ln w="12700">
            <a:solidFill>
              <a:srgbClr val="B08D57"/>
            </a:solidFill>
            <a:prstDash val="solid"/>
          </a:ln>
        </p:spPr>
      </p:sp>
      <p:sp>
        <p:nvSpPr>
          <p:cNvPr id="6" name="Text 4"/>
          <p:cNvSpPr/>
          <p:nvPr/>
        </p:nvSpPr>
        <p:spPr>
          <a:xfrm>
            <a:off x="73152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530983"/>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第一编　总论：法律职业与职业伦理　（第 1—4 课时，共 4 课时）</a:t>
            </a:r>
            <a:endParaRPr lang="en-US" sz="1500" dirty="0"/>
          </a:p>
        </p:txBody>
      </p:sp>
      <p:sp>
        <p:nvSpPr>
          <p:cNvPr id="8" name="Shape 6"/>
          <p:cNvSpPr/>
          <p:nvPr/>
        </p:nvSpPr>
        <p:spPr>
          <a:xfrm>
            <a:off x="566928" y="3401568"/>
            <a:ext cx="5300320" cy="896112"/>
          </a:xfrm>
          <a:prstGeom prst="roundRect">
            <a:avLst>
              <a:gd name="adj" fmla="val 8163"/>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第二编　法官职业伦理　（第 5—8 课时，共 4 课时）</a:t>
            </a:r>
            <a:endParaRPr lang="en-US" sz="1500" dirty="0"/>
          </a:p>
        </p:txBody>
      </p:sp>
      <p:sp>
        <p:nvSpPr>
          <p:cNvPr id="12" name="Shape 10"/>
          <p:cNvSpPr/>
          <p:nvPr/>
        </p:nvSpPr>
        <p:spPr>
          <a:xfrm>
            <a:off x="566928" y="4443984"/>
            <a:ext cx="5300320" cy="896112"/>
          </a:xfrm>
          <a:prstGeom prst="roundRect">
            <a:avLst>
              <a:gd name="adj" fmla="val 8163"/>
            </a:avLst>
          </a:prstGeom>
          <a:solidFill>
            <a:srgbClr val="F2F4F8"/>
          </a:solidFill>
          <a:ln w="12700">
            <a:solidFill>
              <a:srgbClr val="F2F4F8"/>
            </a:solidFill>
            <a:prstDash val="solid"/>
          </a:ln>
        </p:spPr>
      </p:sp>
      <p:sp>
        <p:nvSpPr>
          <p:cNvPr id="13" name="Shape 11"/>
          <p:cNvSpPr/>
          <p:nvPr/>
        </p:nvSpPr>
        <p:spPr>
          <a:xfrm>
            <a:off x="731520" y="4709160"/>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615815"/>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第三编　检察官职业伦理　（第 9—11 课时，共 3 课时）</a:t>
            </a:r>
            <a:endParaRPr lang="en-US" sz="1500" dirty="0"/>
          </a:p>
        </p:txBody>
      </p:sp>
      <p:sp>
        <p:nvSpPr>
          <p:cNvPr id="16" name="Shape 14"/>
          <p:cNvSpPr/>
          <p:nvPr/>
        </p:nvSpPr>
        <p:spPr>
          <a:xfrm>
            <a:off x="6324448" y="2880360"/>
            <a:ext cx="5300320" cy="896112"/>
          </a:xfrm>
          <a:prstGeom prst="roundRect">
            <a:avLst>
              <a:gd name="adj" fmla="val 8163"/>
            </a:avLst>
          </a:prstGeom>
          <a:solidFill>
            <a:srgbClr val="F2F4F8"/>
          </a:solidFill>
          <a:ln w="12700">
            <a:solidFill>
              <a:srgbClr val="F2F4F8"/>
            </a:solidFill>
            <a:prstDash val="solid"/>
          </a:ln>
        </p:spPr>
      </p:sp>
      <p:sp>
        <p:nvSpPr>
          <p:cNvPr id="17" name="Shape 15"/>
          <p:cNvSpPr/>
          <p:nvPr/>
        </p:nvSpPr>
        <p:spPr>
          <a:xfrm>
            <a:off x="6489040" y="3145536"/>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3052191"/>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第四编　律师职业伦理　（第 12—21 课时，共 10 课时）</a:t>
            </a:r>
            <a:endParaRPr lang="en-US" sz="1500" dirty="0"/>
          </a:p>
        </p:txBody>
      </p:sp>
      <p:sp>
        <p:nvSpPr>
          <p:cNvPr id="20" name="Shape 18"/>
          <p:cNvSpPr/>
          <p:nvPr/>
        </p:nvSpPr>
        <p:spPr>
          <a:xfrm>
            <a:off x="6324448" y="3922776"/>
            <a:ext cx="5300320" cy="896112"/>
          </a:xfrm>
          <a:prstGeom prst="roundRect">
            <a:avLst>
              <a:gd name="adj" fmla="val 8163"/>
            </a:avLst>
          </a:prstGeom>
          <a:solidFill>
            <a:srgbClr val="F2F4F8"/>
          </a:solidFill>
          <a:ln w="12700">
            <a:solidFill>
              <a:srgbClr val="F2F4F8"/>
            </a:solidFill>
            <a:prstDash val="solid"/>
          </a:ln>
        </p:spPr>
      </p:sp>
      <p:sp>
        <p:nvSpPr>
          <p:cNvPr id="21" name="Shape 19"/>
          <p:cNvSpPr/>
          <p:nvPr/>
        </p:nvSpPr>
        <p:spPr>
          <a:xfrm>
            <a:off x="6489040" y="4187952"/>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4187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4094607"/>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第五编　其他法律职业与伦理责任　（第 22—24 课时，共 3 课时）</a:t>
            </a:r>
            <a:endParaRPr lang="en-US" sz="15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课程总览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01</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第一编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总论：法律职业与职业伦理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从“法律人是谁”出发，建立职业伦理的概念框架、规范体系与评价标准</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8823960" y="188366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第1课时　导论：法律职业伦理为何是法学教育的必修课</a:t>
            </a:r>
            <a:endParaRPr lang="en-US" sz="1350" dirty="0"/>
          </a:p>
        </p:txBody>
      </p:sp>
      <p:sp>
        <p:nvSpPr>
          <p:cNvPr id="10" name="Text 8"/>
          <p:cNvSpPr/>
          <p:nvPr/>
        </p:nvSpPr>
        <p:spPr>
          <a:xfrm>
            <a:off x="8476488" y="251802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8823960" y="251802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第2课时　法律职业：概念、特征与法律职业共同体</a:t>
            </a:r>
            <a:endParaRPr lang="en-US" sz="1350" dirty="0"/>
          </a:p>
        </p:txBody>
      </p:sp>
      <p:sp>
        <p:nvSpPr>
          <p:cNvPr id="12" name="Text 10"/>
          <p:cNvSpPr/>
          <p:nvPr/>
        </p:nvSpPr>
        <p:spPr>
          <a:xfrm>
            <a:off x="8476488" y="315239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3</a:t>
            </a:r>
            <a:endParaRPr lang="en-US" sz="1250" dirty="0"/>
          </a:p>
        </p:txBody>
      </p:sp>
      <p:sp>
        <p:nvSpPr>
          <p:cNvPr id="13" name="Text 11"/>
          <p:cNvSpPr/>
          <p:nvPr/>
        </p:nvSpPr>
        <p:spPr>
          <a:xfrm>
            <a:off x="8823960" y="315239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第3课时　法律职业伦理的概念、性质与理论基础</a:t>
            </a:r>
            <a:endParaRPr lang="en-US" sz="1350" dirty="0"/>
          </a:p>
        </p:txBody>
      </p:sp>
      <p:sp>
        <p:nvSpPr>
          <p:cNvPr id="14" name="Text 12"/>
          <p:cNvSpPr/>
          <p:nvPr/>
        </p:nvSpPr>
        <p:spPr>
          <a:xfrm>
            <a:off x="8476488" y="378675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4</a:t>
            </a:r>
            <a:endParaRPr lang="en-US" sz="1250" dirty="0"/>
          </a:p>
        </p:txBody>
      </p:sp>
      <p:sp>
        <p:nvSpPr>
          <p:cNvPr id="15" name="Text 13"/>
          <p:cNvSpPr/>
          <p:nvPr/>
        </p:nvSpPr>
        <p:spPr>
          <a:xfrm>
            <a:off x="8823960" y="378675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第4课时　法律职业伦理的渊源、体系与中外发展</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导论：法律职业伦理为何是法学教育的必修课</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从三个真实的伦理困境出发，理解法律与伦理的古老纠缠，并确立本课程的问题意识</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法律人为什么会陷入“合法却不道德”的困境？</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法律与伦理的关系是一个怎样的法哲学命题？</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为什么它成为法学专业十门核心必修课之一？</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 · LESSON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导论：六个递进的问题</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一、开篇：三个真实的伦理困境</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二、法律与伦理：一个古老的法哲学命题</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三、为什么对法律人的道德要求高于常人</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四、法律职业伦理教育的中国进程</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五、本课程的目标、结构与考核方式</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六、课堂研讨与阅读书目</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开篇：三个真实的伦理困境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法律职业伦理不是抽象的说教，它诞生于法律人真实的、无法回避的两难时刻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导入</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先请各位同学做一个思想实验</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10000"/>
          </a:blip>
          <a:stretch>
            <a:fillRect/>
          </a:stretch>
        </p:blipFill>
        <p:spPr>
          <a:xfrm>
            <a:off x="9475927" y="4279392"/>
            <a:ext cx="1783080" cy="17830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请设想：你已经通过法考、取得执业资格，正坐在办公室里。以下三件事分别发生在你身上，你会怎么做？</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你是辩护律师。当事人在会见中告诉你，他还杀了另外两个人，并画出了埋尸地点。两名失踪者的父母正在四处寻找孩子，痛不欲生。你说，还是不说？</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你是公诉人。案件即将开庭，你在卷宗中发现一份从未随案移送的证言，它足以动摇被告人的作案时间。指控是你半年心血，撤回意味着承认失败。你移送，还是不移送？</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你是承办法官。一位多年未联系的表兄突然登门，说他朋友的案子恰好在你手上，“只是想让你多了解一下情况”。你听，还是不听？</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注意：这三个问题的共同点在于——法律条文并不能自动给出答案，但你必须在当下作出选择，而且必须承担选择的后果。</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困境之一 · 律师的保密义务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当保密义务与人的良知正面相撞</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经典案例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400" b="1" dirty="0">
                <a:solidFill>
                  <a:srgbClr val="8E2C3B"/>
                </a:solidFill>
                <a:latin typeface="微软雅黑" pitchFamily="34" charset="0"/>
                <a:ea typeface="微软雅黑" pitchFamily="34" charset="-122"/>
                <a:cs typeface="微软雅黑" pitchFamily="34" charset="-120"/>
              </a:rPr>
              <a:t>美国“平静湖藏尸案”（People v. Garrow, 1973—1974）</a:t>
            </a:r>
            <a:endParaRPr lang="en-US" sz="140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1973年，罗伯特·加罗（Robert Garrow）在纽约州被控谋杀一名露营青年。法院为其指定了两名辩护律师——阿玛尼（Frank Armani）与贝尔奇（Francis Belge）。</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在会见中，加罗向两位律师供述：他此前还杀害了另外两名年轻人，并说出了尸体的掩埋地点。两位律师前往查看，确认属实，拍照留存，但没有报警，也没有移动任何物品。</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此后数月，失踪女孩的父亲曾直接找到阿玛尼律师，苦苦哀求：“只要告诉我，我的女儿是不是还活着。”阿玛尼沉默以对。直至审判中加罗自行供述，真相才大白。</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两位律师随即被舆论痛骂为“魔鬼的帮凶”，业务凋零，收到死亡威胁；但纽约州律师协会与后续的职业责任委员会均认定：他们恪守了律师保密义务，没有违反职业行为规范。</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律师的沉默在法律上“正确”，在道德上是否也“正确”？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如果失踪者当时仍然活着，答案会不会不同？</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保密义务保护的究竟是这一个当事人，还是整个辩护制度？</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我国《律师法》第38条对此是如何处理的？</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规范定位</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我国法上的对应条款：保密义务及其例外</a:t>
            </a:r>
            <a:endParaRPr lang="en-US" sz="2800" dirty="0"/>
          </a:p>
        </p:txBody>
      </p:sp>
      <p:sp>
        <p:nvSpPr>
          <p:cNvPr id="4" name="Shape 2"/>
          <p:cNvSpPr/>
          <p:nvPr/>
        </p:nvSpPr>
        <p:spPr>
          <a:xfrm>
            <a:off x="566928" y="1316736"/>
            <a:ext cx="11057839" cy="1767459"/>
          </a:xfrm>
          <a:prstGeom prst="roundRect">
            <a:avLst>
              <a:gd name="adj" fmla="val 5174"/>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《中华人民共和国律师法》第三十八条</a:t>
            </a:r>
            <a:endParaRPr lang="en-US" sz="1500" dirty="0"/>
          </a:p>
        </p:txBody>
      </p:sp>
      <p:sp>
        <p:nvSpPr>
          <p:cNvPr id="8" name="Text 6"/>
          <p:cNvSpPr/>
          <p:nvPr/>
        </p:nvSpPr>
        <p:spPr>
          <a:xfrm>
            <a:off x="960120" y="1956816"/>
            <a:ext cx="10271455" cy="9079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律师应当保守在执业活动中知悉的国家秘密、商业秘密，不得泄露当事人的隐私。</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对在执业活动中知悉的委托人和其他人不愿泄露的有关情况和信息，应当予以保密。但是，委托人或者其他人准备或者正在实施危害国家安全、公共安全以及其他严重危害他人人身、财产安全的犯罪事实和信息除外。</a:t>
            </a:r>
            <a:endParaRPr lang="en-US" sz="1400" dirty="0"/>
          </a:p>
        </p:txBody>
      </p:sp>
      <p:sp>
        <p:nvSpPr>
          <p:cNvPr id="9" name="Shape 7"/>
          <p:cNvSpPr/>
          <p:nvPr/>
        </p:nvSpPr>
        <p:spPr>
          <a:xfrm>
            <a:off x="566928" y="3267075"/>
            <a:ext cx="11057839" cy="1500759"/>
          </a:xfrm>
          <a:prstGeom prst="roundRect">
            <a:avLst>
              <a:gd name="adj" fmla="val 6093"/>
            </a:avLst>
          </a:prstGeom>
          <a:solidFill>
            <a:srgbClr val="F6F1E8"/>
          </a:solidFill>
          <a:ln w="12700">
            <a:solidFill>
              <a:srgbClr val="F6F1E8"/>
            </a:solidFill>
            <a:prstDash val="solid"/>
          </a:ln>
        </p:spPr>
      </p:sp>
      <p:sp>
        <p:nvSpPr>
          <p:cNvPr id="10" name="Shape 8"/>
          <p:cNvSpPr/>
          <p:nvPr/>
        </p:nvSpPr>
        <p:spPr>
          <a:xfrm>
            <a:off x="877824" y="350481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50481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48653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《中华人民共和国刑事诉讼法》第四十八条</a:t>
            </a:r>
            <a:endParaRPr lang="en-US" sz="1500" dirty="0"/>
          </a:p>
        </p:txBody>
      </p:sp>
      <p:sp>
        <p:nvSpPr>
          <p:cNvPr id="13" name="Text 11"/>
          <p:cNvSpPr/>
          <p:nvPr/>
        </p:nvSpPr>
        <p:spPr>
          <a:xfrm>
            <a:off x="960120" y="3907155"/>
            <a:ext cx="10271455" cy="6412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辩护律师对在执业活动中知悉的委托人的有关情况和信息，有权予以保密。但是，辩护律师在执业活动中知悉委托人或者其他人，准备或者正在实施危害国家安全、公共安全以及严重危害他人人身安全的犯罪的，应当及时告知司法机关。</a:t>
            </a:r>
            <a:endParaRPr lang="en-US" sz="14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两处限定：其一，例外仅指向“准备或者正在实施”的犯罪，即面向未来的危险，而非已经完成的既往犯罪；其二，例外指向的是特定重大犯罪类型。按此标准，“平静湖案”若发生在我国，律师同样负有保密义务——这正是本课程第16课时要展开的核心问题。</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困境之二 · 检察官的客观义务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指控者同时是“正义的守护人”</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比较视角</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布雷迪规则与我国的全面取证义务</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1963年，美国联邦最高法院在 Brady v. Maryland 案中确立了著名的“布雷迪规则”：控方压制对被告人有利且具有实质意义的证据，无论是否出于恶意，均构成对正当程序的违反。</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这一规则背后的理念是：检察官不是普通的一方当事人，其胜诉利益不能凌驾于查明真相之上。用美国联邦最高法院在 Berger v. United States 案中的著名表述——检察官“不是某场争讼的代理人，而是主权者的代表，其利益不在于赢得案件，而在于实现正义”。</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我国法上，这一理念体现为检察官的“客观公正义务”：《人民检察院刑事诉讼规则》要求人民检察院应当全面、客观地收集、审查证据；《检察官法》第五条明确规定检察官应当“以事实为根据，以法律为准绳，秉持客观公正的立场”。</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为什么检察官比律师承担更重的“发现真相”义务？</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“客观公正义务”是道德要求还是法定义务？</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当业绩考核与客观义务冲突时，制度应当如何设计？</a:t>
            </a:r>
            <a:endParaRPr lang="en-US" sz="14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困境之三 · 法官的中立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“只是想让你多了解一下情况”</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制度回应</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过问与干预：从人情请托到制度防线</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法官面临的伦理风险，往往不以行贿的面目出现，而以人情、乡谊、同学、旧属的面目出现。一句“只是想让你了解一下情况”，就足以在裁判者心中埋下先入之见。</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2015年，中央政法委发布《司法机关内部人员过问案件的记录和责任追究规定》；同年，中办、国办发布《领导干部干预司法活动、插手具体案件处理的记录、通报和责任追究规定》——这就是通常所说的“防止干预司法三个规定”。</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其核心机制是：不禁止人们开口，而是要求被过问的法官“逢问必录”，将过问全程记入案卷；构成违纪违法的，依规追责。制度并不指望人性完美，而是用留痕使不当过问失去价值。</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“逢问必录”为什么比“禁止过问”更有效？</a:t>
            </a:r>
            <a:endParaRPr lang="en-US" sz="1400" dirty="0"/>
          </a:p>
        </p:txBody>
      </p:sp>
      <p:sp>
        <p:nvSpPr>
          <p:cNvPr id="14" name="Shape 12"/>
          <p:cNvSpPr/>
          <p:nvPr/>
        </p:nvSpPr>
        <p:spPr>
          <a:xfrm>
            <a:off x="7958023" y="322313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22313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694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法官应当如何回应亲友的打听？</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中立仅指裁判结果中立，还是也包括言行中立？</a:t>
            </a:r>
            <a:endParaRPr lang="en-US" sz="14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归纳</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三个困境的共同结构：角色道德与普通道德的张力</a:t>
            </a:r>
            <a:endParaRPr lang="en-US" sz="2800" dirty="0"/>
          </a:p>
        </p:txBody>
      </p:sp>
      <p:sp>
        <p:nvSpPr>
          <p:cNvPr id="4" name="Shape 2"/>
          <p:cNvSpPr/>
          <p:nvPr/>
        </p:nvSpPr>
        <p:spPr>
          <a:xfrm>
            <a:off x="566928" y="2320036"/>
            <a:ext cx="3527450" cy="3059176"/>
          </a:xfrm>
          <a:prstGeom prst="roundRect">
            <a:avLst>
              <a:gd name="adj" fmla="val 2989"/>
            </a:avLst>
          </a:prstGeom>
          <a:solidFill>
            <a:srgbClr val="F2F4F8"/>
          </a:solidFill>
          <a:ln w="12700">
            <a:solidFill>
              <a:srgbClr val="F2F4F8"/>
            </a:solidFill>
            <a:prstDash val="solid"/>
          </a:ln>
        </p:spPr>
      </p:sp>
      <p:sp>
        <p:nvSpPr>
          <p:cNvPr id="5" name="Shape 3"/>
          <p:cNvSpPr/>
          <p:nvPr/>
        </p:nvSpPr>
        <p:spPr>
          <a:xfrm>
            <a:off x="886968" y="26126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749804"/>
            <a:ext cx="182880" cy="182880"/>
          </a:xfrm>
          <a:prstGeom prst="rect">
            <a:avLst/>
          </a:prstGeom>
        </p:spPr>
      </p:pic>
      <p:sp>
        <p:nvSpPr>
          <p:cNvPr id="7" name="Text 4"/>
          <p:cNvSpPr/>
          <p:nvPr/>
        </p:nvSpPr>
        <p:spPr>
          <a:xfrm>
            <a:off x="886968"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角色义务</a:t>
            </a:r>
            <a:endParaRPr lang="en-US" sz="1700" dirty="0"/>
          </a:p>
        </p:txBody>
      </p:sp>
      <p:sp>
        <p:nvSpPr>
          <p:cNvPr id="8" name="Text 5"/>
          <p:cNvSpPr/>
          <p:nvPr/>
        </p:nvSpPr>
        <p:spPr>
          <a:xfrm>
            <a:off x="886968"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法律人的义务来自其在制度中扮演的角色。辩护人须忠诚于当事人，检察官须忠诚于真相，法官须忠诚于法律——这些义务并非源自其个人良心，而是制度分工的要求。</a:t>
            </a:r>
            <a:endParaRPr lang="en-US" sz="1450" dirty="0"/>
          </a:p>
        </p:txBody>
      </p:sp>
      <p:sp>
        <p:nvSpPr>
          <p:cNvPr id="9" name="Shape 6"/>
          <p:cNvSpPr/>
          <p:nvPr/>
        </p:nvSpPr>
        <p:spPr>
          <a:xfrm>
            <a:off x="4332122" y="2320036"/>
            <a:ext cx="3527450" cy="3059176"/>
          </a:xfrm>
          <a:prstGeom prst="roundRect">
            <a:avLst>
              <a:gd name="adj" fmla="val 2989"/>
            </a:avLst>
          </a:prstGeom>
          <a:solidFill>
            <a:srgbClr val="F6F1E8"/>
          </a:solidFill>
          <a:ln w="12700">
            <a:solidFill>
              <a:srgbClr val="F6F1E8"/>
            </a:solidFill>
            <a:prstDash val="solid"/>
          </a:ln>
        </p:spPr>
      </p:sp>
      <p:sp>
        <p:nvSpPr>
          <p:cNvPr id="10" name="Shape 7"/>
          <p:cNvSpPr/>
          <p:nvPr/>
        </p:nvSpPr>
        <p:spPr>
          <a:xfrm>
            <a:off x="4652162" y="26126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749804"/>
            <a:ext cx="182880" cy="182880"/>
          </a:xfrm>
          <a:prstGeom prst="rect">
            <a:avLst/>
          </a:prstGeom>
        </p:spPr>
      </p:pic>
      <p:sp>
        <p:nvSpPr>
          <p:cNvPr id="12" name="Text 8"/>
          <p:cNvSpPr/>
          <p:nvPr/>
        </p:nvSpPr>
        <p:spPr>
          <a:xfrm>
            <a:off x="4652162"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普通道德</a:t>
            </a:r>
            <a:endParaRPr lang="en-US" sz="1700" dirty="0"/>
          </a:p>
        </p:txBody>
      </p:sp>
      <p:sp>
        <p:nvSpPr>
          <p:cNvPr id="13" name="Text 9"/>
          <p:cNvSpPr/>
          <p:nvPr/>
        </p:nvSpPr>
        <p:spPr>
          <a:xfrm>
            <a:off x="4652162"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与此同时，法律人也是普通人，负有诚实、同情、救助他人的一般道德义务。角色义务与普通道德在多数时候并行不悖，但在极端情形下会正面冲突。</a:t>
            </a:r>
            <a:endParaRPr lang="en-US" sz="1450" dirty="0"/>
          </a:p>
        </p:txBody>
      </p:sp>
      <p:sp>
        <p:nvSpPr>
          <p:cNvPr id="14" name="Shape 10"/>
          <p:cNvSpPr/>
          <p:nvPr/>
        </p:nvSpPr>
        <p:spPr>
          <a:xfrm>
            <a:off x="8097317" y="2320036"/>
            <a:ext cx="3527450" cy="3059176"/>
          </a:xfrm>
          <a:prstGeom prst="roundRect">
            <a:avLst>
              <a:gd name="adj" fmla="val 2989"/>
            </a:avLst>
          </a:prstGeom>
          <a:solidFill>
            <a:srgbClr val="ECF3F2"/>
          </a:solidFill>
          <a:ln w="12700">
            <a:solidFill>
              <a:srgbClr val="ECF3F2"/>
            </a:solidFill>
            <a:prstDash val="solid"/>
          </a:ln>
        </p:spPr>
      </p:sp>
      <p:sp>
        <p:nvSpPr>
          <p:cNvPr id="15" name="Shape 11"/>
          <p:cNvSpPr/>
          <p:nvPr/>
        </p:nvSpPr>
        <p:spPr>
          <a:xfrm>
            <a:off x="8417357" y="2612644"/>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749804"/>
            <a:ext cx="182880" cy="182880"/>
          </a:xfrm>
          <a:prstGeom prst="rect">
            <a:avLst/>
          </a:prstGeom>
        </p:spPr>
      </p:pic>
      <p:sp>
        <p:nvSpPr>
          <p:cNvPr id="17" name="Text 12"/>
          <p:cNvSpPr/>
          <p:nvPr/>
        </p:nvSpPr>
        <p:spPr>
          <a:xfrm>
            <a:off x="8417357"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伦理判断</a:t>
            </a:r>
            <a:endParaRPr lang="en-US" sz="1700" dirty="0"/>
          </a:p>
        </p:txBody>
      </p:sp>
      <p:sp>
        <p:nvSpPr>
          <p:cNvPr id="18" name="Text 13"/>
          <p:cNvSpPr/>
          <p:nvPr/>
        </p:nvSpPr>
        <p:spPr>
          <a:xfrm>
            <a:off x="8417357"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职业伦理正是处理这种冲突的规范体系：它告诉你在何种情形下角色义务优先，在何种情形下必须让位；它既约束你，也在你被指责时保护你。</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621536"/>
            <a:ext cx="749808" cy="749808"/>
          </a:xfrm>
          <a:prstGeom prst="rect">
            <a:avLst/>
          </a:prstGeom>
        </p:spPr>
      </p:pic>
      <p:sp>
        <p:nvSpPr>
          <p:cNvPr id="3" name="Text 0"/>
          <p:cNvSpPr/>
          <p:nvPr/>
        </p:nvSpPr>
        <p:spPr>
          <a:xfrm>
            <a:off x="1298448" y="2700528"/>
            <a:ext cx="9594799" cy="12192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律师的职业是高尚的，而不应当是那些不顾正义、只为金钱而运用自己的技巧和口才的人。</a:t>
            </a:r>
            <a:endParaRPr lang="en-US" sz="3200" dirty="0"/>
          </a:p>
        </p:txBody>
      </p:sp>
      <p:sp>
        <p:nvSpPr>
          <p:cNvPr id="4" name="Text 1"/>
          <p:cNvSpPr/>
          <p:nvPr/>
        </p:nvSpPr>
        <p:spPr>
          <a:xfrm>
            <a:off x="1335024" y="42854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柏拉图</a:t>
            </a:r>
            <a:endParaRPr lang="en-US" sz="1700" dirty="0"/>
          </a:p>
        </p:txBody>
      </p:sp>
      <p:sp>
        <p:nvSpPr>
          <p:cNvPr id="5" name="Text 2"/>
          <p:cNvSpPr/>
          <p:nvPr/>
        </p:nvSpPr>
        <p:spPr>
          <a:xfrm>
            <a:off x="1335024" y="46878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《法律篇》第一卷 —— 西方思想史上对法律职业伦理最早的系统评论之一</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法律与伦理：一个古老的法哲学命题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法律脱胎于伦理，又与伦理分离；理解这一分合过程，才能理解职业伦理的位置</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基础命题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法律与伦理关系的三个基本判断</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第一，法律脱胎于伦理</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在人类社会早期，规范并未分化。宗教戒律、伦理教条、习惯规则与法律禁令混杂一体。“不得杀人”“不得偷盗”最初是道德诫命，其后才成为法律条文。法律是从伦理母体中分化出来的、以国家强制力为后盾的社会控制手段。</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第二，法律与伦理已经分离</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现代法治的一项基本成就，是法律与道德的相对分离：法律只调整外部行为，不追究内心动机；法律有明确的制定与废止程序，道德没有；违反法律有确定的制裁，违反道德只有舆论与良心的谴责。这种分离保护了个人的思想自由。</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第三，法律的实施仍然依赖伦理</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但法律的控制不可能机械地完成。它必须通过国家的法律机构、以及在机构中工作的法律人共同完成。条文是死的，适用条文的人是活的。法律人的职业伦理，正是法律从纸面走向现实的最后一段路。</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学说对峙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恶法亦法，还是恶法非法？</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自然法学：法律必须合乎道德</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核心主张：不正义的法律不是法律（lex iniusta non est lex）。</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奥古斯丁、阿奎那：人定法若违背自然法，则不具有法律的约束力。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拉德布鲁赫（二战后）：当实定法与正义的抵触达到“不能容忍的程度”时，该法律应当让位于正义——即著名的“拉德布鲁赫公式”。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对职业伦理的意义：法律人不是条文的自动售货机，其对法律的忠诚以法律的正当性为前提。</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法律实证主义：法律与道德须分离</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核心主张：法律的效力来自其来源与制定程序，而非其内容的善恶。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奥斯丁：法律是主权者的命令；边沁批评自然法为“踩着高跷的胡说”。</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哈特：法律与道德之间“没有必然联系”，但承认法律有“最低限度的自然法”内容。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对职业伦理的意义：正因为法律可能不正义，才更需要一套独立的职业伦理，让法律人保有批判与拒绝的空间。</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经典论战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哈特—富勒之争（1958）：本课程的思想背景</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10000"/>
          </a:blip>
          <a:stretch>
            <a:fillRect/>
          </a:stretch>
        </p:blipFill>
        <p:spPr>
          <a:xfrm>
            <a:off x="9475927" y="4279392"/>
            <a:ext cx="1783080" cy="17830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1958年，哈特与富勒在《哈佛法律评论》上的交锋，是二十世纪法哲学最重要的论战之一，也直接关系到“法律人应当忠诚于什么”这一职业伦理的根本问题。</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争论的导火索是纳粹德国时期的“告密者案件”：一名妇女依据当时有效的纳粹法律告发丈夫，致其被判死刑；战后，她是否应当受到惩罚？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哈特的立场：那些纳粹法令确实是“法律”，只是极其邪恶的法律。承认它们是法律，才能保持“法律是什么”与“法律应当是什么”的清醒区分，从而理直气壮地进行道德批判，并以溯及既往的立法来解决问题。</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富勒的立场：纳粹法令根本不配称为法律，因为它们违背了“法律的内在道德”——法律作为一项事业，本身就内含程序性的道德要求。</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两条道路都通向同一个结论：法律人不能把“这是法律规定的”当作一切行为的挡箭牌。这正是职业伦理存在的理由。</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富勒的方案</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“法律的内在道德”：使法律成为法律的八项条件</a:t>
            </a:r>
            <a:endParaRPr lang="en-US" sz="2800" dirty="0"/>
          </a:p>
        </p:txBody>
      </p:sp>
      <p:sp>
        <p:nvSpPr>
          <p:cNvPr id="4" name="Shape 2"/>
          <p:cNvSpPr/>
          <p:nvPr/>
        </p:nvSpPr>
        <p:spPr>
          <a:xfrm>
            <a:off x="566928" y="1996059"/>
            <a:ext cx="5382616" cy="830770"/>
          </a:xfrm>
          <a:prstGeom prst="roundRect">
            <a:avLst>
              <a:gd name="adj" fmla="val 8805"/>
            </a:avLst>
          </a:prstGeom>
          <a:solidFill>
            <a:srgbClr val="F2F4F8"/>
          </a:solidFill>
          <a:ln w="12700">
            <a:solidFill>
              <a:srgbClr val="F2F4F8"/>
            </a:solidFill>
            <a:prstDash val="solid"/>
          </a:ln>
        </p:spPr>
      </p:sp>
      <p:sp>
        <p:nvSpPr>
          <p:cNvPr id="5" name="Shape 3"/>
          <p:cNvSpPr/>
          <p:nvPr/>
        </p:nvSpPr>
        <p:spPr>
          <a:xfrm>
            <a:off x="822960" y="218284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8284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13321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一般性</a:t>
            </a:r>
            <a:endParaRPr lang="en-US" sz="1500" dirty="0"/>
          </a:p>
        </p:txBody>
      </p:sp>
      <p:sp>
        <p:nvSpPr>
          <p:cNvPr id="8" name="Text 6"/>
          <p:cNvSpPr/>
          <p:nvPr/>
        </p:nvSpPr>
        <p:spPr>
          <a:xfrm>
            <a:off x="1444752" y="2441067"/>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必须有规则，而非逐案的临时命令。</a:t>
            </a:r>
            <a:endParaRPr lang="en-US" sz="1350" dirty="0"/>
          </a:p>
        </p:txBody>
      </p:sp>
      <p:sp>
        <p:nvSpPr>
          <p:cNvPr id="9" name="Shape 7"/>
          <p:cNvSpPr/>
          <p:nvPr/>
        </p:nvSpPr>
        <p:spPr>
          <a:xfrm>
            <a:off x="566928" y="2954846"/>
            <a:ext cx="5382616" cy="830770"/>
          </a:xfrm>
          <a:prstGeom prst="roundRect">
            <a:avLst>
              <a:gd name="adj" fmla="val 8805"/>
            </a:avLst>
          </a:prstGeom>
          <a:solidFill>
            <a:srgbClr val="FFFFFF"/>
          </a:solidFill>
          <a:ln w="12700">
            <a:solidFill>
              <a:srgbClr val="D5DBE5"/>
            </a:solidFill>
            <a:prstDash val="solid"/>
          </a:ln>
        </p:spPr>
      </p:sp>
      <p:sp>
        <p:nvSpPr>
          <p:cNvPr id="10" name="Shape 8"/>
          <p:cNvSpPr/>
          <p:nvPr/>
        </p:nvSpPr>
        <p:spPr>
          <a:xfrm>
            <a:off x="822960" y="3141631"/>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14163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0920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公布</a:t>
            </a:r>
            <a:endParaRPr lang="en-US" sz="1500" dirty="0"/>
          </a:p>
        </p:txBody>
      </p:sp>
      <p:sp>
        <p:nvSpPr>
          <p:cNvPr id="13" name="Text 11"/>
          <p:cNvSpPr/>
          <p:nvPr/>
        </p:nvSpPr>
        <p:spPr>
          <a:xfrm>
            <a:off x="1444752" y="3399854"/>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规则必须公开，使人可以知晓。</a:t>
            </a:r>
            <a:endParaRPr lang="en-US" sz="1350" dirty="0"/>
          </a:p>
        </p:txBody>
      </p:sp>
      <p:sp>
        <p:nvSpPr>
          <p:cNvPr id="14" name="Shape 12"/>
          <p:cNvSpPr/>
          <p:nvPr/>
        </p:nvSpPr>
        <p:spPr>
          <a:xfrm>
            <a:off x="566928" y="3913632"/>
            <a:ext cx="5382616" cy="830770"/>
          </a:xfrm>
          <a:prstGeom prst="roundRect">
            <a:avLst>
              <a:gd name="adj" fmla="val 8805"/>
            </a:avLst>
          </a:prstGeom>
          <a:solidFill>
            <a:srgbClr val="F2F4F8"/>
          </a:solidFill>
          <a:ln w="12700">
            <a:solidFill>
              <a:srgbClr val="F2F4F8"/>
            </a:solidFill>
            <a:prstDash val="solid"/>
          </a:ln>
        </p:spPr>
      </p:sp>
      <p:sp>
        <p:nvSpPr>
          <p:cNvPr id="15" name="Shape 13"/>
          <p:cNvSpPr/>
          <p:nvPr/>
        </p:nvSpPr>
        <p:spPr>
          <a:xfrm>
            <a:off x="822960" y="4100417"/>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10041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不溯及既往</a:t>
            </a:r>
            <a:endParaRPr lang="en-US" sz="1500" dirty="0"/>
          </a:p>
        </p:txBody>
      </p:sp>
      <p:sp>
        <p:nvSpPr>
          <p:cNvPr id="18" name="Text 16"/>
          <p:cNvSpPr/>
          <p:nvPr/>
        </p:nvSpPr>
        <p:spPr>
          <a:xfrm>
            <a:off x="1444752" y="4358640"/>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不得以今日之法追究昨日之行。</a:t>
            </a:r>
            <a:endParaRPr lang="en-US" sz="1350" dirty="0"/>
          </a:p>
        </p:txBody>
      </p:sp>
      <p:sp>
        <p:nvSpPr>
          <p:cNvPr id="19" name="Shape 17"/>
          <p:cNvSpPr/>
          <p:nvPr/>
        </p:nvSpPr>
        <p:spPr>
          <a:xfrm>
            <a:off x="566928" y="4872419"/>
            <a:ext cx="5382616" cy="830770"/>
          </a:xfrm>
          <a:prstGeom prst="roundRect">
            <a:avLst>
              <a:gd name="adj" fmla="val 8805"/>
            </a:avLst>
          </a:prstGeom>
          <a:solidFill>
            <a:srgbClr val="FFFFFF"/>
          </a:solidFill>
          <a:ln w="12700">
            <a:solidFill>
              <a:srgbClr val="D5DBE5"/>
            </a:solidFill>
            <a:prstDash val="solid"/>
          </a:ln>
        </p:spPr>
      </p:sp>
      <p:sp>
        <p:nvSpPr>
          <p:cNvPr id="20" name="Shape 18"/>
          <p:cNvSpPr/>
          <p:nvPr/>
        </p:nvSpPr>
        <p:spPr>
          <a:xfrm>
            <a:off x="822960" y="5059204"/>
            <a:ext cx="457200" cy="457200"/>
          </a:xfrm>
          <a:prstGeom prst="ellipse">
            <a:avLst/>
          </a:prstGeom>
          <a:solidFill>
            <a:srgbClr val="13233F"/>
          </a:solidFill>
          <a:ln w="12700">
            <a:solidFill>
              <a:srgbClr val="13233F"/>
            </a:solidFill>
            <a:prstDash val="solid"/>
          </a:ln>
        </p:spPr>
      </p:sp>
      <p:sp>
        <p:nvSpPr>
          <p:cNvPr id="21" name="Text 19"/>
          <p:cNvSpPr/>
          <p:nvPr/>
        </p:nvSpPr>
        <p:spPr>
          <a:xfrm>
            <a:off x="822960" y="505920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44752" y="500957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清晰</a:t>
            </a:r>
            <a:endParaRPr lang="en-US" sz="1500" dirty="0"/>
          </a:p>
        </p:txBody>
      </p:sp>
      <p:sp>
        <p:nvSpPr>
          <p:cNvPr id="23" name="Text 21"/>
          <p:cNvSpPr/>
          <p:nvPr/>
        </p:nvSpPr>
        <p:spPr>
          <a:xfrm>
            <a:off x="1444752" y="5317427"/>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规则必须能够被理解。</a:t>
            </a:r>
            <a:endParaRPr lang="en-US" sz="1350" dirty="0"/>
          </a:p>
        </p:txBody>
      </p:sp>
      <p:sp>
        <p:nvSpPr>
          <p:cNvPr id="24" name="Shape 22"/>
          <p:cNvSpPr/>
          <p:nvPr/>
        </p:nvSpPr>
        <p:spPr>
          <a:xfrm>
            <a:off x="6242152" y="1623155"/>
            <a:ext cx="5382616" cy="830770"/>
          </a:xfrm>
          <a:prstGeom prst="roundRect">
            <a:avLst>
              <a:gd name="adj" fmla="val 8805"/>
            </a:avLst>
          </a:prstGeom>
          <a:solidFill>
            <a:srgbClr val="F2F4F8"/>
          </a:solidFill>
          <a:ln w="12700">
            <a:solidFill>
              <a:srgbClr val="F2F4F8"/>
            </a:solidFill>
            <a:prstDash val="solid"/>
          </a:ln>
        </p:spPr>
      </p:sp>
      <p:sp>
        <p:nvSpPr>
          <p:cNvPr id="25" name="Shape 23"/>
          <p:cNvSpPr/>
          <p:nvPr/>
        </p:nvSpPr>
        <p:spPr>
          <a:xfrm>
            <a:off x="6498184" y="1809941"/>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180994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176031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不矛盾</a:t>
            </a:r>
            <a:endParaRPr lang="en-US" sz="1500" dirty="0"/>
          </a:p>
        </p:txBody>
      </p:sp>
      <p:sp>
        <p:nvSpPr>
          <p:cNvPr id="28" name="Text 26"/>
          <p:cNvSpPr/>
          <p:nvPr/>
        </p:nvSpPr>
        <p:spPr>
          <a:xfrm>
            <a:off x="7119976" y="2068163"/>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规则之间不得相互抵触。</a:t>
            </a:r>
            <a:endParaRPr lang="en-US" sz="1350" dirty="0"/>
          </a:p>
        </p:txBody>
      </p:sp>
      <p:sp>
        <p:nvSpPr>
          <p:cNvPr id="29" name="Shape 27"/>
          <p:cNvSpPr/>
          <p:nvPr/>
        </p:nvSpPr>
        <p:spPr>
          <a:xfrm>
            <a:off x="6242152" y="2581942"/>
            <a:ext cx="5382616" cy="830770"/>
          </a:xfrm>
          <a:prstGeom prst="roundRect">
            <a:avLst>
              <a:gd name="adj" fmla="val 8805"/>
            </a:avLst>
          </a:prstGeom>
          <a:solidFill>
            <a:srgbClr val="FFFFFF"/>
          </a:solidFill>
          <a:ln w="12700">
            <a:solidFill>
              <a:srgbClr val="D5DBE5"/>
            </a:solidFill>
            <a:prstDash val="solid"/>
          </a:ln>
        </p:spPr>
      </p:sp>
      <p:sp>
        <p:nvSpPr>
          <p:cNvPr id="30" name="Shape 28"/>
          <p:cNvSpPr/>
          <p:nvPr/>
        </p:nvSpPr>
        <p:spPr>
          <a:xfrm>
            <a:off x="6498184" y="2768727"/>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276872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271910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可遵循</a:t>
            </a:r>
            <a:endParaRPr lang="en-US" sz="1500" dirty="0"/>
          </a:p>
        </p:txBody>
      </p:sp>
      <p:sp>
        <p:nvSpPr>
          <p:cNvPr id="33" name="Text 31"/>
          <p:cNvSpPr/>
          <p:nvPr/>
        </p:nvSpPr>
        <p:spPr>
          <a:xfrm>
            <a:off x="7119976" y="3026950"/>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不得要求人们做不可能之事。</a:t>
            </a:r>
            <a:endParaRPr lang="en-US" sz="1350" dirty="0"/>
          </a:p>
        </p:txBody>
      </p:sp>
      <p:sp>
        <p:nvSpPr>
          <p:cNvPr id="34" name="Shape 32"/>
          <p:cNvSpPr/>
          <p:nvPr/>
        </p:nvSpPr>
        <p:spPr>
          <a:xfrm>
            <a:off x="6242152" y="3540728"/>
            <a:ext cx="5382616" cy="830770"/>
          </a:xfrm>
          <a:prstGeom prst="roundRect">
            <a:avLst>
              <a:gd name="adj" fmla="val 8805"/>
            </a:avLst>
          </a:prstGeom>
          <a:solidFill>
            <a:srgbClr val="F2F4F8"/>
          </a:solidFill>
          <a:ln w="12700">
            <a:solidFill>
              <a:srgbClr val="F2F4F8"/>
            </a:solidFill>
            <a:prstDash val="solid"/>
          </a:ln>
        </p:spPr>
      </p:sp>
      <p:sp>
        <p:nvSpPr>
          <p:cNvPr id="35" name="Shape 33"/>
          <p:cNvSpPr/>
          <p:nvPr/>
        </p:nvSpPr>
        <p:spPr>
          <a:xfrm>
            <a:off x="6498184" y="3727514"/>
            <a:ext cx="457200" cy="457200"/>
          </a:xfrm>
          <a:prstGeom prst="ellipse">
            <a:avLst/>
          </a:prstGeom>
          <a:solidFill>
            <a:srgbClr val="13233F"/>
          </a:solidFill>
          <a:ln w="12700">
            <a:solidFill>
              <a:srgbClr val="13233F"/>
            </a:solidFill>
            <a:prstDash val="solid"/>
          </a:ln>
        </p:spPr>
      </p:sp>
      <p:sp>
        <p:nvSpPr>
          <p:cNvPr id="36" name="Text 34"/>
          <p:cNvSpPr/>
          <p:nvPr/>
        </p:nvSpPr>
        <p:spPr>
          <a:xfrm>
            <a:off x="6498184" y="37275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7</a:t>
            </a:r>
            <a:endParaRPr lang="en-US" sz="1600" dirty="0"/>
          </a:p>
        </p:txBody>
      </p:sp>
      <p:sp>
        <p:nvSpPr>
          <p:cNvPr id="37" name="Text 35"/>
          <p:cNvSpPr/>
          <p:nvPr/>
        </p:nvSpPr>
        <p:spPr>
          <a:xfrm>
            <a:off x="7119976" y="36778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稳定</a:t>
            </a:r>
            <a:endParaRPr lang="en-US" sz="1500" dirty="0"/>
          </a:p>
        </p:txBody>
      </p:sp>
      <p:sp>
        <p:nvSpPr>
          <p:cNvPr id="38" name="Text 36"/>
          <p:cNvSpPr/>
          <p:nvPr/>
        </p:nvSpPr>
        <p:spPr>
          <a:xfrm>
            <a:off x="7119976" y="3985736"/>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不得频繁变动，使人无所适从。</a:t>
            </a:r>
            <a:endParaRPr lang="en-US" sz="1350" dirty="0"/>
          </a:p>
        </p:txBody>
      </p:sp>
      <p:sp>
        <p:nvSpPr>
          <p:cNvPr id="39" name="Shape 37"/>
          <p:cNvSpPr/>
          <p:nvPr/>
        </p:nvSpPr>
        <p:spPr>
          <a:xfrm>
            <a:off x="6242152" y="4499515"/>
            <a:ext cx="5382616" cy="1576578"/>
          </a:xfrm>
          <a:prstGeom prst="roundRect">
            <a:avLst>
              <a:gd name="adj" fmla="val 4640"/>
            </a:avLst>
          </a:prstGeom>
          <a:solidFill>
            <a:srgbClr val="FFFFFF"/>
          </a:solidFill>
          <a:ln w="12700">
            <a:solidFill>
              <a:srgbClr val="D5DBE5"/>
            </a:solidFill>
            <a:prstDash val="solid"/>
          </a:ln>
        </p:spPr>
      </p:sp>
      <p:sp>
        <p:nvSpPr>
          <p:cNvPr id="40" name="Shape 38"/>
          <p:cNvSpPr/>
          <p:nvPr/>
        </p:nvSpPr>
        <p:spPr>
          <a:xfrm>
            <a:off x="6498184" y="5059204"/>
            <a:ext cx="457200" cy="457200"/>
          </a:xfrm>
          <a:prstGeom prst="ellipse">
            <a:avLst/>
          </a:prstGeom>
          <a:solidFill>
            <a:srgbClr val="13233F"/>
          </a:solidFill>
          <a:ln w="12700">
            <a:solidFill>
              <a:srgbClr val="13233F"/>
            </a:solidFill>
            <a:prstDash val="solid"/>
          </a:ln>
        </p:spPr>
      </p:sp>
      <p:sp>
        <p:nvSpPr>
          <p:cNvPr id="41" name="Text 39"/>
          <p:cNvSpPr/>
          <p:nvPr/>
        </p:nvSpPr>
        <p:spPr>
          <a:xfrm>
            <a:off x="6498184" y="505920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8</a:t>
            </a:r>
            <a:endParaRPr lang="en-US" sz="1600" dirty="0"/>
          </a:p>
        </p:txBody>
      </p:sp>
      <p:sp>
        <p:nvSpPr>
          <p:cNvPr id="42" name="Text 40"/>
          <p:cNvSpPr/>
          <p:nvPr/>
        </p:nvSpPr>
        <p:spPr>
          <a:xfrm>
            <a:off x="7119976" y="463667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官方行为与规则一致</a:t>
            </a:r>
            <a:endParaRPr lang="en-US" sz="1500" dirty="0"/>
          </a:p>
        </p:txBody>
      </p:sp>
      <p:sp>
        <p:nvSpPr>
          <p:cNvPr id="43" name="Text 41"/>
          <p:cNvSpPr/>
          <p:nvPr/>
        </p:nvSpPr>
        <p:spPr>
          <a:xfrm>
            <a:off x="7119976" y="4944523"/>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这是八项中最关键的一项——执法者、司法者必须真正按照公布的规则行事。富勒指出，八项条件中任何一项的彻底失败，都不只是造就了坏的法律，而是造成了根本不能称之为法律制度的东西。</a:t>
            </a:r>
            <a:endParaRPr lang="en-US" sz="1350" dirty="0"/>
          </a:p>
        </p:txBody>
      </p:sp>
      <p:sp>
        <p:nvSpPr>
          <p:cNvPr id="44" name="Text 4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落点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为什么这场论战是职业伦理课的起点</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10000"/>
          </a:blip>
          <a:stretch>
            <a:fillRect/>
          </a:stretch>
        </p:blipFill>
        <p:spPr>
          <a:xfrm>
            <a:off x="9475927" y="4279392"/>
            <a:ext cx="1783080" cy="17830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富勒的第八项条件——“官方行为与公布的规则相一致”——直接指向法律职业伦理。</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这一项条件不能靠立法来保证。立法者可以写出清晰、稳定、公开的规则，却无法替法官保证他会依规则裁判，无法替检察官保证他会客观取证，无法替律师保证他会诚信履职。</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换言之，法治的最后一环，落在法律人的职业品格上。制度可以设计监督，但监督者也是人；层层监督之外，最终仍需要法律人自身的伦理自觉。</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这就是为什么现代各国无一例外地建立了法律职业伦理规范体系，也是为什么我国将《法律职业伦理》确定为法学专业核心必修课。</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法律职业伦理不是法学教育的道德点缀，而是法治得以运转的制度组成部分。</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为什么对法律人的道德要求高于常人</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这不是苛求，而是由法律职业本身的结构性特征所决定的</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五个理由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法律职业的结构性特征与更高的伦理要求</a:t>
            </a:r>
            <a:endParaRPr lang="en-US" sz="2800" dirty="0"/>
          </a:p>
        </p:txBody>
      </p:sp>
      <p:sp>
        <p:nvSpPr>
          <p:cNvPr id="4" name="Shape 2"/>
          <p:cNvSpPr/>
          <p:nvPr/>
        </p:nvSpPr>
        <p:spPr>
          <a:xfrm>
            <a:off x="566928" y="1316736"/>
            <a:ext cx="11057839" cy="1043432"/>
          </a:xfrm>
          <a:prstGeom prst="roundRect">
            <a:avLst>
              <a:gd name="adj" fmla="val 7011"/>
            </a:avLst>
          </a:prstGeom>
          <a:solidFill>
            <a:srgbClr val="F2F4F8"/>
          </a:solidFill>
          <a:ln w="12700">
            <a:solidFill>
              <a:srgbClr val="F2F4F8"/>
            </a:solidFill>
            <a:prstDash val="solid"/>
          </a:ln>
        </p:spPr>
      </p:sp>
      <p:sp>
        <p:nvSpPr>
          <p:cNvPr id="5" name="Shape 3"/>
          <p:cNvSpPr/>
          <p:nvPr/>
        </p:nvSpPr>
        <p:spPr>
          <a:xfrm>
            <a:off x="841248" y="158242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36039"/>
            <a:ext cx="204826" cy="204826"/>
          </a:xfrm>
          <a:prstGeom prst="rect">
            <a:avLst/>
          </a:prstGeom>
        </p:spPr>
      </p:pic>
      <p:sp>
        <p:nvSpPr>
          <p:cNvPr id="7" name="Text 4"/>
          <p:cNvSpPr/>
          <p:nvPr/>
        </p:nvSpPr>
        <p:spPr>
          <a:xfrm>
            <a:off x="1536192" y="1520190"/>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垄断性：社会把一扇门的钥匙只交给了你</a:t>
            </a:r>
            <a:endParaRPr lang="en-US" sz="1200" dirty="0"/>
          </a:p>
        </p:txBody>
      </p:sp>
      <p:sp>
        <p:nvSpPr>
          <p:cNvPr id="8" name="Text 5"/>
          <p:cNvSpPr/>
          <p:nvPr/>
        </p:nvSpPr>
        <p:spPr>
          <a:xfrm>
            <a:off x="1536192" y="1788414"/>
            <a:ext cx="9832543"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法律服务与司法权的行使是受严格准入限制的。未通过法律职业资格考试者不得从事，这就意味着社会将一项稀缺资源独家授予了法律职业群体，作为交换，社会有权要求更高的行为标准。</a:t>
            </a:r>
            <a:endParaRPr lang="en-US" sz="1000" dirty="0"/>
          </a:p>
        </p:txBody>
      </p:sp>
      <p:sp>
        <p:nvSpPr>
          <p:cNvPr id="9" name="Shape 6"/>
          <p:cNvSpPr/>
          <p:nvPr/>
        </p:nvSpPr>
        <p:spPr>
          <a:xfrm>
            <a:off x="566928" y="2506472"/>
            <a:ext cx="11057839" cy="859282"/>
          </a:xfrm>
          <a:prstGeom prst="roundRect">
            <a:avLst>
              <a:gd name="adj" fmla="val 8513"/>
            </a:avLst>
          </a:prstGeom>
          <a:solidFill>
            <a:srgbClr val="FFFFFF"/>
          </a:solidFill>
          <a:ln w="12700">
            <a:solidFill>
              <a:srgbClr val="D5DBE5"/>
            </a:solidFill>
            <a:prstDash val="solid"/>
          </a:ln>
        </p:spPr>
      </p:sp>
      <p:sp>
        <p:nvSpPr>
          <p:cNvPr id="10" name="Shape 7"/>
          <p:cNvSpPr/>
          <p:nvPr/>
        </p:nvSpPr>
        <p:spPr>
          <a:xfrm>
            <a:off x="841248" y="2680081"/>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833700"/>
            <a:ext cx="204826" cy="204826"/>
          </a:xfrm>
          <a:prstGeom prst="rect">
            <a:avLst/>
          </a:prstGeom>
        </p:spPr>
      </p:pic>
      <p:sp>
        <p:nvSpPr>
          <p:cNvPr id="12" name="Text 8"/>
          <p:cNvSpPr/>
          <p:nvPr/>
        </p:nvSpPr>
        <p:spPr>
          <a:xfrm>
            <a:off x="1536192" y="2709926"/>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公共性：你的职业行为直接关系公共利益</a:t>
            </a:r>
            <a:endParaRPr lang="en-US" sz="1200" dirty="0"/>
          </a:p>
        </p:txBody>
      </p:sp>
      <p:sp>
        <p:nvSpPr>
          <p:cNvPr id="13" name="Text 9"/>
          <p:cNvSpPr/>
          <p:nvPr/>
        </p:nvSpPr>
        <p:spPr>
          <a:xfrm>
            <a:off x="1536192" y="2978150"/>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工匠的失误损害一件产品，法律人的失误可能损害一个人的自由、财产乃至生命，并动摇公众对整个法律秩序的信赖。法律职业以服务公众为宗旨，不同于纯粹逐利的行业。</a:t>
            </a:r>
            <a:endParaRPr lang="en-US" sz="1000" dirty="0"/>
          </a:p>
        </p:txBody>
      </p:sp>
      <p:sp>
        <p:nvSpPr>
          <p:cNvPr id="14" name="Shape 10"/>
          <p:cNvSpPr/>
          <p:nvPr/>
        </p:nvSpPr>
        <p:spPr>
          <a:xfrm>
            <a:off x="566928" y="3512058"/>
            <a:ext cx="11057839" cy="859282"/>
          </a:xfrm>
          <a:prstGeom prst="roundRect">
            <a:avLst>
              <a:gd name="adj" fmla="val 8513"/>
            </a:avLst>
          </a:prstGeom>
          <a:solidFill>
            <a:srgbClr val="F2F4F8"/>
          </a:solidFill>
          <a:ln w="12700">
            <a:solidFill>
              <a:srgbClr val="F2F4F8"/>
            </a:solidFill>
            <a:prstDash val="solid"/>
          </a:ln>
        </p:spPr>
      </p:sp>
      <p:sp>
        <p:nvSpPr>
          <p:cNvPr id="15" name="Shape 11"/>
          <p:cNvSpPr/>
          <p:nvPr/>
        </p:nvSpPr>
        <p:spPr>
          <a:xfrm>
            <a:off x="841248" y="3685667"/>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839286"/>
            <a:ext cx="204826" cy="204826"/>
          </a:xfrm>
          <a:prstGeom prst="rect">
            <a:avLst/>
          </a:prstGeom>
        </p:spPr>
      </p:pic>
      <p:sp>
        <p:nvSpPr>
          <p:cNvPr id="17" name="Text 12"/>
          <p:cNvSpPr/>
          <p:nvPr/>
        </p:nvSpPr>
        <p:spPr>
          <a:xfrm>
            <a:off x="1536192" y="3715512"/>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信息不对称：当事人无从判断你是否尽责</a:t>
            </a:r>
            <a:endParaRPr lang="en-US" sz="1200" dirty="0"/>
          </a:p>
        </p:txBody>
      </p:sp>
      <p:sp>
        <p:nvSpPr>
          <p:cNvPr id="18" name="Text 13"/>
          <p:cNvSpPr/>
          <p:nvPr/>
        </p:nvSpPr>
        <p:spPr>
          <a:xfrm>
            <a:off x="1536192" y="3983736"/>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病人看不懂病历，当事人也看不懂诉讼策略。委托人无法有效监督律师是否勤勉、法官是否公正。这种不对称使外部约束天然乏力，只能更多依赖职业伦理的内部约束。</a:t>
            </a:r>
            <a:endParaRPr lang="en-US" sz="1000" dirty="0"/>
          </a:p>
        </p:txBody>
      </p:sp>
      <p:sp>
        <p:nvSpPr>
          <p:cNvPr id="19" name="Shape 14"/>
          <p:cNvSpPr/>
          <p:nvPr/>
        </p:nvSpPr>
        <p:spPr>
          <a:xfrm>
            <a:off x="566928" y="4517644"/>
            <a:ext cx="11057839" cy="859282"/>
          </a:xfrm>
          <a:prstGeom prst="roundRect">
            <a:avLst>
              <a:gd name="adj" fmla="val 8513"/>
            </a:avLst>
          </a:prstGeom>
          <a:solidFill>
            <a:srgbClr val="FFFFFF"/>
          </a:solidFill>
          <a:ln w="12700">
            <a:solidFill>
              <a:srgbClr val="D5DBE5"/>
            </a:solidFill>
            <a:prstDash val="solid"/>
          </a:ln>
        </p:spPr>
      </p:sp>
      <p:sp>
        <p:nvSpPr>
          <p:cNvPr id="20" name="Shape 15"/>
          <p:cNvSpPr/>
          <p:nvPr/>
        </p:nvSpPr>
        <p:spPr>
          <a:xfrm>
            <a:off x="841248" y="4691253"/>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844872"/>
            <a:ext cx="204826" cy="204826"/>
          </a:xfrm>
          <a:prstGeom prst="rect">
            <a:avLst/>
          </a:prstGeom>
        </p:spPr>
      </p:pic>
      <p:sp>
        <p:nvSpPr>
          <p:cNvPr id="22" name="Text 16"/>
          <p:cNvSpPr/>
          <p:nvPr/>
        </p:nvSpPr>
        <p:spPr>
          <a:xfrm>
            <a:off x="1536192" y="4721098"/>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权力性：你的判断具有强制力</a:t>
            </a:r>
            <a:endParaRPr lang="en-US" sz="1200" dirty="0"/>
          </a:p>
        </p:txBody>
      </p:sp>
      <p:sp>
        <p:nvSpPr>
          <p:cNvPr id="23" name="Text 17"/>
          <p:cNvSpPr/>
          <p:nvPr/>
        </p:nvSpPr>
        <p:spPr>
          <a:xfrm>
            <a:off x="1536192" y="4989322"/>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法官的裁判、检察官的起诉决定，一经作出即具有国家强制力。权力愈大，对行使者的德性要求愈高——这是一切公权力伦理的通则。</a:t>
            </a:r>
            <a:endParaRPr lang="en-US" sz="1000" dirty="0"/>
          </a:p>
        </p:txBody>
      </p:sp>
      <p:sp>
        <p:nvSpPr>
          <p:cNvPr id="24" name="Shape 18"/>
          <p:cNvSpPr/>
          <p:nvPr/>
        </p:nvSpPr>
        <p:spPr>
          <a:xfrm>
            <a:off x="566928" y="5523230"/>
            <a:ext cx="11057839" cy="859282"/>
          </a:xfrm>
          <a:prstGeom prst="roundRect">
            <a:avLst>
              <a:gd name="adj" fmla="val 8513"/>
            </a:avLst>
          </a:prstGeom>
          <a:solidFill>
            <a:srgbClr val="F2F4F8"/>
          </a:solidFill>
          <a:ln w="12700">
            <a:solidFill>
              <a:srgbClr val="F2F4F8"/>
            </a:solidFill>
            <a:prstDash val="solid"/>
          </a:ln>
        </p:spPr>
      </p:sp>
      <p:sp>
        <p:nvSpPr>
          <p:cNvPr id="25" name="Shape 19"/>
          <p:cNvSpPr/>
          <p:nvPr/>
        </p:nvSpPr>
        <p:spPr>
          <a:xfrm>
            <a:off x="841248" y="5696839"/>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50458"/>
            <a:ext cx="204826" cy="204826"/>
          </a:xfrm>
          <a:prstGeom prst="rect">
            <a:avLst/>
          </a:prstGeom>
        </p:spPr>
      </p:pic>
      <p:sp>
        <p:nvSpPr>
          <p:cNvPr id="27" name="Text 20"/>
          <p:cNvSpPr/>
          <p:nvPr/>
        </p:nvSpPr>
        <p:spPr>
          <a:xfrm>
            <a:off x="1536192" y="5726684"/>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信任基础：整个制度建立在“可被信赖”之上</a:t>
            </a:r>
            <a:endParaRPr lang="en-US" sz="1200" dirty="0"/>
          </a:p>
        </p:txBody>
      </p:sp>
      <p:sp>
        <p:nvSpPr>
          <p:cNvPr id="28" name="Text 21"/>
          <p:cNvSpPr/>
          <p:nvPr/>
        </p:nvSpPr>
        <p:spPr>
          <a:xfrm>
            <a:off x="1536192" y="5994908"/>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当事人愿意把最隐秘的事实告诉律师，社会愿意把最激烈的争端交给法院，前提是相信法律人值得托付。信任一旦崩塌，制度即告瘫痪，且修复极其缓慢。</a:t>
            </a:r>
            <a:endParaRPr lang="en-US" sz="10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621536"/>
            <a:ext cx="749808" cy="749808"/>
          </a:xfrm>
          <a:prstGeom prst="rect">
            <a:avLst/>
          </a:prstGeom>
        </p:spPr>
      </p:pic>
      <p:sp>
        <p:nvSpPr>
          <p:cNvPr id="3" name="Text 0"/>
          <p:cNvSpPr/>
          <p:nvPr/>
        </p:nvSpPr>
        <p:spPr>
          <a:xfrm>
            <a:off x="1298448" y="2700528"/>
            <a:ext cx="9594799" cy="12192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法官的一言一行，都必须使人们相信，正义不仅得到了实现，而且是以人们看得见的方式得到实现。</a:t>
            </a:r>
            <a:endParaRPr lang="en-US" sz="3200" dirty="0"/>
          </a:p>
        </p:txBody>
      </p:sp>
      <p:sp>
        <p:nvSpPr>
          <p:cNvPr id="4" name="Text 1"/>
          <p:cNvSpPr/>
          <p:nvPr/>
        </p:nvSpPr>
        <p:spPr>
          <a:xfrm>
            <a:off x="1335024" y="42854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休厄特勋爵（Lord Hewart）</a:t>
            </a:r>
            <a:endParaRPr lang="en-US" sz="1700" dirty="0"/>
          </a:p>
        </p:txBody>
      </p:sp>
      <p:sp>
        <p:nvSpPr>
          <p:cNvPr id="5" name="Text 2"/>
          <p:cNvSpPr/>
          <p:nvPr/>
        </p:nvSpPr>
        <p:spPr>
          <a:xfrm>
            <a:off x="1335024" y="46878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R v Sussex Justices, ex parte McCarthy (1924) —— “看得见的正义”这一表述的经典出处</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一个庞大而仍在快速扩张的职业群体</a:t>
            </a:r>
            <a:endParaRPr lang="en-US" sz="2800" dirty="0"/>
          </a:p>
        </p:txBody>
      </p:sp>
      <p:sp>
        <p:nvSpPr>
          <p:cNvPr id="4" name="Shape 2"/>
          <p:cNvSpPr/>
          <p:nvPr/>
        </p:nvSpPr>
        <p:spPr>
          <a:xfrm>
            <a:off x="566928" y="2101152"/>
            <a:ext cx="3527450" cy="2994025"/>
          </a:xfrm>
          <a:prstGeom prst="roundRect">
            <a:avLst>
              <a:gd name="adj" fmla="val 3054"/>
            </a:avLst>
          </a:prstGeom>
          <a:solidFill>
            <a:srgbClr val="13233F"/>
          </a:solidFill>
          <a:ln w="12700">
            <a:solidFill>
              <a:srgbClr val="13233F"/>
            </a:solidFill>
            <a:prstDash val="solid"/>
          </a:ln>
        </p:spPr>
      </p:sp>
      <p:sp>
        <p:nvSpPr>
          <p:cNvPr id="5" name="Text 3"/>
          <p:cNvSpPr/>
          <p:nvPr/>
        </p:nvSpPr>
        <p:spPr>
          <a:xfrm>
            <a:off x="749808" y="2430336"/>
            <a:ext cx="3161690" cy="1024128"/>
          </a:xfrm>
          <a:prstGeom prst="rect">
            <a:avLst/>
          </a:prstGeom>
          <a:noFill/>
          <a:ln/>
        </p:spPr>
        <p:txBody>
          <a:bodyPr wrap="square" lIns="0" tIns="0" rIns="0" bIns="0" rtlCol="0" anchor="ctr"/>
          <a:lstStyle/>
          <a:p>
            <a:pPr algn="ctr" indent="0" marL="0">
              <a:buNone/>
            </a:pPr>
            <a:r>
              <a:rPr lang="en-US" sz="4650" b="1" dirty="0">
                <a:solidFill>
                  <a:srgbClr val="B08D57"/>
                </a:solidFill>
                <a:latin typeface="Arial" pitchFamily="34" charset="0"/>
                <a:ea typeface="Arial" pitchFamily="34" charset="-122"/>
                <a:cs typeface="Arial" pitchFamily="34" charset="-120"/>
              </a:rPr>
              <a:t>65.16</a:t>
            </a:r>
            <a:pPr algn="ctr" indent="0" marL="0">
              <a:buNone/>
            </a:pPr>
            <a:r>
              <a:rPr lang="en-US" sz="2400" b="1" dirty="0">
                <a:solidFill>
                  <a:srgbClr val="B08D57"/>
                </a:solidFill>
                <a:latin typeface="微软雅黑" pitchFamily="34" charset="0"/>
                <a:ea typeface="微软雅黑" pitchFamily="34" charset="-122"/>
                <a:cs typeface="微软雅黑" pitchFamily="34" charset="-120"/>
              </a:rPr>
              <a:t>万</a:t>
            </a:r>
            <a:endParaRPr lang="en-US" sz="4650" dirty="0"/>
          </a:p>
        </p:txBody>
      </p:sp>
      <p:sp>
        <p:nvSpPr>
          <p:cNvPr id="6" name="Text 4"/>
          <p:cNvSpPr/>
          <p:nvPr/>
        </p:nvSpPr>
        <p:spPr>
          <a:xfrm>
            <a:off x="886968"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全国执业律师</a:t>
            </a:r>
            <a:endParaRPr lang="en-US" sz="1600" dirty="0"/>
          </a:p>
        </p:txBody>
      </p:sp>
      <p:sp>
        <p:nvSpPr>
          <p:cNvPr id="7" name="Text 5"/>
          <p:cNvSpPr/>
          <p:nvPr/>
        </p:nvSpPr>
        <p:spPr>
          <a:xfrm>
            <a:off x="886968"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截至 2022 年底。司法部《2022 年度律师、基层法律服务工作统计分析》</a:t>
            </a:r>
            <a:endParaRPr lang="en-US" sz="1300" dirty="0"/>
          </a:p>
        </p:txBody>
      </p:sp>
      <p:sp>
        <p:nvSpPr>
          <p:cNvPr id="8" name="Shape 6"/>
          <p:cNvSpPr/>
          <p:nvPr/>
        </p:nvSpPr>
        <p:spPr>
          <a:xfrm>
            <a:off x="4332122" y="2101152"/>
            <a:ext cx="3527450" cy="2994025"/>
          </a:xfrm>
          <a:prstGeom prst="roundRect">
            <a:avLst>
              <a:gd name="adj" fmla="val 3054"/>
            </a:avLst>
          </a:prstGeom>
          <a:solidFill>
            <a:srgbClr val="F6F1E8"/>
          </a:solidFill>
          <a:ln w="12700">
            <a:solidFill>
              <a:srgbClr val="F6F1E8"/>
            </a:solidFill>
            <a:prstDash val="solid"/>
          </a:ln>
        </p:spPr>
      </p:sp>
      <p:sp>
        <p:nvSpPr>
          <p:cNvPr id="9" name="Text 7"/>
          <p:cNvSpPr/>
          <p:nvPr/>
        </p:nvSpPr>
        <p:spPr>
          <a:xfrm>
            <a:off x="4515002" y="2430336"/>
            <a:ext cx="3161690" cy="1024128"/>
          </a:xfrm>
          <a:prstGeom prst="rect">
            <a:avLst/>
          </a:prstGeom>
          <a:noFill/>
          <a:ln/>
        </p:spPr>
        <p:txBody>
          <a:bodyPr wrap="square" lIns="0" tIns="0" rIns="0" bIns="0" rtlCol="0" anchor="ctr"/>
          <a:lstStyle/>
          <a:p>
            <a:pPr algn="ctr" indent="0" marL="0">
              <a:buNone/>
            </a:pPr>
            <a:r>
              <a:rPr lang="en-US" sz="5481" b="1" dirty="0">
                <a:solidFill>
                  <a:srgbClr val="B08D57"/>
                </a:solidFill>
                <a:latin typeface="Arial" pitchFamily="34" charset="0"/>
                <a:ea typeface="Arial" pitchFamily="34" charset="-122"/>
                <a:cs typeface="Arial" pitchFamily="34" charset="-120"/>
              </a:rPr>
              <a:t>3.86</a:t>
            </a:r>
            <a:pPr algn="ctr" indent="0" marL="0">
              <a:buNone/>
            </a:pPr>
            <a:r>
              <a:rPr lang="en-US" sz="2900" b="1" dirty="0">
                <a:solidFill>
                  <a:srgbClr val="B08D57"/>
                </a:solidFill>
                <a:latin typeface="微软雅黑" pitchFamily="34" charset="0"/>
                <a:ea typeface="微软雅黑" pitchFamily="34" charset="-122"/>
                <a:cs typeface="微软雅黑" pitchFamily="34" charset="-120"/>
              </a:rPr>
              <a:t>万</a:t>
            </a:r>
            <a:endParaRPr lang="en-US" sz="5481" dirty="0"/>
          </a:p>
        </p:txBody>
      </p:sp>
      <p:sp>
        <p:nvSpPr>
          <p:cNvPr id="10" name="Text 8"/>
          <p:cNvSpPr/>
          <p:nvPr/>
        </p:nvSpPr>
        <p:spPr>
          <a:xfrm>
            <a:off x="4652162"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律师事务所</a:t>
            </a:r>
            <a:endParaRPr lang="en-US" sz="1600" dirty="0"/>
          </a:p>
        </p:txBody>
      </p:sp>
      <p:sp>
        <p:nvSpPr>
          <p:cNvPr id="11" name="Text 9"/>
          <p:cNvSpPr/>
          <p:nvPr/>
        </p:nvSpPr>
        <p:spPr>
          <a:xfrm>
            <a:off x="4652162"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同期数据；2024 年全国执业律师人数已增至约 75 万人</a:t>
            </a:r>
            <a:endParaRPr lang="en-US" sz="1300" dirty="0"/>
          </a:p>
        </p:txBody>
      </p:sp>
      <p:sp>
        <p:nvSpPr>
          <p:cNvPr id="12" name="Shape 10"/>
          <p:cNvSpPr/>
          <p:nvPr/>
        </p:nvSpPr>
        <p:spPr>
          <a:xfrm>
            <a:off x="8097317" y="2101152"/>
            <a:ext cx="3527450" cy="2994025"/>
          </a:xfrm>
          <a:prstGeom prst="roundRect">
            <a:avLst>
              <a:gd name="adj" fmla="val 3054"/>
            </a:avLst>
          </a:prstGeom>
          <a:solidFill>
            <a:srgbClr val="ECF3F2"/>
          </a:solidFill>
          <a:ln w="12700">
            <a:solidFill>
              <a:srgbClr val="ECF3F2"/>
            </a:solidFill>
            <a:prstDash val="solid"/>
          </a:ln>
        </p:spPr>
      </p:sp>
      <p:sp>
        <p:nvSpPr>
          <p:cNvPr id="13" name="Text 11"/>
          <p:cNvSpPr/>
          <p:nvPr/>
        </p:nvSpPr>
        <p:spPr>
          <a:xfrm>
            <a:off x="8280197" y="2430336"/>
            <a:ext cx="3161690" cy="1024128"/>
          </a:xfrm>
          <a:prstGeom prst="rect">
            <a:avLst/>
          </a:prstGeom>
          <a:noFill/>
          <a:ln/>
        </p:spPr>
        <p:txBody>
          <a:bodyPr wrap="square" lIns="0" tIns="0" rIns="0" bIns="0" rtlCol="0" anchor="ctr"/>
          <a:lstStyle/>
          <a:p>
            <a:pPr algn="ctr" indent="0" marL="0">
              <a:buNone/>
            </a:pPr>
            <a:r>
              <a:rPr lang="en-US" sz="5800" b="1" dirty="0">
                <a:solidFill>
                  <a:srgbClr val="2F6E6A"/>
                </a:solidFill>
                <a:latin typeface="Arial" pitchFamily="34" charset="0"/>
                <a:ea typeface="Arial" pitchFamily="34" charset="-122"/>
                <a:cs typeface="Arial" pitchFamily="34" charset="-120"/>
              </a:rPr>
              <a:t>10</a:t>
            </a:r>
            <a:endParaRPr lang="en-US" sz="5800" dirty="0"/>
          </a:p>
        </p:txBody>
      </p:sp>
      <p:sp>
        <p:nvSpPr>
          <p:cNvPr id="14" name="Text 12"/>
          <p:cNvSpPr/>
          <p:nvPr/>
        </p:nvSpPr>
        <p:spPr>
          <a:xfrm>
            <a:off x="8417357"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法学核心必修课</a:t>
            </a:r>
            <a:endParaRPr lang="en-US" sz="1600" dirty="0"/>
          </a:p>
        </p:txBody>
      </p:sp>
      <p:sp>
        <p:nvSpPr>
          <p:cNvPr id="15" name="Text 13"/>
          <p:cNvSpPr/>
          <p:nvPr/>
        </p:nvSpPr>
        <p:spPr>
          <a:xfrm>
            <a:off x="8417357"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2021 版《法学类教学质量国家标准》“1+10+X”体系，《法律职业伦理》位列其中</a:t>
            </a:r>
            <a:endParaRPr lang="en-US" sz="1300" dirty="0"/>
          </a:p>
        </p:txBody>
      </p:sp>
      <p:sp>
        <p:nvSpPr>
          <p:cNvPr id="16" name="Text 14"/>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数据说明：职业群体规模越大、进入速度越快，统一的执业伦理标准与惩戒机制就越不可或缺。</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法律职业伦理教育的中国进程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从“附带提一句”到“独立必修课”：一门课程的四十年</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制度演进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从律师制度恢复到“1+10+X”：五个关键节点</a:t>
            </a:r>
            <a:endParaRPr lang="en-US" sz="2800" dirty="0"/>
          </a:p>
        </p:txBody>
      </p:sp>
      <p:sp>
        <p:nvSpPr>
          <p:cNvPr id="4" name="Shape 2"/>
          <p:cNvSpPr/>
          <p:nvPr/>
        </p:nvSpPr>
        <p:spPr>
          <a:xfrm>
            <a:off x="566928" y="1316736"/>
            <a:ext cx="11057839" cy="802043"/>
          </a:xfrm>
          <a:prstGeom prst="roundRect">
            <a:avLst>
              <a:gd name="adj" fmla="val 9121"/>
            </a:avLst>
          </a:prstGeom>
          <a:solidFill>
            <a:srgbClr val="F2F4F8"/>
          </a:solidFill>
          <a:ln w="12700">
            <a:solidFill>
              <a:srgbClr val="F2F4F8"/>
            </a:solidFill>
            <a:prstDash val="solid"/>
          </a:ln>
        </p:spPr>
      </p:sp>
      <p:sp>
        <p:nvSpPr>
          <p:cNvPr id="5" name="Shape 3"/>
          <p:cNvSpPr/>
          <p:nvPr/>
        </p:nvSpPr>
        <p:spPr>
          <a:xfrm>
            <a:off x="841248" y="1480014"/>
            <a:ext cx="475488" cy="475488"/>
          </a:xfrm>
          <a:prstGeom prst="ellipse">
            <a:avLst/>
          </a:prstGeom>
          <a:solidFill>
            <a:srgbClr val="13233F"/>
          </a:solidFill>
          <a:ln w="12700">
            <a:solidFill>
              <a:srgbClr val="13233F"/>
            </a:solidFill>
            <a:prstDash val="solid"/>
          </a:ln>
        </p:spPr>
      </p:sp>
      <p:sp>
        <p:nvSpPr>
          <p:cNvPr id="6" name="Text 4"/>
          <p:cNvSpPr/>
          <p:nvPr/>
        </p:nvSpPr>
        <p:spPr>
          <a:xfrm>
            <a:off x="841248" y="1480014"/>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99616" y="1487475"/>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1980 年　《律师暂行条例》</a:t>
            </a:r>
            <a:endParaRPr lang="en-US" sz="1250" dirty="0"/>
          </a:p>
        </p:txBody>
      </p:sp>
      <p:sp>
        <p:nvSpPr>
          <p:cNvPr id="8" name="Text 6"/>
          <p:cNvSpPr/>
          <p:nvPr/>
        </p:nvSpPr>
        <p:spPr>
          <a:xfrm>
            <a:off x="1499616" y="1754683"/>
            <a:ext cx="9887407" cy="193358"/>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我国律师制度恢复重建的起点。律师被定位为“国家法律工作者”，在国家机关性质的法律顾问处工作，职业伦理主要表现为纪律要求。</a:t>
            </a:r>
            <a:endParaRPr lang="en-US" sz="1050" dirty="0"/>
          </a:p>
        </p:txBody>
      </p:sp>
      <p:sp>
        <p:nvSpPr>
          <p:cNvPr id="9" name="Shape 7"/>
          <p:cNvSpPr/>
          <p:nvPr/>
        </p:nvSpPr>
        <p:spPr>
          <a:xfrm>
            <a:off x="566928" y="2237651"/>
            <a:ext cx="11057839" cy="995401"/>
          </a:xfrm>
          <a:prstGeom prst="roundRect">
            <a:avLst>
              <a:gd name="adj" fmla="val 7349"/>
            </a:avLst>
          </a:prstGeom>
          <a:solidFill>
            <a:srgbClr val="FFFFFF"/>
          </a:solidFill>
          <a:ln w="12700">
            <a:solidFill>
              <a:srgbClr val="D5DBE5"/>
            </a:solidFill>
            <a:prstDash val="solid"/>
          </a:ln>
        </p:spPr>
      </p:sp>
      <p:sp>
        <p:nvSpPr>
          <p:cNvPr id="10" name="Shape 8"/>
          <p:cNvSpPr/>
          <p:nvPr/>
        </p:nvSpPr>
        <p:spPr>
          <a:xfrm>
            <a:off x="841248" y="2497607"/>
            <a:ext cx="475488" cy="475488"/>
          </a:xfrm>
          <a:prstGeom prst="ellipse">
            <a:avLst/>
          </a:prstGeom>
          <a:solidFill>
            <a:srgbClr val="13233F"/>
          </a:solidFill>
          <a:ln w="12700">
            <a:solidFill>
              <a:srgbClr val="13233F"/>
            </a:solidFill>
            <a:prstDash val="solid"/>
          </a:ln>
        </p:spPr>
      </p:sp>
      <p:sp>
        <p:nvSpPr>
          <p:cNvPr id="11" name="Text 9"/>
          <p:cNvSpPr/>
          <p:nvPr/>
        </p:nvSpPr>
        <p:spPr>
          <a:xfrm>
            <a:off x="841248" y="2497607"/>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99616" y="2408390"/>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1996 年　《律师法》颁布</a:t>
            </a:r>
            <a:endParaRPr lang="en-US" sz="1250" dirty="0"/>
          </a:p>
        </p:txBody>
      </p:sp>
      <p:sp>
        <p:nvSpPr>
          <p:cNvPr id="13" name="Text 11"/>
          <p:cNvSpPr/>
          <p:nvPr/>
        </p:nvSpPr>
        <p:spPr>
          <a:xfrm>
            <a:off x="1499616" y="2675598"/>
            <a:ext cx="9887407" cy="386715"/>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律师定位从“国家法律工作者”转变为“为社会提供法律服务的执业人员”，2007 年修订进一步明确为“依法取得律师执业证书，接受委托或者指定，为当事人提供法律服务的执业人员”。职业属性的转变，使独立的职业伦理成为必需。</a:t>
            </a:r>
            <a:endParaRPr lang="en-US" sz="1050" dirty="0"/>
          </a:p>
        </p:txBody>
      </p:sp>
      <p:sp>
        <p:nvSpPr>
          <p:cNvPr id="14" name="Shape 12"/>
          <p:cNvSpPr/>
          <p:nvPr/>
        </p:nvSpPr>
        <p:spPr>
          <a:xfrm>
            <a:off x="566928" y="3351924"/>
            <a:ext cx="11057839" cy="802043"/>
          </a:xfrm>
          <a:prstGeom prst="roundRect">
            <a:avLst>
              <a:gd name="adj" fmla="val 9121"/>
            </a:avLst>
          </a:prstGeom>
          <a:solidFill>
            <a:srgbClr val="F2F4F8"/>
          </a:solidFill>
          <a:ln w="12700">
            <a:solidFill>
              <a:srgbClr val="F2F4F8"/>
            </a:solidFill>
            <a:prstDash val="solid"/>
          </a:ln>
        </p:spPr>
      </p:sp>
      <p:sp>
        <p:nvSpPr>
          <p:cNvPr id="15" name="Shape 13"/>
          <p:cNvSpPr/>
          <p:nvPr/>
        </p:nvSpPr>
        <p:spPr>
          <a:xfrm>
            <a:off x="841248" y="3515201"/>
            <a:ext cx="475488" cy="475488"/>
          </a:xfrm>
          <a:prstGeom prst="ellipse">
            <a:avLst/>
          </a:prstGeom>
          <a:solidFill>
            <a:srgbClr val="13233F"/>
          </a:solidFill>
          <a:ln w="12700">
            <a:solidFill>
              <a:srgbClr val="13233F"/>
            </a:solidFill>
            <a:prstDash val="solid"/>
          </a:ln>
        </p:spPr>
      </p:sp>
      <p:sp>
        <p:nvSpPr>
          <p:cNvPr id="16" name="Text 14"/>
          <p:cNvSpPr/>
          <p:nvPr/>
        </p:nvSpPr>
        <p:spPr>
          <a:xfrm>
            <a:off x="841248" y="3515201"/>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99616" y="3522663"/>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2002 年　国家统一司法考试</a:t>
            </a:r>
            <a:endParaRPr lang="en-US" sz="1250" dirty="0"/>
          </a:p>
        </p:txBody>
      </p:sp>
      <p:sp>
        <p:nvSpPr>
          <p:cNvPr id="18" name="Text 16"/>
          <p:cNvSpPr/>
          <p:nvPr/>
        </p:nvSpPr>
        <p:spPr>
          <a:xfrm>
            <a:off x="1499616" y="3789871"/>
            <a:ext cx="9887407" cy="193358"/>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法官、检察官、律师、公证员的准入被统一到一次考试之中，“法律职业共同体”从学理概念走向制度现实，共同的职业伦理才有了共同的主体。</a:t>
            </a:r>
            <a:endParaRPr lang="en-US" sz="1050" dirty="0"/>
          </a:p>
        </p:txBody>
      </p:sp>
      <p:sp>
        <p:nvSpPr>
          <p:cNvPr id="19" name="Shape 17"/>
          <p:cNvSpPr/>
          <p:nvPr/>
        </p:nvSpPr>
        <p:spPr>
          <a:xfrm>
            <a:off x="566928" y="4272839"/>
            <a:ext cx="11057839" cy="995401"/>
          </a:xfrm>
          <a:prstGeom prst="roundRect">
            <a:avLst>
              <a:gd name="adj" fmla="val 7349"/>
            </a:avLst>
          </a:prstGeom>
          <a:solidFill>
            <a:srgbClr val="FFFFFF"/>
          </a:solidFill>
          <a:ln w="12700">
            <a:solidFill>
              <a:srgbClr val="D5DBE5"/>
            </a:solidFill>
            <a:prstDash val="solid"/>
          </a:ln>
        </p:spPr>
      </p:sp>
      <p:sp>
        <p:nvSpPr>
          <p:cNvPr id="20" name="Shape 18"/>
          <p:cNvSpPr/>
          <p:nvPr/>
        </p:nvSpPr>
        <p:spPr>
          <a:xfrm>
            <a:off x="841248" y="4532795"/>
            <a:ext cx="475488" cy="475488"/>
          </a:xfrm>
          <a:prstGeom prst="ellipse">
            <a:avLst/>
          </a:prstGeom>
          <a:solidFill>
            <a:srgbClr val="13233F"/>
          </a:solidFill>
          <a:ln w="12700">
            <a:solidFill>
              <a:srgbClr val="13233F"/>
            </a:solidFill>
            <a:prstDash val="solid"/>
          </a:ln>
        </p:spPr>
      </p:sp>
      <p:sp>
        <p:nvSpPr>
          <p:cNvPr id="21" name="Text 19"/>
          <p:cNvSpPr/>
          <p:nvPr/>
        </p:nvSpPr>
        <p:spPr>
          <a:xfrm>
            <a:off x="841248" y="453279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99616" y="4443578"/>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2018 年　法考改革与卓越计划 2.0</a:t>
            </a:r>
            <a:endParaRPr lang="en-US" sz="1250" dirty="0"/>
          </a:p>
        </p:txBody>
      </p:sp>
      <p:sp>
        <p:nvSpPr>
          <p:cNvPr id="23" name="Text 21"/>
          <p:cNvSpPr/>
          <p:nvPr/>
        </p:nvSpPr>
        <p:spPr>
          <a:xfrm>
            <a:off x="1499616" y="4710786"/>
            <a:ext cx="9887407" cy="386715"/>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“国家统一司法考试”改为“国家统一法律职业资格考试”，适用主体进一步扩大；同年 10 月，教育部、中央政法委印发《关于坚持德法兼修 实施卓越法治人才教育培养计划 2.0 的意见》，明确要求把法律职业伦理教育贯穿法治人才培养全过程。</a:t>
            </a:r>
            <a:endParaRPr lang="en-US" sz="1050" dirty="0"/>
          </a:p>
        </p:txBody>
      </p:sp>
      <p:sp>
        <p:nvSpPr>
          <p:cNvPr id="24" name="Shape 22"/>
          <p:cNvSpPr/>
          <p:nvPr/>
        </p:nvSpPr>
        <p:spPr>
          <a:xfrm>
            <a:off x="566928" y="5387111"/>
            <a:ext cx="11057839" cy="995401"/>
          </a:xfrm>
          <a:prstGeom prst="roundRect">
            <a:avLst>
              <a:gd name="adj" fmla="val 7349"/>
            </a:avLst>
          </a:prstGeom>
          <a:solidFill>
            <a:srgbClr val="F2F4F8"/>
          </a:solidFill>
          <a:ln w="12700">
            <a:solidFill>
              <a:srgbClr val="F2F4F8"/>
            </a:solidFill>
            <a:prstDash val="solid"/>
          </a:ln>
        </p:spPr>
      </p:sp>
      <p:sp>
        <p:nvSpPr>
          <p:cNvPr id="25" name="Shape 23"/>
          <p:cNvSpPr/>
          <p:nvPr/>
        </p:nvSpPr>
        <p:spPr>
          <a:xfrm>
            <a:off x="841248" y="5647068"/>
            <a:ext cx="475488" cy="475488"/>
          </a:xfrm>
          <a:prstGeom prst="ellipse">
            <a:avLst/>
          </a:prstGeom>
          <a:solidFill>
            <a:srgbClr val="13233F"/>
          </a:solidFill>
          <a:ln w="12700">
            <a:solidFill>
              <a:srgbClr val="13233F"/>
            </a:solidFill>
            <a:prstDash val="solid"/>
          </a:ln>
        </p:spPr>
      </p:sp>
      <p:sp>
        <p:nvSpPr>
          <p:cNvPr id="26" name="Text 24"/>
          <p:cNvSpPr/>
          <p:nvPr/>
        </p:nvSpPr>
        <p:spPr>
          <a:xfrm>
            <a:off x="841248" y="5647068"/>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1499616" y="5557850"/>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2021 年　列入核心必修课</a:t>
            </a:r>
            <a:endParaRPr lang="en-US" sz="1250" dirty="0"/>
          </a:p>
        </p:txBody>
      </p:sp>
      <p:sp>
        <p:nvSpPr>
          <p:cNvPr id="28" name="Text 26"/>
          <p:cNvSpPr/>
          <p:nvPr/>
        </p:nvSpPr>
        <p:spPr>
          <a:xfrm>
            <a:off x="1499616" y="5825058"/>
            <a:ext cx="9887407" cy="386715"/>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2021 版《法学类教学质量国家标准》确立法学专业核心课程“1+10+X”分类设置模式：“1”为习近平法治思想概论；“10”门专业必修课中，《法律职业伦理》与法理学、宪法学、刑法、民法等并列。至此，本课程取得了与传统部门法同等的地位。</a:t>
            </a:r>
            <a:endParaRPr lang="en-US" sz="10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政策依据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“德法兼修”：本课程的政策定位</a:t>
            </a:r>
            <a:endParaRPr lang="en-US" sz="2800" dirty="0"/>
          </a:p>
        </p:txBody>
      </p:sp>
      <p:sp>
        <p:nvSpPr>
          <p:cNvPr id="4" name="Shape 2"/>
          <p:cNvSpPr/>
          <p:nvPr/>
        </p:nvSpPr>
        <p:spPr>
          <a:xfrm>
            <a:off x="566928" y="1316736"/>
            <a:ext cx="11057839" cy="1615377"/>
          </a:xfrm>
          <a:prstGeom prst="roundRect">
            <a:avLst>
              <a:gd name="adj" fmla="val 5661"/>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教育部、中央政法委《关于坚持德法兼修 实施卓越法治人才教育培养计划2.0的意见》（教高〔2018〕6号）</a:t>
            </a:r>
            <a:endParaRPr lang="en-US" sz="1500" dirty="0"/>
          </a:p>
        </p:txBody>
      </p:sp>
      <p:sp>
        <p:nvSpPr>
          <p:cNvPr id="8" name="Text 6"/>
          <p:cNvSpPr/>
          <p:nvPr/>
        </p:nvSpPr>
        <p:spPr>
          <a:xfrm>
            <a:off x="960120" y="1956816"/>
            <a:ext cx="10271455" cy="755841"/>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坚持立德树人、德法兼修，坚持规模、结构、质量、效益相统一，……推动法学教育与法治实践深度融合。将思想政治教育贯穿高素质法治人才培养全过程，加强法律职业伦理教育，为学生上好人生第一堂课。</a:t>
            </a:r>
            <a:endParaRPr lang="en-US" sz="1550" dirty="0"/>
          </a:p>
        </p:txBody>
      </p:sp>
      <p:sp>
        <p:nvSpPr>
          <p:cNvPr id="9" name="Shape 7"/>
          <p:cNvSpPr/>
          <p:nvPr/>
        </p:nvSpPr>
        <p:spPr>
          <a:xfrm>
            <a:off x="566928" y="3114993"/>
            <a:ext cx="11057839" cy="1910652"/>
          </a:xfrm>
          <a:prstGeom prst="roundRect">
            <a:avLst>
              <a:gd name="adj" fmla="val 4786"/>
            </a:avLst>
          </a:prstGeom>
          <a:solidFill>
            <a:srgbClr val="F6F1E8"/>
          </a:solidFill>
          <a:ln w="12700">
            <a:solidFill>
              <a:srgbClr val="F6F1E8"/>
            </a:solidFill>
            <a:prstDash val="solid"/>
          </a:ln>
        </p:spPr>
      </p:sp>
      <p:sp>
        <p:nvSpPr>
          <p:cNvPr id="10" name="Shape 8"/>
          <p:cNvSpPr/>
          <p:nvPr/>
        </p:nvSpPr>
        <p:spPr>
          <a:xfrm>
            <a:off x="877824" y="3352737"/>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352737"/>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334449"/>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《法学类教学质量国家标准》（2021 年版）核心课程设置</a:t>
            </a:r>
            <a:endParaRPr lang="en-US" sz="1500" dirty="0"/>
          </a:p>
        </p:txBody>
      </p:sp>
      <p:sp>
        <p:nvSpPr>
          <p:cNvPr id="13" name="Text 11"/>
          <p:cNvSpPr/>
          <p:nvPr/>
        </p:nvSpPr>
        <p:spPr>
          <a:xfrm>
            <a:off x="960120" y="3755073"/>
            <a:ext cx="10271455" cy="1051116"/>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学专业核心课程采取“1+10+X”分类设置模式。“1”指“习近平法治思想概论”；“10”指法理学、宪法学、中国法律史、刑法、民法、刑事诉讼法、民事诉讼法、行政法与行政诉讼法、国际法、法律职业伦理等十门专业必修课；“X”由各校根据办学特色自主设置，原则上不低于五门。</a:t>
            </a:r>
            <a:endParaRPr lang="en-US" sz="1550" dirty="0"/>
          </a:p>
        </p:txBody>
      </p:sp>
      <p:sp>
        <p:nvSpPr>
          <p:cNvPr id="14" name="Shape 12"/>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5" name="Text 13"/>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德法兼修”四字是理解本课程性质的钥匙：“法”指向知识与技能，“德”指向品格与判断。二者不是先后关系，而是同一过程的两面——本课程要培养的，不是知道规范的人，而是能够在规范沉默处仍作出正当选择的人。</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23</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本课程的目标、结构与要求</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我们用二十四课时，完成一次从概念到规范、从规范到判断的完整训练</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24</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课程目标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四个层次的教学目标</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知识：掌握规范体系</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系统掌握我国法官、检察官、律师、公证员等法律职业的伦理规范体系，能够准确检索并援引《法官法》《检察官法》《律师法》及配套行为规范的具体条文。</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能力：形成伦理判断</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面对具体情境，能够识别其中的伦理问题、界定冲突的义务、援引恰当的规范、并作出可以说明理由的选择。这是本课程最核心的能力目标。</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认同：内化职业信念</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理解规范背后的价值——为什么要保密、为什么要回避、为什么要客观公正——从而由“被要求遵守”转向“自愿认同”。</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自护：学会保护自己</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职业伦理不仅约束你，也保护你。懂得利益冲突审查、懂得收费与财物保管的规矩、懂得留痕，是执业生涯中最实用的风险防范能力。</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五编二十四课时总览</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2319084"/>
          <a:ext cx="11057839" cy="914400"/>
        </p:xfrm>
        <a:graphic>
          <a:graphicData uri="http://schemas.openxmlformats.org/drawingml/2006/table">
            <a:tbl>
              <a:tblPr/>
              <a:tblGrid>
                <a:gridCol w="1371600"/>
                <a:gridCol w="4114800"/>
                <a:gridCol w="1188720"/>
                <a:gridCol w="4379976"/>
              </a:tblGrid>
              <a:tr h="442341">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编</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内　容</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课时</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核心问题</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第一编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总论：法律职业与职业伦理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1—4</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法律人是谁？职业伦理是什么？规范从何而来？</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第二编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法官职业伦理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5—8</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司法权的属性如何决定法官的伦理义务？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第三编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检察官职业伦理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9—11</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法律监督者为何负有客观公正义务？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第四编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律师职业伦理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12—21</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委托、保密、冲突、收费、争讼五大支柱</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第五编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其他法律职业与伦理责任</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22—24</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违反伦理规范会承担什么责任？</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bl>
          </a:graphicData>
        </a:graphic>
      </p:graphicFrame>
      <p:sp>
        <p:nvSpPr>
          <p:cNvPr id="5" name="Text 2"/>
          <p:cNvSpPr/>
          <p:nvPr/>
        </p:nvSpPr>
        <p:spPr>
          <a:xfrm>
            <a:off x="566928" y="5087557"/>
            <a:ext cx="11057839" cy="292608"/>
          </a:xfrm>
          <a:prstGeom prst="rect">
            <a:avLst/>
          </a:prstGeom>
          <a:noFill/>
          <a:ln/>
        </p:spPr>
        <p:txBody>
          <a:bodyPr wrap="square" lIns="0" tIns="0" rIns="0" bIns="0" rtlCol="0" anchor="ctr"/>
          <a:lstStyle/>
          <a:p>
            <a:pPr indent="0" marL="0">
              <a:buNone/>
            </a:pPr>
            <a:r>
              <a:rPr lang="en-US" sz="1100" dirty="0">
                <a:solidFill>
                  <a:srgbClr val="6B7684"/>
                </a:solidFill>
                <a:latin typeface="微软雅黑" pitchFamily="34" charset="0"/>
                <a:ea typeface="微软雅黑" pitchFamily="34" charset="-122"/>
                <a:cs typeface="微软雅黑" pitchFamily="34" charset="-120"/>
              </a:rPr>
              <a:t>说明：第四编占十课时，因律师职业伦理规范最为细密、执业情境最为复杂，也是法律职业资格考试的重点考查领域。</a:t>
            </a:r>
            <a:endParaRPr lang="en-US" sz="1100" dirty="0"/>
          </a:p>
        </p:txBody>
      </p:sp>
      <p:sp>
        <p:nvSpPr>
          <p:cNvPr id="6" name="Text 3"/>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学习方法</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这门课应当怎么学</a:t>
            </a:r>
            <a:endParaRPr lang="en-US" sz="2800" dirty="0"/>
          </a:p>
        </p:txBody>
      </p:sp>
      <p:sp>
        <p:nvSpPr>
          <p:cNvPr id="4" name="Shape 2"/>
          <p:cNvSpPr/>
          <p:nvPr/>
        </p:nvSpPr>
        <p:spPr>
          <a:xfrm>
            <a:off x="566928" y="1316736"/>
            <a:ext cx="11057839" cy="1221169"/>
          </a:xfrm>
          <a:prstGeom prst="roundRect">
            <a:avLst>
              <a:gd name="adj" fmla="val 5990"/>
            </a:avLst>
          </a:prstGeom>
          <a:solidFill>
            <a:srgbClr val="F2F4F8"/>
          </a:solidFill>
          <a:ln w="12700">
            <a:solidFill>
              <a:srgbClr val="F2F4F8"/>
            </a:solidFill>
            <a:prstDash val="solid"/>
          </a:ln>
        </p:spPr>
      </p:sp>
      <p:sp>
        <p:nvSpPr>
          <p:cNvPr id="5" name="Shape 3"/>
          <p:cNvSpPr/>
          <p:nvPr/>
        </p:nvSpPr>
        <p:spPr>
          <a:xfrm>
            <a:off x="841248" y="1671288"/>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24907"/>
            <a:ext cx="204826" cy="204826"/>
          </a:xfrm>
          <a:prstGeom prst="rect">
            <a:avLst/>
          </a:prstGeom>
        </p:spPr>
      </p:pic>
      <p:sp>
        <p:nvSpPr>
          <p:cNvPr id="7" name="Text 4"/>
          <p:cNvSpPr/>
          <p:nvPr/>
        </p:nvSpPr>
        <p:spPr>
          <a:xfrm>
            <a:off x="1536192" y="1502886"/>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第一，把规范读成条文，而不是口号</a:t>
            </a:r>
            <a:endParaRPr lang="en-US" sz="1600" dirty="0"/>
          </a:p>
        </p:txBody>
      </p:sp>
      <p:sp>
        <p:nvSpPr>
          <p:cNvPr id="8" name="Text 5"/>
          <p:cNvSpPr/>
          <p:nvPr/>
        </p:nvSpPr>
        <p:spPr>
          <a:xfrm>
            <a:off x="1536192" y="1836134"/>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“公正”“廉洁”这类词汇本身不能解决问题。请务必落到具体条款：《律师执业行为规范》第几条？《法官行为规范》第几条？构成要件是什么？法律后果是什么？考试考的是条文，执业用的也是条文。</a:t>
            </a:r>
            <a:endParaRPr lang="en-US" sz="1400" dirty="0"/>
          </a:p>
        </p:txBody>
      </p:sp>
      <p:sp>
        <p:nvSpPr>
          <p:cNvPr id="9" name="Shape 6"/>
          <p:cNvSpPr/>
          <p:nvPr/>
        </p:nvSpPr>
        <p:spPr>
          <a:xfrm>
            <a:off x="566928" y="2684209"/>
            <a:ext cx="11057839" cy="1221169"/>
          </a:xfrm>
          <a:prstGeom prst="roundRect">
            <a:avLst>
              <a:gd name="adj" fmla="val 5990"/>
            </a:avLst>
          </a:prstGeom>
          <a:solidFill>
            <a:srgbClr val="FFFFFF"/>
          </a:solidFill>
          <a:ln w="12700">
            <a:solidFill>
              <a:srgbClr val="D5DBE5"/>
            </a:solidFill>
            <a:prstDash val="solid"/>
          </a:ln>
        </p:spPr>
      </p:sp>
      <p:sp>
        <p:nvSpPr>
          <p:cNvPr id="10" name="Shape 7"/>
          <p:cNvSpPr/>
          <p:nvPr/>
        </p:nvSpPr>
        <p:spPr>
          <a:xfrm>
            <a:off x="841248" y="3038761"/>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92380"/>
            <a:ext cx="204826" cy="204826"/>
          </a:xfrm>
          <a:prstGeom prst="rect">
            <a:avLst/>
          </a:prstGeom>
        </p:spPr>
      </p:pic>
      <p:sp>
        <p:nvSpPr>
          <p:cNvPr id="12" name="Text 8"/>
          <p:cNvSpPr/>
          <p:nvPr/>
        </p:nvSpPr>
        <p:spPr>
          <a:xfrm>
            <a:off x="1536192" y="2870359"/>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第二，用案例训练判断，而不是记忆结论</a:t>
            </a:r>
            <a:endParaRPr lang="en-US" sz="1600" dirty="0"/>
          </a:p>
        </p:txBody>
      </p:sp>
      <p:sp>
        <p:nvSpPr>
          <p:cNvPr id="13" name="Text 9"/>
          <p:cNvSpPr/>
          <p:nvPr/>
        </p:nvSpPr>
        <p:spPr>
          <a:xfrm>
            <a:off x="1536192" y="3203607"/>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本课程每一课时都设置研讨案例。请不要急于知道“标准答案”，而要练习完整的分析路径：识别当事人—界定义务—检索规范—权衡冲突—作出选择—说明理由。</a:t>
            </a:r>
            <a:endParaRPr lang="en-US" sz="1400" dirty="0"/>
          </a:p>
        </p:txBody>
      </p:sp>
      <p:sp>
        <p:nvSpPr>
          <p:cNvPr id="14" name="Shape 10"/>
          <p:cNvSpPr/>
          <p:nvPr/>
        </p:nvSpPr>
        <p:spPr>
          <a:xfrm>
            <a:off x="566928" y="4051681"/>
            <a:ext cx="11057839" cy="1221169"/>
          </a:xfrm>
          <a:prstGeom prst="roundRect">
            <a:avLst>
              <a:gd name="adj" fmla="val 5990"/>
            </a:avLst>
          </a:prstGeom>
          <a:solidFill>
            <a:srgbClr val="F2F4F8"/>
          </a:solidFill>
          <a:ln w="12700">
            <a:solidFill>
              <a:srgbClr val="F2F4F8"/>
            </a:solidFill>
            <a:prstDash val="solid"/>
          </a:ln>
        </p:spPr>
      </p:sp>
      <p:sp>
        <p:nvSpPr>
          <p:cNvPr id="15" name="Shape 11"/>
          <p:cNvSpPr/>
          <p:nvPr/>
        </p:nvSpPr>
        <p:spPr>
          <a:xfrm>
            <a:off x="841248" y="4406233"/>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559852"/>
            <a:ext cx="204826" cy="204826"/>
          </a:xfrm>
          <a:prstGeom prst="rect">
            <a:avLst/>
          </a:prstGeom>
        </p:spPr>
      </p:pic>
      <p:sp>
        <p:nvSpPr>
          <p:cNvPr id="17" name="Text 12"/>
          <p:cNvSpPr/>
          <p:nvPr/>
        </p:nvSpPr>
        <p:spPr>
          <a:xfrm>
            <a:off x="1536192" y="4237831"/>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第三，带着比较的眼光看待规则</a:t>
            </a:r>
            <a:endParaRPr lang="en-US" sz="1600" dirty="0"/>
          </a:p>
        </p:txBody>
      </p:sp>
      <p:sp>
        <p:nvSpPr>
          <p:cNvPr id="18" name="Text 13"/>
          <p:cNvSpPr/>
          <p:nvPr/>
        </p:nvSpPr>
        <p:spPr>
          <a:xfrm>
            <a:off x="1536192" y="4571079"/>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许多规则在美国《律师职业行为示范规则》、德国《联邦律师法》中有不同处理。了解差异，才能理解我国规则的选择理由，也才能应对涉外法律服务中的规则冲突。</a:t>
            </a:r>
            <a:endParaRPr lang="en-US" sz="1400" dirty="0"/>
          </a:p>
        </p:txBody>
      </p:sp>
      <p:sp>
        <p:nvSpPr>
          <p:cNvPr id="19" name="Shape 14"/>
          <p:cNvSpPr/>
          <p:nvPr/>
        </p:nvSpPr>
        <p:spPr>
          <a:xfrm>
            <a:off x="566928" y="5419153"/>
            <a:ext cx="11057839" cy="963359"/>
          </a:xfrm>
          <a:prstGeom prst="roundRect">
            <a:avLst>
              <a:gd name="adj" fmla="val 7593"/>
            </a:avLst>
          </a:prstGeom>
          <a:solidFill>
            <a:srgbClr val="FFFFFF"/>
          </a:solidFill>
          <a:ln w="12700">
            <a:solidFill>
              <a:srgbClr val="D5DBE5"/>
            </a:solidFill>
            <a:prstDash val="solid"/>
          </a:ln>
        </p:spPr>
      </p:sp>
      <p:sp>
        <p:nvSpPr>
          <p:cNvPr id="20" name="Shape 15"/>
          <p:cNvSpPr/>
          <p:nvPr/>
        </p:nvSpPr>
        <p:spPr>
          <a:xfrm>
            <a:off x="841248" y="5644801"/>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98420"/>
            <a:ext cx="204826" cy="204826"/>
          </a:xfrm>
          <a:prstGeom prst="rect">
            <a:avLst/>
          </a:prstGeom>
        </p:spPr>
      </p:pic>
      <p:sp>
        <p:nvSpPr>
          <p:cNvPr id="22" name="Text 16"/>
          <p:cNvSpPr/>
          <p:nvPr/>
        </p:nvSpPr>
        <p:spPr>
          <a:xfrm>
            <a:off x="1536192" y="5605304"/>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第四，把自己代入进去</a:t>
            </a:r>
            <a:endParaRPr lang="en-US" sz="1600" dirty="0"/>
          </a:p>
        </p:txBody>
      </p:sp>
      <p:sp>
        <p:nvSpPr>
          <p:cNvPr id="23" name="Text 17"/>
          <p:cNvSpPr/>
          <p:nvPr/>
        </p:nvSpPr>
        <p:spPr>
          <a:xfrm>
            <a:off x="1536192" y="5938552"/>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请始终以“如果我是承办人”的视角阅读案例。伦理判断的能力不能靠旁观获得，只能靠一次次设身处地的预演获得。</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27</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参考书目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教材与课外读物</a:t>
            </a:r>
            <a:endParaRPr lang="en-US" sz="2800" dirty="0"/>
          </a:p>
        </p:txBody>
      </p:sp>
      <p:sp>
        <p:nvSpPr>
          <p:cNvPr id="4" name="Shape 2"/>
          <p:cNvSpPr/>
          <p:nvPr/>
        </p:nvSpPr>
        <p:spPr>
          <a:xfrm>
            <a:off x="566928" y="2043811"/>
            <a:ext cx="3527450" cy="3611626"/>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2336419"/>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473579"/>
            <a:ext cx="182880" cy="182880"/>
          </a:xfrm>
          <a:prstGeom prst="rect">
            <a:avLst/>
          </a:prstGeom>
        </p:spPr>
      </p:pic>
      <p:sp>
        <p:nvSpPr>
          <p:cNvPr id="7" name="Text 4"/>
          <p:cNvSpPr/>
          <p:nvPr/>
        </p:nvSpPr>
        <p:spPr>
          <a:xfrm>
            <a:off x="886968" y="2958211"/>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主要教材</a:t>
            </a:r>
            <a:endParaRPr lang="en-US" sz="1700" dirty="0"/>
          </a:p>
        </p:txBody>
      </p:sp>
      <p:sp>
        <p:nvSpPr>
          <p:cNvPr id="8" name="Text 5"/>
          <p:cNvSpPr/>
          <p:nvPr/>
        </p:nvSpPr>
        <p:spPr>
          <a:xfrm>
            <a:off x="886968" y="3356102"/>
            <a:ext cx="2887370" cy="207987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王进喜、陈宜主编：《法律职业伦理》，中国政法大学出版社</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许身健主编：《法律职业伦理》（马工程重点教材配套），高等教育出版社</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李本森：《法律职业伦理》（第三版），北京大学出版社</a:t>
            </a:r>
            <a:endParaRPr lang="en-US" sz="1450" dirty="0"/>
          </a:p>
        </p:txBody>
      </p:sp>
      <p:sp>
        <p:nvSpPr>
          <p:cNvPr id="9" name="Shape 6"/>
          <p:cNvSpPr/>
          <p:nvPr/>
        </p:nvSpPr>
        <p:spPr>
          <a:xfrm>
            <a:off x="4332122" y="2043811"/>
            <a:ext cx="3527450" cy="3611626"/>
          </a:xfrm>
          <a:prstGeom prst="roundRect">
            <a:avLst>
              <a:gd name="adj" fmla="val 2592"/>
            </a:avLst>
          </a:prstGeom>
          <a:solidFill>
            <a:srgbClr val="F2F4F8"/>
          </a:solidFill>
          <a:ln w="12700">
            <a:solidFill>
              <a:srgbClr val="F2F4F8"/>
            </a:solidFill>
            <a:prstDash val="solid"/>
          </a:ln>
        </p:spPr>
      </p:sp>
      <p:sp>
        <p:nvSpPr>
          <p:cNvPr id="10" name="Shape 7"/>
          <p:cNvSpPr/>
          <p:nvPr/>
        </p:nvSpPr>
        <p:spPr>
          <a:xfrm>
            <a:off x="4652162" y="2336419"/>
            <a:ext cx="457200" cy="457200"/>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4789322" y="2473579"/>
            <a:ext cx="182880" cy="182880"/>
          </a:xfrm>
          <a:prstGeom prst="rect">
            <a:avLst/>
          </a:prstGeom>
        </p:spPr>
      </p:pic>
      <p:sp>
        <p:nvSpPr>
          <p:cNvPr id="12" name="Text 8"/>
          <p:cNvSpPr/>
          <p:nvPr/>
        </p:nvSpPr>
        <p:spPr>
          <a:xfrm>
            <a:off x="4652162" y="2958211"/>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规范汇编</a:t>
            </a:r>
            <a:endParaRPr lang="en-US" sz="1700" dirty="0"/>
          </a:p>
        </p:txBody>
      </p:sp>
      <p:sp>
        <p:nvSpPr>
          <p:cNvPr id="13" name="Text 9"/>
          <p:cNvSpPr/>
          <p:nvPr/>
        </p:nvSpPr>
        <p:spPr>
          <a:xfrm>
            <a:off x="4652162" y="3356102"/>
            <a:ext cx="2887370" cy="207987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《律师法》《法官法》《检察官法》《公证法》</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《律师执业行为规范》《律师职业道德基本准则》</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《法官职业道德基本准则》《法官行为规范》</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《检察官职业道德基本准则》</a:t>
            </a:r>
            <a:endParaRPr lang="en-US" sz="1450" dirty="0"/>
          </a:p>
        </p:txBody>
      </p:sp>
      <p:sp>
        <p:nvSpPr>
          <p:cNvPr id="14" name="Shape 10"/>
          <p:cNvSpPr/>
          <p:nvPr/>
        </p:nvSpPr>
        <p:spPr>
          <a:xfrm>
            <a:off x="8097317" y="2043811"/>
            <a:ext cx="3527450" cy="3611626"/>
          </a:xfrm>
          <a:prstGeom prst="roundRect">
            <a:avLst>
              <a:gd name="adj" fmla="val 2592"/>
            </a:avLst>
          </a:prstGeom>
          <a:solidFill>
            <a:srgbClr val="F2F4F8"/>
          </a:solidFill>
          <a:ln w="12700">
            <a:solidFill>
              <a:srgbClr val="F2F4F8"/>
            </a:solidFill>
            <a:prstDash val="solid"/>
          </a:ln>
        </p:spPr>
      </p:sp>
      <p:sp>
        <p:nvSpPr>
          <p:cNvPr id="15" name="Shape 11"/>
          <p:cNvSpPr/>
          <p:nvPr/>
        </p:nvSpPr>
        <p:spPr>
          <a:xfrm>
            <a:off x="8417357" y="2336419"/>
            <a:ext cx="457200" cy="457200"/>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8554517" y="2473579"/>
            <a:ext cx="182880" cy="182880"/>
          </a:xfrm>
          <a:prstGeom prst="rect">
            <a:avLst/>
          </a:prstGeom>
        </p:spPr>
      </p:pic>
      <p:sp>
        <p:nvSpPr>
          <p:cNvPr id="17" name="Text 12"/>
          <p:cNvSpPr/>
          <p:nvPr/>
        </p:nvSpPr>
        <p:spPr>
          <a:xfrm>
            <a:off x="8417357" y="2958211"/>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延伸阅读</a:t>
            </a:r>
            <a:endParaRPr lang="en-US" sz="1700" dirty="0"/>
          </a:p>
        </p:txBody>
      </p:sp>
      <p:sp>
        <p:nvSpPr>
          <p:cNvPr id="18" name="Text 13"/>
          <p:cNvSpPr/>
          <p:nvPr/>
        </p:nvSpPr>
        <p:spPr>
          <a:xfrm>
            <a:off x="8417357" y="3356102"/>
            <a:ext cx="2887370" cy="207987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美国律师协会：《律师职业行为示范规则》（Model Rules of Professional Conduct）</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丹宁勋爵：《法律的正当程序》</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富勒：《法律的道德性》</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《联合国关于律师作用的基本原则》《班加罗尔司法行为准则》</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28</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回到本课开篇的“平静湖藏尸案”：假如你是阿玛尼律师，面对失踪女孩父亲的哀求，你会怎样回答？请说明你的理由，并指出你所依据的规范。</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有人说：“律师职业具有非道德性（amoral）——律师只需忠于当事人，道德评价交给法官。”你是否同意？这一主张的边界在哪里？</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如果法律职业伦理规范与你个人的道德信念发生冲突，你应当服从哪一个？你可以选择退出（withdraw）吗？退出是不是一种负责任的做法？</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结合“防止干预司法三个规定”，讨论：制度设计究竟应当假定人是善的，还是假定人是可能犯错的？两种假定会导致怎样不同的制度？</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29</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第1课时要点回顾</a:t>
            </a:r>
            <a:endParaRPr lang="en-US" sz="3000" dirty="0"/>
          </a:p>
        </p:txBody>
      </p:sp>
      <p:sp>
        <p:nvSpPr>
          <p:cNvPr id="4" name="Shape 2"/>
          <p:cNvSpPr/>
          <p:nvPr/>
        </p:nvSpPr>
        <p:spPr>
          <a:xfrm>
            <a:off x="566928" y="1591056"/>
            <a:ext cx="11057839" cy="671779"/>
          </a:xfrm>
          <a:prstGeom prst="roundRect">
            <a:avLst>
              <a:gd name="adj" fmla="val 10889"/>
            </a:avLst>
          </a:prstGeom>
          <a:solidFill>
            <a:srgbClr val="25395F"/>
          </a:solidFill>
          <a:ln w="12700">
            <a:solidFill>
              <a:srgbClr val="25395F"/>
            </a:solidFill>
            <a:prstDash val="solid"/>
          </a:ln>
        </p:spPr>
      </p:sp>
      <p:sp>
        <p:nvSpPr>
          <p:cNvPr id="5" name="Shape 3"/>
          <p:cNvSpPr/>
          <p:nvPr/>
        </p:nvSpPr>
        <p:spPr>
          <a:xfrm>
            <a:off x="859536" y="1725778"/>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46478"/>
            <a:ext cx="160934" cy="160934"/>
          </a:xfrm>
          <a:prstGeom prst="rect">
            <a:avLst/>
          </a:prstGeom>
        </p:spPr>
      </p:pic>
      <p:sp>
        <p:nvSpPr>
          <p:cNvPr id="7" name="Text 4"/>
          <p:cNvSpPr/>
          <p:nvPr/>
        </p:nvSpPr>
        <p:spPr>
          <a:xfrm>
            <a:off x="1444752" y="1774546"/>
            <a:ext cx="9997135" cy="3048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法律职业伦理源于法律人真实的两难处境：角色义务与普通道德的张力，是本课程全部内容的原点。</a:t>
            </a:r>
            <a:endParaRPr lang="en-US" sz="1600" dirty="0"/>
          </a:p>
        </p:txBody>
      </p:sp>
      <p:sp>
        <p:nvSpPr>
          <p:cNvPr id="8" name="Shape 5"/>
          <p:cNvSpPr/>
          <p:nvPr/>
        </p:nvSpPr>
        <p:spPr>
          <a:xfrm>
            <a:off x="566928" y="2399995"/>
            <a:ext cx="11057839" cy="966419"/>
          </a:xfrm>
          <a:prstGeom prst="roundRect">
            <a:avLst>
              <a:gd name="adj" fmla="val 7569"/>
            </a:avLst>
          </a:prstGeom>
          <a:solidFill>
            <a:srgbClr val="25395F"/>
          </a:solidFill>
          <a:ln w="12700">
            <a:solidFill>
              <a:srgbClr val="25395F"/>
            </a:solidFill>
            <a:prstDash val="solid"/>
          </a:ln>
        </p:spPr>
      </p:sp>
      <p:sp>
        <p:nvSpPr>
          <p:cNvPr id="9" name="Shape 6"/>
          <p:cNvSpPr/>
          <p:nvPr/>
        </p:nvSpPr>
        <p:spPr>
          <a:xfrm>
            <a:off x="859536" y="2682037"/>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802738"/>
            <a:ext cx="160934" cy="160934"/>
          </a:xfrm>
          <a:prstGeom prst="rect">
            <a:avLst/>
          </a:prstGeom>
        </p:spPr>
      </p:pic>
      <p:sp>
        <p:nvSpPr>
          <p:cNvPr id="11" name="Text 7"/>
          <p:cNvSpPr/>
          <p:nvPr/>
        </p:nvSpPr>
        <p:spPr>
          <a:xfrm>
            <a:off x="1444752" y="2578405"/>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法律脱胎于伦理，又与伦理相对分离；但法律的实施始终依赖法律人的品格——这是富勒“官方行为与规则一致”这一内在道德条件的现实含义。</a:t>
            </a:r>
            <a:endParaRPr lang="en-US" sz="1600" dirty="0"/>
          </a:p>
        </p:txBody>
      </p:sp>
      <p:sp>
        <p:nvSpPr>
          <p:cNvPr id="12" name="Shape 8"/>
          <p:cNvSpPr/>
          <p:nvPr/>
        </p:nvSpPr>
        <p:spPr>
          <a:xfrm>
            <a:off x="566928" y="3503574"/>
            <a:ext cx="11057839" cy="966419"/>
          </a:xfrm>
          <a:prstGeom prst="roundRect">
            <a:avLst>
              <a:gd name="adj" fmla="val 7569"/>
            </a:avLst>
          </a:prstGeom>
          <a:solidFill>
            <a:srgbClr val="25395F"/>
          </a:solidFill>
          <a:ln w="12700">
            <a:solidFill>
              <a:srgbClr val="25395F"/>
            </a:solidFill>
            <a:prstDash val="solid"/>
          </a:ln>
        </p:spPr>
      </p:sp>
      <p:sp>
        <p:nvSpPr>
          <p:cNvPr id="13" name="Shape 9"/>
          <p:cNvSpPr/>
          <p:nvPr/>
        </p:nvSpPr>
        <p:spPr>
          <a:xfrm>
            <a:off x="859536" y="378561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906317"/>
            <a:ext cx="160934" cy="160934"/>
          </a:xfrm>
          <a:prstGeom prst="rect">
            <a:avLst/>
          </a:prstGeom>
        </p:spPr>
      </p:pic>
      <p:sp>
        <p:nvSpPr>
          <p:cNvPr id="15" name="Text 10"/>
          <p:cNvSpPr/>
          <p:nvPr/>
        </p:nvSpPr>
        <p:spPr>
          <a:xfrm>
            <a:off x="1444752" y="3681984"/>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对法律人更高的道德要求，源自职业的垄断性、公共性、信息不对称、权力性与信任基础，是结构性的，而非苛求。</a:t>
            </a:r>
            <a:endParaRPr lang="en-US" sz="1600" dirty="0"/>
          </a:p>
        </p:txBody>
      </p:sp>
      <p:sp>
        <p:nvSpPr>
          <p:cNvPr id="16" name="Shape 11"/>
          <p:cNvSpPr/>
          <p:nvPr/>
        </p:nvSpPr>
        <p:spPr>
          <a:xfrm>
            <a:off x="566928" y="4607154"/>
            <a:ext cx="11057839" cy="966419"/>
          </a:xfrm>
          <a:prstGeom prst="roundRect">
            <a:avLst>
              <a:gd name="adj" fmla="val 7569"/>
            </a:avLst>
          </a:prstGeom>
          <a:solidFill>
            <a:srgbClr val="25395F"/>
          </a:solidFill>
          <a:ln w="12700">
            <a:solidFill>
              <a:srgbClr val="25395F"/>
            </a:solidFill>
            <a:prstDash val="solid"/>
          </a:ln>
        </p:spPr>
      </p:sp>
      <p:sp>
        <p:nvSpPr>
          <p:cNvPr id="17" name="Shape 12"/>
          <p:cNvSpPr/>
          <p:nvPr/>
        </p:nvSpPr>
        <p:spPr>
          <a:xfrm>
            <a:off x="859536" y="4889195"/>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5009896"/>
            <a:ext cx="160934" cy="160934"/>
          </a:xfrm>
          <a:prstGeom prst="rect">
            <a:avLst/>
          </a:prstGeom>
        </p:spPr>
      </p:pic>
      <p:sp>
        <p:nvSpPr>
          <p:cNvPr id="19" name="Text 13"/>
          <p:cNvSpPr/>
          <p:nvPr/>
        </p:nvSpPr>
        <p:spPr>
          <a:xfrm>
            <a:off x="1444752" y="4785563"/>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2018 年卓越法治人才教育培养计划 2.0 提出“德法兼修”，2021 版法学类教学质量国家标准将《法律职业伦理》列入“1+10+X”十门核心必修课。</a:t>
            </a:r>
            <a:endParaRPr lang="en-US" sz="1600" dirty="0"/>
          </a:p>
        </p:txBody>
      </p:sp>
      <p:sp>
        <p:nvSpPr>
          <p:cNvPr id="20" name="Shape 14"/>
          <p:cNvSpPr/>
          <p:nvPr/>
        </p:nvSpPr>
        <p:spPr>
          <a:xfrm>
            <a:off x="566928" y="5710733"/>
            <a:ext cx="11057839" cy="671779"/>
          </a:xfrm>
          <a:prstGeom prst="roundRect">
            <a:avLst>
              <a:gd name="adj" fmla="val 10889"/>
            </a:avLst>
          </a:prstGeom>
          <a:solidFill>
            <a:srgbClr val="25395F"/>
          </a:solidFill>
          <a:ln w="12700">
            <a:solidFill>
              <a:srgbClr val="25395F"/>
            </a:solidFill>
            <a:prstDash val="solid"/>
          </a:ln>
        </p:spPr>
      </p:sp>
      <p:sp>
        <p:nvSpPr>
          <p:cNvPr id="21" name="Shape 15"/>
          <p:cNvSpPr/>
          <p:nvPr/>
        </p:nvSpPr>
        <p:spPr>
          <a:xfrm>
            <a:off x="859536" y="5845454"/>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966155"/>
            <a:ext cx="160934" cy="160934"/>
          </a:xfrm>
          <a:prstGeom prst="rect">
            <a:avLst/>
          </a:prstGeom>
        </p:spPr>
      </p:pic>
      <p:sp>
        <p:nvSpPr>
          <p:cNvPr id="23" name="Text 16"/>
          <p:cNvSpPr/>
          <p:nvPr/>
        </p:nvSpPr>
        <p:spPr>
          <a:xfrm>
            <a:off x="1444752" y="5894222"/>
            <a:ext cx="9997135" cy="3048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本课程的核心能力目标：识别伦理问题 → 界定冲突义务 → 检索适用规范 → 权衡并选择 → 说明理由。</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法律职业伦理</dc:title>
  <dc:subject>法律职业伦理 课程课件（24课时）</dc:subject>
  <dc:creator>王晓淑</dc:creator>
  <cp:lastModifiedBy>王晓淑</cp:lastModifiedBy>
  <cp:revision>1</cp:revision>
  <dcterms:created xsi:type="dcterms:W3CDTF">2026-08-23T10:44:41Z</dcterms:created>
  <dcterms:modified xsi:type="dcterms:W3CDTF">2026-08-23T10:44:41Z</dcterms:modified>
</cp:coreProperties>
</file>