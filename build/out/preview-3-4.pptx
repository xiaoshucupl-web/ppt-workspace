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第（六）项：“故意提供虚假证据或者威胁、利诱他人提供虚假证据”——这是角色义务的硬边界。忠诚于委托人，绝不包括为委托人造假。凡越过此线者，不再受“非道德性”命题的保护，且可能构成《刑法》第三百零六条辩护人妨害作证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条第二款的“三个维护”是律师职业伦理的总纲。三者在绝大多数案件中一致，但在个别情形下存在张力——例如当事人要求作虚假陈述时，维护当事人“合法”权益与维护法律正确实施的关系如何处理？注意条文用的是“合法权益”，这四个字本身就划定了忠诚义务的边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2016年修订的《准则》不分章节，仅五条，简明地点出忠诚、为民、担当、公正、廉洁五项基本要求。相较2009年试行版的“忠诚、公正、清廉、文明”四个关键词，新增“为民”与“担当”，删去“文明”——这一调整反映了检察机关法律监督职能强化的制度背景。此外，《检察官法》第五条、第十条，以及《检察人员纪律处分条例》构成检察官伦理规范的其他重要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slideLayout" Target="../slideLayouts/slideLayout1.xml"/><Relationship Id="rId8"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01</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第一编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总论：法律职业与职业伦理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从“法律人是谁”出发，建立职业伦理的概念框架、规范体系与评价标准</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第1课时　导论：法律职业伦理为何是法学教育的必修课</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第2课时　法律职业：概念、特征与法律职业共同体</a:t>
            </a:r>
            <a:endParaRPr lang="en-US" sz="1350" dirty="0"/>
          </a:p>
        </p:txBody>
      </p:sp>
      <p:sp>
        <p:nvSpPr>
          <p:cNvPr id="12" name="Text 10"/>
          <p:cNvSpPr/>
          <p:nvPr/>
        </p:nvSpPr>
        <p:spPr>
          <a:xfrm>
            <a:off x="8476488" y="315239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15239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第3课时　法律职业伦理的概念、性质与理论基础</a:t>
            </a:r>
            <a:endParaRPr lang="en-US" sz="1350" dirty="0"/>
          </a:p>
        </p:txBody>
      </p:sp>
      <p:sp>
        <p:nvSpPr>
          <p:cNvPr id="14" name="Text 12"/>
          <p:cNvSpPr/>
          <p:nvPr/>
        </p:nvSpPr>
        <p:spPr>
          <a:xfrm>
            <a:off x="8476488" y="378675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4</a:t>
            </a:r>
            <a:endParaRPr lang="en-US" sz="1250" dirty="0"/>
          </a:p>
        </p:txBody>
      </p:sp>
      <p:sp>
        <p:nvSpPr>
          <p:cNvPr id="15" name="Text 13"/>
          <p:cNvSpPr/>
          <p:nvPr/>
        </p:nvSpPr>
        <p:spPr>
          <a:xfrm>
            <a:off x="8823960" y="378675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第4课时　法律职业伦理的渊源、体系与中外发展</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第3课时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法律职业伦理的概念、性质与理论基础</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它究竟是道德还是法律？是自律还是他律？我们凭什么说一个行为“不合职业伦理”？</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法律职业伦理的概念、特征与规范构造</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功利主义、义务论、德性论三种伦理学进路</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角色道德与“律师职业非道德性”命题</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从概念到判断标准</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一、职业伦理与法律职业伦理的概念</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二、法律职业伦理的三项特征</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三、性质之争：道德抑或法律，自律抑或他律</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四、三种伦理学进路及其在法律职业中的应用</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五、角色道德与“非道德性”命题</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六、职业伦理的评价体系：秩序、自由、正义、效率</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职业伦理与法律职业伦理的概念</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先把“伦理”“道德”“职业伦理”“法律职业伦理”这四个层层嵌套的概念理清楚</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概念层级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四个概念的层层递进</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伦理（ethics）</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关于人与人之间应然关系的规范体系及其学理反思。汉语“伦”指人际关系的条理，“理”指其中的道理。伦理学是研究“应当如何行为”的学问，是哲学的分支。</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道德（morality）</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特定社会中被普遍接受的善恶评价与行为准则。伦理与道德常被混用；在严格用法上，伦理偏重规范体系与学理，道德偏重内心信念与社会评价。职业领域的规范通常称“伦理”，因其外在性、成文性更强。</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职业伦理（professional ethics）</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属于专业伦理学或应用伦理学的范畴。是某种职业的从业人员以伦理自然律为基础，根据本行业的专业知识经逻辑推演而形成的规范体系；随职业的出现而产生并逐步发展，是社会道德在职业领域的具体体现。</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法律职业伦理（legal ethics）</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指法律职业人员（包括法官、检察官、律师、仲裁员、公证员等）在其执业活动中所应当具备或遵循的、符合法律职业要求的心理意识、行为准则与规范的总和。</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定义拆解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法律职业伦理定义中的四个要素</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请把定义拆开来读，每一个限定词都有其规范意义。</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100"/>
              </a:lnSpc>
              <a:spcAft>
                <a:spcPts val="800"/>
              </a:spcAft>
              <a:buSzPct val="100000"/>
              <a:buChar char="■"/>
            </a:pPr>
            <a:r>
              <a:rPr lang="en-US" sz="1400" b="1" dirty="0">
                <a:solidFill>
                  <a:srgbClr val="32404F"/>
                </a:solidFill>
                <a:latin typeface="微软雅黑" pitchFamily="34" charset="0"/>
                <a:ea typeface="微软雅黑" pitchFamily="34" charset="-122"/>
                <a:cs typeface="微软雅黑" pitchFamily="34" charset="-120"/>
              </a:rPr>
              <a:t>主体要素：法律职业人员。</a:t>
            </a:r>
            <a:endParaRPr lang="en-US" sz="1400" dirty="0"/>
          </a:p>
          <a:p>
            <a:pPr lvl="1" marL="457200" indent="-228600">
              <a:lnSpc>
                <a:spcPts val="2100"/>
              </a:lnSpc>
              <a:spcAft>
                <a:spcPts val="800"/>
              </a:spcAft>
              <a:buSzPct val="100000"/>
              <a:buChar char="▫"/>
            </a:pPr>
            <a:r>
              <a:rPr lang="en-US" sz="1300" dirty="0">
                <a:solidFill>
                  <a:srgbClr val="6B7684"/>
                </a:solidFill>
                <a:latin typeface="微软雅黑" pitchFamily="34" charset="0"/>
                <a:ea typeface="微软雅黑" pitchFamily="34" charset="-122"/>
                <a:cs typeface="微软雅黑" pitchFamily="34" charset="-120"/>
              </a:rPr>
              <a:t>不是所有懂法的人，而是取得法律职业资格、从事特定法律职业的人。这决定了规范的适用对象与惩戒的管辖。</a:t>
            </a:r>
            <a:endParaRPr lang="en-US" sz="1400" dirty="0"/>
          </a:p>
          <a:p>
            <a:pPr marL="228600" indent="-228600">
              <a:lnSpc>
                <a:spcPts val="2100"/>
              </a:lnSpc>
              <a:spcAft>
                <a:spcPts val="800"/>
              </a:spcAft>
              <a:buSzPct val="100000"/>
              <a:buChar char="■"/>
            </a:pPr>
            <a:r>
              <a:rPr lang="en-US" sz="1400" b="1" dirty="0">
                <a:solidFill>
                  <a:srgbClr val="32404F"/>
                </a:solidFill>
                <a:latin typeface="微软雅黑" pitchFamily="34" charset="0"/>
                <a:ea typeface="微软雅黑" pitchFamily="34" charset="-122"/>
                <a:cs typeface="微软雅黑" pitchFamily="34" charset="-120"/>
              </a:rPr>
              <a:t>场域要素：在其执业活动中。</a:t>
            </a:r>
            <a:endParaRPr lang="en-US" sz="1400" dirty="0"/>
          </a:p>
          <a:p>
            <a:pPr lvl="1" marL="457200" indent="-228600">
              <a:lnSpc>
                <a:spcPts val="2100"/>
              </a:lnSpc>
              <a:spcAft>
                <a:spcPts val="800"/>
              </a:spcAft>
              <a:buSzPct val="100000"/>
              <a:buChar char="▫"/>
            </a:pPr>
            <a:r>
              <a:rPr lang="en-US" sz="1300" dirty="0">
                <a:solidFill>
                  <a:srgbClr val="6B7684"/>
                </a:solidFill>
                <a:latin typeface="微软雅黑" pitchFamily="34" charset="0"/>
                <a:ea typeface="微软雅黑" pitchFamily="34" charset="-122"/>
                <a:cs typeface="微软雅黑" pitchFamily="34" charset="-120"/>
              </a:rPr>
              <a:t>原则上指向职务行为，但法律职业伦理的特殊性在于，它同时延伸到部分职外行为——法官不得从事营利性活动、律师不得有严重损害职业形象的行为，均属其例。</a:t>
            </a:r>
            <a:endParaRPr lang="en-US" sz="1400" dirty="0"/>
          </a:p>
          <a:p>
            <a:pPr marL="228600" indent="-228600">
              <a:lnSpc>
                <a:spcPts val="2100"/>
              </a:lnSpc>
              <a:spcAft>
                <a:spcPts val="800"/>
              </a:spcAft>
              <a:buSzPct val="100000"/>
              <a:buChar char="■"/>
            </a:pPr>
            <a:r>
              <a:rPr lang="en-US" sz="1400" b="1" dirty="0">
                <a:solidFill>
                  <a:srgbClr val="32404F"/>
                </a:solidFill>
                <a:latin typeface="微软雅黑" pitchFamily="34" charset="0"/>
                <a:ea typeface="微软雅黑" pitchFamily="34" charset="-122"/>
                <a:cs typeface="微软雅黑" pitchFamily="34" charset="-120"/>
              </a:rPr>
              <a:t>内容要素：心理意识、行为准则与规范的总和。</a:t>
            </a:r>
            <a:endParaRPr lang="en-US" sz="1400" dirty="0"/>
          </a:p>
          <a:p>
            <a:pPr lvl="1" marL="457200" indent="-228600">
              <a:lnSpc>
                <a:spcPts val="2100"/>
              </a:lnSpc>
              <a:spcAft>
                <a:spcPts val="800"/>
              </a:spcAft>
              <a:buSzPct val="100000"/>
              <a:buChar char="▫"/>
            </a:pPr>
            <a:r>
              <a:rPr lang="en-US" sz="1300" dirty="0">
                <a:solidFill>
                  <a:srgbClr val="6B7684"/>
                </a:solidFill>
                <a:latin typeface="微软雅黑" pitchFamily="34" charset="0"/>
                <a:ea typeface="微软雅黑" pitchFamily="34" charset="-122"/>
                <a:cs typeface="微软雅黑" pitchFamily="34" charset="-120"/>
              </a:rPr>
              <a:t>既包括内在的信念与职业认同（心理意识），也包括外在的、可被评价的行为标准（行为准则）。二者缺一不可：只有信念而无规则，无从评价；只有规则而无信念，必然规避。</a:t>
            </a:r>
            <a:endParaRPr lang="en-US" sz="1400" dirty="0"/>
          </a:p>
          <a:p>
            <a:pPr marL="228600" indent="-228600">
              <a:lnSpc>
                <a:spcPts val="2100"/>
              </a:lnSpc>
              <a:spcAft>
                <a:spcPts val="800"/>
              </a:spcAft>
              <a:buSzPct val="100000"/>
              <a:buChar char="■"/>
            </a:pPr>
            <a:r>
              <a:rPr lang="en-US" sz="1400" b="1" dirty="0">
                <a:solidFill>
                  <a:srgbClr val="32404F"/>
                </a:solidFill>
                <a:latin typeface="微软雅黑" pitchFamily="34" charset="0"/>
                <a:ea typeface="微软雅黑" pitchFamily="34" charset="-122"/>
                <a:cs typeface="微软雅黑" pitchFamily="34" charset="-120"/>
              </a:rPr>
              <a:t>标准要素：符合法律职业要求。</a:t>
            </a:r>
            <a:endParaRPr lang="en-US" sz="1400" dirty="0"/>
          </a:p>
          <a:p>
            <a:pPr lvl="1" marL="457200" indent="-228600">
              <a:lnSpc>
                <a:spcPts val="2100"/>
              </a:lnSpc>
              <a:spcAft>
                <a:spcPts val="800"/>
              </a:spcAft>
              <a:buSzPct val="100000"/>
              <a:buChar char="▫"/>
            </a:pPr>
            <a:r>
              <a:rPr lang="en-US" sz="1300" dirty="0">
                <a:solidFill>
                  <a:srgbClr val="6B7684"/>
                </a:solidFill>
                <a:latin typeface="微软雅黑" pitchFamily="34" charset="0"/>
                <a:ea typeface="微软雅黑" pitchFamily="34" charset="-122"/>
                <a:cs typeface="微软雅黑" pitchFamily="34" charset="-120"/>
              </a:rPr>
              <a:t>评价标准来自法律职业本身的角色定位，而非一般社会道德。这正是律师“为坏人辩护”不违反职业伦理的根本理由。</a:t>
            </a:r>
            <a:endParaRPr lang="en-US" sz="14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法律职业伦理的三项特征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与一般职业道德相比，法律职业伦理在形式、基础与约束力上均有其特殊性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三项特征</a:t>
            </a:r>
            <a:endParaRPr lang="en-US" sz="2800" dirty="0"/>
          </a:p>
        </p:txBody>
      </p:sp>
      <p:sp>
        <p:nvSpPr>
          <p:cNvPr id="4" name="Shape 2"/>
          <p:cNvSpPr/>
          <p:nvPr/>
        </p:nvSpPr>
        <p:spPr>
          <a:xfrm>
            <a:off x="566928" y="2181924"/>
            <a:ext cx="3527450" cy="3335401"/>
          </a:xfrm>
          <a:prstGeom prst="roundRect">
            <a:avLst>
              <a:gd name="adj" fmla="val 2741"/>
            </a:avLst>
          </a:prstGeom>
          <a:solidFill>
            <a:srgbClr val="F2F4F8"/>
          </a:solidFill>
          <a:ln w="12700">
            <a:solidFill>
              <a:srgbClr val="F2F4F8"/>
            </a:solidFill>
            <a:prstDash val="solid"/>
          </a:ln>
        </p:spPr>
      </p:sp>
      <p:sp>
        <p:nvSpPr>
          <p:cNvPr id="5" name="Shape 3"/>
          <p:cNvSpPr/>
          <p:nvPr/>
        </p:nvSpPr>
        <p:spPr>
          <a:xfrm>
            <a:off x="886968" y="2474532"/>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611692"/>
            <a:ext cx="182880" cy="182880"/>
          </a:xfrm>
          <a:prstGeom prst="rect">
            <a:avLst/>
          </a:prstGeom>
        </p:spPr>
      </p:pic>
      <p:sp>
        <p:nvSpPr>
          <p:cNvPr id="7" name="Text 4"/>
          <p:cNvSpPr/>
          <p:nvPr/>
        </p:nvSpPr>
        <p:spPr>
          <a:xfrm>
            <a:off x="886968"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高度成文化、制度化</a:t>
            </a:r>
            <a:endParaRPr lang="en-US" sz="1700" dirty="0"/>
          </a:p>
        </p:txBody>
      </p:sp>
      <p:sp>
        <p:nvSpPr>
          <p:cNvPr id="8" name="Text 5"/>
          <p:cNvSpPr/>
          <p:nvPr/>
        </p:nvSpPr>
        <p:spPr>
          <a:xfrm>
            <a:off x="886968"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现代法律职业伦理多以成文的、规范的形式加以表现，并诉诸制度化建构保障实现。它不停留于劝导，而是由法律、规章与行业规范加以规定，配有明确的构成要件与法律后果。</a:t>
            </a:r>
            <a:endParaRPr lang="en-US" sz="1450" dirty="0"/>
          </a:p>
        </p:txBody>
      </p:sp>
      <p:sp>
        <p:nvSpPr>
          <p:cNvPr id="9" name="Shape 6"/>
          <p:cNvSpPr/>
          <p:nvPr/>
        </p:nvSpPr>
        <p:spPr>
          <a:xfrm>
            <a:off x="4332122" y="2181924"/>
            <a:ext cx="3527450" cy="3335401"/>
          </a:xfrm>
          <a:prstGeom prst="roundRect">
            <a:avLst>
              <a:gd name="adj" fmla="val 2741"/>
            </a:avLst>
          </a:prstGeom>
          <a:solidFill>
            <a:srgbClr val="F6F1E8"/>
          </a:solidFill>
          <a:ln w="12700">
            <a:solidFill>
              <a:srgbClr val="F6F1E8"/>
            </a:solidFill>
            <a:prstDash val="solid"/>
          </a:ln>
        </p:spPr>
      </p:sp>
      <p:sp>
        <p:nvSpPr>
          <p:cNvPr id="10" name="Shape 7"/>
          <p:cNvSpPr/>
          <p:nvPr/>
        </p:nvSpPr>
        <p:spPr>
          <a:xfrm>
            <a:off x="4652162" y="2474532"/>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611692"/>
            <a:ext cx="182880" cy="182880"/>
          </a:xfrm>
          <a:prstGeom prst="rect">
            <a:avLst/>
          </a:prstGeom>
        </p:spPr>
      </p:pic>
      <p:sp>
        <p:nvSpPr>
          <p:cNvPr id="12" name="Text 8"/>
          <p:cNvSpPr/>
          <p:nvPr/>
        </p:nvSpPr>
        <p:spPr>
          <a:xfrm>
            <a:off x="4652162"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以品格为基础、以行为为导向</a:t>
            </a:r>
            <a:endParaRPr lang="en-US" sz="1700" dirty="0"/>
          </a:p>
        </p:txBody>
      </p:sp>
      <p:sp>
        <p:nvSpPr>
          <p:cNvPr id="13" name="Text 9"/>
          <p:cNvSpPr/>
          <p:nvPr/>
        </p:nvSpPr>
        <p:spPr>
          <a:xfrm>
            <a:off x="4652162"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注重以法律职业共同体中“人”的品格要求为基础，但以行为为导向加以调整，并以行为作为道德评价的对象。换言之：内心的动机不受追究，外在的行为才是评价对象。</a:t>
            </a:r>
            <a:endParaRPr lang="en-US" sz="1450" dirty="0"/>
          </a:p>
        </p:txBody>
      </p:sp>
      <p:sp>
        <p:nvSpPr>
          <p:cNvPr id="14" name="Shape 10"/>
          <p:cNvSpPr/>
          <p:nvPr/>
        </p:nvSpPr>
        <p:spPr>
          <a:xfrm>
            <a:off x="8097317" y="2181924"/>
            <a:ext cx="3527450" cy="3335401"/>
          </a:xfrm>
          <a:prstGeom prst="roundRect">
            <a:avLst>
              <a:gd name="adj" fmla="val 2741"/>
            </a:avLst>
          </a:prstGeom>
          <a:solidFill>
            <a:srgbClr val="ECF3F2"/>
          </a:solidFill>
          <a:ln w="12700">
            <a:solidFill>
              <a:srgbClr val="ECF3F2"/>
            </a:solidFill>
            <a:prstDash val="solid"/>
          </a:ln>
        </p:spPr>
      </p:sp>
      <p:sp>
        <p:nvSpPr>
          <p:cNvPr id="15" name="Shape 11"/>
          <p:cNvSpPr/>
          <p:nvPr/>
        </p:nvSpPr>
        <p:spPr>
          <a:xfrm>
            <a:off x="8417357" y="2474532"/>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611692"/>
            <a:ext cx="182880" cy="182880"/>
          </a:xfrm>
          <a:prstGeom prst="rect">
            <a:avLst/>
          </a:prstGeom>
        </p:spPr>
      </p:pic>
      <p:sp>
        <p:nvSpPr>
          <p:cNvPr id="17" name="Text 12"/>
          <p:cNvSpPr/>
          <p:nvPr/>
        </p:nvSpPr>
        <p:spPr>
          <a:xfrm>
            <a:off x="8417357"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建立在信念、角色与责任之上</a:t>
            </a:r>
            <a:endParaRPr lang="en-US" sz="1700" dirty="0"/>
          </a:p>
        </p:txBody>
      </p:sp>
      <p:sp>
        <p:nvSpPr>
          <p:cNvPr id="18" name="Text 13"/>
          <p:cNvSpPr/>
          <p:nvPr/>
        </p:nvSpPr>
        <p:spPr>
          <a:xfrm>
            <a:off x="8417357"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是建立在信念、角色和责任基础之上的规则体系，是法律职业共同体应遵行的、基于法律职业所形成的道德准则。它主要表现为两种形态：信念，以及基于角色之上的责任而形成的准则。</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与一般道德的比较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法律职业伦理的三重特殊性</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主体的特定性</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法律职业伦理所规范的，是专门从事法律工作的法官、检察官、律师、公证员等法律职业人员，而非一般社会成员。同一行为，由法律人作出与由普通人作出，评价可能截然不同。</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职业的特殊性</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上述主体所从事的工作，直接关系到国家法律制度的实施和保障。其行为的外部性远大于一般职业，一次违规可能同时损害当事人利益、案件公正与制度公信。</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更强的约束性</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相对于一般社会道德而言，法律职业伦理具有更强的约束性：它有明确的规范文本、有专门的惩戒机构、有可执行的制裁措施，其中相当部分已经上升为法律义务，违反即产生法律责任。</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性质之争：道德抑或法律，自律抑或他律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这两组争论并非概念游戏，它们直接决定违反职业伦理会产生什么后果</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第一组争论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法律职业伦理是道德规范还是法律规范？</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道德规范说</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职业伦理源于职业共同体的内在信念，其效力基础是共同体的自我认同，而非国家强制。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许多要求（如“忠诚”“审慎”“敬业”）具有高度概括性，无法像法律规则那样精确适用。</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主要依靠行业自律与舆论评价实现，制裁手段是资格罚与声誉罚，而非人身罚、财产罚。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意义：强调职业伦理不能完全法律化，否则将丧失其引导与激励功能。</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法律规范说（通说：二元性）</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我国大量职业伦理要求直接规定于《律师法》《法官法》《检察官法》之中，具有法律强制力。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违反的后果包括行政处罚（警告、停止执业、吊销执业证书）乃至刑事责任。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行业规范虽非法律，但经法律授权制定，其惩戒决定可被司法审查，具有准法律效力。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通说：法律职业伦理兼具道德性与法律性，是法律制度的重要组成部分，也是法律得以执行的有效保障。</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第二组争论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自律抑或他律？——我国的“两结合”体制</a:t>
            </a:r>
            <a:endParaRPr lang="en-US" sz="2800" dirty="0"/>
          </a:p>
        </p:txBody>
      </p:sp>
      <p:sp>
        <p:nvSpPr>
          <p:cNvPr id="4" name="Shape 2"/>
          <p:cNvSpPr/>
          <p:nvPr/>
        </p:nvSpPr>
        <p:spPr>
          <a:xfrm>
            <a:off x="566928" y="1574483"/>
            <a:ext cx="3527450" cy="4550283"/>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41248" y="1830515"/>
            <a:ext cx="2978810"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8305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自律：行业自我管理</a:t>
            </a:r>
            <a:endParaRPr lang="en-US" sz="1600" dirty="0"/>
          </a:p>
        </p:txBody>
      </p:sp>
      <p:sp>
        <p:nvSpPr>
          <p:cNvPr id="7" name="Text 5"/>
          <p:cNvSpPr/>
          <p:nvPr/>
        </p:nvSpPr>
        <p:spPr>
          <a:xfrm>
            <a:off x="932688" y="2488883"/>
            <a:ext cx="2795930" cy="33981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由律师协会制定《律师执业行为规范》《律师职业道德基本准则》等行业规范。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由律协行业惩戒委员会实施训诫、通报批评、公开谴责、中止会员权利等行业处分。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理据：专业判断须由同行作出；独立性是履职的前提。</a:t>
            </a:r>
            <a:endParaRPr lang="en-US" sz="1450" dirty="0"/>
          </a:p>
        </p:txBody>
      </p:sp>
      <p:sp>
        <p:nvSpPr>
          <p:cNvPr id="8" name="Shape 6"/>
          <p:cNvSpPr/>
          <p:nvPr/>
        </p:nvSpPr>
        <p:spPr>
          <a:xfrm>
            <a:off x="4332122" y="1574483"/>
            <a:ext cx="3527450" cy="4550283"/>
          </a:xfrm>
          <a:prstGeom prst="roundRect">
            <a:avLst>
              <a:gd name="adj" fmla="val 2592"/>
            </a:avLst>
          </a:prstGeom>
          <a:solidFill>
            <a:srgbClr val="F6F1E8"/>
          </a:solidFill>
          <a:ln w="12700">
            <a:solidFill>
              <a:srgbClr val="F6F1E8"/>
            </a:solidFill>
            <a:prstDash val="solid"/>
          </a:ln>
        </p:spPr>
      </p:sp>
      <p:sp>
        <p:nvSpPr>
          <p:cNvPr id="9" name="Shape 7"/>
          <p:cNvSpPr/>
          <p:nvPr/>
        </p:nvSpPr>
        <p:spPr>
          <a:xfrm>
            <a:off x="4606442" y="1830515"/>
            <a:ext cx="2978810"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4606442" y="18305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他律：国家监督管理</a:t>
            </a:r>
            <a:endParaRPr lang="en-US" sz="1600" dirty="0"/>
          </a:p>
        </p:txBody>
      </p:sp>
      <p:sp>
        <p:nvSpPr>
          <p:cNvPr id="11" name="Text 9"/>
          <p:cNvSpPr/>
          <p:nvPr/>
        </p:nvSpPr>
        <p:spPr>
          <a:xfrm>
            <a:off x="4697882" y="2488883"/>
            <a:ext cx="2795930" cy="33981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由司法行政机关依《律师法》《律师执业管理办法》实施行政处罚。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措施包括警告、没收违法所得、罚款、停止执业、吊销律师执业证书。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理据：行业自治可能失灵；公共利益需要国家兜底保障。</a:t>
            </a:r>
            <a:endParaRPr lang="en-US" sz="1450" dirty="0"/>
          </a:p>
        </p:txBody>
      </p:sp>
      <p:sp>
        <p:nvSpPr>
          <p:cNvPr id="12" name="Shape 10"/>
          <p:cNvSpPr/>
          <p:nvPr/>
        </p:nvSpPr>
        <p:spPr>
          <a:xfrm>
            <a:off x="8097317" y="1574483"/>
            <a:ext cx="3527450" cy="4550283"/>
          </a:xfrm>
          <a:prstGeom prst="roundRect">
            <a:avLst>
              <a:gd name="adj" fmla="val 2592"/>
            </a:avLst>
          </a:prstGeom>
          <a:solidFill>
            <a:srgbClr val="ECF3F2"/>
          </a:solidFill>
          <a:ln w="12700">
            <a:solidFill>
              <a:srgbClr val="ECF3F2"/>
            </a:solidFill>
            <a:prstDash val="solid"/>
          </a:ln>
        </p:spPr>
      </p:sp>
      <p:sp>
        <p:nvSpPr>
          <p:cNvPr id="13" name="Shape 11"/>
          <p:cNvSpPr/>
          <p:nvPr/>
        </p:nvSpPr>
        <p:spPr>
          <a:xfrm>
            <a:off x="8371637" y="1830515"/>
            <a:ext cx="2978810" cy="512064"/>
          </a:xfrm>
          <a:prstGeom prst="roundRect">
            <a:avLst>
              <a:gd name="adj" fmla="val 17857"/>
            </a:avLst>
          </a:prstGeom>
          <a:solidFill>
            <a:srgbClr val="2F6E6A"/>
          </a:solidFill>
          <a:ln w="12700">
            <a:solidFill>
              <a:srgbClr val="2F6E6A"/>
            </a:solidFill>
            <a:prstDash val="solid"/>
          </a:ln>
        </p:spPr>
      </p:sp>
      <p:sp>
        <p:nvSpPr>
          <p:cNvPr id="14" name="Text 12"/>
          <p:cNvSpPr/>
          <p:nvPr/>
        </p:nvSpPr>
        <p:spPr>
          <a:xfrm>
            <a:off x="8371637" y="18305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两结合体制</a:t>
            </a:r>
            <a:endParaRPr lang="en-US" sz="1600" dirty="0"/>
          </a:p>
        </p:txBody>
      </p:sp>
      <p:sp>
        <p:nvSpPr>
          <p:cNvPr id="15" name="Text 13"/>
          <p:cNvSpPr/>
          <p:nvPr/>
        </p:nvSpPr>
        <p:spPr>
          <a:xfrm>
            <a:off x="8463077" y="2488883"/>
            <a:ext cx="2795930" cy="33981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我国律师工作实行司法行政机关行政管理与律师协会行业自律相结合的管理体制。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法官、检察官则以国家管理为主：由法官、检察官惩戒委员会从专业角度审查，人民法院、人民检察院依规作出处理决定。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注意：行业处分与行政处罚可以并存，二者性质不同、程序不同、救济途径不同。</a:t>
            </a:r>
            <a:endParaRPr lang="en-US" sz="1450" dirty="0"/>
          </a:p>
        </p:txBody>
      </p:sp>
      <p:sp>
        <p:nvSpPr>
          <p:cNvPr id="16"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三种伦理学进路及其在法律职业中的应用</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当规范沉默时，你依据什么作出判断？伦理学提供的是三种不同的思考框架</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伦理学基础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功利主义 · 义务论 · 德性论</a:t>
            </a:r>
            <a:endParaRPr lang="en-US" sz="2800" dirty="0"/>
          </a:p>
        </p:txBody>
      </p:sp>
      <p:sp>
        <p:nvSpPr>
          <p:cNvPr id="4" name="Shape 2"/>
          <p:cNvSpPr/>
          <p:nvPr/>
        </p:nvSpPr>
        <p:spPr>
          <a:xfrm>
            <a:off x="566928" y="1905699"/>
            <a:ext cx="3527450" cy="3887851"/>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198307"/>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335467"/>
            <a:ext cx="182880" cy="182880"/>
          </a:xfrm>
          <a:prstGeom prst="rect">
            <a:avLst/>
          </a:prstGeom>
        </p:spPr>
      </p:pic>
      <p:sp>
        <p:nvSpPr>
          <p:cNvPr id="7" name="Text 4"/>
          <p:cNvSpPr/>
          <p:nvPr/>
        </p:nvSpPr>
        <p:spPr>
          <a:xfrm>
            <a:off x="886968"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功利主义（结果论）</a:t>
            </a:r>
            <a:endParaRPr lang="en-US" sz="1700" dirty="0"/>
          </a:p>
        </p:txBody>
      </p:sp>
      <p:sp>
        <p:nvSpPr>
          <p:cNvPr id="8" name="Text 5"/>
          <p:cNvSpPr/>
          <p:nvPr/>
        </p:nvSpPr>
        <p:spPr>
          <a:xfrm>
            <a:off x="886968"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行为的正当性取决于其后果——能否带来最大多数人的最大幸福。代表人物：边沁、密尔。</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在法律职业中的体现：保密义务的辩护理由之一，正是“若允许律师披露，将摧毁整个辩护制度，长远看损害更大”。</a:t>
            </a:r>
            <a:endParaRPr lang="en-US" sz="1450" dirty="0"/>
          </a:p>
        </p:txBody>
      </p:sp>
      <p:sp>
        <p:nvSpPr>
          <p:cNvPr id="9" name="Shape 6"/>
          <p:cNvSpPr/>
          <p:nvPr/>
        </p:nvSpPr>
        <p:spPr>
          <a:xfrm>
            <a:off x="4332122" y="1905699"/>
            <a:ext cx="3527450" cy="3887851"/>
          </a:xfrm>
          <a:prstGeom prst="roundRect">
            <a:avLst>
              <a:gd name="adj" fmla="val 2592"/>
            </a:avLst>
          </a:prstGeom>
          <a:solidFill>
            <a:srgbClr val="F6F1E8"/>
          </a:solidFill>
          <a:ln w="12700">
            <a:solidFill>
              <a:srgbClr val="F6F1E8"/>
            </a:solidFill>
            <a:prstDash val="solid"/>
          </a:ln>
        </p:spPr>
      </p:sp>
      <p:sp>
        <p:nvSpPr>
          <p:cNvPr id="10" name="Shape 7"/>
          <p:cNvSpPr/>
          <p:nvPr/>
        </p:nvSpPr>
        <p:spPr>
          <a:xfrm>
            <a:off x="4652162" y="2198307"/>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335467"/>
            <a:ext cx="182880" cy="182880"/>
          </a:xfrm>
          <a:prstGeom prst="rect">
            <a:avLst/>
          </a:prstGeom>
        </p:spPr>
      </p:pic>
      <p:sp>
        <p:nvSpPr>
          <p:cNvPr id="12" name="Text 8"/>
          <p:cNvSpPr/>
          <p:nvPr/>
        </p:nvSpPr>
        <p:spPr>
          <a:xfrm>
            <a:off x="4652162"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义务论（道义论）</a:t>
            </a:r>
            <a:endParaRPr lang="en-US" sz="1700" dirty="0"/>
          </a:p>
        </p:txBody>
      </p:sp>
      <p:sp>
        <p:nvSpPr>
          <p:cNvPr id="13" name="Text 9"/>
          <p:cNvSpPr/>
          <p:nvPr/>
        </p:nvSpPr>
        <p:spPr>
          <a:xfrm>
            <a:off x="4652162"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行为的正当性取决于其是否符合义务本身，而非后果。康德：“人是目的，不能仅作为手段。”</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在法律职业中的体现：法官必须回避，不是因为回避会带来好结果，而是因为中立本身就是裁判者的义务。</a:t>
            </a:r>
            <a:endParaRPr lang="en-US" sz="1450" dirty="0"/>
          </a:p>
        </p:txBody>
      </p:sp>
      <p:sp>
        <p:nvSpPr>
          <p:cNvPr id="14" name="Shape 10"/>
          <p:cNvSpPr/>
          <p:nvPr/>
        </p:nvSpPr>
        <p:spPr>
          <a:xfrm>
            <a:off x="8097317" y="1905699"/>
            <a:ext cx="3527450" cy="3887851"/>
          </a:xfrm>
          <a:prstGeom prst="roundRect">
            <a:avLst>
              <a:gd name="adj" fmla="val 2592"/>
            </a:avLst>
          </a:prstGeom>
          <a:solidFill>
            <a:srgbClr val="ECF3F2"/>
          </a:solidFill>
          <a:ln w="12700">
            <a:solidFill>
              <a:srgbClr val="ECF3F2"/>
            </a:solidFill>
            <a:prstDash val="solid"/>
          </a:ln>
        </p:spPr>
      </p:sp>
      <p:sp>
        <p:nvSpPr>
          <p:cNvPr id="15" name="Shape 11"/>
          <p:cNvSpPr/>
          <p:nvPr/>
        </p:nvSpPr>
        <p:spPr>
          <a:xfrm>
            <a:off x="8417357" y="2198307"/>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335467"/>
            <a:ext cx="182880" cy="182880"/>
          </a:xfrm>
          <a:prstGeom prst="rect">
            <a:avLst/>
          </a:prstGeom>
        </p:spPr>
      </p:pic>
      <p:sp>
        <p:nvSpPr>
          <p:cNvPr id="17" name="Text 12"/>
          <p:cNvSpPr/>
          <p:nvPr/>
        </p:nvSpPr>
        <p:spPr>
          <a:xfrm>
            <a:off x="8417357"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德性论</a:t>
            </a:r>
            <a:endParaRPr lang="en-US" sz="1700" dirty="0"/>
          </a:p>
        </p:txBody>
      </p:sp>
      <p:sp>
        <p:nvSpPr>
          <p:cNvPr id="18" name="Text 13"/>
          <p:cNvSpPr/>
          <p:nvPr/>
        </p:nvSpPr>
        <p:spPr>
          <a:xfrm>
            <a:off x="8417357"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关注“成为怎样的人”而非“遵守哪条规则”。亚里士多德：德性是在实践中养成的品格。</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在法律职业中的体现：《法官职业道德基本准则》《律师职业道德基本准则》中大量使用“忠诚”“公正”“廉洁”等品格词，走的正是德性论进路。</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三种进路的实战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同一个问题，三种论证路径</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方法示范</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律师是否应当为明知有罪的被告人作无罪辩护？</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052"/>
              </a:lnSpc>
              <a:spcAft>
                <a:spcPts val="800"/>
              </a:spcAft>
              <a:buNone/>
            </a:pPr>
            <a:r>
              <a:rPr lang="en-US" sz="1350" dirty="0">
                <a:solidFill>
                  <a:srgbClr val="32404F"/>
                </a:solidFill>
                <a:latin typeface="微软雅黑" pitchFamily="34" charset="0"/>
                <a:ea typeface="微软雅黑" pitchFamily="34" charset="-122"/>
                <a:cs typeface="微软雅黑" pitchFamily="34" charset="-120"/>
              </a:rPr>
              <a:t>设例：某抢劫案被告人在会见中向律师承认作案，但侦查程序存在重大瑕疵，关键证据可能被排除。被告人要求律师作无罪辩护。律师应当如何处理？</a:t>
            </a:r>
            <a:endParaRPr lang="en-US" sz="1350" dirty="0"/>
          </a:p>
          <a:p>
            <a:pPr indent="0" marL="0">
              <a:lnSpc>
                <a:spcPts val="2052"/>
              </a:lnSpc>
              <a:spcAft>
                <a:spcPts val="800"/>
              </a:spcAft>
              <a:buNone/>
            </a:pPr>
            <a:r>
              <a:rPr lang="en-US" sz="1350" dirty="0">
                <a:solidFill>
                  <a:srgbClr val="32404F"/>
                </a:solidFill>
                <a:latin typeface="微软雅黑" pitchFamily="34" charset="0"/>
                <a:ea typeface="微软雅黑" pitchFamily="34" charset="-122"/>
                <a:cs typeface="微软雅黑" pitchFamily="34" charset="-120"/>
              </a:rPr>
              <a:t>【功利主义进路】考察后果：若律师因当事人私下认罪即拒绝作证据不足的辩护，长远看会使被告人不敢对律师说实话，辩护制度整体失效；同时也会放任非法取证，损害程序法治。因此，就证据不足作无罪辩护，总体后果更优。</a:t>
            </a:r>
            <a:endParaRPr lang="en-US" sz="1350" dirty="0"/>
          </a:p>
          <a:p>
            <a:pPr indent="0" marL="0">
              <a:lnSpc>
                <a:spcPts val="2052"/>
              </a:lnSpc>
              <a:spcAft>
                <a:spcPts val="800"/>
              </a:spcAft>
              <a:buNone/>
            </a:pPr>
            <a:r>
              <a:rPr lang="en-US" sz="1350" dirty="0">
                <a:solidFill>
                  <a:srgbClr val="32404F"/>
                </a:solidFill>
                <a:latin typeface="微软雅黑" pitchFamily="34" charset="0"/>
                <a:ea typeface="微软雅黑" pitchFamily="34" charset="-122"/>
                <a:cs typeface="微软雅黑" pitchFamily="34" charset="-120"/>
              </a:rPr>
              <a:t>【义务论进路】考察义务本身：律师负有忠实于委托人合法权益、维护法律正确实施的义务；证明被告人有罪是控方的责任，律师就控方举证不足提出质疑，本身即为其角色义务的履行，无须以后果好坏为条件。</a:t>
            </a:r>
            <a:endParaRPr lang="en-US" sz="1350" dirty="0"/>
          </a:p>
          <a:p>
            <a:pPr indent="0" marL="0">
              <a:lnSpc>
                <a:spcPts val="2052"/>
              </a:lnSpc>
              <a:spcAft>
                <a:spcPts val="800"/>
              </a:spcAft>
              <a:buNone/>
            </a:pPr>
            <a:r>
              <a:rPr lang="en-US" sz="1350" dirty="0">
                <a:solidFill>
                  <a:srgbClr val="32404F"/>
                </a:solidFill>
                <a:latin typeface="微软雅黑" pitchFamily="34" charset="0"/>
                <a:ea typeface="微软雅黑" pitchFamily="34" charset="-122"/>
                <a:cs typeface="微软雅黑" pitchFamily="34" charset="-120"/>
              </a:rPr>
              <a:t>【德性论进路】考察品格：一名有德性的律师，应当兼具忠诚与审慎、勇气与诚实。他会为当事人尽最大努力，但不会伪造证据、教唆伪证；他会指出控方证据的不足，但不会向法庭作虚假陈述。德性论给出的不是一条规则，而是一种分寸感。</a:t>
            </a:r>
            <a:endParaRPr lang="en-US" sz="135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三种进路的结论一致吗？在什么情形下会分歧？</a:t>
            </a:r>
            <a:endParaRPr lang="en-US" sz="1400" dirty="0"/>
          </a:p>
        </p:txBody>
      </p:sp>
      <p:sp>
        <p:nvSpPr>
          <p:cNvPr id="14" name="Shape 12"/>
          <p:cNvSpPr/>
          <p:nvPr/>
        </p:nvSpPr>
        <p:spPr>
          <a:xfrm>
            <a:off x="7958023" y="348094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48094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18053"/>
            <a:ext cx="2971800" cy="8001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如果律师改为“提出被告人不在现场”的积极辩护，三种进路的评价会不会改变？</a:t>
            </a:r>
            <a:endParaRPr lang="en-US" sz="1400" dirty="0"/>
          </a:p>
        </p:txBody>
      </p:sp>
      <p:sp>
        <p:nvSpPr>
          <p:cNvPr id="17" name="Shape 15"/>
          <p:cNvSpPr/>
          <p:nvPr/>
        </p:nvSpPr>
        <p:spPr>
          <a:xfrm>
            <a:off x="7958023" y="461924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61924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48970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你认为我国现行规范采取的是哪一种进路？</a:t>
            </a:r>
            <a:endParaRPr lang="en-US" sz="14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方法论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请把三种进路当作“检查清单”而非“立场选择”</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我不要求各位在功利主义、义务论、德性论之间选边站队。我要求的是：遇到伦理难题时，依次用三个问题检查自己的判断。</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第一问（后果）：如果所有处在我这个位置的人都这样做，会产生什么后果？制度会变好还是变坏？</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第二问（义务）：我这个角色的义务是什么？我的选择是在履行义务，还是在为了好结果而牺牲义务？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第三问（品格）：一个我所敬重的、有德性的资深同行，处在我的位置上会怎么做？我的选择说出去，我敢不敢承认？</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当三个问题给出同一答案时，你可以放心去做；当它们互相冲突时，说明这是一个真正的伦理难题——此时最重要的不是找到“正确答案”，而是把冲突记录下来、把理由说清楚、必要时寻求同事或律协的意见。</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角色道德与“非道德性”命题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法律职业伦理最具挑战性、也最容易被误解的一个理论问题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理论核心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角色道德（role morality）的三个命题</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命题一：角色产生特殊义务</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占据某个制度角色的人，因该角色而承担了普通人所没有的义务，也获得了普通人所没有的许可。医生可以切开病人的身体，辩护人可以质疑被害人的陈述——这些行为在角色之外将是不可接受的。</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命题二：角色义务可以阻却一般道德评价</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这就是所谓的“职业分离命题”（the principle of non-accountability）：律师不因其当事人的目的或品行而受道德归责。他被视为制度分工中的一环，而非当事人行为的道德共犯。</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命题三：阻却是有限度的</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角色不是道德豁免权。律师不得伪造证据、不得教唆伪证、不得向法庭作虚假陈述、不得协助当事人实施新的犯罪。角色义务只能在“法律允许的手段”范围内阻却道德评价，越界即失去保护。</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争议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“律师职业的非道德性”：一个需要精确理解的命题</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该命题的正确含义</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“非道德”（amoral）不等于“不道德”（immoral），而是指“不由律师个人作道德判断”。</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律师首要的伦理要求是对委托人的诚信义务与忠诚义务；道德上的最终评价交由法庭依据法律作出。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理由：若每个律师都以自己的道德判断筛选当事人，无人代理的当事人将丧失接近正义的机会；且律师并不掌握全部事实，其道德判断未必可靠。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这一命题保护的是“任何人都有权获得辩护”这一宪法性原则。</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该命题的边界</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不得因此协助违法：《律师法》第四十条明确列举了律师执业中的禁止行为。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不得因此丧失独立性：律师是独立的执业人员，不是当事人的传声筒，有权拒绝当事人的不当要求。</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不得因此免于选择：律师有权决定是否接受委托（法律援助指定除外），这一选择权本身即是道德主体性的体现。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学界批评：过度强调非道德性，可能使律师沦为“雇佣枪手”，侵蚀职业的公共性。</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边界的规范表达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角色义务的法定界限</a:t>
            </a:r>
            <a:endParaRPr lang="en-US" sz="2800" dirty="0"/>
          </a:p>
        </p:txBody>
      </p:sp>
      <p:sp>
        <p:nvSpPr>
          <p:cNvPr id="4" name="Shape 2"/>
          <p:cNvSpPr/>
          <p:nvPr/>
        </p:nvSpPr>
        <p:spPr>
          <a:xfrm>
            <a:off x="566928" y="1797495"/>
            <a:ext cx="11057839" cy="2747391"/>
          </a:xfrm>
          <a:prstGeom prst="roundRect">
            <a:avLst>
              <a:gd name="adj" fmla="val 3328"/>
            </a:avLst>
          </a:prstGeom>
          <a:solidFill>
            <a:srgbClr val="F6F1E8"/>
          </a:solidFill>
          <a:ln w="12700">
            <a:solidFill>
              <a:srgbClr val="F6F1E8"/>
            </a:solidFill>
            <a:prstDash val="solid"/>
          </a:ln>
        </p:spPr>
      </p:sp>
      <p:sp>
        <p:nvSpPr>
          <p:cNvPr id="5" name="Shape 3"/>
          <p:cNvSpPr/>
          <p:nvPr/>
        </p:nvSpPr>
        <p:spPr>
          <a:xfrm>
            <a:off x="877824" y="203523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3523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1695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《律师法》第四十条（节录）</a:t>
            </a:r>
            <a:endParaRPr lang="en-US" sz="1500" dirty="0"/>
          </a:p>
        </p:txBody>
      </p:sp>
      <p:sp>
        <p:nvSpPr>
          <p:cNvPr id="8" name="Text 6"/>
          <p:cNvSpPr/>
          <p:nvPr/>
        </p:nvSpPr>
        <p:spPr>
          <a:xfrm>
            <a:off x="960120" y="2437575"/>
            <a:ext cx="10271455" cy="18878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律师在执业活动中不得有下列行为：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（一）私自接受委托、收取费用，接受委托人的财物或者其他利益；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（二）利用提供法律服务的便利牟取当事人争议的权益；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（三）接受对方当事人的财物或者其他利益，与对方当事人或者第三人恶意串通，侵害委托人的权益；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（五）向法官、检察官、仲裁员以及其他有关工作人员行贿，介绍贿赂或者指使、诱导当事人行贿；</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（六）故意提供虚假证据或者威胁、利诱他人提供虚假证据，妨碍对方当事人合法取得证据；</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（七）煽动、教唆当事人采取扰乱公共秩序、危害公共安全等非法手段解决争议……</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第（六）项：“故意提供虚假证据或者威胁、利诱他人提供虚假证据”——这是角色义务的硬边界。忠诚于委托人，绝不包括为委托人造假。凡越过此线者，不再受“非道德性”命题的保护，且可能构成《刑法》第三百零六条辩护人妨害作证罪。</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627757"/>
            <a:ext cx="8726119" cy="109728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职业伦理的评价体系：秩序、自由、正义、效率</a:t>
            </a:r>
            <a:endParaRPr lang="en-US" sz="3600" dirty="0"/>
          </a:p>
        </p:txBody>
      </p:sp>
      <p:sp>
        <p:nvSpPr>
          <p:cNvPr id="5" name="Text 3"/>
          <p:cNvSpPr/>
          <p:nvPr/>
        </p:nvSpPr>
        <p:spPr>
          <a:xfrm>
            <a:off x="2916936" y="390791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“善”是伦理评价的基本准则，但法律执业活动有其自身的价值坐标</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20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评价标准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从一般的“善”到法律职业特有的评价体系</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94297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善”是伦理评价的基本准则。法律职业伦理也应以“善”作为评价标准，即“对法之善的实现度与促进度”。但法律执业活动有它自己的特点：它是在人类共有的理念与价值追求下所从事的职业活动。因此“善”在法律职业中的具体要求，必须与法律的理念和价值相融合。</a:t>
            </a:r>
            <a:endParaRPr lang="en-US" sz="1650" dirty="0"/>
          </a:p>
        </p:txBody>
      </p:sp>
      <p:sp>
        <p:nvSpPr>
          <p:cNvPr id="7" name="Text 4"/>
          <p:cNvSpPr/>
          <p:nvPr/>
        </p:nvSpPr>
        <p:spPr>
          <a:xfrm>
            <a:off x="1069848" y="2844927"/>
            <a:ext cx="10051999" cy="3226689"/>
          </a:xfrm>
          <a:prstGeom prst="rect">
            <a:avLst/>
          </a:prstGeom>
          <a:noFill/>
          <a:ln/>
        </p:spPr>
        <p:txBody>
          <a:bodyPr wrap="square" lIns="0" tIns="0" rIns="0" bIns="0" rtlCol="0" anchor="t"/>
          <a:lstStyle/>
          <a:p>
            <a:pPr marL="228600" indent="-228600">
              <a:lnSpc>
                <a:spcPts val="2025"/>
              </a:lnSpc>
              <a:spcAft>
                <a:spcPts val="800"/>
              </a:spcAft>
              <a:buSzPct val="100000"/>
              <a:buChar char="■"/>
            </a:pPr>
            <a:r>
              <a:rPr lang="en-US" sz="1350" dirty="0">
                <a:solidFill>
                  <a:srgbClr val="32404F"/>
                </a:solidFill>
                <a:latin typeface="微软雅黑" pitchFamily="34" charset="0"/>
                <a:ea typeface="微软雅黑" pitchFamily="34" charset="-122"/>
                <a:cs typeface="微软雅黑" pitchFamily="34" charset="-120"/>
              </a:rPr>
              <a:t>秩序：秩序是法律的首要追求，秩序的存在是人类一切活动的必要前提。法律职业者的执业行为，首先应当有助于而非破坏既定的法律秩序。</a:t>
            </a:r>
            <a:endParaRPr lang="en-US" sz="1350" dirty="0"/>
          </a:p>
          <a:p>
            <a:pPr marL="228600" indent="-228600">
              <a:lnSpc>
                <a:spcPts val="2025"/>
              </a:lnSpc>
              <a:spcAft>
                <a:spcPts val="800"/>
              </a:spcAft>
              <a:buSzPct val="100000"/>
              <a:buChar char="■"/>
            </a:pPr>
            <a:r>
              <a:rPr lang="en-US" sz="1350" dirty="0">
                <a:solidFill>
                  <a:srgbClr val="32404F"/>
                </a:solidFill>
                <a:latin typeface="微软雅黑" pitchFamily="34" charset="0"/>
                <a:ea typeface="微软雅黑" pitchFamily="34" charset="-122"/>
                <a:cs typeface="微软雅黑" pitchFamily="34" charset="-120"/>
              </a:rPr>
              <a:t>自由：自由自古以来就是人类的追求。法律表征为规则，但这个规则并不是为限制自由而设置，而是为保护自由而设。法律人应当时刻记得：规则的目的在于自由。</a:t>
            </a:r>
            <a:endParaRPr lang="en-US" sz="1350" dirty="0"/>
          </a:p>
          <a:p>
            <a:pPr marL="228600" indent="-228600">
              <a:lnSpc>
                <a:spcPts val="2025"/>
              </a:lnSpc>
              <a:spcAft>
                <a:spcPts val="800"/>
              </a:spcAft>
              <a:buSzPct val="100000"/>
              <a:buChar char="■"/>
            </a:pPr>
            <a:r>
              <a:rPr lang="en-US" sz="1350" dirty="0">
                <a:solidFill>
                  <a:srgbClr val="32404F"/>
                </a:solidFill>
                <a:latin typeface="微软雅黑" pitchFamily="34" charset="0"/>
                <a:ea typeface="微软雅黑" pitchFamily="34" charset="-122"/>
                <a:cs typeface="微软雅黑" pitchFamily="34" charset="-120"/>
              </a:rPr>
              <a:t>正义：正义是人类社会的美德与崇高理想，是法律职业者执业活动的衡量标准。在立法中要衡量是否实现分配正义，在司法中要衡量是否实现程序正义。正义通过法律职业者的执业行为得以实现。</a:t>
            </a:r>
            <a:endParaRPr lang="en-US" sz="1350" dirty="0"/>
          </a:p>
          <a:p>
            <a:pPr marL="228600" indent="-228600">
              <a:lnSpc>
                <a:spcPts val="2025"/>
              </a:lnSpc>
              <a:spcAft>
                <a:spcPts val="800"/>
              </a:spcAft>
              <a:buSzPct val="100000"/>
              <a:buChar char="■"/>
            </a:pPr>
            <a:r>
              <a:rPr lang="en-US" sz="1350" dirty="0">
                <a:solidFill>
                  <a:srgbClr val="32404F"/>
                </a:solidFill>
                <a:latin typeface="微软雅黑" pitchFamily="34" charset="0"/>
                <a:ea typeface="微软雅黑" pitchFamily="34" charset="-122"/>
                <a:cs typeface="微软雅黑" pitchFamily="34" charset="-120"/>
              </a:rPr>
              <a:t>效率：效率同样是社会重要的美德与价值，是对法律职业者的评价之一。迟来的正义非正义。法律职业者应当学会在效率与公平之间取得平衡。</a:t>
            </a:r>
            <a:endParaRPr lang="en-US" sz="1350" dirty="0"/>
          </a:p>
          <a:p>
            <a:pPr marL="228600" indent="-228600">
              <a:lnSpc>
                <a:spcPts val="2025"/>
              </a:lnSpc>
              <a:spcAft>
                <a:spcPts val="800"/>
              </a:spcAft>
              <a:buSzPct val="100000"/>
              <a:buChar char="■"/>
            </a:pPr>
            <a:r>
              <a:rPr lang="en-US" sz="1350" b="1" dirty="0">
                <a:solidFill>
                  <a:srgbClr val="32404F"/>
                </a:solidFill>
                <a:latin typeface="微软雅黑" pitchFamily="34" charset="0"/>
                <a:ea typeface="微软雅黑" pitchFamily="34" charset="-122"/>
                <a:cs typeface="微软雅黑" pitchFamily="34" charset="-120"/>
              </a:rPr>
              <a:t>四者并非总是同向：追求效率可能损及程序正义，强调秩序可能压缩自由空间。职业伦理判断，很多时候正是在这四个价值之间作权衡。</a:t>
            </a:r>
            <a:endParaRPr lang="en-US" sz="13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21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实践路径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职业伦理的践行：三个环节</a:t>
            </a:r>
            <a:endParaRPr lang="en-US" sz="2800" dirty="0"/>
          </a:p>
        </p:txBody>
      </p:sp>
      <p:sp>
        <p:nvSpPr>
          <p:cNvPr id="4" name="Shape 2"/>
          <p:cNvSpPr/>
          <p:nvPr/>
        </p:nvSpPr>
        <p:spPr>
          <a:xfrm>
            <a:off x="566928" y="2329891"/>
            <a:ext cx="3551834" cy="3039466"/>
          </a:xfrm>
          <a:prstGeom prst="roundRect">
            <a:avLst>
              <a:gd name="adj" fmla="val 3008"/>
            </a:avLst>
          </a:prstGeom>
          <a:solidFill>
            <a:srgbClr val="F2F4F8"/>
          </a:solidFill>
          <a:ln w="12700">
            <a:solidFill>
              <a:srgbClr val="F2F4F8"/>
            </a:solidFill>
            <a:prstDash val="solid"/>
          </a:ln>
        </p:spPr>
      </p:sp>
      <p:sp>
        <p:nvSpPr>
          <p:cNvPr id="5" name="Shape 3"/>
          <p:cNvSpPr/>
          <p:nvPr/>
        </p:nvSpPr>
        <p:spPr>
          <a:xfrm>
            <a:off x="2077669" y="2604211"/>
            <a:ext cx="530352" cy="530352"/>
          </a:xfrm>
          <a:prstGeom prst="ellipse">
            <a:avLst/>
          </a:prstGeom>
          <a:solidFill>
            <a:srgbClr val="13233F"/>
          </a:solidFill>
          <a:ln w="12700">
            <a:solidFill>
              <a:srgbClr val="13233F"/>
            </a:solidFill>
            <a:prstDash val="solid"/>
          </a:ln>
        </p:spPr>
      </p:sp>
      <p:sp>
        <p:nvSpPr>
          <p:cNvPr id="6" name="Text 4"/>
          <p:cNvSpPr/>
          <p:nvPr/>
        </p:nvSpPr>
        <p:spPr>
          <a:xfrm>
            <a:off x="2077669"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1</a:t>
            </a:r>
            <a:endParaRPr lang="en-US" sz="2100" dirty="0"/>
          </a:p>
        </p:txBody>
      </p:sp>
      <p:sp>
        <p:nvSpPr>
          <p:cNvPr id="7" name="Text 5"/>
          <p:cNvSpPr/>
          <p:nvPr/>
        </p:nvSpPr>
        <p:spPr>
          <a:xfrm>
            <a:off x="822960" y="3299155"/>
            <a:ext cx="3039770" cy="206375"/>
          </a:xfrm>
          <a:prstGeom prst="rect">
            <a:avLst/>
          </a:prstGeom>
          <a:noFill/>
          <a:ln/>
        </p:spPr>
        <p:txBody>
          <a:bodyPr wrap="square" lIns="0" tIns="0" rIns="0" bIns="0" rtlCol="0" anchor="t"/>
          <a:lstStyle/>
          <a:p>
            <a:pPr algn="ctr" indent="0" marL="0">
              <a:lnSpc>
                <a:spcPts val="1625"/>
              </a:lnSpc>
              <a:buNone/>
            </a:pPr>
            <a:r>
              <a:rPr lang="en-US" sz="1300" b="1" dirty="0">
                <a:solidFill>
                  <a:srgbClr val="13233F"/>
                </a:solidFill>
                <a:latin typeface="微软雅黑" pitchFamily="34" charset="0"/>
                <a:ea typeface="微软雅黑" pitchFamily="34" charset="-122"/>
                <a:cs typeface="微软雅黑" pitchFamily="34" charset="-120"/>
              </a:rPr>
              <a:t>以职业伦理指导立法</a:t>
            </a:r>
            <a:endParaRPr lang="en-US" sz="1300" dirty="0"/>
          </a:p>
        </p:txBody>
      </p:sp>
      <p:sp>
        <p:nvSpPr>
          <p:cNvPr id="8" name="Text 6"/>
          <p:cNvSpPr/>
          <p:nvPr/>
        </p:nvSpPr>
        <p:spPr>
          <a:xfrm>
            <a:off x="822960" y="3596970"/>
            <a:ext cx="3039770" cy="155293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立法为法律运行的其他环节提供规范蓝本。法治乃良法之治；立法过程应体现程序正义，做到民主、公开、互涉、自律、科学。</a:t>
            </a:r>
            <a:endParaRPr lang="en-US" sz="1350" dirty="0"/>
          </a:p>
        </p:txBody>
      </p:sp>
      <p:sp>
        <p:nvSpPr>
          <p:cNvPr id="9" name="Shape 7"/>
          <p:cNvSpPr/>
          <p:nvPr/>
        </p:nvSpPr>
        <p:spPr>
          <a:xfrm>
            <a:off x="4319930" y="2329891"/>
            <a:ext cx="3551834" cy="3039466"/>
          </a:xfrm>
          <a:prstGeom prst="roundRect">
            <a:avLst>
              <a:gd name="adj" fmla="val 3008"/>
            </a:avLst>
          </a:prstGeom>
          <a:solidFill>
            <a:srgbClr val="F2F4F8"/>
          </a:solidFill>
          <a:ln w="12700">
            <a:solidFill>
              <a:srgbClr val="F2F4F8"/>
            </a:solidFill>
            <a:prstDash val="solid"/>
          </a:ln>
        </p:spPr>
      </p:sp>
      <p:sp>
        <p:nvSpPr>
          <p:cNvPr id="10" name="Shape 8"/>
          <p:cNvSpPr/>
          <p:nvPr/>
        </p:nvSpPr>
        <p:spPr>
          <a:xfrm>
            <a:off x="5830672" y="2604211"/>
            <a:ext cx="530352" cy="530352"/>
          </a:xfrm>
          <a:prstGeom prst="ellipse">
            <a:avLst/>
          </a:prstGeom>
          <a:solidFill>
            <a:srgbClr val="13233F"/>
          </a:solidFill>
          <a:ln w="12700">
            <a:solidFill>
              <a:srgbClr val="13233F"/>
            </a:solidFill>
            <a:prstDash val="solid"/>
          </a:ln>
        </p:spPr>
      </p:sp>
      <p:sp>
        <p:nvSpPr>
          <p:cNvPr id="11" name="Text 9"/>
          <p:cNvSpPr/>
          <p:nvPr/>
        </p:nvSpPr>
        <p:spPr>
          <a:xfrm>
            <a:off x="5830672"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2</a:t>
            </a:r>
            <a:endParaRPr lang="en-US" sz="2100" dirty="0"/>
          </a:p>
        </p:txBody>
      </p:sp>
      <p:sp>
        <p:nvSpPr>
          <p:cNvPr id="12" name="Text 10"/>
          <p:cNvSpPr/>
          <p:nvPr/>
        </p:nvSpPr>
        <p:spPr>
          <a:xfrm>
            <a:off x="4575962" y="3299155"/>
            <a:ext cx="3039770" cy="206375"/>
          </a:xfrm>
          <a:prstGeom prst="rect">
            <a:avLst/>
          </a:prstGeom>
          <a:noFill/>
          <a:ln/>
        </p:spPr>
        <p:txBody>
          <a:bodyPr wrap="square" lIns="0" tIns="0" rIns="0" bIns="0" rtlCol="0" anchor="t"/>
          <a:lstStyle/>
          <a:p>
            <a:pPr algn="ctr" indent="0" marL="0">
              <a:lnSpc>
                <a:spcPts val="1625"/>
              </a:lnSpc>
              <a:buNone/>
            </a:pPr>
            <a:r>
              <a:rPr lang="en-US" sz="1300" b="1" dirty="0">
                <a:solidFill>
                  <a:srgbClr val="13233F"/>
                </a:solidFill>
                <a:latin typeface="微软雅黑" pitchFamily="34" charset="0"/>
                <a:ea typeface="微软雅黑" pitchFamily="34" charset="-122"/>
                <a:cs typeface="微软雅黑" pitchFamily="34" charset="-120"/>
              </a:rPr>
              <a:t>以职业伦理指导法律适用</a:t>
            </a:r>
            <a:endParaRPr lang="en-US" sz="1300" dirty="0"/>
          </a:p>
        </p:txBody>
      </p:sp>
      <p:sp>
        <p:nvSpPr>
          <p:cNvPr id="13" name="Text 11"/>
          <p:cNvSpPr/>
          <p:nvPr/>
        </p:nvSpPr>
        <p:spPr>
          <a:xfrm>
            <a:off x="4575962" y="3596970"/>
            <a:ext cx="3039770" cy="155293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法律的生命力在于实施，而实施的程度与效果取决于法律职业者的素质。法律职业者需依靠法学知识与职业伦理，对具体个案作出判断与处理。这是职业伦理外化并直接作用于社会的关键环节。</a:t>
            </a:r>
            <a:endParaRPr lang="en-US" sz="1350" dirty="0"/>
          </a:p>
        </p:txBody>
      </p:sp>
      <p:sp>
        <p:nvSpPr>
          <p:cNvPr id="14" name="Shape 12"/>
          <p:cNvSpPr/>
          <p:nvPr/>
        </p:nvSpPr>
        <p:spPr>
          <a:xfrm>
            <a:off x="8072933" y="2329891"/>
            <a:ext cx="3551834" cy="3039466"/>
          </a:xfrm>
          <a:prstGeom prst="roundRect">
            <a:avLst>
              <a:gd name="adj" fmla="val 3008"/>
            </a:avLst>
          </a:prstGeom>
          <a:solidFill>
            <a:srgbClr val="F2F4F8"/>
          </a:solidFill>
          <a:ln w="12700">
            <a:solidFill>
              <a:srgbClr val="F2F4F8"/>
            </a:solidFill>
            <a:prstDash val="solid"/>
          </a:ln>
        </p:spPr>
      </p:sp>
      <p:sp>
        <p:nvSpPr>
          <p:cNvPr id="15" name="Shape 13"/>
          <p:cNvSpPr/>
          <p:nvPr/>
        </p:nvSpPr>
        <p:spPr>
          <a:xfrm>
            <a:off x="9583674" y="2604211"/>
            <a:ext cx="530352" cy="530352"/>
          </a:xfrm>
          <a:prstGeom prst="ellipse">
            <a:avLst/>
          </a:prstGeom>
          <a:solidFill>
            <a:srgbClr val="13233F"/>
          </a:solidFill>
          <a:ln w="12700">
            <a:solidFill>
              <a:srgbClr val="13233F"/>
            </a:solidFill>
            <a:prstDash val="solid"/>
          </a:ln>
        </p:spPr>
      </p:sp>
      <p:sp>
        <p:nvSpPr>
          <p:cNvPr id="16" name="Text 14"/>
          <p:cNvSpPr/>
          <p:nvPr/>
        </p:nvSpPr>
        <p:spPr>
          <a:xfrm>
            <a:off x="9583674"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3</a:t>
            </a:r>
            <a:endParaRPr lang="en-US" sz="2100" dirty="0"/>
          </a:p>
        </p:txBody>
      </p:sp>
      <p:sp>
        <p:nvSpPr>
          <p:cNvPr id="17" name="Text 15"/>
          <p:cNvSpPr/>
          <p:nvPr/>
        </p:nvSpPr>
        <p:spPr>
          <a:xfrm>
            <a:off x="8328965" y="3299155"/>
            <a:ext cx="3039770" cy="206375"/>
          </a:xfrm>
          <a:prstGeom prst="rect">
            <a:avLst/>
          </a:prstGeom>
          <a:noFill/>
          <a:ln/>
        </p:spPr>
        <p:txBody>
          <a:bodyPr wrap="square" lIns="0" tIns="0" rIns="0" bIns="0" rtlCol="0" anchor="t"/>
          <a:lstStyle/>
          <a:p>
            <a:pPr algn="ctr" indent="0" marL="0">
              <a:lnSpc>
                <a:spcPts val="1625"/>
              </a:lnSpc>
              <a:buNone/>
            </a:pPr>
            <a:r>
              <a:rPr lang="en-US" sz="1300" b="1" dirty="0">
                <a:solidFill>
                  <a:srgbClr val="13233F"/>
                </a:solidFill>
                <a:latin typeface="微软雅黑" pitchFamily="34" charset="0"/>
                <a:ea typeface="微软雅黑" pitchFamily="34" charset="-122"/>
                <a:cs typeface="微软雅黑" pitchFamily="34" charset="-120"/>
              </a:rPr>
              <a:t>以职业伦理指导法律服务</a:t>
            </a:r>
            <a:endParaRPr lang="en-US" sz="1300" dirty="0"/>
          </a:p>
        </p:txBody>
      </p:sp>
      <p:sp>
        <p:nvSpPr>
          <p:cNvPr id="18" name="Text 16"/>
          <p:cNvSpPr/>
          <p:nvPr/>
        </p:nvSpPr>
        <p:spPr>
          <a:xfrm>
            <a:off x="8328965" y="3596970"/>
            <a:ext cx="3039770" cy="155293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律师的主要工作是法律服务，其职业道德具有鲜明的自律性特点，且经常面临道德冲突——如维护法的精神与保护当事人利益之间的冲突。处理道德冲突的过程，正是重要的伦理践行过程。</a:t>
            </a:r>
            <a:endParaRPr lang="en-US" sz="1350" dirty="0"/>
          </a:p>
        </p:txBody>
      </p:sp>
      <p:sp>
        <p:nvSpPr>
          <p:cNvPr id="19" name="Text 1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22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“非道德性”命题主张律师不因当事人的品行而受道德归责。那么，一名长期为电信诈骗集团提供“合规咨询”的律师，能否以此为自己辩护？请指出边界所在。</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功利主义与义务论在保密义务问题上会得出相同结论吗？如果一名律师确信披露某项秘密能挽救一条生命，但规范明确禁止披露，他应当怎么做？他事后应当承担什么责任？</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《法官职业道德基本准则》大量使用“忠诚”“公正”“廉洁”等品格词，而《律师执业行为规范》则多用“不得……”的禁止性表述。这两种立法技术各自的优点与局限是什么？</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秩序、自由、正义、效率四项价值发生冲突时，法律职业者应当依据什么位阶作出选择？位阶是固定的，还是依情境而变？</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23</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第3课时要点回顾</a:t>
            </a:r>
            <a:endParaRPr lang="en-US" sz="3000" dirty="0"/>
          </a:p>
        </p:txBody>
      </p:sp>
      <p:sp>
        <p:nvSpPr>
          <p:cNvPr id="4" name="Shape 2"/>
          <p:cNvSpPr/>
          <p:nvPr/>
        </p:nvSpPr>
        <p:spPr>
          <a:xfrm>
            <a:off x="566928" y="1591056"/>
            <a:ext cx="11057839" cy="813181"/>
          </a:xfrm>
          <a:prstGeom prst="roundRect">
            <a:avLst>
              <a:gd name="adj" fmla="val 8996"/>
            </a:avLst>
          </a:prstGeom>
          <a:solidFill>
            <a:srgbClr val="25395F"/>
          </a:solidFill>
          <a:ln w="12700">
            <a:solidFill>
              <a:srgbClr val="25395F"/>
            </a:solidFill>
            <a:prstDash val="solid"/>
          </a:ln>
        </p:spPr>
      </p:sp>
      <p:sp>
        <p:nvSpPr>
          <p:cNvPr id="5" name="Shape 3"/>
          <p:cNvSpPr/>
          <p:nvPr/>
        </p:nvSpPr>
        <p:spPr>
          <a:xfrm>
            <a:off x="859536" y="1796479"/>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17179"/>
            <a:ext cx="160934" cy="160934"/>
          </a:xfrm>
          <a:prstGeom prst="rect">
            <a:avLst/>
          </a:prstGeom>
        </p:spPr>
      </p:pic>
      <p:sp>
        <p:nvSpPr>
          <p:cNvPr id="7" name="Text 4"/>
          <p:cNvSpPr/>
          <p:nvPr/>
        </p:nvSpPr>
        <p:spPr>
          <a:xfrm>
            <a:off x="1444752" y="1730947"/>
            <a:ext cx="9997135"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法律职业伦理，指法律职业人员在执业活动中所应具备或遵循的、符合法律职业要求的心理意识、行为准则与规范的总和；其定义包含主体、场域、内容、标准四个要素。</a:t>
            </a:r>
            <a:endParaRPr lang="en-US" sz="1400" dirty="0"/>
          </a:p>
        </p:txBody>
      </p:sp>
      <p:sp>
        <p:nvSpPr>
          <p:cNvPr id="8" name="Shape 5"/>
          <p:cNvSpPr/>
          <p:nvPr/>
        </p:nvSpPr>
        <p:spPr>
          <a:xfrm>
            <a:off x="566928" y="2541397"/>
            <a:ext cx="11057839" cy="813181"/>
          </a:xfrm>
          <a:prstGeom prst="roundRect">
            <a:avLst>
              <a:gd name="adj" fmla="val 8996"/>
            </a:avLst>
          </a:prstGeom>
          <a:solidFill>
            <a:srgbClr val="25395F"/>
          </a:solidFill>
          <a:ln w="12700">
            <a:solidFill>
              <a:srgbClr val="25395F"/>
            </a:solidFill>
            <a:prstDash val="solid"/>
          </a:ln>
        </p:spPr>
      </p:sp>
      <p:sp>
        <p:nvSpPr>
          <p:cNvPr id="9" name="Shape 6"/>
          <p:cNvSpPr/>
          <p:nvPr/>
        </p:nvSpPr>
        <p:spPr>
          <a:xfrm>
            <a:off x="859536" y="2746820"/>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867520"/>
            <a:ext cx="160934" cy="160934"/>
          </a:xfrm>
          <a:prstGeom prst="rect">
            <a:avLst/>
          </a:prstGeom>
        </p:spPr>
      </p:pic>
      <p:sp>
        <p:nvSpPr>
          <p:cNvPr id="11" name="Text 7"/>
          <p:cNvSpPr/>
          <p:nvPr/>
        </p:nvSpPr>
        <p:spPr>
          <a:xfrm>
            <a:off x="1444752" y="2681288"/>
            <a:ext cx="9997135"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三项特征：高度成文化与制度化；以品格为基础而以行为为评价对象；建立在信念、角色与责任之上。与一般道德相比，具有主体特定性、职业特殊性与更强的约束性。</a:t>
            </a:r>
            <a:endParaRPr lang="en-US" sz="1400" dirty="0"/>
          </a:p>
        </p:txBody>
      </p:sp>
      <p:sp>
        <p:nvSpPr>
          <p:cNvPr id="12" name="Shape 8"/>
          <p:cNvSpPr/>
          <p:nvPr/>
        </p:nvSpPr>
        <p:spPr>
          <a:xfrm>
            <a:off x="566928" y="3491738"/>
            <a:ext cx="11057839" cy="555371"/>
          </a:xfrm>
          <a:prstGeom prst="roundRect">
            <a:avLst>
              <a:gd name="adj" fmla="val 13172"/>
            </a:avLst>
          </a:prstGeom>
          <a:solidFill>
            <a:srgbClr val="25395F"/>
          </a:solidFill>
          <a:ln w="12700">
            <a:solidFill>
              <a:srgbClr val="25395F"/>
            </a:solidFill>
            <a:prstDash val="solid"/>
          </a:ln>
        </p:spPr>
      </p:sp>
      <p:sp>
        <p:nvSpPr>
          <p:cNvPr id="13" name="Shape 9"/>
          <p:cNvSpPr/>
          <p:nvPr/>
        </p:nvSpPr>
        <p:spPr>
          <a:xfrm>
            <a:off x="859536" y="3574034"/>
            <a:ext cx="390779" cy="390779"/>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76770" y="3691268"/>
            <a:ext cx="156312" cy="156312"/>
          </a:xfrm>
          <a:prstGeom prst="rect">
            <a:avLst/>
          </a:prstGeom>
        </p:spPr>
      </p:pic>
      <p:sp>
        <p:nvSpPr>
          <p:cNvPr id="15" name="Text 10"/>
          <p:cNvSpPr/>
          <p:nvPr/>
        </p:nvSpPr>
        <p:spPr>
          <a:xfrm>
            <a:off x="1444752" y="3636074"/>
            <a:ext cx="9997135"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性质上兼具道德性与法律性；我国律师行业实行司法行政机关行政管理与律师协会行业自律相结合的“两结合”体制。</a:t>
            </a:r>
            <a:endParaRPr lang="en-US" sz="1400" dirty="0"/>
          </a:p>
        </p:txBody>
      </p:sp>
      <p:sp>
        <p:nvSpPr>
          <p:cNvPr id="16" name="Shape 11"/>
          <p:cNvSpPr/>
          <p:nvPr/>
        </p:nvSpPr>
        <p:spPr>
          <a:xfrm>
            <a:off x="566928" y="4184269"/>
            <a:ext cx="11057839" cy="555371"/>
          </a:xfrm>
          <a:prstGeom prst="roundRect">
            <a:avLst>
              <a:gd name="adj" fmla="val 13172"/>
            </a:avLst>
          </a:prstGeom>
          <a:solidFill>
            <a:srgbClr val="25395F"/>
          </a:solidFill>
          <a:ln w="12700">
            <a:solidFill>
              <a:srgbClr val="25395F"/>
            </a:solidFill>
            <a:prstDash val="solid"/>
          </a:ln>
        </p:spPr>
      </p:sp>
      <p:sp>
        <p:nvSpPr>
          <p:cNvPr id="17" name="Shape 12"/>
          <p:cNvSpPr/>
          <p:nvPr/>
        </p:nvSpPr>
        <p:spPr>
          <a:xfrm>
            <a:off x="859536" y="4266565"/>
            <a:ext cx="390779" cy="390779"/>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76770" y="4383799"/>
            <a:ext cx="156312" cy="156312"/>
          </a:xfrm>
          <a:prstGeom prst="rect">
            <a:avLst/>
          </a:prstGeom>
        </p:spPr>
      </p:pic>
      <p:sp>
        <p:nvSpPr>
          <p:cNvPr id="19" name="Text 13"/>
          <p:cNvSpPr/>
          <p:nvPr/>
        </p:nvSpPr>
        <p:spPr>
          <a:xfrm>
            <a:off x="1444752" y="4328605"/>
            <a:ext cx="9997135"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功利主义、义务论、德性论提供三种互补的判断框架。遇到难题时依次自问：后果如何？义务为何？有德性的同行会怎么做？</a:t>
            </a:r>
            <a:endParaRPr lang="en-US" sz="1400" dirty="0"/>
          </a:p>
        </p:txBody>
      </p:sp>
      <p:sp>
        <p:nvSpPr>
          <p:cNvPr id="20" name="Shape 14"/>
          <p:cNvSpPr/>
          <p:nvPr/>
        </p:nvSpPr>
        <p:spPr>
          <a:xfrm>
            <a:off x="566928" y="4876800"/>
            <a:ext cx="11057839" cy="813181"/>
          </a:xfrm>
          <a:prstGeom prst="roundRect">
            <a:avLst>
              <a:gd name="adj" fmla="val 8996"/>
            </a:avLst>
          </a:prstGeom>
          <a:solidFill>
            <a:srgbClr val="25395F"/>
          </a:solidFill>
          <a:ln w="12700">
            <a:solidFill>
              <a:srgbClr val="25395F"/>
            </a:solidFill>
            <a:prstDash val="solid"/>
          </a:ln>
        </p:spPr>
      </p:sp>
      <p:sp>
        <p:nvSpPr>
          <p:cNvPr id="21" name="Shape 15"/>
          <p:cNvSpPr/>
          <p:nvPr/>
        </p:nvSpPr>
        <p:spPr>
          <a:xfrm>
            <a:off x="859536" y="5082223"/>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202923"/>
            <a:ext cx="160934" cy="160934"/>
          </a:xfrm>
          <a:prstGeom prst="rect">
            <a:avLst/>
          </a:prstGeom>
        </p:spPr>
      </p:pic>
      <p:sp>
        <p:nvSpPr>
          <p:cNvPr id="23" name="Text 16"/>
          <p:cNvSpPr/>
          <p:nvPr/>
        </p:nvSpPr>
        <p:spPr>
          <a:xfrm>
            <a:off x="1444752" y="5016690"/>
            <a:ext cx="9997135"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角色道德使律师的行为在一定范围内免于一般道德归责，但绝不包括伪造证据、教唆伪证等越界行为——《律师法》第四十条即为其硬边界。</a:t>
            </a:r>
            <a:endParaRPr lang="en-US" sz="1400" dirty="0"/>
          </a:p>
        </p:txBody>
      </p:sp>
      <p:sp>
        <p:nvSpPr>
          <p:cNvPr id="24" name="Shape 17"/>
          <p:cNvSpPr/>
          <p:nvPr/>
        </p:nvSpPr>
        <p:spPr>
          <a:xfrm>
            <a:off x="566928" y="5827141"/>
            <a:ext cx="11057839" cy="555371"/>
          </a:xfrm>
          <a:prstGeom prst="roundRect">
            <a:avLst>
              <a:gd name="adj" fmla="val 13172"/>
            </a:avLst>
          </a:prstGeom>
          <a:solidFill>
            <a:srgbClr val="25395F"/>
          </a:solidFill>
          <a:ln w="12700">
            <a:solidFill>
              <a:srgbClr val="25395F"/>
            </a:solidFill>
            <a:prstDash val="solid"/>
          </a:ln>
        </p:spPr>
      </p:sp>
      <p:sp>
        <p:nvSpPr>
          <p:cNvPr id="25" name="Shape 18"/>
          <p:cNvSpPr/>
          <p:nvPr/>
        </p:nvSpPr>
        <p:spPr>
          <a:xfrm>
            <a:off x="859536" y="5909437"/>
            <a:ext cx="390779" cy="390779"/>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76770" y="6026671"/>
            <a:ext cx="156312" cy="156312"/>
          </a:xfrm>
          <a:prstGeom prst="rect">
            <a:avLst/>
          </a:prstGeom>
        </p:spPr>
      </p:pic>
      <p:sp>
        <p:nvSpPr>
          <p:cNvPr id="27" name="Text 19"/>
          <p:cNvSpPr/>
          <p:nvPr/>
        </p:nvSpPr>
        <p:spPr>
          <a:xfrm>
            <a:off x="1444752" y="5971477"/>
            <a:ext cx="9997135"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法律职业伦理的评价体系由秩序、自由、正义、效率四项价值构成，伦理判断常常是在四者之间的权衡。</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第4课时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法律职业伦理的渊源、体系与中外发展</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规范从哪里来？效力层级如何排列？当规范之间冲突时应当适用哪一个？</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我国法律职业伦理规范的五个效力层级</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律师、法官、检察官三大规范体系的具体构成</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国际文件与域外经验：ABA规则与班加罗尔准则</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规范从哪里来</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一、渊源的概念：规范性与非规范性</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二、我国规范渊源的五个效力层级</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三、律师职业伦理规范体系</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四、法官与检察官职业伦理规范体系</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五、国际文件与域外比较</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六、中国法律职业伦理的历史脉络</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渊源的概念：规范性与非规范性</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法律职业伦理的渊源，即法律职业伦理的表现形式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03</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分类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两类渊源</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规范性渊源（有文本、可援引）</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伦理性规范：《法官法》《检察官法》《律师法》《公证法》等法律中关于职业操守的规定。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行为规范：《法官职业道德基本准则》《法官行为规范》《检察官职业道德基本准则》《律师职业道德和执业纪律规范》《律师执业行为规范》等。</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特点：以成文形式表现，有明确构成要件与法律后果，可以直接援引，可以据以惩戒。</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这是本课程的主要研究对象。</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非规范性渊源（无文本、靠养成）</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法律职业道德习惯：长期实践中形成的不成文做法，如“律师不当庭指责对方律师人品”“法官不在庭外单独接触一方”。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法律职业意识：共同体成员对角色的自我认知与价值信念。</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法律职业礼仪：法庭着装、称谓、进出法庭的礼节、法袍与法槌的使用等。</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特点：不可直接援引惩戒，但塑造着规范的解释与适用，是共同体认同的载体。</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04</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为什么礼仪不是小事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非规范性渊源的功能</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不少同学认为法袍、法槌、称谓这些“形式”无关紧要。恰恰相反，它们承担着实质功能。</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象征功能：法袍使法官从“张某某”变成“法庭”。着装的统一意在提示：作出裁判的不是这个人的私意，而是这个角色所代表的法律。</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约束功能：仪式塑造心理状态。穿上法袍的人，行为方式会不自觉地趋向庄重。这是最低成本的自我约束机制。</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沟通功能：稳定的礼仪降低了误解的可能。当律师起立发言、法官居中而坐，双方对彼此的角色期待是清晰的。</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信赖功能：可见的仪式感是“看得见的正义”的组成部分。一个随意的、缺乏仪式的法庭，很难让当事人相信自己受到了郑重对待。</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所以，礼仪虽不可直接援引，却是职业伦理最日常、最持续的表达形式。</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我国规范渊源的五个效力层级</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从宪法法律到行业规范，层级不同，效力不同，适用规则也不同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效力层级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由高到低的五个层级</a:t>
            </a:r>
            <a:endParaRPr lang="en-US" sz="2800" dirty="0"/>
          </a:p>
        </p:txBody>
      </p:sp>
      <p:sp>
        <p:nvSpPr>
          <p:cNvPr id="4" name="Shape 2"/>
          <p:cNvSpPr/>
          <p:nvPr/>
        </p:nvSpPr>
        <p:spPr>
          <a:xfrm>
            <a:off x="566928" y="1316736"/>
            <a:ext cx="11057839" cy="954888"/>
          </a:xfrm>
          <a:prstGeom prst="roundRect">
            <a:avLst>
              <a:gd name="adj" fmla="val 7661"/>
            </a:avLst>
          </a:prstGeom>
          <a:solidFill>
            <a:srgbClr val="F2F4F8"/>
          </a:solidFill>
          <a:ln w="12700">
            <a:solidFill>
              <a:srgbClr val="F2F4F8"/>
            </a:solidFill>
            <a:prstDash val="solid"/>
          </a:ln>
        </p:spPr>
      </p:sp>
      <p:sp>
        <p:nvSpPr>
          <p:cNvPr id="5" name="Shape 3"/>
          <p:cNvSpPr/>
          <p:nvPr/>
        </p:nvSpPr>
        <p:spPr>
          <a:xfrm>
            <a:off x="841248" y="1556436"/>
            <a:ext cx="475488" cy="475488"/>
          </a:xfrm>
          <a:prstGeom prst="ellipse">
            <a:avLst/>
          </a:prstGeom>
          <a:solidFill>
            <a:srgbClr val="13233F"/>
          </a:solidFill>
          <a:ln w="12700">
            <a:solidFill>
              <a:srgbClr val="13233F"/>
            </a:solidFill>
            <a:prstDash val="solid"/>
          </a:ln>
        </p:spPr>
      </p:sp>
      <p:sp>
        <p:nvSpPr>
          <p:cNvPr id="6" name="Text 4"/>
          <p:cNvSpPr/>
          <p:nvPr/>
        </p:nvSpPr>
        <p:spPr>
          <a:xfrm>
            <a:off x="841248" y="1556436"/>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99616" y="1480490"/>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第一层　宪法与法律</a:t>
            </a:r>
            <a:endParaRPr lang="en-US" sz="1200" dirty="0"/>
          </a:p>
        </p:txBody>
      </p:sp>
      <p:sp>
        <p:nvSpPr>
          <p:cNvPr id="8" name="Text 6"/>
          <p:cNvSpPr/>
          <p:nvPr/>
        </p:nvSpPr>
        <p:spPr>
          <a:xfrm>
            <a:off x="1499616" y="1739570"/>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宪法》关于国家机关职权与公民权利的规定为整体框架；《律师法》《法官法》《检察官法》《公证法》为职业基本法；《刑事诉讼法》《民事诉讼法》《行政诉讼法》中关于辩护、代理、回避、保密的规定亦属之。由全国人大及其常委会制定，效力最高。</a:t>
            </a:r>
            <a:endParaRPr lang="en-US" sz="1000" dirty="0"/>
          </a:p>
        </p:txBody>
      </p:sp>
      <p:sp>
        <p:nvSpPr>
          <p:cNvPr id="9" name="Shape 7"/>
          <p:cNvSpPr/>
          <p:nvPr/>
        </p:nvSpPr>
        <p:spPr>
          <a:xfrm>
            <a:off x="566928" y="2390496"/>
            <a:ext cx="11057839" cy="770738"/>
          </a:xfrm>
          <a:prstGeom prst="roundRect">
            <a:avLst>
              <a:gd name="adj" fmla="val 9491"/>
            </a:avLst>
          </a:prstGeom>
          <a:solidFill>
            <a:srgbClr val="FFFFFF"/>
          </a:solidFill>
          <a:ln w="12700">
            <a:solidFill>
              <a:srgbClr val="D5DBE5"/>
            </a:solidFill>
            <a:prstDash val="solid"/>
          </a:ln>
        </p:spPr>
      </p:sp>
      <p:sp>
        <p:nvSpPr>
          <p:cNvPr id="10" name="Shape 8"/>
          <p:cNvSpPr/>
          <p:nvPr/>
        </p:nvSpPr>
        <p:spPr>
          <a:xfrm>
            <a:off x="841248" y="2538120"/>
            <a:ext cx="475488" cy="475488"/>
          </a:xfrm>
          <a:prstGeom prst="ellipse">
            <a:avLst/>
          </a:prstGeom>
          <a:solidFill>
            <a:srgbClr val="13233F"/>
          </a:solidFill>
          <a:ln w="12700">
            <a:solidFill>
              <a:srgbClr val="13233F"/>
            </a:solidFill>
            <a:prstDash val="solid"/>
          </a:ln>
        </p:spPr>
      </p:sp>
      <p:sp>
        <p:nvSpPr>
          <p:cNvPr id="11" name="Text 9"/>
          <p:cNvSpPr/>
          <p:nvPr/>
        </p:nvSpPr>
        <p:spPr>
          <a:xfrm>
            <a:off x="841248" y="2538120"/>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99616" y="255424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第二层　行政法规与部门规章</a:t>
            </a:r>
            <a:endParaRPr lang="en-US" sz="1200" dirty="0"/>
          </a:p>
        </p:txBody>
      </p:sp>
      <p:sp>
        <p:nvSpPr>
          <p:cNvPr id="13" name="Text 11"/>
          <p:cNvSpPr/>
          <p:nvPr/>
        </p:nvSpPr>
        <p:spPr>
          <a:xfrm>
            <a:off x="1499616" y="2813329"/>
            <a:ext cx="9887407"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如司法部《律师执业管理办法》《律师事务所管理办法》《公证程序规则》等。它们是对《律师法》《公证法》的具体化，规定了准入、监管、行政处罚的具体规则与程序。</a:t>
            </a:r>
            <a:endParaRPr lang="en-US" sz="1000" dirty="0"/>
          </a:p>
        </p:txBody>
      </p:sp>
      <p:sp>
        <p:nvSpPr>
          <p:cNvPr id="14" name="Shape 12"/>
          <p:cNvSpPr/>
          <p:nvPr/>
        </p:nvSpPr>
        <p:spPr>
          <a:xfrm>
            <a:off x="566928" y="3280105"/>
            <a:ext cx="11057839" cy="954888"/>
          </a:xfrm>
          <a:prstGeom prst="roundRect">
            <a:avLst>
              <a:gd name="adj" fmla="val 7661"/>
            </a:avLst>
          </a:prstGeom>
          <a:solidFill>
            <a:srgbClr val="F2F4F8"/>
          </a:solidFill>
          <a:ln w="12700">
            <a:solidFill>
              <a:srgbClr val="F2F4F8"/>
            </a:solidFill>
            <a:prstDash val="solid"/>
          </a:ln>
        </p:spPr>
      </p:sp>
      <p:sp>
        <p:nvSpPr>
          <p:cNvPr id="15" name="Shape 13"/>
          <p:cNvSpPr/>
          <p:nvPr/>
        </p:nvSpPr>
        <p:spPr>
          <a:xfrm>
            <a:off x="841248" y="3519805"/>
            <a:ext cx="475488" cy="475488"/>
          </a:xfrm>
          <a:prstGeom prst="ellipse">
            <a:avLst/>
          </a:prstGeom>
          <a:solidFill>
            <a:srgbClr val="13233F"/>
          </a:solidFill>
          <a:ln w="12700">
            <a:solidFill>
              <a:srgbClr val="13233F"/>
            </a:solidFill>
            <a:prstDash val="solid"/>
          </a:ln>
        </p:spPr>
      </p:sp>
      <p:sp>
        <p:nvSpPr>
          <p:cNvPr id="16" name="Text 14"/>
          <p:cNvSpPr/>
          <p:nvPr/>
        </p:nvSpPr>
        <p:spPr>
          <a:xfrm>
            <a:off x="841248" y="351980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99616" y="344385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第三层　司法解释与司法文件</a:t>
            </a:r>
            <a:endParaRPr lang="en-US" sz="1200" dirty="0"/>
          </a:p>
        </p:txBody>
      </p:sp>
      <p:sp>
        <p:nvSpPr>
          <p:cNvPr id="18" name="Text 16"/>
          <p:cNvSpPr/>
          <p:nvPr/>
        </p:nvSpPr>
        <p:spPr>
          <a:xfrm>
            <a:off x="1499616" y="3702939"/>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如最高人民法院《法官职业道德基本准则》《法官行为规范》《人民法院法庭规则》，最高人民检察院《检察官职业道德基本准则》《人民检察院刑事诉讼规则》，以及“防止干预司法三个规定”的实施办法等。</a:t>
            </a:r>
            <a:endParaRPr lang="en-US" sz="1000" dirty="0"/>
          </a:p>
        </p:txBody>
      </p:sp>
      <p:sp>
        <p:nvSpPr>
          <p:cNvPr id="19" name="Shape 17"/>
          <p:cNvSpPr/>
          <p:nvPr/>
        </p:nvSpPr>
        <p:spPr>
          <a:xfrm>
            <a:off x="566928" y="4353865"/>
            <a:ext cx="11057839" cy="954888"/>
          </a:xfrm>
          <a:prstGeom prst="roundRect">
            <a:avLst>
              <a:gd name="adj" fmla="val 7661"/>
            </a:avLst>
          </a:prstGeom>
          <a:solidFill>
            <a:srgbClr val="FFFFFF"/>
          </a:solidFill>
          <a:ln w="12700">
            <a:solidFill>
              <a:srgbClr val="D5DBE5"/>
            </a:solidFill>
            <a:prstDash val="solid"/>
          </a:ln>
        </p:spPr>
      </p:sp>
      <p:sp>
        <p:nvSpPr>
          <p:cNvPr id="20" name="Shape 18"/>
          <p:cNvSpPr/>
          <p:nvPr/>
        </p:nvSpPr>
        <p:spPr>
          <a:xfrm>
            <a:off x="841248" y="4593565"/>
            <a:ext cx="475488" cy="475488"/>
          </a:xfrm>
          <a:prstGeom prst="ellipse">
            <a:avLst/>
          </a:prstGeom>
          <a:solidFill>
            <a:srgbClr val="13233F"/>
          </a:solidFill>
          <a:ln w="12700">
            <a:solidFill>
              <a:srgbClr val="13233F"/>
            </a:solidFill>
            <a:prstDash val="solid"/>
          </a:ln>
        </p:spPr>
      </p:sp>
      <p:sp>
        <p:nvSpPr>
          <p:cNvPr id="21" name="Text 19"/>
          <p:cNvSpPr/>
          <p:nvPr/>
        </p:nvSpPr>
        <p:spPr>
          <a:xfrm>
            <a:off x="841248" y="459356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99616" y="451761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第四层　行业自律规范</a:t>
            </a:r>
            <a:endParaRPr lang="en-US" sz="1200" dirty="0"/>
          </a:p>
        </p:txBody>
      </p:sp>
      <p:sp>
        <p:nvSpPr>
          <p:cNvPr id="23" name="Text 21"/>
          <p:cNvSpPr/>
          <p:nvPr/>
        </p:nvSpPr>
        <p:spPr>
          <a:xfrm>
            <a:off x="1499616" y="4776699"/>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中华全国律师协会制定的《律师执业行为规范》《律师职业道德基本准则》《律师协会会员违规行为处分规则》《律师办理刑事案件规范》等；地方律协的实施细则。虽非法律，但经法律授权，可据以行业惩戒。</a:t>
            </a:r>
            <a:endParaRPr lang="en-US" sz="1000" dirty="0"/>
          </a:p>
        </p:txBody>
      </p:sp>
      <p:sp>
        <p:nvSpPr>
          <p:cNvPr id="24" name="Shape 22"/>
          <p:cNvSpPr/>
          <p:nvPr/>
        </p:nvSpPr>
        <p:spPr>
          <a:xfrm>
            <a:off x="566928" y="5427624"/>
            <a:ext cx="11057839" cy="954888"/>
          </a:xfrm>
          <a:prstGeom prst="roundRect">
            <a:avLst>
              <a:gd name="adj" fmla="val 7661"/>
            </a:avLst>
          </a:prstGeom>
          <a:solidFill>
            <a:srgbClr val="F2F4F8"/>
          </a:solidFill>
          <a:ln w="12700">
            <a:solidFill>
              <a:srgbClr val="F2F4F8"/>
            </a:solidFill>
            <a:prstDash val="solid"/>
          </a:ln>
        </p:spPr>
      </p:sp>
      <p:sp>
        <p:nvSpPr>
          <p:cNvPr id="25" name="Shape 23"/>
          <p:cNvSpPr/>
          <p:nvPr/>
        </p:nvSpPr>
        <p:spPr>
          <a:xfrm>
            <a:off x="841248" y="5667324"/>
            <a:ext cx="475488" cy="475488"/>
          </a:xfrm>
          <a:prstGeom prst="ellipse">
            <a:avLst/>
          </a:prstGeom>
          <a:solidFill>
            <a:srgbClr val="13233F"/>
          </a:solidFill>
          <a:ln w="12700">
            <a:solidFill>
              <a:srgbClr val="13233F"/>
            </a:solidFill>
            <a:prstDash val="solid"/>
          </a:ln>
        </p:spPr>
      </p:sp>
      <p:sp>
        <p:nvSpPr>
          <p:cNvPr id="26" name="Text 24"/>
          <p:cNvSpPr/>
          <p:nvPr/>
        </p:nvSpPr>
        <p:spPr>
          <a:xfrm>
            <a:off x="841248" y="5667324"/>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1499616" y="5591378"/>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第五层　党内法规与纪律规定</a:t>
            </a:r>
            <a:endParaRPr lang="en-US" sz="1200" dirty="0"/>
          </a:p>
        </p:txBody>
      </p:sp>
      <p:sp>
        <p:nvSpPr>
          <p:cNvPr id="28" name="Text 26"/>
          <p:cNvSpPr/>
          <p:nvPr/>
        </p:nvSpPr>
        <p:spPr>
          <a:xfrm>
            <a:off x="1499616" y="5850458"/>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如《中国共产党纪律处分条例》《关于建立健全惩治和预防腐败体系的意见》以及政法队伍教育整顿的相关规定。对具有党员身份的法律职业人员产生约束，与国家法律规范形成叠加适用。</a:t>
            </a:r>
            <a:endParaRPr lang="en-US" sz="100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07</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适用规则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当规范之间发生冲突时</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上位法优先</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行业规范不得与《律师法》等法律相抵触。若《律师执业行为规范》的某一条款被认为超越了《律师法》的授权范围，应当适用《律师法》。</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新法优先于旧法</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同一位阶的规范，后制定的优先。例如《律师执业行为规范》历经多次修订，应适用现行有效文本，注意查证版本与生效日期。</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特别规定优先于一般规定</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《律师办理刑事案件规范》相对于《律师执业行为规范》属特别规定，在刑事辩护领域优先适用；《律师法》第三十八条与《刑事诉讼法》第四十八条的关系亦需依此分析。</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从严不从宽的实践取向</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当行业规范的要求严于法律时，行业规范仍然有效——因为行业可以对成员提出高于法定底线的要求。反之，行业规范不得降低法定标准。</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08</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律师职业伦理规范体系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这是我国法律职业伦理中规范最密集、层次最完整的一个板块</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09</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律师规范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四部核心规范及其分工</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2374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《律师法》——基本法</a:t>
            </a:r>
            <a:endParaRPr lang="en-US" sz="1400" dirty="0"/>
          </a:p>
        </p:txBody>
      </p:sp>
      <p:sp>
        <p:nvSpPr>
          <p:cNvPr id="8" name="Text 5"/>
          <p:cNvSpPr/>
          <p:nvPr/>
        </p:nvSpPr>
        <p:spPr>
          <a:xfrm>
            <a:off x="1536192" y="1824482"/>
            <a:ext cx="9832543" cy="44196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我国律师制度的基本法，也是律师职业伦理规范的重要组成部分。第四章“律师的业务和权利、义务”与律师执业行为密切相关，是对律师执业行为的具体指引，体现了极强的律师职业伦理规范特征；第六章“法律责任”规定了违反义务的行政处罚。</a:t>
            </a:r>
            <a:endParaRPr lang="en-US" sz="120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2676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《律师执业管理办法》——行政管理</a:t>
            </a:r>
            <a:endParaRPr lang="en-US" sz="1400" dirty="0"/>
          </a:p>
        </p:txBody>
      </p:sp>
      <p:sp>
        <p:nvSpPr>
          <p:cNvPr id="13" name="Text 9"/>
          <p:cNvSpPr/>
          <p:nvPr/>
        </p:nvSpPr>
        <p:spPr>
          <a:xfrm>
            <a:off x="1536192" y="3127502"/>
            <a:ext cx="9832543" cy="44196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司法部规章，是对《律师法》的具体化。其中第四章“律师执业行为规范”对律师执业行为提出明确要求；第五章“司法行政机关的监督管理”规定了司法行政机关的行政处罚权限及程序。侧重于监督与管理。</a:t>
            </a:r>
            <a:endParaRPr lang="en-US" sz="120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2978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《律师执业行为规范》——行业核心规范</a:t>
            </a:r>
            <a:endParaRPr lang="en-US" sz="1400" dirty="0"/>
          </a:p>
        </p:txBody>
      </p:sp>
      <p:sp>
        <p:nvSpPr>
          <p:cNvPr id="18" name="Text 13"/>
          <p:cNvSpPr/>
          <p:nvPr/>
        </p:nvSpPr>
        <p:spPr>
          <a:xfrm>
            <a:off x="1536192" y="4430522"/>
            <a:ext cx="9832543" cy="44196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立法目的虽与《律师执业管理办法》相类似，但后者更突出对律师的监督管理，而《律师执业行为规范》更注重规范律师行为，目前是我国律师职业最为重要的职业伦理规范。第二章“律师执业基本行为规范”对律师职业的基本价值取向、理想追求等带有强烈伦理性的内容作出规定。</a:t>
            </a:r>
            <a:endParaRPr lang="en-US" sz="120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3280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《律师职业道德基本准则》——理念宣示</a:t>
            </a:r>
            <a:endParaRPr lang="en-US" sz="1400" dirty="0"/>
          </a:p>
        </p:txBody>
      </p:sp>
      <p:sp>
        <p:nvSpPr>
          <p:cNvPr id="23" name="Text 17"/>
          <p:cNvSpPr/>
          <p:nvPr/>
        </p:nvSpPr>
        <p:spPr>
          <a:xfrm>
            <a:off x="1536192" y="5733542"/>
            <a:ext cx="9832543" cy="44196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中华全国律师协会依据司法部《关于进一步加强律师职业道德建设的意见》制定。属行业规定，具有很强的概括性与抽象性，主要发挥价值引领与理念宣示功能，不宜直接作为惩戒依据。</a:t>
            </a:r>
            <a:endParaRPr lang="en-US" sz="12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10</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配套规范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律师协会制定的其他规范</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除上述四部核心规范外，中华全国律师协会还制定了一系列配套规范，共同构成律师职业伦理规范的组成部分。</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《律师协会会员违规行为处分规则》——行业惩戒的程序法与处分种类的依据。</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《律师职业道德和执业纪律规范》——较早制定的综合性规范，仍具参考价值。</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《律师办理刑事案件规范》——刑事辩护领域的操作指引，涉及会见、阅卷、调查取证、质证等具体环节的行为界限。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《律师业务推广行为规则》——规范广告宣传、媒体发言、案件推介等行为。</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《律师执业风险防范指引》《律师承办民事诉讼案件业务操作指引》等业务规范——虽以“操作”为名，实含大量伦理要求。</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实务提示：律协规范体系庞杂且更新频繁。执业时请务必核对现行有效文本与修订日期，不可凭记忆援引。</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伦理性条款示例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《律师法》中的伦理条款</a:t>
            </a:r>
            <a:endParaRPr lang="en-US" sz="2800" dirty="0"/>
          </a:p>
        </p:txBody>
      </p:sp>
      <p:sp>
        <p:nvSpPr>
          <p:cNvPr id="4" name="Shape 2"/>
          <p:cNvSpPr/>
          <p:nvPr/>
        </p:nvSpPr>
        <p:spPr>
          <a:xfrm>
            <a:off x="566928" y="1316736"/>
            <a:ext cx="11057839" cy="1486472"/>
          </a:xfrm>
          <a:prstGeom prst="roundRect">
            <a:avLst>
              <a:gd name="adj" fmla="val 6151"/>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《律师法》第二条第二款</a:t>
            </a:r>
            <a:endParaRPr lang="en-US" sz="1500" dirty="0"/>
          </a:p>
        </p:txBody>
      </p:sp>
      <p:sp>
        <p:nvSpPr>
          <p:cNvPr id="8" name="Text 6"/>
          <p:cNvSpPr/>
          <p:nvPr/>
        </p:nvSpPr>
        <p:spPr>
          <a:xfrm>
            <a:off x="960120" y="1956816"/>
            <a:ext cx="10271455" cy="626936"/>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律师应当维护当事人合法权益，维护法律正确实施，维护社会公平和正义。</a:t>
            </a:r>
            <a:endParaRPr lang="en-US" sz="1550" dirty="0"/>
          </a:p>
        </p:txBody>
      </p:sp>
      <p:sp>
        <p:nvSpPr>
          <p:cNvPr id="9" name="Shape 7"/>
          <p:cNvSpPr/>
          <p:nvPr/>
        </p:nvSpPr>
        <p:spPr>
          <a:xfrm>
            <a:off x="566928" y="2986088"/>
            <a:ext cx="11057839" cy="1781747"/>
          </a:xfrm>
          <a:prstGeom prst="roundRect">
            <a:avLst>
              <a:gd name="adj" fmla="val 5132"/>
            </a:avLst>
          </a:prstGeom>
          <a:solidFill>
            <a:srgbClr val="F6F1E8"/>
          </a:solidFill>
          <a:ln w="12700">
            <a:solidFill>
              <a:srgbClr val="F6F1E8"/>
            </a:solidFill>
            <a:prstDash val="solid"/>
          </a:ln>
        </p:spPr>
      </p:sp>
      <p:sp>
        <p:nvSpPr>
          <p:cNvPr id="10" name="Shape 8"/>
          <p:cNvSpPr/>
          <p:nvPr/>
        </p:nvSpPr>
        <p:spPr>
          <a:xfrm>
            <a:off x="877824" y="3223832"/>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2383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20554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《律师法》第三条第二、三、四款</a:t>
            </a:r>
            <a:endParaRPr lang="en-US" sz="1500" dirty="0"/>
          </a:p>
        </p:txBody>
      </p:sp>
      <p:sp>
        <p:nvSpPr>
          <p:cNvPr id="13" name="Text 11"/>
          <p:cNvSpPr/>
          <p:nvPr/>
        </p:nvSpPr>
        <p:spPr>
          <a:xfrm>
            <a:off x="960120" y="3626168"/>
            <a:ext cx="10271455" cy="922211"/>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律师执业必须以事实为根据，以法律为准绳。</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律师执业应当接受国家、社会和当事人的监督。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律师依法执业受法律保护，任何组织和个人不得侵害律师的合法权益。</a:t>
            </a:r>
            <a:endParaRPr lang="en-US" sz="15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二条第二款的“三个维护”是律师职业伦理的总纲。三者在绝大多数案件中一致，但在个别情形下存在张力——例如当事人要求作虚假陈述时，维护当事人“合法”权益与维护法律正确实施的关系如何处理？注意条文用的是“合法权益”，这四个字本身就划定了忠诚义务的边界。</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法官与检察官职业伦理规范体系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公权力行使者的伦理规范，在结构与重心上与律师规范有明显差异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13</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法官规范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法官职业伦理的三部核心规范</a:t>
            </a:r>
            <a:endParaRPr lang="en-US" sz="2800" dirty="0"/>
          </a:p>
        </p:txBody>
      </p:sp>
      <p:sp>
        <p:nvSpPr>
          <p:cNvPr id="4" name="Shape 2"/>
          <p:cNvSpPr/>
          <p:nvPr/>
        </p:nvSpPr>
        <p:spPr>
          <a:xfrm>
            <a:off x="566928" y="1316736"/>
            <a:ext cx="11057839" cy="1867281"/>
          </a:xfrm>
          <a:prstGeom prst="roundRect">
            <a:avLst>
              <a:gd name="adj" fmla="val 3918"/>
            </a:avLst>
          </a:prstGeom>
          <a:solidFill>
            <a:srgbClr val="F2F4F8"/>
          </a:solidFill>
          <a:ln w="12700">
            <a:solidFill>
              <a:srgbClr val="F2F4F8"/>
            </a:solidFill>
            <a:prstDash val="solid"/>
          </a:ln>
        </p:spPr>
      </p:sp>
      <p:sp>
        <p:nvSpPr>
          <p:cNvPr id="5" name="Shape 3"/>
          <p:cNvSpPr/>
          <p:nvPr/>
        </p:nvSpPr>
        <p:spPr>
          <a:xfrm>
            <a:off x="841248" y="1994344"/>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47964"/>
            <a:ext cx="204826" cy="204826"/>
          </a:xfrm>
          <a:prstGeom prst="rect">
            <a:avLst/>
          </a:prstGeom>
        </p:spPr>
      </p:pic>
      <p:sp>
        <p:nvSpPr>
          <p:cNvPr id="7" name="Text 4"/>
          <p:cNvSpPr/>
          <p:nvPr/>
        </p:nvSpPr>
        <p:spPr>
          <a:xfrm>
            <a:off x="1536192" y="152723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《法官法》（2019年修订施行）</a:t>
            </a:r>
            <a:endParaRPr lang="en-US" sz="1650" dirty="0"/>
          </a:p>
        </p:txBody>
      </p:sp>
      <p:sp>
        <p:nvSpPr>
          <p:cNvPr id="8" name="Text 5"/>
          <p:cNvSpPr/>
          <p:nvPr/>
        </p:nvSpPr>
        <p:spPr>
          <a:xfrm>
            <a:off x="1536192" y="1868615"/>
            <a:ext cx="9832543" cy="110490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十条规定法官应当履行的义务，第二十二条规定禁止兼职与营利性活动，第四十六条列举惩戒事由，第四十八条至第五十一条规定法官惩戒委员会及其程序。第十条要求法官严格遵守宪法和法律，秉公办案，不得徇私枉法；依法保障当事人的诉讼权利；维护国家利益、社会公共利益，维护个人和组织的合法权益；清正廉明，忠于职守，遵守纪律，恪守职业道德。</a:t>
            </a:r>
            <a:endParaRPr lang="en-US" sz="1500" dirty="0"/>
          </a:p>
        </p:txBody>
      </p:sp>
      <p:sp>
        <p:nvSpPr>
          <p:cNvPr id="9" name="Shape 6"/>
          <p:cNvSpPr/>
          <p:nvPr/>
        </p:nvSpPr>
        <p:spPr>
          <a:xfrm>
            <a:off x="566928" y="3330321"/>
            <a:ext cx="11057839" cy="1591056"/>
          </a:xfrm>
          <a:prstGeom prst="roundRect">
            <a:avLst>
              <a:gd name="adj" fmla="val 4598"/>
            </a:avLst>
          </a:prstGeom>
          <a:solidFill>
            <a:srgbClr val="FFFFFF"/>
          </a:solidFill>
          <a:ln w="12700">
            <a:solidFill>
              <a:srgbClr val="D5DBE5"/>
            </a:solidFill>
            <a:prstDash val="solid"/>
          </a:ln>
        </p:spPr>
      </p:sp>
      <p:sp>
        <p:nvSpPr>
          <p:cNvPr id="10" name="Shape 7"/>
          <p:cNvSpPr/>
          <p:nvPr/>
        </p:nvSpPr>
        <p:spPr>
          <a:xfrm>
            <a:off x="841248" y="3869817"/>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4023436"/>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《法官行为规范》（2010年修订）</a:t>
            </a:r>
            <a:endParaRPr lang="en-US" sz="1650" dirty="0"/>
          </a:p>
        </p:txBody>
      </p:sp>
      <p:sp>
        <p:nvSpPr>
          <p:cNvPr id="13" name="Text 9"/>
          <p:cNvSpPr/>
          <p:nvPr/>
        </p:nvSpPr>
        <p:spPr>
          <a:xfrm>
            <a:off x="1536192" y="388220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比起《法官法》更为具体，主要体现在对法官的行为控制上，从立案到涉诉信访，涵盖了法官职务行为的方方面面，还包括法官的非职务行为与业外活动。第一章“一般规定”给出了一组关键词：忠诚坚定、公正司法、高效办案、清正廉洁、一心为民、严守纪律、敬业奉献、加强修养——可视为法官职业伦理的基本要求。</a:t>
            </a:r>
            <a:endParaRPr lang="en-US" sz="1500" dirty="0"/>
          </a:p>
        </p:txBody>
      </p:sp>
      <p:sp>
        <p:nvSpPr>
          <p:cNvPr id="14" name="Shape 10"/>
          <p:cNvSpPr/>
          <p:nvPr/>
        </p:nvSpPr>
        <p:spPr>
          <a:xfrm>
            <a:off x="566928" y="5067681"/>
            <a:ext cx="11057839" cy="1314831"/>
          </a:xfrm>
          <a:prstGeom prst="roundRect">
            <a:avLst>
              <a:gd name="adj" fmla="val 5564"/>
            </a:avLst>
          </a:prstGeom>
          <a:solidFill>
            <a:srgbClr val="F2F4F8"/>
          </a:solidFill>
          <a:ln w="12700">
            <a:solidFill>
              <a:srgbClr val="F2F4F8"/>
            </a:solidFill>
            <a:prstDash val="solid"/>
          </a:ln>
        </p:spPr>
      </p:sp>
      <p:sp>
        <p:nvSpPr>
          <p:cNvPr id="15" name="Shape 11"/>
          <p:cNvSpPr/>
          <p:nvPr/>
        </p:nvSpPr>
        <p:spPr>
          <a:xfrm>
            <a:off x="841248" y="5469064"/>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622684"/>
            <a:ext cx="204826" cy="204826"/>
          </a:xfrm>
          <a:prstGeom prst="rect">
            <a:avLst/>
          </a:prstGeom>
        </p:spPr>
      </p:pic>
      <p:sp>
        <p:nvSpPr>
          <p:cNvPr id="17" name="Text 12"/>
          <p:cNvSpPr/>
          <p:nvPr/>
        </p:nvSpPr>
        <p:spPr>
          <a:xfrm>
            <a:off x="1536192" y="527818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《法官职业道德基本准则》（2010年修订）</a:t>
            </a:r>
            <a:endParaRPr lang="en-US" sz="1650" dirty="0"/>
          </a:p>
        </p:txBody>
      </p:sp>
      <p:sp>
        <p:nvSpPr>
          <p:cNvPr id="18" name="Text 13"/>
          <p:cNvSpPr/>
          <p:nvPr/>
        </p:nvSpPr>
        <p:spPr>
          <a:xfrm>
            <a:off x="1536192" y="561956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共七章三十条。核心是公正、廉洁、为民；基本要求为五项：忠诚司法事业、保证司法公正、确保司法廉洁、坚持司法为民、维护司法形象。从框架内容上看，它是对《法官行为规范》第一章一般规定的具体化与理念提升。</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14</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检察官规范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《检察官职业道德基本准则》：五条五个关键词</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最高人民检察院《中华人民共和国检察官职业道德基本准则》（2016年12月修订印发）</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第一条　坚持忠诚品格，永葆政治本色。</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第二条　坚持为民宗旨，保障人民权益。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第三条　坚持担当精神，强化法律监督。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第四条　坚持公正理念，维护法制统一。</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第五条　坚持廉洁操守，自觉接受监督。</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2016年修订的《准则》不分章节，仅五条，简明地点出忠诚、为民、担当、公正、廉洁五项基本要求。相较2009年试行版的“忠诚、公正、清廉、文明”四个关键词，新增“为民”与“担当”，删去“文明”——这一调整反映了检察机关法律监督职能强化的制度背景。此外，《检察官法》第五条、第十条，以及《检察人员纪律处分条例》构成检察官伦理规范的其他重要部分。</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结构比较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三类规范体系的重心差异</a:t>
            </a:r>
            <a:endParaRPr lang="en-US" sz="2800" dirty="0"/>
          </a:p>
        </p:txBody>
      </p:sp>
      <p:sp>
        <p:nvSpPr>
          <p:cNvPr id="4" name="Shape 2"/>
          <p:cNvSpPr/>
          <p:nvPr/>
        </p:nvSpPr>
        <p:spPr>
          <a:xfrm>
            <a:off x="566928" y="1523683"/>
            <a:ext cx="3527450" cy="4651883"/>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41248" y="1779715"/>
            <a:ext cx="2978810"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7797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律师规范：以“禁止”为主</a:t>
            </a:r>
            <a:endParaRPr lang="en-US" sz="1600" dirty="0"/>
          </a:p>
        </p:txBody>
      </p:sp>
      <p:sp>
        <p:nvSpPr>
          <p:cNvPr id="7" name="Text 5"/>
          <p:cNvSpPr/>
          <p:nvPr/>
        </p:nvSpPr>
        <p:spPr>
          <a:xfrm>
            <a:off x="932688"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大量使用“不得……”的禁止性表述。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重心在于：忠诚义务、保密、利益冲突、收费、争讼行为界限。</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规范最为细密，可操作性最强。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原因：律师面向市场，行为空间大，需要明确的行为边界。</a:t>
            </a:r>
            <a:endParaRPr lang="en-US" sz="1450" dirty="0"/>
          </a:p>
        </p:txBody>
      </p:sp>
      <p:sp>
        <p:nvSpPr>
          <p:cNvPr id="8" name="Shape 6"/>
          <p:cNvSpPr/>
          <p:nvPr/>
        </p:nvSpPr>
        <p:spPr>
          <a:xfrm>
            <a:off x="4332122" y="1523683"/>
            <a:ext cx="3527450" cy="4651883"/>
          </a:xfrm>
          <a:prstGeom prst="roundRect">
            <a:avLst>
              <a:gd name="adj" fmla="val 2592"/>
            </a:avLst>
          </a:prstGeom>
          <a:solidFill>
            <a:srgbClr val="F6F1E8"/>
          </a:solidFill>
          <a:ln w="12700">
            <a:solidFill>
              <a:srgbClr val="F6F1E8"/>
            </a:solidFill>
            <a:prstDash val="solid"/>
          </a:ln>
        </p:spPr>
      </p:sp>
      <p:sp>
        <p:nvSpPr>
          <p:cNvPr id="9" name="Shape 7"/>
          <p:cNvSpPr/>
          <p:nvPr/>
        </p:nvSpPr>
        <p:spPr>
          <a:xfrm>
            <a:off x="4606442" y="1779715"/>
            <a:ext cx="2978810"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4606442" y="1779715"/>
            <a:ext cx="2978810" cy="512064"/>
          </a:xfrm>
          <a:prstGeom prst="rect">
            <a:avLst/>
          </a:prstGeom>
          <a:noFill/>
          <a:ln/>
        </p:spPr>
        <p:txBody>
          <a:bodyPr wrap="square" lIns="0" tIns="0" rIns="0" bIns="0" rtlCol="0" anchor="ctr"/>
          <a:lstStyle/>
          <a:p>
            <a:pPr algn="ctr" indent="0" marL="0">
              <a:buNone/>
            </a:pPr>
            <a:r>
              <a:rPr lang="en-US" sz="1550" b="1" dirty="0">
                <a:solidFill>
                  <a:srgbClr val="FFFFFF"/>
                </a:solidFill>
                <a:latin typeface="微软雅黑" pitchFamily="34" charset="0"/>
                <a:ea typeface="微软雅黑" pitchFamily="34" charset="-122"/>
                <a:cs typeface="微软雅黑" pitchFamily="34" charset="-120"/>
              </a:rPr>
              <a:t>法官规范：以“品格+行为”并重</a:t>
            </a:r>
            <a:endParaRPr lang="en-US" sz="1550" dirty="0"/>
          </a:p>
        </p:txBody>
      </p:sp>
      <p:sp>
        <p:nvSpPr>
          <p:cNvPr id="11" name="Text 9"/>
          <p:cNvSpPr/>
          <p:nvPr/>
        </p:nvSpPr>
        <p:spPr>
          <a:xfrm>
            <a:off x="4697882"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既有“忠诚司法事业”等品格要求，也有涵盖立案至信访全流程的行为指引。</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重心在于：独立、中立、回避、廉洁、司法形象、职外行为限制。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特别强调职外行为——这是与律师规范最大的差异之一。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原因：法官行使裁判权，公信力依赖于全方位的可信赖形象。</a:t>
            </a:r>
            <a:endParaRPr lang="en-US" sz="1450" dirty="0"/>
          </a:p>
        </p:txBody>
      </p:sp>
      <p:sp>
        <p:nvSpPr>
          <p:cNvPr id="12" name="Shape 10"/>
          <p:cNvSpPr/>
          <p:nvPr/>
        </p:nvSpPr>
        <p:spPr>
          <a:xfrm>
            <a:off x="8097317" y="1523683"/>
            <a:ext cx="3527450" cy="4651883"/>
          </a:xfrm>
          <a:prstGeom prst="roundRect">
            <a:avLst>
              <a:gd name="adj" fmla="val 2592"/>
            </a:avLst>
          </a:prstGeom>
          <a:solidFill>
            <a:srgbClr val="ECF3F2"/>
          </a:solidFill>
          <a:ln w="12700">
            <a:solidFill>
              <a:srgbClr val="ECF3F2"/>
            </a:solidFill>
            <a:prstDash val="solid"/>
          </a:ln>
        </p:spPr>
      </p:sp>
      <p:sp>
        <p:nvSpPr>
          <p:cNvPr id="13" name="Shape 11"/>
          <p:cNvSpPr/>
          <p:nvPr/>
        </p:nvSpPr>
        <p:spPr>
          <a:xfrm>
            <a:off x="8371637" y="1779715"/>
            <a:ext cx="2978810" cy="512064"/>
          </a:xfrm>
          <a:prstGeom prst="roundRect">
            <a:avLst>
              <a:gd name="adj" fmla="val 17857"/>
            </a:avLst>
          </a:prstGeom>
          <a:solidFill>
            <a:srgbClr val="2F6E6A"/>
          </a:solidFill>
          <a:ln w="12700">
            <a:solidFill>
              <a:srgbClr val="2F6E6A"/>
            </a:solidFill>
            <a:prstDash val="solid"/>
          </a:ln>
        </p:spPr>
      </p:sp>
      <p:sp>
        <p:nvSpPr>
          <p:cNvPr id="14" name="Text 12"/>
          <p:cNvSpPr/>
          <p:nvPr/>
        </p:nvSpPr>
        <p:spPr>
          <a:xfrm>
            <a:off x="8371637" y="1779715"/>
            <a:ext cx="2978810" cy="512064"/>
          </a:xfrm>
          <a:prstGeom prst="rect">
            <a:avLst/>
          </a:prstGeom>
          <a:noFill/>
          <a:ln/>
        </p:spPr>
        <p:txBody>
          <a:bodyPr wrap="square" lIns="0" tIns="0" rIns="0" bIns="0" rtlCol="0" anchor="ctr"/>
          <a:lstStyle/>
          <a:p>
            <a:pPr algn="ctr" indent="0" marL="0">
              <a:buNone/>
            </a:pPr>
            <a:r>
              <a:rPr lang="en-US" sz="1550" b="1" dirty="0">
                <a:solidFill>
                  <a:srgbClr val="FFFFFF"/>
                </a:solidFill>
                <a:latin typeface="微软雅黑" pitchFamily="34" charset="0"/>
                <a:ea typeface="微软雅黑" pitchFamily="34" charset="-122"/>
                <a:cs typeface="微软雅黑" pitchFamily="34" charset="-120"/>
              </a:rPr>
              <a:t>检察官规范：以“理念”为纲</a:t>
            </a:r>
            <a:endParaRPr lang="en-US" sz="1550" dirty="0"/>
          </a:p>
        </p:txBody>
      </p:sp>
      <p:sp>
        <p:nvSpPr>
          <p:cNvPr id="15" name="Text 13"/>
          <p:cNvSpPr/>
          <p:nvPr/>
        </p:nvSpPr>
        <p:spPr>
          <a:xfrm>
            <a:off x="8463077"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五条准则高度凝练，主要发挥价值引领功能。</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重心在于：客观公正义务、法律监督职责、忠诚与担当。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具体行为规范散见于《检察官法》《人民检察院刑事诉讼规则》《检察人员纪律处分条例》。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原因：检察官兼具追诉者与监督者双重身份，理念统摄比条文罗列更为必要。</a:t>
            </a:r>
            <a:endParaRPr lang="en-US" sz="1450" dirty="0"/>
          </a:p>
        </p:txBody>
      </p:sp>
      <p:sp>
        <p:nvSpPr>
          <p:cNvPr id="16"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16</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国际文件与域外比较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了解他人的选择，才能理解自己的规则为什么这样设计</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17</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国际文件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四份需要知道的国际文件</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《关于律师作用的基本原则》</a:t>
            </a:r>
            <a:endParaRPr lang="en-US" sz="1400" dirty="0"/>
          </a:p>
        </p:txBody>
      </p:sp>
      <p:sp>
        <p:nvSpPr>
          <p:cNvPr id="8" name="Text 5"/>
          <p:cNvSpPr/>
          <p:nvPr/>
        </p:nvSpPr>
        <p:spPr>
          <a:xfrm>
            <a:off x="886968" y="2581402"/>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1990年第八届联合国预防犯罪和罪犯待遇大会通过。确立了获得律师帮助的权利、律师执业的保障（不因履行职责而受威胁或制裁）、律师的义务与职业自律组织的作用。是律师执业权利保障的国际基准。</a:t>
            </a:r>
            <a:endParaRPr lang="en-US" sz="11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《班加罗尔司法行为准则》</a:t>
            </a:r>
            <a:endParaRPr lang="en-US" sz="1400" dirty="0"/>
          </a:p>
        </p:txBody>
      </p:sp>
      <p:sp>
        <p:nvSpPr>
          <p:cNvPr id="13" name="Text 9"/>
          <p:cNvSpPr/>
          <p:nvPr/>
        </p:nvSpPr>
        <p:spPr>
          <a:xfrm>
            <a:off x="6534760" y="2581402"/>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2002年制定，2006年经联合国经社理事会认可。确立法官行为的六项价值：独立、中立（不偏不倚）、正直、正当、平等、称职与勤勉。是各国法官伦理规范的重要参照，我国《法官职业道德基本准则》的修订亦受其影响。</a:t>
            </a:r>
            <a:endParaRPr lang="en-US" sz="11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ABA《律师职业行为示范规则》</a:t>
            </a:r>
            <a:endParaRPr lang="en-US" sz="1400" dirty="0"/>
          </a:p>
        </p:txBody>
      </p:sp>
      <p:sp>
        <p:nvSpPr>
          <p:cNvPr id="18" name="Text 13"/>
          <p:cNvSpPr/>
          <p:nvPr/>
        </p:nvSpPr>
        <p:spPr>
          <a:xfrm>
            <a:off x="886968" y="5224018"/>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美国律师协会制定。自1908年《职业伦理准则》、1969年《职业责任示范守则》演进而来，1983年形成《示范规则》并持续修订。采“规则+评注”体例，逐条给出适用说明与例外，是全球最具影响力的律师伦理文本。</a:t>
            </a:r>
            <a:endParaRPr lang="en-US" sz="11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IBA《国际律师职业行为准则》</a:t>
            </a:r>
            <a:endParaRPr lang="en-US" sz="1400" dirty="0"/>
          </a:p>
        </p:txBody>
      </p:sp>
      <p:sp>
        <p:nvSpPr>
          <p:cNvPr id="23" name="Text 17"/>
          <p:cNvSpPr/>
          <p:nvPr/>
        </p:nvSpPr>
        <p:spPr>
          <a:xfrm>
            <a:off x="6534760" y="5224018"/>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国际律师协会制定，为跨境法律服务提供最低限度的共同标准，涉及独立性、保密、利益冲突、收费等核心议题。随涉外法律服务发展，其重要性日益上升。</a:t>
            </a:r>
            <a:endParaRPr lang="en-US" sz="11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18</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两大法系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英美法系与大陆法系的规范风格</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英美法系：行业自治 + 判例塑造</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以律师协会自治为主，规范由行业制定，法院通过惩戒判例予以塑造。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规则体例细密，采“规则+评注+参考”结构，重视具体情境的类型化。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强调当事人自治与知情同意——大量利益冲突可经充分披露并获书面同意后豁免。</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违反后果以吊销执照（disbarment）、暂停执业为核心。</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大陆法系：立法规定 + 行业细化</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以成文法直接规定基本义务，如德国《联邦律师法》(BRAO)、《律师职业规则》(BORA)。</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规则表述较为概括，倚重学理解释与行业惯例填补。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更强调律师作为“司法机关组成部分”（Organ der Rechtspflege）的公共角色，而非纯粹的当事人代理人。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设有律师法院或纪律法庭，惩戒程序具有较强的司法化特征。</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19</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中国法律职业伦理的历史脉络</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理解今天的规范，需要知道它从哪里来</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20</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历史演进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从官箴文化到现代职业伦理</a:t>
            </a:r>
            <a:endParaRPr lang="en-US" sz="2800" dirty="0"/>
          </a:p>
        </p:txBody>
      </p:sp>
      <p:sp>
        <p:nvSpPr>
          <p:cNvPr id="4" name="Shape 2"/>
          <p:cNvSpPr/>
          <p:nvPr/>
        </p:nvSpPr>
        <p:spPr>
          <a:xfrm>
            <a:off x="566928" y="1316736"/>
            <a:ext cx="11057839" cy="954888"/>
          </a:xfrm>
          <a:prstGeom prst="roundRect">
            <a:avLst>
              <a:gd name="adj" fmla="val 7661"/>
            </a:avLst>
          </a:prstGeom>
          <a:solidFill>
            <a:srgbClr val="F2F4F8"/>
          </a:solidFill>
          <a:ln w="12700">
            <a:solidFill>
              <a:srgbClr val="F2F4F8"/>
            </a:solidFill>
            <a:prstDash val="solid"/>
          </a:ln>
        </p:spPr>
      </p:sp>
      <p:sp>
        <p:nvSpPr>
          <p:cNvPr id="5" name="Shape 3"/>
          <p:cNvSpPr/>
          <p:nvPr/>
        </p:nvSpPr>
        <p:spPr>
          <a:xfrm>
            <a:off x="841248" y="1556436"/>
            <a:ext cx="475488" cy="475488"/>
          </a:xfrm>
          <a:prstGeom prst="ellipse">
            <a:avLst/>
          </a:prstGeom>
          <a:solidFill>
            <a:srgbClr val="13233F"/>
          </a:solidFill>
          <a:ln w="12700">
            <a:solidFill>
              <a:srgbClr val="13233F"/>
            </a:solidFill>
            <a:prstDash val="solid"/>
          </a:ln>
        </p:spPr>
      </p:sp>
      <p:sp>
        <p:nvSpPr>
          <p:cNvPr id="6" name="Text 4"/>
          <p:cNvSpPr/>
          <p:nvPr/>
        </p:nvSpPr>
        <p:spPr>
          <a:xfrm>
            <a:off x="841248" y="1556436"/>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99616" y="1480490"/>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古代：发达的官箴，缺席的律师伦理</a:t>
            </a:r>
            <a:endParaRPr lang="en-US" sz="1200" dirty="0"/>
          </a:p>
        </p:txBody>
      </p:sp>
      <p:sp>
        <p:nvSpPr>
          <p:cNvPr id="8" name="Text 6"/>
          <p:cNvSpPr/>
          <p:nvPr/>
        </p:nvSpPr>
        <p:spPr>
          <a:xfrm>
            <a:off x="1499616" y="1739570"/>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中国古代有极为丰富的司法官德文化：《周礼》的“五听”要求察言观色、审慎断案；宋慈《洗冤集录》强调勘验须亲历亲为、不可假手他人；张养浩《为政忠告》（《三事忠告》）系统论述了为官者的公、慎、勤、廉。但另一方面，代人诉讼的“讼师”长期被污名化为“讼棍”，未能形成独立的职业伦理传统。</a:t>
            </a:r>
            <a:endParaRPr lang="en-US" sz="1000" dirty="0"/>
          </a:p>
        </p:txBody>
      </p:sp>
      <p:sp>
        <p:nvSpPr>
          <p:cNvPr id="9" name="Shape 7"/>
          <p:cNvSpPr/>
          <p:nvPr/>
        </p:nvSpPr>
        <p:spPr>
          <a:xfrm>
            <a:off x="566928" y="2390496"/>
            <a:ext cx="11057839" cy="954888"/>
          </a:xfrm>
          <a:prstGeom prst="roundRect">
            <a:avLst>
              <a:gd name="adj" fmla="val 7661"/>
            </a:avLst>
          </a:prstGeom>
          <a:solidFill>
            <a:srgbClr val="FFFFFF"/>
          </a:solidFill>
          <a:ln w="12700">
            <a:solidFill>
              <a:srgbClr val="D5DBE5"/>
            </a:solidFill>
            <a:prstDash val="solid"/>
          </a:ln>
        </p:spPr>
      </p:sp>
      <p:sp>
        <p:nvSpPr>
          <p:cNvPr id="10" name="Shape 8"/>
          <p:cNvSpPr/>
          <p:nvPr/>
        </p:nvSpPr>
        <p:spPr>
          <a:xfrm>
            <a:off x="841248" y="2630195"/>
            <a:ext cx="475488" cy="475488"/>
          </a:xfrm>
          <a:prstGeom prst="ellipse">
            <a:avLst/>
          </a:prstGeom>
          <a:solidFill>
            <a:srgbClr val="13233F"/>
          </a:solidFill>
          <a:ln w="12700">
            <a:solidFill>
              <a:srgbClr val="13233F"/>
            </a:solidFill>
            <a:prstDash val="solid"/>
          </a:ln>
        </p:spPr>
      </p:sp>
      <p:sp>
        <p:nvSpPr>
          <p:cNvPr id="11" name="Text 9"/>
          <p:cNvSpPr/>
          <p:nvPr/>
        </p:nvSpPr>
        <p:spPr>
          <a:xfrm>
            <a:off x="841248" y="263019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99616" y="255424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近代：律师制度的引入</a:t>
            </a:r>
            <a:endParaRPr lang="en-US" sz="1200" dirty="0"/>
          </a:p>
        </p:txBody>
      </p:sp>
      <p:sp>
        <p:nvSpPr>
          <p:cNvPr id="13" name="Text 11"/>
          <p:cNvSpPr/>
          <p:nvPr/>
        </p:nvSpPr>
        <p:spPr>
          <a:xfrm>
            <a:off x="1499616" y="2813329"/>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1912年北洋政府颁布《律师暂行章程》，中国近代律师制度正式确立，同时规定了律师的宣誓、公会组织与惩戒制度。此后陆续有《律师登录暂行章程》《律师惩戒规则》等。这是中国法律职业伦理成文化的开端。</a:t>
            </a:r>
            <a:endParaRPr lang="en-US" sz="1000" dirty="0"/>
          </a:p>
        </p:txBody>
      </p:sp>
      <p:sp>
        <p:nvSpPr>
          <p:cNvPr id="14" name="Shape 12"/>
          <p:cNvSpPr/>
          <p:nvPr/>
        </p:nvSpPr>
        <p:spPr>
          <a:xfrm>
            <a:off x="566928" y="3464255"/>
            <a:ext cx="11057839" cy="770738"/>
          </a:xfrm>
          <a:prstGeom prst="roundRect">
            <a:avLst>
              <a:gd name="adj" fmla="val 9491"/>
            </a:avLst>
          </a:prstGeom>
          <a:solidFill>
            <a:srgbClr val="F2F4F8"/>
          </a:solidFill>
          <a:ln w="12700">
            <a:solidFill>
              <a:srgbClr val="F2F4F8"/>
            </a:solidFill>
            <a:prstDash val="solid"/>
          </a:ln>
        </p:spPr>
      </p:sp>
      <p:sp>
        <p:nvSpPr>
          <p:cNvPr id="15" name="Shape 13"/>
          <p:cNvSpPr/>
          <p:nvPr/>
        </p:nvSpPr>
        <p:spPr>
          <a:xfrm>
            <a:off x="841248" y="3611880"/>
            <a:ext cx="475488" cy="475488"/>
          </a:xfrm>
          <a:prstGeom prst="ellipse">
            <a:avLst/>
          </a:prstGeom>
          <a:solidFill>
            <a:srgbClr val="13233F"/>
          </a:solidFill>
          <a:ln w="12700">
            <a:solidFill>
              <a:srgbClr val="13233F"/>
            </a:solidFill>
            <a:prstDash val="solid"/>
          </a:ln>
        </p:spPr>
      </p:sp>
      <p:sp>
        <p:nvSpPr>
          <p:cNvPr id="16" name="Text 14"/>
          <p:cNvSpPr/>
          <p:nvPr/>
        </p:nvSpPr>
        <p:spPr>
          <a:xfrm>
            <a:off x="841248" y="3611880"/>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99616" y="362800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1980年：《律师暂行条例》</a:t>
            </a:r>
            <a:endParaRPr lang="en-US" sz="1200" dirty="0"/>
          </a:p>
        </p:txBody>
      </p:sp>
      <p:sp>
        <p:nvSpPr>
          <p:cNvPr id="18" name="Text 16"/>
          <p:cNvSpPr/>
          <p:nvPr/>
        </p:nvSpPr>
        <p:spPr>
          <a:xfrm>
            <a:off x="1499616" y="3887089"/>
            <a:ext cx="9887407"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律师制度恢复重建。律师被定位为“国家法律工作者”，在法律顾问处工作，职业伦理主要表现为纪律要求，尚未形成独立的职业伦理体系。</a:t>
            </a:r>
            <a:endParaRPr lang="en-US" sz="1000" dirty="0"/>
          </a:p>
        </p:txBody>
      </p:sp>
      <p:sp>
        <p:nvSpPr>
          <p:cNvPr id="19" name="Shape 17"/>
          <p:cNvSpPr/>
          <p:nvPr/>
        </p:nvSpPr>
        <p:spPr>
          <a:xfrm>
            <a:off x="566928" y="4353865"/>
            <a:ext cx="11057839" cy="954888"/>
          </a:xfrm>
          <a:prstGeom prst="roundRect">
            <a:avLst>
              <a:gd name="adj" fmla="val 7661"/>
            </a:avLst>
          </a:prstGeom>
          <a:solidFill>
            <a:srgbClr val="FFFFFF"/>
          </a:solidFill>
          <a:ln w="12700">
            <a:solidFill>
              <a:srgbClr val="D5DBE5"/>
            </a:solidFill>
            <a:prstDash val="solid"/>
          </a:ln>
        </p:spPr>
      </p:sp>
      <p:sp>
        <p:nvSpPr>
          <p:cNvPr id="20" name="Shape 18"/>
          <p:cNvSpPr/>
          <p:nvPr/>
        </p:nvSpPr>
        <p:spPr>
          <a:xfrm>
            <a:off x="841248" y="4593565"/>
            <a:ext cx="475488" cy="475488"/>
          </a:xfrm>
          <a:prstGeom prst="ellipse">
            <a:avLst/>
          </a:prstGeom>
          <a:solidFill>
            <a:srgbClr val="13233F"/>
          </a:solidFill>
          <a:ln w="12700">
            <a:solidFill>
              <a:srgbClr val="13233F"/>
            </a:solidFill>
            <a:prstDash val="solid"/>
          </a:ln>
        </p:spPr>
      </p:sp>
      <p:sp>
        <p:nvSpPr>
          <p:cNvPr id="21" name="Text 19"/>
          <p:cNvSpPr/>
          <p:nvPr/>
        </p:nvSpPr>
        <p:spPr>
          <a:xfrm>
            <a:off x="841248" y="459356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99616" y="451761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1996—2007年：《律师法》确立职业属性</a:t>
            </a:r>
            <a:endParaRPr lang="en-US" sz="1200" dirty="0"/>
          </a:p>
        </p:txBody>
      </p:sp>
      <p:sp>
        <p:nvSpPr>
          <p:cNvPr id="23" name="Text 21"/>
          <p:cNvSpPr/>
          <p:nvPr/>
        </p:nvSpPr>
        <p:spPr>
          <a:xfrm>
            <a:off x="1499616" y="4776699"/>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1996年《律师法》颁布，2001年、2007年、2012年、2017年历经修正。律师定位转变为“为社会提供法律服务的执业人员”，独立的职业伦理由此成为必需。行业规范体系随之建立并不断完善。</a:t>
            </a:r>
            <a:endParaRPr lang="en-US" sz="1000" dirty="0"/>
          </a:p>
        </p:txBody>
      </p:sp>
      <p:sp>
        <p:nvSpPr>
          <p:cNvPr id="24" name="Shape 22"/>
          <p:cNvSpPr/>
          <p:nvPr/>
        </p:nvSpPr>
        <p:spPr>
          <a:xfrm>
            <a:off x="566928" y="5427624"/>
            <a:ext cx="11057839" cy="954888"/>
          </a:xfrm>
          <a:prstGeom prst="roundRect">
            <a:avLst>
              <a:gd name="adj" fmla="val 7661"/>
            </a:avLst>
          </a:prstGeom>
          <a:solidFill>
            <a:srgbClr val="F2F4F8"/>
          </a:solidFill>
          <a:ln w="12700">
            <a:solidFill>
              <a:srgbClr val="F2F4F8"/>
            </a:solidFill>
            <a:prstDash val="solid"/>
          </a:ln>
        </p:spPr>
      </p:sp>
      <p:sp>
        <p:nvSpPr>
          <p:cNvPr id="25" name="Shape 23"/>
          <p:cNvSpPr/>
          <p:nvPr/>
        </p:nvSpPr>
        <p:spPr>
          <a:xfrm>
            <a:off x="841248" y="5667324"/>
            <a:ext cx="475488" cy="475488"/>
          </a:xfrm>
          <a:prstGeom prst="ellipse">
            <a:avLst/>
          </a:prstGeom>
          <a:solidFill>
            <a:srgbClr val="13233F"/>
          </a:solidFill>
          <a:ln w="12700">
            <a:solidFill>
              <a:srgbClr val="13233F"/>
            </a:solidFill>
            <a:prstDash val="solid"/>
          </a:ln>
        </p:spPr>
      </p:sp>
      <p:sp>
        <p:nvSpPr>
          <p:cNvPr id="26" name="Text 24"/>
          <p:cNvSpPr/>
          <p:nvPr/>
        </p:nvSpPr>
        <p:spPr>
          <a:xfrm>
            <a:off x="841248" y="5667324"/>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1499616" y="5591378"/>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2010年至今：三大体系并立与持续完善</a:t>
            </a:r>
            <a:endParaRPr lang="en-US" sz="1200" dirty="0"/>
          </a:p>
        </p:txBody>
      </p:sp>
      <p:sp>
        <p:nvSpPr>
          <p:cNvPr id="28" name="Text 26"/>
          <p:cNvSpPr/>
          <p:nvPr/>
        </p:nvSpPr>
        <p:spPr>
          <a:xfrm>
            <a:off x="1499616" y="5850458"/>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2010年最高人民法院修订《法官职业道德基本准则》《法官行为规范》；2016年最高人民检察院修订《检察官职业道德基本准则》；律协持续修订《律师执业行为规范》。2019年《法官法》《检察官法》修订施行，建立法官、检察官惩戒委员会制度。至此，三大职业伦理规范体系基本成型。</a:t>
            </a:r>
            <a:endParaRPr lang="en-US" sz="100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21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规范冲突时如何适用</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适用练习</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两条保密规范之间的差异</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《律师法》第三十八条第二款规定，保密义务的例外为“委托人或者其他人准备或者正在实施危害国家安全、公共安全以及其他严重危害他人人身、财产安全的犯罪事实和信息”。</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《刑事诉讼法》第四十八条规定，辩护律师的告知义务限于“准备或者正在实施危害国家安全、公共安全以及严重危害他人人身安全的犯罪”。</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两相比较：《律师法》多出“财产安全”，且表述为“除外”（即不受保密义务约束）；《刑事诉讼法》则表述为“应当及时告知司法机关”（即负有主动告知义务）。</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设例：某刑事案件辩护过程中，律师得知委托人正在策划一起数额特别巨大的合同诈骗（仅涉财产，不危及人身）。律师应当如何处理？</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两条规范是何种关系？一般法与特别法？</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“除外”与“应当告知”在义务强度上有何区别？</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在刑事辩护场景下应当优先适用哪一条？理由是什么？</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如果是非诉业务中得知同一信息，结论是否不同？</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22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《律师职业道德基本准则》概括性强、抽象度高，能否直接作为行业惩戒的依据？如果不能，它的规范意义何在？</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党内法规对具有党员身份的法官、检察官、律师产生约束，与国家法律规范叠加适用。这种叠加在适用上可能产生哪些问题？应当如何协调？</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英美法系允许大量利益冲突经“充分披露+书面同意”后豁免，我国规范则以刚性禁止为主。你认为哪种模式更适合我国现阶段？请说明理由。</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中国古代有发达的司法官箴文化，却没有律师职业伦理传统。这一历史特征对当代中国法律职业伦理的建构有什么影响？</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23</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第4课时要点回顾</a:t>
            </a:r>
            <a:endParaRPr lang="en-US" sz="3000" dirty="0"/>
          </a:p>
        </p:txBody>
      </p:sp>
      <p:sp>
        <p:nvSpPr>
          <p:cNvPr id="4" name="Shape 2"/>
          <p:cNvSpPr/>
          <p:nvPr/>
        </p:nvSpPr>
        <p:spPr>
          <a:xfrm>
            <a:off x="566928" y="1591056"/>
            <a:ext cx="11057839" cy="684276"/>
          </a:xfrm>
          <a:prstGeom prst="roundRect">
            <a:avLst>
              <a:gd name="adj" fmla="val 10690"/>
            </a:avLst>
          </a:prstGeom>
          <a:solidFill>
            <a:srgbClr val="25395F"/>
          </a:solidFill>
          <a:ln w="12700">
            <a:solidFill>
              <a:srgbClr val="25395F"/>
            </a:solidFill>
            <a:prstDash val="solid"/>
          </a:ln>
        </p:spPr>
      </p:sp>
      <p:sp>
        <p:nvSpPr>
          <p:cNvPr id="5" name="Shape 3"/>
          <p:cNvSpPr/>
          <p:nvPr/>
        </p:nvSpPr>
        <p:spPr>
          <a:xfrm>
            <a:off x="859536" y="1732026"/>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52727"/>
            <a:ext cx="160934" cy="160934"/>
          </a:xfrm>
          <a:prstGeom prst="rect">
            <a:avLst/>
          </a:prstGeom>
        </p:spPr>
      </p:pic>
      <p:sp>
        <p:nvSpPr>
          <p:cNvPr id="7" name="Text 4"/>
          <p:cNvSpPr/>
          <p:nvPr/>
        </p:nvSpPr>
        <p:spPr>
          <a:xfrm>
            <a:off x="1444752" y="1733169"/>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法律职业伦理的渊源分为规范性渊源（法律、规章、司法文件、行业规范）与非规范性渊源（职业习惯、意识、礼仪）；后者虽不可直接援引，却塑造着规范的解释与共同体认同。</a:t>
            </a:r>
            <a:endParaRPr lang="en-US" sz="1050" dirty="0"/>
          </a:p>
        </p:txBody>
      </p:sp>
      <p:sp>
        <p:nvSpPr>
          <p:cNvPr id="8" name="Shape 5"/>
          <p:cNvSpPr/>
          <p:nvPr/>
        </p:nvSpPr>
        <p:spPr>
          <a:xfrm>
            <a:off x="566928" y="2412492"/>
            <a:ext cx="11057839" cy="684276"/>
          </a:xfrm>
          <a:prstGeom prst="roundRect">
            <a:avLst>
              <a:gd name="adj" fmla="val 10690"/>
            </a:avLst>
          </a:prstGeom>
          <a:solidFill>
            <a:srgbClr val="25395F"/>
          </a:solidFill>
          <a:ln w="12700">
            <a:solidFill>
              <a:srgbClr val="25395F"/>
            </a:solidFill>
            <a:prstDash val="solid"/>
          </a:ln>
        </p:spPr>
      </p:sp>
      <p:sp>
        <p:nvSpPr>
          <p:cNvPr id="9" name="Shape 6"/>
          <p:cNvSpPr/>
          <p:nvPr/>
        </p:nvSpPr>
        <p:spPr>
          <a:xfrm>
            <a:off x="859536" y="2553462"/>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674163"/>
            <a:ext cx="160934" cy="160934"/>
          </a:xfrm>
          <a:prstGeom prst="rect">
            <a:avLst/>
          </a:prstGeom>
        </p:spPr>
      </p:pic>
      <p:sp>
        <p:nvSpPr>
          <p:cNvPr id="11" name="Text 7"/>
          <p:cNvSpPr/>
          <p:nvPr/>
        </p:nvSpPr>
        <p:spPr>
          <a:xfrm>
            <a:off x="1444752" y="2554605"/>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我国规范渊源有五个效力层级：宪法与法律—行政法规与规章—司法解释与司法文件—行业自律规范—党内法规。冲突时依上位法优先、新法优先、特别规定优先，并有从严不从宽的实践取向。</a:t>
            </a:r>
            <a:endParaRPr lang="en-US" sz="1050" dirty="0"/>
          </a:p>
        </p:txBody>
      </p:sp>
      <p:sp>
        <p:nvSpPr>
          <p:cNvPr id="12" name="Shape 8"/>
          <p:cNvSpPr/>
          <p:nvPr/>
        </p:nvSpPr>
        <p:spPr>
          <a:xfrm>
            <a:off x="566928" y="3233928"/>
            <a:ext cx="11057839" cy="684276"/>
          </a:xfrm>
          <a:prstGeom prst="roundRect">
            <a:avLst>
              <a:gd name="adj" fmla="val 10690"/>
            </a:avLst>
          </a:prstGeom>
          <a:solidFill>
            <a:srgbClr val="25395F"/>
          </a:solidFill>
          <a:ln w="12700">
            <a:solidFill>
              <a:srgbClr val="25395F"/>
            </a:solidFill>
            <a:prstDash val="solid"/>
          </a:ln>
        </p:spPr>
      </p:sp>
      <p:sp>
        <p:nvSpPr>
          <p:cNvPr id="13" name="Shape 9"/>
          <p:cNvSpPr/>
          <p:nvPr/>
        </p:nvSpPr>
        <p:spPr>
          <a:xfrm>
            <a:off x="859536" y="3374898"/>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495599"/>
            <a:ext cx="160934" cy="160934"/>
          </a:xfrm>
          <a:prstGeom prst="rect">
            <a:avLst/>
          </a:prstGeom>
        </p:spPr>
      </p:pic>
      <p:sp>
        <p:nvSpPr>
          <p:cNvPr id="15" name="Text 10"/>
          <p:cNvSpPr/>
          <p:nvPr/>
        </p:nvSpPr>
        <p:spPr>
          <a:xfrm>
            <a:off x="1444752" y="3376041"/>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律师规范体系以《律师法》为基本法，《律师执业管理办法》侧重行政监管，《律师执业行为规范》为最重要的行业伦理规范，《律师职业道德基本准则》发挥理念宣示功能。</a:t>
            </a:r>
            <a:endParaRPr lang="en-US" sz="1050" dirty="0"/>
          </a:p>
        </p:txBody>
      </p:sp>
      <p:sp>
        <p:nvSpPr>
          <p:cNvPr id="16" name="Shape 11"/>
          <p:cNvSpPr/>
          <p:nvPr/>
        </p:nvSpPr>
        <p:spPr>
          <a:xfrm>
            <a:off x="566928" y="4055364"/>
            <a:ext cx="11057839" cy="684276"/>
          </a:xfrm>
          <a:prstGeom prst="roundRect">
            <a:avLst>
              <a:gd name="adj" fmla="val 10690"/>
            </a:avLst>
          </a:prstGeom>
          <a:solidFill>
            <a:srgbClr val="25395F"/>
          </a:solidFill>
          <a:ln w="12700">
            <a:solidFill>
              <a:srgbClr val="25395F"/>
            </a:solidFill>
            <a:prstDash val="solid"/>
          </a:ln>
        </p:spPr>
      </p:sp>
      <p:sp>
        <p:nvSpPr>
          <p:cNvPr id="17" name="Shape 12"/>
          <p:cNvSpPr/>
          <p:nvPr/>
        </p:nvSpPr>
        <p:spPr>
          <a:xfrm>
            <a:off x="859536" y="4196334"/>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17035"/>
            <a:ext cx="160934" cy="160934"/>
          </a:xfrm>
          <a:prstGeom prst="rect">
            <a:avLst/>
          </a:prstGeom>
        </p:spPr>
      </p:pic>
      <p:sp>
        <p:nvSpPr>
          <p:cNvPr id="19" name="Text 13"/>
          <p:cNvSpPr/>
          <p:nvPr/>
        </p:nvSpPr>
        <p:spPr>
          <a:xfrm>
            <a:off x="1444752" y="4197477"/>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法官规范以《法官法》《法官行为规范》《法官职业道德基本准则》为核心，五项基本要求为忠诚司法事业、保证司法公正、确保司法廉洁、坚持司法为民、维护司法形象；检察官规范以2016年《检察官职业道德基本准则》五条为纲，关键词为忠诚、为民、担当、公正、廉洁。</a:t>
            </a:r>
            <a:endParaRPr lang="en-US" sz="1050" dirty="0"/>
          </a:p>
        </p:txBody>
      </p:sp>
      <p:sp>
        <p:nvSpPr>
          <p:cNvPr id="20" name="Shape 14"/>
          <p:cNvSpPr/>
          <p:nvPr/>
        </p:nvSpPr>
        <p:spPr>
          <a:xfrm>
            <a:off x="566928" y="4876800"/>
            <a:ext cx="11057839" cy="684276"/>
          </a:xfrm>
          <a:prstGeom prst="roundRect">
            <a:avLst>
              <a:gd name="adj" fmla="val 10690"/>
            </a:avLst>
          </a:prstGeom>
          <a:solidFill>
            <a:srgbClr val="25395F"/>
          </a:solidFill>
          <a:ln w="12700">
            <a:solidFill>
              <a:srgbClr val="25395F"/>
            </a:solidFill>
            <a:prstDash val="solid"/>
          </a:ln>
        </p:spPr>
      </p:sp>
      <p:sp>
        <p:nvSpPr>
          <p:cNvPr id="21" name="Shape 15"/>
          <p:cNvSpPr/>
          <p:nvPr/>
        </p:nvSpPr>
        <p:spPr>
          <a:xfrm>
            <a:off x="859536" y="5017770"/>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138471"/>
            <a:ext cx="160934" cy="160934"/>
          </a:xfrm>
          <a:prstGeom prst="rect">
            <a:avLst/>
          </a:prstGeom>
        </p:spPr>
      </p:pic>
      <p:sp>
        <p:nvSpPr>
          <p:cNvPr id="23" name="Text 16"/>
          <p:cNvSpPr/>
          <p:nvPr/>
        </p:nvSpPr>
        <p:spPr>
          <a:xfrm>
            <a:off x="1444752" y="5018913"/>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国际层面须知《关于律师作用的基本原则》《班加罗尔司法行为准则》、ABA《律师职业行为示范规则》与IBA准则；英美法系重行业自治与知情同意，大陆法系重成文规定与律师的公共角色。</a:t>
            </a:r>
            <a:endParaRPr lang="en-US" sz="1050" dirty="0"/>
          </a:p>
        </p:txBody>
      </p:sp>
      <p:sp>
        <p:nvSpPr>
          <p:cNvPr id="24" name="Shape 17"/>
          <p:cNvSpPr/>
          <p:nvPr/>
        </p:nvSpPr>
        <p:spPr>
          <a:xfrm>
            <a:off x="566928" y="5698236"/>
            <a:ext cx="11057839" cy="684276"/>
          </a:xfrm>
          <a:prstGeom prst="roundRect">
            <a:avLst>
              <a:gd name="adj" fmla="val 10690"/>
            </a:avLst>
          </a:prstGeom>
          <a:solidFill>
            <a:srgbClr val="25395F"/>
          </a:solidFill>
          <a:ln w="12700">
            <a:solidFill>
              <a:srgbClr val="25395F"/>
            </a:solidFill>
            <a:prstDash val="solid"/>
          </a:ln>
        </p:spPr>
      </p:sp>
      <p:sp>
        <p:nvSpPr>
          <p:cNvPr id="25" name="Shape 18"/>
          <p:cNvSpPr/>
          <p:nvPr/>
        </p:nvSpPr>
        <p:spPr>
          <a:xfrm>
            <a:off x="859536" y="5839206"/>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59907"/>
            <a:ext cx="160934" cy="160934"/>
          </a:xfrm>
          <a:prstGeom prst="rect">
            <a:avLst/>
          </a:prstGeom>
        </p:spPr>
      </p:pic>
      <p:sp>
        <p:nvSpPr>
          <p:cNvPr id="27" name="Text 19"/>
          <p:cNvSpPr/>
          <p:nvPr/>
        </p:nvSpPr>
        <p:spPr>
          <a:xfrm>
            <a:off x="1444752" y="5840349"/>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中国有发达的古代官箴文化而无律师伦理传统；1912年《律师暂行章程》为成文化开端，1980年后经《律师暂行条例》《律师法》至2010年代形成三大规范体系并立的格局。</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2026-08-23T11:08:00Z</dcterms:created>
  <dcterms:modified xsi:type="dcterms:W3CDTF">2026-08-23T11:08:00Z</dcterms:modified>
</cp:coreProperties>
</file>