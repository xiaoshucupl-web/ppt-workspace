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Lst>
  <p:notesMasterIdLst>
    <p:notesMasterId r:id="rId9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notesMaster" Target="notesMasters/notesMaster1.xml"/><Relationship Id="rId98" Type="http://schemas.openxmlformats.org/officeDocument/2006/relationships/presProps" Target="presProps.xml"/><Relationship Id="rId99" Type="http://schemas.openxmlformats.org/officeDocument/2006/relationships/viewProps" Target="viewProps.xml"/><Relationship Id="rId100" Type="http://schemas.openxmlformats.org/officeDocument/2006/relationships/theme" Target="theme/theme1.xml"/><Relationship Id="rId10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请注意“非因法定事由、非经法定程序”这一表述：它把法官的职务保障提升为一项法定权利，而不再是组织的裁量事项。这正是身份独立的制度化表达。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项的意义在于：法官的职责是通过审判活动将国家法律适用到现实生活中去，使法律得以贯彻执行；同时，法官严格遵守法律对当事人和其他社会成员具有重要的示范作用与教育意义——公众正是通过法官的行为来认识法律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把握两点：第一，这是“列举式”授权，四类之外院庭长无权要求报告；第二，权限限于“要求报告案件进展和评议结果”，即知情权与提示权，不包括改变裁判结果的决定权。院庭长如认为裁判确有错误，应当通过提交专业法官会议讨论、提请审判委员会讨论等法定途径处理，而不得直接指令承办人如何裁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比较两条的差异：刑诉法多出第（三）项“担任过本案的证人、鉴定人、辩护人、诉讼代理人的”，这是角色混同的禁止；民诉法则明确将“接受请客送礼、违规会见”单列为回避事由。共同的兜底条款是“其他关系，可能影响公正审理/处理”——这正是外观中立标准的规范入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条把廉洁要求与回避制度打通：接受请客送礼、违规会见，不仅要承担纪律或刑事责任，而且直接构成当事人申请回避的事由。请注意其规范逻辑——违规接触之所以成为回避事由，正是因为它破坏了外观中立，而不必证明裁判者实际上已被收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第二十四条的严厉程度：只要配偶、父母、子女在本院辖区内执业，需要回避的不是“这个案件”，而是“这个职位”——法官本人必须调离或者其近亲属停止在该辖区执业。这是一项彻底的、结构性的防范，其针对的正是“关系案”“人情案”的制度土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款分别设置了三道防线：第一款是“两年冷却期”（时间限制，普遍适用）；第二款是“原任职法院终身禁止”（空间限制，无期限）；第三款是“近亲属同步禁止”（关系限制）。2021年最高人民法院、最高人民检察院、司法部联合印发《关于进一步规范法院、检察院离任人员从事律师职业的意见》，对上述规则作了进一步细化，并将规制范围扩展至更多离任人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条规定的伦理意义在于：法官一旦参与招商引资或征收拆迁，就在相关领域中取得了利害关系与预设立场，此后再审理相关案件，中立性荡然无存。它同时保护了法官——使其得以拒绝地方的不当安排，而无须承担个人得罪人的成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项禁止各有其理据：禁止兼任人大常委会组成人员，是为避免立法权与司法权集于一身；禁止兼任行政、监察、检察职务，是权力分工的要求；禁止兼任营利性组织职务，是防止利益冲突；禁止兼任律师、仲裁员、公证员，是防止角色混同。请注意条文用的是“不得兼任”，即无论是否取酬、无论是否实际履职，一律禁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两处技术设计：其一，第（二）（五）（六）项都包含“以他人名义”，直指规避行为；其二，第（七）项是兜底条款，判断标准为“可能与公共利益发生冲突”，与回避制度的兜底条款同构。违反本条的，依照《人民法院工作人员处分条例》的相关规定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两条处理的是一个真实而普遍的困境：法官也是普通人，也会有纠纷。规范的立场是——法官在自己的纠纷中只能作为普通公民出现，不得动用职业身份换取任何优待。请注意第八十六条第（三）项用的是“不宜”，属于倡导性表述，但实务中应当从严把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把十项归为四类：审判职责类（四、五、六）、廉洁类（一、七、八、九）、保密与证据类（二、三）、兜底（十）。其中第（四）（五）项是审判责任的核心归责标准——故意与重大过失，且第（五）项还要求“造成严重后果”这一结果要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条的制度精妙之处在于“两分”：专业问题（是否违反审判职责、过错程度）由惩戒委员会以同行评议方式认定；处理决定则由人民法院依组织程序作出。它在“同行评议”与“组织管理”之间取得了平衡。请注意惩戒委员会的审查范围仅限于第（四）（五）项，其他事由不经此程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十九条赋予当事法官三项程序权利：申请回避权、陈述权、举证与辩解权——这是最低限度的正当程序要求；第五十条建立了异议审查机制，使审查意见不至于一锤定音。请注意：被惩戒者本身是法律职业人员，程序若不正当，其损害不仅在个案，更在于对整个司法制度正当性的示范性破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1.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slideLayout" Target="../slideLayouts/slideLayout1.xml"/><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slideLayout" Target="../slideLayouts/slideLayout1.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slideLayout" Target="../slideLayouts/slideLayout1.xml"/><Relationship Id="rId6"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slideLayout" Target="../slideLayouts/slideLayout1.xml"/><Relationship Id="rId6"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image" Target="../media/image-71-4.png"/><Relationship Id="rId5" Type="http://schemas.openxmlformats.org/officeDocument/2006/relationships/image" Target="../media/image-71-5.png"/><Relationship Id="rId6" Type="http://schemas.openxmlformats.org/officeDocument/2006/relationships/image" Target="../media/image-71-6.png"/><Relationship Id="rId7" Type="http://schemas.openxmlformats.org/officeDocument/2006/relationships/slideLayout" Target="../slideLayouts/slideLayout1.xml"/><Relationship Id="rI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slideLayout" Target="../slideLayouts/slideLayout1.xm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image" Target="../media/image-77-3.png"/><Relationship Id="rId4" Type="http://schemas.openxmlformats.org/officeDocument/2006/relationships/image" Target="../media/image-77-4.png"/><Relationship Id="rId5" Type="http://schemas.openxmlformats.org/officeDocument/2006/relationships/slideLayout" Target="../slideLayouts/slideLayout1.xml"/><Relationship Id="rId6"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image" Target="../media/image-79-3.png"/><Relationship Id="rId4" Type="http://schemas.openxmlformats.org/officeDocument/2006/relationships/image" Target="../media/image-79-4.png"/><Relationship Id="rId5" Type="http://schemas.openxmlformats.org/officeDocument/2006/relationships/slideLayout" Target="../slideLayouts/slideLayout1.xml"/><Relationship Id="rId6"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image" Target="../media/image-83-3.png"/><Relationship Id="rId4" Type="http://schemas.openxmlformats.org/officeDocument/2006/relationships/image" Target="../media/image-83-4.png"/><Relationship Id="rId5" Type="http://schemas.openxmlformats.org/officeDocument/2006/relationships/slideLayout" Target="../slideLayouts/slideLayout1.xml"/><Relationship Id="rId6"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image" Target="../media/image-95-3.png"/><Relationship Id="rId4" Type="http://schemas.openxmlformats.org/officeDocument/2006/relationships/image" Target="../media/image-95-4.png"/><Relationship Id="rId5" Type="http://schemas.openxmlformats.org/officeDocument/2006/relationships/image" Target="../media/image-95-5.png"/><Relationship Id="rId6" Type="http://schemas.openxmlformats.org/officeDocument/2006/relationships/image" Target="../media/image-95-6.png"/><Relationship Id="rId7" Type="http://schemas.openxmlformats.org/officeDocument/2006/relationships/slideLayout" Target="../slideLayouts/slideLayout1.xml"/><Relationship Id="rId8" Type="http://schemas.openxmlformats.org/officeDocument/2006/relationships/notesSlide" Target="../notesSlides/notesSlide9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7863840" y="-685800"/>
            <a:ext cx="4206240" cy="4206240"/>
          </a:xfrm>
          <a:prstGeom prst="ellipse">
            <a:avLst/>
          </a:prstGeom>
          <a:solidFill>
            <a:srgbClr val="13233F"/>
          </a:solidFill>
          <a:ln w="12700">
            <a:solidFill>
              <a:srgbClr val="B08D57">
                <a:alpha val="12000"/>
              </a:srgbClr>
            </a:solidFill>
            <a:prstDash val="solid"/>
          </a:ln>
        </p:spPr>
      </p:sp>
      <p:sp>
        <p:nvSpPr>
          <p:cNvPr id="3" name="Shape 1"/>
          <p:cNvSpPr/>
          <p:nvPr/>
        </p:nvSpPr>
        <p:spPr>
          <a:xfrm>
            <a:off x="8503920" y="-45720"/>
            <a:ext cx="2926080" cy="2926080"/>
          </a:xfrm>
          <a:prstGeom prst="ellipse">
            <a:avLst/>
          </a:prstGeom>
          <a:solidFill>
            <a:srgbClr val="13233F"/>
          </a:solidFill>
          <a:ln w="12700">
            <a:solidFill>
              <a:srgbClr val="B08D57">
                <a:alpha val="18000"/>
              </a:srgbClr>
            </a:solidFill>
            <a:prstDash val="solid"/>
          </a:ln>
        </p:spPr>
      </p:sp>
      <p:sp>
        <p:nvSpPr>
          <p:cNvPr id="4" name="Shape 2"/>
          <p:cNvSpPr/>
          <p:nvPr/>
        </p:nvSpPr>
        <p:spPr>
          <a:xfrm>
            <a:off x="9098280" y="548640"/>
            <a:ext cx="1737360" cy="1737360"/>
          </a:xfrm>
          <a:prstGeom prst="ellipse">
            <a:avLst/>
          </a:prstGeom>
          <a:solidFill>
            <a:srgbClr val="13233F"/>
          </a:solidFill>
          <a:ln w="12700">
            <a:solidFill>
              <a:srgbClr val="B08D57">
                <a:alpha val="26000"/>
              </a:srgbClr>
            </a:solidFill>
            <a:prstDash val="solid"/>
          </a:ln>
        </p:spPr>
      </p:sp>
      <p:pic>
        <p:nvPicPr>
          <p:cNvPr id="5" name="Image 0" descr="preencoded.png">    </p:cNvPr>
          <p:cNvPicPr>
            <a:picLocks noChangeAspect="1"/>
          </p:cNvPicPr>
          <p:nvPr/>
        </p:nvPicPr>
        <p:blipFill>
          <a:blip r:embed="rId1"/>
          <a:stretch>
            <a:fillRect/>
          </a:stretch>
        </p:blipFill>
        <p:spPr>
          <a:xfrm>
            <a:off x="9006840" y="457200"/>
            <a:ext cx="1920240" cy="1920240"/>
          </a:xfrm>
          <a:prstGeom prst="rect">
            <a:avLst/>
          </a:prstGeom>
        </p:spPr>
      </p:pic>
      <p:sp>
        <p:nvSpPr>
          <p:cNvPr id="6" name="Text 3"/>
          <p:cNvSpPr/>
          <p:nvPr/>
        </p:nvSpPr>
        <p:spPr>
          <a:xfrm>
            <a:off x="612648" y="1691640"/>
            <a:ext cx="7863840" cy="292608"/>
          </a:xfrm>
          <a:prstGeom prst="rect">
            <a:avLst/>
          </a:prstGeom>
          <a:noFill/>
          <a:ln/>
        </p:spPr>
        <p:txBody>
          <a:bodyPr wrap="square" lIns="0" tIns="0" rIns="0" bIns="0" rtlCol="0" anchor="ctr"/>
          <a:lstStyle/>
          <a:p>
            <a:pPr indent="0" marL="0">
              <a:buNone/>
            </a:pPr>
            <a:r>
              <a:rPr lang="en-US" sz="1500" b="1" spc="300" kern="0" dirty="0">
                <a:solidFill>
                  <a:srgbClr val="D9C29B"/>
                </a:solidFill>
                <a:latin typeface="微软雅黑" pitchFamily="34" charset="0"/>
                <a:ea typeface="微软雅黑" pitchFamily="34" charset="-122"/>
                <a:cs typeface="微软雅黑" pitchFamily="34" charset="-120"/>
              </a:rPr>
              <a:t>法学专业核心必修课</a:t>
            </a:r>
            <a:endParaRPr lang="en-US" sz="1500" dirty="0"/>
          </a:p>
        </p:txBody>
      </p:sp>
      <p:sp>
        <p:nvSpPr>
          <p:cNvPr id="7" name="Text 4"/>
          <p:cNvSpPr/>
          <p:nvPr/>
        </p:nvSpPr>
        <p:spPr>
          <a:xfrm>
            <a:off x="566928" y="2084832"/>
            <a:ext cx="8229600" cy="1371600"/>
          </a:xfrm>
          <a:prstGeom prst="rect">
            <a:avLst/>
          </a:prstGeom>
          <a:noFill/>
          <a:ln/>
        </p:spPr>
        <p:txBody>
          <a:bodyPr wrap="square" lIns="0" tIns="0" rIns="0" bIns="0" rtlCol="0" anchor="t"/>
          <a:lstStyle/>
          <a:p>
            <a:pPr indent="0" marL="0">
              <a:buNone/>
            </a:pPr>
            <a:r>
              <a:rPr lang="en-US" sz="6000" b="1" spc="200" kern="0" dirty="0">
                <a:solidFill>
                  <a:srgbClr val="FFFFFF"/>
                </a:solidFill>
                <a:latin typeface="微软雅黑" pitchFamily="34" charset="0"/>
                <a:ea typeface="微软雅黑" pitchFamily="34" charset="-122"/>
                <a:cs typeface="微软雅黑" pitchFamily="34" charset="-120"/>
              </a:rPr>
              <a:t>法律职业伦理</a:t>
            </a:r>
            <a:endParaRPr lang="en-US" sz="6000" dirty="0"/>
          </a:p>
        </p:txBody>
      </p:sp>
      <p:sp>
        <p:nvSpPr>
          <p:cNvPr id="8" name="Text 5"/>
          <p:cNvSpPr/>
          <p:nvPr/>
        </p:nvSpPr>
        <p:spPr>
          <a:xfrm>
            <a:off x="612648" y="3566160"/>
            <a:ext cx="8229600" cy="457200"/>
          </a:xfrm>
          <a:prstGeom prst="rect">
            <a:avLst/>
          </a:prstGeom>
          <a:noFill/>
          <a:ln/>
        </p:spPr>
        <p:txBody>
          <a:bodyPr wrap="square" lIns="0" tIns="0" rIns="0" bIns="0" rtlCol="0" anchor="ctr"/>
          <a:lstStyle/>
          <a:p>
            <a:pPr indent="0" marL="0">
              <a:buNone/>
            </a:pPr>
            <a:r>
              <a:rPr lang="en-US" sz="1800" dirty="0">
                <a:solidFill>
                  <a:srgbClr val="D9C29B"/>
                </a:solidFill>
                <a:latin typeface="微软雅黑" pitchFamily="34" charset="0"/>
                <a:ea typeface="微软雅黑" pitchFamily="34" charset="-122"/>
                <a:cs typeface="微软雅黑" pitchFamily="34" charset="-120"/>
              </a:rPr>
              <a:t>Legal Profession Ethics ——  法治中国的职业良知</a:t>
            </a:r>
            <a:endParaRPr lang="en-US" sz="1800" dirty="0"/>
          </a:p>
        </p:txBody>
      </p:sp>
      <p:sp>
        <p:nvSpPr>
          <p:cNvPr id="9" name="Shape 6"/>
          <p:cNvSpPr/>
          <p:nvPr/>
        </p:nvSpPr>
        <p:spPr>
          <a:xfrm>
            <a:off x="612648" y="4242816"/>
            <a:ext cx="1229868" cy="420624"/>
          </a:xfrm>
          <a:prstGeom prst="roundRect">
            <a:avLst>
              <a:gd name="adj" fmla="val 50000"/>
            </a:avLst>
          </a:prstGeom>
          <a:solidFill>
            <a:srgbClr val="25395F"/>
          </a:solidFill>
          <a:ln w="12700">
            <a:solidFill>
              <a:srgbClr val="25395F"/>
            </a:solidFill>
            <a:prstDash val="solid"/>
          </a:ln>
        </p:spPr>
      </p:sp>
      <p:sp>
        <p:nvSpPr>
          <p:cNvPr id="10" name="Text 7"/>
          <p:cNvSpPr/>
          <p:nvPr/>
        </p:nvSpPr>
        <p:spPr>
          <a:xfrm>
            <a:off x="612648" y="4242816"/>
            <a:ext cx="1229868"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24 课时</a:t>
            </a:r>
            <a:endParaRPr lang="en-US" sz="1300" dirty="0"/>
          </a:p>
        </p:txBody>
      </p:sp>
      <p:sp>
        <p:nvSpPr>
          <p:cNvPr id="11" name="Shape 8"/>
          <p:cNvSpPr/>
          <p:nvPr/>
        </p:nvSpPr>
        <p:spPr>
          <a:xfrm>
            <a:off x="2007108" y="4242816"/>
            <a:ext cx="1060704" cy="420624"/>
          </a:xfrm>
          <a:prstGeom prst="roundRect">
            <a:avLst>
              <a:gd name="adj" fmla="val 50000"/>
            </a:avLst>
          </a:prstGeom>
          <a:solidFill>
            <a:srgbClr val="25395F"/>
          </a:solidFill>
          <a:ln w="12700">
            <a:solidFill>
              <a:srgbClr val="25395F"/>
            </a:solidFill>
            <a:prstDash val="solid"/>
          </a:ln>
        </p:spPr>
      </p:sp>
      <p:sp>
        <p:nvSpPr>
          <p:cNvPr id="12" name="Text 9"/>
          <p:cNvSpPr/>
          <p:nvPr/>
        </p:nvSpPr>
        <p:spPr>
          <a:xfrm>
            <a:off x="2007108"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法学本科</a:t>
            </a:r>
            <a:endParaRPr lang="en-US" sz="1300" dirty="0"/>
          </a:p>
        </p:txBody>
      </p:sp>
      <p:sp>
        <p:nvSpPr>
          <p:cNvPr id="13" name="Shape 10"/>
          <p:cNvSpPr/>
          <p:nvPr/>
        </p:nvSpPr>
        <p:spPr>
          <a:xfrm>
            <a:off x="3232404" y="4242816"/>
            <a:ext cx="1060704" cy="420624"/>
          </a:xfrm>
          <a:prstGeom prst="roundRect">
            <a:avLst>
              <a:gd name="adj" fmla="val 50000"/>
            </a:avLst>
          </a:prstGeom>
          <a:solidFill>
            <a:srgbClr val="25395F"/>
          </a:solidFill>
          <a:ln w="12700">
            <a:solidFill>
              <a:srgbClr val="25395F"/>
            </a:solidFill>
            <a:prstDash val="solid"/>
          </a:ln>
        </p:spPr>
      </p:sp>
      <p:sp>
        <p:nvSpPr>
          <p:cNvPr id="14" name="Text 11"/>
          <p:cNvSpPr/>
          <p:nvPr/>
        </p:nvSpPr>
        <p:spPr>
          <a:xfrm>
            <a:off x="3232404"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专业必修</a:t>
            </a:r>
            <a:endParaRPr lang="en-US" sz="1300" dirty="0"/>
          </a:p>
        </p:txBody>
      </p:sp>
      <p:sp>
        <p:nvSpPr>
          <p:cNvPr id="15" name="Shape 12"/>
          <p:cNvSpPr/>
          <p:nvPr/>
        </p:nvSpPr>
        <p:spPr>
          <a:xfrm>
            <a:off x="4457700" y="4242816"/>
            <a:ext cx="1060704" cy="420624"/>
          </a:xfrm>
          <a:prstGeom prst="roundRect">
            <a:avLst>
              <a:gd name="adj" fmla="val 50000"/>
            </a:avLst>
          </a:prstGeom>
          <a:solidFill>
            <a:srgbClr val="25395F"/>
          </a:solidFill>
          <a:ln w="12700">
            <a:solidFill>
              <a:srgbClr val="25395F"/>
            </a:solidFill>
            <a:prstDash val="solid"/>
          </a:ln>
        </p:spPr>
      </p:sp>
      <p:sp>
        <p:nvSpPr>
          <p:cNvPr id="16" name="Text 13"/>
          <p:cNvSpPr/>
          <p:nvPr/>
        </p:nvSpPr>
        <p:spPr>
          <a:xfrm>
            <a:off x="4457700"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 学分</a:t>
            </a:r>
            <a:endParaRPr lang="en-US" sz="1300" dirty="0"/>
          </a:p>
        </p:txBody>
      </p:sp>
      <p:sp>
        <p:nvSpPr>
          <p:cNvPr id="17" name="Text 14"/>
          <p:cNvSpPr/>
          <p:nvPr/>
        </p:nvSpPr>
        <p:spPr>
          <a:xfrm>
            <a:off x="612648" y="5248656"/>
            <a:ext cx="5486400" cy="402336"/>
          </a:xfrm>
          <a:prstGeom prst="rect">
            <a:avLst/>
          </a:prstGeom>
          <a:noFill/>
          <a:ln/>
        </p:spPr>
        <p:txBody>
          <a:bodyPr wrap="square" lIns="0" tIns="0" rIns="0" bIns="0"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王晓淑</a:t>
            </a:r>
            <a:endParaRPr lang="en-US" sz="2400" dirty="0"/>
          </a:p>
        </p:txBody>
      </p:sp>
      <p:sp>
        <p:nvSpPr>
          <p:cNvPr id="18" name="Text 15"/>
          <p:cNvSpPr/>
          <p:nvPr/>
        </p:nvSpPr>
        <p:spPr>
          <a:xfrm>
            <a:off x="612648" y="5687568"/>
            <a:ext cx="5486400" cy="310896"/>
          </a:xfrm>
          <a:prstGeom prst="rect">
            <a:avLst/>
          </a:prstGeom>
          <a:noFill/>
          <a:ln/>
        </p:spPr>
        <p:txBody>
          <a:bodyPr wrap="square" lIns="0" tIns="0" rIns="0" bIns="0" rtlCol="0" anchor="ctr"/>
          <a:lstStyle/>
          <a:p>
            <a:pPr indent="0" marL="0">
              <a:buNone/>
            </a:pPr>
            <a:r>
              <a:rPr lang="en-US" sz="1400" dirty="0">
                <a:solidFill>
                  <a:srgbClr val="6B7684"/>
                </a:solidFill>
                <a:latin typeface="微软雅黑" pitchFamily="34" charset="0"/>
                <a:ea typeface="微软雅黑" pitchFamily="34" charset="-122"/>
                <a:cs typeface="微软雅黑" pitchFamily="34" charset="-120"/>
              </a:rPr>
              <a:t>法学院 · 法学专业核心必修课</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课程总览 · COURSE MAP</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五编二十四课时</a:t>
            </a:r>
            <a:endParaRPr lang="en-US" sz="2800" dirty="0"/>
          </a:p>
        </p:txBody>
      </p:sp>
      <p:sp>
        <p:nvSpPr>
          <p:cNvPr id="4" name="Shape 2"/>
          <p:cNvSpPr/>
          <p:nvPr/>
        </p:nvSpPr>
        <p:spPr>
          <a:xfrm>
            <a:off x="566928" y="2359152"/>
            <a:ext cx="5300320" cy="896112"/>
          </a:xfrm>
          <a:prstGeom prst="roundRect">
            <a:avLst>
              <a:gd name="adj" fmla="val 8163"/>
            </a:avLst>
          </a:prstGeom>
          <a:solidFill>
            <a:srgbClr val="F2F4F8"/>
          </a:solidFill>
          <a:ln w="12700">
            <a:solidFill>
              <a:srgbClr val="F2F4F8"/>
            </a:solidFill>
            <a:prstDash val="solid"/>
          </a:ln>
        </p:spPr>
      </p:sp>
      <p:sp>
        <p:nvSpPr>
          <p:cNvPr id="5" name="Shape 3"/>
          <p:cNvSpPr/>
          <p:nvPr/>
        </p:nvSpPr>
        <p:spPr>
          <a:xfrm>
            <a:off x="731520" y="2624328"/>
            <a:ext cx="365760" cy="365760"/>
          </a:xfrm>
          <a:prstGeom prst="ellipse">
            <a:avLst/>
          </a:prstGeom>
          <a:solidFill>
            <a:srgbClr val="B08D57"/>
          </a:solidFill>
          <a:ln w="12700">
            <a:solidFill>
              <a:srgbClr val="B08D57"/>
            </a:solidFill>
            <a:prstDash val="solid"/>
          </a:ln>
        </p:spPr>
      </p:sp>
      <p:sp>
        <p:nvSpPr>
          <p:cNvPr id="6" name="Text 4"/>
          <p:cNvSpPr/>
          <p:nvPr/>
        </p:nvSpPr>
        <p:spPr>
          <a:xfrm>
            <a:off x="731520" y="26243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530983"/>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第一编　总论：法律职业与职业伦理　（第 1—4 课时，共 4 课时）</a:t>
            </a:r>
            <a:endParaRPr lang="en-US" sz="1500" dirty="0"/>
          </a:p>
        </p:txBody>
      </p:sp>
      <p:sp>
        <p:nvSpPr>
          <p:cNvPr id="8" name="Shape 6"/>
          <p:cNvSpPr/>
          <p:nvPr/>
        </p:nvSpPr>
        <p:spPr>
          <a:xfrm>
            <a:off x="566928" y="3401568"/>
            <a:ext cx="5300320" cy="896112"/>
          </a:xfrm>
          <a:prstGeom prst="roundRect">
            <a:avLst>
              <a:gd name="adj" fmla="val 8163"/>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573399"/>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第二编　法官职业伦理　（第 5—8 课时，共 4 课时）</a:t>
            </a:r>
            <a:endParaRPr lang="en-US" sz="1500" dirty="0"/>
          </a:p>
        </p:txBody>
      </p:sp>
      <p:sp>
        <p:nvSpPr>
          <p:cNvPr id="12" name="Shape 10"/>
          <p:cNvSpPr/>
          <p:nvPr/>
        </p:nvSpPr>
        <p:spPr>
          <a:xfrm>
            <a:off x="566928" y="4443984"/>
            <a:ext cx="5300320" cy="896112"/>
          </a:xfrm>
          <a:prstGeom prst="roundRect">
            <a:avLst>
              <a:gd name="adj" fmla="val 8163"/>
            </a:avLst>
          </a:prstGeom>
          <a:solidFill>
            <a:srgbClr val="F2F4F8"/>
          </a:solidFill>
          <a:ln w="12700">
            <a:solidFill>
              <a:srgbClr val="F2F4F8"/>
            </a:solidFill>
            <a:prstDash val="solid"/>
          </a:ln>
        </p:spPr>
      </p:sp>
      <p:sp>
        <p:nvSpPr>
          <p:cNvPr id="13" name="Shape 11"/>
          <p:cNvSpPr/>
          <p:nvPr/>
        </p:nvSpPr>
        <p:spPr>
          <a:xfrm>
            <a:off x="731520" y="4709160"/>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615815"/>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第三编　检察官职业伦理　（第 9—11 课时，共 3 课时）</a:t>
            </a:r>
            <a:endParaRPr lang="en-US" sz="1500" dirty="0"/>
          </a:p>
        </p:txBody>
      </p:sp>
      <p:sp>
        <p:nvSpPr>
          <p:cNvPr id="16" name="Shape 14"/>
          <p:cNvSpPr/>
          <p:nvPr/>
        </p:nvSpPr>
        <p:spPr>
          <a:xfrm>
            <a:off x="6324448" y="2880360"/>
            <a:ext cx="5300320" cy="896112"/>
          </a:xfrm>
          <a:prstGeom prst="roundRect">
            <a:avLst>
              <a:gd name="adj" fmla="val 8163"/>
            </a:avLst>
          </a:prstGeom>
          <a:solidFill>
            <a:srgbClr val="F2F4F8"/>
          </a:solidFill>
          <a:ln w="12700">
            <a:solidFill>
              <a:srgbClr val="F2F4F8"/>
            </a:solidFill>
            <a:prstDash val="solid"/>
          </a:ln>
        </p:spPr>
      </p:sp>
      <p:sp>
        <p:nvSpPr>
          <p:cNvPr id="17" name="Shape 15"/>
          <p:cNvSpPr/>
          <p:nvPr/>
        </p:nvSpPr>
        <p:spPr>
          <a:xfrm>
            <a:off x="6489040" y="3145536"/>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3145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3052191"/>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第四编　律师职业伦理　（第 12—21 课时，共 10 课时）</a:t>
            </a:r>
            <a:endParaRPr lang="en-US" sz="1500" dirty="0"/>
          </a:p>
        </p:txBody>
      </p:sp>
      <p:sp>
        <p:nvSpPr>
          <p:cNvPr id="20" name="Shape 18"/>
          <p:cNvSpPr/>
          <p:nvPr/>
        </p:nvSpPr>
        <p:spPr>
          <a:xfrm>
            <a:off x="6324448" y="3922776"/>
            <a:ext cx="5300320" cy="896112"/>
          </a:xfrm>
          <a:prstGeom prst="roundRect">
            <a:avLst>
              <a:gd name="adj" fmla="val 8163"/>
            </a:avLst>
          </a:prstGeom>
          <a:solidFill>
            <a:srgbClr val="F2F4F8"/>
          </a:solidFill>
          <a:ln w="12700">
            <a:solidFill>
              <a:srgbClr val="F2F4F8"/>
            </a:solidFill>
            <a:prstDash val="solid"/>
          </a:ln>
        </p:spPr>
      </p:sp>
      <p:sp>
        <p:nvSpPr>
          <p:cNvPr id="21" name="Shape 19"/>
          <p:cNvSpPr/>
          <p:nvPr/>
        </p:nvSpPr>
        <p:spPr>
          <a:xfrm>
            <a:off x="6489040" y="4187952"/>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41879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4094607"/>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第五编　其他法律职业与伦理责任　（第 22—24 课时，共 3 课时）</a:t>
            </a:r>
            <a:endParaRPr lang="en-US" sz="1500" dirty="0"/>
          </a:p>
        </p:txBody>
      </p:sp>
      <p:sp>
        <p:nvSpPr>
          <p:cNvPr id="24"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课程总览</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566928" y="685800"/>
            <a:ext cx="2926080" cy="1828800"/>
          </a:xfrm>
          <a:prstGeom prst="rect">
            <a:avLst/>
          </a:prstGeom>
          <a:noFill/>
          <a:ln/>
        </p:spPr>
        <p:txBody>
          <a:bodyPr wrap="square" lIns="0" tIns="0" rIns="0" bIns="0" rtlCol="0" anchor="ctr"/>
          <a:lstStyle/>
          <a:p>
            <a:pPr indent="0" marL="0">
              <a:buNone/>
            </a:pPr>
            <a:r>
              <a:rPr lang="en-US" sz="13000" b="1" dirty="0">
                <a:solidFill>
                  <a:srgbClr val="B08D57">
                    <a:alpha val="75000"/>
                  </a:srgbClr>
                </a:solidFill>
                <a:latin typeface="Arial" pitchFamily="34" charset="0"/>
                <a:ea typeface="Arial" pitchFamily="34" charset="-122"/>
                <a:cs typeface="Arial" pitchFamily="34" charset="-120"/>
              </a:rPr>
              <a:t>02</a:t>
            </a:r>
            <a:endParaRPr lang="en-US" sz="13000" dirty="0"/>
          </a:p>
        </p:txBody>
      </p:sp>
      <p:sp>
        <p:nvSpPr>
          <p:cNvPr id="3" name="Text 1"/>
          <p:cNvSpPr/>
          <p:nvPr/>
        </p:nvSpPr>
        <p:spPr>
          <a:xfrm>
            <a:off x="621792" y="2487168"/>
            <a:ext cx="5486400" cy="310896"/>
          </a:xfrm>
          <a:prstGeom prst="rect">
            <a:avLst/>
          </a:prstGeom>
          <a:noFill/>
          <a:ln/>
        </p:spPr>
        <p:txBody>
          <a:bodyPr wrap="square" lIns="0" tIns="0" rIns="0" bIns="0" rtlCol="0" anchor="ctr"/>
          <a:lstStyle/>
          <a:p>
            <a:pPr indent="0" marL="0">
              <a:buNone/>
            </a:pPr>
            <a:r>
              <a:rPr lang="en-US" sz="1450" b="1" spc="300" kern="0" dirty="0">
                <a:solidFill>
                  <a:srgbClr val="B08D57"/>
                </a:solidFill>
                <a:latin typeface="微软雅黑" pitchFamily="34" charset="0"/>
                <a:ea typeface="微软雅黑" pitchFamily="34" charset="-122"/>
                <a:cs typeface="微软雅黑" pitchFamily="34" charset="-120"/>
              </a:rPr>
              <a:t>第二编</a:t>
            </a:r>
            <a:endParaRPr lang="en-US" sz="1450" dirty="0"/>
          </a:p>
        </p:txBody>
      </p:sp>
      <p:sp>
        <p:nvSpPr>
          <p:cNvPr id="4" name="Text 2"/>
          <p:cNvSpPr/>
          <p:nvPr/>
        </p:nvSpPr>
        <p:spPr>
          <a:xfrm>
            <a:off x="566928" y="2834640"/>
            <a:ext cx="731520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法官职业伦理</a:t>
            </a:r>
            <a:endParaRPr lang="en-US" sz="4200" dirty="0"/>
          </a:p>
        </p:txBody>
      </p:sp>
      <p:sp>
        <p:nvSpPr>
          <p:cNvPr id="5" name="Text 3"/>
          <p:cNvSpPr/>
          <p:nvPr/>
        </p:nvSpPr>
        <p:spPr>
          <a:xfrm>
            <a:off x="603504" y="3592068"/>
            <a:ext cx="7315200" cy="822960"/>
          </a:xfrm>
          <a:prstGeom prst="rect">
            <a:avLst/>
          </a:prstGeom>
          <a:noFill/>
          <a:ln/>
        </p:spPr>
        <p:txBody>
          <a:bodyPr wrap="square" lIns="0" tIns="0" rIns="0" bIns="0" rtlCol="0" anchor="ctr"/>
          <a:lstStyle/>
          <a:p>
            <a:pPr indent="0" marL="0">
              <a:lnSpc>
                <a:spcPts val="2400"/>
              </a:lnSpc>
              <a:buNone/>
            </a:pPr>
            <a:r>
              <a:rPr lang="en-US" sz="1500" dirty="0">
                <a:solidFill>
                  <a:srgbClr val="D9C29B"/>
                </a:solidFill>
                <a:latin typeface="微软雅黑" pitchFamily="34" charset="0"/>
                <a:ea typeface="微软雅黑" pitchFamily="34" charset="-122"/>
                <a:cs typeface="微软雅黑" pitchFamily="34" charset="-120"/>
              </a:rPr>
              <a:t>司法权的属性决定法官伦理的内容：独立、中立、廉洁、为民、形象</a:t>
            </a:r>
            <a:endParaRPr lang="en-US" sz="1500" dirty="0"/>
          </a:p>
        </p:txBody>
      </p:sp>
      <p:sp>
        <p:nvSpPr>
          <p:cNvPr id="6" name="Shape 4"/>
          <p:cNvSpPr/>
          <p:nvPr/>
        </p:nvSpPr>
        <p:spPr>
          <a:xfrm>
            <a:off x="8183880" y="1188720"/>
            <a:ext cx="3440887" cy="4480560"/>
          </a:xfrm>
          <a:prstGeom prst="roundRect">
            <a:avLst>
              <a:gd name="adj" fmla="val 3189"/>
            </a:avLst>
          </a:prstGeom>
          <a:solidFill>
            <a:srgbClr val="13233F"/>
          </a:solidFill>
          <a:ln w="12700">
            <a:solidFill>
              <a:srgbClr val="13233F"/>
            </a:solidFill>
            <a:prstDash val="solid"/>
          </a:ln>
        </p:spPr>
      </p:sp>
      <p:sp>
        <p:nvSpPr>
          <p:cNvPr id="7" name="Text 5"/>
          <p:cNvSpPr/>
          <p:nvPr/>
        </p:nvSpPr>
        <p:spPr>
          <a:xfrm>
            <a:off x="8494776" y="1481328"/>
            <a:ext cx="2819095"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本编课时</a:t>
            </a:r>
            <a:endParaRPr lang="en-US" sz="1250" dirty="0"/>
          </a:p>
        </p:txBody>
      </p:sp>
      <p:sp>
        <p:nvSpPr>
          <p:cNvPr id="8" name="Text 6"/>
          <p:cNvSpPr/>
          <p:nvPr/>
        </p:nvSpPr>
        <p:spPr>
          <a:xfrm>
            <a:off x="8476488" y="188366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1</a:t>
            </a:r>
            <a:endParaRPr lang="en-US" sz="1250" dirty="0"/>
          </a:p>
        </p:txBody>
      </p:sp>
      <p:sp>
        <p:nvSpPr>
          <p:cNvPr id="9" name="Text 7"/>
          <p:cNvSpPr/>
          <p:nvPr/>
        </p:nvSpPr>
        <p:spPr>
          <a:xfrm>
            <a:off x="8823960" y="188366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第5课时　司法权的属性与法官职业伦理规范体系</a:t>
            </a:r>
            <a:endParaRPr lang="en-US" sz="1350" dirty="0"/>
          </a:p>
        </p:txBody>
      </p:sp>
      <p:sp>
        <p:nvSpPr>
          <p:cNvPr id="10" name="Text 8"/>
          <p:cNvSpPr/>
          <p:nvPr/>
        </p:nvSpPr>
        <p:spPr>
          <a:xfrm>
            <a:off x="8476488" y="2518029"/>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2</a:t>
            </a:r>
            <a:endParaRPr lang="en-US" sz="1250" dirty="0"/>
          </a:p>
        </p:txBody>
      </p:sp>
      <p:sp>
        <p:nvSpPr>
          <p:cNvPr id="11" name="Text 9"/>
          <p:cNvSpPr/>
          <p:nvPr/>
        </p:nvSpPr>
        <p:spPr>
          <a:xfrm>
            <a:off x="8823960" y="2518029"/>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第6课时　保证司法公正（一）：司法独立与法官的独立义务</a:t>
            </a:r>
            <a:endParaRPr lang="en-US" sz="1350" dirty="0"/>
          </a:p>
        </p:txBody>
      </p:sp>
      <p:sp>
        <p:nvSpPr>
          <p:cNvPr id="12" name="Text 10"/>
          <p:cNvSpPr/>
          <p:nvPr/>
        </p:nvSpPr>
        <p:spPr>
          <a:xfrm>
            <a:off x="8476488" y="315239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3</a:t>
            </a:r>
            <a:endParaRPr lang="en-US" sz="1250" dirty="0"/>
          </a:p>
        </p:txBody>
      </p:sp>
      <p:sp>
        <p:nvSpPr>
          <p:cNvPr id="13" name="Text 11"/>
          <p:cNvSpPr/>
          <p:nvPr/>
        </p:nvSpPr>
        <p:spPr>
          <a:xfrm>
            <a:off x="8823960" y="315239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第7课时　保证司法公正（二）：中立、回避与程序伦理</a:t>
            </a:r>
            <a:endParaRPr lang="en-US" sz="1350" dirty="0"/>
          </a:p>
        </p:txBody>
      </p:sp>
      <p:sp>
        <p:nvSpPr>
          <p:cNvPr id="14" name="Text 12"/>
          <p:cNvSpPr/>
          <p:nvPr/>
        </p:nvSpPr>
        <p:spPr>
          <a:xfrm>
            <a:off x="8476488" y="3786759"/>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4</a:t>
            </a:r>
            <a:endParaRPr lang="en-US" sz="1250" dirty="0"/>
          </a:p>
        </p:txBody>
      </p:sp>
      <p:sp>
        <p:nvSpPr>
          <p:cNvPr id="15" name="Text 13"/>
          <p:cNvSpPr/>
          <p:nvPr/>
        </p:nvSpPr>
        <p:spPr>
          <a:xfrm>
            <a:off x="8823960" y="3786759"/>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第8课时　司法廉洁、司法为民、司法形象与法官惩戒制度</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第5课时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司法权的属性与法官职业伦理规范体系</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法官的伦理义务不是外部强加的道德要求，而是从司法权自身的属性中推导出来的</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司法权的六项程序特征如何决定法官的行为方式</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司法独立的四个层次：整体、内部、身份、特权</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法官职业伦理的五项基本要求与规范体系</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从权力属性到伦理义务</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一、为什么要从司法权的属性讲起</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二、司法权的六项程序特征</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三、司法权的独立性：四个层次</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四、法官职业伦理的规范体系</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五、五项基本要求与域外参照</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六、案例研讨与本课小结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为什么要从司法权的属性讲起</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伦理义务不能凭空设定，它必须能够从权力的性质中被推导出来</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方法论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一条推导链：权力属性 → 行为要求 → 伦理规范</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请各位建立一个方法论意识：法官为什么必须回避、为什么不得单方接触当事人、为什么不能从事营利活动——这些都不是道德说教，而是有推导路径的。</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第一步，确定司法权是一种什么性质的权力。它与立法权、行政权有何不同？</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第二步，从这种性质中推出司法权行使的行为要求。比如：既然司法具有被动性，法官就不得主动介入纠纷、不得为一方出谋划策。</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第三步，把这些行为要求规范化，形成可以援引、可以惩戒的职业伦理规则。</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掌握这条推导链的意义在于：当你遇到规范没有明确规定的新情形时，你可以自己推导出答案——回到司法权的属性去问，什么样的做法与这种权力的性质相容。</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比较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三种权力的性质差异</a:t>
            </a:r>
            <a:endParaRPr lang="en-US" sz="2800" dirty="0"/>
          </a:p>
        </p:txBody>
      </p:sp>
      <p:sp>
        <p:nvSpPr>
          <p:cNvPr id="4" name="Shape 2"/>
          <p:cNvSpPr/>
          <p:nvPr/>
        </p:nvSpPr>
        <p:spPr>
          <a:xfrm>
            <a:off x="566928" y="2076133"/>
            <a:ext cx="3527450" cy="3546983"/>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41248" y="2332165"/>
            <a:ext cx="2978810"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33216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立法权</a:t>
            </a:r>
            <a:endParaRPr lang="en-US" sz="1600" dirty="0"/>
          </a:p>
        </p:txBody>
      </p:sp>
      <p:sp>
        <p:nvSpPr>
          <p:cNvPr id="7" name="Text 5"/>
          <p:cNvSpPr/>
          <p:nvPr/>
        </p:nvSpPr>
        <p:spPr>
          <a:xfrm>
            <a:off x="932688" y="2990533"/>
            <a:ext cx="2795930" cy="23948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面向未来，创设一般性规则。</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以民主代表性为正当性基础。</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过程以协商、妥协、表决为特征。</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允许并鼓励价值偏好的表达。</a:t>
            </a:r>
            <a:endParaRPr lang="en-US" sz="1450" dirty="0"/>
          </a:p>
        </p:txBody>
      </p:sp>
      <p:sp>
        <p:nvSpPr>
          <p:cNvPr id="8" name="Shape 6"/>
          <p:cNvSpPr/>
          <p:nvPr/>
        </p:nvSpPr>
        <p:spPr>
          <a:xfrm>
            <a:off x="4332122" y="2076133"/>
            <a:ext cx="3527450" cy="3546983"/>
          </a:xfrm>
          <a:prstGeom prst="roundRect">
            <a:avLst>
              <a:gd name="adj" fmla="val 2592"/>
            </a:avLst>
          </a:prstGeom>
          <a:solidFill>
            <a:srgbClr val="F6F1E8"/>
          </a:solidFill>
          <a:ln w="12700">
            <a:solidFill>
              <a:srgbClr val="F6F1E8"/>
            </a:solidFill>
            <a:prstDash val="solid"/>
          </a:ln>
        </p:spPr>
      </p:sp>
      <p:sp>
        <p:nvSpPr>
          <p:cNvPr id="9" name="Shape 7"/>
          <p:cNvSpPr/>
          <p:nvPr/>
        </p:nvSpPr>
        <p:spPr>
          <a:xfrm>
            <a:off x="4606442" y="2332165"/>
            <a:ext cx="2978810"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4606442" y="233216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行政权</a:t>
            </a:r>
            <a:endParaRPr lang="en-US" sz="1600" dirty="0"/>
          </a:p>
        </p:txBody>
      </p:sp>
      <p:sp>
        <p:nvSpPr>
          <p:cNvPr id="11" name="Text 9"/>
          <p:cNvSpPr/>
          <p:nvPr/>
        </p:nvSpPr>
        <p:spPr>
          <a:xfrm>
            <a:off x="4697882" y="2990533"/>
            <a:ext cx="2795930" cy="23948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主动干预、管理、控制社会生活。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以效率与目标实现为导向。</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层级服从，上命下从。</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正当性来自法律授权与执行效果。</a:t>
            </a:r>
            <a:endParaRPr lang="en-US" sz="1450" dirty="0"/>
          </a:p>
        </p:txBody>
      </p:sp>
      <p:sp>
        <p:nvSpPr>
          <p:cNvPr id="12" name="Shape 10"/>
          <p:cNvSpPr/>
          <p:nvPr/>
        </p:nvSpPr>
        <p:spPr>
          <a:xfrm>
            <a:off x="8097317" y="2076133"/>
            <a:ext cx="3527450" cy="3546983"/>
          </a:xfrm>
          <a:prstGeom prst="roundRect">
            <a:avLst>
              <a:gd name="adj" fmla="val 2592"/>
            </a:avLst>
          </a:prstGeom>
          <a:solidFill>
            <a:srgbClr val="ECF3F2"/>
          </a:solidFill>
          <a:ln w="12700">
            <a:solidFill>
              <a:srgbClr val="ECF3F2"/>
            </a:solidFill>
            <a:prstDash val="solid"/>
          </a:ln>
        </p:spPr>
      </p:sp>
      <p:sp>
        <p:nvSpPr>
          <p:cNvPr id="13" name="Shape 11"/>
          <p:cNvSpPr/>
          <p:nvPr/>
        </p:nvSpPr>
        <p:spPr>
          <a:xfrm>
            <a:off x="8371637" y="2332165"/>
            <a:ext cx="2978810" cy="512064"/>
          </a:xfrm>
          <a:prstGeom prst="roundRect">
            <a:avLst>
              <a:gd name="adj" fmla="val 17857"/>
            </a:avLst>
          </a:prstGeom>
          <a:solidFill>
            <a:srgbClr val="2F6E6A"/>
          </a:solidFill>
          <a:ln w="12700">
            <a:solidFill>
              <a:srgbClr val="2F6E6A"/>
            </a:solidFill>
            <a:prstDash val="solid"/>
          </a:ln>
        </p:spPr>
      </p:sp>
      <p:sp>
        <p:nvSpPr>
          <p:cNvPr id="14" name="Text 12"/>
          <p:cNvSpPr/>
          <p:nvPr/>
        </p:nvSpPr>
        <p:spPr>
          <a:xfrm>
            <a:off x="8371637" y="233216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司法权</a:t>
            </a:r>
            <a:endParaRPr lang="en-US" sz="1600" dirty="0"/>
          </a:p>
        </p:txBody>
      </p:sp>
      <p:sp>
        <p:nvSpPr>
          <p:cNvPr id="15" name="Text 13"/>
          <p:cNvSpPr/>
          <p:nvPr/>
        </p:nvSpPr>
        <p:spPr>
          <a:xfrm>
            <a:off x="8463077" y="2990533"/>
            <a:ext cx="2795930" cy="23948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被动应答，不告不理。</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以中立与程序公正为正当性基础。</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亲历审理，居中裁断，一案一决。</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严禁裁判者表达预设的价值偏好。</a:t>
            </a:r>
            <a:endParaRPr lang="en-US" sz="1450" dirty="0"/>
          </a:p>
        </p:txBody>
      </p:sp>
      <p:sp>
        <p:nvSpPr>
          <p:cNvPr id="16"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司法权的六项程序特征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被动性、公开性、多方参与性、亲历性、集中性、终结性</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特征一至三</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被动性 · 公开性 · 多方参与性</a:t>
            </a:r>
            <a:endParaRPr lang="en-US" sz="2800" dirty="0"/>
          </a:p>
        </p:txBody>
      </p:sp>
      <p:sp>
        <p:nvSpPr>
          <p:cNvPr id="4" name="Shape 2"/>
          <p:cNvSpPr/>
          <p:nvPr/>
        </p:nvSpPr>
        <p:spPr>
          <a:xfrm>
            <a:off x="566928" y="1316736"/>
            <a:ext cx="11057839" cy="1848866"/>
          </a:xfrm>
          <a:prstGeom prst="roundRect">
            <a:avLst>
              <a:gd name="adj" fmla="val 3957"/>
            </a:avLst>
          </a:prstGeom>
          <a:solidFill>
            <a:srgbClr val="F2F4F8"/>
          </a:solidFill>
          <a:ln w="12700">
            <a:solidFill>
              <a:srgbClr val="F2F4F8"/>
            </a:solidFill>
            <a:prstDash val="solid"/>
          </a:ln>
        </p:spPr>
      </p:sp>
      <p:sp>
        <p:nvSpPr>
          <p:cNvPr id="5" name="Shape 3"/>
          <p:cNvSpPr/>
          <p:nvPr/>
        </p:nvSpPr>
        <p:spPr>
          <a:xfrm>
            <a:off x="841248" y="1985137"/>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138756"/>
            <a:ext cx="204826" cy="204826"/>
          </a:xfrm>
          <a:prstGeom prst="rect">
            <a:avLst/>
          </a:prstGeom>
        </p:spPr>
      </p:pic>
      <p:sp>
        <p:nvSpPr>
          <p:cNvPr id="7" name="Text 4"/>
          <p:cNvSpPr/>
          <p:nvPr/>
        </p:nvSpPr>
        <p:spPr>
          <a:xfrm>
            <a:off x="1536192" y="1558925"/>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一、被动性：不告不理</a:t>
            </a:r>
            <a:endParaRPr lang="en-US" sz="1600" dirty="0"/>
          </a:p>
        </p:txBody>
      </p:sp>
      <p:sp>
        <p:nvSpPr>
          <p:cNvPr id="8" name="Text 5"/>
          <p:cNvSpPr/>
          <p:nvPr/>
        </p:nvSpPr>
        <p:spPr>
          <a:xfrm>
            <a:off x="1536192" y="1892173"/>
            <a:ext cx="9832543" cy="103124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通常情况下，行政机构靠其对社会生活的主动干预、管理、控制，来维护国家和社会的利益。但与此不同，司法裁判活动在启动方面必须保持被动性。托克维尔说：司法权自身不是主动的，要想使它行动，就得推动它。向它告发一个犯罪案件，它就惩罚犯罪的人；请它纠正一个非法行为，它就加以纠正；让它审查一项法案，它就予以解释。但是，它不能自己去追捕罪犯、调查非法行为和纠察事实。</a:t>
            </a:r>
            <a:endParaRPr lang="en-US" sz="1400" dirty="0"/>
          </a:p>
        </p:txBody>
      </p:sp>
      <p:sp>
        <p:nvSpPr>
          <p:cNvPr id="9" name="Shape 6"/>
          <p:cNvSpPr/>
          <p:nvPr/>
        </p:nvSpPr>
        <p:spPr>
          <a:xfrm>
            <a:off x="566928" y="3311906"/>
            <a:ext cx="11057839" cy="1591056"/>
          </a:xfrm>
          <a:prstGeom prst="roundRect">
            <a:avLst>
              <a:gd name="adj" fmla="val 4598"/>
            </a:avLst>
          </a:prstGeom>
          <a:solidFill>
            <a:srgbClr val="FFFFFF"/>
          </a:solidFill>
          <a:ln w="12700">
            <a:solidFill>
              <a:srgbClr val="D5DBE5"/>
            </a:solidFill>
            <a:prstDash val="solid"/>
          </a:ln>
        </p:spPr>
      </p:sp>
      <p:sp>
        <p:nvSpPr>
          <p:cNvPr id="10" name="Shape 7"/>
          <p:cNvSpPr/>
          <p:nvPr/>
        </p:nvSpPr>
        <p:spPr>
          <a:xfrm>
            <a:off x="841248" y="385140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4005021"/>
            <a:ext cx="204826" cy="204826"/>
          </a:xfrm>
          <a:prstGeom prst="rect">
            <a:avLst/>
          </a:prstGeom>
        </p:spPr>
      </p:pic>
      <p:sp>
        <p:nvSpPr>
          <p:cNvPr id="12" name="Text 8"/>
          <p:cNvSpPr/>
          <p:nvPr/>
        </p:nvSpPr>
        <p:spPr>
          <a:xfrm>
            <a:off x="1536192" y="3554095"/>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二、公开性与透明性</a:t>
            </a:r>
            <a:endParaRPr lang="en-US" sz="1600" dirty="0"/>
          </a:p>
        </p:txBody>
      </p:sp>
      <p:sp>
        <p:nvSpPr>
          <p:cNvPr id="13" name="Text 9"/>
          <p:cNvSpPr/>
          <p:nvPr/>
        </p:nvSpPr>
        <p:spPr>
          <a:xfrm>
            <a:off x="1536192" y="3887343"/>
            <a:ext cx="9832543" cy="77343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使社会公众真正全面地了解司法裁判活动的过程、裁决形成的依据，从而参与裁判过程、对法院的裁判施加外部制约；使被裁判者——尤其是刑事被告人的各项诉讼权利得到切实行使；使裁判者克服人性中固有的弱点，压制私欲、偏见、先入之见的影响，尽可能依据证据和法律作出裁判结论。</a:t>
            </a:r>
            <a:endParaRPr lang="en-US" sz="1400" dirty="0"/>
          </a:p>
        </p:txBody>
      </p:sp>
      <p:sp>
        <p:nvSpPr>
          <p:cNvPr id="14" name="Shape 10"/>
          <p:cNvSpPr/>
          <p:nvPr/>
        </p:nvSpPr>
        <p:spPr>
          <a:xfrm>
            <a:off x="566928" y="5049266"/>
            <a:ext cx="11057839" cy="1333246"/>
          </a:xfrm>
          <a:prstGeom prst="roundRect">
            <a:avLst>
              <a:gd name="adj" fmla="val 5487"/>
            </a:avLst>
          </a:prstGeom>
          <a:solidFill>
            <a:srgbClr val="F2F4F8"/>
          </a:solidFill>
          <a:ln w="12700">
            <a:solidFill>
              <a:srgbClr val="F2F4F8"/>
            </a:solidFill>
            <a:prstDash val="solid"/>
          </a:ln>
        </p:spPr>
      </p:sp>
      <p:sp>
        <p:nvSpPr>
          <p:cNvPr id="15" name="Shape 11"/>
          <p:cNvSpPr/>
          <p:nvPr/>
        </p:nvSpPr>
        <p:spPr>
          <a:xfrm>
            <a:off x="841248" y="5459857"/>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613476"/>
            <a:ext cx="204826" cy="204826"/>
          </a:xfrm>
          <a:prstGeom prst="rect">
            <a:avLst/>
          </a:prstGeom>
        </p:spPr>
      </p:pic>
      <p:sp>
        <p:nvSpPr>
          <p:cNvPr id="17" name="Text 12"/>
          <p:cNvSpPr/>
          <p:nvPr/>
        </p:nvSpPr>
        <p:spPr>
          <a:xfrm>
            <a:off x="1536192" y="5291455"/>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三、多方参与性</a:t>
            </a:r>
            <a:endParaRPr lang="en-US" sz="1600" dirty="0"/>
          </a:p>
        </p:txBody>
      </p:sp>
      <p:sp>
        <p:nvSpPr>
          <p:cNvPr id="18" name="Text 13"/>
          <p:cNvSpPr/>
          <p:nvPr/>
        </p:nvSpPr>
        <p:spPr>
          <a:xfrm>
            <a:off x="1536192" y="5624703"/>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司法裁判活动必须在作为被裁判者的控辩双方同时参与下，通过听取各方举证、辩论的方式进行。否则，无论是被裁判者还是普通社会公众，都可能对那种由裁判者单方面进行的裁判活动的公正性提出异议。这正是禁止单方接触规则的法理基础。</a:t>
            </a:r>
            <a:endParaRPr lang="en-US" sz="14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07</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特征四至六</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亲历性 · 集中性 · 终结性</a:t>
            </a:r>
            <a:endParaRPr lang="en-US" sz="2800" dirty="0"/>
          </a:p>
        </p:txBody>
      </p:sp>
      <p:sp>
        <p:nvSpPr>
          <p:cNvPr id="4" name="Shape 2"/>
          <p:cNvSpPr/>
          <p:nvPr/>
        </p:nvSpPr>
        <p:spPr>
          <a:xfrm>
            <a:off x="566928" y="1316736"/>
            <a:ext cx="11057839" cy="1591056"/>
          </a:xfrm>
          <a:prstGeom prst="roundRect">
            <a:avLst>
              <a:gd name="adj" fmla="val 4598"/>
            </a:avLst>
          </a:prstGeom>
          <a:solidFill>
            <a:srgbClr val="F2F4F8"/>
          </a:solidFill>
          <a:ln w="12700">
            <a:solidFill>
              <a:srgbClr val="F2F4F8"/>
            </a:solidFill>
            <a:prstDash val="solid"/>
          </a:ln>
        </p:spPr>
      </p:sp>
      <p:sp>
        <p:nvSpPr>
          <p:cNvPr id="5" name="Shape 3"/>
          <p:cNvSpPr/>
          <p:nvPr/>
        </p:nvSpPr>
        <p:spPr>
          <a:xfrm>
            <a:off x="841248" y="185623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09851"/>
            <a:ext cx="204826" cy="204826"/>
          </a:xfrm>
          <a:prstGeom prst="rect">
            <a:avLst/>
          </a:prstGeom>
        </p:spPr>
      </p:pic>
      <p:sp>
        <p:nvSpPr>
          <p:cNvPr id="7" name="Text 4"/>
          <p:cNvSpPr/>
          <p:nvPr/>
        </p:nvSpPr>
        <p:spPr>
          <a:xfrm>
            <a:off x="1536192" y="152723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四、亲历性：裁判者要亲自经历裁判全过程</a:t>
            </a:r>
            <a:endParaRPr lang="en-US" sz="1650" dirty="0"/>
          </a:p>
        </p:txBody>
      </p:sp>
      <p:sp>
        <p:nvSpPr>
          <p:cNvPr id="8" name="Text 5"/>
          <p:cNvSpPr/>
          <p:nvPr/>
        </p:nvSpPr>
        <p:spPr>
          <a:xfrm>
            <a:off x="1536192" y="186861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亲历性有两个基本要求：一是直接审理，要求裁判者在裁判过程中必须亲自在场，接触那些距离原始事实最近的证据材料；二是言词审理，要求裁判者以口头方式进行裁判活动，听取控辩双方以口头方式提交的各类证据。宋慈《洗冤集录》强调勘验须亲历亲为、不可假手他人，正是这一原则的古代表达。</a:t>
            </a:r>
            <a:endParaRPr lang="en-US" sz="1500" dirty="0"/>
          </a:p>
        </p:txBody>
      </p:sp>
      <p:sp>
        <p:nvSpPr>
          <p:cNvPr id="9" name="Shape 6"/>
          <p:cNvSpPr/>
          <p:nvPr/>
        </p:nvSpPr>
        <p:spPr>
          <a:xfrm>
            <a:off x="566928" y="3054096"/>
            <a:ext cx="11057839" cy="1591056"/>
          </a:xfrm>
          <a:prstGeom prst="roundRect">
            <a:avLst>
              <a:gd name="adj" fmla="val 4598"/>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26459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五、集中性：不更换、不间断</a:t>
            </a:r>
            <a:endParaRPr lang="en-US" sz="1650" dirty="0"/>
          </a:p>
        </p:txBody>
      </p:sp>
      <p:sp>
        <p:nvSpPr>
          <p:cNvPr id="13" name="Text 9"/>
          <p:cNvSpPr/>
          <p:nvPr/>
        </p:nvSpPr>
        <p:spPr>
          <a:xfrm>
            <a:off x="1536192" y="360597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裁判活动要在相对集中的时间、集中的场所连续不断地进行，直至形成最后的裁判结论为止。集中性与亲历性密切相关，有两个基本要求：裁判者不更换、裁判过程不间断。据前一要求，作为裁判者的法官、陪审员在对一个案件尚未形成裁决结论之前不得中途更换，否则业已进行完毕的裁判活动无效。</a:t>
            </a:r>
            <a:endParaRPr lang="en-US" sz="1500" dirty="0"/>
          </a:p>
        </p:txBody>
      </p:sp>
      <p:sp>
        <p:nvSpPr>
          <p:cNvPr id="14" name="Shape 10"/>
          <p:cNvSpPr/>
          <p:nvPr/>
        </p:nvSpPr>
        <p:spPr>
          <a:xfrm>
            <a:off x="566928" y="4791456"/>
            <a:ext cx="11057839" cy="1591056"/>
          </a:xfrm>
          <a:prstGeom prst="roundRect">
            <a:avLst>
              <a:gd name="adj" fmla="val 4598"/>
            </a:avLst>
          </a:prstGeom>
          <a:solidFill>
            <a:srgbClr val="F2F4F8"/>
          </a:solidFill>
          <a:ln w="12700">
            <a:solidFill>
              <a:srgbClr val="F2F4F8"/>
            </a:solidFill>
            <a:prstDash val="solid"/>
          </a:ln>
        </p:spPr>
      </p:sp>
      <p:sp>
        <p:nvSpPr>
          <p:cNvPr id="15" name="Shape 11"/>
          <p:cNvSpPr/>
          <p:nvPr/>
        </p:nvSpPr>
        <p:spPr>
          <a:xfrm>
            <a:off x="841248" y="533095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84571"/>
            <a:ext cx="204826" cy="204826"/>
          </a:xfrm>
          <a:prstGeom prst="rect">
            <a:avLst/>
          </a:prstGeom>
        </p:spPr>
      </p:pic>
      <p:sp>
        <p:nvSpPr>
          <p:cNvPr id="17" name="Text 12"/>
          <p:cNvSpPr/>
          <p:nvPr/>
        </p:nvSpPr>
        <p:spPr>
          <a:xfrm>
            <a:off x="1536192" y="500195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六、终结性：定纷止争</a:t>
            </a:r>
            <a:endParaRPr lang="en-US" sz="1650" dirty="0"/>
          </a:p>
        </p:txBody>
      </p:sp>
      <p:sp>
        <p:nvSpPr>
          <p:cNvPr id="18" name="Text 13"/>
          <p:cNvSpPr/>
          <p:nvPr/>
        </p:nvSpPr>
        <p:spPr>
          <a:xfrm>
            <a:off x="1536192" y="534333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法院在作出生效裁判之后，非依法律明确规定，不得启动对该案件的再审程序；控辩双方之间的利益争端一旦由裁判者以生效裁判的形式加以解决，一般不得再将这一争端纳入司法裁判的范围。终结性是对裁判活动在终结环节上的要求，从而使裁判具有定纷止争的效力。</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08</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推导</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六项特征各自推出哪些伦理义务</a:t>
            </a:r>
            <a:endParaRPr lang="en-US" sz="2800" dirty="0"/>
          </a:p>
        </p:txBody>
      </p:sp>
      <p:sp>
        <p:nvSpPr>
          <p:cNvPr id="4" name="Shape 2"/>
          <p:cNvSpPr/>
          <p:nvPr/>
        </p:nvSpPr>
        <p:spPr>
          <a:xfrm>
            <a:off x="566928" y="1384491"/>
            <a:ext cx="3527450"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77099"/>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814259"/>
            <a:ext cx="182880" cy="182880"/>
          </a:xfrm>
          <a:prstGeom prst="rect">
            <a:avLst/>
          </a:prstGeom>
        </p:spPr>
      </p:pic>
      <p:sp>
        <p:nvSpPr>
          <p:cNvPr id="7" name="Text 4"/>
          <p:cNvSpPr/>
          <p:nvPr/>
        </p:nvSpPr>
        <p:spPr>
          <a:xfrm>
            <a:off x="886968" y="2298891"/>
            <a:ext cx="2887370"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被动性 →</a:t>
            </a:r>
            <a:endParaRPr lang="en-US" sz="1400" dirty="0"/>
          </a:p>
        </p:txBody>
      </p:sp>
      <p:sp>
        <p:nvSpPr>
          <p:cNvPr id="8" name="Text 5"/>
          <p:cNvSpPr/>
          <p:nvPr/>
        </p:nvSpPr>
        <p:spPr>
          <a:xfrm>
            <a:off x="886968" y="2649157"/>
            <a:ext cx="2887370"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不得主动为当事人出谋划策；不得动员当事人起诉或撤诉；不得超出诉讼请求范围裁判；不得在庭外主动调查取证（法定情形除外）。</a:t>
            </a:r>
            <a:endParaRPr lang="en-US" sz="1150" dirty="0"/>
          </a:p>
        </p:txBody>
      </p:sp>
      <p:sp>
        <p:nvSpPr>
          <p:cNvPr id="9" name="Shape 6"/>
          <p:cNvSpPr/>
          <p:nvPr/>
        </p:nvSpPr>
        <p:spPr>
          <a:xfrm>
            <a:off x="4332122" y="1384491"/>
            <a:ext cx="3527450" cy="2423160"/>
          </a:xfrm>
          <a:prstGeom prst="roundRect">
            <a:avLst>
              <a:gd name="adj" fmla="val 3774"/>
            </a:avLst>
          </a:prstGeom>
          <a:solidFill>
            <a:srgbClr val="F2F4F8"/>
          </a:solidFill>
          <a:ln w="12700">
            <a:solidFill>
              <a:srgbClr val="F2F4F8"/>
            </a:solidFill>
            <a:prstDash val="solid"/>
          </a:ln>
        </p:spPr>
      </p:sp>
      <p:sp>
        <p:nvSpPr>
          <p:cNvPr id="10" name="Shape 7"/>
          <p:cNvSpPr/>
          <p:nvPr/>
        </p:nvSpPr>
        <p:spPr>
          <a:xfrm>
            <a:off x="4652162" y="1677099"/>
            <a:ext cx="457200" cy="457200"/>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4789322" y="1814259"/>
            <a:ext cx="182880" cy="182880"/>
          </a:xfrm>
          <a:prstGeom prst="rect">
            <a:avLst/>
          </a:prstGeom>
        </p:spPr>
      </p:pic>
      <p:sp>
        <p:nvSpPr>
          <p:cNvPr id="12" name="Text 8"/>
          <p:cNvSpPr/>
          <p:nvPr/>
        </p:nvSpPr>
        <p:spPr>
          <a:xfrm>
            <a:off x="4652162" y="2298891"/>
            <a:ext cx="2887370"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公开性 →</a:t>
            </a:r>
            <a:endParaRPr lang="en-US" sz="1400" dirty="0"/>
          </a:p>
        </p:txBody>
      </p:sp>
      <p:sp>
        <p:nvSpPr>
          <p:cNvPr id="13" name="Text 9"/>
          <p:cNvSpPr/>
          <p:nvPr/>
        </p:nvSpPr>
        <p:spPr>
          <a:xfrm>
            <a:off x="4652162" y="2649157"/>
            <a:ext cx="2887370"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依法公开审理与宣判；裁判文书说理并公开；不得对应当公开的事项作不当保密；同时须保守审判工作秘密与个人隐私。</a:t>
            </a:r>
            <a:endParaRPr lang="en-US" sz="1150" dirty="0"/>
          </a:p>
        </p:txBody>
      </p:sp>
      <p:sp>
        <p:nvSpPr>
          <p:cNvPr id="14" name="Shape 10"/>
          <p:cNvSpPr/>
          <p:nvPr/>
        </p:nvSpPr>
        <p:spPr>
          <a:xfrm>
            <a:off x="8097317" y="1384491"/>
            <a:ext cx="3527450" cy="2423160"/>
          </a:xfrm>
          <a:prstGeom prst="roundRect">
            <a:avLst>
              <a:gd name="adj" fmla="val 3774"/>
            </a:avLst>
          </a:prstGeom>
          <a:solidFill>
            <a:srgbClr val="F2F4F8"/>
          </a:solidFill>
          <a:ln w="12700">
            <a:solidFill>
              <a:srgbClr val="F2F4F8"/>
            </a:solidFill>
            <a:prstDash val="solid"/>
          </a:ln>
        </p:spPr>
      </p:sp>
      <p:sp>
        <p:nvSpPr>
          <p:cNvPr id="15" name="Shape 11"/>
          <p:cNvSpPr/>
          <p:nvPr/>
        </p:nvSpPr>
        <p:spPr>
          <a:xfrm>
            <a:off x="8417357" y="1677099"/>
            <a:ext cx="457200" cy="457200"/>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8554517" y="1814259"/>
            <a:ext cx="182880" cy="182880"/>
          </a:xfrm>
          <a:prstGeom prst="rect">
            <a:avLst/>
          </a:prstGeom>
        </p:spPr>
      </p:pic>
      <p:sp>
        <p:nvSpPr>
          <p:cNvPr id="17" name="Text 12"/>
          <p:cNvSpPr/>
          <p:nvPr/>
        </p:nvSpPr>
        <p:spPr>
          <a:xfrm>
            <a:off x="8417357" y="2298891"/>
            <a:ext cx="2887370"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多方参与性 →</a:t>
            </a:r>
            <a:endParaRPr lang="en-US" sz="1400" dirty="0"/>
          </a:p>
        </p:txBody>
      </p:sp>
      <p:sp>
        <p:nvSpPr>
          <p:cNvPr id="18" name="Text 13"/>
          <p:cNvSpPr/>
          <p:nvPr/>
        </p:nvSpPr>
        <p:spPr>
          <a:xfrm>
            <a:off x="8417357" y="2649157"/>
            <a:ext cx="2887370"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禁止单方接触；应当给予双方平等的陈述与举证机会；不得对一方作出程序上的优待；调解中不得偏袒。</a:t>
            </a:r>
            <a:endParaRPr lang="en-US" sz="1150" dirty="0"/>
          </a:p>
        </p:txBody>
      </p:sp>
      <p:sp>
        <p:nvSpPr>
          <p:cNvPr id="19" name="Shape 14"/>
          <p:cNvSpPr/>
          <p:nvPr/>
        </p:nvSpPr>
        <p:spPr>
          <a:xfrm>
            <a:off x="566928" y="4027107"/>
            <a:ext cx="3527450" cy="2287651"/>
          </a:xfrm>
          <a:prstGeom prst="roundRect">
            <a:avLst>
              <a:gd name="adj" fmla="val 3997"/>
            </a:avLst>
          </a:prstGeom>
          <a:solidFill>
            <a:srgbClr val="F2F4F8"/>
          </a:solidFill>
          <a:ln w="12700">
            <a:solidFill>
              <a:srgbClr val="F2F4F8"/>
            </a:solidFill>
            <a:prstDash val="solid"/>
          </a:ln>
        </p:spPr>
      </p:sp>
      <p:sp>
        <p:nvSpPr>
          <p:cNvPr id="20" name="Shape 15"/>
          <p:cNvSpPr/>
          <p:nvPr/>
        </p:nvSpPr>
        <p:spPr>
          <a:xfrm>
            <a:off x="886968" y="4319715"/>
            <a:ext cx="457200" cy="457200"/>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1024128" y="4456875"/>
            <a:ext cx="182880" cy="182880"/>
          </a:xfrm>
          <a:prstGeom prst="rect">
            <a:avLst/>
          </a:prstGeom>
        </p:spPr>
      </p:pic>
      <p:sp>
        <p:nvSpPr>
          <p:cNvPr id="22" name="Text 16"/>
          <p:cNvSpPr/>
          <p:nvPr/>
        </p:nvSpPr>
        <p:spPr>
          <a:xfrm>
            <a:off x="886968" y="4941507"/>
            <a:ext cx="2887370"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亲历性 →</a:t>
            </a:r>
            <a:endParaRPr lang="en-US" sz="1400" dirty="0"/>
          </a:p>
        </p:txBody>
      </p:sp>
      <p:sp>
        <p:nvSpPr>
          <p:cNvPr id="23" name="Text 17"/>
          <p:cNvSpPr/>
          <p:nvPr/>
        </p:nvSpPr>
        <p:spPr>
          <a:xfrm>
            <a:off x="886968" y="5291773"/>
            <a:ext cx="2887370" cy="803529"/>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必须亲自参加庭审；不得由未参加审理者作出裁判；合议庭成员应当实质参与评议；不得以阅卷代替开庭。</a:t>
            </a:r>
            <a:endParaRPr lang="en-US" sz="1150" dirty="0"/>
          </a:p>
        </p:txBody>
      </p:sp>
      <p:sp>
        <p:nvSpPr>
          <p:cNvPr id="24" name="Shape 18"/>
          <p:cNvSpPr/>
          <p:nvPr/>
        </p:nvSpPr>
        <p:spPr>
          <a:xfrm>
            <a:off x="4332122" y="4027107"/>
            <a:ext cx="3527450" cy="2287651"/>
          </a:xfrm>
          <a:prstGeom prst="roundRect">
            <a:avLst>
              <a:gd name="adj" fmla="val 3997"/>
            </a:avLst>
          </a:prstGeom>
          <a:solidFill>
            <a:srgbClr val="F2F4F8"/>
          </a:solidFill>
          <a:ln w="12700">
            <a:solidFill>
              <a:srgbClr val="F2F4F8"/>
            </a:solidFill>
            <a:prstDash val="solid"/>
          </a:ln>
        </p:spPr>
      </p:sp>
      <p:sp>
        <p:nvSpPr>
          <p:cNvPr id="25" name="Shape 19"/>
          <p:cNvSpPr/>
          <p:nvPr/>
        </p:nvSpPr>
        <p:spPr>
          <a:xfrm>
            <a:off x="4652162" y="4319715"/>
            <a:ext cx="457200" cy="457200"/>
          </a:xfrm>
          <a:prstGeom prst="ellipse">
            <a:avLst/>
          </a:prstGeom>
          <a:solidFill>
            <a:srgbClr val="13233F"/>
          </a:solidFill>
          <a:ln w="12700">
            <a:solidFill>
              <a:srgbClr val="13233F"/>
            </a:solidFill>
            <a:prstDash val="solid"/>
          </a:ln>
        </p:spPr>
      </p:sp>
      <p:pic>
        <p:nvPicPr>
          <p:cNvPr id="26" name="Image 4" descr="preencoded.png">    </p:cNvPr>
          <p:cNvPicPr>
            <a:picLocks noChangeAspect="1"/>
          </p:cNvPicPr>
          <p:nvPr/>
        </p:nvPicPr>
        <p:blipFill>
          <a:blip r:embed="rId5"/>
          <a:stretch>
            <a:fillRect/>
          </a:stretch>
        </p:blipFill>
        <p:spPr>
          <a:xfrm>
            <a:off x="4789322" y="4456875"/>
            <a:ext cx="182880" cy="182880"/>
          </a:xfrm>
          <a:prstGeom prst="rect">
            <a:avLst/>
          </a:prstGeom>
        </p:spPr>
      </p:pic>
      <p:sp>
        <p:nvSpPr>
          <p:cNvPr id="27" name="Text 20"/>
          <p:cNvSpPr/>
          <p:nvPr/>
        </p:nvSpPr>
        <p:spPr>
          <a:xfrm>
            <a:off x="4652162" y="4941507"/>
            <a:ext cx="2887370"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集中性 →</a:t>
            </a:r>
            <a:endParaRPr lang="en-US" sz="1400" dirty="0"/>
          </a:p>
        </p:txBody>
      </p:sp>
      <p:sp>
        <p:nvSpPr>
          <p:cNvPr id="28" name="Text 21"/>
          <p:cNvSpPr/>
          <p:nvPr/>
        </p:nvSpPr>
        <p:spPr>
          <a:xfrm>
            <a:off x="4652162" y="5291773"/>
            <a:ext cx="2887370" cy="803529"/>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不得无正当理由中途更换承办人；不得无故拖延审理；变更合议庭组成人员应当重新开庭。</a:t>
            </a:r>
            <a:endParaRPr lang="en-US" sz="1150" dirty="0"/>
          </a:p>
        </p:txBody>
      </p:sp>
      <p:sp>
        <p:nvSpPr>
          <p:cNvPr id="29" name="Shape 22"/>
          <p:cNvSpPr/>
          <p:nvPr/>
        </p:nvSpPr>
        <p:spPr>
          <a:xfrm>
            <a:off x="8097317" y="4027107"/>
            <a:ext cx="3527450" cy="2287651"/>
          </a:xfrm>
          <a:prstGeom prst="roundRect">
            <a:avLst>
              <a:gd name="adj" fmla="val 3997"/>
            </a:avLst>
          </a:prstGeom>
          <a:solidFill>
            <a:srgbClr val="F2F4F8"/>
          </a:solidFill>
          <a:ln w="12700">
            <a:solidFill>
              <a:srgbClr val="F2F4F8"/>
            </a:solidFill>
            <a:prstDash val="solid"/>
          </a:ln>
        </p:spPr>
      </p:sp>
      <p:sp>
        <p:nvSpPr>
          <p:cNvPr id="30" name="Shape 23"/>
          <p:cNvSpPr/>
          <p:nvPr/>
        </p:nvSpPr>
        <p:spPr>
          <a:xfrm>
            <a:off x="8417357" y="4319715"/>
            <a:ext cx="457200" cy="457200"/>
          </a:xfrm>
          <a:prstGeom prst="ellipse">
            <a:avLst/>
          </a:prstGeom>
          <a:solidFill>
            <a:srgbClr val="13233F"/>
          </a:solidFill>
          <a:ln w="12700">
            <a:solidFill>
              <a:srgbClr val="13233F"/>
            </a:solidFill>
            <a:prstDash val="solid"/>
          </a:ln>
        </p:spPr>
      </p:sp>
      <p:pic>
        <p:nvPicPr>
          <p:cNvPr id="31" name="Image 5" descr="preencoded.png">    </p:cNvPr>
          <p:cNvPicPr>
            <a:picLocks noChangeAspect="1"/>
          </p:cNvPicPr>
          <p:nvPr/>
        </p:nvPicPr>
        <p:blipFill>
          <a:blip r:embed="rId6"/>
          <a:stretch>
            <a:fillRect/>
          </a:stretch>
        </p:blipFill>
        <p:spPr>
          <a:xfrm>
            <a:off x="8554517" y="4456875"/>
            <a:ext cx="182880" cy="182880"/>
          </a:xfrm>
          <a:prstGeom prst="rect">
            <a:avLst/>
          </a:prstGeom>
        </p:spPr>
      </p:pic>
      <p:sp>
        <p:nvSpPr>
          <p:cNvPr id="32" name="Text 24"/>
          <p:cNvSpPr/>
          <p:nvPr/>
        </p:nvSpPr>
        <p:spPr>
          <a:xfrm>
            <a:off x="8417357" y="4941507"/>
            <a:ext cx="2887370"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终结性 →</a:t>
            </a:r>
            <a:endParaRPr lang="en-US" sz="1400" dirty="0"/>
          </a:p>
        </p:txBody>
      </p:sp>
      <p:sp>
        <p:nvSpPr>
          <p:cNvPr id="33" name="Text 25"/>
          <p:cNvSpPr/>
          <p:nvPr/>
        </p:nvSpPr>
        <p:spPr>
          <a:xfrm>
            <a:off x="8417357" y="5291773"/>
            <a:ext cx="2887370" cy="803529"/>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审慎对待再审启动；尊重生效裁判的既判力；不得为迎合舆论或压力轻易推翻已决案件。</a:t>
            </a:r>
            <a:endParaRPr lang="en-US" sz="1150" dirty="0"/>
          </a:p>
        </p:txBody>
      </p:sp>
      <p:sp>
        <p:nvSpPr>
          <p:cNvPr id="34"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09</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司法权的独立性：四个层次</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司法独立的核心，是裁判者在裁判过程中只服从法律的要求与良心的命令</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司法独立的核心，是裁判者在进行司法裁判的过程中，只能服从法律的要求及其良心的命令，而不受任何来自法院内部或者外部的影响、干预或控制。</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司法独立原理</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这里的“裁判者”可以是个体法官，可以是由若干法官或陪审员组成的法庭，也可以是由非法律职业人士组成的陪审团</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四个层次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从法院独立到法官特权</a:t>
            </a:r>
            <a:endParaRPr lang="en-US" sz="2800" dirty="0"/>
          </a:p>
        </p:txBody>
      </p:sp>
      <p:sp>
        <p:nvSpPr>
          <p:cNvPr id="4" name="Shape 2"/>
          <p:cNvSpPr/>
          <p:nvPr/>
        </p:nvSpPr>
        <p:spPr>
          <a:xfrm>
            <a:off x="566928" y="1316736"/>
            <a:ext cx="11057839" cy="1315545"/>
          </a:xfrm>
          <a:prstGeom prst="roundRect">
            <a:avLst>
              <a:gd name="adj" fmla="val 5561"/>
            </a:avLst>
          </a:prstGeom>
          <a:solidFill>
            <a:srgbClr val="F2F4F8"/>
          </a:solidFill>
          <a:ln w="12700">
            <a:solidFill>
              <a:srgbClr val="F2F4F8"/>
            </a:solidFill>
            <a:prstDash val="solid"/>
          </a:ln>
        </p:spPr>
      </p:sp>
      <p:sp>
        <p:nvSpPr>
          <p:cNvPr id="5" name="Shape 3"/>
          <p:cNvSpPr/>
          <p:nvPr/>
        </p:nvSpPr>
        <p:spPr>
          <a:xfrm>
            <a:off x="841248" y="1718477"/>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872096"/>
            <a:ext cx="204826" cy="204826"/>
          </a:xfrm>
          <a:prstGeom prst="rect">
            <a:avLst/>
          </a:prstGeom>
        </p:spPr>
      </p:pic>
      <p:sp>
        <p:nvSpPr>
          <p:cNvPr id="7" name="Text 4"/>
          <p:cNvSpPr/>
          <p:nvPr/>
        </p:nvSpPr>
        <p:spPr>
          <a:xfrm>
            <a:off x="1536192" y="1510546"/>
            <a:ext cx="9832543"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一、法院的整体独立</a:t>
            </a:r>
            <a:endParaRPr lang="en-US" sz="1350" dirty="0"/>
          </a:p>
        </p:txBody>
      </p:sp>
      <p:sp>
        <p:nvSpPr>
          <p:cNvPr id="8" name="Text 5"/>
          <p:cNvSpPr/>
          <p:nvPr/>
        </p:nvSpPr>
        <p:spPr>
          <a:xfrm>
            <a:off x="1536192" y="1803154"/>
            <a:ext cx="9832543" cy="635318"/>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指法院无论在司法裁判还是司法行政管理方面，都独立于法院之外的机构、组织和个人，不受外部力量或权威的控制和干预。考虑到法院活动极易受到其他国家权力机构的控制与干预，法院必须首先独立于行政机构和立法机构；又鉴于裁判活动也可能受到新闻传媒、大众舆论的不当影响，法律必须建立可使法院摆脱传媒和舆论不当影响的制度机制。</a:t>
            </a:r>
            <a:endParaRPr lang="en-US" sz="1150" dirty="0"/>
          </a:p>
        </p:txBody>
      </p:sp>
      <p:sp>
        <p:nvSpPr>
          <p:cNvPr id="9" name="Shape 6"/>
          <p:cNvSpPr/>
          <p:nvPr/>
        </p:nvSpPr>
        <p:spPr>
          <a:xfrm>
            <a:off x="566928" y="2778585"/>
            <a:ext cx="11057839" cy="1103773"/>
          </a:xfrm>
          <a:prstGeom prst="roundRect">
            <a:avLst>
              <a:gd name="adj" fmla="val 6627"/>
            </a:avLst>
          </a:prstGeom>
          <a:solidFill>
            <a:srgbClr val="FFFFFF"/>
          </a:solidFill>
          <a:ln w="12700">
            <a:solidFill>
              <a:srgbClr val="D5DBE5"/>
            </a:solidFill>
            <a:prstDash val="solid"/>
          </a:ln>
        </p:spPr>
      </p:sp>
      <p:sp>
        <p:nvSpPr>
          <p:cNvPr id="10" name="Shape 7"/>
          <p:cNvSpPr/>
          <p:nvPr/>
        </p:nvSpPr>
        <p:spPr>
          <a:xfrm>
            <a:off x="841248" y="3074440"/>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228059"/>
            <a:ext cx="204826" cy="204826"/>
          </a:xfrm>
          <a:prstGeom prst="rect">
            <a:avLst/>
          </a:prstGeom>
        </p:spPr>
      </p:pic>
      <p:sp>
        <p:nvSpPr>
          <p:cNvPr id="12" name="Text 8"/>
          <p:cNvSpPr/>
          <p:nvPr/>
        </p:nvSpPr>
        <p:spPr>
          <a:xfrm>
            <a:off x="1536192" y="2972395"/>
            <a:ext cx="9832543"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二、法院的内部独立</a:t>
            </a:r>
            <a:endParaRPr lang="en-US" sz="1350" dirty="0"/>
          </a:p>
        </p:txBody>
      </p:sp>
      <p:sp>
        <p:nvSpPr>
          <p:cNvPr id="13" name="Text 9"/>
          <p:cNvSpPr/>
          <p:nvPr/>
        </p:nvSpPr>
        <p:spPr>
          <a:xfrm>
            <a:off x="1536192" y="3265003"/>
            <a:ext cx="9832543" cy="423545"/>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指法官进行裁判活动时独立于其同事以及上级法院的法官。法院内部若在保障法官独立裁判方面存在制度瑕疵，法官就可能受到其他法官、法院司法行政首脑以及上级法官的控制，使法官在裁判方面依附于本院院长、庭长、审判委员会，甚至受制于上级法院。</a:t>
            </a:r>
            <a:endParaRPr lang="en-US" sz="1150" dirty="0"/>
          </a:p>
        </p:txBody>
      </p:sp>
      <p:sp>
        <p:nvSpPr>
          <p:cNvPr id="14" name="Shape 10"/>
          <p:cNvSpPr/>
          <p:nvPr/>
        </p:nvSpPr>
        <p:spPr>
          <a:xfrm>
            <a:off x="566928" y="4028662"/>
            <a:ext cx="11057839" cy="1103773"/>
          </a:xfrm>
          <a:prstGeom prst="roundRect">
            <a:avLst>
              <a:gd name="adj" fmla="val 6627"/>
            </a:avLst>
          </a:prstGeom>
          <a:solidFill>
            <a:srgbClr val="F2F4F8"/>
          </a:solidFill>
          <a:ln w="12700">
            <a:solidFill>
              <a:srgbClr val="F2F4F8"/>
            </a:solidFill>
            <a:prstDash val="solid"/>
          </a:ln>
        </p:spPr>
      </p:sp>
      <p:sp>
        <p:nvSpPr>
          <p:cNvPr id="15" name="Shape 11"/>
          <p:cNvSpPr/>
          <p:nvPr/>
        </p:nvSpPr>
        <p:spPr>
          <a:xfrm>
            <a:off x="841248" y="4324517"/>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478136"/>
            <a:ext cx="204826" cy="204826"/>
          </a:xfrm>
          <a:prstGeom prst="rect">
            <a:avLst/>
          </a:prstGeom>
        </p:spPr>
      </p:pic>
      <p:sp>
        <p:nvSpPr>
          <p:cNvPr id="17" name="Text 12"/>
          <p:cNvSpPr/>
          <p:nvPr/>
        </p:nvSpPr>
        <p:spPr>
          <a:xfrm>
            <a:off x="1536192" y="4222472"/>
            <a:ext cx="9832543"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三、法官的身份独立</a:t>
            </a:r>
            <a:endParaRPr lang="en-US" sz="1350" dirty="0"/>
          </a:p>
        </p:txBody>
      </p:sp>
      <p:sp>
        <p:nvSpPr>
          <p:cNvPr id="18" name="Text 13"/>
          <p:cNvSpPr/>
          <p:nvPr/>
        </p:nvSpPr>
        <p:spPr>
          <a:xfrm>
            <a:off x="1536192" y="4515080"/>
            <a:ext cx="9832543" cy="423545"/>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法官的任职期间和任职条件应当得到充分保障。如果法官的任职期间不固定、定期轮换或较为短暂，或者法官在薪俸、晋升、调转、惩戒等方面完全受制于某一机构、组织或个人，法官就不可能从容不迫地依法独立裁判，而会出现职业服从甚至人身依附现象。</a:t>
            </a:r>
            <a:endParaRPr lang="en-US" sz="1150" dirty="0"/>
          </a:p>
        </p:txBody>
      </p:sp>
      <p:sp>
        <p:nvSpPr>
          <p:cNvPr id="19" name="Shape 14"/>
          <p:cNvSpPr/>
          <p:nvPr/>
        </p:nvSpPr>
        <p:spPr>
          <a:xfrm>
            <a:off x="566928" y="5278739"/>
            <a:ext cx="11057839" cy="1103773"/>
          </a:xfrm>
          <a:prstGeom prst="roundRect">
            <a:avLst>
              <a:gd name="adj" fmla="val 6627"/>
            </a:avLst>
          </a:prstGeom>
          <a:solidFill>
            <a:srgbClr val="FFFFFF"/>
          </a:solidFill>
          <a:ln w="12700">
            <a:solidFill>
              <a:srgbClr val="D5DBE5"/>
            </a:solidFill>
            <a:prstDash val="solid"/>
          </a:ln>
        </p:spPr>
      </p:sp>
      <p:sp>
        <p:nvSpPr>
          <p:cNvPr id="20" name="Shape 15"/>
          <p:cNvSpPr/>
          <p:nvPr/>
        </p:nvSpPr>
        <p:spPr>
          <a:xfrm>
            <a:off x="841248" y="5574594"/>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28213"/>
            <a:ext cx="204826" cy="204826"/>
          </a:xfrm>
          <a:prstGeom prst="rect">
            <a:avLst/>
          </a:prstGeom>
        </p:spPr>
      </p:pic>
      <p:sp>
        <p:nvSpPr>
          <p:cNvPr id="22" name="Text 16"/>
          <p:cNvSpPr/>
          <p:nvPr/>
        </p:nvSpPr>
        <p:spPr>
          <a:xfrm>
            <a:off x="1536192" y="5472549"/>
            <a:ext cx="9832543"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四、法官的职业特权</a:t>
            </a:r>
            <a:endParaRPr lang="en-US" sz="1350" dirty="0"/>
          </a:p>
        </p:txBody>
      </p:sp>
      <p:sp>
        <p:nvSpPr>
          <p:cNvPr id="23" name="Text 17"/>
          <p:cNvSpPr/>
          <p:nvPr/>
        </p:nvSpPr>
        <p:spPr>
          <a:xfrm>
            <a:off x="1536192" y="5765157"/>
            <a:ext cx="9832543" cy="423545"/>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使法官为履行裁判职能而享有特殊的职业保障，目的在于使法官在行使司法权方面免受一系列指控、追究、评论，从而为独立裁判创造必要的安全氛围。例如：法官在裁判过程中所发表的言论不受刑事或民事指控；正在审理的案件不受外部评论；对案件的审理和裁判结论不得被列入议会讨论日程等。</a:t>
            </a:r>
            <a:endParaRPr lang="en-US" sz="11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警示案例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当法官因坚守职责而付出生命代价</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身份独立</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周春梅法官被害案（2021年）</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法院经审理查明：被告人向慧为达到案件胜诉目的，多次请求被害人周春梅（湖南省高级人民法院法官，与向慧系同乡和校友）向办案法官打招呼，均被拒绝，遂心生怨恨，起意报复。</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2021年1月4日，向慧为方便接近周春梅并伺机报复，应聘为周春梅居住小区的保洁员。1月12日上午7时许，向慧发现周春梅从小区电梯间进入车库，即上前将其扑倒在地，用随身携带的单刃刀朝周春梅头、颈部连刺数刀，致其右侧颈静脉破裂大失血当场死亡。</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向慧后被依法判处死刑并执行。周春梅被追授全国模范法官等荣誉称号。</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周春梅拒绝“打招呼”，履行的是哪一项具体义务？</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本案暴露了法官职业保障的哪些不足？</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若周春梅当时选择“了解一下情况”，会违反哪些规范？</a:t>
            </a:r>
            <a:endParaRPr lang="en-US" sz="1400" dirty="0"/>
          </a:p>
        </p:txBody>
      </p:sp>
      <p:sp>
        <p:nvSpPr>
          <p:cNvPr id="20" name="Shape 18"/>
          <p:cNvSpPr/>
          <p:nvPr/>
        </p:nvSpPr>
        <p:spPr>
          <a:xfrm>
            <a:off x="7958023" y="537083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37083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129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身份独立与人身安全保障是什么关系？</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制度保障</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保护司法人员依法履行法定职责</a:t>
            </a:r>
            <a:endParaRPr lang="en-US" sz="2800" dirty="0"/>
          </a:p>
        </p:txBody>
      </p:sp>
      <p:sp>
        <p:nvSpPr>
          <p:cNvPr id="4" name="Shape 2"/>
          <p:cNvSpPr/>
          <p:nvPr/>
        </p:nvSpPr>
        <p:spPr>
          <a:xfrm>
            <a:off x="566928" y="1316736"/>
            <a:ext cx="11057839" cy="1467739"/>
          </a:xfrm>
          <a:prstGeom prst="roundRect">
            <a:avLst>
              <a:gd name="adj" fmla="val 6230"/>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《法官法》第八条（节录）</a:t>
            </a:r>
            <a:endParaRPr lang="en-US" sz="1500" dirty="0"/>
          </a:p>
        </p:txBody>
      </p:sp>
      <p:sp>
        <p:nvSpPr>
          <p:cNvPr id="8" name="Text 6"/>
          <p:cNvSpPr/>
          <p:nvPr/>
        </p:nvSpPr>
        <p:spPr>
          <a:xfrm>
            <a:off x="960120" y="1956816"/>
            <a:ext cx="10271455" cy="608203"/>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法官依法履行职责，受法律保护，不受行政机关、社会团体和个人的干涉。</a:t>
            </a:r>
            <a:endParaRPr lang="en-US" sz="1550" dirty="0"/>
          </a:p>
        </p:txBody>
      </p:sp>
      <p:sp>
        <p:nvSpPr>
          <p:cNvPr id="9" name="Shape 7"/>
          <p:cNvSpPr/>
          <p:nvPr/>
        </p:nvSpPr>
        <p:spPr>
          <a:xfrm>
            <a:off x="566928" y="2967355"/>
            <a:ext cx="11057839" cy="2058289"/>
          </a:xfrm>
          <a:prstGeom prst="roundRect">
            <a:avLst>
              <a:gd name="adj" fmla="val 4443"/>
            </a:avLst>
          </a:prstGeom>
          <a:solidFill>
            <a:srgbClr val="F6F1E8"/>
          </a:solidFill>
          <a:ln w="12700">
            <a:solidFill>
              <a:srgbClr val="F6F1E8"/>
            </a:solidFill>
            <a:prstDash val="solid"/>
          </a:ln>
        </p:spPr>
      </p:sp>
      <p:sp>
        <p:nvSpPr>
          <p:cNvPr id="10" name="Shape 8"/>
          <p:cNvSpPr/>
          <p:nvPr/>
        </p:nvSpPr>
        <p:spPr>
          <a:xfrm>
            <a:off x="877824" y="320509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20509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18681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《保护司法人员依法履行法定职责规定》要旨</a:t>
            </a:r>
            <a:endParaRPr lang="en-US" sz="1500" dirty="0"/>
          </a:p>
        </p:txBody>
      </p:sp>
      <p:sp>
        <p:nvSpPr>
          <p:cNvPr id="13" name="Text 11"/>
          <p:cNvSpPr/>
          <p:nvPr/>
        </p:nvSpPr>
        <p:spPr>
          <a:xfrm>
            <a:off x="960120" y="3607435"/>
            <a:ext cx="10271455" cy="1198753"/>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非因法定事由、非经法定程序，不得将法官调离、免职、辞退或者作出降级、撤职等处分。</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法官依法履行审判职责的行为受法律保护，任何单位或者个人不得要求法官从事超出法定职责范围的事务。</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对于干扰、阻碍司法活动，以及诬告陷害、侮辱诽谤、暴力伤害司法人员及其近亲属的行为，依法追究责任。</a:t>
            </a:r>
            <a:endParaRPr lang="en-US" sz="1550" dirty="0"/>
          </a:p>
        </p:txBody>
      </p:sp>
      <p:sp>
        <p:nvSpPr>
          <p:cNvPr id="14" name="Shape 12"/>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5" name="Text 13"/>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请注意“非因法定事由、非经法定程序”这一表述：它把法官的职务保障提升为一项法定权利，而不再是组织的裁量事项。这正是身份独立的制度化表达。</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14</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法官职业伦理的规范体系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三部核心规范、五项基本要求</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基本义务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《法官法》第十条：法官的七项义务</a:t>
            </a:r>
            <a:endParaRPr lang="en-US" sz="2800" dirty="0"/>
          </a:p>
        </p:txBody>
      </p:sp>
      <p:sp>
        <p:nvSpPr>
          <p:cNvPr id="4" name="Shape 2"/>
          <p:cNvSpPr/>
          <p:nvPr/>
        </p:nvSpPr>
        <p:spPr>
          <a:xfrm>
            <a:off x="566928" y="1945132"/>
            <a:ext cx="11057839" cy="2452116"/>
          </a:xfrm>
          <a:prstGeom prst="roundRect">
            <a:avLst>
              <a:gd name="adj" fmla="val 3729"/>
            </a:avLst>
          </a:prstGeom>
          <a:solidFill>
            <a:srgbClr val="F6F1E8"/>
          </a:solidFill>
          <a:ln w="12700">
            <a:solidFill>
              <a:srgbClr val="F6F1E8"/>
            </a:solidFill>
            <a:prstDash val="solid"/>
          </a:ln>
        </p:spPr>
      </p:sp>
      <p:sp>
        <p:nvSpPr>
          <p:cNvPr id="5" name="Shape 3"/>
          <p:cNvSpPr/>
          <p:nvPr/>
        </p:nvSpPr>
        <p:spPr>
          <a:xfrm>
            <a:off x="877824" y="218287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18287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6458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《中华人民共和国法官法》第十条</a:t>
            </a:r>
            <a:endParaRPr lang="en-US" sz="1500" dirty="0"/>
          </a:p>
        </p:txBody>
      </p:sp>
      <p:sp>
        <p:nvSpPr>
          <p:cNvPr id="8" name="Text 6"/>
          <p:cNvSpPr/>
          <p:nvPr/>
        </p:nvSpPr>
        <p:spPr>
          <a:xfrm>
            <a:off x="960120" y="2585212"/>
            <a:ext cx="10271455" cy="159258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法官应当履行下列义务：</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（一）严格遵守宪法和法律；</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（二）依法履行审判职责，秉公办案，不得徇私枉法；</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（三）依法保障当事人和其他诉讼参与人的诉讼权利；</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（四）维护国家利益、社会公共利益，维护个人和组织的合法权益；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（五）保守国家秘密和审判工作秘密，对履行职责中知悉的商业秘密和个人隐私予以保密；</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（六）依法接受法律监督和人民群众监督；</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（七）法律规定的其他义务。</a:t>
            </a:r>
            <a:endParaRPr lang="en-US" sz="1550" dirty="0"/>
          </a:p>
        </p:txBody>
      </p:sp>
      <p:sp>
        <p:nvSpPr>
          <p:cNvPr id="9" name="Shape 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0" name="Text 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第（一）项的意义在于：法官的职责是通过审判活动将国家法律适用到现实生活中去，使法律得以贯彻执行；同时，法官严格遵守法律对当事人和其他社会成员具有重要的示范作用与教育意义——公众正是通过法官的行为来认识法律的。</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五项基本要求</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《法官职业道德基本准则》的框架</a:t>
            </a:r>
            <a:endParaRPr lang="en-US" sz="2800" dirty="0"/>
          </a:p>
        </p:txBody>
      </p:sp>
      <p:sp>
        <p:nvSpPr>
          <p:cNvPr id="4" name="Shape 2"/>
          <p:cNvSpPr/>
          <p:nvPr/>
        </p:nvSpPr>
        <p:spPr>
          <a:xfrm>
            <a:off x="566928" y="1853946"/>
            <a:ext cx="5382616" cy="1079373"/>
          </a:xfrm>
          <a:prstGeom prst="roundRect">
            <a:avLst>
              <a:gd name="adj" fmla="val 6777"/>
            </a:avLst>
          </a:prstGeom>
          <a:solidFill>
            <a:srgbClr val="F2F4F8"/>
          </a:solidFill>
          <a:ln w="12700">
            <a:solidFill>
              <a:srgbClr val="F2F4F8"/>
            </a:solidFill>
            <a:prstDash val="solid"/>
          </a:ln>
        </p:spPr>
      </p:sp>
      <p:sp>
        <p:nvSpPr>
          <p:cNvPr id="5" name="Shape 3"/>
          <p:cNvSpPr/>
          <p:nvPr/>
        </p:nvSpPr>
        <p:spPr>
          <a:xfrm>
            <a:off x="822960" y="2165033"/>
            <a:ext cx="457200" cy="457200"/>
          </a:xfrm>
          <a:prstGeom prst="ellipse">
            <a:avLst/>
          </a:prstGeom>
          <a:solidFill>
            <a:srgbClr val="13233F"/>
          </a:solidFill>
          <a:ln w="12700">
            <a:solidFill>
              <a:srgbClr val="13233F"/>
            </a:solidFill>
            <a:prstDash val="solid"/>
          </a:ln>
        </p:spPr>
      </p:sp>
      <p:sp>
        <p:nvSpPr>
          <p:cNvPr id="6" name="Text 4"/>
          <p:cNvSpPr/>
          <p:nvPr/>
        </p:nvSpPr>
        <p:spPr>
          <a:xfrm>
            <a:off x="822960"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99110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忠诚司法事业</a:t>
            </a:r>
            <a:endParaRPr lang="en-US" sz="1500" dirty="0"/>
          </a:p>
        </p:txBody>
      </p:sp>
      <p:sp>
        <p:nvSpPr>
          <p:cNvPr id="8" name="Text 6"/>
          <p:cNvSpPr/>
          <p:nvPr/>
        </p:nvSpPr>
        <p:spPr>
          <a:xfrm>
            <a:off x="1444752" y="2298954"/>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忠于职守，献身司法，坚定理想信念，牢固树立社会主义法治理念；坚持和维护中国特色社会主义司法制度。</a:t>
            </a:r>
            <a:endParaRPr lang="en-US" sz="1350" dirty="0"/>
          </a:p>
        </p:txBody>
      </p:sp>
      <p:sp>
        <p:nvSpPr>
          <p:cNvPr id="9" name="Shape 7"/>
          <p:cNvSpPr/>
          <p:nvPr/>
        </p:nvSpPr>
        <p:spPr>
          <a:xfrm>
            <a:off x="566928" y="3061335"/>
            <a:ext cx="5382616" cy="1327976"/>
          </a:xfrm>
          <a:prstGeom prst="roundRect">
            <a:avLst>
              <a:gd name="adj" fmla="val 5509"/>
            </a:avLst>
          </a:prstGeom>
          <a:solidFill>
            <a:srgbClr val="FFFFFF"/>
          </a:solidFill>
          <a:ln w="12700">
            <a:solidFill>
              <a:srgbClr val="D5DBE5"/>
            </a:solidFill>
            <a:prstDash val="solid"/>
          </a:ln>
        </p:spPr>
      </p:sp>
      <p:sp>
        <p:nvSpPr>
          <p:cNvPr id="10" name="Shape 8"/>
          <p:cNvSpPr/>
          <p:nvPr/>
        </p:nvSpPr>
        <p:spPr>
          <a:xfrm>
            <a:off x="822960" y="3496723"/>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49672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19849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保证司法公正</a:t>
            </a:r>
            <a:endParaRPr lang="en-US" sz="1500" dirty="0"/>
          </a:p>
        </p:txBody>
      </p:sp>
      <p:sp>
        <p:nvSpPr>
          <p:cNvPr id="13" name="Text 11"/>
          <p:cNvSpPr/>
          <p:nvPr/>
        </p:nvSpPr>
        <p:spPr>
          <a:xfrm>
            <a:off x="1444752" y="350634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坚持和维护审判独立原则，客观公正地审理案件；严格执行回避制度；平等对待当事人；避免单方接触；不因个人偏好或外部影响改变裁判。</a:t>
            </a:r>
            <a:endParaRPr lang="en-US" sz="1350" dirty="0"/>
          </a:p>
        </p:txBody>
      </p:sp>
      <p:sp>
        <p:nvSpPr>
          <p:cNvPr id="14" name="Shape 12"/>
          <p:cNvSpPr/>
          <p:nvPr/>
        </p:nvSpPr>
        <p:spPr>
          <a:xfrm>
            <a:off x="566928" y="4517327"/>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4952714"/>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95271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65448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确保司法廉洁</a:t>
            </a:r>
            <a:endParaRPr lang="en-US" sz="1500" dirty="0"/>
          </a:p>
        </p:txBody>
      </p:sp>
      <p:sp>
        <p:nvSpPr>
          <p:cNvPr id="18" name="Text 16"/>
          <p:cNvSpPr/>
          <p:nvPr/>
        </p:nvSpPr>
        <p:spPr>
          <a:xfrm>
            <a:off x="1444752" y="4962335"/>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不接受当事人及其代理人、辩护人的请客送礼；不利用职务便利为自己或他人谋取利益；不违规过问、干预、插手他人办理的案件。</a:t>
            </a:r>
            <a:endParaRPr lang="en-US" sz="1350" dirty="0"/>
          </a:p>
        </p:txBody>
      </p:sp>
      <p:sp>
        <p:nvSpPr>
          <p:cNvPr id="19" name="Shape 17"/>
          <p:cNvSpPr/>
          <p:nvPr/>
        </p:nvSpPr>
        <p:spPr>
          <a:xfrm>
            <a:off x="6242152" y="1729645"/>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165033"/>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186680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坚持司法为民</a:t>
            </a:r>
            <a:endParaRPr lang="en-US" sz="1500" dirty="0"/>
          </a:p>
        </p:txBody>
      </p:sp>
      <p:sp>
        <p:nvSpPr>
          <p:cNvPr id="23" name="Text 21"/>
          <p:cNvSpPr/>
          <p:nvPr/>
        </p:nvSpPr>
        <p:spPr>
          <a:xfrm>
            <a:off x="7119976" y="217465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牢固树立以人民为中心的思想，尊重当事人的诉讼权利，注重诉讼便利，耐心听取诉求，加强释法说理，注重司法的社会效果。</a:t>
            </a:r>
            <a:endParaRPr lang="en-US" sz="1350" dirty="0"/>
          </a:p>
        </p:txBody>
      </p:sp>
      <p:sp>
        <p:nvSpPr>
          <p:cNvPr id="24" name="Shape 22"/>
          <p:cNvSpPr/>
          <p:nvPr/>
        </p:nvSpPr>
        <p:spPr>
          <a:xfrm>
            <a:off x="6242152" y="3185636"/>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3621024"/>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332279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维护司法形象</a:t>
            </a:r>
            <a:endParaRPr lang="en-US" sz="1500" dirty="0"/>
          </a:p>
        </p:txBody>
      </p:sp>
      <p:sp>
        <p:nvSpPr>
          <p:cNvPr id="28" name="Text 26"/>
          <p:cNvSpPr/>
          <p:nvPr/>
        </p:nvSpPr>
        <p:spPr>
          <a:xfrm>
            <a:off x="7119976" y="363064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注重言行举止的得体，谨慎对待社交与业外活动，不参加可能影响司法公正的活动；不利用法官身份谋取特殊照顾；约束家庭成员的相关行为。</a:t>
            </a:r>
            <a:endParaRPr lang="en-US" sz="1350" dirty="0"/>
          </a:p>
        </p:txBody>
      </p:sp>
      <p:sp>
        <p:nvSpPr>
          <p:cNvPr id="29" name="Shape 27"/>
          <p:cNvSpPr/>
          <p:nvPr/>
        </p:nvSpPr>
        <p:spPr>
          <a:xfrm>
            <a:off x="6242152" y="4641628"/>
            <a:ext cx="5382616" cy="1327976"/>
          </a:xfrm>
          <a:prstGeom prst="roundRect">
            <a:avLst>
              <a:gd name="adj" fmla="val 5509"/>
            </a:avLst>
          </a:prstGeom>
          <a:solidFill>
            <a:srgbClr val="FFFFFF"/>
          </a:solidFill>
          <a:ln w="12700">
            <a:solidFill>
              <a:srgbClr val="D5DBE5"/>
            </a:solidFill>
            <a:prstDash val="solid"/>
          </a:ln>
        </p:spPr>
      </p:sp>
      <p:sp>
        <p:nvSpPr>
          <p:cNvPr id="30" name="Shape 28"/>
          <p:cNvSpPr/>
          <p:nvPr/>
        </p:nvSpPr>
        <p:spPr>
          <a:xfrm>
            <a:off x="6498184" y="5077016"/>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507701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477878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规范框架</a:t>
            </a:r>
            <a:endParaRPr lang="en-US" sz="1500" dirty="0"/>
          </a:p>
        </p:txBody>
      </p:sp>
      <p:sp>
        <p:nvSpPr>
          <p:cNvPr id="33" name="Text 31"/>
          <p:cNvSpPr/>
          <p:nvPr/>
        </p:nvSpPr>
        <p:spPr>
          <a:xfrm>
            <a:off x="7119976" y="508663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《法官职业道德基本准则》（2010年修订）共七章三十条：总则、上述五章、附则；每章包含三至五个具体条文。其核心是公正、廉洁、为民。</a:t>
            </a:r>
            <a:endParaRPr lang="en-US" sz="1350" dirty="0"/>
          </a:p>
        </p:txBody>
      </p:sp>
      <p:sp>
        <p:nvSpPr>
          <p:cNvPr id="34" name="Text 3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域外参照</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班加罗尔六项价值与我国五项要求的对照</a:t>
            </a:r>
            <a:endParaRPr lang="en-US" sz="2800" dirty="0"/>
          </a:p>
        </p:txBody>
      </p:sp>
      <p:sp>
        <p:nvSpPr>
          <p:cNvPr id="4" name="Shape 2"/>
          <p:cNvSpPr/>
          <p:nvPr/>
        </p:nvSpPr>
        <p:spPr>
          <a:xfrm>
            <a:off x="566928" y="1422083"/>
            <a:ext cx="5410048" cy="4855083"/>
          </a:xfrm>
          <a:prstGeom prst="roundRect">
            <a:avLst>
              <a:gd name="adj" fmla="val 1883"/>
            </a:avLst>
          </a:prstGeom>
          <a:solidFill>
            <a:srgbClr val="F2F4F8"/>
          </a:solidFill>
          <a:ln w="12700">
            <a:solidFill>
              <a:srgbClr val="F2F4F8"/>
            </a:solidFill>
            <a:prstDash val="solid"/>
          </a:ln>
        </p:spPr>
      </p:sp>
      <p:sp>
        <p:nvSpPr>
          <p:cNvPr id="5" name="Shape 3"/>
          <p:cNvSpPr/>
          <p:nvPr/>
        </p:nvSpPr>
        <p:spPr>
          <a:xfrm>
            <a:off x="841248" y="1678115"/>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167811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《班加罗尔司法行为准则》六项价值</a:t>
            </a:r>
            <a:endParaRPr lang="en-US" sz="1600" dirty="0"/>
          </a:p>
        </p:txBody>
      </p:sp>
      <p:sp>
        <p:nvSpPr>
          <p:cNvPr id="7" name="Text 5"/>
          <p:cNvSpPr/>
          <p:nvPr/>
        </p:nvSpPr>
        <p:spPr>
          <a:xfrm>
            <a:off x="932688" y="2336483"/>
            <a:ext cx="4678528" cy="37029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独立（Independence）：法官独立于任何外部影响与内部压力。</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中立 / 不偏不倚（Impartiality）：不仅结果中立，且外观上须使人相信中立。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正直（Integrity）：言行一致，经得起检验。</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正当 / 得体（Propriety）：避免不当行为及不当行为的表象。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平等（Equality）：不因种族、性别、身份等因素区别对待。</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称职与勤勉（Competence and Diligence）：具备并保持专业能力，勤勉办案。</a:t>
            </a:r>
            <a:endParaRPr lang="en-US" sz="1450" dirty="0"/>
          </a:p>
        </p:txBody>
      </p:sp>
      <p:sp>
        <p:nvSpPr>
          <p:cNvPr id="8" name="Shape 6"/>
          <p:cNvSpPr/>
          <p:nvPr/>
        </p:nvSpPr>
        <p:spPr>
          <a:xfrm>
            <a:off x="6214720" y="1422083"/>
            <a:ext cx="5410048" cy="4855083"/>
          </a:xfrm>
          <a:prstGeom prst="roundRect">
            <a:avLst>
              <a:gd name="adj" fmla="val 1883"/>
            </a:avLst>
          </a:prstGeom>
          <a:solidFill>
            <a:srgbClr val="F6F1E8"/>
          </a:solidFill>
          <a:ln w="12700">
            <a:solidFill>
              <a:srgbClr val="F6F1E8"/>
            </a:solidFill>
            <a:prstDash val="solid"/>
          </a:ln>
        </p:spPr>
      </p:sp>
      <p:sp>
        <p:nvSpPr>
          <p:cNvPr id="9" name="Shape 7"/>
          <p:cNvSpPr/>
          <p:nvPr/>
        </p:nvSpPr>
        <p:spPr>
          <a:xfrm>
            <a:off x="6489040" y="1678115"/>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167811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我国五项基本要求</a:t>
            </a:r>
            <a:endParaRPr lang="en-US" sz="1600" dirty="0"/>
          </a:p>
        </p:txBody>
      </p:sp>
      <p:sp>
        <p:nvSpPr>
          <p:cNvPr id="11" name="Text 9"/>
          <p:cNvSpPr/>
          <p:nvPr/>
        </p:nvSpPr>
        <p:spPr>
          <a:xfrm>
            <a:off x="6580480" y="2336483"/>
            <a:ext cx="4678528" cy="37029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忠诚司法事业：强调政治属性与职业信念，为班加罗尔准则所无。</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保证司法公正：涵盖独立、中立、平等三项价值。</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确保司法廉洁：与“正直”相对应，但更侧重廉洁自律的具体禁令。</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坚持司法为民：强调司法的人民性与便民导向，具有鲜明的中国特色。</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维护司法形象：与“正当/得体”高度对应，特别关注业外行为与表象。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差异提示：我国准则未单列“称职与勤勉”，相关内容规定于《法官法》与《法官行为规范》。</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18</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司法权的被动性要求“不告不理”。那么，法院在民事诉讼中依职权调查取证、在行政诉讼中主动审查规范性文件，是否与被动性相冲突？应当如何解释？</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“亲历性”要求裁判者亲自在场、以言词方式审理。在线庭审、书面审理、以及人工智能辅助生成裁判文书，是否会侵蚀亲历性？边界何在？</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司法独立常被误解为“法官想怎么判就怎么判”。请说明：独立究竟是法官的权利，还是法官的义务？如果是义务，其对应的责任是什么？</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我国五项基本要求中的“忠诚司法事业”为班加罗尔准则所无，“坚持司法为民”亦具中国特色。你如何理解这两项要求的规范内涵？</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19</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第5课时要点回顾</a:t>
            </a:r>
            <a:endParaRPr lang="en-US" sz="3000" dirty="0"/>
          </a:p>
        </p:txBody>
      </p:sp>
      <p:sp>
        <p:nvSpPr>
          <p:cNvPr id="4" name="Shape 2"/>
          <p:cNvSpPr/>
          <p:nvPr/>
        </p:nvSpPr>
        <p:spPr>
          <a:xfrm>
            <a:off x="566928" y="1591056"/>
            <a:ext cx="11057839" cy="848563"/>
          </a:xfrm>
          <a:prstGeom prst="roundRect">
            <a:avLst>
              <a:gd name="adj" fmla="val 8621"/>
            </a:avLst>
          </a:prstGeom>
          <a:solidFill>
            <a:srgbClr val="25395F"/>
          </a:solidFill>
          <a:ln w="12700">
            <a:solidFill>
              <a:srgbClr val="25395F"/>
            </a:solidFill>
            <a:prstDash val="solid"/>
          </a:ln>
        </p:spPr>
      </p:sp>
      <p:sp>
        <p:nvSpPr>
          <p:cNvPr id="5" name="Shape 3"/>
          <p:cNvSpPr/>
          <p:nvPr/>
        </p:nvSpPr>
        <p:spPr>
          <a:xfrm>
            <a:off x="859536" y="1814170"/>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934870"/>
            <a:ext cx="160934" cy="160934"/>
          </a:xfrm>
          <a:prstGeom prst="rect">
            <a:avLst/>
          </a:prstGeom>
        </p:spPr>
      </p:pic>
      <p:sp>
        <p:nvSpPr>
          <p:cNvPr id="7" name="Text 4"/>
          <p:cNvSpPr/>
          <p:nvPr/>
        </p:nvSpPr>
        <p:spPr>
          <a:xfrm>
            <a:off x="1444752" y="1729588"/>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法官的伦理义务可以从司法权的属性中推导出来：权力属性 → 行为要求 → 伦理规范。掌握这条推导链，方能应对规范未及的新情形。</a:t>
            </a:r>
            <a:endParaRPr lang="en-US" sz="1500" dirty="0"/>
          </a:p>
        </p:txBody>
      </p:sp>
      <p:sp>
        <p:nvSpPr>
          <p:cNvPr id="8" name="Shape 5"/>
          <p:cNvSpPr/>
          <p:nvPr/>
        </p:nvSpPr>
        <p:spPr>
          <a:xfrm>
            <a:off x="566928" y="2576779"/>
            <a:ext cx="11057839" cy="848563"/>
          </a:xfrm>
          <a:prstGeom prst="roundRect">
            <a:avLst>
              <a:gd name="adj" fmla="val 8621"/>
            </a:avLst>
          </a:prstGeom>
          <a:solidFill>
            <a:srgbClr val="25395F"/>
          </a:solidFill>
          <a:ln w="12700">
            <a:solidFill>
              <a:srgbClr val="25395F"/>
            </a:solidFill>
            <a:prstDash val="solid"/>
          </a:ln>
        </p:spPr>
      </p:sp>
      <p:sp>
        <p:nvSpPr>
          <p:cNvPr id="9" name="Shape 6"/>
          <p:cNvSpPr/>
          <p:nvPr/>
        </p:nvSpPr>
        <p:spPr>
          <a:xfrm>
            <a:off x="859536" y="2799893"/>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920594"/>
            <a:ext cx="160934" cy="160934"/>
          </a:xfrm>
          <a:prstGeom prst="rect">
            <a:avLst/>
          </a:prstGeom>
        </p:spPr>
      </p:pic>
      <p:sp>
        <p:nvSpPr>
          <p:cNvPr id="11" name="Text 7"/>
          <p:cNvSpPr/>
          <p:nvPr/>
        </p:nvSpPr>
        <p:spPr>
          <a:xfrm>
            <a:off x="1444752" y="2715311"/>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司法权的六项程序特征：被动性（不告不理）、公开性与透明性、多方参与性、亲历性（直接审理与言词审理）、集中性（不更换、不间断）、终结性（定纷止争）。</a:t>
            </a:r>
            <a:endParaRPr lang="en-US" sz="1500" dirty="0"/>
          </a:p>
        </p:txBody>
      </p:sp>
      <p:sp>
        <p:nvSpPr>
          <p:cNvPr id="12" name="Shape 8"/>
          <p:cNvSpPr/>
          <p:nvPr/>
        </p:nvSpPr>
        <p:spPr>
          <a:xfrm>
            <a:off x="566928" y="3562502"/>
            <a:ext cx="11057839" cy="848563"/>
          </a:xfrm>
          <a:prstGeom prst="roundRect">
            <a:avLst>
              <a:gd name="adj" fmla="val 8621"/>
            </a:avLst>
          </a:prstGeom>
          <a:solidFill>
            <a:srgbClr val="25395F"/>
          </a:solidFill>
          <a:ln w="12700">
            <a:solidFill>
              <a:srgbClr val="25395F"/>
            </a:solidFill>
            <a:prstDash val="solid"/>
          </a:ln>
        </p:spPr>
      </p:sp>
      <p:sp>
        <p:nvSpPr>
          <p:cNvPr id="13" name="Shape 9"/>
          <p:cNvSpPr/>
          <p:nvPr/>
        </p:nvSpPr>
        <p:spPr>
          <a:xfrm>
            <a:off x="859536" y="378561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906317"/>
            <a:ext cx="160934" cy="160934"/>
          </a:xfrm>
          <a:prstGeom prst="rect">
            <a:avLst/>
          </a:prstGeom>
        </p:spPr>
      </p:pic>
      <p:sp>
        <p:nvSpPr>
          <p:cNvPr id="15" name="Text 10"/>
          <p:cNvSpPr/>
          <p:nvPr/>
        </p:nvSpPr>
        <p:spPr>
          <a:xfrm>
            <a:off x="1444752" y="3701034"/>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司法独立包含四个层次：法院的整体独立、法院的内部独立、法官的身份独立、法官的职业特权。其核心是裁判者只服从法律与良心。</a:t>
            </a:r>
            <a:endParaRPr lang="en-US" sz="1500" dirty="0"/>
          </a:p>
        </p:txBody>
      </p:sp>
      <p:sp>
        <p:nvSpPr>
          <p:cNvPr id="16" name="Shape 11"/>
          <p:cNvSpPr/>
          <p:nvPr/>
        </p:nvSpPr>
        <p:spPr>
          <a:xfrm>
            <a:off x="566928" y="4548226"/>
            <a:ext cx="11057839" cy="848563"/>
          </a:xfrm>
          <a:prstGeom prst="roundRect">
            <a:avLst>
              <a:gd name="adj" fmla="val 8621"/>
            </a:avLst>
          </a:prstGeom>
          <a:solidFill>
            <a:srgbClr val="25395F"/>
          </a:solidFill>
          <a:ln w="12700">
            <a:solidFill>
              <a:srgbClr val="25395F"/>
            </a:solidFill>
            <a:prstDash val="solid"/>
          </a:ln>
        </p:spPr>
      </p:sp>
      <p:sp>
        <p:nvSpPr>
          <p:cNvPr id="17" name="Shape 12"/>
          <p:cNvSpPr/>
          <p:nvPr/>
        </p:nvSpPr>
        <p:spPr>
          <a:xfrm>
            <a:off x="859536" y="4771339"/>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892040"/>
            <a:ext cx="160934" cy="160934"/>
          </a:xfrm>
          <a:prstGeom prst="rect">
            <a:avLst/>
          </a:prstGeom>
        </p:spPr>
      </p:pic>
      <p:sp>
        <p:nvSpPr>
          <p:cNvPr id="19" name="Text 13"/>
          <p:cNvSpPr/>
          <p:nvPr/>
        </p:nvSpPr>
        <p:spPr>
          <a:xfrm>
            <a:off x="1444752" y="4686757"/>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法官职业伦理规范体系以《法官法》《法官行为规范》《法官职业道德基本准则》为核心；《法官法》第十条规定了法官的七项基本义务。</a:t>
            </a:r>
            <a:endParaRPr lang="en-US" sz="1500" dirty="0"/>
          </a:p>
        </p:txBody>
      </p:sp>
      <p:sp>
        <p:nvSpPr>
          <p:cNvPr id="20" name="Shape 14"/>
          <p:cNvSpPr/>
          <p:nvPr/>
        </p:nvSpPr>
        <p:spPr>
          <a:xfrm>
            <a:off x="566928" y="5533949"/>
            <a:ext cx="11057839" cy="848563"/>
          </a:xfrm>
          <a:prstGeom prst="roundRect">
            <a:avLst>
              <a:gd name="adj" fmla="val 8621"/>
            </a:avLst>
          </a:prstGeom>
          <a:solidFill>
            <a:srgbClr val="25395F"/>
          </a:solidFill>
          <a:ln w="12700">
            <a:solidFill>
              <a:srgbClr val="25395F"/>
            </a:solidFill>
            <a:prstDash val="solid"/>
          </a:ln>
        </p:spPr>
      </p:sp>
      <p:sp>
        <p:nvSpPr>
          <p:cNvPr id="21" name="Shape 15"/>
          <p:cNvSpPr/>
          <p:nvPr/>
        </p:nvSpPr>
        <p:spPr>
          <a:xfrm>
            <a:off x="859536" y="5757062"/>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877763"/>
            <a:ext cx="160934" cy="160934"/>
          </a:xfrm>
          <a:prstGeom prst="rect">
            <a:avLst/>
          </a:prstGeom>
        </p:spPr>
      </p:pic>
      <p:sp>
        <p:nvSpPr>
          <p:cNvPr id="23" name="Text 16"/>
          <p:cNvSpPr/>
          <p:nvPr/>
        </p:nvSpPr>
        <p:spPr>
          <a:xfrm>
            <a:off x="1444752" y="5672480"/>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《法官职业道德基本准则》五项基本要求：忠诚司法事业、保证司法公正、确保司法廉洁、坚持司法为民、维护司法形象；核心是公正、廉洁、为民。</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第6课时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保证司法公正（一）：司法独立与法官的独立义务</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独立不是法官的特权，而是法官必须履行、并须为之承担责任的义务</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外部干预：为什么“逢问必录”胜过“禁止过问”</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内部独立：院庭长审判监督权的边界在哪里</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司法责任制：让审理者裁判，由裁判者负责</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独立的三重战场</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一、正本清源：独立是义务，不是特权</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二、抵御外部干预：“防止干预司法三个规定”</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三、实现内部独立：审判权运行机制改革</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四、司法责任制：权责一致的制度安排</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五、独立的限度：独立不等于任意</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六、案例研讨与本课小结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正本清源：独立是义务，不是特权</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把独立理解为特权，会得出“法官不受任何约束”的荒谬结论</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03</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两种理解</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独立究竟是权利还是义务？</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误解：独立是法官的特权</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推论一：法官可以主张“我怎么判是我的事，谁也管不着”。</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推论二：一切监督都构成对独立的侵犯。</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推论三：错案追究制度与司法独立不相容。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为什么错：把独立当作法官的个人利益，而司法权本质上是公共权力，不存在“属于法官个人”的部分。</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正解：独立是法官的义务</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推论一：法官必须排除干扰、独立判断；屈从压力作出违心裁判，本身即为失职。</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推论二：独立与监督并行不悖——独立指向“过程不受干预”，监督指向“结果与行为可被检验”。</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推论三：独立必然伴随责任。既然裁判由你独立作出，后果就由你承担。</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规范表达：《法官法》第十条同时规定“依法履行审判职责，秉公办案”与“依法接受法律监督和人民群众监督”。</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04</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关键区分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独立于什么，服从于什么</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讨论独立时，必须精确回答两个问题：独立于什么？服从于什么？</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法官应当独立于：当事人及其近亲属；行政机关、社会团体与个人；新闻传媒与舆论压力；本院院长、庭长与上级法院法官的不当干预；自身的偏好、成见与利害关系。</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法官必须服从于：宪法和法律；经过法定程序查明的事实与证据；生效的司法解释与依法应当参照的裁判规则；良心与理性的判断。</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请注意“独立于上级法院法官”这一项：上下级法院之间是审级监督关系，而非行政领导关系。上级法院通过二审、再审纠正错误裁判，而不是通过事前指示决定下级法院怎么判。</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一句话概括：法官独立于一切影响，只服从法律与良心。凡是要求法官偏离法律与证据的力量，无论来自何方、无论出于何种善意，都属于应当排除的干预。</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05</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抵御外部干预：“防止干预司法三个规定”</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制度不指望人性完美，而是用留痕使不当过问失去价值</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06</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制度构成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“三个规定”是哪三个</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《领导干部干预司法活动、插手具体案件处理的记录、通报和责任追究规定》</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2015年3月由中共中央办公厅、国务院办公厅印发。针对的是来自党政领导干部的外部干预，要求司法人员对领导干部的干预行为全面、如实记录，做到全程留痕、有据可查；情节严重的予以通报并追究责任。</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《司法机关内部人员过问案件的记录和责任追究规定》</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2015年3月由中央政法委印发。针对的是来自司法机关内部的过问，包括本院其他人员、上下级机关人员、已离任人员等。内部过问往往比外部干预更隐蔽、更难拒绝，因而单独设规。</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两高三部的实施办法</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最高人民法院、最高人民检察院、公安部、国家安全部、司法部分别制定实施办法，细化记录主体、记录内容、报告程序、通报范围与责任追究方式，并将“过问和干预情况记录”纳入案件卷宗与办案系统。</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07</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制度机理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为什么“逢问必录”胜过“禁止过问”</a:t>
            </a:r>
            <a:endParaRPr lang="en-US" sz="2800" dirty="0"/>
          </a:p>
        </p:txBody>
      </p:sp>
      <p:sp>
        <p:nvSpPr>
          <p:cNvPr id="4" name="Shape 2"/>
          <p:cNvSpPr/>
          <p:nvPr/>
        </p:nvSpPr>
        <p:spPr>
          <a:xfrm>
            <a:off x="566928" y="1379220"/>
            <a:ext cx="5410048" cy="2360676"/>
          </a:xfrm>
          <a:prstGeom prst="roundRect">
            <a:avLst>
              <a:gd name="adj" fmla="val 3873"/>
            </a:avLst>
          </a:prstGeom>
          <a:solidFill>
            <a:srgbClr val="F2F4F8"/>
          </a:solidFill>
          <a:ln w="12700">
            <a:solidFill>
              <a:srgbClr val="F2F4F8"/>
            </a:solidFill>
            <a:prstDash val="solid"/>
          </a:ln>
        </p:spPr>
      </p:sp>
      <p:sp>
        <p:nvSpPr>
          <p:cNvPr id="5" name="Shape 3"/>
          <p:cNvSpPr/>
          <p:nvPr/>
        </p:nvSpPr>
        <p:spPr>
          <a:xfrm>
            <a:off x="886968" y="1671828"/>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808988"/>
            <a:ext cx="182880" cy="182880"/>
          </a:xfrm>
          <a:prstGeom prst="rect">
            <a:avLst/>
          </a:prstGeom>
        </p:spPr>
      </p:pic>
      <p:sp>
        <p:nvSpPr>
          <p:cNvPr id="7" name="Text 4"/>
          <p:cNvSpPr/>
          <p:nvPr/>
        </p:nvSpPr>
        <p:spPr>
          <a:xfrm>
            <a:off x="886968" y="2293620"/>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纯粹禁止：不可行</a:t>
            </a:r>
            <a:endParaRPr lang="en-US" sz="1500" dirty="0"/>
          </a:p>
        </p:txBody>
      </p:sp>
      <p:sp>
        <p:nvSpPr>
          <p:cNvPr id="8" name="Text 5"/>
          <p:cNvSpPr/>
          <p:nvPr/>
        </p:nvSpPr>
        <p:spPr>
          <a:xfrm>
            <a:off x="886968" y="2659761"/>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法官有亲属、同学、旧属、师长。无法通过一纸禁令切断人的社会关系。禁止令一旦无法执行，反而损害规范的严肃性——“人人违反的规则等于没有规则”。</a:t>
            </a:r>
            <a:endParaRPr lang="en-US" sz="1250" dirty="0"/>
          </a:p>
        </p:txBody>
      </p:sp>
      <p:sp>
        <p:nvSpPr>
          <p:cNvPr id="9" name="Shape 6"/>
          <p:cNvSpPr/>
          <p:nvPr/>
        </p:nvSpPr>
        <p:spPr>
          <a:xfrm>
            <a:off x="6214720" y="1379220"/>
            <a:ext cx="5410048" cy="2360676"/>
          </a:xfrm>
          <a:prstGeom prst="roundRect">
            <a:avLst>
              <a:gd name="adj" fmla="val 3873"/>
            </a:avLst>
          </a:prstGeom>
          <a:solidFill>
            <a:srgbClr val="F6F1E8"/>
          </a:solidFill>
          <a:ln w="12700">
            <a:solidFill>
              <a:srgbClr val="F6F1E8"/>
            </a:solidFill>
            <a:prstDash val="solid"/>
          </a:ln>
        </p:spPr>
      </p:sp>
      <p:sp>
        <p:nvSpPr>
          <p:cNvPr id="10" name="Shape 7"/>
          <p:cNvSpPr/>
          <p:nvPr/>
        </p:nvSpPr>
        <p:spPr>
          <a:xfrm>
            <a:off x="6534760" y="1671828"/>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808988"/>
            <a:ext cx="182880" cy="182880"/>
          </a:xfrm>
          <a:prstGeom prst="rect">
            <a:avLst/>
          </a:prstGeom>
        </p:spPr>
      </p:pic>
      <p:sp>
        <p:nvSpPr>
          <p:cNvPr id="12" name="Text 8"/>
          <p:cNvSpPr/>
          <p:nvPr/>
        </p:nvSpPr>
        <p:spPr>
          <a:xfrm>
            <a:off x="6534760" y="2293620"/>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全程留痕：改变博弈</a:t>
            </a:r>
            <a:endParaRPr lang="en-US" sz="1500" dirty="0"/>
          </a:p>
        </p:txBody>
      </p:sp>
      <p:sp>
        <p:nvSpPr>
          <p:cNvPr id="13" name="Text 9"/>
          <p:cNvSpPr/>
          <p:nvPr/>
        </p:nvSpPr>
        <p:spPr>
          <a:xfrm>
            <a:off x="6534760" y="2659761"/>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不禁止开口，而是要求被过问者如实记录，记入案卷、录入办案系统、可倒查、可通报。过问者由此承担暴露风险，理性的过问者会自行放弃。</a:t>
            </a:r>
            <a:endParaRPr lang="en-US" sz="1250" dirty="0"/>
          </a:p>
        </p:txBody>
      </p:sp>
      <p:sp>
        <p:nvSpPr>
          <p:cNvPr id="14" name="Shape 10"/>
          <p:cNvSpPr/>
          <p:nvPr/>
        </p:nvSpPr>
        <p:spPr>
          <a:xfrm>
            <a:off x="566928" y="3959352"/>
            <a:ext cx="5410048" cy="2360676"/>
          </a:xfrm>
          <a:prstGeom prst="roundRect">
            <a:avLst>
              <a:gd name="adj" fmla="val 3873"/>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保护被过问者</a:t>
            </a:r>
            <a:endParaRPr lang="en-US" sz="1500" dirty="0"/>
          </a:p>
        </p:txBody>
      </p:sp>
      <p:sp>
        <p:nvSpPr>
          <p:cNvPr id="18" name="Text 13"/>
          <p:cNvSpPr/>
          <p:nvPr/>
        </p:nvSpPr>
        <p:spPr>
          <a:xfrm>
            <a:off x="886968" y="5239893"/>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留痕同时保护了法官：面对无法直接拒绝的请托，法官可以说“按规定我必须记录”。这句话既有力又体面，把个人的拒绝转化为制度的拒绝。</a:t>
            </a:r>
            <a:endParaRPr lang="en-US" sz="1250" dirty="0"/>
          </a:p>
        </p:txBody>
      </p:sp>
      <p:sp>
        <p:nvSpPr>
          <p:cNvPr id="19" name="Shape 14"/>
          <p:cNvSpPr/>
          <p:nvPr/>
        </p:nvSpPr>
        <p:spPr>
          <a:xfrm>
            <a:off x="6214720" y="3959352"/>
            <a:ext cx="5410048" cy="2360676"/>
          </a:xfrm>
          <a:prstGeom prst="roundRect">
            <a:avLst>
              <a:gd name="adj" fmla="val 3873"/>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区分正当与不当</a:t>
            </a:r>
            <a:endParaRPr lang="en-US" sz="1500" dirty="0"/>
          </a:p>
        </p:txBody>
      </p:sp>
      <p:sp>
        <p:nvSpPr>
          <p:cNvPr id="23" name="Text 17"/>
          <p:cNvSpPr/>
          <p:nvPr/>
        </p:nvSpPr>
        <p:spPr>
          <a:xfrm>
            <a:off x="6534760" y="5239893"/>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并非一切沟通都属干预。依职权进行的案件督办、上级法院的审判指导、检察机关的法律监督、当事人依程序提交的意见，均属正当。制度要过滤的是“程序外的、指向具体处理结果的”影响。</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08</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操作要点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遇到过问时的标准动作</a:t>
            </a:r>
            <a:endParaRPr lang="en-US" sz="2800" dirty="0"/>
          </a:p>
        </p:txBody>
      </p:sp>
      <p:sp>
        <p:nvSpPr>
          <p:cNvPr id="4" name="Shape 2"/>
          <p:cNvSpPr/>
          <p:nvPr/>
        </p:nvSpPr>
        <p:spPr>
          <a:xfrm>
            <a:off x="566928" y="2329891"/>
            <a:ext cx="2613584" cy="3039466"/>
          </a:xfrm>
          <a:prstGeom prst="roundRect">
            <a:avLst>
              <a:gd name="adj" fmla="val 3499"/>
            </a:avLst>
          </a:prstGeom>
          <a:solidFill>
            <a:srgbClr val="F2F4F8"/>
          </a:solidFill>
          <a:ln w="12700">
            <a:solidFill>
              <a:srgbClr val="F2F4F8"/>
            </a:solidFill>
            <a:prstDash val="solid"/>
          </a:ln>
        </p:spPr>
      </p:sp>
      <p:sp>
        <p:nvSpPr>
          <p:cNvPr id="5" name="Shape 3"/>
          <p:cNvSpPr/>
          <p:nvPr/>
        </p:nvSpPr>
        <p:spPr>
          <a:xfrm>
            <a:off x="1608544" y="2604211"/>
            <a:ext cx="530352" cy="530352"/>
          </a:xfrm>
          <a:prstGeom prst="ellipse">
            <a:avLst/>
          </a:prstGeom>
          <a:solidFill>
            <a:srgbClr val="13233F"/>
          </a:solidFill>
          <a:ln w="12700">
            <a:solidFill>
              <a:srgbClr val="13233F"/>
            </a:solidFill>
            <a:prstDash val="solid"/>
          </a:ln>
        </p:spPr>
      </p:sp>
      <p:sp>
        <p:nvSpPr>
          <p:cNvPr id="6" name="Text 4"/>
          <p:cNvSpPr/>
          <p:nvPr/>
        </p:nvSpPr>
        <p:spPr>
          <a:xfrm>
            <a:off x="1608544" y="2604211"/>
            <a:ext cx="530352" cy="530352"/>
          </a:xfrm>
          <a:prstGeom prst="rect">
            <a:avLst/>
          </a:prstGeom>
          <a:noFill/>
          <a:ln/>
        </p:spPr>
        <p:txBody>
          <a:bodyPr wrap="square" lIns="0" tIns="0" rIns="0" bIns="0" rtlCol="0" anchor="ctr"/>
          <a:lstStyle/>
          <a:p>
            <a:pPr algn="ctr" indent="0" marL="0">
              <a:buNone/>
            </a:pPr>
            <a:r>
              <a:rPr lang="en-US" sz="2100" b="1" dirty="0">
                <a:solidFill>
                  <a:srgbClr val="B08D57"/>
                </a:solidFill>
                <a:latin typeface="Arial" pitchFamily="34" charset="0"/>
                <a:ea typeface="Arial" pitchFamily="34" charset="-122"/>
                <a:cs typeface="Arial" pitchFamily="34" charset="-120"/>
              </a:rPr>
              <a:t>1</a:t>
            </a:r>
            <a:endParaRPr lang="en-US" sz="2100" dirty="0"/>
          </a:p>
        </p:txBody>
      </p:sp>
      <p:sp>
        <p:nvSpPr>
          <p:cNvPr id="7" name="Text 5"/>
          <p:cNvSpPr/>
          <p:nvPr/>
        </p:nvSpPr>
        <p:spPr>
          <a:xfrm>
            <a:off x="822960" y="3299155"/>
            <a:ext cx="2101520" cy="174625"/>
          </a:xfrm>
          <a:prstGeom prst="rect">
            <a:avLst/>
          </a:prstGeom>
          <a:noFill/>
          <a:ln/>
        </p:spPr>
        <p:txBody>
          <a:bodyPr wrap="square" lIns="0" tIns="0" rIns="0" bIns="0" rtlCol="0" anchor="t"/>
          <a:lstStyle/>
          <a:p>
            <a:pPr algn="ctr" indent="0" marL="0">
              <a:lnSpc>
                <a:spcPts val="1375"/>
              </a:lnSpc>
              <a:buNone/>
            </a:pPr>
            <a:r>
              <a:rPr lang="en-US" sz="1100" b="1" dirty="0">
                <a:solidFill>
                  <a:srgbClr val="13233F"/>
                </a:solidFill>
                <a:latin typeface="微软雅黑" pitchFamily="34" charset="0"/>
                <a:ea typeface="微软雅黑" pitchFamily="34" charset="-122"/>
                <a:cs typeface="微软雅黑" pitchFamily="34" charset="-120"/>
              </a:rPr>
              <a:t>如实记录</a:t>
            </a:r>
            <a:endParaRPr lang="en-US" sz="1100" dirty="0"/>
          </a:p>
        </p:txBody>
      </p:sp>
      <p:sp>
        <p:nvSpPr>
          <p:cNvPr id="8" name="Text 6"/>
          <p:cNvSpPr/>
          <p:nvPr/>
        </p:nvSpPr>
        <p:spPr>
          <a:xfrm>
            <a:off x="822960" y="3565220"/>
            <a:ext cx="2101520" cy="1584681"/>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记录过问人姓名、单位、职务、时间、方式、内容，不作选择性记录，不作模糊化处理。</a:t>
            </a:r>
            <a:endParaRPr lang="en-US" sz="1350" dirty="0"/>
          </a:p>
        </p:txBody>
      </p:sp>
      <p:sp>
        <p:nvSpPr>
          <p:cNvPr id="9" name="Shape 7"/>
          <p:cNvSpPr/>
          <p:nvPr/>
        </p:nvSpPr>
        <p:spPr>
          <a:xfrm>
            <a:off x="3381680" y="2329891"/>
            <a:ext cx="2613584" cy="3039466"/>
          </a:xfrm>
          <a:prstGeom prst="roundRect">
            <a:avLst>
              <a:gd name="adj" fmla="val 3499"/>
            </a:avLst>
          </a:prstGeom>
          <a:solidFill>
            <a:srgbClr val="F2F4F8"/>
          </a:solidFill>
          <a:ln w="12700">
            <a:solidFill>
              <a:srgbClr val="F2F4F8"/>
            </a:solidFill>
            <a:prstDash val="solid"/>
          </a:ln>
        </p:spPr>
      </p:sp>
      <p:sp>
        <p:nvSpPr>
          <p:cNvPr id="10" name="Shape 8"/>
          <p:cNvSpPr/>
          <p:nvPr/>
        </p:nvSpPr>
        <p:spPr>
          <a:xfrm>
            <a:off x="4423296" y="2604211"/>
            <a:ext cx="530352" cy="530352"/>
          </a:xfrm>
          <a:prstGeom prst="ellipse">
            <a:avLst/>
          </a:prstGeom>
          <a:solidFill>
            <a:srgbClr val="13233F"/>
          </a:solidFill>
          <a:ln w="12700">
            <a:solidFill>
              <a:srgbClr val="13233F"/>
            </a:solidFill>
            <a:prstDash val="solid"/>
          </a:ln>
        </p:spPr>
      </p:sp>
      <p:sp>
        <p:nvSpPr>
          <p:cNvPr id="11" name="Text 9"/>
          <p:cNvSpPr/>
          <p:nvPr/>
        </p:nvSpPr>
        <p:spPr>
          <a:xfrm>
            <a:off x="4423296" y="2604211"/>
            <a:ext cx="530352" cy="530352"/>
          </a:xfrm>
          <a:prstGeom prst="rect">
            <a:avLst/>
          </a:prstGeom>
          <a:noFill/>
          <a:ln/>
        </p:spPr>
        <p:txBody>
          <a:bodyPr wrap="square" lIns="0" tIns="0" rIns="0" bIns="0" rtlCol="0" anchor="ctr"/>
          <a:lstStyle/>
          <a:p>
            <a:pPr algn="ctr" indent="0" marL="0">
              <a:buNone/>
            </a:pPr>
            <a:r>
              <a:rPr lang="en-US" sz="2100" b="1" dirty="0">
                <a:solidFill>
                  <a:srgbClr val="B08D57"/>
                </a:solidFill>
                <a:latin typeface="Arial" pitchFamily="34" charset="0"/>
                <a:ea typeface="Arial" pitchFamily="34" charset="-122"/>
                <a:cs typeface="Arial" pitchFamily="34" charset="-120"/>
              </a:rPr>
              <a:t>2</a:t>
            </a:r>
            <a:endParaRPr lang="en-US" sz="2100" dirty="0"/>
          </a:p>
        </p:txBody>
      </p:sp>
      <p:sp>
        <p:nvSpPr>
          <p:cNvPr id="12" name="Text 10"/>
          <p:cNvSpPr/>
          <p:nvPr/>
        </p:nvSpPr>
        <p:spPr>
          <a:xfrm>
            <a:off x="3637712" y="3299155"/>
            <a:ext cx="2101520" cy="174625"/>
          </a:xfrm>
          <a:prstGeom prst="rect">
            <a:avLst/>
          </a:prstGeom>
          <a:noFill/>
          <a:ln/>
        </p:spPr>
        <p:txBody>
          <a:bodyPr wrap="square" lIns="0" tIns="0" rIns="0" bIns="0" rtlCol="0" anchor="t"/>
          <a:lstStyle/>
          <a:p>
            <a:pPr algn="ctr" indent="0" marL="0">
              <a:lnSpc>
                <a:spcPts val="1375"/>
              </a:lnSpc>
              <a:buNone/>
            </a:pPr>
            <a:r>
              <a:rPr lang="en-US" sz="1100" b="1" dirty="0">
                <a:solidFill>
                  <a:srgbClr val="13233F"/>
                </a:solidFill>
                <a:latin typeface="微软雅黑" pitchFamily="34" charset="0"/>
                <a:ea typeface="微软雅黑" pitchFamily="34" charset="-122"/>
                <a:cs typeface="微软雅黑" pitchFamily="34" charset="-120"/>
              </a:rPr>
              <a:t>录入系统</a:t>
            </a:r>
            <a:endParaRPr lang="en-US" sz="1100" dirty="0"/>
          </a:p>
        </p:txBody>
      </p:sp>
      <p:sp>
        <p:nvSpPr>
          <p:cNvPr id="13" name="Text 11"/>
          <p:cNvSpPr/>
          <p:nvPr/>
        </p:nvSpPr>
        <p:spPr>
          <a:xfrm>
            <a:off x="3637712" y="3565220"/>
            <a:ext cx="2101520" cy="1584681"/>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按本院规定录入办案系统或专门登记表，纳入案卷副卷，做到全程留痕、有据可查。</a:t>
            </a:r>
            <a:endParaRPr lang="en-US" sz="1350" dirty="0"/>
          </a:p>
        </p:txBody>
      </p:sp>
      <p:sp>
        <p:nvSpPr>
          <p:cNvPr id="14" name="Shape 12"/>
          <p:cNvSpPr/>
          <p:nvPr/>
        </p:nvSpPr>
        <p:spPr>
          <a:xfrm>
            <a:off x="6196432" y="2329891"/>
            <a:ext cx="2613584" cy="3039466"/>
          </a:xfrm>
          <a:prstGeom prst="roundRect">
            <a:avLst>
              <a:gd name="adj" fmla="val 3499"/>
            </a:avLst>
          </a:prstGeom>
          <a:solidFill>
            <a:srgbClr val="F2F4F8"/>
          </a:solidFill>
          <a:ln w="12700">
            <a:solidFill>
              <a:srgbClr val="F2F4F8"/>
            </a:solidFill>
            <a:prstDash val="solid"/>
          </a:ln>
        </p:spPr>
      </p:sp>
      <p:sp>
        <p:nvSpPr>
          <p:cNvPr id="15" name="Shape 13"/>
          <p:cNvSpPr/>
          <p:nvPr/>
        </p:nvSpPr>
        <p:spPr>
          <a:xfrm>
            <a:off x="7238048" y="2604211"/>
            <a:ext cx="530352" cy="530352"/>
          </a:xfrm>
          <a:prstGeom prst="ellipse">
            <a:avLst/>
          </a:prstGeom>
          <a:solidFill>
            <a:srgbClr val="13233F"/>
          </a:solidFill>
          <a:ln w="12700">
            <a:solidFill>
              <a:srgbClr val="13233F"/>
            </a:solidFill>
            <a:prstDash val="solid"/>
          </a:ln>
        </p:spPr>
      </p:sp>
      <p:sp>
        <p:nvSpPr>
          <p:cNvPr id="16" name="Text 14"/>
          <p:cNvSpPr/>
          <p:nvPr/>
        </p:nvSpPr>
        <p:spPr>
          <a:xfrm>
            <a:off x="7238048" y="2604211"/>
            <a:ext cx="530352" cy="530352"/>
          </a:xfrm>
          <a:prstGeom prst="rect">
            <a:avLst/>
          </a:prstGeom>
          <a:noFill/>
          <a:ln/>
        </p:spPr>
        <p:txBody>
          <a:bodyPr wrap="square" lIns="0" tIns="0" rIns="0" bIns="0" rtlCol="0" anchor="ctr"/>
          <a:lstStyle/>
          <a:p>
            <a:pPr algn="ctr" indent="0" marL="0">
              <a:buNone/>
            </a:pPr>
            <a:r>
              <a:rPr lang="en-US" sz="2100" b="1" dirty="0">
                <a:solidFill>
                  <a:srgbClr val="B08D57"/>
                </a:solidFill>
                <a:latin typeface="Arial" pitchFamily="34" charset="0"/>
                <a:ea typeface="Arial" pitchFamily="34" charset="-122"/>
                <a:cs typeface="Arial" pitchFamily="34" charset="-120"/>
              </a:rPr>
              <a:t>3</a:t>
            </a:r>
            <a:endParaRPr lang="en-US" sz="2100" dirty="0"/>
          </a:p>
        </p:txBody>
      </p:sp>
      <p:sp>
        <p:nvSpPr>
          <p:cNvPr id="17" name="Text 15"/>
          <p:cNvSpPr/>
          <p:nvPr/>
        </p:nvSpPr>
        <p:spPr>
          <a:xfrm>
            <a:off x="6452464" y="3299155"/>
            <a:ext cx="2101520" cy="174625"/>
          </a:xfrm>
          <a:prstGeom prst="rect">
            <a:avLst/>
          </a:prstGeom>
          <a:noFill/>
          <a:ln/>
        </p:spPr>
        <p:txBody>
          <a:bodyPr wrap="square" lIns="0" tIns="0" rIns="0" bIns="0" rtlCol="0" anchor="t"/>
          <a:lstStyle/>
          <a:p>
            <a:pPr algn="ctr" indent="0" marL="0">
              <a:lnSpc>
                <a:spcPts val="1375"/>
              </a:lnSpc>
              <a:buNone/>
            </a:pPr>
            <a:r>
              <a:rPr lang="en-US" sz="1100" b="1" dirty="0">
                <a:solidFill>
                  <a:srgbClr val="13233F"/>
                </a:solidFill>
                <a:latin typeface="微软雅黑" pitchFamily="34" charset="0"/>
                <a:ea typeface="微软雅黑" pitchFamily="34" charset="-122"/>
                <a:cs typeface="微软雅黑" pitchFamily="34" charset="-120"/>
              </a:rPr>
              <a:t>及时报告</a:t>
            </a:r>
            <a:endParaRPr lang="en-US" sz="1100" dirty="0"/>
          </a:p>
        </p:txBody>
      </p:sp>
      <p:sp>
        <p:nvSpPr>
          <p:cNvPr id="18" name="Text 16"/>
          <p:cNvSpPr/>
          <p:nvPr/>
        </p:nvSpPr>
        <p:spPr>
          <a:xfrm>
            <a:off x="6452464" y="3565220"/>
            <a:ext cx="2101520" cy="1584681"/>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依规定向本院纪检监察部门或指定机构报告；涉及重大情形的，逐级上报。</a:t>
            </a:r>
            <a:endParaRPr lang="en-US" sz="1350" dirty="0"/>
          </a:p>
        </p:txBody>
      </p:sp>
      <p:sp>
        <p:nvSpPr>
          <p:cNvPr id="19" name="Shape 17"/>
          <p:cNvSpPr/>
          <p:nvPr/>
        </p:nvSpPr>
        <p:spPr>
          <a:xfrm>
            <a:off x="9011183" y="2329891"/>
            <a:ext cx="2613584" cy="3039466"/>
          </a:xfrm>
          <a:prstGeom prst="roundRect">
            <a:avLst>
              <a:gd name="adj" fmla="val 3499"/>
            </a:avLst>
          </a:prstGeom>
          <a:solidFill>
            <a:srgbClr val="F2F4F8"/>
          </a:solidFill>
          <a:ln w="12700">
            <a:solidFill>
              <a:srgbClr val="F2F4F8"/>
            </a:solidFill>
            <a:prstDash val="solid"/>
          </a:ln>
        </p:spPr>
      </p:sp>
      <p:sp>
        <p:nvSpPr>
          <p:cNvPr id="20" name="Shape 18"/>
          <p:cNvSpPr/>
          <p:nvPr/>
        </p:nvSpPr>
        <p:spPr>
          <a:xfrm>
            <a:off x="10052799" y="2604211"/>
            <a:ext cx="530352" cy="530352"/>
          </a:xfrm>
          <a:prstGeom prst="ellipse">
            <a:avLst/>
          </a:prstGeom>
          <a:solidFill>
            <a:srgbClr val="13233F"/>
          </a:solidFill>
          <a:ln w="12700">
            <a:solidFill>
              <a:srgbClr val="13233F"/>
            </a:solidFill>
            <a:prstDash val="solid"/>
          </a:ln>
        </p:spPr>
      </p:sp>
      <p:sp>
        <p:nvSpPr>
          <p:cNvPr id="21" name="Text 19"/>
          <p:cNvSpPr/>
          <p:nvPr/>
        </p:nvSpPr>
        <p:spPr>
          <a:xfrm>
            <a:off x="10052799" y="2604211"/>
            <a:ext cx="530352" cy="530352"/>
          </a:xfrm>
          <a:prstGeom prst="rect">
            <a:avLst/>
          </a:prstGeom>
          <a:noFill/>
          <a:ln/>
        </p:spPr>
        <p:txBody>
          <a:bodyPr wrap="square" lIns="0" tIns="0" rIns="0" bIns="0" rtlCol="0" anchor="ctr"/>
          <a:lstStyle/>
          <a:p>
            <a:pPr algn="ctr" indent="0" marL="0">
              <a:buNone/>
            </a:pPr>
            <a:r>
              <a:rPr lang="en-US" sz="2100" b="1" dirty="0">
                <a:solidFill>
                  <a:srgbClr val="B08D57"/>
                </a:solidFill>
                <a:latin typeface="Arial" pitchFamily="34" charset="0"/>
                <a:ea typeface="Arial" pitchFamily="34" charset="-122"/>
                <a:cs typeface="Arial" pitchFamily="34" charset="-120"/>
              </a:rPr>
              <a:t>4</a:t>
            </a:r>
            <a:endParaRPr lang="en-US" sz="2100" dirty="0"/>
          </a:p>
        </p:txBody>
      </p:sp>
      <p:sp>
        <p:nvSpPr>
          <p:cNvPr id="22" name="Text 20"/>
          <p:cNvSpPr/>
          <p:nvPr/>
        </p:nvSpPr>
        <p:spPr>
          <a:xfrm>
            <a:off x="9267215" y="3299155"/>
            <a:ext cx="2101520" cy="174625"/>
          </a:xfrm>
          <a:prstGeom prst="rect">
            <a:avLst/>
          </a:prstGeom>
          <a:noFill/>
          <a:ln/>
        </p:spPr>
        <p:txBody>
          <a:bodyPr wrap="square" lIns="0" tIns="0" rIns="0" bIns="0" rtlCol="0" anchor="t"/>
          <a:lstStyle/>
          <a:p>
            <a:pPr algn="ctr" indent="0" marL="0">
              <a:lnSpc>
                <a:spcPts val="1375"/>
              </a:lnSpc>
              <a:buNone/>
            </a:pPr>
            <a:r>
              <a:rPr lang="en-US" sz="1100" b="1" dirty="0">
                <a:solidFill>
                  <a:srgbClr val="13233F"/>
                </a:solidFill>
                <a:latin typeface="微软雅黑" pitchFamily="34" charset="0"/>
                <a:ea typeface="微软雅黑" pitchFamily="34" charset="-122"/>
                <a:cs typeface="微软雅黑" pitchFamily="34" charset="-120"/>
              </a:rPr>
              <a:t>依法办案</a:t>
            </a:r>
            <a:endParaRPr lang="en-US" sz="1100" dirty="0"/>
          </a:p>
        </p:txBody>
      </p:sp>
      <p:sp>
        <p:nvSpPr>
          <p:cNvPr id="23" name="Text 21"/>
          <p:cNvSpPr/>
          <p:nvPr/>
        </p:nvSpPr>
        <p:spPr>
          <a:xfrm>
            <a:off x="9267215" y="3565220"/>
            <a:ext cx="2101520" cy="1584681"/>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记录与报告不影响案件的正常审理。法官仍应依据事实和法律独立作出裁判，不因被过问而改变判断，也不因被过问而刻意反向裁判。</a:t>
            </a:r>
            <a:endParaRPr lang="en-US" sz="1350" dirty="0"/>
          </a:p>
        </p:txBody>
      </p:sp>
      <p:sp>
        <p:nvSpPr>
          <p:cNvPr id="24"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09</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哪些属于应当记录的“过问”</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情境辨析</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四个情境的辨析</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情境一：某局长打电话给承办法官，说“这个案子的当事人是我们单位的老同志，情况比较特殊，请你们酌情考虑”。</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情境二：上级法院法官在业务会议上就同类案件的法律适用问题作出统一指导意见，未涉及具体个案的处理结果。</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情境三：本院已退休的老庭长来访，闲谈中提到“某某案的原告是我远房亲戚，人挺不容易的”。</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情境四：当事人的代理律师依程序提交书面代理意见，并申请与合议庭当面沟通，法官安排了双方均在场的听取意见程序。</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四个情境中，哪些属于应当记录的过问？</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情境三中对方并未提出明确要求，是否仍需记录？</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情境二与“内部干预”的界限在哪里？</a:t>
            </a:r>
            <a:endParaRPr lang="en-US" sz="1400" dirty="0"/>
          </a:p>
        </p:txBody>
      </p:sp>
      <p:sp>
        <p:nvSpPr>
          <p:cNvPr id="20" name="Shape 18"/>
          <p:cNvSpPr/>
          <p:nvPr/>
        </p:nvSpPr>
        <p:spPr>
          <a:xfrm>
            <a:off x="7958023" y="524192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24192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573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情境四为何不属于单方接触？</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10</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实现内部独立：审判权运行机制改革</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审者不判、判者不审——这是我国司法改革要解决的核心问题</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11</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问题诊断</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审判行政化的四种表现</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内部独立在我国面临的主要障碍，是长期形成的审判行政化倾向。</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案件层层审批：承办法官写出裁判文书后，须经庭长、分管院长逐级审批签发，实际决定权上移。</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审判委员会讨论决定：大量案件提交审委会讨论，而审委会委员并未参加庭审，形成“判者不审”。</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向上级法院请示：下级法院就个案的处理结果向上级法院请示，使二审、再审救济名存实亡。</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考核指标压力：以结案率、调解率、上诉率、发回改判率等指标考核法官，可能扭曲裁判行为。</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这四种做法的初衷都是保证案件质量，客观效果却是责任分散、无人负责，并且切断了“亲历性”与“裁判权”之间的联系。</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12</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边界划定</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院庭长审判监督权的范围：四类案件</a:t>
            </a:r>
            <a:endParaRPr lang="en-US" sz="2800" dirty="0"/>
          </a:p>
        </p:txBody>
      </p:sp>
      <p:sp>
        <p:nvSpPr>
          <p:cNvPr id="4" name="Shape 2"/>
          <p:cNvSpPr/>
          <p:nvPr/>
        </p:nvSpPr>
        <p:spPr>
          <a:xfrm>
            <a:off x="566928" y="1963865"/>
            <a:ext cx="11057839" cy="2156841"/>
          </a:xfrm>
          <a:prstGeom prst="roundRect">
            <a:avLst>
              <a:gd name="adj" fmla="val 4240"/>
            </a:avLst>
          </a:prstGeom>
          <a:solidFill>
            <a:srgbClr val="F6F1E8"/>
          </a:solidFill>
          <a:ln w="12700">
            <a:solidFill>
              <a:srgbClr val="F6F1E8"/>
            </a:solidFill>
            <a:prstDash val="solid"/>
          </a:ln>
        </p:spPr>
      </p:sp>
      <p:sp>
        <p:nvSpPr>
          <p:cNvPr id="5" name="Shape 3"/>
          <p:cNvSpPr/>
          <p:nvPr/>
        </p:nvSpPr>
        <p:spPr>
          <a:xfrm>
            <a:off x="877824" y="220160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20160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8332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审判权运行机制改革的相关规定</a:t>
            </a:r>
            <a:endParaRPr lang="en-US" sz="1500" dirty="0"/>
          </a:p>
        </p:txBody>
      </p:sp>
      <p:sp>
        <p:nvSpPr>
          <p:cNvPr id="8" name="Text 6"/>
          <p:cNvSpPr/>
          <p:nvPr/>
        </p:nvSpPr>
        <p:spPr>
          <a:xfrm>
            <a:off x="960120" y="2603945"/>
            <a:ext cx="10271455" cy="12973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对于以下四类案件，院长、副院长、庭长有权行使审判管理与监督职能，要求独任法官或者合议庭报告案件进展和评议结果：</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（一）涉及群体性纠纷，可能影响社会稳定的；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（二）疑难、复杂且在社会上有重大影响的；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（三）与本院或者上级法院的类案判决可能发生冲突的；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（四）有关单位或者个人反映法官有违法审判行为的。</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把握两点：第一，这是“列举式”授权，四类之外院庭长无权要求报告；第二，权限限于“要求报告案件进展和评议结果”，即知情权与提示权，不包括改变裁判结果的决定权。院庭长如认为裁判确有错误，应当通过提交专业法官会议讨论、提请审判委员会讨论等法定途径处理，而不得直接指令承办人如何裁判。</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13</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机制安排</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三种法定的内部讨论机制及其性质</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合议庭评议</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合议庭是法定的审判组织。评议实行少数服从多数，不同意见必须如实记入评议笔录。合议庭成员对自己的评议意见承担责任——这是责任落地的基本单元。</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专业法官会议</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为疑难复杂案件提供法律适用方面的咨询意见。其意见仅供合议庭参考，不具约束力，合议庭有权不予采纳但应当说明理由。它的价值在于以专业讨论替代行政审批。</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审判委员会</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讨论决定重大、疑难、复杂案件的法律适用问题，总结审判经验。改革方向是：由讨论个案转向总结经验与统一法律适用；讨论个案时原则上只讨论法律适用问题，不讨论事实认定；委员的意见及表决情况记入笔录并承担相应责任。</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14</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司法责任制：权责一致的制度安排</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让审理者裁判，由裁判者负责——独立与责任是同一枚硬币的两面</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15</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改革框架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司法责任制的三根支柱</a:t>
            </a:r>
            <a:endParaRPr lang="en-US" sz="2800" dirty="0"/>
          </a:p>
        </p:txBody>
      </p:sp>
      <p:sp>
        <p:nvSpPr>
          <p:cNvPr id="4" name="Shape 2"/>
          <p:cNvSpPr/>
          <p:nvPr/>
        </p:nvSpPr>
        <p:spPr>
          <a:xfrm>
            <a:off x="566928" y="2101152"/>
            <a:ext cx="3527450" cy="2994025"/>
          </a:xfrm>
          <a:prstGeom prst="roundRect">
            <a:avLst>
              <a:gd name="adj" fmla="val 3054"/>
            </a:avLst>
          </a:prstGeom>
          <a:solidFill>
            <a:srgbClr val="13233F"/>
          </a:solidFill>
          <a:ln w="12700">
            <a:solidFill>
              <a:srgbClr val="13233F"/>
            </a:solidFill>
            <a:prstDash val="solid"/>
          </a:ln>
        </p:spPr>
      </p:sp>
      <p:sp>
        <p:nvSpPr>
          <p:cNvPr id="5" name="Text 3"/>
          <p:cNvSpPr/>
          <p:nvPr/>
        </p:nvSpPr>
        <p:spPr>
          <a:xfrm>
            <a:off x="749808" y="2430336"/>
            <a:ext cx="3161690" cy="1024128"/>
          </a:xfrm>
          <a:prstGeom prst="rect">
            <a:avLst/>
          </a:prstGeom>
          <a:noFill/>
          <a:ln/>
        </p:spPr>
        <p:txBody>
          <a:bodyPr wrap="square" lIns="0" tIns="0" rIns="0" bIns="0" rtlCol="0" anchor="ctr"/>
          <a:lstStyle/>
          <a:p>
            <a:pPr algn="ctr" indent="0" marL="0">
              <a:buNone/>
            </a:pPr>
            <a:r>
              <a:rPr lang="en-US" sz="5800" b="1" dirty="0">
                <a:solidFill>
                  <a:srgbClr val="B08D57"/>
                </a:solidFill>
                <a:latin typeface="Arial" pitchFamily="34" charset="0"/>
                <a:ea typeface="Arial" pitchFamily="34" charset="-122"/>
                <a:cs typeface="Arial" pitchFamily="34" charset="-120"/>
              </a:rPr>
              <a:t>员额制</a:t>
            </a:r>
            <a:endParaRPr lang="en-US" sz="5800" dirty="0"/>
          </a:p>
        </p:txBody>
      </p:sp>
      <p:sp>
        <p:nvSpPr>
          <p:cNvPr id="6" name="Text 4"/>
          <p:cNvSpPr/>
          <p:nvPr/>
        </p:nvSpPr>
        <p:spPr>
          <a:xfrm>
            <a:off x="886968" y="3582480"/>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FFFFFF"/>
                </a:solidFill>
                <a:latin typeface="微软雅黑" pitchFamily="34" charset="0"/>
                <a:ea typeface="微软雅黑" pitchFamily="34" charset="-122"/>
                <a:cs typeface="微软雅黑" pitchFamily="34" charset="-120"/>
              </a:rPr>
              <a:t>谁来裁判</a:t>
            </a:r>
            <a:endParaRPr lang="en-US" sz="1600" dirty="0"/>
          </a:p>
        </p:txBody>
      </p:sp>
      <p:sp>
        <p:nvSpPr>
          <p:cNvPr id="7" name="Text 5"/>
          <p:cNvSpPr/>
          <p:nvPr/>
        </p:nvSpPr>
        <p:spPr>
          <a:xfrm>
            <a:off x="886968" y="4047808"/>
            <a:ext cx="2887370" cy="864489"/>
          </a:xfrm>
          <a:prstGeom prst="rect">
            <a:avLst/>
          </a:prstGeom>
          <a:noFill/>
          <a:ln/>
        </p:spPr>
        <p:txBody>
          <a:bodyPr wrap="square" lIns="0" tIns="0" rIns="0" bIns="0" rtlCol="0" anchor="t"/>
          <a:lstStyle/>
          <a:p>
            <a:pPr algn="ctr" indent="0" marL="0">
              <a:lnSpc>
                <a:spcPts val="1885"/>
              </a:lnSpc>
              <a:buNone/>
            </a:pPr>
            <a:r>
              <a:rPr lang="en-US" sz="1300" dirty="0">
                <a:solidFill>
                  <a:srgbClr val="E4E9F1"/>
                </a:solidFill>
                <a:latin typeface="微软雅黑" pitchFamily="34" charset="0"/>
                <a:ea typeface="微软雅黑" pitchFamily="34" charset="-122"/>
                <a:cs typeface="微软雅黑" pitchFamily="34" charset="-120"/>
              </a:rPr>
              <a:t>通过遴选确定员额法官，实行法官、法官助理、书记员的分类管理，使真正办案的人成为责任主体</a:t>
            </a:r>
            <a:endParaRPr lang="en-US" sz="1300" dirty="0"/>
          </a:p>
        </p:txBody>
      </p:sp>
      <p:sp>
        <p:nvSpPr>
          <p:cNvPr id="8" name="Shape 6"/>
          <p:cNvSpPr/>
          <p:nvPr/>
        </p:nvSpPr>
        <p:spPr>
          <a:xfrm>
            <a:off x="4332122" y="2101152"/>
            <a:ext cx="3527450" cy="2994025"/>
          </a:xfrm>
          <a:prstGeom prst="roundRect">
            <a:avLst>
              <a:gd name="adj" fmla="val 3054"/>
            </a:avLst>
          </a:prstGeom>
          <a:solidFill>
            <a:srgbClr val="F6F1E8"/>
          </a:solidFill>
          <a:ln w="12700">
            <a:solidFill>
              <a:srgbClr val="F6F1E8"/>
            </a:solidFill>
            <a:prstDash val="solid"/>
          </a:ln>
        </p:spPr>
      </p:sp>
      <p:sp>
        <p:nvSpPr>
          <p:cNvPr id="9" name="Text 7"/>
          <p:cNvSpPr/>
          <p:nvPr/>
        </p:nvSpPr>
        <p:spPr>
          <a:xfrm>
            <a:off x="4515002" y="2430336"/>
            <a:ext cx="3161690" cy="1024128"/>
          </a:xfrm>
          <a:prstGeom prst="rect">
            <a:avLst/>
          </a:prstGeom>
          <a:noFill/>
          <a:ln/>
        </p:spPr>
        <p:txBody>
          <a:bodyPr wrap="square" lIns="0" tIns="0" rIns="0" bIns="0" rtlCol="0" anchor="ctr"/>
          <a:lstStyle/>
          <a:p>
            <a:pPr algn="ctr" indent="0" marL="0">
              <a:buNone/>
            </a:pPr>
            <a:r>
              <a:rPr lang="en-US" sz="5800" b="1" dirty="0">
                <a:solidFill>
                  <a:srgbClr val="B08D57"/>
                </a:solidFill>
                <a:latin typeface="Arial" pitchFamily="34" charset="0"/>
                <a:ea typeface="Arial" pitchFamily="34" charset="-122"/>
                <a:cs typeface="Arial" pitchFamily="34" charset="-120"/>
              </a:rPr>
              <a:t>放权</a:t>
            </a:r>
            <a:endParaRPr lang="en-US" sz="5800" dirty="0"/>
          </a:p>
        </p:txBody>
      </p:sp>
      <p:sp>
        <p:nvSpPr>
          <p:cNvPr id="10" name="Text 8"/>
          <p:cNvSpPr/>
          <p:nvPr/>
        </p:nvSpPr>
        <p:spPr>
          <a:xfrm>
            <a:off x="4652162" y="3582480"/>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如何裁判</a:t>
            </a:r>
            <a:endParaRPr lang="en-US" sz="1600" dirty="0"/>
          </a:p>
        </p:txBody>
      </p:sp>
      <p:sp>
        <p:nvSpPr>
          <p:cNvPr id="11" name="Text 9"/>
          <p:cNvSpPr/>
          <p:nvPr/>
        </p:nvSpPr>
        <p:spPr>
          <a:xfrm>
            <a:off x="4652162" y="4047808"/>
            <a:ext cx="2887370"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取消案件层层审批，独任法官、合议庭直接签发裁判文书，院庭长监督权限于法定的四类案件</a:t>
            </a:r>
            <a:endParaRPr lang="en-US" sz="1300" dirty="0"/>
          </a:p>
        </p:txBody>
      </p:sp>
      <p:sp>
        <p:nvSpPr>
          <p:cNvPr id="12" name="Shape 10"/>
          <p:cNvSpPr/>
          <p:nvPr/>
        </p:nvSpPr>
        <p:spPr>
          <a:xfrm>
            <a:off x="8097317" y="2101152"/>
            <a:ext cx="3527450" cy="2994025"/>
          </a:xfrm>
          <a:prstGeom prst="roundRect">
            <a:avLst>
              <a:gd name="adj" fmla="val 3054"/>
            </a:avLst>
          </a:prstGeom>
          <a:solidFill>
            <a:srgbClr val="ECF3F2"/>
          </a:solidFill>
          <a:ln w="12700">
            <a:solidFill>
              <a:srgbClr val="ECF3F2"/>
            </a:solidFill>
            <a:prstDash val="solid"/>
          </a:ln>
        </p:spPr>
      </p:sp>
      <p:sp>
        <p:nvSpPr>
          <p:cNvPr id="13" name="Text 11"/>
          <p:cNvSpPr/>
          <p:nvPr/>
        </p:nvSpPr>
        <p:spPr>
          <a:xfrm>
            <a:off x="8280197" y="2430336"/>
            <a:ext cx="3161690" cy="1024128"/>
          </a:xfrm>
          <a:prstGeom prst="rect">
            <a:avLst/>
          </a:prstGeom>
          <a:noFill/>
          <a:ln/>
        </p:spPr>
        <p:txBody>
          <a:bodyPr wrap="square" lIns="0" tIns="0" rIns="0" bIns="0" rtlCol="0" anchor="ctr"/>
          <a:lstStyle/>
          <a:p>
            <a:pPr algn="ctr" indent="0" marL="0">
              <a:buNone/>
            </a:pPr>
            <a:r>
              <a:rPr lang="en-US" sz="5800" b="1" dirty="0">
                <a:solidFill>
                  <a:srgbClr val="2F6E6A"/>
                </a:solidFill>
                <a:latin typeface="Arial" pitchFamily="34" charset="0"/>
                <a:ea typeface="Arial" pitchFamily="34" charset="-122"/>
                <a:cs typeface="Arial" pitchFamily="34" charset="-120"/>
              </a:rPr>
              <a:t>追责</a:t>
            </a:r>
            <a:endParaRPr lang="en-US" sz="5800" dirty="0"/>
          </a:p>
        </p:txBody>
      </p:sp>
      <p:sp>
        <p:nvSpPr>
          <p:cNvPr id="14" name="Text 12"/>
          <p:cNvSpPr/>
          <p:nvPr/>
        </p:nvSpPr>
        <p:spPr>
          <a:xfrm>
            <a:off x="8417357" y="3582480"/>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谁来负责</a:t>
            </a:r>
            <a:endParaRPr lang="en-US" sz="1600" dirty="0"/>
          </a:p>
        </p:txBody>
      </p:sp>
      <p:sp>
        <p:nvSpPr>
          <p:cNvPr id="15" name="Text 13"/>
          <p:cNvSpPr/>
          <p:nvPr/>
        </p:nvSpPr>
        <p:spPr>
          <a:xfrm>
            <a:off x="8417357" y="4047808"/>
            <a:ext cx="2887370"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建立与放权相配套的审判责任追究机制，同时明确不受追究的情形，保障法官依法履职</a:t>
            </a:r>
            <a:endParaRPr lang="en-US" sz="1300" dirty="0"/>
          </a:p>
        </p:txBody>
      </p:sp>
      <p:sp>
        <p:nvSpPr>
          <p:cNvPr id="16" name="Text 14"/>
          <p:cNvSpPr/>
          <p:nvPr/>
        </p:nvSpPr>
        <p:spPr>
          <a:xfrm>
            <a:off x="566928" y="6199632"/>
            <a:ext cx="11057839" cy="310896"/>
          </a:xfrm>
          <a:prstGeom prst="rect">
            <a:avLst/>
          </a:prstGeom>
          <a:noFill/>
          <a:ln/>
        </p:spPr>
        <p:txBody>
          <a:bodyPr wrap="square" lIns="0" tIns="0" rIns="0" bIns="0" rtlCol="0" anchor="ctr"/>
          <a:lstStyle/>
          <a:p>
            <a:pPr indent="0" marL="0">
              <a:buNone/>
            </a:pPr>
            <a:r>
              <a:rPr lang="en-US" sz="1150" dirty="0">
                <a:solidFill>
                  <a:srgbClr val="6B7684"/>
                </a:solidFill>
                <a:latin typeface="微软雅黑" pitchFamily="34" charset="0"/>
                <a:ea typeface="微软雅黑" pitchFamily="34" charset="-122"/>
                <a:cs typeface="微软雅黑" pitchFamily="34" charset="-120"/>
              </a:rPr>
              <a:t>三者缺一不可：只放权不追责会导致失控，只追责不放权则法官无从负责。</a:t>
            </a:r>
            <a:endParaRPr lang="en-US" sz="115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16</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责任界限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哪些应当追责，哪些不受追究</a:t>
            </a:r>
            <a:endParaRPr lang="en-US" sz="2800" dirty="0"/>
          </a:p>
        </p:txBody>
      </p:sp>
      <p:sp>
        <p:nvSpPr>
          <p:cNvPr id="4" name="Shape 2"/>
          <p:cNvSpPr/>
          <p:nvPr/>
        </p:nvSpPr>
        <p:spPr>
          <a:xfrm>
            <a:off x="566928" y="1610995"/>
            <a:ext cx="5410048" cy="4477258"/>
          </a:xfrm>
          <a:prstGeom prst="roundRect">
            <a:avLst>
              <a:gd name="adj" fmla="val 2042"/>
            </a:avLst>
          </a:prstGeom>
          <a:solidFill>
            <a:srgbClr val="F2F4F8"/>
          </a:solidFill>
          <a:ln w="12700">
            <a:solidFill>
              <a:srgbClr val="F2F4F8"/>
            </a:solidFill>
            <a:prstDash val="solid"/>
          </a:ln>
        </p:spPr>
      </p:sp>
      <p:sp>
        <p:nvSpPr>
          <p:cNvPr id="5" name="Shape 3"/>
          <p:cNvSpPr/>
          <p:nvPr/>
        </p:nvSpPr>
        <p:spPr>
          <a:xfrm>
            <a:off x="841248" y="1867027"/>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186702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应当追究审判责任的情形</a:t>
            </a:r>
            <a:endParaRPr lang="en-US" sz="1600" dirty="0"/>
          </a:p>
        </p:txBody>
      </p:sp>
      <p:sp>
        <p:nvSpPr>
          <p:cNvPr id="7" name="Text 5"/>
          <p:cNvSpPr/>
          <p:nvPr/>
        </p:nvSpPr>
        <p:spPr>
          <a:xfrm>
            <a:off x="932688" y="2525395"/>
            <a:ext cx="4678528" cy="33251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故意违反法律法规办理案件（《法官法》第四十六条第四项）。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因重大过失导致裁判结果错误并造成严重后果（第五项）。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贪污受贿、徇私舞弊、枉法裁判（第一项）。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隐瞒、伪造、变造、故意损毁证据、案件材料（第二项）。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接受当事人及其代理人利益输送，或违规会见（第八项）。</a:t>
            </a:r>
            <a:endParaRPr lang="en-US" sz="1450" dirty="0"/>
          </a:p>
        </p:txBody>
      </p:sp>
      <p:sp>
        <p:nvSpPr>
          <p:cNvPr id="8" name="Shape 6"/>
          <p:cNvSpPr/>
          <p:nvPr/>
        </p:nvSpPr>
        <p:spPr>
          <a:xfrm>
            <a:off x="6214720" y="1610995"/>
            <a:ext cx="5410048" cy="4477258"/>
          </a:xfrm>
          <a:prstGeom prst="roundRect">
            <a:avLst>
              <a:gd name="adj" fmla="val 2042"/>
            </a:avLst>
          </a:prstGeom>
          <a:solidFill>
            <a:srgbClr val="F6F1E8"/>
          </a:solidFill>
          <a:ln w="12700">
            <a:solidFill>
              <a:srgbClr val="F6F1E8"/>
            </a:solidFill>
            <a:prstDash val="solid"/>
          </a:ln>
        </p:spPr>
      </p:sp>
      <p:sp>
        <p:nvSpPr>
          <p:cNvPr id="9" name="Shape 7"/>
          <p:cNvSpPr/>
          <p:nvPr/>
        </p:nvSpPr>
        <p:spPr>
          <a:xfrm>
            <a:off x="6489040" y="1867027"/>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186702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不应追究责任的情形</a:t>
            </a:r>
            <a:endParaRPr lang="en-US" sz="1600" dirty="0"/>
          </a:p>
        </p:txBody>
      </p:sp>
      <p:sp>
        <p:nvSpPr>
          <p:cNvPr id="11" name="Text 9"/>
          <p:cNvSpPr/>
          <p:nvPr/>
        </p:nvSpPr>
        <p:spPr>
          <a:xfrm>
            <a:off x="6580480" y="2525395"/>
            <a:ext cx="4678528" cy="33251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对法律理解与认识上的偏差——法律解释存在合理分歧的，不属违法审判。</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对案件事实和证据认识上的偏差，且已尽到审查职责的。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因法律修改、司法解释变更或指导性案例调整而导致的裁判差异。</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因不可归责于法官的事由（如新证据出现）导致裁判被改变的。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法官依照法定程序对案件集体讨论决定，个人已提出正确意见的。</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17</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为什么必须明确“不追责”</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免责边界是独立的前提</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如果任何被改判、被发回的案件都可能被追责，法官就会采取自我保护性的行为，独立随之落空。</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自我保护性行为之一：凡有疑难必上报，主动放弃独立判断，把责任推给院庭长或审委会。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自我保护性行为之二：在法律解释存在分歧时，一律选择最保守、最不容易被指责的方案，即使该方案未必最符合个案正义。</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自我保护性行为之三：对新型案件、疑难案件消极拖延，久拖不决。</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所以，明确“不受追究的情形”，不是为法官开脱，而是为独立裁判提供必要的安全空间。裁判责任只应针对故意与重大过失，不应针对合理的认识分歧。</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18</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独立的限度：独立不等于任意</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独立是在法律之内的独立，不是超越法律的自由裁量</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19</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四项限度</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独立受到哪些正当约束</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受法律与司法解释的约束</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法官必须适用现行有效的法律与司法解释，不得以个人对法律的评价为由拒绝适用。若认为规范性文件与上位法冲突，应当依法定程序处理（如逐级报送审查），而非径行拒绝适用。</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受类案裁判规则的约束</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依《关于统一法律适用加强类案检索的指导意见》，法官在特定情形下应当进行类案检索；检索到指导性案例的，应当参照。同案同判是形式正义的基本要求，也是对恣意的约束。</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受程序与说理的约束</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独立行使的裁判权必须以裁判文书说理的方式接受检验。说理不充分的裁判，即使结论正确，也未完成正当性论证。裁判文书公开正是这一约束的制度化。</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受审级监督的约束</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二审、再审程序是对独立裁判的正当审查。被改判不等于错误，更不等于违纪；但法官应当从改判中检视自己的判断，这是职业成长的正常方式。</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20</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法官的独立不是为了法官自己，而是为了当事人——为了让每一个走进法庭的人相信，决定他命运的只有事实与法律。</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司法独立的价值归属</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一旦把独立理解为法官的个人利益，就必然导向对监督的排斥；理解为当事人的权利，则独立与责任自然统一</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某法官在审理一起备受关注的案件时，收到本院院长的书面意见，认为其拟作出的判决“社会效果不好，建议慎重考虑”。该案不属于法定的四类案件。法官应当如何处理？请给出具体的操作步骤。</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“逢问必录”要求如实记录过问情况。但如果过问者是本院分管领导，法官担心记录后遭到报复，应当如何保障其权利？现行制度提供了哪些保护？</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司法责任制要求“由裁判者负责”，但法律解释常有合理分歧。请设计一个判断标准，用以区分“错误的法律理解”与“合理的认识分歧”。</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有观点认为，类案检索制度实质上限制了法官的独立判断，使我国事实上引入了判例约束。你是否同意？同案同判与法官独立是什么关系？</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22</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第6课时要点回顾</a:t>
            </a:r>
            <a:endParaRPr lang="en-US" sz="3000" dirty="0"/>
          </a:p>
        </p:txBody>
      </p:sp>
      <p:sp>
        <p:nvSpPr>
          <p:cNvPr id="4" name="Shape 2"/>
          <p:cNvSpPr/>
          <p:nvPr/>
        </p:nvSpPr>
        <p:spPr>
          <a:xfrm>
            <a:off x="566928" y="1591056"/>
            <a:ext cx="11057839" cy="607547"/>
          </a:xfrm>
          <a:prstGeom prst="roundRect">
            <a:avLst>
              <a:gd name="adj" fmla="val 12041"/>
            </a:avLst>
          </a:prstGeom>
          <a:solidFill>
            <a:srgbClr val="25395F"/>
          </a:solidFill>
          <a:ln w="12700">
            <a:solidFill>
              <a:srgbClr val="25395F"/>
            </a:solidFill>
            <a:prstDash val="solid"/>
          </a:ln>
        </p:spPr>
      </p:sp>
      <p:sp>
        <p:nvSpPr>
          <p:cNvPr id="5" name="Shape 3"/>
          <p:cNvSpPr/>
          <p:nvPr/>
        </p:nvSpPr>
        <p:spPr>
          <a:xfrm>
            <a:off x="859536" y="1693661"/>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14362"/>
            <a:ext cx="160934" cy="160934"/>
          </a:xfrm>
          <a:prstGeom prst="rect">
            <a:avLst/>
          </a:prstGeom>
        </p:spPr>
      </p:pic>
      <p:sp>
        <p:nvSpPr>
          <p:cNvPr id="7" name="Text 4"/>
          <p:cNvSpPr/>
          <p:nvPr/>
        </p:nvSpPr>
        <p:spPr>
          <a:xfrm>
            <a:off x="1444752" y="1775767"/>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独立是法官的义务而非特权：法官必须排除干扰独立判断，屈从压力作出违心裁判本身即为失职；独立必然伴随责任。</a:t>
            </a:r>
            <a:endParaRPr lang="en-US" sz="1250" dirty="0"/>
          </a:p>
        </p:txBody>
      </p:sp>
      <p:sp>
        <p:nvSpPr>
          <p:cNvPr id="8" name="Shape 5"/>
          <p:cNvSpPr/>
          <p:nvPr/>
        </p:nvSpPr>
        <p:spPr>
          <a:xfrm>
            <a:off x="566928" y="2335763"/>
            <a:ext cx="11057839" cy="837734"/>
          </a:xfrm>
          <a:prstGeom prst="roundRect">
            <a:avLst>
              <a:gd name="adj" fmla="val 8732"/>
            </a:avLst>
          </a:prstGeom>
          <a:solidFill>
            <a:srgbClr val="25395F"/>
          </a:solidFill>
          <a:ln w="12700">
            <a:solidFill>
              <a:srgbClr val="25395F"/>
            </a:solidFill>
            <a:prstDash val="solid"/>
          </a:ln>
        </p:spPr>
      </p:sp>
      <p:sp>
        <p:nvSpPr>
          <p:cNvPr id="9" name="Shape 6"/>
          <p:cNvSpPr/>
          <p:nvPr/>
        </p:nvSpPr>
        <p:spPr>
          <a:xfrm>
            <a:off x="859536" y="2553462"/>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674163"/>
            <a:ext cx="160934" cy="160934"/>
          </a:xfrm>
          <a:prstGeom prst="rect">
            <a:avLst/>
          </a:prstGeom>
        </p:spPr>
      </p:pic>
      <p:sp>
        <p:nvSpPr>
          <p:cNvPr id="11" name="Text 7"/>
          <p:cNvSpPr/>
          <p:nvPr/>
        </p:nvSpPr>
        <p:spPr>
          <a:xfrm>
            <a:off x="1444752" y="2516505"/>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法官独立于当事人、行政机关、传媒舆论、本院院庭长与上级法院法官的不当干预及自身偏好；只服从宪法法律、法定程序查明的事实与良心。</a:t>
            </a:r>
            <a:endParaRPr lang="en-US" sz="1250" dirty="0"/>
          </a:p>
        </p:txBody>
      </p:sp>
      <p:sp>
        <p:nvSpPr>
          <p:cNvPr id="12" name="Shape 8"/>
          <p:cNvSpPr/>
          <p:nvPr/>
        </p:nvSpPr>
        <p:spPr>
          <a:xfrm>
            <a:off x="566928" y="3310657"/>
            <a:ext cx="11057839" cy="607547"/>
          </a:xfrm>
          <a:prstGeom prst="roundRect">
            <a:avLst>
              <a:gd name="adj" fmla="val 12041"/>
            </a:avLst>
          </a:prstGeom>
          <a:solidFill>
            <a:srgbClr val="25395F"/>
          </a:solidFill>
          <a:ln w="12700">
            <a:solidFill>
              <a:srgbClr val="25395F"/>
            </a:solidFill>
            <a:prstDash val="solid"/>
          </a:ln>
        </p:spPr>
      </p:sp>
      <p:sp>
        <p:nvSpPr>
          <p:cNvPr id="13" name="Shape 9"/>
          <p:cNvSpPr/>
          <p:nvPr/>
        </p:nvSpPr>
        <p:spPr>
          <a:xfrm>
            <a:off x="859536" y="3413263"/>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533963"/>
            <a:ext cx="160934" cy="160934"/>
          </a:xfrm>
          <a:prstGeom prst="rect">
            <a:avLst/>
          </a:prstGeom>
        </p:spPr>
      </p:pic>
      <p:sp>
        <p:nvSpPr>
          <p:cNvPr id="15" name="Text 10"/>
          <p:cNvSpPr/>
          <p:nvPr/>
        </p:nvSpPr>
        <p:spPr>
          <a:xfrm>
            <a:off x="1444752" y="3495368"/>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“防止干预司法三个规定”的核心机理是“逢问必录”：不禁止开口，而以全程留痕改变博弈结构，同时把个人的拒绝转化为制度的拒绝。</a:t>
            </a:r>
            <a:endParaRPr lang="en-US" sz="1250" dirty="0"/>
          </a:p>
        </p:txBody>
      </p:sp>
      <p:sp>
        <p:nvSpPr>
          <p:cNvPr id="16" name="Shape 11"/>
          <p:cNvSpPr/>
          <p:nvPr/>
        </p:nvSpPr>
        <p:spPr>
          <a:xfrm>
            <a:off x="566928" y="4055364"/>
            <a:ext cx="11057839" cy="837734"/>
          </a:xfrm>
          <a:prstGeom prst="roundRect">
            <a:avLst>
              <a:gd name="adj" fmla="val 8732"/>
            </a:avLst>
          </a:prstGeom>
          <a:solidFill>
            <a:srgbClr val="25395F"/>
          </a:solidFill>
          <a:ln w="12700">
            <a:solidFill>
              <a:srgbClr val="25395F"/>
            </a:solidFill>
            <a:prstDash val="solid"/>
          </a:ln>
        </p:spPr>
      </p:sp>
      <p:sp>
        <p:nvSpPr>
          <p:cNvPr id="17" name="Shape 12"/>
          <p:cNvSpPr/>
          <p:nvPr/>
        </p:nvSpPr>
        <p:spPr>
          <a:xfrm>
            <a:off x="859536" y="4273063"/>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393764"/>
            <a:ext cx="160934" cy="160934"/>
          </a:xfrm>
          <a:prstGeom prst="rect">
            <a:avLst/>
          </a:prstGeom>
        </p:spPr>
      </p:pic>
      <p:sp>
        <p:nvSpPr>
          <p:cNvPr id="19" name="Text 13"/>
          <p:cNvSpPr/>
          <p:nvPr/>
        </p:nvSpPr>
        <p:spPr>
          <a:xfrm>
            <a:off x="1444752" y="4236106"/>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内部独立的障碍是审判行政化（层层审批、审委会决定、向上请示、考核压力）；院庭长的监督权限于法定四类案件，且仅有知情权与提示权，无改变裁判结果的决定权。</a:t>
            </a:r>
            <a:endParaRPr lang="en-US" sz="1250" dirty="0"/>
          </a:p>
        </p:txBody>
      </p:sp>
      <p:sp>
        <p:nvSpPr>
          <p:cNvPr id="20" name="Shape 14"/>
          <p:cNvSpPr/>
          <p:nvPr/>
        </p:nvSpPr>
        <p:spPr>
          <a:xfrm>
            <a:off x="566928" y="5030258"/>
            <a:ext cx="11057839" cy="607547"/>
          </a:xfrm>
          <a:prstGeom prst="roundRect">
            <a:avLst>
              <a:gd name="adj" fmla="val 12041"/>
            </a:avLst>
          </a:prstGeom>
          <a:solidFill>
            <a:srgbClr val="25395F"/>
          </a:solidFill>
          <a:ln w="12700">
            <a:solidFill>
              <a:srgbClr val="25395F"/>
            </a:solidFill>
            <a:prstDash val="solid"/>
          </a:ln>
        </p:spPr>
      </p:sp>
      <p:sp>
        <p:nvSpPr>
          <p:cNvPr id="21" name="Shape 15"/>
          <p:cNvSpPr/>
          <p:nvPr/>
        </p:nvSpPr>
        <p:spPr>
          <a:xfrm>
            <a:off x="859536" y="5132864"/>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253565"/>
            <a:ext cx="160934" cy="160934"/>
          </a:xfrm>
          <a:prstGeom prst="rect">
            <a:avLst/>
          </a:prstGeom>
        </p:spPr>
      </p:pic>
      <p:sp>
        <p:nvSpPr>
          <p:cNvPr id="23" name="Text 16"/>
          <p:cNvSpPr/>
          <p:nvPr/>
        </p:nvSpPr>
        <p:spPr>
          <a:xfrm>
            <a:off x="1444752" y="5214969"/>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司法责任制由员额制、放权、追责三根支柱构成；审判责任只针对故意与重大过失，明确“不受追究的情形”是独立裁判的必要安全空间。</a:t>
            </a:r>
            <a:endParaRPr lang="en-US" sz="1250" dirty="0"/>
          </a:p>
        </p:txBody>
      </p:sp>
      <p:sp>
        <p:nvSpPr>
          <p:cNvPr id="24" name="Shape 17"/>
          <p:cNvSpPr/>
          <p:nvPr/>
        </p:nvSpPr>
        <p:spPr>
          <a:xfrm>
            <a:off x="566928" y="5774965"/>
            <a:ext cx="11057839" cy="607547"/>
          </a:xfrm>
          <a:prstGeom prst="roundRect">
            <a:avLst>
              <a:gd name="adj" fmla="val 12041"/>
            </a:avLst>
          </a:prstGeom>
          <a:solidFill>
            <a:srgbClr val="25395F"/>
          </a:solidFill>
          <a:ln w="12700">
            <a:solidFill>
              <a:srgbClr val="25395F"/>
            </a:solidFill>
            <a:prstDash val="solid"/>
          </a:ln>
        </p:spPr>
      </p:sp>
      <p:sp>
        <p:nvSpPr>
          <p:cNvPr id="25" name="Shape 18"/>
          <p:cNvSpPr/>
          <p:nvPr/>
        </p:nvSpPr>
        <p:spPr>
          <a:xfrm>
            <a:off x="859536" y="5877571"/>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98271"/>
            <a:ext cx="160934" cy="160934"/>
          </a:xfrm>
          <a:prstGeom prst="rect">
            <a:avLst/>
          </a:prstGeom>
        </p:spPr>
      </p:pic>
      <p:sp>
        <p:nvSpPr>
          <p:cNvPr id="27" name="Text 19"/>
          <p:cNvSpPr/>
          <p:nvPr/>
        </p:nvSpPr>
        <p:spPr>
          <a:xfrm>
            <a:off x="1444752" y="5959676"/>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独立不等于任意：仍受法律与司法解释、类案裁判规则、程序与说理、审级监督四项正当约束。独立的价值归属是当事人，而非法官自身。</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第7课时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保证司法公正（二）：中立、回避与程序伦理</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正义不仅要实现，而且要以人们看得见的方式实现——中立既是实质要求，也是外观要求</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中立的两个维度：实质中立与外观中立</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回避制度：事由、程序、后果与任职离任回避</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禁止单方接触、言行中立与平等对待</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中立的规范展开</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一、中立的两个维度：实质与外观</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二、回避制度（一）：事由与程序</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三、回避制度（二）：任职回避与离任回避</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四、禁止单方接触</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五、言行中立与平等对待当事人</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六、程序伦理：释明、审限与庭审指挥</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02</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中立的两个维度：实质与外观</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一个实际公正但看起来可疑的裁判，与一个不公正的裁判，对公信力的损害可能同样严重</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03</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926336"/>
            <a:ext cx="749808" cy="749808"/>
          </a:xfrm>
          <a:prstGeom prst="rect">
            <a:avLst/>
          </a:prstGeom>
        </p:spPr>
      </p:pic>
      <p:sp>
        <p:nvSpPr>
          <p:cNvPr id="3" name="Text 0"/>
          <p:cNvSpPr/>
          <p:nvPr/>
        </p:nvSpPr>
        <p:spPr>
          <a:xfrm>
            <a:off x="1298448" y="3005328"/>
            <a:ext cx="9594799" cy="6096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正义不仅要实现，而且要以人们看得见的方式实现。</a:t>
            </a:r>
            <a:endParaRPr lang="en-US" sz="3200" dirty="0"/>
          </a:p>
        </p:txBody>
      </p:sp>
      <p:sp>
        <p:nvSpPr>
          <p:cNvPr id="4" name="Text 1"/>
          <p:cNvSpPr/>
          <p:nvPr/>
        </p:nvSpPr>
        <p:spPr>
          <a:xfrm>
            <a:off x="1335024" y="39806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休厄特勋爵（Lord Hewart）</a:t>
            </a:r>
            <a:endParaRPr lang="en-US" sz="1700" dirty="0"/>
          </a:p>
        </p:txBody>
      </p:sp>
      <p:sp>
        <p:nvSpPr>
          <p:cNvPr id="5" name="Text 2"/>
          <p:cNvSpPr/>
          <p:nvPr/>
        </p:nvSpPr>
        <p:spPr>
          <a:xfrm>
            <a:off x="1335024" y="43830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R v Sussex Justices, ex parte McCarthy (1924) —— 该案中书记员系一方当事人的代理人，虽未参与实际决定，判决仍被撤销</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两个维度</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实质中立与外观中立</a:t>
            </a:r>
            <a:endParaRPr lang="en-US" sz="2800" dirty="0"/>
          </a:p>
        </p:txBody>
      </p:sp>
      <p:sp>
        <p:nvSpPr>
          <p:cNvPr id="4" name="Shape 2"/>
          <p:cNvSpPr/>
          <p:nvPr/>
        </p:nvSpPr>
        <p:spPr>
          <a:xfrm>
            <a:off x="566928" y="2076133"/>
            <a:ext cx="5410048" cy="3546983"/>
          </a:xfrm>
          <a:prstGeom prst="roundRect">
            <a:avLst>
              <a:gd name="adj" fmla="val 2578"/>
            </a:avLst>
          </a:prstGeom>
          <a:solidFill>
            <a:srgbClr val="F2F4F8"/>
          </a:solidFill>
          <a:ln w="12700">
            <a:solidFill>
              <a:srgbClr val="F2F4F8"/>
            </a:solidFill>
            <a:prstDash val="solid"/>
          </a:ln>
        </p:spPr>
      </p:sp>
      <p:sp>
        <p:nvSpPr>
          <p:cNvPr id="5" name="Shape 3"/>
          <p:cNvSpPr/>
          <p:nvPr/>
        </p:nvSpPr>
        <p:spPr>
          <a:xfrm>
            <a:off x="841248" y="2332165"/>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3321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实质中立：不偏袒任何一方</a:t>
            </a:r>
            <a:endParaRPr lang="en-US" sz="1600" dirty="0"/>
          </a:p>
        </p:txBody>
      </p:sp>
      <p:sp>
        <p:nvSpPr>
          <p:cNvPr id="7" name="Text 5"/>
          <p:cNvSpPr/>
          <p:nvPr/>
        </p:nvSpPr>
        <p:spPr>
          <a:xfrm>
            <a:off x="932688" y="2990533"/>
            <a:ext cx="4678528" cy="23948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指向裁判者的实际心理状态与实际行为：不因偏好、利害、请托而倾向某一方。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判断困难：内心状态无法直接查证，只能通过外在行为推断。</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违反的典型表现：接受请托后作出有利裁判；对一方的证据明显宽松、对另一方明显苛刻。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救济：通过上诉、再审纠正裁判结果。</a:t>
            </a:r>
            <a:endParaRPr lang="en-US" sz="1450" dirty="0"/>
          </a:p>
        </p:txBody>
      </p:sp>
      <p:sp>
        <p:nvSpPr>
          <p:cNvPr id="8" name="Shape 6"/>
          <p:cNvSpPr/>
          <p:nvPr/>
        </p:nvSpPr>
        <p:spPr>
          <a:xfrm>
            <a:off x="6214720" y="2076133"/>
            <a:ext cx="5410048" cy="3546983"/>
          </a:xfrm>
          <a:prstGeom prst="roundRect">
            <a:avLst>
              <a:gd name="adj" fmla="val 2578"/>
            </a:avLst>
          </a:prstGeom>
          <a:solidFill>
            <a:srgbClr val="F6F1E8"/>
          </a:solidFill>
          <a:ln w="12700">
            <a:solidFill>
              <a:srgbClr val="F6F1E8"/>
            </a:solidFill>
            <a:prstDash val="solid"/>
          </a:ln>
        </p:spPr>
      </p:sp>
      <p:sp>
        <p:nvSpPr>
          <p:cNvPr id="9" name="Shape 7"/>
          <p:cNvSpPr/>
          <p:nvPr/>
        </p:nvSpPr>
        <p:spPr>
          <a:xfrm>
            <a:off x="6489040" y="2332165"/>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3321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外观中立：使人相信没有偏袒</a:t>
            </a:r>
            <a:endParaRPr lang="en-US" sz="1600" dirty="0"/>
          </a:p>
        </p:txBody>
      </p:sp>
      <p:sp>
        <p:nvSpPr>
          <p:cNvPr id="11" name="Text 9"/>
          <p:cNvSpPr/>
          <p:nvPr/>
        </p:nvSpPr>
        <p:spPr>
          <a:xfrm>
            <a:off x="6580480" y="2990533"/>
            <a:ext cx="4678528" cy="23948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指向一个理性的旁观者所能感知的印象：这个裁判者看起来是否可能有所偏袒。</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判断标准客观化：不问裁判者实际是否偏袒，只问是否存在使人合理怀疑的情形。</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违反的典型表现：与一方共进宴席；与一方存在特定亲属或利害关系而未回避；庭外单独会见一方。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救济：回避制度——它保护的正是外观中立。</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05</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关键命题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为什么外观中立必须被独立保护</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很多同学会问：如果法官确实没有偏袒，仅因“看起来可疑”就要求他回避，是不是过于苛刻？</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第一，实质中立不可查证。我们无法打开一个人的头脑去检验他是否偏袒。若以实质偏袒为唯一标准，绝大多数偏袒将无法被证明，规则形同虚设。</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第二，公信力依赖于感知而非事实。当事人是否接受裁判，取决于他相信什么，而不取决于客观上发生了什么。一个他不相信的公正判决，仍然无法定纷止争。</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第三，外观标准保护法官自己。有了客观的回避事由，法官无须自证清白，只需依规回避；这反而使他免于事后被无端质疑。</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第四，班加罗尔准则将此表述为“应当避免不当行为及不当行为的表象”（the appearance of impropriety），这是国际司法伦理的共识表述。</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判断口诀：不问“我是否偏袒”，而问“一个理性的旁观者会不会合理地怀疑我偏袒”。</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06</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回避制度（一）：事由与程序</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回避是外观中立最重要的制度装置</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07</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回避事由</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三大诉讼法中的回避事由</a:t>
            </a:r>
            <a:endParaRPr lang="en-US" sz="2800" dirty="0"/>
          </a:p>
        </p:txBody>
      </p:sp>
      <p:sp>
        <p:nvSpPr>
          <p:cNvPr id="4" name="Shape 2"/>
          <p:cNvSpPr/>
          <p:nvPr/>
        </p:nvSpPr>
        <p:spPr>
          <a:xfrm>
            <a:off x="566928" y="1316736"/>
            <a:ext cx="11057839" cy="1634109"/>
          </a:xfrm>
          <a:prstGeom prst="roundRect">
            <a:avLst>
              <a:gd name="adj" fmla="val 5596"/>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《民事诉讼法》（2023年修正）第四十七条</a:t>
            </a:r>
            <a:endParaRPr lang="en-US" sz="1500" dirty="0"/>
          </a:p>
        </p:txBody>
      </p:sp>
      <p:sp>
        <p:nvSpPr>
          <p:cNvPr id="8" name="Text 6"/>
          <p:cNvSpPr/>
          <p:nvPr/>
        </p:nvSpPr>
        <p:spPr>
          <a:xfrm>
            <a:off x="960120" y="1956816"/>
            <a:ext cx="10271455" cy="774573"/>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审判人员有下列情形之一的，应当自行回避，当事人有权用口头或者书面方式申请他们回避：</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（一）是本案当事人或者当事人、诉讼代理人近亲属的；</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（二）与本案有利害关系的；</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（三）与本案当事人、诉讼代理人有其他关系，可能影响对案件公正审理的。</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审判人员接受当事人、诉讼代理人请客送礼，或者违反规定会见当事人、诉讼代理人的，当事人有权要求他们回避。</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前三款规定，适用于书记员、翻译人员、鉴定人、勘验人。</a:t>
            </a:r>
            <a:endParaRPr lang="en-US" sz="1150" dirty="0"/>
          </a:p>
        </p:txBody>
      </p:sp>
      <p:sp>
        <p:nvSpPr>
          <p:cNvPr id="9" name="Shape 7"/>
          <p:cNvSpPr/>
          <p:nvPr/>
        </p:nvSpPr>
        <p:spPr>
          <a:xfrm>
            <a:off x="566928" y="3133725"/>
            <a:ext cx="11057839" cy="1634109"/>
          </a:xfrm>
          <a:prstGeom prst="roundRect">
            <a:avLst>
              <a:gd name="adj" fmla="val 5596"/>
            </a:avLst>
          </a:prstGeom>
          <a:solidFill>
            <a:srgbClr val="F6F1E8"/>
          </a:solidFill>
          <a:ln w="12700">
            <a:solidFill>
              <a:srgbClr val="F6F1E8"/>
            </a:solidFill>
            <a:prstDash val="solid"/>
          </a:ln>
        </p:spPr>
      </p:sp>
      <p:sp>
        <p:nvSpPr>
          <p:cNvPr id="10" name="Shape 8"/>
          <p:cNvSpPr/>
          <p:nvPr/>
        </p:nvSpPr>
        <p:spPr>
          <a:xfrm>
            <a:off x="877824" y="337146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37146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35318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《刑事诉讼法》第二十九条</a:t>
            </a:r>
            <a:endParaRPr lang="en-US" sz="1500" dirty="0"/>
          </a:p>
        </p:txBody>
      </p:sp>
      <p:sp>
        <p:nvSpPr>
          <p:cNvPr id="13" name="Text 11"/>
          <p:cNvSpPr/>
          <p:nvPr/>
        </p:nvSpPr>
        <p:spPr>
          <a:xfrm>
            <a:off x="960120" y="3773805"/>
            <a:ext cx="10271455" cy="774573"/>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审判人员、检察人员、侦查人员有下列情形之一的，应当回避，当事人及其法定代理人也有权要求他们回避：</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（一）是本案的当事人或者是当事人的近亲属的；</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（二）本人或者他的近亲属和本案有利害关系的；</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（三）担任过本案的证人、鉴定人、辩护人、诉讼代理人的；</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（四）与本案当事人有其他关系，可能影响公正处理案件的。</a:t>
            </a:r>
            <a:endParaRPr lang="en-US" sz="115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比较两条的差异：刑诉法多出第（三）项“担任过本案的证人、鉴定人、辩护人、诉讼代理人的”，这是角色混同的禁止；民诉法则明确将“接受请客送礼、违规会见”单列为回避事由。共同的兜底条款是“其他关系，可能影响公正审理/处理”——这正是外观中立标准的规范入口。</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08</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廉洁性回避</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《刑事诉讼法》第三十条：请托与违规会见</a:t>
            </a:r>
            <a:endParaRPr lang="en-US" sz="2800" dirty="0"/>
          </a:p>
        </p:txBody>
      </p:sp>
      <p:sp>
        <p:nvSpPr>
          <p:cNvPr id="4" name="Shape 2"/>
          <p:cNvSpPr/>
          <p:nvPr/>
        </p:nvSpPr>
        <p:spPr>
          <a:xfrm>
            <a:off x="566928" y="2240407"/>
            <a:ext cx="11057839" cy="1861566"/>
          </a:xfrm>
          <a:prstGeom prst="roundRect">
            <a:avLst>
              <a:gd name="adj" fmla="val 4912"/>
            </a:avLst>
          </a:prstGeom>
          <a:solidFill>
            <a:srgbClr val="F6F1E8"/>
          </a:solidFill>
          <a:ln w="12700">
            <a:solidFill>
              <a:srgbClr val="F6F1E8"/>
            </a:solidFill>
            <a:prstDash val="solid"/>
          </a:ln>
        </p:spPr>
      </p:sp>
      <p:sp>
        <p:nvSpPr>
          <p:cNvPr id="5" name="Shape 3"/>
          <p:cNvSpPr/>
          <p:nvPr/>
        </p:nvSpPr>
        <p:spPr>
          <a:xfrm>
            <a:off x="877824" y="2478151"/>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478151"/>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459863"/>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《中华人民共和国刑事诉讼法》第三十条</a:t>
            </a:r>
            <a:endParaRPr lang="en-US" sz="1500" dirty="0"/>
          </a:p>
        </p:txBody>
      </p:sp>
      <p:sp>
        <p:nvSpPr>
          <p:cNvPr id="8" name="Text 6"/>
          <p:cNvSpPr/>
          <p:nvPr/>
        </p:nvSpPr>
        <p:spPr>
          <a:xfrm>
            <a:off x="960120" y="2880487"/>
            <a:ext cx="10271455" cy="10020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审判人员、检察人员、侦查人员不得接受当事人及其委托的人的请客送礼，不得违反规定会见当事人及其委托的人。</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违反前款规定的，应当依法追究法律责任。当事人及其法定代理人有权要求他们回避。</a:t>
            </a:r>
            <a:endParaRPr lang="en-US" sz="1550" dirty="0"/>
          </a:p>
        </p:txBody>
      </p:sp>
      <p:sp>
        <p:nvSpPr>
          <p:cNvPr id="9" name="Shape 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0" name="Text 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一条把廉洁要求与回避制度打通：接受请客送礼、违规会见，不仅要承担纪律或刑事责任，而且直接构成当事人申请回避的事由。请注意其规范逻辑——违规接触之所以成为回避事由，正是因为它破坏了外观中立，而不必证明裁判者实际上已被收买。</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09</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回避程序</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三种启动方式与决定主体</a:t>
            </a:r>
            <a:endParaRPr lang="en-US" sz="2800" dirty="0"/>
          </a:p>
        </p:txBody>
      </p:sp>
      <p:sp>
        <p:nvSpPr>
          <p:cNvPr id="4" name="Shape 2"/>
          <p:cNvSpPr/>
          <p:nvPr/>
        </p:nvSpPr>
        <p:spPr>
          <a:xfrm>
            <a:off x="566928" y="1824704"/>
            <a:ext cx="5382616" cy="1264603"/>
          </a:xfrm>
          <a:prstGeom prst="roundRect">
            <a:avLst>
              <a:gd name="adj" fmla="val 5785"/>
            </a:avLst>
          </a:prstGeom>
          <a:solidFill>
            <a:srgbClr val="F2F4F8"/>
          </a:solidFill>
          <a:ln w="12700">
            <a:solidFill>
              <a:srgbClr val="F2F4F8"/>
            </a:solidFill>
            <a:prstDash val="solid"/>
          </a:ln>
        </p:spPr>
      </p:sp>
      <p:sp>
        <p:nvSpPr>
          <p:cNvPr id="5" name="Shape 3"/>
          <p:cNvSpPr/>
          <p:nvPr/>
        </p:nvSpPr>
        <p:spPr>
          <a:xfrm>
            <a:off x="822960" y="2228406"/>
            <a:ext cx="457200" cy="457200"/>
          </a:xfrm>
          <a:prstGeom prst="ellipse">
            <a:avLst/>
          </a:prstGeom>
          <a:solidFill>
            <a:srgbClr val="13233F"/>
          </a:solidFill>
          <a:ln w="12700">
            <a:solidFill>
              <a:srgbClr val="13233F"/>
            </a:solidFill>
            <a:prstDash val="solid"/>
          </a:ln>
        </p:spPr>
      </p:sp>
      <p:sp>
        <p:nvSpPr>
          <p:cNvPr id="6" name="Text 4"/>
          <p:cNvSpPr/>
          <p:nvPr/>
        </p:nvSpPr>
        <p:spPr>
          <a:xfrm>
            <a:off x="822960" y="222840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961864"/>
            <a:ext cx="4340200"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自行回避</a:t>
            </a:r>
            <a:endParaRPr lang="en-US" sz="1450" dirty="0"/>
          </a:p>
        </p:txBody>
      </p:sp>
      <p:sp>
        <p:nvSpPr>
          <p:cNvPr id="8" name="Text 6"/>
          <p:cNvSpPr/>
          <p:nvPr/>
        </p:nvSpPr>
        <p:spPr>
          <a:xfrm>
            <a:off x="1444752" y="2261584"/>
            <a:ext cx="4340200" cy="690563"/>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审判人员发现自己有法定回避情形的，应当主动提出回避，不待当事人申请。这是法官的主动义务，隐瞒应当回避的事由属于违纪行为。</a:t>
            </a:r>
            <a:endParaRPr lang="en-US" sz="1250" dirty="0"/>
          </a:p>
        </p:txBody>
      </p:sp>
      <p:sp>
        <p:nvSpPr>
          <p:cNvPr id="9" name="Shape 7"/>
          <p:cNvSpPr/>
          <p:nvPr/>
        </p:nvSpPr>
        <p:spPr>
          <a:xfrm>
            <a:off x="566928" y="3217323"/>
            <a:ext cx="5382616" cy="1494790"/>
          </a:xfrm>
          <a:prstGeom prst="roundRect">
            <a:avLst>
              <a:gd name="adj" fmla="val 4894"/>
            </a:avLst>
          </a:prstGeom>
          <a:solidFill>
            <a:srgbClr val="FFFFFF"/>
          </a:solidFill>
          <a:ln w="12700">
            <a:solidFill>
              <a:srgbClr val="D5DBE5"/>
            </a:solidFill>
            <a:prstDash val="solid"/>
          </a:ln>
        </p:spPr>
      </p:sp>
      <p:sp>
        <p:nvSpPr>
          <p:cNvPr id="10" name="Shape 8"/>
          <p:cNvSpPr/>
          <p:nvPr/>
        </p:nvSpPr>
        <p:spPr>
          <a:xfrm>
            <a:off x="822960" y="3736118"/>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73611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354483"/>
            <a:ext cx="4340200"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申请回避</a:t>
            </a:r>
            <a:endParaRPr lang="en-US" sz="1450" dirty="0"/>
          </a:p>
        </p:txBody>
      </p:sp>
      <p:sp>
        <p:nvSpPr>
          <p:cNvPr id="13" name="Text 11"/>
          <p:cNvSpPr/>
          <p:nvPr/>
        </p:nvSpPr>
        <p:spPr>
          <a:xfrm>
            <a:off x="1444752" y="3654203"/>
            <a:ext cx="4340200" cy="920750"/>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当事人及其法定代理人有权以口头或者书面方式申请回避，并应当说明理由。刑事案件中，申请回避应当在案件开始审查时提出；回避事由在案件开始审查后知道的，也可以在法庭辩论终结前提出。</a:t>
            </a:r>
            <a:endParaRPr lang="en-US" sz="1250" dirty="0"/>
          </a:p>
        </p:txBody>
      </p:sp>
      <p:sp>
        <p:nvSpPr>
          <p:cNvPr id="14" name="Shape 12"/>
          <p:cNvSpPr/>
          <p:nvPr/>
        </p:nvSpPr>
        <p:spPr>
          <a:xfrm>
            <a:off x="566928" y="4840129"/>
            <a:ext cx="5382616" cy="1034415"/>
          </a:xfrm>
          <a:prstGeom prst="roundRect">
            <a:avLst>
              <a:gd name="adj" fmla="val 7072"/>
            </a:avLst>
          </a:prstGeom>
          <a:solidFill>
            <a:srgbClr val="F2F4F8"/>
          </a:solidFill>
          <a:ln w="12700">
            <a:solidFill>
              <a:srgbClr val="F2F4F8"/>
            </a:solidFill>
            <a:prstDash val="solid"/>
          </a:ln>
        </p:spPr>
      </p:sp>
      <p:sp>
        <p:nvSpPr>
          <p:cNvPr id="15" name="Shape 13"/>
          <p:cNvSpPr/>
          <p:nvPr/>
        </p:nvSpPr>
        <p:spPr>
          <a:xfrm>
            <a:off x="822960" y="5128736"/>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512873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977289"/>
            <a:ext cx="4340200"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指令回避</a:t>
            </a:r>
            <a:endParaRPr lang="en-US" sz="1450" dirty="0"/>
          </a:p>
        </p:txBody>
      </p:sp>
      <p:sp>
        <p:nvSpPr>
          <p:cNvPr id="18" name="Text 16"/>
          <p:cNvSpPr/>
          <p:nvPr/>
        </p:nvSpPr>
        <p:spPr>
          <a:xfrm>
            <a:off x="1444752" y="5277009"/>
            <a:ext cx="4340200"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院长、检察长、公安机关负责人发现应当回避的情形而本人未自行回避、当事人也未申请的，有权决定其回避。</a:t>
            </a:r>
            <a:endParaRPr lang="en-US" sz="1250" dirty="0"/>
          </a:p>
        </p:txBody>
      </p:sp>
      <p:sp>
        <p:nvSpPr>
          <p:cNvPr id="19" name="Shape 17"/>
          <p:cNvSpPr/>
          <p:nvPr/>
        </p:nvSpPr>
        <p:spPr>
          <a:xfrm>
            <a:off x="6242152" y="1364329"/>
            <a:ext cx="5382616" cy="1494790"/>
          </a:xfrm>
          <a:prstGeom prst="roundRect">
            <a:avLst>
              <a:gd name="adj" fmla="val 4894"/>
            </a:avLst>
          </a:prstGeom>
          <a:solidFill>
            <a:srgbClr val="FFFFFF"/>
          </a:solidFill>
          <a:ln w="12700">
            <a:solidFill>
              <a:srgbClr val="D5DBE5"/>
            </a:solidFill>
            <a:prstDash val="solid"/>
          </a:ln>
        </p:spPr>
      </p:sp>
      <p:sp>
        <p:nvSpPr>
          <p:cNvPr id="20" name="Shape 18"/>
          <p:cNvSpPr/>
          <p:nvPr/>
        </p:nvSpPr>
        <p:spPr>
          <a:xfrm>
            <a:off x="6498184" y="1883124"/>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18831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1501489"/>
            <a:ext cx="4340200"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决定主体（《刑事诉讼法》第三十一条）</a:t>
            </a:r>
            <a:endParaRPr lang="en-US" sz="1450" dirty="0"/>
          </a:p>
        </p:txBody>
      </p:sp>
      <p:sp>
        <p:nvSpPr>
          <p:cNvPr id="23" name="Text 21"/>
          <p:cNvSpPr/>
          <p:nvPr/>
        </p:nvSpPr>
        <p:spPr>
          <a:xfrm>
            <a:off x="7119976" y="1801209"/>
            <a:ext cx="4340200" cy="920750"/>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审判人员、检察人员、侦查人员的回避，分别由院长、检察长、公安机关负责人决定；院长的回避，由本院审判委员会决定；检察长和公安机关负责人的回避，由同级人民检察院检察委员会决定。</a:t>
            </a:r>
            <a:endParaRPr lang="en-US" sz="1250" dirty="0"/>
          </a:p>
        </p:txBody>
      </p:sp>
      <p:sp>
        <p:nvSpPr>
          <p:cNvPr id="24" name="Shape 22"/>
          <p:cNvSpPr/>
          <p:nvPr/>
        </p:nvSpPr>
        <p:spPr>
          <a:xfrm>
            <a:off x="6242152" y="2987135"/>
            <a:ext cx="5382616" cy="1724978"/>
          </a:xfrm>
          <a:prstGeom prst="roundRect">
            <a:avLst>
              <a:gd name="adj" fmla="val 4241"/>
            </a:avLst>
          </a:prstGeom>
          <a:solidFill>
            <a:srgbClr val="F2F4F8"/>
          </a:solidFill>
          <a:ln w="12700">
            <a:solidFill>
              <a:srgbClr val="F2F4F8"/>
            </a:solidFill>
            <a:prstDash val="solid"/>
          </a:ln>
        </p:spPr>
      </p:sp>
      <p:sp>
        <p:nvSpPr>
          <p:cNvPr id="25" name="Shape 23"/>
          <p:cNvSpPr/>
          <p:nvPr/>
        </p:nvSpPr>
        <p:spPr>
          <a:xfrm>
            <a:off x="6498184" y="3621024"/>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3124295"/>
            <a:ext cx="4340200"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救济：申请复议一次（《刑事诉讼法》第三十二条）</a:t>
            </a:r>
            <a:endParaRPr lang="en-US" sz="1450" dirty="0"/>
          </a:p>
        </p:txBody>
      </p:sp>
      <p:sp>
        <p:nvSpPr>
          <p:cNvPr id="28" name="Text 26"/>
          <p:cNvSpPr/>
          <p:nvPr/>
        </p:nvSpPr>
        <p:spPr>
          <a:xfrm>
            <a:off x="7119976" y="3424015"/>
            <a:ext cx="4340200" cy="1150938"/>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对驳回申请回避的决定，当事人及其法定代理人可以申请复议一次。请注意“一次”这一限定：它在保障当事人权利与防止拖延诉讼之间作了折中。复议期间，被申请回避的人员原则上不停止参与本案工作（侦查人员除外的具体规则依法律规定）。</a:t>
            </a:r>
            <a:endParaRPr lang="en-US" sz="1250" dirty="0"/>
          </a:p>
        </p:txBody>
      </p:sp>
      <p:sp>
        <p:nvSpPr>
          <p:cNvPr id="29" name="Shape 27"/>
          <p:cNvSpPr/>
          <p:nvPr/>
        </p:nvSpPr>
        <p:spPr>
          <a:xfrm>
            <a:off x="6242152" y="4840129"/>
            <a:ext cx="5382616" cy="1494790"/>
          </a:xfrm>
          <a:prstGeom prst="roundRect">
            <a:avLst>
              <a:gd name="adj" fmla="val 4894"/>
            </a:avLst>
          </a:prstGeom>
          <a:solidFill>
            <a:srgbClr val="FFFFFF"/>
          </a:solidFill>
          <a:ln w="12700">
            <a:solidFill>
              <a:srgbClr val="D5DBE5"/>
            </a:solidFill>
            <a:prstDash val="solid"/>
          </a:ln>
        </p:spPr>
      </p:sp>
      <p:sp>
        <p:nvSpPr>
          <p:cNvPr id="30" name="Shape 28"/>
          <p:cNvSpPr/>
          <p:nvPr/>
        </p:nvSpPr>
        <p:spPr>
          <a:xfrm>
            <a:off x="6498184" y="5358924"/>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53589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4977289"/>
            <a:ext cx="4340200"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违反回避的后果</a:t>
            </a:r>
            <a:endParaRPr lang="en-US" sz="1450" dirty="0"/>
          </a:p>
        </p:txBody>
      </p:sp>
      <p:sp>
        <p:nvSpPr>
          <p:cNvPr id="33" name="Text 31"/>
          <p:cNvSpPr/>
          <p:nvPr/>
        </p:nvSpPr>
        <p:spPr>
          <a:xfrm>
            <a:off x="7119976" y="5277009"/>
            <a:ext cx="4340200" cy="920750"/>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审判组织的组成不合法或者依法应当回避的审判人员没有回避的，属于严重违反法定程序，二审法院应当裁定撤销原判、发回重审；已经生效的，可以成为再审事由。这体现了回避规则的刚性。</a:t>
            </a:r>
            <a:endParaRPr lang="en-US" sz="1250" dirty="0"/>
          </a:p>
        </p:txBody>
      </p:sp>
      <p:sp>
        <p:nvSpPr>
          <p:cNvPr id="34" name="Text 3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10</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哪些情形构成“其他关系，可能影响公正审理”</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情境辨析</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兜底条款的适用边界</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情形一：承办法官与被告方代理律师系法学院同班同学，毕业后仍保持往来，二人在本案中未有任何案外接触。</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情形二：承办法官的配偶在原告公司担任中层管理人员，但与涉案业务无关。</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情形三：承办法官曾就同类法律问题在学术刊物上发表论文，观点明显有利于被告的主张。</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情形四：承办法官在本案立案前，曾接受原告方的咨询并提供过口头法律意见。</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情形五：承办法官与本案当事人同住一个小区，平日点头之交，无深交。</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哪些情形应当回避？请说明适用的具体条款。</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情形三涉及“预断”还是“学术观点”？二者如何区分？</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情形一若二人无往来，结论是否不同？</a:t>
            </a:r>
            <a:endParaRPr lang="en-US" sz="1400" dirty="0"/>
          </a:p>
        </p:txBody>
      </p:sp>
      <p:sp>
        <p:nvSpPr>
          <p:cNvPr id="20" name="Shape 18"/>
          <p:cNvSpPr/>
          <p:nvPr/>
        </p:nvSpPr>
        <p:spPr>
          <a:xfrm>
            <a:off x="7958023" y="524192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24192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573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请提出一个可操作的判断标准。</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11</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回避制度（二）：任职回避与离任回避</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回避不仅针对个案，也针对身份关系与职业流动</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12</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任职回避</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《法官法》上的两类任职回避</a:t>
            </a:r>
            <a:endParaRPr lang="en-US" sz="2800" dirty="0"/>
          </a:p>
        </p:txBody>
      </p:sp>
      <p:sp>
        <p:nvSpPr>
          <p:cNvPr id="4" name="Shape 2"/>
          <p:cNvSpPr/>
          <p:nvPr/>
        </p:nvSpPr>
        <p:spPr>
          <a:xfrm>
            <a:off x="566928" y="1316736"/>
            <a:ext cx="11057839" cy="1757934"/>
          </a:xfrm>
          <a:prstGeom prst="roundRect">
            <a:avLst>
              <a:gd name="adj" fmla="val 5202"/>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《法官法》第二十三条（亲属关系任职回避）</a:t>
            </a:r>
            <a:endParaRPr lang="en-US" sz="1500" dirty="0"/>
          </a:p>
        </p:txBody>
      </p:sp>
      <p:sp>
        <p:nvSpPr>
          <p:cNvPr id="8" name="Text 6"/>
          <p:cNvSpPr/>
          <p:nvPr/>
        </p:nvSpPr>
        <p:spPr>
          <a:xfrm>
            <a:off x="960120" y="1956816"/>
            <a:ext cx="10271455" cy="898398"/>
          </a:xfrm>
          <a:prstGeom prst="rect">
            <a:avLst/>
          </a:prstGeom>
          <a:noFill/>
          <a:ln/>
        </p:spPr>
        <p:txBody>
          <a:bodyPr wrap="square" lIns="0" tIns="0" rIns="0" bIns="0" rtlCol="0" anchor="t"/>
          <a:lstStyle/>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法官之间有夫妻关系、直系血亲关系、三代以内旁系血亲以及近姻亲关系的，不得同时担任下列职务：</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（一）同一人民法院的院长、副院长、审判委员会委员、庭长、副庭长；</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（二）同一人民法院的院长、副院长和审判员；</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（三）同一审判庭的庭长、副庭长、审判员；</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（四）上下相邻两级人民法院的院长、副院长。</a:t>
            </a:r>
            <a:endParaRPr lang="en-US" sz="1300" dirty="0"/>
          </a:p>
        </p:txBody>
      </p:sp>
      <p:sp>
        <p:nvSpPr>
          <p:cNvPr id="9" name="Shape 7"/>
          <p:cNvSpPr/>
          <p:nvPr/>
        </p:nvSpPr>
        <p:spPr>
          <a:xfrm>
            <a:off x="566928" y="3257550"/>
            <a:ext cx="11057839" cy="1510284"/>
          </a:xfrm>
          <a:prstGeom prst="roundRect">
            <a:avLst>
              <a:gd name="adj" fmla="val 6054"/>
            </a:avLst>
          </a:prstGeom>
          <a:solidFill>
            <a:srgbClr val="F6F1E8"/>
          </a:solidFill>
          <a:ln w="12700">
            <a:solidFill>
              <a:srgbClr val="F6F1E8"/>
            </a:solidFill>
            <a:prstDash val="solid"/>
          </a:ln>
        </p:spPr>
      </p:sp>
      <p:sp>
        <p:nvSpPr>
          <p:cNvPr id="10" name="Shape 8"/>
          <p:cNvSpPr/>
          <p:nvPr/>
        </p:nvSpPr>
        <p:spPr>
          <a:xfrm>
            <a:off x="877824" y="3495294"/>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49529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47700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《法官法》第二十四条（近亲属从事律师职业的任职回避）</a:t>
            </a:r>
            <a:endParaRPr lang="en-US" sz="1500" dirty="0"/>
          </a:p>
        </p:txBody>
      </p:sp>
      <p:sp>
        <p:nvSpPr>
          <p:cNvPr id="13" name="Text 11"/>
          <p:cNvSpPr/>
          <p:nvPr/>
        </p:nvSpPr>
        <p:spPr>
          <a:xfrm>
            <a:off x="960120" y="3897630"/>
            <a:ext cx="10271455" cy="650748"/>
          </a:xfrm>
          <a:prstGeom prst="rect">
            <a:avLst/>
          </a:prstGeom>
          <a:noFill/>
          <a:ln/>
        </p:spPr>
        <p:txBody>
          <a:bodyPr wrap="square" lIns="0" tIns="0" rIns="0" bIns="0" rtlCol="0" anchor="t"/>
          <a:lstStyle/>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法官的配偶、父母、子女有下列情形之一的，法官应当实行任职回避：</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（一）担任该法官所任职人民法院辖区内律师事务所的合伙人或者设立人的；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（二）在该法官所任职人民法院辖区内以律师身份担任诉讼代理人、辩护人，或者为诉讼案件当事人提供其他有偿法律服务的。</a:t>
            </a:r>
            <a:endParaRPr lang="en-US" sz="130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第二十四条的严厉程度：只要配偶、父母、子女在本院辖区内执业，需要回避的不是“这个案件”，而是“这个职位”——法官本人必须调离或者其近亲属停止在该辖区执业。这是一项彻底的、结构性的防范，其针对的正是“关系案”“人情案”的制度土壤。</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13</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离任回避</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《法官法》第三十六条：旋转门的限制</a:t>
            </a:r>
            <a:endParaRPr lang="en-US" sz="2800" dirty="0"/>
          </a:p>
        </p:txBody>
      </p:sp>
      <p:sp>
        <p:nvSpPr>
          <p:cNvPr id="4" name="Shape 2"/>
          <p:cNvSpPr/>
          <p:nvPr/>
        </p:nvSpPr>
        <p:spPr>
          <a:xfrm>
            <a:off x="566928" y="1963865"/>
            <a:ext cx="11057839" cy="2156841"/>
          </a:xfrm>
          <a:prstGeom prst="roundRect">
            <a:avLst>
              <a:gd name="adj" fmla="val 4240"/>
            </a:avLst>
          </a:prstGeom>
          <a:solidFill>
            <a:srgbClr val="F6F1E8"/>
          </a:solidFill>
          <a:ln w="12700">
            <a:solidFill>
              <a:srgbClr val="F6F1E8"/>
            </a:solidFill>
            <a:prstDash val="solid"/>
          </a:ln>
        </p:spPr>
      </p:sp>
      <p:sp>
        <p:nvSpPr>
          <p:cNvPr id="5" name="Shape 3"/>
          <p:cNvSpPr/>
          <p:nvPr/>
        </p:nvSpPr>
        <p:spPr>
          <a:xfrm>
            <a:off x="877824" y="220160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20160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8332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《中华人民共和国法官法》第三十六条</a:t>
            </a:r>
            <a:endParaRPr lang="en-US" sz="1500" dirty="0"/>
          </a:p>
        </p:txBody>
      </p:sp>
      <p:sp>
        <p:nvSpPr>
          <p:cNvPr id="8" name="Text 6"/>
          <p:cNvSpPr/>
          <p:nvPr/>
        </p:nvSpPr>
        <p:spPr>
          <a:xfrm>
            <a:off x="960120" y="2603945"/>
            <a:ext cx="10271455" cy="12973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法官从人民法院离任后二年内，不得以律师身份担任诉讼代理人或者辩护人。</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法官从人民法院离任后，不得担任原任职法院办理案件的诉讼代理人或者辩护人，但是作为当事人的监护人或者近亲属代理诉讼或者进行辩护的除外。</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法官的配偶、父母、子女不得担任该法官所任职法院办理案件的诉讼代理人或者辩护人。</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三款分别设置了三道防线：第一款是“两年冷却期”（时间限制，普遍适用）；第二款是“原任职法院终身禁止”（空间限制，无期限）；第三款是“近亲属同步禁止”（关系限制）。2021年最高人民法院、最高人民检察院、司法部联合印发《关于进一步规范法院、检察院离任人员从事律师职业的意见》，对上述规则作了进一步细化，并将规制范围扩展至更多离任人员。</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14</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制度理据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为什么要限制“旋转门”</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防止影响力交易</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离任法官在原任职法院拥有人脉与影响力。若允许其立即回原单位代理案件，实际上是把职务期间积累的关系资本变现，这将严重损害裁判的外观中立。</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防止信息不当利用</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法官在职期间知悉大量审判工作秘密——包括本院的裁判倾向、内部讨论意见、承办人的办案风格。这些信息一旦被用于代理，会造成实质上的武器不平等。</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保护在职法官</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限制离任人员回原单位执业，也免除了在职法官面对老同事、老领导时的为难处境。制度性隔离比个人拒绝可靠得多。</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保障职业流动的正当性</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限制不是禁止流动。冷却期届满后、在原任职法院之外，离任法官仍可正常执业。制度所禁止的是影响力的即时变现，而非法律职业内部的人才流动本身。</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15</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禁止单方接触</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即使谈话内容完全无害，单方接触本身就破坏了程序结构</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16</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规则要点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单方接触禁止的三个层次</a:t>
            </a:r>
            <a:endParaRPr lang="en-US" sz="2800" dirty="0"/>
          </a:p>
        </p:txBody>
      </p:sp>
      <p:sp>
        <p:nvSpPr>
          <p:cNvPr id="4" name="Shape 2"/>
          <p:cNvSpPr/>
          <p:nvPr/>
        </p:nvSpPr>
        <p:spPr>
          <a:xfrm>
            <a:off x="566928" y="1316736"/>
            <a:ext cx="11057839" cy="1498981"/>
          </a:xfrm>
          <a:prstGeom prst="roundRect">
            <a:avLst>
              <a:gd name="adj" fmla="val 4880"/>
            </a:avLst>
          </a:prstGeom>
          <a:solidFill>
            <a:srgbClr val="F2F4F8"/>
          </a:solidFill>
          <a:ln w="12700">
            <a:solidFill>
              <a:srgbClr val="F2F4F8"/>
            </a:solidFill>
            <a:prstDash val="solid"/>
          </a:ln>
        </p:spPr>
      </p:sp>
      <p:sp>
        <p:nvSpPr>
          <p:cNvPr id="5" name="Shape 3"/>
          <p:cNvSpPr/>
          <p:nvPr/>
        </p:nvSpPr>
        <p:spPr>
          <a:xfrm>
            <a:off x="841248" y="1810195"/>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963814"/>
            <a:ext cx="204826" cy="204826"/>
          </a:xfrm>
          <a:prstGeom prst="rect">
            <a:avLst/>
          </a:prstGeom>
        </p:spPr>
      </p:pic>
      <p:sp>
        <p:nvSpPr>
          <p:cNvPr id="7" name="Text 4"/>
          <p:cNvSpPr/>
          <p:nvPr/>
        </p:nvSpPr>
        <p:spPr>
          <a:xfrm>
            <a:off x="1536192" y="161931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禁止庭外单独会见</a:t>
            </a:r>
            <a:endParaRPr lang="en-US" sz="1650" dirty="0"/>
          </a:p>
        </p:txBody>
      </p:sp>
      <p:sp>
        <p:nvSpPr>
          <p:cNvPr id="8" name="Text 5"/>
          <p:cNvSpPr/>
          <p:nvPr/>
        </p:nvSpPr>
        <p:spPr>
          <a:xfrm>
            <a:off x="1536192" y="1960690"/>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不得违反规定单独会见一方当事人及其代理人、辩护人。会见应当在办公场所、工作时间进行，并有其他人员在场或者有记录。请注意：违规会见不仅是纪律问题，依《刑事诉讼法》第三十条，它直接构成当事人申请回避的事由。</a:t>
            </a:r>
            <a:endParaRPr lang="en-US" sz="1500" dirty="0"/>
          </a:p>
        </p:txBody>
      </p:sp>
      <p:sp>
        <p:nvSpPr>
          <p:cNvPr id="9" name="Shape 6"/>
          <p:cNvSpPr/>
          <p:nvPr/>
        </p:nvSpPr>
        <p:spPr>
          <a:xfrm>
            <a:off x="566928" y="2962021"/>
            <a:ext cx="11057839" cy="1775206"/>
          </a:xfrm>
          <a:prstGeom prst="roundRect">
            <a:avLst>
              <a:gd name="adj" fmla="val 4121"/>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26459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禁止接受请客送礼与利益输送</a:t>
            </a:r>
            <a:endParaRPr lang="en-US" sz="1650" dirty="0"/>
          </a:p>
        </p:txBody>
      </p:sp>
      <p:sp>
        <p:nvSpPr>
          <p:cNvPr id="13" name="Text 9"/>
          <p:cNvSpPr/>
          <p:nvPr/>
        </p:nvSpPr>
        <p:spPr>
          <a:xfrm>
            <a:off x="1536192" y="360597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不得接受当事人及其代理人、辩护人的宴请、礼品、礼金、消费卡；不得接受可能影响公正履行职责的任何利益。《法官法》第四十六条第八项将“接受当事人及其代理人利益输送，或者违反有关规定会见当事人及其代理人”列为应予处分的行为。</a:t>
            </a:r>
            <a:endParaRPr lang="en-US" sz="1500" dirty="0"/>
          </a:p>
        </p:txBody>
      </p:sp>
      <p:sp>
        <p:nvSpPr>
          <p:cNvPr id="14" name="Shape 10"/>
          <p:cNvSpPr/>
          <p:nvPr/>
        </p:nvSpPr>
        <p:spPr>
          <a:xfrm>
            <a:off x="566928" y="4883531"/>
            <a:ext cx="11057839" cy="1498981"/>
          </a:xfrm>
          <a:prstGeom prst="roundRect">
            <a:avLst>
              <a:gd name="adj" fmla="val 4880"/>
            </a:avLst>
          </a:prstGeom>
          <a:solidFill>
            <a:srgbClr val="F2F4F8"/>
          </a:solidFill>
          <a:ln w="12700">
            <a:solidFill>
              <a:srgbClr val="F2F4F8"/>
            </a:solidFill>
            <a:prstDash val="solid"/>
          </a:ln>
        </p:spPr>
      </p:sp>
      <p:sp>
        <p:nvSpPr>
          <p:cNvPr id="15" name="Shape 11"/>
          <p:cNvSpPr/>
          <p:nvPr/>
        </p:nvSpPr>
        <p:spPr>
          <a:xfrm>
            <a:off x="841248" y="537699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530609"/>
            <a:ext cx="204826" cy="204826"/>
          </a:xfrm>
          <a:prstGeom prst="rect">
            <a:avLst/>
          </a:prstGeom>
        </p:spPr>
      </p:pic>
      <p:sp>
        <p:nvSpPr>
          <p:cNvPr id="17" name="Text 12"/>
          <p:cNvSpPr/>
          <p:nvPr/>
        </p:nvSpPr>
        <p:spPr>
          <a:xfrm>
            <a:off x="1536192" y="518610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必要沟通须以双方在场或可知悉的方式进行</a:t>
            </a:r>
            <a:endParaRPr lang="en-US" sz="1650" dirty="0"/>
          </a:p>
        </p:txBody>
      </p:sp>
      <p:sp>
        <p:nvSpPr>
          <p:cNvPr id="18" name="Text 13"/>
          <p:cNvSpPr/>
          <p:nvPr/>
        </p:nvSpPr>
        <p:spPr>
          <a:xfrm>
            <a:off x="1536192" y="5527485"/>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确因案件审理需要与一方沟通的（如核对诉讼材料、送达、询问程序性事项），应当限于程序性事项，作出记录并附卷，必要时告知对方。判断标准：这次沟通的内容与方式，能否坦然地让对方当事人知道？</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17</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言行中立与平等对待当事人</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中立不仅体现在裁判结论中，也体现在庭审的每一句话、每一个表情里</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18</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职责边界</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不得从事超出法定职责范围的事务</a:t>
            </a:r>
            <a:endParaRPr lang="en-US" sz="2800" dirty="0"/>
          </a:p>
        </p:txBody>
      </p:sp>
      <p:sp>
        <p:nvSpPr>
          <p:cNvPr id="4" name="Shape 2"/>
          <p:cNvSpPr/>
          <p:nvPr/>
        </p:nvSpPr>
        <p:spPr>
          <a:xfrm>
            <a:off x="566928" y="1945132"/>
            <a:ext cx="11057839" cy="2452116"/>
          </a:xfrm>
          <a:prstGeom prst="roundRect">
            <a:avLst>
              <a:gd name="adj" fmla="val 3729"/>
            </a:avLst>
          </a:prstGeom>
          <a:solidFill>
            <a:srgbClr val="F6F1E8"/>
          </a:solidFill>
          <a:ln w="12700">
            <a:solidFill>
              <a:srgbClr val="F6F1E8"/>
            </a:solidFill>
            <a:prstDash val="solid"/>
          </a:ln>
        </p:spPr>
      </p:sp>
      <p:sp>
        <p:nvSpPr>
          <p:cNvPr id="5" name="Shape 3"/>
          <p:cNvSpPr/>
          <p:nvPr/>
        </p:nvSpPr>
        <p:spPr>
          <a:xfrm>
            <a:off x="877824" y="218287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18287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6458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人民法院落实《保护司法人员依法履行法定职责规定》的实施办法</a:t>
            </a:r>
            <a:endParaRPr lang="en-US" sz="1500" dirty="0"/>
          </a:p>
        </p:txBody>
      </p:sp>
      <p:sp>
        <p:nvSpPr>
          <p:cNvPr id="8" name="Text 6"/>
          <p:cNvSpPr/>
          <p:nvPr/>
        </p:nvSpPr>
        <p:spPr>
          <a:xfrm>
            <a:off x="960120" y="2585212"/>
            <a:ext cx="10271455" cy="159258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对于任何单位、个人安排法官从事招商引资、行政执法、治安巡逻、交通疏导、卫生整治、行风评议等超出法定职责范围事务的要求，人民法院应当拒绝，并不得以任何名义安排法官从事上述活动。</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严禁人民法院工作人员参与地方招商、联合执法，严禁提前介入土地征收、房屋拆迁等具体行政管理活动，杜绝参加地方牵头组织的各类“拆迁领导小组”“项目指挥部”等临时机构。</a:t>
            </a:r>
            <a:endParaRPr lang="en-US" sz="1550" dirty="0"/>
          </a:p>
        </p:txBody>
      </p:sp>
      <p:sp>
        <p:nvSpPr>
          <p:cNvPr id="9" name="Shape 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0" name="Text 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条规定的伦理意义在于：法官一旦参与招商引资或征收拆迁，就在相关领域中取得了利害关系与预设立场，此后再审理相关案件，中立性荡然无存。它同时保护了法官——使其得以拒绝地方的不当安排，而无须承担个人得罪人的成本。</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19</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具体要求</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言行中立的四个场景</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庭审场景</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平等给予双方陈述、举证、质证、辩论的机会；不得对一方的发言频繁打断而对另一方放任；不得以表情、语气、评论流露倾向；引导发问应当中立，不得为一方补强主张。制止不当发言应当依据法庭规则，且对双方标准一致。</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调解场景</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调解中可以分别做工作，但不得以透露心证施压，不得以“不接受调解就判你输”相要挟；不得为促成调解而作出无根据的胜败预测；当事人拒绝调解的，应当及时转入裁判程序，不得久调不决。</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媒体与网络场景</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不得对本人正在承办的案件公开发表评论；不得在社交媒体披露审判工作秘密、当事人隐私或案件细节；以个人身份发表学术观点、参加研讨的，应当注意与承办案件保持距离，避免形成预断的外观。</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社交与业外场景</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谨慎对待社交活动，不参加可能影响司法公正、有损司法形象的活动；不得出入可能引发议论的场所；对家庭成员的相关行为负有约束与提醒的责任。</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20</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平等对待</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平等对待当事人的具体含义</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班加罗尔准则将“平等”列为独立的价值。平等不只是“一视同仁”这句口号，它有具体的操作内容。</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不因当事人的民族、种族、性别、职业、宗教信仰、教育程度、财产状况、居住地、健康状况等因素而区别对待。</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对没有委托代理人的当事人，应当在不损害中立的前提下履行必要的释明与告知义务——这是平等的实质要求，而非对一方的偏袒。</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对语言不通、听力或视力障碍、行动不便的当事人，应当提供必要的诉讼便利与合理便利安排。</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在称谓、发言顺序、时间分配上保持对等；不得对具有特殊身份的当事人（如公职人员、知名人士）给予程序上的优待。</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请注意平等与释明的关系：对弱势一方的必要释明是为了恢复实质上的程序平等，而不是替其打官司。释明限于程序性事项与举证责任的告知，不得代为提出主张或建议诉讼策略。</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21</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程序伦理：释明、审限与庭审指挥</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程序上的每一个细节，都是当事人感知司法公正的窗口</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22</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四项程序义务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日常审判中的伦理要求</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释明义务的边界</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应当释明：诉讼权利义务、举证责任与举证期限、不举证的法律后果、诉讼请求不明确时要求明确、法律关系性质可能与主张不一致时的告知。不得释明：具体的诉讼策略、应当提出何种诉讼请求以获胜、证据的取得途径。越界的释明即构成偏袒。</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审限与效率</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迟来的正义非正义。应当在法定审限内结案；确需延长的，依法定程序报批并告知当事人；不得以“中止”“扣除审限”等技术手段变相拖延；不得为规避考核指标而不立案、不结案。</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裁判文书说理</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说理是独立裁判接受检验的方式，也是当事人服判息讼的基础。应当回应双方的主要争点与主张，特别是对败诉方主张的不予采纳，必须说明理由。以“证据不足，本院不予支持”一笔带过而不说明何以不足，属于说理不充分。</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司法礼仪与文明司法</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着法袍、使用规范称谓、按时开庭、不无故休庭；耐心听取当事人陈述，不训斥、不讥讽、不使用侮辱性言辞；对情绪激动的当事人应当依法制止但保持克制。这些细节共同构成当事人对司法的直观感受。</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23</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休厄特勋爵所在的案件中，书记员虽未参与实际决定，判决仍被撤销。这一处理是否过于严苛？请从“实质中立不可查证”与“公信力依赖感知”两个角度评价。</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某法官的大学同学担任本案一方的代理律师，二人多年未联系。该法官是否应当回避？如果他选择不回避，但在庭前主动向双方披露这一关系并征询意见，是否可行？我国法上有无“披露+同意”的制度空间？</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《法官法》第二十四条要求：配偶、父母、子女在本院辖区内以律师身份执业的，法官应当实行任职回避。有人认为这限制了法官近亲属的职业自由。请评价这一规则的正当性与比例性。</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法官在社交媒体上以个人身份普及法律知识，是否有违言行中立？如果他评论的是已经生效的、非本人承办的案件呢？请给出一个判断框架。</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24</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第7课时要点回顾</a:t>
            </a:r>
            <a:endParaRPr lang="en-US" sz="3000" dirty="0"/>
          </a:p>
        </p:txBody>
      </p:sp>
      <p:sp>
        <p:nvSpPr>
          <p:cNvPr id="4" name="Shape 2"/>
          <p:cNvSpPr/>
          <p:nvPr/>
        </p:nvSpPr>
        <p:spPr>
          <a:xfrm>
            <a:off x="566928" y="1591056"/>
            <a:ext cx="11057839" cy="752306"/>
          </a:xfrm>
          <a:prstGeom prst="roundRect">
            <a:avLst>
              <a:gd name="adj" fmla="val 9724"/>
            </a:avLst>
          </a:prstGeom>
          <a:solidFill>
            <a:srgbClr val="25395F"/>
          </a:solidFill>
          <a:ln w="12700">
            <a:solidFill>
              <a:srgbClr val="25395F"/>
            </a:solidFill>
            <a:prstDash val="solid"/>
          </a:ln>
        </p:spPr>
      </p:sp>
      <p:sp>
        <p:nvSpPr>
          <p:cNvPr id="5" name="Shape 3"/>
          <p:cNvSpPr/>
          <p:nvPr/>
        </p:nvSpPr>
        <p:spPr>
          <a:xfrm>
            <a:off x="859536" y="1766041"/>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86742"/>
            <a:ext cx="160934" cy="160934"/>
          </a:xfrm>
          <a:prstGeom prst="rect">
            <a:avLst/>
          </a:prstGeom>
        </p:spPr>
      </p:pic>
      <p:sp>
        <p:nvSpPr>
          <p:cNvPr id="7" name="Text 4"/>
          <p:cNvSpPr/>
          <p:nvPr/>
        </p:nvSpPr>
        <p:spPr>
          <a:xfrm>
            <a:off x="1444752" y="1748134"/>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中立包含实质中立与外观中立两个维度。外观中立须被独立保护，因为实质中立不可查证、公信力依赖感知，且客观标准反而保护法官自身。判断口诀：不问“我是否偏袒”，而问“理性旁观者会不会合理怀疑我偏袒”。</a:t>
            </a:r>
            <a:endParaRPr lang="en-US" sz="1150" dirty="0"/>
          </a:p>
        </p:txBody>
      </p:sp>
      <p:sp>
        <p:nvSpPr>
          <p:cNvPr id="8" name="Shape 5"/>
          <p:cNvSpPr/>
          <p:nvPr/>
        </p:nvSpPr>
        <p:spPr>
          <a:xfrm>
            <a:off x="566928" y="2480522"/>
            <a:ext cx="11057839" cy="752306"/>
          </a:xfrm>
          <a:prstGeom prst="roundRect">
            <a:avLst>
              <a:gd name="adj" fmla="val 9724"/>
            </a:avLst>
          </a:prstGeom>
          <a:solidFill>
            <a:srgbClr val="25395F"/>
          </a:solidFill>
          <a:ln w="12700">
            <a:solidFill>
              <a:srgbClr val="25395F"/>
            </a:solidFill>
            <a:prstDash val="solid"/>
          </a:ln>
        </p:spPr>
      </p:sp>
      <p:sp>
        <p:nvSpPr>
          <p:cNvPr id="9" name="Shape 6"/>
          <p:cNvSpPr/>
          <p:nvPr/>
        </p:nvSpPr>
        <p:spPr>
          <a:xfrm>
            <a:off x="859536" y="2655507"/>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776207"/>
            <a:ext cx="160934" cy="160934"/>
          </a:xfrm>
          <a:prstGeom prst="rect">
            <a:avLst/>
          </a:prstGeom>
        </p:spPr>
      </p:pic>
      <p:sp>
        <p:nvSpPr>
          <p:cNvPr id="11" name="Text 7"/>
          <p:cNvSpPr/>
          <p:nvPr/>
        </p:nvSpPr>
        <p:spPr>
          <a:xfrm>
            <a:off x="1444752" y="263760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回避事由规定于《民事诉讼法》第四十七条、《刑事诉讼法》第二十九条、第三十条；兜底条款“其他关系，可能影响公正审理”是外观中立标准的规范入口。</a:t>
            </a:r>
            <a:endParaRPr lang="en-US" sz="1150" dirty="0"/>
          </a:p>
        </p:txBody>
      </p:sp>
      <p:sp>
        <p:nvSpPr>
          <p:cNvPr id="12" name="Shape 8"/>
          <p:cNvSpPr/>
          <p:nvPr/>
        </p:nvSpPr>
        <p:spPr>
          <a:xfrm>
            <a:off x="566928" y="3369987"/>
            <a:ext cx="11057839" cy="752306"/>
          </a:xfrm>
          <a:prstGeom prst="roundRect">
            <a:avLst>
              <a:gd name="adj" fmla="val 9724"/>
            </a:avLst>
          </a:prstGeom>
          <a:solidFill>
            <a:srgbClr val="25395F"/>
          </a:solidFill>
          <a:ln w="12700">
            <a:solidFill>
              <a:srgbClr val="25395F"/>
            </a:solidFill>
            <a:prstDash val="solid"/>
          </a:ln>
        </p:spPr>
      </p:sp>
      <p:sp>
        <p:nvSpPr>
          <p:cNvPr id="13" name="Shape 9"/>
          <p:cNvSpPr/>
          <p:nvPr/>
        </p:nvSpPr>
        <p:spPr>
          <a:xfrm>
            <a:off x="859536" y="3544972"/>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665673"/>
            <a:ext cx="160934" cy="160934"/>
          </a:xfrm>
          <a:prstGeom prst="rect">
            <a:avLst/>
          </a:prstGeom>
        </p:spPr>
      </p:pic>
      <p:sp>
        <p:nvSpPr>
          <p:cNvPr id="15" name="Text 10"/>
          <p:cNvSpPr/>
          <p:nvPr/>
        </p:nvSpPr>
        <p:spPr>
          <a:xfrm>
            <a:off x="1444752" y="3527065"/>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回避有自行回避、申请回避、指令回避三种启动方式；决定主体依《刑事诉讼法》第三十一条确定；对驳回可申请复议一次；应当回避而未回避构成严重违反法定程序，可致撤销原判、发回重审。</a:t>
            </a:r>
            <a:endParaRPr lang="en-US" sz="1150" dirty="0"/>
          </a:p>
        </p:txBody>
      </p:sp>
      <p:sp>
        <p:nvSpPr>
          <p:cNvPr id="16" name="Shape 11"/>
          <p:cNvSpPr/>
          <p:nvPr/>
        </p:nvSpPr>
        <p:spPr>
          <a:xfrm>
            <a:off x="566928" y="4259453"/>
            <a:ext cx="11057839" cy="548217"/>
          </a:xfrm>
          <a:prstGeom prst="roundRect">
            <a:avLst>
              <a:gd name="adj" fmla="val 13344"/>
            </a:avLst>
          </a:prstGeom>
          <a:solidFill>
            <a:srgbClr val="25395F"/>
          </a:solidFill>
          <a:ln w="12700">
            <a:solidFill>
              <a:srgbClr val="25395F"/>
            </a:solidFill>
            <a:prstDash val="solid"/>
          </a:ln>
        </p:spPr>
      </p:sp>
      <p:sp>
        <p:nvSpPr>
          <p:cNvPr id="17" name="Shape 12"/>
          <p:cNvSpPr/>
          <p:nvPr/>
        </p:nvSpPr>
        <p:spPr>
          <a:xfrm>
            <a:off x="859536" y="4341749"/>
            <a:ext cx="383625" cy="383625"/>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74623" y="4456836"/>
            <a:ext cx="153450" cy="153450"/>
          </a:xfrm>
          <a:prstGeom prst="rect">
            <a:avLst/>
          </a:prstGeom>
        </p:spPr>
      </p:pic>
      <p:sp>
        <p:nvSpPr>
          <p:cNvPr id="19" name="Text 13"/>
          <p:cNvSpPr/>
          <p:nvPr/>
        </p:nvSpPr>
        <p:spPr>
          <a:xfrm>
            <a:off x="1444752" y="4424024"/>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任职回避规定于《法官法》第二十三条、第二十四条；离任回避规定于第三十六条，设置了两年冷却期、原任职法院终身禁止、近亲属同步禁止三道防线。</a:t>
            </a:r>
            <a:endParaRPr lang="en-US" sz="1150" dirty="0"/>
          </a:p>
        </p:txBody>
      </p:sp>
      <p:sp>
        <p:nvSpPr>
          <p:cNvPr id="20" name="Shape 14"/>
          <p:cNvSpPr/>
          <p:nvPr/>
        </p:nvSpPr>
        <p:spPr>
          <a:xfrm>
            <a:off x="566928" y="4944830"/>
            <a:ext cx="11057839" cy="548217"/>
          </a:xfrm>
          <a:prstGeom prst="roundRect">
            <a:avLst>
              <a:gd name="adj" fmla="val 13344"/>
            </a:avLst>
          </a:prstGeom>
          <a:solidFill>
            <a:srgbClr val="25395F"/>
          </a:solidFill>
          <a:ln w="12700">
            <a:solidFill>
              <a:srgbClr val="25395F"/>
            </a:solidFill>
            <a:prstDash val="solid"/>
          </a:ln>
        </p:spPr>
      </p:sp>
      <p:sp>
        <p:nvSpPr>
          <p:cNvPr id="21" name="Shape 15"/>
          <p:cNvSpPr/>
          <p:nvPr/>
        </p:nvSpPr>
        <p:spPr>
          <a:xfrm>
            <a:off x="859536" y="5027126"/>
            <a:ext cx="383625" cy="383625"/>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74623" y="5142213"/>
            <a:ext cx="153450" cy="153450"/>
          </a:xfrm>
          <a:prstGeom prst="rect">
            <a:avLst/>
          </a:prstGeom>
        </p:spPr>
      </p:pic>
      <p:sp>
        <p:nvSpPr>
          <p:cNvPr id="23" name="Text 16"/>
          <p:cNvSpPr/>
          <p:nvPr/>
        </p:nvSpPr>
        <p:spPr>
          <a:xfrm>
            <a:off x="1444752" y="5109401"/>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禁止单方接触包含三个层次：禁止庭外单独会见、禁止请客送礼与利益输送、必要沟通须双方在场或可知悉。判断标准：这次沟通能否坦然地让对方知道？</a:t>
            </a:r>
            <a:endParaRPr lang="en-US" sz="1150" dirty="0"/>
          </a:p>
        </p:txBody>
      </p:sp>
      <p:sp>
        <p:nvSpPr>
          <p:cNvPr id="24" name="Shape 17"/>
          <p:cNvSpPr/>
          <p:nvPr/>
        </p:nvSpPr>
        <p:spPr>
          <a:xfrm>
            <a:off x="566928" y="5630206"/>
            <a:ext cx="11057839" cy="752306"/>
          </a:xfrm>
          <a:prstGeom prst="roundRect">
            <a:avLst>
              <a:gd name="adj" fmla="val 9724"/>
            </a:avLst>
          </a:prstGeom>
          <a:solidFill>
            <a:srgbClr val="25395F"/>
          </a:solidFill>
          <a:ln w="12700">
            <a:solidFill>
              <a:srgbClr val="25395F"/>
            </a:solidFill>
            <a:prstDash val="solid"/>
          </a:ln>
        </p:spPr>
      </p:sp>
      <p:sp>
        <p:nvSpPr>
          <p:cNvPr id="25" name="Shape 18"/>
          <p:cNvSpPr/>
          <p:nvPr/>
        </p:nvSpPr>
        <p:spPr>
          <a:xfrm>
            <a:off x="859536" y="5805191"/>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25892"/>
            <a:ext cx="160934" cy="160934"/>
          </a:xfrm>
          <a:prstGeom prst="rect">
            <a:avLst/>
          </a:prstGeom>
        </p:spPr>
      </p:pic>
      <p:sp>
        <p:nvSpPr>
          <p:cNvPr id="27" name="Text 19"/>
          <p:cNvSpPr/>
          <p:nvPr/>
        </p:nvSpPr>
        <p:spPr>
          <a:xfrm>
            <a:off x="1444752" y="5787284"/>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言行中立涵盖庭审、调解、媒体网络、社交业外四个场景；平等对待要求不因身份因素区别对待，并对弱势方履行必要释明——释明限于程序事项，不得代为提出主张。</a:t>
            </a:r>
            <a:endParaRPr lang="en-US" sz="11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第8课时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司法廉洁、司法为民、司法形象与法官惩戒制度</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从五项基本要求的后三项，到违反义务时的责任追究</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司法廉洁：防止利益冲突的具体禁令</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司法为民与司法形象：职内与职外的双重约束</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法官惩戒制度：事由、主体、程序与救济</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从义务到责任</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一、确保司法廉洁</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二、坚持司法为民</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三、维护司法形象与职外行为规范</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四、法官惩戒制度：事由与主体</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五、惩戒程序与追责程序的基本要素</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六、案例研讨与本编总结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02</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确保司法廉洁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廉洁不是一句口号，它由一系列具体、可检验的禁令构成</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03</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兼职禁止</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《法官法》第二十二条：全面的兼职禁止</a:t>
            </a:r>
            <a:endParaRPr lang="en-US" sz="2800" dirty="0"/>
          </a:p>
        </p:txBody>
      </p:sp>
      <p:sp>
        <p:nvSpPr>
          <p:cNvPr id="4" name="Shape 2"/>
          <p:cNvSpPr/>
          <p:nvPr/>
        </p:nvSpPr>
        <p:spPr>
          <a:xfrm>
            <a:off x="566928" y="2111502"/>
            <a:ext cx="11057839" cy="1861566"/>
          </a:xfrm>
          <a:prstGeom prst="roundRect">
            <a:avLst>
              <a:gd name="adj" fmla="val 4912"/>
            </a:avLst>
          </a:prstGeom>
          <a:solidFill>
            <a:srgbClr val="F6F1E8"/>
          </a:solidFill>
          <a:ln w="12700">
            <a:solidFill>
              <a:srgbClr val="F6F1E8"/>
            </a:solidFill>
            <a:prstDash val="solid"/>
          </a:ln>
        </p:spPr>
      </p:sp>
      <p:sp>
        <p:nvSpPr>
          <p:cNvPr id="5" name="Shape 3"/>
          <p:cNvSpPr/>
          <p:nvPr/>
        </p:nvSpPr>
        <p:spPr>
          <a:xfrm>
            <a:off x="877824" y="234924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34924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33095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《中华人民共和国法官法》第二十二条</a:t>
            </a:r>
            <a:endParaRPr lang="en-US" sz="1500" dirty="0"/>
          </a:p>
        </p:txBody>
      </p:sp>
      <p:sp>
        <p:nvSpPr>
          <p:cNvPr id="8" name="Text 6"/>
          <p:cNvSpPr/>
          <p:nvPr/>
        </p:nvSpPr>
        <p:spPr>
          <a:xfrm>
            <a:off x="960120" y="2751582"/>
            <a:ext cx="10271455" cy="10020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法官不得兼任人民代表大会常务委员会的组成人员，不得兼任行政机关、监察机关、检察机关的职务，不得兼任企业或者其他营利性组织、事业单位的职务，不得兼任律师、仲裁员和公证员。</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四项禁止各有其理据：禁止兼任人大常委会组成人员，是为避免立法权与司法权集于一身；禁止兼任行政、监察、检察职务，是权力分工的要求；禁止兼任营利性组织职务，是防止利益冲突；禁止兼任律师、仲裁员、公证员，是防止角色混同。请注意条文用的是“不得兼任”，即无论是否取酬、无论是否实际履职，一律禁止。</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04</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营利禁止</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防止利益冲突：七类禁止从事的营利性活动</a:t>
            </a:r>
            <a:endParaRPr lang="en-US" sz="2800" dirty="0"/>
          </a:p>
        </p:txBody>
      </p:sp>
      <p:sp>
        <p:nvSpPr>
          <p:cNvPr id="4" name="Shape 2"/>
          <p:cNvSpPr/>
          <p:nvPr/>
        </p:nvSpPr>
        <p:spPr>
          <a:xfrm>
            <a:off x="566928" y="1816227"/>
            <a:ext cx="11057839" cy="2452116"/>
          </a:xfrm>
          <a:prstGeom prst="roundRect">
            <a:avLst>
              <a:gd name="adj" fmla="val 3729"/>
            </a:avLst>
          </a:prstGeom>
          <a:solidFill>
            <a:srgbClr val="F6F1E8"/>
          </a:solidFill>
          <a:ln w="12700">
            <a:solidFill>
              <a:srgbClr val="F6F1E8"/>
            </a:solidFill>
            <a:prstDash val="solid"/>
          </a:ln>
        </p:spPr>
      </p:sp>
      <p:sp>
        <p:nvSpPr>
          <p:cNvPr id="5" name="Shape 3"/>
          <p:cNvSpPr/>
          <p:nvPr/>
        </p:nvSpPr>
        <p:spPr>
          <a:xfrm>
            <a:off x="877824" y="2053971"/>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053971"/>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035683"/>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《关于人民法院落实廉政准则防止利益冲突的若干规定》第三条</a:t>
            </a:r>
            <a:endParaRPr lang="en-US" sz="1500" dirty="0"/>
          </a:p>
        </p:txBody>
      </p:sp>
      <p:sp>
        <p:nvSpPr>
          <p:cNvPr id="8" name="Text 6"/>
          <p:cNvSpPr/>
          <p:nvPr/>
        </p:nvSpPr>
        <p:spPr>
          <a:xfrm>
            <a:off x="960120" y="2456307"/>
            <a:ext cx="10271455" cy="159258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人民法院工作人员不得从事下列营利性活动：</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（一）本人独资或者与他人合资、合股经办商业或者其他企业；</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（二）以他人名义入股经办企业；</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（三）以承包、租赁、受聘等方式从事经营活动；</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（四）违反规定拥有非上市公司（企业）的股份或者证券；</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（五）本人或者与他人合伙在国（境）外注册公司或者投资入股；</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（六）以本人或者他人名义从事以营利为目的的民间借贷活动；</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（七）以本人或者他人名义从事可能与公共利益发生冲突的其他营利性活动。</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两处技术设计：其一，第（二）（五）（六）项都包含“以他人名义”，直指规避行为；其二，第（七）项是兜底条款，判断标准为“可能与公共利益发生冲突”，与回避制度的兜底条款同构。违反本条的，依照《人民法院工作人员处分条例》的相关规定处理。</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05</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廉洁的具体展开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司法廉洁的四个方面</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不得接受利益输送</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接受当事人及其代理人、辩护人的请客送礼、礼品礼金、消费卡、旅游安排；不接受可能影响公正履行职责的任何款待与馈赠。请注意《法官法》第四十六条第八项将其列为应予处分的行为，《刑事诉讼法》第三十条同时将其列为回避事由。</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不得利用职权谋取私利</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不得利用职务便利或者法官身份为本人、亲属或者他人谋取利益；不得为当事人介绍律师、鉴定机构、评估机构；不得干预、插手他人办理的案件；不得从事与审判职责相冲突的商业活动。</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约束近亲属与身边工作人员</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对配偶、子女及其他近亲属利用法官职务影响谋取利益的行为，负有约束、提醒与制止的义务；不得默许其以法官家属身份承揽案件、打听案情、干预办案。发现相关情形应当及时报告。</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接受监督与如实报告</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依法接受法律监督和人民群众监督；按规定报告个人有关事项（婚姻、出国、房产、投资、配偶子女从业等）；发现被过问、被请托的，依“三个规定”如实记录并报告。</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06</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坚持司法为民</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司法权来自人民，其行使必须以人民为中心</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07</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内涵</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司法为民的四个落点</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诉讼便利</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立案登记制改革使“有案必立、有诉必理”成为原则；诉讼服务中心、跨域立案、在线诉讼、巡回审判等，都是降低当事人诉讼成本的具体安排。</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释法说理与判后答疑</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耐心听取当事人诉求，用当事人听得懂的语言解释法律与裁判理由；对当事人的疑问进行判后答疑，是化解对立情绪、实现服判息讼的关键环节。</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司法救助与法律援助衔接</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对确有困难的当事人依法缓、减、免交诉讼费；对符合条件的当事人告知其申请法律援助的权利；对因案件陷入生活困境的当事人依规提供司法救助。</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特殊群体的权益保障</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对未成年人、老年人、残疾人、妇女等给予符合其特点的程序保障与便利；注意保护当事人隐私与个人信息；避免程序本身对弱势群体造成二次伤害。</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08</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边界</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司法为民不等于迁就当事人</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司法为民是一项价值导向，但它不能取代依法裁判。请把握以下界限。</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为民不等于同情弱者而枉法。对处于弱势地位的当事人给予程序便利是正当的，但实体裁判仍须依据事实与法律，不得“和稀泥”式判决。</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为民不等于无原则地满足诉求。对无理缠访、恶意诉讼，应当依法处理，这同样是对其他当事人与公共资源的负责。</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为民不等于以调解率代替公正。久调不决、以判压调，表面上追求“案结事了”，实质上损害当事人的裁判请求权。</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为民不等于迎合舆论。舆论所反映的社会关切应当被认真对待，但认真对待的方式是加强说理，而不是修改结论。</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正确的理解是：司法为民约束的是司法的态度、程序与作风，而不是裁判的实体标准。</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09</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维护司法形象与职外行为规范</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法官在八小时之外，仍然是法官</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10</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不得滥用司法声望</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《法官行为规范》第八十五、八十六条</a:t>
            </a:r>
            <a:endParaRPr lang="en-US" sz="2800" dirty="0"/>
          </a:p>
        </p:txBody>
      </p:sp>
      <p:sp>
        <p:nvSpPr>
          <p:cNvPr id="4" name="Shape 2"/>
          <p:cNvSpPr/>
          <p:nvPr/>
        </p:nvSpPr>
        <p:spPr>
          <a:xfrm>
            <a:off x="566928" y="1316736"/>
            <a:ext cx="11057839" cy="1367409"/>
          </a:xfrm>
          <a:prstGeom prst="roundRect">
            <a:avLst>
              <a:gd name="adj" fmla="val 668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《法官行为规范》第八十五条　本人或者亲友与他人发生矛盾</a:t>
            </a:r>
            <a:endParaRPr lang="en-US" sz="1500" dirty="0"/>
          </a:p>
        </p:txBody>
      </p:sp>
      <p:sp>
        <p:nvSpPr>
          <p:cNvPr id="8" name="Text 6"/>
          <p:cNvSpPr/>
          <p:nvPr/>
        </p:nvSpPr>
        <p:spPr>
          <a:xfrm>
            <a:off x="960120" y="1956816"/>
            <a:ext cx="10271455" cy="50787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（一）保持冷静、克制，通过正当、合法途径解决；</a:t>
            </a:r>
            <a:endParaRPr lang="en-US" sz="1400" dirty="0"/>
          </a:p>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（二）不得利用法官身份寻求特殊照顾，不得妨碍有关部门对问题的解决。</a:t>
            </a:r>
            <a:endParaRPr lang="en-US" sz="1400" dirty="0"/>
          </a:p>
        </p:txBody>
      </p:sp>
      <p:sp>
        <p:nvSpPr>
          <p:cNvPr id="9" name="Shape 7"/>
          <p:cNvSpPr/>
          <p:nvPr/>
        </p:nvSpPr>
        <p:spPr>
          <a:xfrm>
            <a:off x="566928" y="2867025"/>
            <a:ext cx="11057839" cy="1900809"/>
          </a:xfrm>
          <a:prstGeom prst="roundRect">
            <a:avLst>
              <a:gd name="adj" fmla="val 4811"/>
            </a:avLst>
          </a:prstGeom>
          <a:solidFill>
            <a:srgbClr val="F6F1E8"/>
          </a:solidFill>
          <a:ln w="12700">
            <a:solidFill>
              <a:srgbClr val="F6F1E8"/>
            </a:solidFill>
            <a:prstDash val="solid"/>
          </a:ln>
        </p:spPr>
      </p:sp>
      <p:sp>
        <p:nvSpPr>
          <p:cNvPr id="10" name="Shape 8"/>
          <p:cNvSpPr/>
          <p:nvPr/>
        </p:nvSpPr>
        <p:spPr>
          <a:xfrm>
            <a:off x="877824" y="310476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10476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08648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《法官行为规范》第八十六条　本人及家庭成员遇到纠纷需通过诉讼方式解决</a:t>
            </a:r>
            <a:endParaRPr lang="en-US" sz="1500" dirty="0"/>
          </a:p>
        </p:txBody>
      </p:sp>
      <p:sp>
        <p:nvSpPr>
          <p:cNvPr id="13" name="Text 11"/>
          <p:cNvSpPr/>
          <p:nvPr/>
        </p:nvSpPr>
        <p:spPr>
          <a:xfrm>
            <a:off x="960120" y="3507105"/>
            <a:ext cx="10271455" cy="104127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（一）对本人的案件或者以直系亲属代理人身份参加的案件，应当依照有关法律规定，平等地参与诉讼；</a:t>
            </a:r>
            <a:endParaRPr lang="en-US" sz="1400" dirty="0"/>
          </a:p>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（二）在诉讼过程中不以法官身份获取特殊照顾，不利用职权收集所需证据；</a:t>
            </a:r>
            <a:endParaRPr lang="en-US" sz="1400" dirty="0"/>
          </a:p>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（三）对非直系亲属的其他家庭成员的诉讼案件，一般应当让其自行委托诉讼代理人，法官本人不宜作为诉讼代理人参与诉讼。</a:t>
            </a:r>
            <a:endParaRPr lang="en-US" sz="140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两条处理的是一个真实而普遍的困境：法官也是普通人，也会有纠纷。规范的立场是——法官在自己的纠纷中只能作为普通公民出现，不得动用职业身份换取任何优待。请注意第八十六条第（三）项用的是“不宜”，属于倡导性表述，但实务中应当从严把握。</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11</a:t>
            </a:r>
            <a:endParaRPr lang="en-US"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职外行为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业外活动的四条界限</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公开言论</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不得公开发表有损司法公正与司法权威的言论；不得对本人正在承办的案件公开评论；参加学术研讨、发表论著、接受媒体采访应当审慎，注意区分个人学术观点与司法机关立场。</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社会兼职与社会活动</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除法律规定外，不得在企业、社会团体等组织中兼任职务；参加社会公益活动应当避免可能引发利益冲突或影响公正的情形；不得为商业活动、产品服务作宣传或者站台。</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社交活动</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谨慎交友，不与可能影响司法公正的人员进行不正当交往；严禁与律师、当事人及其他利害关系人进行不正当交往；不出入可能引发议论、有损形象的场所。</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家庭成员的行为</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教育、约束家庭成员和身边工作人员遵纪守法，不得利用法官的职务影响谋取利益；发现家庭成员有相关行为的，应当予以制止并按规定报告。</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12</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621536"/>
            <a:ext cx="749808" cy="749808"/>
          </a:xfrm>
          <a:prstGeom prst="rect">
            <a:avLst/>
          </a:prstGeom>
        </p:spPr>
      </p:pic>
      <p:sp>
        <p:nvSpPr>
          <p:cNvPr id="3" name="Text 0"/>
          <p:cNvSpPr/>
          <p:nvPr/>
        </p:nvSpPr>
        <p:spPr>
          <a:xfrm>
            <a:off x="1298448" y="2700528"/>
            <a:ext cx="9594799" cy="12192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法官应当避免不当行为，并且避免不当行为的表象。这一要求在法官的职务活动与业外活动中同样适用。</a:t>
            </a:r>
            <a:endParaRPr lang="en-US" sz="3200" dirty="0"/>
          </a:p>
        </p:txBody>
      </p:sp>
      <p:sp>
        <p:nvSpPr>
          <p:cNvPr id="4" name="Text 1"/>
          <p:cNvSpPr/>
          <p:nvPr/>
        </p:nvSpPr>
        <p:spPr>
          <a:xfrm>
            <a:off x="1335024" y="42854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《班加罗尔司法行为准则》第4项价值：正当（Propriety）</a:t>
            </a:r>
            <a:endParaRPr lang="en-US" sz="1700" dirty="0"/>
          </a:p>
        </p:txBody>
      </p:sp>
      <p:sp>
        <p:nvSpPr>
          <p:cNvPr id="5" name="Text 2"/>
          <p:cNvSpPr/>
          <p:nvPr/>
        </p:nvSpPr>
        <p:spPr>
          <a:xfrm>
            <a:off x="1335024" y="46878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“表象”标准之所以延伸至业外，是因为公众并不区分法官何时“在岗”——他们只知道那个人是法官</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法官惩戒制度：事由与主体</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在法治社会，法官惩戒是一个敏感而复杂的问题</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14</a:t>
            </a:r>
            <a:endParaRPr 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惩戒事由</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《法官法》第四十六条：十项处分事由</a:t>
            </a:r>
            <a:endParaRPr lang="en-US" sz="2800" dirty="0"/>
          </a:p>
        </p:txBody>
      </p:sp>
      <p:sp>
        <p:nvSpPr>
          <p:cNvPr id="4" name="Shape 2"/>
          <p:cNvSpPr/>
          <p:nvPr/>
        </p:nvSpPr>
        <p:spPr>
          <a:xfrm>
            <a:off x="566928" y="1649857"/>
            <a:ext cx="11057839" cy="3042666"/>
          </a:xfrm>
          <a:prstGeom prst="roundRect">
            <a:avLst>
              <a:gd name="adj" fmla="val 3005"/>
            </a:avLst>
          </a:prstGeom>
          <a:solidFill>
            <a:srgbClr val="F6F1E8"/>
          </a:solidFill>
          <a:ln w="12700">
            <a:solidFill>
              <a:srgbClr val="F6F1E8"/>
            </a:solidFill>
            <a:prstDash val="solid"/>
          </a:ln>
        </p:spPr>
      </p:sp>
      <p:sp>
        <p:nvSpPr>
          <p:cNvPr id="5" name="Shape 3"/>
          <p:cNvSpPr/>
          <p:nvPr/>
        </p:nvSpPr>
        <p:spPr>
          <a:xfrm>
            <a:off x="877824" y="1887601"/>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887601"/>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869313"/>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《中华人民共和国法官法》第四十六条</a:t>
            </a:r>
            <a:endParaRPr lang="en-US" sz="1500" dirty="0"/>
          </a:p>
        </p:txBody>
      </p:sp>
      <p:sp>
        <p:nvSpPr>
          <p:cNvPr id="8" name="Text 6"/>
          <p:cNvSpPr/>
          <p:nvPr/>
        </p:nvSpPr>
        <p:spPr>
          <a:xfrm>
            <a:off x="960120" y="2289937"/>
            <a:ext cx="10271455" cy="21831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法官有下列行为之一的，应当给予处分；构成犯罪的，依法追究刑事责任：</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（一）贪污受贿、徇私舞弊、枉法裁判的；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（二）隐瞒、伪造、变造、故意损毁证据、案件材料的；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（三）泄露国家秘密、审判工作秘密、商业秘密或者个人隐私的；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（四）故意违反法律法规办理案件的；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（五）因重大过失导致裁判结果错误并造成严重后果的；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（六）拖延办案，贻误工作的；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（七）利用职权为自己或者他人谋取私利的；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（八）接受当事人及其代理人利益输送，或者违反有关规定会见当事人及其代理人的；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（九）违反有关规定从事或者参与营利性活动，在企业或者其他营利性组织中兼任职务的；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（十）有其他违纪违法行为的。</a:t>
            </a:r>
            <a:endParaRPr lang="en-US" sz="1550" dirty="0"/>
          </a:p>
        </p:txBody>
      </p:sp>
      <p:sp>
        <p:nvSpPr>
          <p:cNvPr id="9" name="Shape 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0" name="Text 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把十项归为四类：审判职责类（四、五、六）、廉洁类（一、七、八、九）、保密与证据类（二、三）、兜底（十）。其中第（四）（五）项是审判责任的核心归责标准——故意与重大过失，且第（五）项还要求“造成严重后果”这一结果要件。</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15</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惩戒主体</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《法官法》第四十八条：法官惩戒委员会</a:t>
            </a:r>
            <a:endParaRPr lang="en-US" sz="2800" dirty="0"/>
          </a:p>
        </p:txBody>
      </p:sp>
      <p:sp>
        <p:nvSpPr>
          <p:cNvPr id="4" name="Shape 2"/>
          <p:cNvSpPr/>
          <p:nvPr/>
        </p:nvSpPr>
        <p:spPr>
          <a:xfrm>
            <a:off x="566928" y="1668590"/>
            <a:ext cx="11057839" cy="2747391"/>
          </a:xfrm>
          <a:prstGeom prst="roundRect">
            <a:avLst>
              <a:gd name="adj" fmla="val 3328"/>
            </a:avLst>
          </a:prstGeom>
          <a:solidFill>
            <a:srgbClr val="F6F1E8"/>
          </a:solidFill>
          <a:ln w="12700">
            <a:solidFill>
              <a:srgbClr val="F6F1E8"/>
            </a:solidFill>
            <a:prstDash val="solid"/>
          </a:ln>
        </p:spPr>
      </p:sp>
      <p:sp>
        <p:nvSpPr>
          <p:cNvPr id="5" name="Shape 3"/>
          <p:cNvSpPr/>
          <p:nvPr/>
        </p:nvSpPr>
        <p:spPr>
          <a:xfrm>
            <a:off x="877824" y="1906334"/>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90633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88804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《中华人民共和国法官法》第四十八条</a:t>
            </a:r>
            <a:endParaRPr lang="en-US" sz="1500" dirty="0"/>
          </a:p>
        </p:txBody>
      </p:sp>
      <p:sp>
        <p:nvSpPr>
          <p:cNvPr id="8" name="Text 6"/>
          <p:cNvSpPr/>
          <p:nvPr/>
        </p:nvSpPr>
        <p:spPr>
          <a:xfrm>
            <a:off x="960120" y="2308670"/>
            <a:ext cx="10271455" cy="18878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最高人民法院和省、自治区、直辖市设立法官惩戒委员会，负责从专业角度审查认定法官是否存在本法第四十六条第四项、第五项规定的违反审判职责的行为，提出构成故意违反职责、存在重大过失、存在一般过失或者没有违反职责等审查意见。法官惩戒委员会提出审查意见后，人民法院依照有关规定作出是否予以惩戒的决定，并给予相应处理。</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法官惩戒委员会由法官代表、其他从事法律职业的人员和有关方面代表组成，其中法官代表不少于半数。</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最高人民法院法官惩戒委员会、省级法官惩戒委员会的日常工作，由相关人民法院的内设职能部门承担。</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一条的制度精妙之处在于“两分”：专业问题（是否违反审判职责、过错程度）由惩戒委员会以同行评议方式认定；处理决定则由人民法院依组织程序作出。它在“同行评议”与“组织管理”之间取得了平衡。请注意惩戒委员会的审查范围仅限于第（四）（五）项，其他事由不经此程序。</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16</a:t>
            </a:r>
            <a:endParaRPr lang="en-US"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过错分级</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惩戒委员会的四档审查意见</a:t>
            </a:r>
            <a:endParaRPr lang="en-US" sz="2800" dirty="0"/>
          </a:p>
        </p:txBody>
      </p:sp>
      <p:sp>
        <p:nvSpPr>
          <p:cNvPr id="4" name="Shape 2"/>
          <p:cNvSpPr/>
          <p:nvPr/>
        </p:nvSpPr>
        <p:spPr>
          <a:xfrm>
            <a:off x="566928" y="1981454"/>
            <a:ext cx="2586152" cy="3233420"/>
          </a:xfrm>
          <a:prstGeom prst="roundRect">
            <a:avLst>
              <a:gd name="adj" fmla="val 3536"/>
            </a:avLst>
          </a:prstGeom>
          <a:solidFill>
            <a:srgbClr val="13233F"/>
          </a:solidFill>
          <a:ln w="12700">
            <a:solidFill>
              <a:srgbClr val="13233F"/>
            </a:solidFill>
            <a:prstDash val="solid"/>
          </a:ln>
        </p:spPr>
      </p:sp>
      <p:sp>
        <p:nvSpPr>
          <p:cNvPr id="5" name="Text 3"/>
          <p:cNvSpPr/>
          <p:nvPr/>
        </p:nvSpPr>
        <p:spPr>
          <a:xfrm>
            <a:off x="749808" y="2310638"/>
            <a:ext cx="2220392" cy="1024128"/>
          </a:xfrm>
          <a:prstGeom prst="rect">
            <a:avLst/>
          </a:prstGeom>
          <a:noFill/>
          <a:ln/>
        </p:spPr>
        <p:txBody>
          <a:bodyPr wrap="square" lIns="0" tIns="0" rIns="0" bIns="0" rtlCol="0" anchor="ctr"/>
          <a:lstStyle/>
          <a:p>
            <a:pPr algn="ctr" indent="0" marL="0">
              <a:buNone/>
            </a:pPr>
            <a:r>
              <a:rPr lang="en-US" sz="5800" b="1" dirty="0">
                <a:solidFill>
                  <a:srgbClr val="B08D57"/>
                </a:solidFill>
                <a:latin typeface="Arial" pitchFamily="34" charset="0"/>
                <a:ea typeface="Arial" pitchFamily="34" charset="-122"/>
                <a:cs typeface="Arial" pitchFamily="34" charset="-120"/>
              </a:rPr>
              <a:t>故意</a:t>
            </a:r>
            <a:endParaRPr lang="en-US" sz="5800" dirty="0"/>
          </a:p>
        </p:txBody>
      </p:sp>
      <p:sp>
        <p:nvSpPr>
          <p:cNvPr id="6" name="Text 4"/>
          <p:cNvSpPr/>
          <p:nvPr/>
        </p:nvSpPr>
        <p:spPr>
          <a:xfrm>
            <a:off x="886968" y="3462782"/>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FFFFFF"/>
                </a:solidFill>
                <a:latin typeface="微软雅黑" pitchFamily="34" charset="0"/>
                <a:ea typeface="微软雅黑" pitchFamily="34" charset="-122"/>
                <a:cs typeface="微软雅黑" pitchFamily="34" charset="-120"/>
              </a:rPr>
              <a:t>构成故意违反职责</a:t>
            </a:r>
            <a:endParaRPr lang="en-US" sz="1600" dirty="0"/>
          </a:p>
        </p:txBody>
      </p:sp>
      <p:sp>
        <p:nvSpPr>
          <p:cNvPr id="7" name="Text 5"/>
          <p:cNvSpPr/>
          <p:nvPr/>
        </p:nvSpPr>
        <p:spPr>
          <a:xfrm>
            <a:off x="886968" y="3928110"/>
            <a:ext cx="1946072" cy="1103884"/>
          </a:xfrm>
          <a:prstGeom prst="rect">
            <a:avLst/>
          </a:prstGeom>
          <a:noFill/>
          <a:ln/>
        </p:spPr>
        <p:txBody>
          <a:bodyPr wrap="square" lIns="0" tIns="0" rIns="0" bIns="0" rtlCol="0" anchor="t"/>
          <a:lstStyle/>
          <a:p>
            <a:pPr algn="ctr" indent="0" marL="0">
              <a:lnSpc>
                <a:spcPts val="1885"/>
              </a:lnSpc>
              <a:buNone/>
            </a:pPr>
            <a:r>
              <a:rPr lang="en-US" sz="1300" dirty="0">
                <a:solidFill>
                  <a:srgbClr val="E4E9F1"/>
                </a:solidFill>
                <a:latin typeface="微软雅黑" pitchFamily="34" charset="0"/>
                <a:ea typeface="微软雅黑" pitchFamily="34" charset="-122"/>
                <a:cs typeface="微软雅黑" pitchFamily="34" charset="-120"/>
              </a:rPr>
              <a:t>明知违反法律法规而为之，主观恶性最重，应当从严处理，构成犯罪的追究刑事责任</a:t>
            </a:r>
            <a:endParaRPr lang="en-US" sz="1300" dirty="0"/>
          </a:p>
        </p:txBody>
      </p:sp>
      <p:sp>
        <p:nvSpPr>
          <p:cNvPr id="8" name="Shape 6"/>
          <p:cNvSpPr/>
          <p:nvPr/>
        </p:nvSpPr>
        <p:spPr>
          <a:xfrm>
            <a:off x="3390824" y="1981454"/>
            <a:ext cx="2586152" cy="3233420"/>
          </a:xfrm>
          <a:prstGeom prst="roundRect">
            <a:avLst>
              <a:gd name="adj" fmla="val 3536"/>
            </a:avLst>
          </a:prstGeom>
          <a:solidFill>
            <a:srgbClr val="F6F1E8"/>
          </a:solidFill>
          <a:ln w="12700">
            <a:solidFill>
              <a:srgbClr val="F6F1E8"/>
            </a:solidFill>
            <a:prstDash val="solid"/>
          </a:ln>
        </p:spPr>
      </p:sp>
      <p:sp>
        <p:nvSpPr>
          <p:cNvPr id="9" name="Text 7"/>
          <p:cNvSpPr/>
          <p:nvPr/>
        </p:nvSpPr>
        <p:spPr>
          <a:xfrm>
            <a:off x="3573704" y="2310638"/>
            <a:ext cx="2220392" cy="1024128"/>
          </a:xfrm>
          <a:prstGeom prst="rect">
            <a:avLst/>
          </a:prstGeom>
          <a:noFill/>
          <a:ln/>
        </p:spPr>
        <p:txBody>
          <a:bodyPr wrap="square" lIns="0" tIns="0" rIns="0" bIns="0" rtlCol="0" anchor="ctr"/>
          <a:lstStyle/>
          <a:p>
            <a:pPr algn="ctr" indent="0" marL="0">
              <a:buNone/>
            </a:pPr>
            <a:r>
              <a:rPr lang="en-US" sz="5172" b="1" dirty="0">
                <a:solidFill>
                  <a:srgbClr val="B08D57"/>
                </a:solidFill>
                <a:latin typeface="Arial" pitchFamily="34" charset="0"/>
                <a:ea typeface="Arial" pitchFamily="34" charset="-122"/>
                <a:cs typeface="Arial" pitchFamily="34" charset="-120"/>
              </a:rPr>
              <a:t>重大过失</a:t>
            </a:r>
            <a:endParaRPr lang="en-US" sz="5172" dirty="0"/>
          </a:p>
        </p:txBody>
      </p:sp>
      <p:sp>
        <p:nvSpPr>
          <p:cNvPr id="10" name="Text 8"/>
          <p:cNvSpPr/>
          <p:nvPr/>
        </p:nvSpPr>
        <p:spPr>
          <a:xfrm>
            <a:off x="3710864" y="3462782"/>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存在重大过失</a:t>
            </a:r>
            <a:endParaRPr lang="en-US" sz="1600" dirty="0"/>
          </a:p>
        </p:txBody>
      </p:sp>
      <p:sp>
        <p:nvSpPr>
          <p:cNvPr id="11" name="Text 9"/>
          <p:cNvSpPr/>
          <p:nvPr/>
        </p:nvSpPr>
        <p:spPr>
          <a:xfrm>
            <a:off x="3710864" y="3928110"/>
            <a:ext cx="1946072" cy="1103884"/>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应当预见而未预见，或已预见而轻信可以避免，且导致裁判结果错误并造成严重后果</a:t>
            </a:r>
            <a:endParaRPr lang="en-US" sz="1300" dirty="0"/>
          </a:p>
        </p:txBody>
      </p:sp>
      <p:sp>
        <p:nvSpPr>
          <p:cNvPr id="12" name="Shape 10"/>
          <p:cNvSpPr/>
          <p:nvPr/>
        </p:nvSpPr>
        <p:spPr>
          <a:xfrm>
            <a:off x="6214720" y="1981454"/>
            <a:ext cx="2586152" cy="3233420"/>
          </a:xfrm>
          <a:prstGeom prst="roundRect">
            <a:avLst>
              <a:gd name="adj" fmla="val 3536"/>
            </a:avLst>
          </a:prstGeom>
          <a:solidFill>
            <a:srgbClr val="ECF3F2"/>
          </a:solidFill>
          <a:ln w="12700">
            <a:solidFill>
              <a:srgbClr val="ECF3F2"/>
            </a:solidFill>
            <a:prstDash val="solid"/>
          </a:ln>
        </p:spPr>
      </p:sp>
      <p:sp>
        <p:nvSpPr>
          <p:cNvPr id="13" name="Text 11"/>
          <p:cNvSpPr/>
          <p:nvPr/>
        </p:nvSpPr>
        <p:spPr>
          <a:xfrm>
            <a:off x="6397600" y="2310638"/>
            <a:ext cx="2220392" cy="1024128"/>
          </a:xfrm>
          <a:prstGeom prst="rect">
            <a:avLst/>
          </a:prstGeom>
          <a:noFill/>
          <a:ln/>
        </p:spPr>
        <p:txBody>
          <a:bodyPr wrap="square" lIns="0" tIns="0" rIns="0" bIns="0" rtlCol="0" anchor="ctr"/>
          <a:lstStyle/>
          <a:p>
            <a:pPr algn="ctr" indent="0" marL="0">
              <a:buNone/>
            </a:pPr>
            <a:r>
              <a:rPr lang="en-US" sz="5172" b="1" dirty="0">
                <a:solidFill>
                  <a:srgbClr val="2F6E6A"/>
                </a:solidFill>
                <a:latin typeface="Arial" pitchFamily="34" charset="0"/>
                <a:ea typeface="Arial" pitchFamily="34" charset="-122"/>
                <a:cs typeface="Arial" pitchFamily="34" charset="-120"/>
              </a:rPr>
              <a:t>一般过失</a:t>
            </a:r>
            <a:endParaRPr lang="en-US" sz="5172" dirty="0"/>
          </a:p>
        </p:txBody>
      </p:sp>
      <p:sp>
        <p:nvSpPr>
          <p:cNvPr id="14" name="Text 12"/>
          <p:cNvSpPr/>
          <p:nvPr/>
        </p:nvSpPr>
        <p:spPr>
          <a:xfrm>
            <a:off x="6534760" y="3462782"/>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存在一般过失</a:t>
            </a:r>
            <a:endParaRPr lang="en-US" sz="1600" dirty="0"/>
          </a:p>
        </p:txBody>
      </p:sp>
      <p:sp>
        <p:nvSpPr>
          <p:cNvPr id="15" name="Text 13"/>
          <p:cNvSpPr/>
          <p:nvPr/>
        </p:nvSpPr>
        <p:spPr>
          <a:xfrm>
            <a:off x="6534760" y="3928110"/>
            <a:ext cx="1946072" cy="1103884"/>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过错程度较轻，一般不作为审判责任追究，可通过业务指导、培训等方式处理</a:t>
            </a:r>
            <a:endParaRPr lang="en-US" sz="1300" dirty="0"/>
          </a:p>
        </p:txBody>
      </p:sp>
      <p:sp>
        <p:nvSpPr>
          <p:cNvPr id="16" name="Shape 14"/>
          <p:cNvSpPr/>
          <p:nvPr/>
        </p:nvSpPr>
        <p:spPr>
          <a:xfrm>
            <a:off x="9038615" y="1981454"/>
            <a:ext cx="2586152" cy="3233420"/>
          </a:xfrm>
          <a:prstGeom prst="roundRect">
            <a:avLst>
              <a:gd name="adj" fmla="val 3536"/>
            </a:avLst>
          </a:prstGeom>
          <a:solidFill>
            <a:srgbClr val="F8EFF0"/>
          </a:solidFill>
          <a:ln w="12700">
            <a:solidFill>
              <a:srgbClr val="F8EFF0"/>
            </a:solidFill>
            <a:prstDash val="solid"/>
          </a:ln>
        </p:spPr>
      </p:sp>
      <p:sp>
        <p:nvSpPr>
          <p:cNvPr id="17" name="Text 15"/>
          <p:cNvSpPr/>
          <p:nvPr/>
        </p:nvSpPr>
        <p:spPr>
          <a:xfrm>
            <a:off x="9221495" y="2310638"/>
            <a:ext cx="2220392" cy="1024128"/>
          </a:xfrm>
          <a:prstGeom prst="rect">
            <a:avLst/>
          </a:prstGeom>
          <a:noFill/>
          <a:ln/>
        </p:spPr>
        <p:txBody>
          <a:bodyPr wrap="square" lIns="0" tIns="0" rIns="0" bIns="0" rtlCol="0" anchor="ctr"/>
          <a:lstStyle/>
          <a:p>
            <a:pPr algn="ctr" indent="0" marL="0">
              <a:buNone/>
            </a:pPr>
            <a:r>
              <a:rPr lang="en-US" sz="5800" b="1" dirty="0">
                <a:solidFill>
                  <a:srgbClr val="8E2C3B"/>
                </a:solidFill>
                <a:latin typeface="Arial" pitchFamily="34" charset="0"/>
                <a:ea typeface="Arial" pitchFamily="34" charset="-122"/>
                <a:cs typeface="Arial" pitchFamily="34" charset="-120"/>
              </a:rPr>
              <a:t>无责</a:t>
            </a:r>
            <a:endParaRPr lang="en-US" sz="5800" dirty="0"/>
          </a:p>
        </p:txBody>
      </p:sp>
      <p:sp>
        <p:nvSpPr>
          <p:cNvPr id="18" name="Text 16"/>
          <p:cNvSpPr/>
          <p:nvPr/>
        </p:nvSpPr>
        <p:spPr>
          <a:xfrm>
            <a:off x="9358655" y="3462782"/>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没有违反职责</a:t>
            </a:r>
            <a:endParaRPr lang="en-US" sz="1600" dirty="0"/>
          </a:p>
        </p:txBody>
      </p:sp>
      <p:sp>
        <p:nvSpPr>
          <p:cNvPr id="19" name="Text 17"/>
          <p:cNvSpPr/>
          <p:nvPr/>
        </p:nvSpPr>
        <p:spPr>
          <a:xfrm>
            <a:off x="9358655" y="3928110"/>
            <a:ext cx="1946072" cy="1103884"/>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属于法律理解与认识上的合理分歧，或已尽审查职责，不承担审判责任</a:t>
            </a:r>
            <a:endParaRPr lang="en-US" sz="1300" dirty="0"/>
          </a:p>
        </p:txBody>
      </p:sp>
      <p:sp>
        <p:nvSpPr>
          <p:cNvPr id="20" name="Text 18"/>
          <p:cNvSpPr/>
          <p:nvPr/>
        </p:nvSpPr>
        <p:spPr>
          <a:xfrm>
            <a:off x="566928" y="6199632"/>
            <a:ext cx="11057839" cy="310896"/>
          </a:xfrm>
          <a:prstGeom prst="rect">
            <a:avLst/>
          </a:prstGeom>
          <a:noFill/>
          <a:ln/>
        </p:spPr>
        <p:txBody>
          <a:bodyPr wrap="square" lIns="0" tIns="0" rIns="0" bIns="0" rtlCol="0" anchor="ctr"/>
          <a:lstStyle/>
          <a:p>
            <a:pPr indent="0" marL="0">
              <a:buNone/>
            </a:pPr>
            <a:r>
              <a:rPr lang="en-US" sz="1150" dirty="0">
                <a:solidFill>
                  <a:srgbClr val="6B7684"/>
                </a:solidFill>
                <a:latin typeface="微软雅黑" pitchFamily="34" charset="0"/>
                <a:ea typeface="微软雅黑" pitchFamily="34" charset="-122"/>
                <a:cs typeface="微软雅黑" pitchFamily="34" charset="-120"/>
              </a:rPr>
              <a:t>四档划分的意义：把“结果错误”与“行为有责”分离开来。裁判被改变不等于法官有过错，这是保障独立裁判的必要安全空间。</a:t>
            </a:r>
            <a:endParaRPr lang="en-US" sz="1150" dirty="0"/>
          </a:p>
        </p:txBody>
      </p:sp>
      <p:sp>
        <p:nvSpPr>
          <p:cNvPr id="21" name="Text 19"/>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17</a:t>
            </a:r>
            <a:endParaRPr lang="en-US"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惩戒程序与追责程序的基本要素</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一个正当的追责程序，应当具备哪些要素？</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18</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程序保障</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《法官法》第四十九条至第五十一条</a:t>
            </a:r>
            <a:endParaRPr lang="en-US" sz="2800" dirty="0"/>
          </a:p>
        </p:txBody>
      </p:sp>
      <p:sp>
        <p:nvSpPr>
          <p:cNvPr id="4" name="Shape 2"/>
          <p:cNvSpPr/>
          <p:nvPr/>
        </p:nvSpPr>
        <p:spPr>
          <a:xfrm>
            <a:off x="566928" y="1316736"/>
            <a:ext cx="11057839" cy="1122426"/>
          </a:xfrm>
          <a:prstGeom prst="roundRect">
            <a:avLst>
              <a:gd name="adj" fmla="val 814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《法官法》第四十九条</a:t>
            </a:r>
            <a:endParaRPr lang="en-US" sz="1500" dirty="0"/>
          </a:p>
        </p:txBody>
      </p:sp>
      <p:sp>
        <p:nvSpPr>
          <p:cNvPr id="8" name="Text 6"/>
          <p:cNvSpPr/>
          <p:nvPr/>
        </p:nvSpPr>
        <p:spPr>
          <a:xfrm>
            <a:off x="960120" y="1956816"/>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法官惩戒委员会审议惩戒事项时，当事法官有权申请有关人员回避，有权进行陈述、举证、辩解。</a:t>
            </a:r>
            <a:endParaRPr lang="en-US" sz="850" dirty="0"/>
          </a:p>
        </p:txBody>
      </p:sp>
      <p:sp>
        <p:nvSpPr>
          <p:cNvPr id="9" name="Shape 7"/>
          <p:cNvSpPr/>
          <p:nvPr/>
        </p:nvSpPr>
        <p:spPr>
          <a:xfrm>
            <a:off x="566928" y="2622042"/>
            <a:ext cx="11057839" cy="1122426"/>
          </a:xfrm>
          <a:prstGeom prst="roundRect">
            <a:avLst>
              <a:gd name="adj" fmla="val 8147"/>
            </a:avLst>
          </a:prstGeom>
          <a:solidFill>
            <a:srgbClr val="F6F1E8"/>
          </a:solidFill>
          <a:ln w="12700">
            <a:solidFill>
              <a:srgbClr val="F6F1E8"/>
            </a:solidFill>
            <a:prstDash val="solid"/>
          </a:ln>
        </p:spPr>
      </p:sp>
      <p:sp>
        <p:nvSpPr>
          <p:cNvPr id="10" name="Shape 8"/>
          <p:cNvSpPr/>
          <p:nvPr/>
        </p:nvSpPr>
        <p:spPr>
          <a:xfrm>
            <a:off x="877824" y="2859786"/>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285978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284149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《法官法》第五十条</a:t>
            </a:r>
            <a:endParaRPr lang="en-US" sz="1500" dirty="0"/>
          </a:p>
        </p:txBody>
      </p:sp>
      <p:sp>
        <p:nvSpPr>
          <p:cNvPr id="13" name="Text 11"/>
          <p:cNvSpPr/>
          <p:nvPr/>
        </p:nvSpPr>
        <p:spPr>
          <a:xfrm>
            <a:off x="960120" y="3262122"/>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法官惩戒委员会作出的审查意见应当送达当事法官。当事法官对审查意见有异议的，可以向惩戒委员会提出，惩戒委员会应当对异议及其理由进行审查，作出决定。</a:t>
            </a:r>
            <a:endParaRPr lang="en-US" sz="850" dirty="0"/>
          </a:p>
        </p:txBody>
      </p:sp>
      <p:sp>
        <p:nvSpPr>
          <p:cNvPr id="14" name="Shape 12"/>
          <p:cNvSpPr/>
          <p:nvPr/>
        </p:nvSpPr>
        <p:spPr>
          <a:xfrm>
            <a:off x="566928" y="3927348"/>
            <a:ext cx="11057839" cy="1122426"/>
          </a:xfrm>
          <a:prstGeom prst="roundRect">
            <a:avLst>
              <a:gd name="adj" fmla="val 8147"/>
            </a:avLst>
          </a:prstGeom>
          <a:solidFill>
            <a:srgbClr val="F6F1E8"/>
          </a:solidFill>
          <a:ln w="12700">
            <a:solidFill>
              <a:srgbClr val="F6F1E8"/>
            </a:solidFill>
            <a:prstDash val="solid"/>
          </a:ln>
        </p:spPr>
      </p:sp>
      <p:sp>
        <p:nvSpPr>
          <p:cNvPr id="15" name="Shape 13"/>
          <p:cNvSpPr/>
          <p:nvPr/>
        </p:nvSpPr>
        <p:spPr>
          <a:xfrm>
            <a:off x="877824" y="4165092"/>
            <a:ext cx="566928" cy="274320"/>
          </a:xfrm>
          <a:prstGeom prst="roundRect">
            <a:avLst>
              <a:gd name="adj" fmla="val 50000"/>
            </a:avLst>
          </a:prstGeom>
          <a:solidFill>
            <a:srgbClr val="B08D57"/>
          </a:solidFill>
          <a:ln w="12700">
            <a:solidFill>
              <a:srgbClr val="B08D57"/>
            </a:solidFill>
            <a:prstDash val="solid"/>
          </a:ln>
        </p:spPr>
      </p:sp>
      <p:sp>
        <p:nvSpPr>
          <p:cNvPr id="16" name="Text 14"/>
          <p:cNvSpPr/>
          <p:nvPr/>
        </p:nvSpPr>
        <p:spPr>
          <a:xfrm>
            <a:off x="877824" y="4165092"/>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7" name="Text 15"/>
          <p:cNvSpPr/>
          <p:nvPr/>
        </p:nvSpPr>
        <p:spPr>
          <a:xfrm>
            <a:off x="1554480" y="4146804"/>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《法官法》第五十一条</a:t>
            </a:r>
            <a:endParaRPr lang="en-US" sz="1500" dirty="0"/>
          </a:p>
        </p:txBody>
      </p:sp>
      <p:sp>
        <p:nvSpPr>
          <p:cNvPr id="18" name="Text 16"/>
          <p:cNvSpPr/>
          <p:nvPr/>
        </p:nvSpPr>
        <p:spPr>
          <a:xfrm>
            <a:off x="960120" y="4567428"/>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法官惩戒委员会审议惩戒事项的具体程序，由最高人民法院商有关部门确定。</a:t>
            </a:r>
            <a:endParaRPr lang="en-US" sz="850" dirty="0"/>
          </a:p>
        </p:txBody>
      </p:sp>
      <p:sp>
        <p:nvSpPr>
          <p:cNvPr id="19" name="Shape 1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20" name="Text 1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21" name="Text 1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第四十九条赋予当事法官三项程序权利：申请回避权、陈述权、举证与辩解权——这是最低限度的正当程序要求；第五十条建立了异议审查机制，使审查意见不至于一锤定音。请注意：被惩戒者本身是法律职业人员，程序若不正当，其损害不仅在个案，更在于对整个司法制度正当性的示范性破坏。</a:t>
            </a:r>
            <a:endParaRPr lang="en-US" sz="1400" dirty="0"/>
          </a:p>
        </p:txBody>
      </p:sp>
      <p:sp>
        <p:nvSpPr>
          <p:cNvPr id="22" name="Text 2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19</a:t>
            </a:r>
            <a:endParaRPr lang="en-US"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程序分析框架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追责程序基本要素的拆解</a:t>
            </a:r>
            <a:endParaRPr lang="en-US" sz="2800" dirty="0"/>
          </a:p>
        </p:txBody>
      </p:sp>
      <p:sp>
        <p:nvSpPr>
          <p:cNvPr id="4" name="Shape 2"/>
          <p:cNvSpPr/>
          <p:nvPr/>
        </p:nvSpPr>
        <p:spPr>
          <a:xfrm>
            <a:off x="566928" y="1481042"/>
            <a:ext cx="5382616" cy="1576578"/>
          </a:xfrm>
          <a:prstGeom prst="roundRect">
            <a:avLst>
              <a:gd name="adj" fmla="val 4640"/>
            </a:avLst>
          </a:prstGeom>
          <a:solidFill>
            <a:srgbClr val="F2F4F8"/>
          </a:solidFill>
          <a:ln w="12700">
            <a:solidFill>
              <a:srgbClr val="F2F4F8"/>
            </a:solidFill>
            <a:prstDash val="solid"/>
          </a:ln>
        </p:spPr>
      </p:sp>
      <p:sp>
        <p:nvSpPr>
          <p:cNvPr id="5" name="Shape 3"/>
          <p:cNvSpPr/>
          <p:nvPr/>
        </p:nvSpPr>
        <p:spPr>
          <a:xfrm>
            <a:off x="822960" y="2040731"/>
            <a:ext cx="457200" cy="457200"/>
          </a:xfrm>
          <a:prstGeom prst="ellipse">
            <a:avLst/>
          </a:prstGeom>
          <a:solidFill>
            <a:srgbClr val="13233F"/>
          </a:solidFill>
          <a:ln w="12700">
            <a:solidFill>
              <a:srgbClr val="13233F"/>
            </a:solidFill>
            <a:prstDash val="solid"/>
          </a:ln>
        </p:spPr>
      </p:sp>
      <p:sp>
        <p:nvSpPr>
          <p:cNvPr id="6" name="Text 4"/>
          <p:cNvSpPr/>
          <p:nvPr/>
        </p:nvSpPr>
        <p:spPr>
          <a:xfrm>
            <a:off x="822960" y="2040731"/>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61820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程序的基本形态</a:t>
            </a:r>
            <a:endParaRPr lang="en-US" sz="1500" dirty="0"/>
          </a:p>
        </p:txBody>
      </p:sp>
      <p:sp>
        <p:nvSpPr>
          <p:cNvPr id="8" name="Text 6"/>
          <p:cNvSpPr/>
          <p:nvPr/>
        </p:nvSpPr>
        <p:spPr>
          <a:xfrm>
            <a:off x="1444752" y="1926050"/>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在典型的司法程序中，两造对抗、裁判者居中裁判的形态最为显著；而在行政程序中，行政权鼓励主动、追求效率、贵在权变的特征得以体现。程序的基本形态确定了程序的基本类型。法官惩戒程序具有司法与行政的混合特征。</a:t>
            </a:r>
            <a:endParaRPr lang="en-US" sz="1350" dirty="0"/>
          </a:p>
        </p:txBody>
      </p:sp>
      <p:sp>
        <p:nvSpPr>
          <p:cNvPr id="9" name="Shape 7"/>
          <p:cNvSpPr/>
          <p:nvPr/>
        </p:nvSpPr>
        <p:spPr>
          <a:xfrm>
            <a:off x="566928" y="3185636"/>
            <a:ext cx="5382616" cy="1576578"/>
          </a:xfrm>
          <a:prstGeom prst="roundRect">
            <a:avLst>
              <a:gd name="adj" fmla="val 4640"/>
            </a:avLst>
          </a:prstGeom>
          <a:solidFill>
            <a:srgbClr val="FFFFFF"/>
          </a:solidFill>
          <a:ln w="12700">
            <a:solidFill>
              <a:srgbClr val="D5DBE5"/>
            </a:solidFill>
            <a:prstDash val="solid"/>
          </a:ln>
        </p:spPr>
      </p:sp>
      <p:sp>
        <p:nvSpPr>
          <p:cNvPr id="10" name="Shape 8"/>
          <p:cNvSpPr/>
          <p:nvPr/>
        </p:nvSpPr>
        <p:spPr>
          <a:xfrm>
            <a:off x="822960" y="3745325"/>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74532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32279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程序的启动</a:t>
            </a:r>
            <a:endParaRPr lang="en-US" sz="1500" dirty="0"/>
          </a:p>
        </p:txBody>
      </p:sp>
      <p:sp>
        <p:nvSpPr>
          <p:cNvPr id="13" name="Text 11"/>
          <p:cNvSpPr/>
          <p:nvPr/>
        </p:nvSpPr>
        <p:spPr>
          <a:xfrm>
            <a:off x="1444752" y="3630644"/>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程序启动是程序进一步展开的逻辑起点。程序如何启动、由谁启动，在程序构建上极为重要——如果程序的启动设置不合理，后续的程序设计再精巧，也可能沦为空中楼阁。</a:t>
            </a:r>
            <a:endParaRPr lang="en-US" sz="1350" dirty="0"/>
          </a:p>
        </p:txBody>
      </p:sp>
      <p:sp>
        <p:nvSpPr>
          <p:cNvPr id="14" name="Shape 12"/>
          <p:cNvSpPr/>
          <p:nvPr/>
        </p:nvSpPr>
        <p:spPr>
          <a:xfrm>
            <a:off x="566928" y="4890230"/>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5325618"/>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532561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5027390"/>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裁决方式</a:t>
            </a:r>
            <a:endParaRPr lang="en-US" sz="1500" dirty="0"/>
          </a:p>
        </p:txBody>
      </p:sp>
      <p:sp>
        <p:nvSpPr>
          <p:cNvPr id="18" name="Text 16"/>
          <p:cNvSpPr/>
          <p:nvPr/>
        </p:nvSpPr>
        <p:spPr>
          <a:xfrm>
            <a:off x="1444752" y="5335238"/>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由谁作出认定？依据什么标准？是同行评议还是行政决定？《法官法》采取了“专业审查+组织决定”的两分模式，专业问题交由惩戒委员会，处理决定由法院作出。</a:t>
            </a:r>
            <a:endParaRPr lang="en-US" sz="1350" dirty="0"/>
          </a:p>
        </p:txBody>
      </p:sp>
      <p:sp>
        <p:nvSpPr>
          <p:cNvPr id="19" name="Shape 17"/>
          <p:cNvSpPr/>
          <p:nvPr/>
        </p:nvSpPr>
        <p:spPr>
          <a:xfrm>
            <a:off x="6242152" y="1605344"/>
            <a:ext cx="5382616" cy="1576578"/>
          </a:xfrm>
          <a:prstGeom prst="roundRect">
            <a:avLst>
              <a:gd name="adj" fmla="val 4640"/>
            </a:avLst>
          </a:prstGeom>
          <a:solidFill>
            <a:srgbClr val="FFFFFF"/>
          </a:solidFill>
          <a:ln w="12700">
            <a:solidFill>
              <a:srgbClr val="D5DBE5"/>
            </a:solidFill>
            <a:prstDash val="solid"/>
          </a:ln>
        </p:spPr>
      </p:sp>
      <p:sp>
        <p:nvSpPr>
          <p:cNvPr id="20" name="Shape 18"/>
          <p:cNvSpPr/>
          <p:nvPr/>
        </p:nvSpPr>
        <p:spPr>
          <a:xfrm>
            <a:off x="6498184" y="2165033"/>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1742504"/>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权利保障</a:t>
            </a:r>
            <a:endParaRPr lang="en-US" sz="1500" dirty="0"/>
          </a:p>
        </p:txBody>
      </p:sp>
      <p:sp>
        <p:nvSpPr>
          <p:cNvPr id="23" name="Text 21"/>
          <p:cNvSpPr/>
          <p:nvPr/>
        </p:nvSpPr>
        <p:spPr>
          <a:xfrm>
            <a:off x="7119976" y="2050352"/>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在程序当中，权力与权利的冲突与平衡是核心内容。由于权利弱小的本质，对权利保障的类型、程度、方式，是体现程序文明程度的重要标志。第四十九条的三项权利即属于此。</a:t>
            </a:r>
            <a:endParaRPr lang="en-US" sz="1350" dirty="0"/>
          </a:p>
        </p:txBody>
      </p:sp>
      <p:sp>
        <p:nvSpPr>
          <p:cNvPr id="24" name="Shape 22"/>
          <p:cNvSpPr/>
          <p:nvPr/>
        </p:nvSpPr>
        <p:spPr>
          <a:xfrm>
            <a:off x="6242152" y="3309938"/>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3745325"/>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374532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34470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救济机制</a:t>
            </a:r>
            <a:endParaRPr lang="en-US" sz="1500" dirty="0"/>
          </a:p>
        </p:txBody>
      </p:sp>
      <p:sp>
        <p:nvSpPr>
          <p:cNvPr id="28" name="Text 26"/>
          <p:cNvSpPr/>
          <p:nvPr/>
        </p:nvSpPr>
        <p:spPr>
          <a:xfrm>
            <a:off x="7119976" y="375494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对于一项法律程序而言，如果参与人对由该程序产生的结果缺少救济的手段，则该程序的正当性即面临考验与质疑。第五十条的异议审查是初步的救济安排。</a:t>
            </a:r>
            <a:endParaRPr lang="en-US" sz="1350" dirty="0"/>
          </a:p>
        </p:txBody>
      </p:sp>
      <p:sp>
        <p:nvSpPr>
          <p:cNvPr id="29" name="Shape 27"/>
          <p:cNvSpPr/>
          <p:nvPr/>
        </p:nvSpPr>
        <p:spPr>
          <a:xfrm>
            <a:off x="6242152" y="4765929"/>
            <a:ext cx="5382616" cy="1327976"/>
          </a:xfrm>
          <a:prstGeom prst="roundRect">
            <a:avLst>
              <a:gd name="adj" fmla="val 5509"/>
            </a:avLst>
          </a:prstGeom>
          <a:solidFill>
            <a:srgbClr val="FFFFFF"/>
          </a:solidFill>
          <a:ln w="12700">
            <a:solidFill>
              <a:srgbClr val="D5DBE5"/>
            </a:solidFill>
            <a:prstDash val="solid"/>
          </a:ln>
        </p:spPr>
      </p:sp>
      <p:sp>
        <p:nvSpPr>
          <p:cNvPr id="30" name="Shape 28"/>
          <p:cNvSpPr/>
          <p:nvPr/>
        </p:nvSpPr>
        <p:spPr>
          <a:xfrm>
            <a:off x="6498184" y="5201317"/>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5201317"/>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490308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责任形式</a:t>
            </a:r>
            <a:endParaRPr lang="en-US" sz="1500" dirty="0"/>
          </a:p>
        </p:txBody>
      </p:sp>
      <p:sp>
        <p:nvSpPr>
          <p:cNvPr id="33" name="Text 31"/>
          <p:cNvSpPr/>
          <p:nvPr/>
        </p:nvSpPr>
        <p:spPr>
          <a:xfrm>
            <a:off x="7119976" y="5210937"/>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处分种类依《法官法》及《公职人员政务处分法》《人民法院工作人员处分条例》等规定确定；构成犯罪的，依《刑法》第三百九十九条等追究刑事责任。</a:t>
            </a:r>
            <a:endParaRPr lang="en-US" sz="1350" dirty="0"/>
          </a:p>
        </p:txBody>
      </p:sp>
      <p:sp>
        <p:nvSpPr>
          <p:cNvPr id="34" name="Text 3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20</a:t>
            </a:r>
            <a:endParaRPr lang="en-US"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制度反思</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法官惩戒制度为何重要</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在法治社会，法官惩戒是一个敏感而复杂的问题。</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原因在于：现代法治社会秉承司法最终裁决原则，将司法作为社会正义的最后一道防线。同时，随着社会发展，司法不仅承担解决纠纷的单一职能，还越来越广泛地承担厘定社会规则、参与社会治理的角色。</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而法官占据着司法体系中的最核心位置，掌握着最重要的裁决权。人们一方面期待法官作出独立、公正的裁决，另一方面又对法官的腐败、滥权、擅断存在忧虑。</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为实现前者，各国普遍确立了司法独立的原则与配套制度；为实现后者，各国又普遍建立了严格、理性的法官惩戒制度。二者互为条件，缺一不可。</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法官惩戒制度的构建必须遵循一些基本规律，其最核心的要义是：将法官作为司法人员对待，而非作为行政人员对待。这决定了惩戒程序应当具有司法化特征——同行评议、正当程序、独立判断、可救济。</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21</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内部干预链条中的责任分配</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责任认定</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庭长授意与承办法官的责任</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案中，承办法官在时任庭长的授意下并接受他人请托，明知案件事实不清、可能遗漏共同犯罪人，仍以简易程序审理，并对被告人从轻判处。该判决导致相关恶势力犯罪团伙成员长期未得到查处，团伙坐大成势，严重损害司法公信力。</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案发后查明，该庭长收受黑社会性质组织领导者通过他人给予的巨额现金，并将其中一部分给予承办法官。二人均被追究刑事责任。</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在类似情形中，如果承办法官并未收受任何财物，只是“服从领导指示”，其责任应当如何认定？如果他在评议时提出过不同意见但被否决呢？</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承办法官能否以“服从领导”作为免责事由？</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本案应当适用《法官法》第四十六条哪几项？</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若法官在评议中提出过正确意见，依法应当如何处理？</a:t>
            </a:r>
            <a:endParaRPr lang="en-US" sz="1400" dirty="0"/>
          </a:p>
        </p:txBody>
      </p:sp>
      <p:sp>
        <p:nvSpPr>
          <p:cNvPr id="20" name="Shape 18"/>
          <p:cNvSpPr/>
          <p:nvPr/>
        </p:nvSpPr>
        <p:spPr>
          <a:xfrm>
            <a:off x="7958023" y="537083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37083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129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这一案例说明“独立是义务”具有什么实践含义？</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22</a:t>
            </a:r>
            <a:endParaRPr 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《法官法》第四十六条第（五）项规定“因重大过失导致裁判结果错误并造成严重后果的”应当给予处分。请设计一组可操作的标准，用以区分“重大过失”与“一般过失”，并说明“严重后果”应如何认定。</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法官惩戒委员会中“法官代表不少于半数”。有观点认为这一比例过高，可能导致同行相护；也有观点认为比例还不够，专业问题应完全由同行判断。你的看法是什么？</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《法官行为规范》第八十六条规定法官本人涉诉时“不以法官身份获取特殊照顾”。但在实践中，即使法官不主动亮明身份，受诉法院也可能知晓其身份。制度上应当如何应对？</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司法为民与依法裁判在个案中可能产生张力。请以一起涉及生活困难当事人的民间借贷纠纷为例，说明法官应当如何处理这一张力。</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23</a:t>
            </a:r>
            <a:endParaRPr lang="en-US" sz="11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第二编总结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第8课时要点与法官职业伦理小结</a:t>
            </a:r>
            <a:endParaRPr lang="en-US" sz="3000" dirty="0"/>
          </a:p>
        </p:txBody>
      </p:sp>
      <p:sp>
        <p:nvSpPr>
          <p:cNvPr id="4" name="Shape 2"/>
          <p:cNvSpPr/>
          <p:nvPr/>
        </p:nvSpPr>
        <p:spPr>
          <a:xfrm>
            <a:off x="566928" y="1591056"/>
            <a:ext cx="11057839" cy="684276"/>
          </a:xfrm>
          <a:prstGeom prst="roundRect">
            <a:avLst>
              <a:gd name="adj" fmla="val 10690"/>
            </a:avLst>
          </a:prstGeom>
          <a:solidFill>
            <a:srgbClr val="25395F"/>
          </a:solidFill>
          <a:ln w="12700">
            <a:solidFill>
              <a:srgbClr val="25395F"/>
            </a:solidFill>
            <a:prstDash val="solid"/>
          </a:ln>
        </p:spPr>
      </p:sp>
      <p:sp>
        <p:nvSpPr>
          <p:cNvPr id="5" name="Shape 3"/>
          <p:cNvSpPr/>
          <p:nvPr/>
        </p:nvSpPr>
        <p:spPr>
          <a:xfrm>
            <a:off x="859536" y="1732026"/>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52727"/>
            <a:ext cx="160934" cy="160934"/>
          </a:xfrm>
          <a:prstGeom prst="rect">
            <a:avLst/>
          </a:prstGeom>
        </p:spPr>
      </p:pic>
      <p:sp>
        <p:nvSpPr>
          <p:cNvPr id="7" name="Text 4"/>
          <p:cNvSpPr/>
          <p:nvPr/>
        </p:nvSpPr>
        <p:spPr>
          <a:xfrm>
            <a:off x="1444752" y="1733169"/>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司法廉洁由具体禁令构成：《法官法》第二十二条的全面兼职禁止；防止利益冲突规定的七类营利性活动禁止；不得接受利益输送、不得利用职权谋利、约束近亲属、接受监督与如实报告。</a:t>
            </a:r>
            <a:endParaRPr lang="en-US" sz="1050" dirty="0"/>
          </a:p>
        </p:txBody>
      </p:sp>
      <p:sp>
        <p:nvSpPr>
          <p:cNvPr id="8" name="Shape 5"/>
          <p:cNvSpPr/>
          <p:nvPr/>
        </p:nvSpPr>
        <p:spPr>
          <a:xfrm>
            <a:off x="566928" y="2412492"/>
            <a:ext cx="11057839" cy="684276"/>
          </a:xfrm>
          <a:prstGeom prst="roundRect">
            <a:avLst>
              <a:gd name="adj" fmla="val 10690"/>
            </a:avLst>
          </a:prstGeom>
          <a:solidFill>
            <a:srgbClr val="25395F"/>
          </a:solidFill>
          <a:ln w="12700">
            <a:solidFill>
              <a:srgbClr val="25395F"/>
            </a:solidFill>
            <a:prstDash val="solid"/>
          </a:ln>
        </p:spPr>
      </p:sp>
      <p:sp>
        <p:nvSpPr>
          <p:cNvPr id="9" name="Shape 6"/>
          <p:cNvSpPr/>
          <p:nvPr/>
        </p:nvSpPr>
        <p:spPr>
          <a:xfrm>
            <a:off x="859536" y="2553462"/>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674163"/>
            <a:ext cx="160934" cy="160934"/>
          </a:xfrm>
          <a:prstGeom prst="rect">
            <a:avLst/>
          </a:prstGeom>
        </p:spPr>
      </p:pic>
      <p:sp>
        <p:nvSpPr>
          <p:cNvPr id="11" name="Text 7"/>
          <p:cNvSpPr/>
          <p:nvPr/>
        </p:nvSpPr>
        <p:spPr>
          <a:xfrm>
            <a:off x="1444752" y="2554605"/>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司法为民落于诉讼便利、释法说理与判后答疑、司法救助、特殊群体保障；但为民约束的是态度、程序与作风，而非裁判的实体标准，不得以为民之名行枉法、迁就、以调代判或迎合舆论之实。</a:t>
            </a:r>
            <a:endParaRPr lang="en-US" sz="1050" dirty="0"/>
          </a:p>
        </p:txBody>
      </p:sp>
      <p:sp>
        <p:nvSpPr>
          <p:cNvPr id="12" name="Shape 8"/>
          <p:cNvSpPr/>
          <p:nvPr/>
        </p:nvSpPr>
        <p:spPr>
          <a:xfrm>
            <a:off x="566928" y="3233928"/>
            <a:ext cx="11057839" cy="684276"/>
          </a:xfrm>
          <a:prstGeom prst="roundRect">
            <a:avLst>
              <a:gd name="adj" fmla="val 10690"/>
            </a:avLst>
          </a:prstGeom>
          <a:solidFill>
            <a:srgbClr val="25395F"/>
          </a:solidFill>
          <a:ln w="12700">
            <a:solidFill>
              <a:srgbClr val="25395F"/>
            </a:solidFill>
            <a:prstDash val="solid"/>
          </a:ln>
        </p:spPr>
      </p:sp>
      <p:sp>
        <p:nvSpPr>
          <p:cNvPr id="13" name="Shape 9"/>
          <p:cNvSpPr/>
          <p:nvPr/>
        </p:nvSpPr>
        <p:spPr>
          <a:xfrm>
            <a:off x="859536" y="3374898"/>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495599"/>
            <a:ext cx="160934" cy="160934"/>
          </a:xfrm>
          <a:prstGeom prst="rect">
            <a:avLst/>
          </a:prstGeom>
        </p:spPr>
      </p:pic>
      <p:sp>
        <p:nvSpPr>
          <p:cNvPr id="15" name="Text 10"/>
          <p:cNvSpPr/>
          <p:nvPr/>
        </p:nvSpPr>
        <p:spPr>
          <a:xfrm>
            <a:off x="1444752" y="3376041"/>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维护司法形象要求不滥用司法声望（《法官行为规范》第八十五、八十六条），并在公开言论、社会兼职、社交活动、家庭成员四方面保持约束。“避免不当行为的表象”同样适用于业外。</a:t>
            </a:r>
            <a:endParaRPr lang="en-US" sz="1050" dirty="0"/>
          </a:p>
        </p:txBody>
      </p:sp>
      <p:sp>
        <p:nvSpPr>
          <p:cNvPr id="16" name="Shape 11"/>
          <p:cNvSpPr/>
          <p:nvPr/>
        </p:nvSpPr>
        <p:spPr>
          <a:xfrm>
            <a:off x="566928" y="4055364"/>
            <a:ext cx="11057839" cy="684276"/>
          </a:xfrm>
          <a:prstGeom prst="roundRect">
            <a:avLst>
              <a:gd name="adj" fmla="val 10690"/>
            </a:avLst>
          </a:prstGeom>
          <a:solidFill>
            <a:srgbClr val="25395F"/>
          </a:solidFill>
          <a:ln w="12700">
            <a:solidFill>
              <a:srgbClr val="25395F"/>
            </a:solidFill>
            <a:prstDash val="solid"/>
          </a:ln>
        </p:spPr>
      </p:sp>
      <p:sp>
        <p:nvSpPr>
          <p:cNvPr id="17" name="Shape 12"/>
          <p:cNvSpPr/>
          <p:nvPr/>
        </p:nvSpPr>
        <p:spPr>
          <a:xfrm>
            <a:off x="859536" y="4196334"/>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317035"/>
            <a:ext cx="160934" cy="160934"/>
          </a:xfrm>
          <a:prstGeom prst="rect">
            <a:avLst/>
          </a:prstGeom>
        </p:spPr>
      </p:pic>
      <p:sp>
        <p:nvSpPr>
          <p:cNvPr id="19" name="Text 13"/>
          <p:cNvSpPr/>
          <p:nvPr/>
        </p:nvSpPr>
        <p:spPr>
          <a:xfrm>
            <a:off x="1444752" y="4197477"/>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法官惩戒事由规定于《法官法》第四十六条十项，可归为审判职责类、廉洁类、保密与证据类及兜底；惩戒主体为最高人民法院和省级设立的法官惩戒委员会，法官代表不少于半数。</a:t>
            </a:r>
            <a:endParaRPr lang="en-US" sz="1050" dirty="0"/>
          </a:p>
        </p:txBody>
      </p:sp>
      <p:sp>
        <p:nvSpPr>
          <p:cNvPr id="20" name="Shape 14"/>
          <p:cNvSpPr/>
          <p:nvPr/>
        </p:nvSpPr>
        <p:spPr>
          <a:xfrm>
            <a:off x="566928" y="4876800"/>
            <a:ext cx="11057839" cy="684276"/>
          </a:xfrm>
          <a:prstGeom prst="roundRect">
            <a:avLst>
              <a:gd name="adj" fmla="val 10690"/>
            </a:avLst>
          </a:prstGeom>
          <a:solidFill>
            <a:srgbClr val="25395F"/>
          </a:solidFill>
          <a:ln w="12700">
            <a:solidFill>
              <a:srgbClr val="25395F"/>
            </a:solidFill>
            <a:prstDash val="solid"/>
          </a:ln>
        </p:spPr>
      </p:sp>
      <p:sp>
        <p:nvSpPr>
          <p:cNvPr id="21" name="Shape 15"/>
          <p:cNvSpPr/>
          <p:nvPr/>
        </p:nvSpPr>
        <p:spPr>
          <a:xfrm>
            <a:off x="859536" y="5017770"/>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138471"/>
            <a:ext cx="160934" cy="160934"/>
          </a:xfrm>
          <a:prstGeom prst="rect">
            <a:avLst/>
          </a:prstGeom>
        </p:spPr>
      </p:pic>
      <p:sp>
        <p:nvSpPr>
          <p:cNvPr id="23" name="Text 16"/>
          <p:cNvSpPr/>
          <p:nvPr/>
        </p:nvSpPr>
        <p:spPr>
          <a:xfrm>
            <a:off x="1444752" y="5018913"/>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惩戒采“专业审查+组织决定”两分模式，审查意见分故意、重大过失、一般过失、没有违反职责四档；当事法官享有申请回避、陈述、举证辩解三项程序权利及异议审查救济。</a:t>
            </a:r>
            <a:endParaRPr lang="en-US" sz="1050" dirty="0"/>
          </a:p>
        </p:txBody>
      </p:sp>
      <p:sp>
        <p:nvSpPr>
          <p:cNvPr id="24" name="Shape 17"/>
          <p:cNvSpPr/>
          <p:nvPr/>
        </p:nvSpPr>
        <p:spPr>
          <a:xfrm>
            <a:off x="566928" y="5698236"/>
            <a:ext cx="11057839" cy="684276"/>
          </a:xfrm>
          <a:prstGeom prst="roundRect">
            <a:avLst>
              <a:gd name="adj" fmla="val 10690"/>
            </a:avLst>
          </a:prstGeom>
          <a:solidFill>
            <a:srgbClr val="25395F"/>
          </a:solidFill>
          <a:ln w="12700">
            <a:solidFill>
              <a:srgbClr val="25395F"/>
            </a:solidFill>
            <a:prstDash val="solid"/>
          </a:ln>
        </p:spPr>
      </p:sp>
      <p:sp>
        <p:nvSpPr>
          <p:cNvPr id="25" name="Shape 18"/>
          <p:cNvSpPr/>
          <p:nvPr/>
        </p:nvSpPr>
        <p:spPr>
          <a:xfrm>
            <a:off x="859536" y="5839206"/>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59907"/>
            <a:ext cx="160934" cy="160934"/>
          </a:xfrm>
          <a:prstGeom prst="rect">
            <a:avLst/>
          </a:prstGeom>
        </p:spPr>
      </p:pic>
      <p:sp>
        <p:nvSpPr>
          <p:cNvPr id="27" name="Text 19"/>
          <p:cNvSpPr/>
          <p:nvPr/>
        </p:nvSpPr>
        <p:spPr>
          <a:xfrm>
            <a:off x="1444752" y="5840349"/>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第二编总结：司法权的属性决定法官伦理的内容；五项基本要求——忠诚司法事业、保证司法公正、确保司法廉洁、坚持司法为民、维护司法形象——分别对应信念、裁判、操守、作风与形象五个层面；独立与责任互为条件，缺一不可。</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95</Slides>
  <Notes>95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95</vt:i4>
      </vt:variant>
    </vt:vector>
  </HeadingPairs>
  <TitlesOfParts>
    <vt:vector size="9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法律职业伦理</dc:title>
  <dc:subject>法律职业伦理 课程课件（24课时）</dc:subject>
  <dc:creator>王晓淑</dc:creator>
  <cp:lastModifiedBy>王晓淑</cp:lastModifiedBy>
  <cp:revision>1</cp:revision>
  <dcterms:created xsi:type="dcterms:W3CDTF">2026-08-23T11:31:19Z</dcterms:created>
  <dcterms:modified xsi:type="dcterms:W3CDTF">2026-08-23T11:31:19Z</dcterms:modified>
</cp:coreProperties>
</file>