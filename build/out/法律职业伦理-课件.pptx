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slideMasters/slideMaster263.xml" ContentType="application/vnd.openxmlformats-officedocument.presentationml.slideMaster+xml"/>
  <Override PartName="/ppt/slides/slide263.xml" ContentType="application/vnd.openxmlformats-officedocument.presentationml.slide+xml"/>
  <Override PartName="/ppt/slideMasters/slideMaster264.xml" ContentType="application/vnd.openxmlformats-officedocument.presentationml.slideMaster+xml"/>
  <Override PartName="/ppt/slides/slide264.xml" ContentType="application/vnd.openxmlformats-officedocument.presentationml.slide+xml"/>
  <Override PartName="/ppt/slideMasters/slideMaster265.xml" ContentType="application/vnd.openxmlformats-officedocument.presentationml.slideMaster+xml"/>
  <Override PartName="/ppt/slides/slide265.xml" ContentType="application/vnd.openxmlformats-officedocument.presentationml.slide+xml"/>
  <Override PartName="/ppt/slideMasters/slideMaster266.xml" ContentType="application/vnd.openxmlformats-officedocument.presentationml.slideMaster+xml"/>
  <Override PartName="/ppt/slides/slide266.xml" ContentType="application/vnd.openxmlformats-officedocument.presentationml.slide+xml"/>
  <Override PartName="/ppt/slideMasters/slideMaster267.xml" ContentType="application/vnd.openxmlformats-officedocument.presentationml.slideMaster+xml"/>
  <Override PartName="/ppt/slides/slide267.xml" ContentType="application/vnd.openxmlformats-officedocument.presentationml.slide+xml"/>
  <Override PartName="/ppt/slideMasters/slideMaster268.xml" ContentType="application/vnd.openxmlformats-officedocument.presentationml.slideMaster+xml"/>
  <Override PartName="/ppt/slides/slide268.xml" ContentType="application/vnd.openxmlformats-officedocument.presentationml.slide+xml"/>
  <Override PartName="/ppt/slideMasters/slideMaster269.xml" ContentType="application/vnd.openxmlformats-officedocument.presentationml.slideMaster+xml"/>
  <Override PartName="/ppt/slides/slide269.xml" ContentType="application/vnd.openxmlformats-officedocument.presentationml.slide+xml"/>
  <Override PartName="/ppt/slideMasters/slideMaster270.xml" ContentType="application/vnd.openxmlformats-officedocument.presentationml.slideMaster+xml"/>
  <Override PartName="/ppt/slides/slide270.xml" ContentType="application/vnd.openxmlformats-officedocument.presentationml.slide+xml"/>
  <Override PartName="/ppt/slideMasters/slideMaster271.xml" ContentType="application/vnd.openxmlformats-officedocument.presentationml.slideMaster+xml"/>
  <Override PartName="/ppt/slides/slide271.xml" ContentType="application/vnd.openxmlformats-officedocument.presentationml.slide+xml"/>
  <Override PartName="/ppt/slideMasters/slideMaster272.xml" ContentType="application/vnd.openxmlformats-officedocument.presentationml.slideMaster+xml"/>
  <Override PartName="/ppt/slides/slide272.xml" ContentType="application/vnd.openxmlformats-officedocument.presentationml.slide+xml"/>
  <Override PartName="/ppt/slideMasters/slideMaster273.xml" ContentType="application/vnd.openxmlformats-officedocument.presentationml.slideMaster+xml"/>
  <Override PartName="/ppt/slides/slide273.xml" ContentType="application/vnd.openxmlformats-officedocument.presentationml.slide+xml"/>
  <Override PartName="/ppt/slideMasters/slideMaster274.xml" ContentType="application/vnd.openxmlformats-officedocument.presentationml.slideMaster+xml"/>
  <Override PartName="/ppt/slides/slide274.xml" ContentType="application/vnd.openxmlformats-officedocument.presentationml.slide+xml"/>
  <Override PartName="/ppt/slideMasters/slideMaster275.xml" ContentType="application/vnd.openxmlformats-officedocument.presentationml.slideMaster+xml"/>
  <Override PartName="/ppt/slides/slide275.xml" ContentType="application/vnd.openxmlformats-officedocument.presentationml.slide+xml"/>
  <Override PartName="/ppt/slideMasters/slideMaster276.xml" ContentType="application/vnd.openxmlformats-officedocument.presentationml.slideMaster+xml"/>
  <Override PartName="/ppt/slides/slide276.xml" ContentType="application/vnd.openxmlformats-officedocument.presentationml.slide+xml"/>
  <Override PartName="/ppt/slideMasters/slideMaster277.xml" ContentType="application/vnd.openxmlformats-officedocument.presentationml.slideMaster+xml"/>
  <Override PartName="/ppt/slides/slide277.xml" ContentType="application/vnd.openxmlformats-officedocument.presentationml.slide+xml"/>
  <Override PartName="/ppt/slideMasters/slideMaster278.xml" ContentType="application/vnd.openxmlformats-officedocument.presentationml.slideMaster+xml"/>
  <Override PartName="/ppt/slides/slide278.xml" ContentType="application/vnd.openxmlformats-officedocument.presentationml.slide+xml"/>
  <Override PartName="/ppt/slideMasters/slideMaster279.xml" ContentType="application/vnd.openxmlformats-officedocument.presentationml.slideMaster+xml"/>
  <Override PartName="/ppt/slides/slide279.xml" ContentType="application/vnd.openxmlformats-officedocument.presentationml.slide+xml"/>
  <Override PartName="/ppt/slideMasters/slideMaster280.xml" ContentType="application/vnd.openxmlformats-officedocument.presentationml.slideMaster+xml"/>
  <Override PartName="/ppt/slides/slide280.xml" ContentType="application/vnd.openxmlformats-officedocument.presentationml.slide+xml"/>
  <Override PartName="/ppt/slideMasters/slideMaster281.xml" ContentType="application/vnd.openxmlformats-officedocument.presentationml.slideMaster+xml"/>
  <Override PartName="/ppt/slides/slide281.xml" ContentType="application/vnd.openxmlformats-officedocument.presentationml.slide+xml"/>
  <Override PartName="/ppt/slideMasters/slideMaster282.xml" ContentType="application/vnd.openxmlformats-officedocument.presentationml.slideMaster+xml"/>
  <Override PartName="/ppt/slides/slide282.xml" ContentType="application/vnd.openxmlformats-officedocument.presentationml.slide+xml"/>
  <Override PartName="/ppt/slideMasters/slideMaster283.xml" ContentType="application/vnd.openxmlformats-officedocument.presentationml.slideMaster+xml"/>
  <Override PartName="/ppt/slides/slide283.xml" ContentType="application/vnd.openxmlformats-officedocument.presentationml.slide+xml"/>
  <Override PartName="/ppt/slideMasters/slideMaster284.xml" ContentType="application/vnd.openxmlformats-officedocument.presentationml.slideMaster+xml"/>
  <Override PartName="/ppt/slides/slide284.xml" ContentType="application/vnd.openxmlformats-officedocument.presentationml.slide+xml"/>
  <Override PartName="/ppt/slideMasters/slideMaster285.xml" ContentType="application/vnd.openxmlformats-officedocument.presentationml.slideMaster+xml"/>
  <Override PartName="/ppt/slides/slide285.xml" ContentType="application/vnd.openxmlformats-officedocument.presentationml.slide+xml"/>
  <Override PartName="/ppt/slideMasters/slideMaster286.xml" ContentType="application/vnd.openxmlformats-officedocument.presentationml.slideMaster+xml"/>
  <Override PartName="/ppt/slides/slide286.xml" ContentType="application/vnd.openxmlformats-officedocument.presentationml.slide+xml"/>
  <Override PartName="/ppt/slideMasters/slideMaster287.xml" ContentType="application/vnd.openxmlformats-officedocument.presentationml.slideMaster+xml"/>
  <Override PartName="/ppt/slides/slide287.xml" ContentType="application/vnd.openxmlformats-officedocument.presentationml.slide+xml"/>
  <Override PartName="/ppt/slideMasters/slideMaster288.xml" ContentType="application/vnd.openxmlformats-officedocument.presentationml.slideMaster+xml"/>
  <Override PartName="/ppt/slides/slide288.xml" ContentType="application/vnd.openxmlformats-officedocument.presentationml.slide+xml"/>
  <Override PartName="/ppt/slideMasters/slideMaster289.xml" ContentType="application/vnd.openxmlformats-officedocument.presentationml.slideMaster+xml"/>
  <Override PartName="/ppt/slides/slide289.xml" ContentType="application/vnd.openxmlformats-officedocument.presentationml.slide+xml"/>
  <Override PartName="/ppt/slideMasters/slideMaster290.xml" ContentType="application/vnd.openxmlformats-officedocument.presentationml.slideMaster+xml"/>
  <Override PartName="/ppt/slides/slide290.xml" ContentType="application/vnd.openxmlformats-officedocument.presentationml.slide+xml"/>
  <Override PartName="/ppt/slideMasters/slideMaster291.xml" ContentType="application/vnd.openxmlformats-officedocument.presentationml.slideMaster+xml"/>
  <Override PartName="/ppt/slides/slide291.xml" ContentType="application/vnd.openxmlformats-officedocument.presentationml.slide+xml"/>
  <Override PartName="/ppt/slideMasters/slideMaster292.xml" ContentType="application/vnd.openxmlformats-officedocument.presentationml.slideMaster+xml"/>
  <Override PartName="/ppt/slides/slide292.xml" ContentType="application/vnd.openxmlformats-officedocument.presentationml.slide+xml"/>
  <Override PartName="/ppt/slideMasters/slideMaster293.xml" ContentType="application/vnd.openxmlformats-officedocument.presentationml.slideMaster+xml"/>
  <Override PartName="/ppt/slides/slide293.xml" ContentType="application/vnd.openxmlformats-officedocument.presentationml.slide+xml"/>
  <Override PartName="/ppt/slideMasters/slideMaster294.xml" ContentType="application/vnd.openxmlformats-officedocument.presentationml.slideMaster+xml"/>
  <Override PartName="/ppt/slides/slide294.xml" ContentType="application/vnd.openxmlformats-officedocument.presentationml.slide+xml"/>
  <Override PartName="/ppt/slideMasters/slideMaster295.xml" ContentType="application/vnd.openxmlformats-officedocument.presentationml.slideMaster+xml"/>
  <Override PartName="/ppt/slides/slide295.xml" ContentType="application/vnd.openxmlformats-officedocument.presentationml.slide+xml"/>
  <Override PartName="/ppt/slideMasters/slideMaster296.xml" ContentType="application/vnd.openxmlformats-officedocument.presentationml.slideMaster+xml"/>
  <Override PartName="/ppt/slides/slide296.xml" ContentType="application/vnd.openxmlformats-officedocument.presentationml.slide+xml"/>
  <Override PartName="/ppt/slideMasters/slideMaster297.xml" ContentType="application/vnd.openxmlformats-officedocument.presentationml.slideMaster+xml"/>
  <Override PartName="/ppt/slides/slide297.xml" ContentType="application/vnd.openxmlformats-officedocument.presentationml.slide+xml"/>
  <Override PartName="/ppt/slideMasters/slideMaster298.xml" ContentType="application/vnd.openxmlformats-officedocument.presentationml.slideMaster+xml"/>
  <Override PartName="/ppt/slides/slide298.xml" ContentType="application/vnd.openxmlformats-officedocument.presentationml.slide+xml"/>
  <Override PartName="/ppt/slideMasters/slideMaster299.xml" ContentType="application/vnd.openxmlformats-officedocument.presentationml.slideMaster+xml"/>
  <Override PartName="/ppt/slides/slide299.xml" ContentType="application/vnd.openxmlformats-officedocument.presentationml.slide+xml"/>
  <Override PartName="/ppt/slideMasters/slideMaster300.xml" ContentType="application/vnd.openxmlformats-officedocument.presentationml.slideMaster+xml"/>
  <Override PartName="/ppt/slides/slide300.xml" ContentType="application/vnd.openxmlformats-officedocument.presentationml.slide+xml"/>
  <Override PartName="/ppt/slideMasters/slideMaster301.xml" ContentType="application/vnd.openxmlformats-officedocument.presentationml.slideMaster+xml"/>
  <Override PartName="/ppt/slides/slide301.xml" ContentType="application/vnd.openxmlformats-officedocument.presentationml.slide+xml"/>
  <Override PartName="/ppt/slideMasters/slideMaster302.xml" ContentType="application/vnd.openxmlformats-officedocument.presentationml.slideMaster+xml"/>
  <Override PartName="/ppt/slides/slide302.xml" ContentType="application/vnd.openxmlformats-officedocument.presentationml.slide+xml"/>
  <Override PartName="/ppt/slideMasters/slideMaster303.xml" ContentType="application/vnd.openxmlformats-officedocument.presentationml.slideMaster+xml"/>
  <Override PartName="/ppt/slides/slide303.xml" ContentType="application/vnd.openxmlformats-officedocument.presentationml.slide+xml"/>
  <Override PartName="/ppt/slideMasters/slideMaster304.xml" ContentType="application/vnd.openxmlformats-officedocument.presentationml.slideMaster+xml"/>
  <Override PartName="/ppt/slides/slide304.xml" ContentType="application/vnd.openxmlformats-officedocument.presentationml.slide+xml"/>
  <Override PartName="/ppt/slideMasters/slideMaster305.xml" ContentType="application/vnd.openxmlformats-officedocument.presentationml.slideMaster+xml"/>
  <Override PartName="/ppt/slides/slide305.xml" ContentType="application/vnd.openxmlformats-officedocument.presentationml.slide+xml"/>
  <Override PartName="/ppt/slideMasters/slideMaster306.xml" ContentType="application/vnd.openxmlformats-officedocument.presentationml.slideMaster+xml"/>
  <Override PartName="/ppt/slides/slide306.xml" ContentType="application/vnd.openxmlformats-officedocument.presentationml.slide+xml"/>
  <Override PartName="/ppt/slideMasters/slideMaster307.xml" ContentType="application/vnd.openxmlformats-officedocument.presentationml.slideMaster+xml"/>
  <Override PartName="/ppt/slides/slide307.xml" ContentType="application/vnd.openxmlformats-officedocument.presentationml.slide+xml"/>
  <Override PartName="/ppt/slideMasters/slideMaster308.xml" ContentType="application/vnd.openxmlformats-officedocument.presentationml.slideMaster+xml"/>
  <Override PartName="/ppt/slides/slide308.xml" ContentType="application/vnd.openxmlformats-officedocument.presentationml.slide+xml"/>
  <Override PartName="/ppt/slideMasters/slideMaster309.xml" ContentType="application/vnd.openxmlformats-officedocument.presentationml.slideMaster+xml"/>
  <Override PartName="/ppt/slides/slide309.xml" ContentType="application/vnd.openxmlformats-officedocument.presentationml.slide+xml"/>
  <Override PartName="/ppt/slideMasters/slideMaster310.xml" ContentType="application/vnd.openxmlformats-officedocument.presentationml.slideMaster+xml"/>
  <Override PartName="/ppt/slides/slide310.xml" ContentType="application/vnd.openxmlformats-officedocument.presentationml.slide+xml"/>
  <Override PartName="/ppt/slideMasters/slideMaster311.xml" ContentType="application/vnd.openxmlformats-officedocument.presentationml.slideMaster+xml"/>
  <Override PartName="/ppt/slides/slide311.xml" ContentType="application/vnd.openxmlformats-officedocument.presentationml.slide+xml"/>
  <Override PartName="/ppt/slideMasters/slideMaster312.xml" ContentType="application/vnd.openxmlformats-officedocument.presentationml.slideMaster+xml"/>
  <Override PartName="/ppt/slides/slide312.xml" ContentType="application/vnd.openxmlformats-officedocument.presentationml.slide+xml"/>
  <Override PartName="/ppt/slideMasters/slideMaster313.xml" ContentType="application/vnd.openxmlformats-officedocument.presentationml.slideMaster+xml"/>
  <Override PartName="/ppt/slides/slide313.xml" ContentType="application/vnd.openxmlformats-officedocument.presentationml.slide+xml"/>
  <Override PartName="/ppt/slideMasters/slideMaster314.xml" ContentType="application/vnd.openxmlformats-officedocument.presentationml.slideMaster+xml"/>
  <Override PartName="/ppt/slides/slide314.xml" ContentType="application/vnd.openxmlformats-officedocument.presentationml.slide+xml"/>
  <Override PartName="/ppt/slideMasters/slideMaster315.xml" ContentType="application/vnd.openxmlformats-officedocument.presentationml.slideMaster+xml"/>
  <Override PartName="/ppt/slides/slide315.xml" ContentType="application/vnd.openxmlformats-officedocument.presentationml.slide+xml"/>
  <Override PartName="/ppt/slideMasters/slideMaster316.xml" ContentType="application/vnd.openxmlformats-officedocument.presentationml.slideMaster+xml"/>
  <Override PartName="/ppt/slides/slide316.xml" ContentType="application/vnd.openxmlformats-officedocument.presentationml.slide+xml"/>
  <Override PartName="/ppt/slideMasters/slideMaster317.xml" ContentType="application/vnd.openxmlformats-officedocument.presentationml.slideMaster+xml"/>
  <Override PartName="/ppt/slides/slide317.xml" ContentType="application/vnd.openxmlformats-officedocument.presentationml.slide+xml"/>
  <Override PartName="/ppt/slideMasters/slideMaster318.xml" ContentType="application/vnd.openxmlformats-officedocument.presentationml.slideMaster+xml"/>
  <Override PartName="/ppt/slides/slide318.xml" ContentType="application/vnd.openxmlformats-officedocument.presentationml.slide+xml"/>
  <Override PartName="/ppt/slideMasters/slideMaster319.xml" ContentType="application/vnd.openxmlformats-officedocument.presentationml.slideMaster+xml"/>
  <Override PartName="/ppt/slides/slide319.xml" ContentType="application/vnd.openxmlformats-officedocument.presentationml.slide+xml"/>
  <Override PartName="/ppt/slideMasters/slideMaster320.xml" ContentType="application/vnd.openxmlformats-officedocument.presentationml.slideMaster+xml"/>
  <Override PartName="/ppt/slides/slide320.xml" ContentType="application/vnd.openxmlformats-officedocument.presentationml.slide+xml"/>
  <Override PartName="/ppt/slideMasters/slideMaster321.xml" ContentType="application/vnd.openxmlformats-officedocument.presentationml.slideMaster+xml"/>
  <Override PartName="/ppt/slides/slide321.xml" ContentType="application/vnd.openxmlformats-officedocument.presentationml.slide+xml"/>
  <Override PartName="/ppt/slideMasters/slideMaster322.xml" ContentType="application/vnd.openxmlformats-officedocument.presentationml.slideMaster+xml"/>
  <Override PartName="/ppt/slides/slide322.xml" ContentType="application/vnd.openxmlformats-officedocument.presentationml.slide+xml"/>
  <Override PartName="/ppt/slideMasters/slideMaster323.xml" ContentType="application/vnd.openxmlformats-officedocument.presentationml.slideMaster+xml"/>
  <Override PartName="/ppt/slides/slide323.xml" ContentType="application/vnd.openxmlformats-officedocument.presentationml.slide+xml"/>
  <Override PartName="/ppt/slideMasters/slideMaster324.xml" ContentType="application/vnd.openxmlformats-officedocument.presentationml.slideMaster+xml"/>
  <Override PartName="/ppt/slides/slide324.xml" ContentType="application/vnd.openxmlformats-officedocument.presentationml.slide+xml"/>
  <Override PartName="/ppt/slideMasters/slideMaster325.xml" ContentType="application/vnd.openxmlformats-officedocument.presentationml.slideMaster+xml"/>
  <Override PartName="/ppt/slides/slide325.xml" ContentType="application/vnd.openxmlformats-officedocument.presentationml.slide+xml"/>
  <Override PartName="/ppt/slideMasters/slideMaster326.xml" ContentType="application/vnd.openxmlformats-officedocument.presentationml.slideMaster+xml"/>
  <Override PartName="/ppt/slides/slide326.xml" ContentType="application/vnd.openxmlformats-officedocument.presentationml.slide+xml"/>
  <Override PartName="/ppt/slideMasters/slideMaster327.xml" ContentType="application/vnd.openxmlformats-officedocument.presentationml.slideMaster+xml"/>
  <Override PartName="/ppt/slides/slide327.xml" ContentType="application/vnd.openxmlformats-officedocument.presentationml.slide+xml"/>
  <Override PartName="/ppt/slideMasters/slideMaster328.xml" ContentType="application/vnd.openxmlformats-officedocument.presentationml.slideMaster+xml"/>
  <Override PartName="/ppt/slides/slide328.xml" ContentType="application/vnd.openxmlformats-officedocument.presentationml.slide+xml"/>
  <Override PartName="/ppt/slideMasters/slideMaster329.xml" ContentType="application/vnd.openxmlformats-officedocument.presentationml.slideMaster+xml"/>
  <Override PartName="/ppt/slides/slide329.xml" ContentType="application/vnd.openxmlformats-officedocument.presentationml.slide+xml"/>
  <Override PartName="/ppt/slideMasters/slideMaster330.xml" ContentType="application/vnd.openxmlformats-officedocument.presentationml.slideMaster+xml"/>
  <Override PartName="/ppt/slides/slide330.xml" ContentType="application/vnd.openxmlformats-officedocument.presentationml.slide+xml"/>
  <Override PartName="/ppt/slideMasters/slideMaster331.xml" ContentType="application/vnd.openxmlformats-officedocument.presentationml.slideMaster+xml"/>
  <Override PartName="/ppt/slides/slide331.xml" ContentType="application/vnd.openxmlformats-officedocument.presentationml.slide+xml"/>
  <Override PartName="/ppt/slideMasters/slideMaster332.xml" ContentType="application/vnd.openxmlformats-officedocument.presentationml.slideMaster+xml"/>
  <Override PartName="/ppt/slides/slide332.xml" ContentType="application/vnd.openxmlformats-officedocument.presentationml.slide+xml"/>
  <Override PartName="/ppt/slideMasters/slideMaster333.xml" ContentType="application/vnd.openxmlformats-officedocument.presentationml.slideMaster+xml"/>
  <Override PartName="/ppt/slides/slide333.xml" ContentType="application/vnd.openxmlformats-officedocument.presentationml.slide+xml"/>
  <Override PartName="/ppt/slideMasters/slideMaster334.xml" ContentType="application/vnd.openxmlformats-officedocument.presentationml.slideMaster+xml"/>
  <Override PartName="/ppt/slides/slide334.xml" ContentType="application/vnd.openxmlformats-officedocument.presentationml.slide+xml"/>
  <Override PartName="/ppt/slideMasters/slideMaster335.xml" ContentType="application/vnd.openxmlformats-officedocument.presentationml.slideMaster+xml"/>
  <Override PartName="/ppt/slides/slide335.xml" ContentType="application/vnd.openxmlformats-officedocument.presentationml.slide+xml"/>
  <Override PartName="/ppt/slideMasters/slideMaster336.xml" ContentType="application/vnd.openxmlformats-officedocument.presentationml.slideMaster+xml"/>
  <Override PartName="/ppt/slides/slide336.xml" ContentType="application/vnd.openxmlformats-officedocument.presentationml.slide+xml"/>
  <Override PartName="/ppt/slideMasters/slideMaster337.xml" ContentType="application/vnd.openxmlformats-officedocument.presentationml.slideMaster+xml"/>
  <Override PartName="/ppt/slides/slide337.xml" ContentType="application/vnd.openxmlformats-officedocument.presentationml.slide+xml"/>
  <Override PartName="/ppt/slideMasters/slideMaster338.xml" ContentType="application/vnd.openxmlformats-officedocument.presentationml.slideMaster+xml"/>
  <Override PartName="/ppt/slides/slide338.xml" ContentType="application/vnd.openxmlformats-officedocument.presentationml.slide+xml"/>
  <Override PartName="/ppt/slideMasters/slideMaster339.xml" ContentType="application/vnd.openxmlformats-officedocument.presentationml.slideMaster+xml"/>
  <Override PartName="/ppt/slides/slide339.xml" ContentType="application/vnd.openxmlformats-officedocument.presentationml.slide+xml"/>
  <Override PartName="/ppt/slideMasters/slideMaster340.xml" ContentType="application/vnd.openxmlformats-officedocument.presentationml.slideMaster+xml"/>
  <Override PartName="/ppt/slides/slide340.xml" ContentType="application/vnd.openxmlformats-officedocument.presentationml.slide+xml"/>
  <Override PartName="/ppt/slideMasters/slideMaster341.xml" ContentType="application/vnd.openxmlformats-officedocument.presentationml.slideMaster+xml"/>
  <Override PartName="/ppt/slides/slide341.xml" ContentType="application/vnd.openxmlformats-officedocument.presentationml.slide+xml"/>
  <Override PartName="/ppt/slideMasters/slideMaster342.xml" ContentType="application/vnd.openxmlformats-officedocument.presentationml.slideMaster+xml"/>
  <Override PartName="/ppt/slides/slide342.xml" ContentType="application/vnd.openxmlformats-officedocument.presentationml.slide+xml"/>
  <Override PartName="/ppt/slideMasters/slideMaster343.xml" ContentType="application/vnd.openxmlformats-officedocument.presentationml.slideMaster+xml"/>
  <Override PartName="/ppt/slides/slide343.xml" ContentType="application/vnd.openxmlformats-officedocument.presentationml.slide+xml"/>
  <Override PartName="/ppt/slideMasters/slideMaster344.xml" ContentType="application/vnd.openxmlformats-officedocument.presentationml.slideMaster+xml"/>
  <Override PartName="/ppt/slides/slide344.xml" ContentType="application/vnd.openxmlformats-officedocument.presentationml.slide+xml"/>
  <Override PartName="/ppt/slideMasters/slideMaster345.xml" ContentType="application/vnd.openxmlformats-officedocument.presentationml.slideMaster+xml"/>
  <Override PartName="/ppt/slides/slide345.xml" ContentType="application/vnd.openxmlformats-officedocument.presentationml.slide+xml"/>
  <Override PartName="/ppt/slideMasters/slideMaster346.xml" ContentType="application/vnd.openxmlformats-officedocument.presentationml.slideMaster+xml"/>
  <Override PartName="/ppt/slides/slide346.xml" ContentType="application/vnd.openxmlformats-officedocument.presentationml.slide+xml"/>
  <Override PartName="/ppt/slideMasters/slideMaster347.xml" ContentType="application/vnd.openxmlformats-officedocument.presentationml.slideMaster+xml"/>
  <Override PartName="/ppt/slides/slide347.xml" ContentType="application/vnd.openxmlformats-officedocument.presentationml.slide+xml"/>
  <Override PartName="/ppt/slideMasters/slideMaster348.xml" ContentType="application/vnd.openxmlformats-officedocument.presentationml.slideMaster+xml"/>
  <Override PartName="/ppt/slides/slide348.xml" ContentType="application/vnd.openxmlformats-officedocument.presentationml.slide+xml"/>
  <Override PartName="/ppt/slideMasters/slideMaster349.xml" ContentType="application/vnd.openxmlformats-officedocument.presentationml.slideMaster+xml"/>
  <Override PartName="/ppt/slides/slide349.xml" ContentType="application/vnd.openxmlformats-officedocument.presentationml.slide+xml"/>
  <Override PartName="/ppt/slideMasters/slideMaster350.xml" ContentType="application/vnd.openxmlformats-officedocument.presentationml.slideMaster+xml"/>
  <Override PartName="/ppt/slides/slide350.xml" ContentType="application/vnd.openxmlformats-officedocument.presentationml.slide+xml"/>
  <Override PartName="/ppt/slideMasters/slideMaster351.xml" ContentType="application/vnd.openxmlformats-officedocument.presentationml.slideMaster+xml"/>
  <Override PartName="/ppt/slides/slide351.xml" ContentType="application/vnd.openxmlformats-officedocument.presentationml.slide+xml"/>
  <Override PartName="/ppt/slideMasters/slideMaster352.xml" ContentType="application/vnd.openxmlformats-officedocument.presentationml.slideMaster+xml"/>
  <Override PartName="/ppt/slides/slide352.xml" ContentType="application/vnd.openxmlformats-officedocument.presentationml.slide+xml"/>
  <Override PartName="/ppt/slideMasters/slideMaster353.xml" ContentType="application/vnd.openxmlformats-officedocument.presentationml.slideMaster+xml"/>
  <Override PartName="/ppt/slides/slide353.xml" ContentType="application/vnd.openxmlformats-officedocument.presentationml.slide+xml"/>
  <Override PartName="/ppt/slideMasters/slideMaster354.xml" ContentType="application/vnd.openxmlformats-officedocument.presentationml.slideMaster+xml"/>
  <Override PartName="/ppt/slides/slide354.xml" ContentType="application/vnd.openxmlformats-officedocument.presentationml.slide+xml"/>
  <Override PartName="/ppt/slideMasters/slideMaster355.xml" ContentType="application/vnd.openxmlformats-officedocument.presentationml.slideMaster+xml"/>
  <Override PartName="/ppt/slides/slide355.xml" ContentType="application/vnd.openxmlformats-officedocument.presentationml.slide+xml"/>
  <Override PartName="/ppt/slideMasters/slideMaster356.xml" ContentType="application/vnd.openxmlformats-officedocument.presentationml.slideMaster+xml"/>
  <Override PartName="/ppt/slides/slide356.xml" ContentType="application/vnd.openxmlformats-officedocument.presentationml.slide+xml"/>
  <Override PartName="/ppt/slideMasters/slideMaster357.xml" ContentType="application/vnd.openxmlformats-officedocument.presentationml.slideMaster+xml"/>
  <Override PartName="/ppt/slides/slide357.xml" ContentType="application/vnd.openxmlformats-officedocument.presentationml.slide+xml"/>
  <Override PartName="/ppt/slideMasters/slideMaster358.xml" ContentType="application/vnd.openxmlformats-officedocument.presentationml.slideMaster+xml"/>
  <Override PartName="/ppt/slides/slide358.xml" ContentType="application/vnd.openxmlformats-officedocument.presentationml.slide+xml"/>
  <Override PartName="/ppt/slideMasters/slideMaster359.xml" ContentType="application/vnd.openxmlformats-officedocument.presentationml.slideMaster+xml"/>
  <Override PartName="/ppt/slides/slide359.xml" ContentType="application/vnd.openxmlformats-officedocument.presentationml.slide+xml"/>
  <Override PartName="/ppt/slideMasters/slideMaster360.xml" ContentType="application/vnd.openxmlformats-officedocument.presentationml.slideMaster+xml"/>
  <Override PartName="/ppt/slides/slide360.xml" ContentType="application/vnd.openxmlformats-officedocument.presentationml.slide+xml"/>
  <Override PartName="/ppt/slideMasters/slideMaster361.xml" ContentType="application/vnd.openxmlformats-officedocument.presentationml.slideMaster+xml"/>
  <Override PartName="/ppt/slides/slide361.xml" ContentType="application/vnd.openxmlformats-officedocument.presentationml.slide+xml"/>
  <Override PartName="/ppt/slideMasters/slideMaster362.xml" ContentType="application/vnd.openxmlformats-officedocument.presentationml.slideMaster+xml"/>
  <Override PartName="/ppt/slides/slide362.xml" ContentType="application/vnd.openxmlformats-officedocument.presentationml.slide+xml"/>
  <Override PartName="/ppt/slideMasters/slideMaster363.xml" ContentType="application/vnd.openxmlformats-officedocument.presentationml.slideMaster+xml"/>
  <Override PartName="/ppt/slides/slide363.xml" ContentType="application/vnd.openxmlformats-officedocument.presentationml.slide+xml"/>
  <Override PartName="/ppt/slideMasters/slideMaster364.xml" ContentType="application/vnd.openxmlformats-officedocument.presentationml.slideMaster+xml"/>
  <Override PartName="/ppt/slides/slide364.xml" ContentType="application/vnd.openxmlformats-officedocument.presentationml.slide+xml"/>
  <Override PartName="/ppt/slideMasters/slideMaster365.xml" ContentType="application/vnd.openxmlformats-officedocument.presentationml.slideMaster+xml"/>
  <Override PartName="/ppt/slides/slide365.xml" ContentType="application/vnd.openxmlformats-officedocument.presentationml.slide+xml"/>
  <Override PartName="/ppt/slideMasters/slideMaster366.xml" ContentType="application/vnd.openxmlformats-officedocument.presentationml.slideMaster+xml"/>
  <Override PartName="/ppt/slides/slide366.xml" ContentType="application/vnd.openxmlformats-officedocument.presentationml.slide+xml"/>
  <Override PartName="/ppt/slideMasters/slideMaster367.xml" ContentType="application/vnd.openxmlformats-officedocument.presentationml.slideMaster+xml"/>
  <Override PartName="/ppt/slides/slide367.xml" ContentType="application/vnd.openxmlformats-officedocument.presentationml.slide+xml"/>
  <Override PartName="/ppt/slideMasters/slideMaster368.xml" ContentType="application/vnd.openxmlformats-officedocument.presentationml.slideMaster+xml"/>
  <Override PartName="/ppt/slides/slide368.xml" ContentType="application/vnd.openxmlformats-officedocument.presentationml.slide+xml"/>
  <Override PartName="/ppt/slideMasters/slideMaster369.xml" ContentType="application/vnd.openxmlformats-officedocument.presentationml.slideMaster+xml"/>
  <Override PartName="/ppt/slides/slide369.xml" ContentType="application/vnd.openxmlformats-officedocument.presentationml.slide+xml"/>
  <Override PartName="/ppt/slideMasters/slideMaster370.xml" ContentType="application/vnd.openxmlformats-officedocument.presentationml.slideMaster+xml"/>
  <Override PartName="/ppt/slides/slide370.xml" ContentType="application/vnd.openxmlformats-officedocument.presentationml.slide+xml"/>
  <Override PartName="/ppt/slideMasters/slideMaster371.xml" ContentType="application/vnd.openxmlformats-officedocument.presentationml.slideMaster+xml"/>
  <Override PartName="/ppt/slides/slide371.xml" ContentType="application/vnd.openxmlformats-officedocument.presentationml.slide+xml"/>
  <Override PartName="/ppt/slideMasters/slideMaster372.xml" ContentType="application/vnd.openxmlformats-officedocument.presentationml.slideMaster+xml"/>
  <Override PartName="/ppt/slides/slide372.xml" ContentType="application/vnd.openxmlformats-officedocument.presentationml.slide+xml"/>
  <Override PartName="/ppt/slideMasters/slideMaster373.xml" ContentType="application/vnd.openxmlformats-officedocument.presentationml.slideMaster+xml"/>
  <Override PartName="/ppt/slides/slide373.xml" ContentType="application/vnd.openxmlformats-officedocument.presentationml.slide+xml"/>
  <Override PartName="/ppt/slideMasters/slideMaster374.xml" ContentType="application/vnd.openxmlformats-officedocument.presentationml.slideMaster+xml"/>
  <Override PartName="/ppt/slides/slide374.xml" ContentType="application/vnd.openxmlformats-officedocument.presentationml.slide+xml"/>
  <Override PartName="/ppt/slideMasters/slideMaster375.xml" ContentType="application/vnd.openxmlformats-officedocument.presentationml.slideMaster+xml"/>
  <Override PartName="/ppt/slides/slide375.xml" ContentType="application/vnd.openxmlformats-officedocument.presentationml.slide+xml"/>
  <Override PartName="/ppt/slideMasters/slideMaster376.xml" ContentType="application/vnd.openxmlformats-officedocument.presentationml.slideMaster+xml"/>
  <Override PartName="/ppt/slides/slide376.xml" ContentType="application/vnd.openxmlformats-officedocument.presentationml.slide+xml"/>
  <Override PartName="/ppt/slideMasters/slideMaster377.xml" ContentType="application/vnd.openxmlformats-officedocument.presentationml.slideMaster+xml"/>
  <Override PartName="/ppt/slides/slide377.xml" ContentType="application/vnd.openxmlformats-officedocument.presentationml.slide+xml"/>
  <Override PartName="/ppt/slideMasters/slideMaster378.xml" ContentType="application/vnd.openxmlformats-officedocument.presentationml.slideMaster+xml"/>
  <Override PartName="/ppt/slides/slide378.xml" ContentType="application/vnd.openxmlformats-officedocument.presentationml.slide+xml"/>
  <Override PartName="/ppt/slideMasters/slideMaster379.xml" ContentType="application/vnd.openxmlformats-officedocument.presentationml.slideMaster+xml"/>
  <Override PartName="/ppt/slides/slide379.xml" ContentType="application/vnd.openxmlformats-officedocument.presentationml.slide+xml"/>
  <Override PartName="/ppt/slideMasters/slideMaster380.xml" ContentType="application/vnd.openxmlformats-officedocument.presentationml.slideMaster+xml"/>
  <Override PartName="/ppt/slides/slide380.xml" ContentType="application/vnd.openxmlformats-officedocument.presentationml.slide+xml"/>
  <Override PartName="/ppt/slideMasters/slideMaster381.xml" ContentType="application/vnd.openxmlformats-officedocument.presentationml.slideMaster+xml"/>
  <Override PartName="/ppt/slides/slide381.xml" ContentType="application/vnd.openxmlformats-officedocument.presentationml.slide+xml"/>
  <Override PartName="/ppt/slideMasters/slideMaster382.xml" ContentType="application/vnd.openxmlformats-officedocument.presentationml.slideMaster+xml"/>
  <Override PartName="/ppt/slides/slide382.xml" ContentType="application/vnd.openxmlformats-officedocument.presentationml.slide+xml"/>
  <Override PartName="/ppt/slideMasters/slideMaster383.xml" ContentType="application/vnd.openxmlformats-officedocument.presentationml.slideMaster+xml"/>
  <Override PartName="/ppt/slides/slide383.xml" ContentType="application/vnd.openxmlformats-officedocument.presentationml.slide+xml"/>
  <Override PartName="/ppt/slideMasters/slideMaster384.xml" ContentType="application/vnd.openxmlformats-officedocument.presentationml.slideMaster+xml"/>
  <Override PartName="/ppt/slides/slide384.xml" ContentType="application/vnd.openxmlformats-officedocument.presentationml.slide+xml"/>
  <Override PartName="/ppt/slideMasters/slideMaster385.xml" ContentType="application/vnd.openxmlformats-officedocument.presentationml.slideMaster+xml"/>
  <Override PartName="/ppt/slides/slide385.xml" ContentType="application/vnd.openxmlformats-officedocument.presentationml.slide+xml"/>
  <Override PartName="/ppt/slideMasters/slideMaster386.xml" ContentType="application/vnd.openxmlformats-officedocument.presentationml.slideMaster+xml"/>
  <Override PartName="/ppt/slides/slide386.xml" ContentType="application/vnd.openxmlformats-officedocument.presentationml.slide+xml"/>
  <Override PartName="/ppt/slideMasters/slideMaster387.xml" ContentType="application/vnd.openxmlformats-officedocument.presentationml.slideMaster+xml"/>
  <Override PartName="/ppt/slides/slide387.xml" ContentType="application/vnd.openxmlformats-officedocument.presentationml.slide+xml"/>
  <Override PartName="/ppt/slideMasters/slideMaster388.xml" ContentType="application/vnd.openxmlformats-officedocument.presentationml.slideMaster+xml"/>
  <Override PartName="/ppt/slides/slide388.xml" ContentType="application/vnd.openxmlformats-officedocument.presentationml.slide+xml"/>
  <Override PartName="/ppt/slideMasters/slideMaster389.xml" ContentType="application/vnd.openxmlformats-officedocument.presentationml.slideMaster+xml"/>
  <Override PartName="/ppt/slides/slide389.xml" ContentType="application/vnd.openxmlformats-officedocument.presentationml.slide+xml"/>
  <Override PartName="/ppt/slideMasters/slideMaster390.xml" ContentType="application/vnd.openxmlformats-officedocument.presentationml.slideMaster+xml"/>
  <Override PartName="/ppt/slides/slide390.xml" ContentType="application/vnd.openxmlformats-officedocument.presentationml.slide+xml"/>
  <Override PartName="/ppt/slideMasters/slideMaster391.xml" ContentType="application/vnd.openxmlformats-officedocument.presentationml.slideMaster+xml"/>
  <Override PartName="/ppt/slides/slide391.xml" ContentType="application/vnd.openxmlformats-officedocument.presentationml.slide+xml"/>
  <Override PartName="/ppt/slideMasters/slideMaster392.xml" ContentType="application/vnd.openxmlformats-officedocument.presentationml.slideMaster+xml"/>
  <Override PartName="/ppt/slides/slide392.xml" ContentType="application/vnd.openxmlformats-officedocument.presentationml.slide+xml"/>
  <Override PartName="/ppt/slideMasters/slideMaster393.xml" ContentType="application/vnd.openxmlformats-officedocument.presentationml.slideMaster+xml"/>
  <Override PartName="/ppt/slides/slide393.xml" ContentType="application/vnd.openxmlformats-officedocument.presentationml.slide+xml"/>
  <Override PartName="/ppt/slideMasters/slideMaster394.xml" ContentType="application/vnd.openxmlformats-officedocument.presentationml.slideMaster+xml"/>
  <Override PartName="/ppt/slides/slide394.xml" ContentType="application/vnd.openxmlformats-officedocument.presentationml.slide+xml"/>
  <Override PartName="/ppt/slideMasters/slideMaster395.xml" ContentType="application/vnd.openxmlformats-officedocument.presentationml.slideMaster+xml"/>
  <Override PartName="/ppt/slides/slide395.xml" ContentType="application/vnd.openxmlformats-officedocument.presentationml.slide+xml"/>
  <Override PartName="/ppt/slideMasters/slideMaster396.xml" ContentType="application/vnd.openxmlformats-officedocument.presentationml.slideMaster+xml"/>
  <Override PartName="/ppt/slides/slide396.xml" ContentType="application/vnd.openxmlformats-officedocument.presentationml.slide+xml"/>
  <Override PartName="/ppt/slideMasters/slideMaster397.xml" ContentType="application/vnd.openxmlformats-officedocument.presentationml.slideMaster+xml"/>
  <Override PartName="/ppt/slides/slide397.xml" ContentType="application/vnd.openxmlformats-officedocument.presentationml.slide+xml"/>
  <Override PartName="/ppt/slideMasters/slideMaster398.xml" ContentType="application/vnd.openxmlformats-officedocument.presentationml.slideMaster+xml"/>
  <Override PartName="/ppt/slides/slide398.xml" ContentType="application/vnd.openxmlformats-officedocument.presentationml.slide+xml"/>
  <Override PartName="/ppt/slideMasters/slideMaster399.xml" ContentType="application/vnd.openxmlformats-officedocument.presentationml.slideMaster+xml"/>
  <Override PartName="/ppt/slides/slide399.xml" ContentType="application/vnd.openxmlformats-officedocument.presentationml.slide+xml"/>
  <Override PartName="/ppt/slideMasters/slideMaster400.xml" ContentType="application/vnd.openxmlformats-officedocument.presentationml.slideMaster+xml"/>
  <Override PartName="/ppt/slides/slide400.xml" ContentType="application/vnd.openxmlformats-officedocument.presentationml.slide+xml"/>
  <Override PartName="/ppt/slideMasters/slideMaster401.xml" ContentType="application/vnd.openxmlformats-officedocument.presentationml.slideMaster+xml"/>
  <Override PartName="/ppt/slides/slide401.xml" ContentType="application/vnd.openxmlformats-officedocument.presentationml.slide+xml"/>
  <Override PartName="/ppt/slideMasters/slideMaster402.xml" ContentType="application/vnd.openxmlformats-officedocument.presentationml.slideMaster+xml"/>
  <Override PartName="/ppt/slides/slide402.xml" ContentType="application/vnd.openxmlformats-officedocument.presentationml.slide+xml"/>
  <Override PartName="/ppt/slideMasters/slideMaster403.xml" ContentType="application/vnd.openxmlformats-officedocument.presentationml.slideMaster+xml"/>
  <Override PartName="/ppt/slides/slide403.xml" ContentType="application/vnd.openxmlformats-officedocument.presentationml.slide+xml"/>
  <Override PartName="/ppt/slideMasters/slideMaster404.xml" ContentType="application/vnd.openxmlformats-officedocument.presentationml.slideMaster+xml"/>
  <Override PartName="/ppt/slides/slide404.xml" ContentType="application/vnd.openxmlformats-officedocument.presentationml.slide+xml"/>
  <Override PartName="/ppt/slideMasters/slideMaster405.xml" ContentType="application/vnd.openxmlformats-officedocument.presentationml.slideMaster+xml"/>
  <Override PartName="/ppt/slides/slide405.xml" ContentType="application/vnd.openxmlformats-officedocument.presentationml.slide+xml"/>
  <Override PartName="/ppt/slideMasters/slideMaster406.xml" ContentType="application/vnd.openxmlformats-officedocument.presentationml.slideMaster+xml"/>
  <Override PartName="/ppt/slides/slide406.xml" ContentType="application/vnd.openxmlformats-officedocument.presentationml.slide+xml"/>
  <Override PartName="/ppt/slideMasters/slideMaster407.xml" ContentType="application/vnd.openxmlformats-officedocument.presentationml.slideMaster+xml"/>
  <Override PartName="/ppt/slides/slide407.xml" ContentType="application/vnd.openxmlformats-officedocument.presentationml.slide+xml"/>
  <Override PartName="/ppt/slideMasters/slideMaster408.xml" ContentType="application/vnd.openxmlformats-officedocument.presentationml.slideMaster+xml"/>
  <Override PartName="/ppt/slides/slide408.xml" ContentType="application/vnd.openxmlformats-officedocument.presentationml.slide+xml"/>
  <Override PartName="/ppt/slideMasters/slideMaster409.xml" ContentType="application/vnd.openxmlformats-officedocument.presentationml.slideMaster+xml"/>
  <Override PartName="/ppt/slides/slide409.xml" ContentType="application/vnd.openxmlformats-officedocument.presentationml.slide+xml"/>
  <Override PartName="/ppt/slideMasters/slideMaster410.xml" ContentType="application/vnd.openxmlformats-officedocument.presentationml.slideMaster+xml"/>
  <Override PartName="/ppt/slides/slide410.xml" ContentType="application/vnd.openxmlformats-officedocument.presentationml.slide+xml"/>
  <Override PartName="/ppt/slideMasters/slideMaster411.xml" ContentType="application/vnd.openxmlformats-officedocument.presentationml.slideMaster+xml"/>
  <Override PartName="/ppt/slides/slide411.xml" ContentType="application/vnd.openxmlformats-officedocument.presentationml.slide+xml"/>
  <Override PartName="/ppt/slideMasters/slideMaster412.xml" ContentType="application/vnd.openxmlformats-officedocument.presentationml.slideMaster+xml"/>
  <Override PartName="/ppt/slides/slide412.xml" ContentType="application/vnd.openxmlformats-officedocument.presentationml.slide+xml"/>
  <Override PartName="/ppt/slideMasters/slideMaster413.xml" ContentType="application/vnd.openxmlformats-officedocument.presentationml.slideMaster+xml"/>
  <Override PartName="/ppt/slides/slide413.xml" ContentType="application/vnd.openxmlformats-officedocument.presentationml.slide+xml"/>
  <Override PartName="/ppt/slideMasters/slideMaster414.xml" ContentType="application/vnd.openxmlformats-officedocument.presentationml.slideMaster+xml"/>
  <Override PartName="/ppt/slides/slide414.xml" ContentType="application/vnd.openxmlformats-officedocument.presentationml.slide+xml"/>
  <Override PartName="/ppt/slideMasters/slideMaster415.xml" ContentType="application/vnd.openxmlformats-officedocument.presentationml.slideMaster+xml"/>
  <Override PartName="/ppt/slides/slide415.xml" ContentType="application/vnd.openxmlformats-officedocument.presentationml.slide+xml"/>
  <Override PartName="/ppt/slideMasters/slideMaster416.xml" ContentType="application/vnd.openxmlformats-officedocument.presentationml.slideMaster+xml"/>
  <Override PartName="/ppt/slides/slide416.xml" ContentType="application/vnd.openxmlformats-officedocument.presentationml.slide+xml"/>
  <Override PartName="/ppt/slideMasters/slideMaster417.xml" ContentType="application/vnd.openxmlformats-officedocument.presentationml.slideMaster+xml"/>
  <Override PartName="/ppt/slides/slide417.xml" ContentType="application/vnd.openxmlformats-officedocument.presentationml.slide+xml"/>
  <Override PartName="/ppt/slideMasters/slideMaster418.xml" ContentType="application/vnd.openxmlformats-officedocument.presentationml.slideMaster+xml"/>
  <Override PartName="/ppt/slides/slide418.xml" ContentType="application/vnd.openxmlformats-officedocument.presentationml.slide+xml"/>
  <Override PartName="/ppt/slideMasters/slideMaster419.xml" ContentType="application/vnd.openxmlformats-officedocument.presentationml.slideMaster+xml"/>
  <Override PartName="/ppt/slides/slide419.xml" ContentType="application/vnd.openxmlformats-officedocument.presentationml.slide+xml"/>
  <Override PartName="/ppt/slideMasters/slideMaster420.xml" ContentType="application/vnd.openxmlformats-officedocument.presentationml.slideMaster+xml"/>
  <Override PartName="/ppt/slides/slide420.xml" ContentType="application/vnd.openxmlformats-officedocument.presentationml.slide+xml"/>
  <Override PartName="/ppt/slideMasters/slideMaster421.xml" ContentType="application/vnd.openxmlformats-officedocument.presentationml.slideMaster+xml"/>
  <Override PartName="/ppt/slides/slide421.xml" ContentType="application/vnd.openxmlformats-officedocument.presentationml.slide+xml"/>
  <Override PartName="/ppt/slideMasters/slideMaster422.xml" ContentType="application/vnd.openxmlformats-officedocument.presentationml.slideMaster+xml"/>
  <Override PartName="/ppt/slides/slide422.xml" ContentType="application/vnd.openxmlformats-officedocument.presentationml.slide+xml"/>
  <Override PartName="/ppt/slideMasters/slideMaster423.xml" ContentType="application/vnd.openxmlformats-officedocument.presentationml.slideMaster+xml"/>
  <Override PartName="/ppt/slides/slide423.xml" ContentType="application/vnd.openxmlformats-officedocument.presentationml.slide+xml"/>
  <Override PartName="/ppt/slideMasters/slideMaster424.xml" ContentType="application/vnd.openxmlformats-officedocument.presentationml.slideMaster+xml"/>
  <Override PartName="/ppt/slides/slide424.xml" ContentType="application/vnd.openxmlformats-officedocument.presentationml.slide+xml"/>
  <Override PartName="/ppt/slideMasters/slideMaster425.xml" ContentType="application/vnd.openxmlformats-officedocument.presentationml.slideMaster+xml"/>
  <Override PartName="/ppt/slides/slide425.xml" ContentType="application/vnd.openxmlformats-officedocument.presentationml.slide+xml"/>
  <Override PartName="/ppt/slideMasters/slideMaster426.xml" ContentType="application/vnd.openxmlformats-officedocument.presentationml.slideMaster+xml"/>
  <Override PartName="/ppt/slides/slide426.xml" ContentType="application/vnd.openxmlformats-officedocument.presentationml.slide+xml"/>
  <Override PartName="/ppt/slideMasters/slideMaster427.xml" ContentType="application/vnd.openxmlformats-officedocument.presentationml.slideMaster+xml"/>
  <Override PartName="/ppt/slides/slide427.xml" ContentType="application/vnd.openxmlformats-officedocument.presentationml.slide+xml"/>
  <Override PartName="/ppt/slideMasters/slideMaster428.xml" ContentType="application/vnd.openxmlformats-officedocument.presentationml.slideMaster+xml"/>
  <Override PartName="/ppt/slides/slide428.xml" ContentType="application/vnd.openxmlformats-officedocument.presentationml.slide+xml"/>
  <Override PartName="/ppt/slideMasters/slideMaster429.xml" ContentType="application/vnd.openxmlformats-officedocument.presentationml.slideMaster+xml"/>
  <Override PartName="/ppt/slides/slide429.xml" ContentType="application/vnd.openxmlformats-officedocument.presentationml.slide+xml"/>
  <Override PartName="/ppt/slideMasters/slideMaster430.xml" ContentType="application/vnd.openxmlformats-officedocument.presentationml.slideMaster+xml"/>
  <Override PartName="/ppt/slides/slide430.xml" ContentType="application/vnd.openxmlformats-officedocument.presentationml.slide+xml"/>
  <Override PartName="/ppt/slideMasters/slideMaster431.xml" ContentType="application/vnd.openxmlformats-officedocument.presentationml.slideMaster+xml"/>
  <Override PartName="/ppt/slides/slide431.xml" ContentType="application/vnd.openxmlformats-officedocument.presentationml.slide+xml"/>
  <Override PartName="/ppt/slideMasters/slideMaster432.xml" ContentType="application/vnd.openxmlformats-officedocument.presentationml.slideMaster+xml"/>
  <Override PartName="/ppt/slides/slide432.xml" ContentType="application/vnd.openxmlformats-officedocument.presentationml.slide+xml"/>
  <Override PartName="/ppt/slideMasters/slideMaster433.xml" ContentType="application/vnd.openxmlformats-officedocument.presentationml.slideMaster+xml"/>
  <Override PartName="/ppt/slides/slide433.xml" ContentType="application/vnd.openxmlformats-officedocument.presentationml.slide+xml"/>
  <Override PartName="/ppt/slideMasters/slideMaster434.xml" ContentType="application/vnd.openxmlformats-officedocument.presentationml.slideMaster+xml"/>
  <Override PartName="/ppt/slides/slide434.xml" ContentType="application/vnd.openxmlformats-officedocument.presentationml.slide+xml"/>
  <Override PartName="/ppt/slideMasters/slideMaster435.xml" ContentType="application/vnd.openxmlformats-officedocument.presentationml.slideMaster+xml"/>
  <Override PartName="/ppt/slides/slide435.xml" ContentType="application/vnd.openxmlformats-officedocument.presentationml.slide+xml"/>
  <Override PartName="/ppt/slideMasters/slideMaster436.xml" ContentType="application/vnd.openxmlformats-officedocument.presentationml.slideMaster+xml"/>
  <Override PartName="/ppt/slides/slide436.xml" ContentType="application/vnd.openxmlformats-officedocument.presentationml.slide+xml"/>
  <Override PartName="/ppt/slideMasters/slideMaster437.xml" ContentType="application/vnd.openxmlformats-officedocument.presentationml.slideMaster+xml"/>
  <Override PartName="/ppt/slides/slide437.xml" ContentType="application/vnd.openxmlformats-officedocument.presentationml.slide+xml"/>
  <Override PartName="/ppt/slideMasters/slideMaster438.xml" ContentType="application/vnd.openxmlformats-officedocument.presentationml.slideMaster+xml"/>
  <Override PartName="/ppt/slides/slide438.xml" ContentType="application/vnd.openxmlformats-officedocument.presentationml.slide+xml"/>
  <Override PartName="/ppt/slideMasters/slideMaster439.xml" ContentType="application/vnd.openxmlformats-officedocument.presentationml.slideMaster+xml"/>
  <Override PartName="/ppt/slides/slide439.xml" ContentType="application/vnd.openxmlformats-officedocument.presentationml.slide+xml"/>
  <Override PartName="/ppt/slideMasters/slideMaster440.xml" ContentType="application/vnd.openxmlformats-officedocument.presentationml.slideMaster+xml"/>
  <Override PartName="/ppt/slides/slide440.xml" ContentType="application/vnd.openxmlformats-officedocument.presentationml.slide+xml"/>
  <Override PartName="/ppt/slideMasters/slideMaster441.xml" ContentType="application/vnd.openxmlformats-officedocument.presentationml.slideMaster+xml"/>
  <Override PartName="/ppt/slides/slide441.xml" ContentType="application/vnd.openxmlformats-officedocument.presentationml.slide+xml"/>
  <Override PartName="/ppt/slideMasters/slideMaster442.xml" ContentType="application/vnd.openxmlformats-officedocument.presentationml.slideMaster+xml"/>
  <Override PartName="/ppt/slides/slide442.xml" ContentType="application/vnd.openxmlformats-officedocument.presentationml.slide+xml"/>
  <Override PartName="/ppt/slideMasters/slideMaster443.xml" ContentType="application/vnd.openxmlformats-officedocument.presentationml.slideMaster+xml"/>
  <Override PartName="/ppt/slides/slide443.xml" ContentType="application/vnd.openxmlformats-officedocument.presentationml.slide+xml"/>
  <Override PartName="/ppt/slideMasters/slideMaster444.xml" ContentType="application/vnd.openxmlformats-officedocument.presentationml.slideMaster+xml"/>
  <Override PartName="/ppt/slides/slide444.xml" ContentType="application/vnd.openxmlformats-officedocument.presentationml.slide+xml"/>
  <Override PartName="/ppt/slideMasters/slideMaster445.xml" ContentType="application/vnd.openxmlformats-officedocument.presentationml.slideMaster+xml"/>
  <Override PartName="/ppt/slides/slide445.xml" ContentType="application/vnd.openxmlformats-officedocument.presentationml.slide+xml"/>
  <Override PartName="/ppt/slideMasters/slideMaster446.xml" ContentType="application/vnd.openxmlformats-officedocument.presentationml.slideMaster+xml"/>
  <Override PartName="/ppt/slides/slide446.xml" ContentType="application/vnd.openxmlformats-officedocument.presentationml.slide+xml"/>
  <Override PartName="/ppt/slideMasters/slideMaster447.xml" ContentType="application/vnd.openxmlformats-officedocument.presentationml.slideMaster+xml"/>
  <Override PartName="/ppt/slides/slide447.xml" ContentType="application/vnd.openxmlformats-officedocument.presentationml.slide+xml"/>
  <Override PartName="/ppt/slideMasters/slideMaster448.xml" ContentType="application/vnd.openxmlformats-officedocument.presentationml.slideMaster+xml"/>
  <Override PartName="/ppt/slides/slide448.xml" ContentType="application/vnd.openxmlformats-officedocument.presentationml.slide+xml"/>
  <Override PartName="/ppt/slideMasters/slideMaster449.xml" ContentType="application/vnd.openxmlformats-officedocument.presentationml.slideMaster+xml"/>
  <Override PartName="/ppt/slides/slide449.xml" ContentType="application/vnd.openxmlformats-officedocument.presentationml.slide+xml"/>
  <Override PartName="/ppt/slideMasters/slideMaster450.xml" ContentType="application/vnd.openxmlformats-officedocument.presentationml.slideMaster+xml"/>
  <Override PartName="/ppt/slides/slide450.xml" ContentType="application/vnd.openxmlformats-officedocument.presentationml.slide+xml"/>
  <Override PartName="/ppt/slideMasters/slideMaster451.xml" ContentType="application/vnd.openxmlformats-officedocument.presentationml.slideMaster+xml"/>
  <Override PartName="/ppt/slides/slide451.xml" ContentType="application/vnd.openxmlformats-officedocument.presentationml.slide+xml"/>
  <Override PartName="/ppt/slideMasters/slideMaster452.xml" ContentType="application/vnd.openxmlformats-officedocument.presentationml.slideMaster+xml"/>
  <Override PartName="/ppt/slides/slide452.xml" ContentType="application/vnd.openxmlformats-officedocument.presentationml.slide+xml"/>
  <Override PartName="/ppt/slideMasters/slideMaster453.xml" ContentType="application/vnd.openxmlformats-officedocument.presentationml.slideMaster+xml"/>
  <Override PartName="/ppt/slides/slide453.xml" ContentType="application/vnd.openxmlformats-officedocument.presentationml.slide+xml"/>
  <Override PartName="/ppt/slideMasters/slideMaster454.xml" ContentType="application/vnd.openxmlformats-officedocument.presentationml.slideMaster+xml"/>
  <Override PartName="/ppt/slides/slide454.xml" ContentType="application/vnd.openxmlformats-officedocument.presentationml.slide+xml"/>
  <Override PartName="/ppt/slideMasters/slideMaster455.xml" ContentType="application/vnd.openxmlformats-officedocument.presentationml.slideMaster+xml"/>
  <Override PartName="/ppt/slides/slide455.xml" ContentType="application/vnd.openxmlformats-officedocument.presentationml.slide+xml"/>
  <Override PartName="/ppt/slideMasters/slideMaster456.xml" ContentType="application/vnd.openxmlformats-officedocument.presentationml.slideMaster+xml"/>
  <Override PartName="/ppt/slides/slide456.xml" ContentType="application/vnd.openxmlformats-officedocument.presentationml.slide+xml"/>
  <Override PartName="/ppt/slideMasters/slideMaster457.xml" ContentType="application/vnd.openxmlformats-officedocument.presentationml.slideMaster+xml"/>
  <Override PartName="/ppt/slides/slide457.xml" ContentType="application/vnd.openxmlformats-officedocument.presentationml.slide+xml"/>
  <Override PartName="/ppt/slideMasters/slideMaster458.xml" ContentType="application/vnd.openxmlformats-officedocument.presentationml.slideMaster+xml"/>
  <Override PartName="/ppt/slides/slide458.xml" ContentType="application/vnd.openxmlformats-officedocument.presentationml.slide+xml"/>
  <Override PartName="/ppt/slideMasters/slideMaster459.xml" ContentType="application/vnd.openxmlformats-officedocument.presentationml.slideMaster+xml"/>
  <Override PartName="/ppt/slides/slide459.xml" ContentType="application/vnd.openxmlformats-officedocument.presentationml.slide+xml"/>
  <Override PartName="/ppt/slideMasters/slideMaster460.xml" ContentType="application/vnd.openxmlformats-officedocument.presentationml.slideMaster+xml"/>
  <Override PartName="/ppt/slides/slide460.xml" ContentType="application/vnd.openxmlformats-officedocument.presentationml.slide+xml"/>
  <Override PartName="/ppt/slideMasters/slideMaster461.xml" ContentType="application/vnd.openxmlformats-officedocument.presentationml.slideMaster+xml"/>
  <Override PartName="/ppt/slides/slide461.xml" ContentType="application/vnd.openxmlformats-officedocument.presentationml.slide+xml"/>
  <Override PartName="/ppt/slideMasters/slideMaster462.xml" ContentType="application/vnd.openxmlformats-officedocument.presentationml.slideMaster+xml"/>
  <Override PartName="/ppt/slides/slide462.xml" ContentType="application/vnd.openxmlformats-officedocument.presentationml.slide+xml"/>
  <Override PartName="/ppt/slideMasters/slideMaster463.xml" ContentType="application/vnd.openxmlformats-officedocument.presentationml.slideMaster+xml"/>
  <Override PartName="/ppt/slides/slide463.xml" ContentType="application/vnd.openxmlformats-officedocument.presentationml.slide+xml"/>
  <Override PartName="/ppt/slideMasters/slideMaster464.xml" ContentType="application/vnd.openxmlformats-officedocument.presentationml.slideMaster+xml"/>
  <Override PartName="/ppt/slides/slide464.xml" ContentType="application/vnd.openxmlformats-officedocument.presentationml.slide+xml"/>
  <Override PartName="/ppt/slideMasters/slideMaster465.xml" ContentType="application/vnd.openxmlformats-officedocument.presentationml.slideMaster+xml"/>
  <Override PartName="/ppt/slides/slide465.xml" ContentType="application/vnd.openxmlformats-officedocument.presentationml.slide+xml"/>
  <Override PartName="/ppt/slideMasters/slideMaster466.xml" ContentType="application/vnd.openxmlformats-officedocument.presentationml.slideMaster+xml"/>
  <Override PartName="/ppt/slides/slide466.xml" ContentType="application/vnd.openxmlformats-officedocument.presentationml.slide+xml"/>
  <Override PartName="/ppt/slideMasters/slideMaster467.xml" ContentType="application/vnd.openxmlformats-officedocument.presentationml.slideMaster+xml"/>
  <Override PartName="/ppt/slides/slide467.xml" ContentType="application/vnd.openxmlformats-officedocument.presentationml.slide+xml"/>
  <Override PartName="/ppt/slideMasters/slideMaster468.xml" ContentType="application/vnd.openxmlformats-officedocument.presentationml.slideMaster+xml"/>
  <Override PartName="/ppt/slides/slide468.xml" ContentType="application/vnd.openxmlformats-officedocument.presentationml.slide+xml"/>
  <Override PartName="/ppt/slideMasters/slideMaster469.xml" ContentType="application/vnd.openxmlformats-officedocument.presentationml.slideMaster+xml"/>
  <Override PartName="/ppt/slides/slide469.xml" ContentType="application/vnd.openxmlformats-officedocument.presentationml.slide+xml"/>
  <Override PartName="/ppt/slideMasters/slideMaster470.xml" ContentType="application/vnd.openxmlformats-officedocument.presentationml.slideMaster+xml"/>
  <Override PartName="/ppt/slides/slide470.xml" ContentType="application/vnd.openxmlformats-officedocument.presentationml.slide+xml"/>
  <Override PartName="/ppt/slideMasters/slideMaster471.xml" ContentType="application/vnd.openxmlformats-officedocument.presentationml.slideMaster+xml"/>
  <Override PartName="/ppt/slides/slide471.xml" ContentType="application/vnd.openxmlformats-officedocument.presentationml.slide+xml"/>
  <Override PartName="/ppt/slideMasters/slideMaster472.xml" ContentType="application/vnd.openxmlformats-officedocument.presentationml.slideMaster+xml"/>
  <Override PartName="/ppt/slides/slide472.xml" ContentType="application/vnd.openxmlformats-officedocument.presentationml.slide+xml"/>
  <Override PartName="/ppt/slideMasters/slideMaster473.xml" ContentType="application/vnd.openxmlformats-officedocument.presentationml.slideMaster+xml"/>
  <Override PartName="/ppt/slides/slide473.xml" ContentType="application/vnd.openxmlformats-officedocument.presentationml.slide+xml"/>
  <Override PartName="/ppt/slideMasters/slideMaster474.xml" ContentType="application/vnd.openxmlformats-officedocument.presentationml.slideMaster+xml"/>
  <Override PartName="/ppt/slides/slide474.xml" ContentType="application/vnd.openxmlformats-officedocument.presentationml.slide+xml"/>
  <Override PartName="/ppt/slideMasters/slideMaster475.xml" ContentType="application/vnd.openxmlformats-officedocument.presentationml.slideMaster+xml"/>
  <Override PartName="/ppt/slides/slide475.xml" ContentType="application/vnd.openxmlformats-officedocument.presentationml.slide+xml"/>
  <Override PartName="/ppt/slideMasters/slideMaster476.xml" ContentType="application/vnd.openxmlformats-officedocument.presentationml.slideMaster+xml"/>
  <Override PartName="/ppt/slides/slide476.xml" ContentType="application/vnd.openxmlformats-officedocument.presentationml.slide+xml"/>
  <Override PartName="/ppt/slideMasters/slideMaster477.xml" ContentType="application/vnd.openxmlformats-officedocument.presentationml.slideMaster+xml"/>
  <Override PartName="/ppt/slides/slide477.xml" ContentType="application/vnd.openxmlformats-officedocument.presentationml.slide+xml"/>
  <Override PartName="/ppt/slideMasters/slideMaster478.xml" ContentType="application/vnd.openxmlformats-officedocument.presentationml.slideMaster+xml"/>
  <Override PartName="/ppt/slides/slide478.xml" ContentType="application/vnd.openxmlformats-officedocument.presentationml.slide+xml"/>
  <Override PartName="/ppt/slideMasters/slideMaster479.xml" ContentType="application/vnd.openxmlformats-officedocument.presentationml.slideMaster+xml"/>
  <Override PartName="/ppt/slides/slide479.xml" ContentType="application/vnd.openxmlformats-officedocument.presentationml.slide+xml"/>
  <Override PartName="/ppt/slideMasters/slideMaster480.xml" ContentType="application/vnd.openxmlformats-officedocument.presentationml.slideMaster+xml"/>
  <Override PartName="/ppt/slides/slide480.xml" ContentType="application/vnd.openxmlformats-officedocument.presentationml.slide+xml"/>
  <Override PartName="/ppt/slideMasters/slideMaster481.xml" ContentType="application/vnd.openxmlformats-officedocument.presentationml.slideMaster+xml"/>
  <Override PartName="/ppt/slides/slide481.xml" ContentType="application/vnd.openxmlformats-officedocument.presentationml.slide+xml"/>
  <Override PartName="/ppt/slideMasters/slideMaster482.xml" ContentType="application/vnd.openxmlformats-officedocument.presentationml.slideMaster+xml"/>
  <Override PartName="/ppt/slides/slide482.xml" ContentType="application/vnd.openxmlformats-officedocument.presentationml.slide+xml"/>
  <Override PartName="/ppt/slideMasters/slideMaster483.xml" ContentType="application/vnd.openxmlformats-officedocument.presentationml.slideMaster+xml"/>
  <Override PartName="/ppt/slides/slide483.xml" ContentType="application/vnd.openxmlformats-officedocument.presentationml.slide+xml"/>
  <Override PartName="/ppt/slideMasters/slideMaster484.xml" ContentType="application/vnd.openxmlformats-officedocument.presentationml.slideMaster+xml"/>
  <Override PartName="/ppt/slides/slide484.xml" ContentType="application/vnd.openxmlformats-officedocument.presentationml.slide+xml"/>
  <Override PartName="/ppt/slideMasters/slideMaster485.xml" ContentType="application/vnd.openxmlformats-officedocument.presentationml.slideMaster+xml"/>
  <Override PartName="/ppt/slides/slide485.xml" ContentType="application/vnd.openxmlformats-officedocument.presentationml.slide+xml"/>
  <Override PartName="/ppt/slideMasters/slideMaster486.xml" ContentType="application/vnd.openxmlformats-officedocument.presentationml.slideMaster+xml"/>
  <Override PartName="/ppt/slides/slide486.xml" ContentType="application/vnd.openxmlformats-officedocument.presentationml.slide+xml"/>
  <Override PartName="/ppt/slideMasters/slideMaster487.xml" ContentType="application/vnd.openxmlformats-officedocument.presentationml.slideMaster+xml"/>
  <Override PartName="/ppt/slides/slide487.xml" ContentType="application/vnd.openxmlformats-officedocument.presentationml.slide+xml"/>
  <Override PartName="/ppt/slideMasters/slideMaster488.xml" ContentType="application/vnd.openxmlformats-officedocument.presentationml.slideMaster+xml"/>
  <Override PartName="/ppt/slides/slide488.xml" ContentType="application/vnd.openxmlformats-officedocument.presentationml.slide+xml"/>
  <Override PartName="/ppt/slideMasters/slideMaster489.xml" ContentType="application/vnd.openxmlformats-officedocument.presentationml.slideMaster+xml"/>
  <Override PartName="/ppt/slides/slide489.xml" ContentType="application/vnd.openxmlformats-officedocument.presentationml.slide+xml"/>
  <Override PartName="/ppt/slideMasters/slideMaster490.xml" ContentType="application/vnd.openxmlformats-officedocument.presentationml.slideMaster+xml"/>
  <Override PartName="/ppt/slides/slide490.xml" ContentType="application/vnd.openxmlformats-officedocument.presentationml.slide+xml"/>
  <Override PartName="/ppt/slideMasters/slideMaster491.xml" ContentType="application/vnd.openxmlformats-officedocument.presentationml.slideMaster+xml"/>
  <Override PartName="/ppt/slides/slide491.xml" ContentType="application/vnd.openxmlformats-officedocument.presentationml.slide+xml"/>
  <Override PartName="/ppt/slideMasters/slideMaster492.xml" ContentType="application/vnd.openxmlformats-officedocument.presentationml.slideMaster+xml"/>
  <Override PartName="/ppt/slides/slide492.xml" ContentType="application/vnd.openxmlformats-officedocument.presentationml.slide+xml"/>
  <Override PartName="/ppt/slideMasters/slideMaster493.xml" ContentType="application/vnd.openxmlformats-officedocument.presentationml.slideMaster+xml"/>
  <Override PartName="/ppt/slides/slide493.xml" ContentType="application/vnd.openxmlformats-officedocument.presentationml.slide+xml"/>
  <Override PartName="/ppt/slideMasters/slideMaster494.xml" ContentType="application/vnd.openxmlformats-officedocument.presentationml.slideMaster+xml"/>
  <Override PartName="/ppt/slides/slide494.xml" ContentType="application/vnd.openxmlformats-officedocument.presentationml.slide+xml"/>
  <Override PartName="/ppt/slideMasters/slideMaster495.xml" ContentType="application/vnd.openxmlformats-officedocument.presentationml.slideMaster+xml"/>
  <Override PartName="/ppt/slides/slide495.xml" ContentType="application/vnd.openxmlformats-officedocument.presentationml.slide+xml"/>
  <Override PartName="/ppt/slideMasters/slideMaster496.xml" ContentType="application/vnd.openxmlformats-officedocument.presentationml.slideMaster+xml"/>
  <Override PartName="/ppt/slides/slide496.xml" ContentType="application/vnd.openxmlformats-officedocument.presentationml.slide+xml"/>
  <Override PartName="/ppt/slideMasters/slideMaster497.xml" ContentType="application/vnd.openxmlformats-officedocument.presentationml.slideMaster+xml"/>
  <Override PartName="/ppt/slides/slide497.xml" ContentType="application/vnd.openxmlformats-officedocument.presentationml.slide+xml"/>
  <Override PartName="/ppt/slideMasters/slideMaster498.xml" ContentType="application/vnd.openxmlformats-officedocument.presentationml.slideMaster+xml"/>
  <Override PartName="/ppt/slides/slide498.xml" ContentType="application/vnd.openxmlformats-officedocument.presentationml.slide+xml"/>
  <Override PartName="/ppt/slideMasters/slideMaster499.xml" ContentType="application/vnd.openxmlformats-officedocument.presentationml.slideMaster+xml"/>
  <Override PartName="/ppt/slides/slide499.xml" ContentType="application/vnd.openxmlformats-officedocument.presentationml.slide+xml"/>
  <Override PartName="/ppt/slideMasters/slideMaster500.xml" ContentType="application/vnd.openxmlformats-officedocument.presentationml.slideMaster+xml"/>
  <Override PartName="/ppt/slides/slide500.xml" ContentType="application/vnd.openxmlformats-officedocument.presentationml.slide+xml"/>
  <Override PartName="/ppt/slideMasters/slideMaster501.xml" ContentType="application/vnd.openxmlformats-officedocument.presentationml.slideMaster+xml"/>
  <Override PartName="/ppt/slides/slide501.xml" ContentType="application/vnd.openxmlformats-officedocument.presentationml.slide+xml"/>
  <Override PartName="/ppt/slideMasters/slideMaster502.xml" ContentType="application/vnd.openxmlformats-officedocument.presentationml.slideMaster+xml"/>
  <Override PartName="/ppt/slides/slide502.xml" ContentType="application/vnd.openxmlformats-officedocument.presentationml.slide+xml"/>
  <Override PartName="/ppt/slideMasters/slideMaster503.xml" ContentType="application/vnd.openxmlformats-officedocument.presentationml.slideMaster+xml"/>
  <Override PartName="/ppt/slides/slide503.xml" ContentType="application/vnd.openxmlformats-officedocument.presentationml.slide+xml"/>
  <Override PartName="/ppt/slideMasters/slideMaster504.xml" ContentType="application/vnd.openxmlformats-officedocument.presentationml.slideMaster+xml"/>
  <Override PartName="/ppt/slides/slide504.xml" ContentType="application/vnd.openxmlformats-officedocument.presentationml.slide+xml"/>
  <Override PartName="/ppt/slideMasters/slideMaster505.xml" ContentType="application/vnd.openxmlformats-officedocument.presentationml.slideMaster+xml"/>
  <Override PartName="/ppt/slides/slide505.xml" ContentType="application/vnd.openxmlformats-officedocument.presentationml.slide+xml"/>
  <Override PartName="/ppt/slideMasters/slideMaster506.xml" ContentType="application/vnd.openxmlformats-officedocument.presentationml.slideMaster+xml"/>
  <Override PartName="/ppt/slides/slide506.xml" ContentType="application/vnd.openxmlformats-officedocument.presentationml.slide+xml"/>
  <Override PartName="/ppt/slideMasters/slideMaster507.xml" ContentType="application/vnd.openxmlformats-officedocument.presentationml.slideMaster+xml"/>
  <Override PartName="/ppt/slides/slide507.xml" ContentType="application/vnd.openxmlformats-officedocument.presentationml.slide+xml"/>
  <Override PartName="/ppt/slideMasters/slideMaster508.xml" ContentType="application/vnd.openxmlformats-officedocument.presentationml.slideMaster+xml"/>
  <Override PartName="/ppt/slides/slide508.xml" ContentType="application/vnd.openxmlformats-officedocument.presentationml.slide+xml"/>
  <Override PartName="/ppt/slideMasters/slideMaster509.xml" ContentType="application/vnd.openxmlformats-officedocument.presentationml.slideMaster+xml"/>
  <Override PartName="/ppt/slides/slide509.xml" ContentType="application/vnd.openxmlformats-officedocument.presentationml.slide+xml"/>
  <Override PartName="/ppt/slideMasters/slideMaster510.xml" ContentType="application/vnd.openxmlformats-officedocument.presentationml.slideMaster+xml"/>
  <Override PartName="/ppt/slides/slide510.xml" ContentType="application/vnd.openxmlformats-officedocument.presentationml.slide+xml"/>
  <Override PartName="/ppt/slideMasters/slideMaster511.xml" ContentType="application/vnd.openxmlformats-officedocument.presentationml.slideMaster+xml"/>
  <Override PartName="/ppt/slides/slide511.xml" ContentType="application/vnd.openxmlformats-officedocument.presentationml.slide+xml"/>
  <Override PartName="/ppt/slideMasters/slideMaster512.xml" ContentType="application/vnd.openxmlformats-officedocument.presentationml.slideMaster+xml"/>
  <Override PartName="/ppt/slides/slide512.xml" ContentType="application/vnd.openxmlformats-officedocument.presentationml.slide+xml"/>
  <Override PartName="/ppt/slideMasters/slideMaster513.xml" ContentType="application/vnd.openxmlformats-officedocument.presentationml.slideMaster+xml"/>
  <Override PartName="/ppt/slides/slide513.xml" ContentType="application/vnd.openxmlformats-officedocument.presentationml.slide+xml"/>
  <Override PartName="/ppt/slideMasters/slideMaster514.xml" ContentType="application/vnd.openxmlformats-officedocument.presentationml.slideMaster+xml"/>
  <Override PartName="/ppt/slides/slide514.xml" ContentType="application/vnd.openxmlformats-officedocument.presentationml.slide+xml"/>
  <Override PartName="/ppt/slideMasters/slideMaster515.xml" ContentType="application/vnd.openxmlformats-officedocument.presentationml.slideMaster+xml"/>
  <Override PartName="/ppt/slides/slide515.xml" ContentType="application/vnd.openxmlformats-officedocument.presentationml.slide+xml"/>
  <Override PartName="/ppt/slideMasters/slideMaster516.xml" ContentType="application/vnd.openxmlformats-officedocument.presentationml.slideMaster+xml"/>
  <Override PartName="/ppt/slides/slide516.xml" ContentType="application/vnd.openxmlformats-officedocument.presentationml.slide+xml"/>
  <Override PartName="/ppt/slideMasters/slideMaster517.xml" ContentType="application/vnd.openxmlformats-officedocument.presentationml.slideMaster+xml"/>
  <Override PartName="/ppt/slides/slide517.xml" ContentType="application/vnd.openxmlformats-officedocument.presentationml.slide+xml"/>
  <Override PartName="/ppt/slideMasters/slideMaster518.xml" ContentType="application/vnd.openxmlformats-officedocument.presentationml.slideMaster+xml"/>
  <Override PartName="/ppt/slides/slide518.xml" ContentType="application/vnd.openxmlformats-officedocument.presentationml.slide+xml"/>
  <Override PartName="/ppt/slideMasters/slideMaster519.xml" ContentType="application/vnd.openxmlformats-officedocument.presentationml.slideMaster+xml"/>
  <Override PartName="/ppt/slides/slide519.xml" ContentType="application/vnd.openxmlformats-officedocument.presentationml.slide+xml"/>
  <Override PartName="/ppt/slideMasters/slideMaster520.xml" ContentType="application/vnd.openxmlformats-officedocument.presentationml.slideMaster+xml"/>
  <Override PartName="/ppt/slides/slide520.xml" ContentType="application/vnd.openxmlformats-officedocument.presentationml.slide+xml"/>
  <Override PartName="/ppt/slideMasters/slideMaster521.xml" ContentType="application/vnd.openxmlformats-officedocument.presentationml.slideMaster+xml"/>
  <Override PartName="/ppt/slides/slide521.xml" ContentType="application/vnd.openxmlformats-officedocument.presentationml.slide+xml"/>
  <Override PartName="/ppt/slideMasters/slideMaster522.xml" ContentType="application/vnd.openxmlformats-officedocument.presentationml.slideMaster+xml"/>
  <Override PartName="/ppt/slides/slide522.xml" ContentType="application/vnd.openxmlformats-officedocument.presentationml.slide+xml"/>
  <Override PartName="/ppt/slideMasters/slideMaster523.xml" ContentType="application/vnd.openxmlformats-officedocument.presentationml.slideMaster+xml"/>
  <Override PartName="/ppt/slides/slide523.xml" ContentType="application/vnd.openxmlformats-officedocument.presentationml.slide+xml"/>
  <Override PartName="/ppt/slideMasters/slideMaster524.xml" ContentType="application/vnd.openxmlformats-officedocument.presentationml.slideMaster+xml"/>
  <Override PartName="/ppt/slides/slide524.xml" ContentType="application/vnd.openxmlformats-officedocument.presentationml.slide+xml"/>
  <Override PartName="/ppt/slideMasters/slideMaster525.xml" ContentType="application/vnd.openxmlformats-officedocument.presentationml.slideMaster+xml"/>
  <Override PartName="/ppt/slides/slide525.xml" ContentType="application/vnd.openxmlformats-officedocument.presentationml.slide+xml"/>
  <Override PartName="/ppt/slideMasters/slideMaster526.xml" ContentType="application/vnd.openxmlformats-officedocument.presentationml.slideMaster+xml"/>
  <Override PartName="/ppt/slides/slide526.xml" ContentType="application/vnd.openxmlformats-officedocument.presentationml.slide+xml"/>
  <Override PartName="/ppt/slideMasters/slideMaster527.xml" ContentType="application/vnd.openxmlformats-officedocument.presentationml.slideMaster+xml"/>
  <Override PartName="/ppt/slides/slide527.xml" ContentType="application/vnd.openxmlformats-officedocument.presentationml.slide+xml"/>
  <Override PartName="/ppt/slideMasters/slideMaster528.xml" ContentType="application/vnd.openxmlformats-officedocument.presentationml.slideMaster+xml"/>
  <Override PartName="/ppt/slides/slide528.xml" ContentType="application/vnd.openxmlformats-officedocument.presentationml.slide+xml"/>
  <Override PartName="/ppt/slideMasters/slideMaster529.xml" ContentType="application/vnd.openxmlformats-officedocument.presentationml.slideMaster+xml"/>
  <Override PartName="/ppt/slides/slide529.xml" ContentType="application/vnd.openxmlformats-officedocument.presentationml.slide+xml"/>
  <Override PartName="/ppt/slideMasters/slideMaster530.xml" ContentType="application/vnd.openxmlformats-officedocument.presentationml.slideMaster+xml"/>
  <Override PartName="/ppt/slides/slide530.xml" ContentType="application/vnd.openxmlformats-officedocument.presentationml.slide+xml"/>
  <Override PartName="/ppt/slideMasters/slideMaster531.xml" ContentType="application/vnd.openxmlformats-officedocument.presentationml.slideMaster+xml"/>
  <Override PartName="/ppt/slides/slide531.xml" ContentType="application/vnd.openxmlformats-officedocument.presentationml.slide+xml"/>
  <Override PartName="/ppt/slideMasters/slideMaster532.xml" ContentType="application/vnd.openxmlformats-officedocument.presentationml.slideMaster+xml"/>
  <Override PartName="/ppt/slides/slide532.xml" ContentType="application/vnd.openxmlformats-officedocument.presentationml.slide+xml"/>
  <Override PartName="/ppt/slideMasters/slideMaster533.xml" ContentType="application/vnd.openxmlformats-officedocument.presentationml.slideMaster+xml"/>
  <Override PartName="/ppt/slides/slide533.xml" ContentType="application/vnd.openxmlformats-officedocument.presentationml.slide+xml"/>
  <Override PartName="/ppt/slideMasters/slideMaster534.xml" ContentType="application/vnd.openxmlformats-officedocument.presentationml.slideMaster+xml"/>
  <Override PartName="/ppt/slides/slide534.xml" ContentType="application/vnd.openxmlformats-officedocument.presentationml.slide+xml"/>
  <Override PartName="/ppt/slideMasters/slideMaster535.xml" ContentType="application/vnd.openxmlformats-officedocument.presentationml.slideMaster+xml"/>
  <Override PartName="/ppt/slides/slide535.xml" ContentType="application/vnd.openxmlformats-officedocument.presentationml.slide+xml"/>
  <Override PartName="/ppt/slideMasters/slideMaster536.xml" ContentType="application/vnd.openxmlformats-officedocument.presentationml.slideMaster+xml"/>
  <Override PartName="/ppt/slides/slide536.xml" ContentType="application/vnd.openxmlformats-officedocument.presentationml.slide+xml"/>
  <Override PartName="/ppt/slideMasters/slideMaster537.xml" ContentType="application/vnd.openxmlformats-officedocument.presentationml.slideMaster+xml"/>
  <Override PartName="/ppt/slides/slide537.xml" ContentType="application/vnd.openxmlformats-officedocument.presentationml.slide+xml"/>
  <Override PartName="/ppt/slideMasters/slideMaster538.xml" ContentType="application/vnd.openxmlformats-officedocument.presentationml.slideMaster+xml"/>
  <Override PartName="/ppt/slides/slide538.xml" ContentType="application/vnd.openxmlformats-officedocument.presentationml.slide+xml"/>
  <Override PartName="/ppt/slideMasters/slideMaster539.xml" ContentType="application/vnd.openxmlformats-officedocument.presentationml.slideMaster+xml"/>
  <Override PartName="/ppt/slides/slide539.xml" ContentType="application/vnd.openxmlformats-officedocument.presentationml.slide+xml"/>
  <Override PartName="/ppt/slideMasters/slideMaster540.xml" ContentType="application/vnd.openxmlformats-officedocument.presentationml.slideMaster+xml"/>
  <Override PartName="/ppt/slides/slide540.xml" ContentType="application/vnd.openxmlformats-officedocument.presentationml.slide+xml"/>
  <Override PartName="/ppt/slideMasters/slideMaster541.xml" ContentType="application/vnd.openxmlformats-officedocument.presentationml.slideMaster+xml"/>
  <Override PartName="/ppt/slides/slide541.xml" ContentType="application/vnd.openxmlformats-officedocument.presentationml.slide+xml"/>
  <Override PartName="/ppt/slideMasters/slideMaster542.xml" ContentType="application/vnd.openxmlformats-officedocument.presentationml.slideMaster+xml"/>
  <Override PartName="/ppt/slides/slide542.xml" ContentType="application/vnd.openxmlformats-officedocument.presentationml.slide+xml"/>
  <Override PartName="/ppt/slideMasters/slideMaster543.xml" ContentType="application/vnd.openxmlformats-officedocument.presentationml.slideMaster+xml"/>
  <Override PartName="/ppt/slides/slide543.xml" ContentType="application/vnd.openxmlformats-officedocument.presentationml.slide+xml"/>
  <Override PartName="/ppt/slideMasters/slideMaster544.xml" ContentType="application/vnd.openxmlformats-officedocument.presentationml.slideMaster+xml"/>
  <Override PartName="/ppt/slides/slide544.xml" ContentType="application/vnd.openxmlformats-officedocument.presentationml.slide+xml"/>
  <Override PartName="/ppt/slideMasters/slideMaster545.xml" ContentType="application/vnd.openxmlformats-officedocument.presentationml.slideMaster+xml"/>
  <Override PartName="/ppt/slides/slide545.xml" ContentType="application/vnd.openxmlformats-officedocument.presentationml.slide+xml"/>
  <Override PartName="/ppt/slideMasters/slideMaster546.xml" ContentType="application/vnd.openxmlformats-officedocument.presentationml.slideMaster+xml"/>
  <Override PartName="/ppt/slides/slide546.xml" ContentType="application/vnd.openxmlformats-officedocument.presentationml.slide+xml"/>
  <Override PartName="/ppt/slideMasters/slideMaster547.xml" ContentType="application/vnd.openxmlformats-officedocument.presentationml.slideMaster+xml"/>
  <Override PartName="/ppt/slides/slide547.xml" ContentType="application/vnd.openxmlformats-officedocument.presentationml.slide+xml"/>
  <Override PartName="/ppt/slideMasters/slideMaster548.xml" ContentType="application/vnd.openxmlformats-officedocument.presentationml.slideMaster+xml"/>
  <Override PartName="/ppt/slides/slide548.xml" ContentType="application/vnd.openxmlformats-officedocument.presentationml.slide+xml"/>
  <Override PartName="/ppt/slideMasters/slideMaster549.xml" ContentType="application/vnd.openxmlformats-officedocument.presentationml.slideMaster+xml"/>
  <Override PartName="/ppt/slides/slide5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0.xml" ContentType="application/vnd.openxmlformats-officedocument.presentationml.notesSlide+xml"/>
  <Override PartName="/ppt/notesSlides/notesSlide481.xml" ContentType="application/vnd.openxmlformats-officedocument.presentationml.notesSlide+xml"/>
  <Override PartName="/ppt/notesSlides/notesSlide482.xml" ContentType="application/vnd.openxmlformats-officedocument.presentationml.notesSlide+xml"/>
  <Override PartName="/ppt/notesSlides/notesSlide483.xml" ContentType="application/vnd.openxmlformats-officedocument.presentationml.notesSlide+xml"/>
  <Override PartName="/ppt/notesSlides/notesSlide484.xml" ContentType="application/vnd.openxmlformats-officedocument.presentationml.notesSlide+xml"/>
  <Override PartName="/ppt/notesSlides/notesSlide485.xml" ContentType="application/vnd.openxmlformats-officedocument.presentationml.notesSlide+xml"/>
  <Override PartName="/ppt/notesSlides/notesSlide486.xml" ContentType="application/vnd.openxmlformats-officedocument.presentationml.notesSlide+xml"/>
  <Override PartName="/ppt/notesSlides/notesSlide487.xml" ContentType="application/vnd.openxmlformats-officedocument.presentationml.notesSlide+xml"/>
  <Override PartName="/ppt/notesSlides/notesSlide488.xml" ContentType="application/vnd.openxmlformats-officedocument.presentationml.notesSlide+xml"/>
  <Override PartName="/ppt/notesSlides/notesSlide489.xml" ContentType="application/vnd.openxmlformats-officedocument.presentationml.notesSlide+xml"/>
  <Override PartName="/ppt/notesSlides/notesSlide490.xml" ContentType="application/vnd.openxmlformats-officedocument.presentationml.notesSlide+xml"/>
  <Override PartName="/ppt/notesSlides/notesSlide491.xml" ContentType="application/vnd.openxmlformats-officedocument.presentationml.notesSlide+xml"/>
  <Override PartName="/ppt/notesSlides/notesSlide492.xml" ContentType="application/vnd.openxmlformats-officedocument.presentationml.notesSlide+xml"/>
  <Override PartName="/ppt/notesSlides/notesSlide493.xml" ContentType="application/vnd.openxmlformats-officedocument.presentationml.notesSlide+xml"/>
  <Override PartName="/ppt/notesSlides/notesSlide494.xml" ContentType="application/vnd.openxmlformats-officedocument.presentationml.notesSlide+xml"/>
  <Override PartName="/ppt/notesSlides/notesSlide495.xml" ContentType="application/vnd.openxmlformats-officedocument.presentationml.notesSlide+xml"/>
  <Override PartName="/ppt/notesSlides/notesSlide496.xml" ContentType="application/vnd.openxmlformats-officedocument.presentationml.notesSlide+xml"/>
  <Override PartName="/ppt/notesSlides/notesSlide497.xml" ContentType="application/vnd.openxmlformats-officedocument.presentationml.notesSlide+xml"/>
  <Override PartName="/ppt/notesSlides/notesSlide498.xml" ContentType="application/vnd.openxmlformats-officedocument.presentationml.notesSlide+xml"/>
  <Override PartName="/ppt/notesSlides/notesSlide499.xml" ContentType="application/vnd.openxmlformats-officedocument.presentationml.notesSlide+xml"/>
  <Override PartName="/ppt/notesSlides/notesSlide500.xml" ContentType="application/vnd.openxmlformats-officedocument.presentationml.notesSlide+xml"/>
  <Override PartName="/ppt/notesSlides/notesSlide501.xml" ContentType="application/vnd.openxmlformats-officedocument.presentationml.notesSlide+xml"/>
  <Override PartName="/ppt/notesSlides/notesSlide502.xml" ContentType="application/vnd.openxmlformats-officedocument.presentationml.notesSlide+xml"/>
  <Override PartName="/ppt/notesSlides/notesSlide503.xml" ContentType="application/vnd.openxmlformats-officedocument.presentationml.notesSlide+xml"/>
  <Override PartName="/ppt/notesSlides/notesSlide504.xml" ContentType="application/vnd.openxmlformats-officedocument.presentationml.notesSlide+xml"/>
  <Override PartName="/ppt/notesSlides/notesSlide505.xml" ContentType="application/vnd.openxmlformats-officedocument.presentationml.notesSlide+xml"/>
  <Override PartName="/ppt/notesSlides/notesSlide506.xml" ContentType="application/vnd.openxmlformats-officedocument.presentationml.notesSlide+xml"/>
  <Override PartName="/ppt/notesSlides/notesSlide507.xml" ContentType="application/vnd.openxmlformats-officedocument.presentationml.notesSlide+xml"/>
  <Override PartName="/ppt/notesSlides/notesSlide508.xml" ContentType="application/vnd.openxmlformats-officedocument.presentationml.notesSlide+xml"/>
  <Override PartName="/ppt/notesSlides/notesSlide509.xml" ContentType="application/vnd.openxmlformats-officedocument.presentationml.notesSlid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notesSlides/notesSlide513.xml" ContentType="application/vnd.openxmlformats-officedocument.presentationml.notesSlide+xml"/>
  <Override PartName="/ppt/notesSlides/notesSlide514.xml" ContentType="application/vnd.openxmlformats-officedocument.presentationml.notesSlide+xml"/>
  <Override PartName="/ppt/notesSlides/notesSlide515.xml" ContentType="application/vnd.openxmlformats-officedocument.presentationml.notesSlide+xml"/>
  <Override PartName="/ppt/notesSlides/notesSlide516.xml" ContentType="application/vnd.openxmlformats-officedocument.presentationml.notesSlide+xml"/>
  <Override PartName="/ppt/notesSlides/notesSlide517.xml" ContentType="application/vnd.openxmlformats-officedocument.presentationml.notesSlide+xml"/>
  <Override PartName="/ppt/notesSlides/notesSlide518.xml" ContentType="application/vnd.openxmlformats-officedocument.presentationml.notesSlide+xml"/>
  <Override PartName="/ppt/notesSlides/notesSlide519.xml" ContentType="application/vnd.openxmlformats-officedocument.presentationml.notesSlide+xml"/>
  <Override PartName="/ppt/notesSlides/notesSlide520.xml" ContentType="application/vnd.openxmlformats-officedocument.presentationml.notesSlide+xml"/>
  <Override PartName="/ppt/notesSlides/notesSlide521.xml" ContentType="application/vnd.openxmlformats-officedocument.presentationml.notesSlide+xml"/>
  <Override PartName="/ppt/notesSlides/notesSlide522.xml" ContentType="application/vnd.openxmlformats-officedocument.presentationml.notesSlide+xml"/>
  <Override PartName="/ppt/notesSlides/notesSlide523.xml" ContentType="application/vnd.openxmlformats-officedocument.presentationml.notesSlide+xml"/>
  <Override PartName="/ppt/notesSlides/notesSlide524.xml" ContentType="application/vnd.openxmlformats-officedocument.presentationml.notesSlide+xml"/>
  <Override PartName="/ppt/notesSlides/notesSlide525.xml" ContentType="application/vnd.openxmlformats-officedocument.presentationml.notesSlide+xml"/>
  <Override PartName="/ppt/notesSlides/notesSlide526.xml" ContentType="application/vnd.openxmlformats-officedocument.presentationml.notesSlide+xml"/>
  <Override PartName="/ppt/notesSlides/notesSlide527.xml" ContentType="application/vnd.openxmlformats-officedocument.presentationml.notesSlide+xml"/>
  <Override PartName="/ppt/notesSlides/notesSlide528.xml" ContentType="application/vnd.openxmlformats-officedocument.presentationml.notesSlide+xml"/>
  <Override PartName="/ppt/notesSlides/notesSlide529.xml" ContentType="application/vnd.openxmlformats-officedocument.presentationml.notesSlide+xml"/>
  <Override PartName="/ppt/notesSlides/notesSlide530.xml" ContentType="application/vnd.openxmlformats-officedocument.presentationml.notesSlide+xml"/>
  <Override PartName="/ppt/notesSlides/notesSlide531.xml" ContentType="application/vnd.openxmlformats-officedocument.presentationml.notesSlide+xml"/>
  <Override PartName="/ppt/notesSlides/notesSlide532.xml" ContentType="application/vnd.openxmlformats-officedocument.presentationml.notesSlide+xml"/>
  <Override PartName="/ppt/notesSlides/notesSlide533.xml" ContentType="application/vnd.openxmlformats-officedocument.presentationml.notesSlide+xml"/>
  <Override PartName="/ppt/notesSlides/notesSlide534.xml" ContentType="application/vnd.openxmlformats-officedocument.presentationml.notesSlide+xml"/>
  <Override PartName="/ppt/notesSlides/notesSlide535.xml" ContentType="application/vnd.openxmlformats-officedocument.presentationml.notesSlide+xml"/>
  <Override PartName="/ppt/notesSlides/notesSlide536.xml" ContentType="application/vnd.openxmlformats-officedocument.presentationml.notesSlide+xml"/>
  <Override PartName="/ppt/notesSlides/notesSlide537.xml" ContentType="application/vnd.openxmlformats-officedocument.presentationml.notesSlide+xml"/>
  <Override PartName="/ppt/notesSlides/notesSlide538.xml" ContentType="application/vnd.openxmlformats-officedocument.presentationml.notesSlide+xml"/>
  <Override PartName="/ppt/notesSlides/notesSlide539.xml" ContentType="application/vnd.openxmlformats-officedocument.presentationml.notesSlide+xml"/>
  <Override PartName="/ppt/notesSlides/notesSlide540.xml" ContentType="application/vnd.openxmlformats-officedocument.presentationml.notesSlide+xml"/>
  <Override PartName="/ppt/notesSlides/notesSlide541.xml" ContentType="application/vnd.openxmlformats-officedocument.presentationml.notesSlide+xml"/>
  <Override PartName="/ppt/notesSlides/notesSlide542.xml" ContentType="application/vnd.openxmlformats-officedocument.presentationml.notesSlide+xml"/>
  <Override PartName="/ppt/notesSlides/notesSlide543.xml" ContentType="application/vnd.openxmlformats-officedocument.presentationml.notesSlide+xml"/>
  <Override PartName="/ppt/notesSlides/notesSlide544.xml" ContentType="application/vnd.openxmlformats-officedocument.presentationml.notesSlide+xml"/>
  <Override PartName="/ppt/notesSlides/notesSlide545.xml" ContentType="application/vnd.openxmlformats-officedocument.presentationml.notesSlide+xml"/>
  <Override PartName="/ppt/notesSlides/notesSlide546.xml" ContentType="application/vnd.openxmlformats-officedocument.presentationml.notesSlide+xml"/>
  <Override PartName="/ppt/notesSlides/notesSlide547.xml" ContentType="application/vnd.openxmlformats-officedocument.presentationml.notesSlide+xml"/>
  <Override PartName="/ppt/notesSlides/notesSlide548.xml" ContentType="application/vnd.openxmlformats-officedocument.presentationml.notesSlide+xml"/>
  <Override PartName="/ppt/notesSlides/notesSlide5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 id="776" r:id="rId522"/>
    <p:sldId id="777" r:id="rId523"/>
    <p:sldId id="778" r:id="rId524"/>
    <p:sldId id="779" r:id="rId525"/>
    <p:sldId id="780" r:id="rId526"/>
    <p:sldId id="781" r:id="rId527"/>
    <p:sldId id="782" r:id="rId528"/>
    <p:sldId id="783" r:id="rId529"/>
    <p:sldId id="784" r:id="rId530"/>
    <p:sldId id="785" r:id="rId531"/>
    <p:sldId id="786" r:id="rId532"/>
    <p:sldId id="787" r:id="rId533"/>
    <p:sldId id="788" r:id="rId534"/>
    <p:sldId id="789" r:id="rId535"/>
    <p:sldId id="790" r:id="rId536"/>
    <p:sldId id="791" r:id="rId537"/>
    <p:sldId id="792" r:id="rId538"/>
    <p:sldId id="793" r:id="rId539"/>
    <p:sldId id="794" r:id="rId540"/>
    <p:sldId id="795" r:id="rId541"/>
    <p:sldId id="796" r:id="rId542"/>
    <p:sldId id="797" r:id="rId543"/>
    <p:sldId id="798" r:id="rId544"/>
    <p:sldId id="799" r:id="rId545"/>
    <p:sldId id="800" r:id="rId546"/>
    <p:sldId id="801" r:id="rId547"/>
    <p:sldId id="802" r:id="rId548"/>
    <p:sldId id="803" r:id="rId549"/>
    <p:sldId id="804" r:id="rId550"/>
  </p:sldIdLst>
  <p:notesMasterIdLst>
    <p:notesMasterId r:id="rId5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 Id="rId502" Type="http://schemas.openxmlformats.org/officeDocument/2006/relationships/slide" Target="slides/slide501.xml"/><Relationship Id="rId503" Type="http://schemas.openxmlformats.org/officeDocument/2006/relationships/slide" Target="slides/slide502.xml"/><Relationship Id="rId504" Type="http://schemas.openxmlformats.org/officeDocument/2006/relationships/slide" Target="slides/slide503.xml"/><Relationship Id="rId505" Type="http://schemas.openxmlformats.org/officeDocument/2006/relationships/slide" Target="slides/slide504.xml"/><Relationship Id="rId506" Type="http://schemas.openxmlformats.org/officeDocument/2006/relationships/slide" Target="slides/slide505.xml"/><Relationship Id="rId507" Type="http://schemas.openxmlformats.org/officeDocument/2006/relationships/slide" Target="slides/slide506.xml"/><Relationship Id="rId508" Type="http://schemas.openxmlformats.org/officeDocument/2006/relationships/slide" Target="slides/slide507.xml"/><Relationship Id="rId509" Type="http://schemas.openxmlformats.org/officeDocument/2006/relationships/slide" Target="slides/slide508.xml"/><Relationship Id="rId510" Type="http://schemas.openxmlformats.org/officeDocument/2006/relationships/slide" Target="slides/slide509.xml"/><Relationship Id="rId511" Type="http://schemas.openxmlformats.org/officeDocument/2006/relationships/slide" Target="slides/slide510.xml"/><Relationship Id="rId512" Type="http://schemas.openxmlformats.org/officeDocument/2006/relationships/slide" Target="slides/slide511.xml"/><Relationship Id="rId513" Type="http://schemas.openxmlformats.org/officeDocument/2006/relationships/slide" Target="slides/slide512.xml"/><Relationship Id="rId514" Type="http://schemas.openxmlformats.org/officeDocument/2006/relationships/slide" Target="slides/slide513.xml"/><Relationship Id="rId515" Type="http://schemas.openxmlformats.org/officeDocument/2006/relationships/slide" Target="slides/slide514.xml"/><Relationship Id="rId516" Type="http://schemas.openxmlformats.org/officeDocument/2006/relationships/slide" Target="slides/slide515.xml"/><Relationship Id="rId517" Type="http://schemas.openxmlformats.org/officeDocument/2006/relationships/slide" Target="slides/slide516.xml"/><Relationship Id="rId518" Type="http://schemas.openxmlformats.org/officeDocument/2006/relationships/slide" Target="slides/slide517.xml"/><Relationship Id="rId519" Type="http://schemas.openxmlformats.org/officeDocument/2006/relationships/slide" Target="slides/slide518.xml"/><Relationship Id="rId520" Type="http://schemas.openxmlformats.org/officeDocument/2006/relationships/slide" Target="slides/slide519.xml"/><Relationship Id="rId521" Type="http://schemas.openxmlformats.org/officeDocument/2006/relationships/slide" Target="slides/slide520.xml"/><Relationship Id="rId522" Type="http://schemas.openxmlformats.org/officeDocument/2006/relationships/slide" Target="slides/slide521.xml"/><Relationship Id="rId523" Type="http://schemas.openxmlformats.org/officeDocument/2006/relationships/slide" Target="slides/slide522.xml"/><Relationship Id="rId524" Type="http://schemas.openxmlformats.org/officeDocument/2006/relationships/slide" Target="slides/slide523.xml"/><Relationship Id="rId525" Type="http://schemas.openxmlformats.org/officeDocument/2006/relationships/slide" Target="slides/slide524.xml"/><Relationship Id="rId526" Type="http://schemas.openxmlformats.org/officeDocument/2006/relationships/slide" Target="slides/slide525.xml"/><Relationship Id="rId527" Type="http://schemas.openxmlformats.org/officeDocument/2006/relationships/slide" Target="slides/slide526.xml"/><Relationship Id="rId528" Type="http://schemas.openxmlformats.org/officeDocument/2006/relationships/slide" Target="slides/slide527.xml"/><Relationship Id="rId529" Type="http://schemas.openxmlformats.org/officeDocument/2006/relationships/slide" Target="slides/slide528.xml"/><Relationship Id="rId530" Type="http://schemas.openxmlformats.org/officeDocument/2006/relationships/slide" Target="slides/slide529.xml"/><Relationship Id="rId531" Type="http://schemas.openxmlformats.org/officeDocument/2006/relationships/slide" Target="slides/slide530.xml"/><Relationship Id="rId532" Type="http://schemas.openxmlformats.org/officeDocument/2006/relationships/slide" Target="slides/slide531.xml"/><Relationship Id="rId533" Type="http://schemas.openxmlformats.org/officeDocument/2006/relationships/slide" Target="slides/slide532.xml"/><Relationship Id="rId534" Type="http://schemas.openxmlformats.org/officeDocument/2006/relationships/slide" Target="slides/slide533.xml"/><Relationship Id="rId535" Type="http://schemas.openxmlformats.org/officeDocument/2006/relationships/slide" Target="slides/slide534.xml"/><Relationship Id="rId536" Type="http://schemas.openxmlformats.org/officeDocument/2006/relationships/slide" Target="slides/slide535.xml"/><Relationship Id="rId537" Type="http://schemas.openxmlformats.org/officeDocument/2006/relationships/slide" Target="slides/slide536.xml"/><Relationship Id="rId538" Type="http://schemas.openxmlformats.org/officeDocument/2006/relationships/slide" Target="slides/slide537.xml"/><Relationship Id="rId539" Type="http://schemas.openxmlformats.org/officeDocument/2006/relationships/slide" Target="slides/slide538.xml"/><Relationship Id="rId540" Type="http://schemas.openxmlformats.org/officeDocument/2006/relationships/slide" Target="slides/slide539.xml"/><Relationship Id="rId541" Type="http://schemas.openxmlformats.org/officeDocument/2006/relationships/slide" Target="slides/slide540.xml"/><Relationship Id="rId542" Type="http://schemas.openxmlformats.org/officeDocument/2006/relationships/slide" Target="slides/slide541.xml"/><Relationship Id="rId543" Type="http://schemas.openxmlformats.org/officeDocument/2006/relationships/slide" Target="slides/slide542.xml"/><Relationship Id="rId544" Type="http://schemas.openxmlformats.org/officeDocument/2006/relationships/slide" Target="slides/slide543.xml"/><Relationship Id="rId545" Type="http://schemas.openxmlformats.org/officeDocument/2006/relationships/slide" Target="slides/slide544.xml"/><Relationship Id="rId546" Type="http://schemas.openxmlformats.org/officeDocument/2006/relationships/slide" Target="slides/slide545.xml"/><Relationship Id="rId547" Type="http://schemas.openxmlformats.org/officeDocument/2006/relationships/slide" Target="slides/slide546.xml"/><Relationship Id="rId548" Type="http://schemas.openxmlformats.org/officeDocument/2006/relationships/slide" Target="slides/slide547.xml"/><Relationship Id="rId549" Type="http://schemas.openxmlformats.org/officeDocument/2006/relationships/slide" Target="slides/slide548.xml"/><Relationship Id="rId550" Type="http://schemas.openxmlformats.org/officeDocument/2006/relationships/slide" Target="slides/slide549.xml"/><Relationship Id="rId551" Type="http://schemas.openxmlformats.org/officeDocument/2006/relationships/notesMaster" Target="notesMasters/notesMaster1.xml"/><Relationship Id="rId552" Type="http://schemas.openxmlformats.org/officeDocument/2006/relationships/presProps" Target="presProps.xml"/><Relationship Id="rId553" Type="http://schemas.openxmlformats.org/officeDocument/2006/relationships/viewProps" Target="viewProps.xml"/><Relationship Id="rId554" Type="http://schemas.openxmlformats.org/officeDocument/2006/relationships/theme" Target="theme/theme1.xml"/><Relationship Id="rId5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_rels/notesSlide2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3.xml"/>
		</Relationships>
</file>

<file path=ppt/notesSlides/_rels/notesSlide2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4.xml"/>
		</Relationships>
</file>

<file path=ppt/notesSlides/_rels/notesSlide2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5.xml"/>
		</Relationships>
</file>

<file path=ppt/notesSlides/_rels/notesSlide2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6.xml"/>
		</Relationships>
</file>

<file path=ppt/notesSlides/_rels/notesSlide2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7.xml"/>
		</Relationships>
</file>

<file path=ppt/notesSlides/_rels/notesSlide2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8.xml"/>
		</Relationships>
</file>

<file path=ppt/notesSlides/_rels/notesSlide2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9.xml"/>
		</Relationships>
</file>

<file path=ppt/notesSlides/_rels/notesSlide2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0.xml"/>
		</Relationships>
</file>

<file path=ppt/notesSlides/_rels/notesSlide2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1.xml"/>
		</Relationships>
</file>

<file path=ppt/notesSlides/_rels/notesSlide2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2.xml"/>
		</Relationships>
</file>

<file path=ppt/notesSlides/_rels/notesSlide2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3.xml"/>
		</Relationships>
</file>

<file path=ppt/notesSlides/_rels/notesSlide2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4.xml"/>
		</Relationships>
</file>

<file path=ppt/notesSlides/_rels/notesSlide2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5.xml"/>
		</Relationships>
</file>

<file path=ppt/notesSlides/_rels/notesSlide2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6.xml"/>
		</Relationships>
</file>

<file path=ppt/notesSlides/_rels/notesSlide2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7.xml"/>
		</Relationships>
</file>

<file path=ppt/notesSlides/_rels/notesSlide2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8.xml"/>
		</Relationships>
</file>

<file path=ppt/notesSlides/_rels/notesSlide2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9.xml"/>
		</Relationships>
</file>

<file path=ppt/notesSlides/_rels/notesSlide2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0.xml"/>
		</Relationships>
</file>

<file path=ppt/notesSlides/_rels/notesSlide2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1.xml"/>
		</Relationships>
</file>

<file path=ppt/notesSlides/_rels/notesSlide2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2.xml"/>
		</Relationships>
</file>

<file path=ppt/notesSlides/_rels/notesSlide2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3.xml"/>
		</Relationships>
</file>

<file path=ppt/notesSlides/_rels/notesSlide2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4.xml"/>
		</Relationships>
</file>

<file path=ppt/notesSlides/_rels/notesSlide2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5.xml"/>
		</Relationships>
</file>

<file path=ppt/notesSlides/_rels/notesSlide2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6.xml"/>
		</Relationships>
</file>

<file path=ppt/notesSlides/_rels/notesSlide2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7.xml"/>
		</Relationships>
</file>

<file path=ppt/notesSlides/_rels/notesSlide2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8.xml"/>
		</Relationships>
</file>

<file path=ppt/notesSlides/_rels/notesSlide2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9.xml"/>
		</Relationships>
</file>

<file path=ppt/notesSlides/_rels/notesSlide2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0.xml"/>
		</Relationships>
</file>

<file path=ppt/notesSlides/_rels/notesSlide2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1.xml"/>
		</Relationships>
</file>

<file path=ppt/notesSlides/_rels/notesSlide2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2.xml"/>
		</Relationships>
</file>

<file path=ppt/notesSlides/_rels/notesSlide2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3.xml"/>
		</Relationships>
</file>

<file path=ppt/notesSlides/_rels/notesSlide2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4.xml"/>
		</Relationships>
</file>

<file path=ppt/notesSlides/_rels/notesSlide2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5.xml"/>
		</Relationships>
</file>

<file path=ppt/notesSlides/_rels/notesSlide2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6.xml"/>
		</Relationships>
</file>

<file path=ppt/notesSlides/_rels/notesSlide2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7.xml"/>
		</Relationships>
</file>

<file path=ppt/notesSlides/_rels/notesSlide2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8.xml"/>
		</Relationships>
</file>

<file path=ppt/notesSlides/_rels/notesSlide2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9.xml"/>
		</Relationships>
</file>

<file path=ppt/notesSlides/_rels/notesSlide3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0.xml"/>
		</Relationships>
</file>

<file path=ppt/notesSlides/_rels/notesSlide3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1.xml"/>
		</Relationships>
</file>

<file path=ppt/notesSlides/_rels/notesSlide3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2.xml"/>
		</Relationships>
</file>

<file path=ppt/notesSlides/_rels/notesSlide3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3.xml"/>
		</Relationships>
</file>

<file path=ppt/notesSlides/_rels/notesSlide3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4.xml"/>
		</Relationships>
</file>

<file path=ppt/notesSlides/_rels/notesSlide3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5.xml"/>
		</Relationships>
</file>

<file path=ppt/notesSlides/_rels/notesSlide3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6.xml"/>
		</Relationships>
</file>

<file path=ppt/notesSlides/_rels/notesSlide3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7.xml"/>
		</Relationships>
</file>

<file path=ppt/notesSlides/_rels/notesSlide3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8.xml"/>
		</Relationships>
</file>

<file path=ppt/notesSlides/_rels/notesSlide3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9.xml"/>
		</Relationships>
</file>

<file path=ppt/notesSlides/_rels/notesSlide3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0.xml"/>
		</Relationships>
</file>

<file path=ppt/notesSlides/_rels/notesSlide3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1.xml"/>
		</Relationships>
</file>

<file path=ppt/notesSlides/_rels/notesSlide3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2.xml"/>
		</Relationships>
</file>

<file path=ppt/notesSlides/_rels/notesSlide3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3.xml"/>
		</Relationships>
</file>

<file path=ppt/notesSlides/_rels/notesSlide3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4.xml"/>
		</Relationships>
</file>

<file path=ppt/notesSlides/_rels/notesSlide3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5.xml"/>
		</Relationships>
</file>

<file path=ppt/notesSlides/_rels/notesSlide3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6.xml"/>
		</Relationships>
</file>

<file path=ppt/notesSlides/_rels/notesSlide3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7.xml"/>
		</Relationships>
</file>

<file path=ppt/notesSlides/_rels/notesSlide3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8.xml"/>
		</Relationships>
</file>

<file path=ppt/notesSlides/_rels/notesSlide3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9.xml"/>
		</Relationships>
</file>

<file path=ppt/notesSlides/_rels/notesSlide3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0.xml"/>
		</Relationships>
</file>

<file path=ppt/notesSlides/_rels/notesSlide3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1.xml"/>
		</Relationships>
</file>

<file path=ppt/notesSlides/_rels/notesSlide3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2.xml"/>
		</Relationships>
</file>

<file path=ppt/notesSlides/_rels/notesSlide3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3.xml"/>
		</Relationships>
</file>

<file path=ppt/notesSlides/_rels/notesSlide3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4.xml"/>
		</Relationships>
</file>

<file path=ppt/notesSlides/_rels/notesSlide3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5.xml"/>
		</Relationships>
</file>

<file path=ppt/notesSlides/_rels/notesSlide3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6.xml"/>
		</Relationships>
</file>

<file path=ppt/notesSlides/_rels/notesSlide3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7.xml"/>
		</Relationships>
</file>

<file path=ppt/notesSlides/_rels/notesSlide3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8.xml"/>
		</Relationships>
</file>

<file path=ppt/notesSlides/_rels/notesSlide3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9.xml"/>
		</Relationships>
</file>

<file path=ppt/notesSlides/_rels/notesSlide3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0.xml"/>
		</Relationships>
</file>

<file path=ppt/notesSlides/_rels/notesSlide3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1.xml"/>
		</Relationships>
</file>

<file path=ppt/notesSlides/_rels/notesSlide3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2.xml"/>
		</Relationships>
</file>

<file path=ppt/notesSlides/_rels/notesSlide3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3.xml"/>
		</Relationships>
</file>

<file path=ppt/notesSlides/_rels/notesSlide3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4.xml"/>
		</Relationships>
</file>

<file path=ppt/notesSlides/_rels/notesSlide3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5.xml"/>
		</Relationships>
</file>

<file path=ppt/notesSlides/_rels/notesSlide3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6.xml"/>
		</Relationships>
</file>

<file path=ppt/notesSlides/_rels/notesSlide3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7.xml"/>
		</Relationships>
</file>

<file path=ppt/notesSlides/_rels/notesSlide3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8.xml"/>
		</Relationships>
</file>

<file path=ppt/notesSlides/_rels/notesSlide3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9.xml"/>
		</Relationships>
</file>

<file path=ppt/notesSlides/_rels/notesSlide3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0.xml"/>
		</Relationships>
</file>

<file path=ppt/notesSlides/_rels/notesSlide3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1.xml"/>
		</Relationships>
</file>

<file path=ppt/notesSlides/_rels/notesSlide3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2.xml"/>
		</Relationships>
</file>

<file path=ppt/notesSlides/_rels/notesSlide3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3.xml"/>
		</Relationships>
</file>

<file path=ppt/notesSlides/_rels/notesSlide3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4.xml"/>
		</Relationships>
</file>

<file path=ppt/notesSlides/_rels/notesSlide3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5.xml"/>
		</Relationships>
</file>

<file path=ppt/notesSlides/_rels/notesSlide3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6.xml"/>
		</Relationships>
</file>

<file path=ppt/notesSlides/_rels/notesSlide3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7.xml"/>
		</Relationships>
</file>

<file path=ppt/notesSlides/_rels/notesSlide3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8.xml"/>
		</Relationships>
</file>

<file path=ppt/notesSlides/_rels/notesSlide3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9.xml"/>
		</Relationships>
</file>

<file path=ppt/notesSlides/_rels/notesSlide3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0.xml"/>
		</Relationships>
</file>

<file path=ppt/notesSlides/_rels/notesSlide3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1.xml"/>
		</Relationships>
</file>

<file path=ppt/notesSlides/_rels/notesSlide3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2.xml"/>
		</Relationships>
</file>

<file path=ppt/notesSlides/_rels/notesSlide3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3.xml"/>
		</Relationships>
</file>

<file path=ppt/notesSlides/_rels/notesSlide3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4.xml"/>
		</Relationships>
</file>

<file path=ppt/notesSlides/_rels/notesSlide3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5.xml"/>
		</Relationships>
</file>

<file path=ppt/notesSlides/_rels/notesSlide3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6.xml"/>
		</Relationships>
</file>

<file path=ppt/notesSlides/_rels/notesSlide3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7.xml"/>
		</Relationships>
</file>

<file path=ppt/notesSlides/_rels/notesSlide3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8.xml"/>
		</Relationships>
</file>

<file path=ppt/notesSlides/_rels/notesSlide3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9.xml"/>
		</Relationships>
</file>

<file path=ppt/notesSlides/_rels/notesSlide3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0.xml"/>
		</Relationships>
</file>

<file path=ppt/notesSlides/_rels/notesSlide3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1.xml"/>
		</Relationships>
</file>

<file path=ppt/notesSlides/_rels/notesSlide3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2.xml"/>
		</Relationships>
</file>

<file path=ppt/notesSlides/_rels/notesSlide3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3.xml"/>
		</Relationships>
</file>

<file path=ppt/notesSlides/_rels/notesSlide3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4.xml"/>
		</Relationships>
</file>

<file path=ppt/notesSlides/_rels/notesSlide3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5.xml"/>
		</Relationships>
</file>

<file path=ppt/notesSlides/_rels/notesSlide3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6.xml"/>
		</Relationships>
</file>

<file path=ppt/notesSlides/_rels/notesSlide3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7.xml"/>
		</Relationships>
</file>

<file path=ppt/notesSlides/_rels/notesSlide3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8.xml"/>
		</Relationships>
</file>

<file path=ppt/notesSlides/_rels/notesSlide3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9.xml"/>
		</Relationships>
</file>

<file path=ppt/notesSlides/_rels/notesSlide3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0.xml"/>
		</Relationships>
</file>

<file path=ppt/notesSlides/_rels/notesSlide3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1.xml"/>
		</Relationships>
</file>

<file path=ppt/notesSlides/_rels/notesSlide3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2.xml"/>
		</Relationships>
</file>

<file path=ppt/notesSlides/_rels/notesSlide3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3.xml"/>
		</Relationships>
</file>

<file path=ppt/notesSlides/_rels/notesSlide3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4.xml"/>
		</Relationships>
</file>

<file path=ppt/notesSlides/_rels/notesSlide3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5.xml"/>
		</Relationships>
</file>

<file path=ppt/notesSlides/_rels/notesSlide3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6.xml"/>
		</Relationships>
</file>

<file path=ppt/notesSlides/_rels/notesSlide3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7.xml"/>
		</Relationships>
</file>

<file path=ppt/notesSlides/_rels/notesSlide3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8.xml"/>
		</Relationships>
</file>

<file path=ppt/notesSlides/_rels/notesSlide3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9.xml"/>
		</Relationships>
</file>

<file path=ppt/notesSlides/_rels/notesSlide3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0.xml"/>
		</Relationships>
</file>

<file path=ppt/notesSlides/_rels/notesSlide3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1.xml"/>
		</Relationships>
</file>

<file path=ppt/notesSlides/_rels/notesSlide3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2.xml"/>
		</Relationships>
</file>

<file path=ppt/notesSlides/_rels/notesSlide3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3.xml"/>
		</Relationships>
</file>

<file path=ppt/notesSlides/_rels/notesSlide3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4.xml"/>
		</Relationships>
</file>

<file path=ppt/notesSlides/_rels/notesSlide3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5.xml"/>
		</Relationships>
</file>

<file path=ppt/notesSlides/_rels/notesSlide3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6.xml"/>
		</Relationships>
</file>

<file path=ppt/notesSlides/_rels/notesSlide3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7.xml"/>
		</Relationships>
</file>

<file path=ppt/notesSlides/_rels/notesSlide3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8.xml"/>
		</Relationships>
</file>

<file path=ppt/notesSlides/_rels/notesSlide3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9.xml"/>
		</Relationships>
</file>

<file path=ppt/notesSlides/_rels/notesSlide3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0.xml"/>
		</Relationships>
</file>

<file path=ppt/notesSlides/_rels/notesSlide3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1.xml"/>
		</Relationships>
</file>

<file path=ppt/notesSlides/_rels/notesSlide3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2.xml"/>
		</Relationships>
</file>

<file path=ppt/notesSlides/_rels/notesSlide3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3.xml"/>
		</Relationships>
</file>

<file path=ppt/notesSlides/_rels/notesSlide3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4.xml"/>
		</Relationships>
</file>

<file path=ppt/notesSlides/_rels/notesSlide3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5.xml"/>
		</Relationships>
</file>

<file path=ppt/notesSlides/_rels/notesSlide3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6.xml"/>
		</Relationships>
</file>

<file path=ppt/notesSlides/_rels/notesSlide3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7.xml"/>
		</Relationships>
</file>

<file path=ppt/notesSlides/_rels/notesSlide3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8.xml"/>
		</Relationships>
</file>

<file path=ppt/notesSlides/_rels/notesSlide3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9.xml"/>
		</Relationships>
</file>

<file path=ppt/notesSlides/_rels/notesSlide4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0.xml"/>
		</Relationships>
</file>

<file path=ppt/notesSlides/_rels/notesSlide4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1.xml"/>
		</Relationships>
</file>

<file path=ppt/notesSlides/_rels/notesSlide4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2.xml"/>
		</Relationships>
</file>

<file path=ppt/notesSlides/_rels/notesSlide4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3.xml"/>
		</Relationships>
</file>

<file path=ppt/notesSlides/_rels/notesSlide4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4.xml"/>
		</Relationships>
</file>

<file path=ppt/notesSlides/_rels/notesSlide4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5.xml"/>
		</Relationships>
</file>

<file path=ppt/notesSlides/_rels/notesSlide4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6.xml"/>
		</Relationships>
</file>

<file path=ppt/notesSlides/_rels/notesSlide4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7.xml"/>
		</Relationships>
</file>

<file path=ppt/notesSlides/_rels/notesSlide4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8.xml"/>
		</Relationships>
</file>

<file path=ppt/notesSlides/_rels/notesSlide4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9.xml"/>
		</Relationships>
</file>

<file path=ppt/notesSlides/_rels/notesSlide4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0.xml"/>
		</Relationships>
</file>

<file path=ppt/notesSlides/_rels/notesSlide4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1.xml"/>
		</Relationships>
</file>

<file path=ppt/notesSlides/_rels/notesSlide4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2.xml"/>
		</Relationships>
</file>

<file path=ppt/notesSlides/_rels/notesSlide4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3.xml"/>
		</Relationships>
</file>

<file path=ppt/notesSlides/_rels/notesSlide4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4.xml"/>
		</Relationships>
</file>

<file path=ppt/notesSlides/_rels/notesSlide4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5.xml"/>
		</Relationships>
</file>

<file path=ppt/notesSlides/_rels/notesSlide4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6.xml"/>
		</Relationships>
</file>

<file path=ppt/notesSlides/_rels/notesSlide4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7.xml"/>
		</Relationships>
</file>

<file path=ppt/notesSlides/_rels/notesSlide4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8.xml"/>
		</Relationships>
</file>

<file path=ppt/notesSlides/_rels/notesSlide4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9.xml"/>
		</Relationships>
</file>

<file path=ppt/notesSlides/_rels/notesSlide4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0.xml"/>
		</Relationships>
</file>

<file path=ppt/notesSlides/_rels/notesSlide4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1.xml"/>
		</Relationships>
</file>

<file path=ppt/notesSlides/_rels/notesSlide4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2.xml"/>
		</Relationships>
</file>

<file path=ppt/notesSlides/_rels/notesSlide4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3.xml"/>
		</Relationships>
</file>

<file path=ppt/notesSlides/_rels/notesSlide4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4.xml"/>
		</Relationships>
</file>

<file path=ppt/notesSlides/_rels/notesSlide4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5.xml"/>
		</Relationships>
</file>

<file path=ppt/notesSlides/_rels/notesSlide4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6.xml"/>
		</Relationships>
</file>

<file path=ppt/notesSlides/_rels/notesSlide4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7.xml"/>
		</Relationships>
</file>

<file path=ppt/notesSlides/_rels/notesSlide4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8.xml"/>
		</Relationships>
</file>

<file path=ppt/notesSlides/_rels/notesSlide4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9.xml"/>
		</Relationships>
</file>

<file path=ppt/notesSlides/_rels/notesSlide4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0.xml"/>
		</Relationships>
</file>

<file path=ppt/notesSlides/_rels/notesSlide4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1.xml"/>
		</Relationships>
</file>

<file path=ppt/notesSlides/_rels/notesSlide4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2.xml"/>
		</Relationships>
</file>

<file path=ppt/notesSlides/_rels/notesSlide4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3.xml"/>
		</Relationships>
</file>

<file path=ppt/notesSlides/_rels/notesSlide4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4.xml"/>
		</Relationships>
</file>

<file path=ppt/notesSlides/_rels/notesSlide4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5.xml"/>
		</Relationships>
</file>

<file path=ppt/notesSlides/_rels/notesSlide4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6.xml"/>
		</Relationships>
</file>

<file path=ppt/notesSlides/_rels/notesSlide4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7.xml"/>
		</Relationships>
</file>

<file path=ppt/notesSlides/_rels/notesSlide4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8.xml"/>
		</Relationships>
</file>

<file path=ppt/notesSlides/_rels/notesSlide4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9.xml"/>
		</Relationships>
</file>

<file path=ppt/notesSlides/_rels/notesSlide4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0.xml"/>
		</Relationships>
</file>

<file path=ppt/notesSlides/_rels/notesSlide4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1.xml"/>
		</Relationships>
</file>

<file path=ppt/notesSlides/_rels/notesSlide4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2.xml"/>
		</Relationships>
</file>

<file path=ppt/notesSlides/_rels/notesSlide4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3.xml"/>
		</Relationships>
</file>

<file path=ppt/notesSlides/_rels/notesSlide4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4.xml"/>
		</Relationships>
</file>

<file path=ppt/notesSlides/_rels/notesSlide4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5.xml"/>
		</Relationships>
</file>

<file path=ppt/notesSlides/_rels/notesSlide4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6.xml"/>
		</Relationships>
</file>

<file path=ppt/notesSlides/_rels/notesSlide4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7.xml"/>
		</Relationships>
</file>

<file path=ppt/notesSlides/_rels/notesSlide4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8.xml"/>
		</Relationships>
</file>

<file path=ppt/notesSlides/_rels/notesSlide4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9.xml"/>
		</Relationships>
</file>

<file path=ppt/notesSlides/_rels/notesSlide4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0.xml"/>
		</Relationships>
</file>

<file path=ppt/notesSlides/_rels/notesSlide4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1.xml"/>
		</Relationships>
</file>

<file path=ppt/notesSlides/_rels/notesSlide4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2.xml"/>
		</Relationships>
</file>

<file path=ppt/notesSlides/_rels/notesSlide4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3.xml"/>
		</Relationships>
</file>

<file path=ppt/notesSlides/_rels/notesSlide4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4.xml"/>
		</Relationships>
</file>

<file path=ppt/notesSlides/_rels/notesSlide4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5.xml"/>
		</Relationships>
</file>

<file path=ppt/notesSlides/_rels/notesSlide4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6.xml"/>
		</Relationships>
</file>

<file path=ppt/notesSlides/_rels/notesSlide4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7.xml"/>
		</Relationships>
</file>

<file path=ppt/notesSlides/_rels/notesSlide4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8.xml"/>
		</Relationships>
</file>

<file path=ppt/notesSlides/_rels/notesSlide4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9.xml"/>
		</Relationships>
</file>

<file path=ppt/notesSlides/_rels/notesSlide4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0.xml"/>
		</Relationships>
</file>

<file path=ppt/notesSlides/_rels/notesSlide4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1.xml"/>
		</Relationships>
</file>

<file path=ppt/notesSlides/_rels/notesSlide4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2.xml"/>
		</Relationships>
</file>

<file path=ppt/notesSlides/_rels/notesSlide4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3.xml"/>
		</Relationships>
</file>

<file path=ppt/notesSlides/_rels/notesSlide4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4.xml"/>
		</Relationships>
</file>

<file path=ppt/notesSlides/_rels/notesSlide4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5.xml"/>
		</Relationships>
</file>

<file path=ppt/notesSlides/_rels/notesSlide4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6.xml"/>
		</Relationships>
</file>

<file path=ppt/notesSlides/_rels/notesSlide4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7.xml"/>
		</Relationships>
</file>

<file path=ppt/notesSlides/_rels/notesSlide4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8.xml"/>
		</Relationships>
</file>

<file path=ppt/notesSlides/_rels/notesSlide4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9.xml"/>
		</Relationships>
</file>

<file path=ppt/notesSlides/_rels/notesSlide4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0.xml"/>
		</Relationships>
</file>

<file path=ppt/notesSlides/_rels/notesSlide4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1.xml"/>
		</Relationships>
</file>

<file path=ppt/notesSlides/_rels/notesSlide4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2.xml"/>
		</Relationships>
</file>

<file path=ppt/notesSlides/_rels/notesSlide4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3.xml"/>
		</Relationships>
</file>

<file path=ppt/notesSlides/_rels/notesSlide4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4.xml"/>
		</Relationships>
</file>

<file path=ppt/notesSlides/_rels/notesSlide4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5.xml"/>
		</Relationships>
</file>

<file path=ppt/notesSlides/_rels/notesSlide4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6.xml"/>
		</Relationships>
</file>

<file path=ppt/notesSlides/_rels/notesSlide4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7.xml"/>
		</Relationships>
</file>

<file path=ppt/notesSlides/_rels/notesSlide4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8.xml"/>
		</Relationships>
</file>

<file path=ppt/notesSlides/_rels/notesSlide4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9.xml"/>
		</Relationships>
</file>

<file path=ppt/notesSlides/_rels/notesSlide4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0.xml"/>
		</Relationships>
</file>

<file path=ppt/notesSlides/_rels/notesSlide4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1.xml"/>
		</Relationships>
</file>

<file path=ppt/notesSlides/_rels/notesSlide4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2.xml"/>
		</Relationships>
</file>

<file path=ppt/notesSlides/_rels/notesSlide4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3.xml"/>
		</Relationships>
</file>

<file path=ppt/notesSlides/_rels/notesSlide4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4.xml"/>
		</Relationships>
</file>

<file path=ppt/notesSlides/_rels/notesSlide4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5.xml"/>
		</Relationships>
</file>

<file path=ppt/notesSlides/_rels/notesSlide4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6.xml"/>
		</Relationships>
</file>

<file path=ppt/notesSlides/_rels/notesSlide4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7.xml"/>
		</Relationships>
</file>

<file path=ppt/notesSlides/_rels/notesSlide4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8.xml"/>
		</Relationships>
</file>

<file path=ppt/notesSlides/_rels/notesSlide4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9.xml"/>
		</Relationships>
</file>

<file path=ppt/notesSlides/_rels/notesSlide4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0.xml"/>
		</Relationships>
</file>

<file path=ppt/notesSlides/_rels/notesSlide4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1.xml"/>
		</Relationships>
</file>

<file path=ppt/notesSlides/_rels/notesSlide4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2.xml"/>
		</Relationships>
</file>

<file path=ppt/notesSlides/_rels/notesSlide4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3.xml"/>
		</Relationships>
</file>

<file path=ppt/notesSlides/_rels/notesSlide4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4.xml"/>
		</Relationships>
</file>

<file path=ppt/notesSlides/_rels/notesSlide4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5.xml"/>
		</Relationships>
</file>

<file path=ppt/notesSlides/_rels/notesSlide4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6.xml"/>
		</Relationships>
</file>

<file path=ppt/notesSlides/_rels/notesSlide4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7.xml"/>
		</Relationships>
</file>

<file path=ppt/notesSlides/_rels/notesSlide4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8.xml"/>
		</Relationships>
</file>

<file path=ppt/notesSlides/_rels/notesSlide4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9.xml"/>
		</Relationships>
</file>

<file path=ppt/notesSlides/_rels/notesSlide5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0.xml"/>
		</Relationships>
</file>

<file path=ppt/notesSlides/_rels/notesSlide5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1.xml"/>
		</Relationships>
</file>

<file path=ppt/notesSlides/_rels/notesSlide5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2.xml"/>
		</Relationships>
</file>

<file path=ppt/notesSlides/_rels/notesSlide5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3.xml"/>
		</Relationships>
</file>

<file path=ppt/notesSlides/_rels/notesSlide5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4.xml"/>
		</Relationships>
</file>

<file path=ppt/notesSlides/_rels/notesSlide5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5.xml"/>
		</Relationships>
</file>

<file path=ppt/notesSlides/_rels/notesSlide5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6.xml"/>
		</Relationships>
</file>

<file path=ppt/notesSlides/_rels/notesSlide5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7.xml"/>
		</Relationships>
</file>

<file path=ppt/notesSlides/_rels/notesSlide5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8.xml"/>
		</Relationships>
</file>

<file path=ppt/notesSlides/_rels/notesSlide5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9.xml"/>
		</Relationships>
</file>

<file path=ppt/notesSlides/_rels/notesSlide5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0.xml"/>
		</Relationships>
</file>

<file path=ppt/notesSlides/_rels/notesSlide5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1.xml"/>
		</Relationships>
</file>

<file path=ppt/notesSlides/_rels/notesSlide5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2.xml"/>
		</Relationships>
</file>

<file path=ppt/notesSlides/_rels/notesSlide5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3.xml"/>
		</Relationships>
</file>

<file path=ppt/notesSlides/_rels/notesSlide5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4.xml"/>
		</Relationships>
</file>

<file path=ppt/notesSlides/_rels/notesSlide5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5.xml"/>
		</Relationships>
</file>

<file path=ppt/notesSlides/_rels/notesSlide5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6.xml"/>
		</Relationships>
</file>

<file path=ppt/notesSlides/_rels/notesSlide5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7.xml"/>
		</Relationships>
</file>

<file path=ppt/notesSlides/_rels/notesSlide5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8.xml"/>
		</Relationships>
</file>

<file path=ppt/notesSlides/_rels/notesSlide5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9.xml"/>
		</Relationships>
</file>

<file path=ppt/notesSlides/_rels/notesSlide5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0.xml"/>
		</Relationships>
</file>

<file path=ppt/notesSlides/_rels/notesSlide5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1.xml"/>
		</Relationships>
</file>

<file path=ppt/notesSlides/_rels/notesSlide5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2.xml"/>
		</Relationships>
</file>

<file path=ppt/notesSlides/_rels/notesSlide5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3.xml"/>
		</Relationships>
</file>

<file path=ppt/notesSlides/_rels/notesSlide5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4.xml"/>
		</Relationships>
</file>

<file path=ppt/notesSlides/_rels/notesSlide5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5.xml"/>
		</Relationships>
</file>

<file path=ppt/notesSlides/_rels/notesSlide5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6.xml"/>
		</Relationships>
</file>

<file path=ppt/notesSlides/_rels/notesSlide5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7.xml"/>
		</Relationships>
</file>

<file path=ppt/notesSlides/_rels/notesSlide5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8.xml"/>
		</Relationships>
</file>

<file path=ppt/notesSlides/_rels/notesSlide5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9.xml"/>
		</Relationships>
</file>

<file path=ppt/notesSlides/_rels/notesSlide5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0.xml"/>
		</Relationships>
</file>

<file path=ppt/notesSlides/_rels/notesSlide5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1.xml"/>
		</Relationships>
</file>

<file path=ppt/notesSlides/_rels/notesSlide5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2.xml"/>
		</Relationships>
</file>

<file path=ppt/notesSlides/_rels/notesSlide5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3.xml"/>
		</Relationships>
</file>

<file path=ppt/notesSlides/_rels/notesSlide5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4.xml"/>
		</Relationships>
</file>

<file path=ppt/notesSlides/_rels/notesSlide5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5.xml"/>
		</Relationships>
</file>

<file path=ppt/notesSlides/_rels/notesSlide5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6.xml"/>
		</Relationships>
</file>

<file path=ppt/notesSlides/_rels/notesSlide5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7.xml"/>
		</Relationships>
</file>

<file path=ppt/notesSlides/_rels/notesSlide5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8.xml"/>
		</Relationships>
</file>

<file path=ppt/notesSlides/_rels/notesSlide5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9.xml"/>
		</Relationships>
</file>

<file path=ppt/notesSlides/_rels/notesSlide5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0.xml"/>
		</Relationships>
</file>

<file path=ppt/notesSlides/_rels/notesSlide5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1.xml"/>
		</Relationships>
</file>

<file path=ppt/notesSlides/_rels/notesSlide5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2.xml"/>
		</Relationships>
</file>

<file path=ppt/notesSlides/_rels/notesSlide5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3.xml"/>
		</Relationships>
</file>

<file path=ppt/notesSlides/_rels/notesSlide5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4.xml"/>
		</Relationships>
</file>

<file path=ppt/notesSlides/_rels/notesSlide5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5.xml"/>
		</Relationships>
</file>

<file path=ppt/notesSlides/_rels/notesSlide5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6.xml"/>
		</Relationships>
</file>

<file path=ppt/notesSlides/_rels/notesSlide5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7.xml"/>
		</Relationships>
</file>

<file path=ppt/notesSlides/_rels/notesSlide5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8.xml"/>
		</Relationships>
</file>

<file path=ppt/notesSlides/_rels/notesSlide5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两处限定：其一，例外仅指向“准备或者正在实施”的犯罪，即面向未来的危险，而非已经完成的既往犯罪；其二，例外指向的是特定重大犯罪类型。按此标准，“平静湖案”若发生在我国，律师同样负有保密义务——这正是本课程第16课时要展开的核心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德法兼修”四字是理解本课程性质的钥匙：“法”指向知识与技能，“德”指向品格与判断。二者不是先后关系，而是同一过程的两面——本课程要培养的，不是知道规范的人，而是能够在规范沉默处仍作出正当选择的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请注意“应当取得”四个字：这不是倡导性规定，而是强制性的任职资格条件。未取得法律职业资格而从事上述职业的，任职行为本身即不合法。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请比较三个定义的落点：律师定义于“提供法律服务”，法官定义于“行使审判权”，检察官定义于“行使检察权”。一个是服务提供者，两个是公权力行使者——这一区别，正是三者职业伦理内容差异的根源。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第（六）项：“故意提供虚假证据或者威胁、利诱他人提供虚假证据”——这是角色义务的硬边界。忠诚于委托人，绝不包括为委托人造假。凡越过此线者，不再受“非道德性”命题的保护，且可能构成《刑法》第三百零六条辩护人妨害作证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条第二款的“三个维护”是律师职业伦理的总纲。三者在绝大多数案件中一致，但在个别情形下存在张力——例如当事人要求作虚假陈述时，维护当事人“合法”权益与维护法律正确实施的关系如何处理？注意条文用的是“合法权益”，这四个字本身就划定了忠诚义务的边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2016年修订的《准则》不分章节，仅五条，简明地点出忠诚、为民、担当、公正、廉洁五项基本要求。相较2009年试行版的“忠诚、公正、清廉、文明”四个关键词，新增“为民”与“担当”，删去“文明”——这一调整反映了检察机关法律监督职能强化的制度背景。此外，《检察官法》第五条、第十条，以及《检察人员纪律处分条例》构成检察官伦理规范的其他重要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请注意“非因法定事由、非经法定程序”这一表述：它把法官的职务保障提升为一项法定权利，而不再是组织的裁量事项。这正是身份独立的制度化表达。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项的意义在于：法官的职责是通过审判活动将国家法律适用到现实生活中去，使法律得以贯彻执行；同时，法官严格遵守法律对当事人和其他社会成员具有重要的示范作用与教育意义——公众正是通过法官的行为来认识法律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握两点：第一，这是“列举式”授权，四类之外院庭长无权要求报告；第二，权限限于“要求报告案件进展和评议结果”，即知情权与提示权，不包括改变裁判结果的决定权。院庭长如认为裁判确有错误，应当通过提交专业法官会议讨论、提请审判委员会讨论等法定途径处理，而不得直接指令承办人如何裁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比较两条的差异：刑诉法多出第（三）项“担任过本案的证人、鉴定人、辩护人、诉讼代理人的”，这是角色混同的禁止；民诉法则明确将“接受请客送礼、违规会见”单列为回避事由。共同的兜底条款是“其他关系，可能影响公正审理/处理”——这正是外观中立标准的规范入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把廉洁要求与回避制度打通：接受请客送礼、违规会见，不仅要承担纪律或刑事责任，而且直接构成当事人申请回避的事由。请注意其规范逻辑——违规接触之所以成为回避事由，正是因为它破坏了外观中立，而不必证明裁判者实际上已被收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第二十四条的严厉程度：只要配偶、父母、子女在本院辖区内执业，需要回避的不是“这个案件”，而是“这个职位”——法官本人必须调离或者其近亲属停止在该辖区执业。这是一项彻底的、结构性的防范，其针对的正是“关系案”“人情案”的制度土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款分别设置了三道防线：第一款是“两年冷却期”（时间限制，普遍适用）；第二款是“原任职法院终身禁止”（空间限制，无期限）；第三款是“近亲属同步禁止”（关系限制）。2021年最高人民法院、最高人民检察院、司法部联合印发《关于进一步规范法院、检察院离任人员从事律师职业的意见》，对上述规则作了进一步细化，并将规制范围扩展至更多离任人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条规定的伦理意义在于：法官一旦参与招商引资或征收拆迁，就在相关领域中取得了利害关系与预设立场，此后再审理相关案件，中立性荡然无存。它同时保护了法官——使其得以拒绝地方的不当安排，而无须承担个人得罪人的成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项禁止各有其理据：禁止兼任人大常委会组成人员，是为避免立法权与司法权集于一身；禁止兼任行政、监察、检察职务，是权力分工的要求；禁止兼任营利性组织职务，是防止利益冲突；禁止兼任律师、仲裁员、公证员，是防止角色混同。请注意条文用的是“不得兼任”，即无论是否取酬、无论是否实际履职，一律禁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两处技术设计：其一，第（二）（五）（六）项都包含“以他人名义”，直指规避行为；其二，第（七）项是兜底条款，判断标准为“可能与公共利益发生冲突”，与回避制度的兜底条款同构。违反本条的，依照《人民法院工作人员处分条例》的相关规定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两条处理的是一个真实而普遍的困境：法官也是普通人，也会有纠纷。规范的立场是——法官在自己的纠纷中只能作为普通公民出现，不得动用职业身份换取任何优待。请注意第八十六条第（三）项用的是“不宜”，属于倡导性表述，但实务中应当从严把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十项归为四类：审判职责类（四、五、六）、廉洁类（一、七、八、九）、保密与证据类（二、三）、兜底（十）。其中第（四）（五）项是审判责任的核心归责标准——故意与重大过失，且第（五）项还要求“造成严重后果”这一结果要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的制度精妙之处在于“两分”：专业问题（是否违反审判职责、过错程度）由惩戒委员会以同行评议方式认定；处理决定则由人民法院依组织程序作出。它在“同行评议”与“组织管理”之间取得了平衡。请注意惩戒委员会的审查范围仅限于第（四）（五）项，其他事由不经此程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十九条赋予当事法官三项程序权利：申请回避权、陈述权、举证与辩解权——这是最低限度的正当程序要求；第五十条建立了异议审查机制，使审查意见不至于一锤定音。请注意：被惩戒者本身是法律职业人员，程序若不正当，其损害不仅在个案，更在于对整个司法制度正当性的示范性破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法律监督机关”这一定位的独特性：在英美法系，检察官主要是政府的公诉代理人；在大陆法系，检察官是“法律的守护人”但主要活动于刑事领域。而我国检察机关的法律监督职能覆盖刑事、民事、行政、公益诉讼四大领域，其广度为世界所少有。这一定位是理解我国检察官职业伦理的起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我国法上客观公正义务最直接、最集中的表达，也是2019年修订《检察官法》的重要成果。请注意第二款的两个“要”：既要追诉犯罪（追诉职能），也要保障无罪的人不受刑事追究（保障职能）。这两项并列而非主次，正是检察官双重身份的规范表达。第10课时我们将围绕这一条展开整堂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2016年修订版不分章节，仅五条，凝练地点出忠诚、为民、担当、公正、廉洁五项基本要求。相较2009年试行版的“忠诚、公正、清廉、文明”，新增“为民”与“担当”、删去“文明”。“担当”直接对应“强化法律监督”——它要求检察官敢于监督、善于监督，包括监督同为司法机关的法院与侦查机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刑事诉讼法》第五十二条的三层结构：第一句是全面取证义务（有罪无罪、罪重罪轻并列）；第二句是取证方法的禁止性规定与不得强迫自证其罪；第三句是保障证据来源的义务。这一条同时约束审判人员、检察人员、侦查人员，是我国客观义务在诉讼法上的总条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与《法官法》第十条对照：两条结构完全平行，仅第（二）项表述略有不同（法官法为“依法履行审判职责，秉公办案，不得徇私枉法”）。这种平行结构说明：法官与检察官虽角色不同，但作为司法人员的基本义务是共通的——守法、公正、保障权利、维护公益、保密、接受监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条号对照记忆法：《检察官法》相关条文较《法官法》后移一条——兼职禁止（法官法22 / 检察官法23）、亲属关系任职回避（23 / 24）、近亲属律师任职回避（24 / 25）、离任回避（36 / 37）、处分事由（46 / 47）、惩戒委员会（48 / 49）。差异源于《检察官法》在相应位置多出一条奖励规定。这是法考的高频陷阱。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法官法》第四十六条对照：结构完全平行，仅第（一）项由“枉法裁判”改为“枉法办案”、第（五）项由“裁判结果错误”改为“案件错误”——因为检察官的产出不限于裁判。第（四）（五）项同样是司法责任的核心归责标准：故意与重大过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法官惩戒制度完全同构：“专业审查+组织决定”两分模式；审查范围仅限第（四）（五）项；四档审查意见（故意、重大过失、一般过失、没有违反职责）；检察官代表不少于半数。当事检察官同样享有申请回避、陈述、举证辩解的程序权利，并可对审查意见提出异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条第二款的“三个维护”是律师职业伦理的总纲。请注意其中的限定词“合法权益”——这四个字划定了忠诚义务的边界：律师维护的是当事人的合法权益，不包括非法利益。当事人要求造假，那个诉求不是“合法权益”，拒绝它并不违反第一个“维护”。第三条则呈现“义务—标准—监督—保障”的四段式结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言论豁免与法官的职业特权在法理上同构：如果发言者随时可能因发言被追究，他就不敢畅所欲言，而诉讼所需要的恰恰是充分表达。请注意豁免有三项除外情形，且限于“在法庭上发表的代理、辩护意见”——庭外言论、自媒体发言不在豁免范围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三个维护”的排序：当事人合法权益在先，法律正确实施与社会公平正义在后。这个排序不是价值高低的排序，而是律师工作方式的写照——律师正是通过尽力维护当事人的合法权益，参与到法律正确实施与公平正义实现的整体机制中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八项是律师执业的硬边界，凡越界者不再受“非道德性”命题的保护。请注意第（一）项“私自接受委托、收取费用”——这不只是财务问题，而是规避律所管理、逃避利益冲突审查的行为，是大量执业事故的起点。第（六）项则是刑事责任的入口，可能触及《刑法》第三百零六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包含四项强制要求：统一接受委托、书面合同、统一收费、如实入账。违反的后果是《律师法》第四十条第（一）项“私自接受委托、收取费用”，可被处以停止执业乃至吊销执业证书。请理解其制度功能：统一接受委托使利益冲突审查、质量管理、责任承担成为可能；律所不是律师的“挂靠单位”，而是委托关系的法律主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两款的不对称：委托人可以随时解除（第一款无条件），律师原则上不得拒绝（第二款有条件）。这一不对称正是信义关系的体现——委托关系建立在委托人的信任之上，信任消失即可终止；而律师中途退出会使当事人陷入无人代理的困境，因此须有正当理由。第二款列举的三项正当理由，请务必记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条分别对应忠诚义务的三个侧面：不得与委托人争利（第二项）、不得为对方所用（第三项）、不得同时服务于冲突的利益（第三十九条）。请注意第（二）项“牟取当事人争议的权益”的射程：律师不得购买委托人正在争讼的标的物、不得以低价受让争议债权、不得以顾问身份取得客户的商业机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确立了“律所对外承担、内部追偿”的双层结构。其制度意义有三：其一，保障当事人能够获得实际赔偿（律所偿付能力强于个人）；其二，倒逼律所履行管理责任——律所必须对律师执业进行实质管理，否则自担风险；其三，追偿限于“故意或者重大过失”，一般过失由律所承担，为律师保留了必要的执业空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处差异必须辨析：其一，适用主体——《律师法》适用于全体律师与全部业务，《刑事诉讼法》仅适用于辩护律师；其二，例外范围——《律师法》多出“财产安全”；其三，义务形态——《律师法》表述为“除外”（不受保密义务约束，可以说但不必须说），《刑事诉讼法》表述为“应当及时告知”（负有主动告知的强制义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这三条规则实际上就是比例原则在保密义务中的运用：目的正当（防止重大危害）、手段必要（无替代手段）、损害最小（最小披露）。请各位将其作为处理一切例外情形的分析框架。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修订对律师保密义务构成了当代最重要的挑战：一方面，客户身份识别与可疑交易报告要求律师主动向监管机构提供信息；另一方面，保密义务要求律师守口如瓶。域外的通行做法是设置“法律职业特权豁免”——律师在为客户提供诉讼代理或者判断其法律地位时所获知的信息，不在报告义务范围内。我国相关配套规则仍在完善之中，请各位密切关注后续立法与实施办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只规定了两种最核心的情形：同案双方代理（双向代理）、与本人或近亲属有利益冲突的事务。它是原则性规定，具体的类型化列举由行业规范完成。请注意“同一案件”这一限定——在实务中，什么算“同一案件”往往是争议焦点：关联案件、后续案件、同一交易衍生的多个纠纷，是否属于“同一案件”？答案需要借助行业规范与实质关联性标准来确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十一条属于绝对禁止情形——不得建立，已建立的必须终止，且原则上不因当事人同意而正当化（第四项的县域独家例外除外）。与之相对，第五十二条规定了一类相对禁止情形：律师应当告知委托人并主动提出回避，但委托人同意继续代理的除外。绝对禁止与相对禁止的分野，是我国冲突规则最重要的结构，第18课时将详细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请注意条文的规范结构：“应当告知 + 主动提出回避”是原则，“委托人同意”是例外。也就是说：律师不能因为觉得“当事人大概不介意”就不告知，告知是强制性的第一步；只有在告知之后，当事人明确表示同意，才可以继续办理。另请注意：告知义务针对的是本方委托人，而不是对方当事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禁止的理由各不相同：刑事、行政、国家赔偿案件涉及公权力与人身自由，若与胜负挂钩，可能诱发违法取证、干扰司法；群体性案件涉及众多当事人，风险代理容易诱发恶意诉讼与不当动员；赡养费、劳动报酬等案件的当事人本就处于弱势，从其救命钱中抽成有违公平。请各位注意：这些禁止是绝对的，当事人同意也不能变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握《律师法》行政处罚的三级阶梯：第四十七条为最轻一级（警告、五千元以下罚款、没收违法所得），第四十八条为中间一级（警告、一万元以下罚款、没收违法所得，情节严重的停止执业），第四十九条为最重一级（停止执业六个月以上一年以下、五万元以下罚款，情节严重的吊销执业证书，构成犯罪的追究刑事责任）。私自收费属第四十八条第（一）项。而挪用当事人款项若构成职务侵占、挪用资金、侵占或者诈骗，则直接进入刑事责任层面——这才是最严重的后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特别注意第二款：这是一条重要的出罪条款。证据失实与伪造证据是两回事——律师提交的证人证言后来被证明不真实，只要不是有意伪造，就不构成本罪。这一款正是为了防止本罪被滥用而设。实践中的核心争点通常是：律师的行为属于“依法调查取证”还是“引诱证人改变证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律师取证权的三重限制：其一，向单位或个人调查须其配合，律师无强制取证权；其二，依《刑事诉讼法》，向被害人及其近亲属、被害人提供的证人收集材料，须经检察院或法院许可并经本人同意；其三，取证方式受《刑法》第三百零六条的约束。正因如此，“申请司法机关调取”往往是比“自行调查”更安全的路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八项职责的结构：第（一）项是维权，第（三）（六）（七）项是自律与惩戒，第（二）（四）（五）项是服务与培养。维权在先、惩戒在后，二者并非对立——正因为行业能够严格约束成员，它才有资格要求社会尊重其执业权利。这就是我们第2课时讲过的：越是严格自律的行业，越能获得广泛自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第六条的四个限定：依法设立、不以营利为目的、依法独立行使职能、承担民事责任。“不以营利为目的”这一定位极为关键——它使公证机构区别于一般的市场服务主体，也决定了公证员不得以业务量、创收为导向办理公证。而“承担民事责任”则意味着错证要赔，这是公证公信力的经济担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这九项与《律师法》第四十条对照阅读，你会发现结构高度相似：多头执业之禁、兼职之禁、利害回避、私自出证（对应私自接案）、虚假证明（对应虚假证据）、侵占挪用费用（对应私自收费与挪用案款）、毁损文书、泄密。这印证了一个判断：法律职业伦理的底层结构是共通的，差异只在角色所决定的具体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这一条与《律师法》第五十四条的高度一致：机构对外赔偿、对故意或者重大过失的个人内部追偿。这一“机构先赔＋内部追偿”的双层结构，在我国法律职业责任体系中反复出现，其功能是：保障受害人能获得实际赔偿、倒逼机构履行管理责任、同时为执业者的一般过失保留空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第二十一条的立法技术：它把职业伦理要求直接写入了仲裁员的聘任条件——公道正派、良好的专业素质、勤勉尽责、清正廉明、恪守职业道德。伦理不再只是执业中的约束，而成为进入这一职业的门槛。新修订的《仲裁法》于2025年9月12日通过，自2026年3月1日起施行，共八章九十六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披露制度是仲裁伦理的核心装置，其判断标准是“可能导致当事人对其独立性、公正性产生合理怀疑”——这正是我们第7课时讲的外观中立标准。请注意披露与回避的关系：披露是主动的、持续的、面向机构与当事人的信息义务；回避是披露之后的处理结果。披露不等于回避，当事人知悉后未提出异议的，仲裁员通常可以继续任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第三百零七条之一虚假诉讼罪对律师的意义：明知系捏造的事实仍代理起诉、协助制造虚假证据链的，可能构成共犯。近年来虚假诉讼治理力度显著加强，代理“套路贷”、虚假民间借贷、虚构劳动关系等案件的律师风险陡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特别注意第三百九十九条之一枉法仲裁罪：它把仲裁员纳入了刑事规制。仲裁虽为民间性纠纷解决方式，但一裁终局、可申请强制执行，其权力实质与司法裁判接近，故立法赋予其相应的刑事约束。这也印证了我们的方法论：权力的性质决定责任的强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握这部法律最重要的定位转变：法律援助不再是政府的恩惠或者律师的善举，而是国家的责任与律师的法定义务。这一转变带来两个推论：其一，受援人是权利主体，有权要求符合标准的服务，并可对服务质量提出异议；其二，律师承办援助案件的服务标准与收费案件相同，以“没收费”为由降低质量是严重违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slideLayout" Target="../slideLayouts/slideLayout1.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slideLayout" Target="../slideLayouts/slideLayout1.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1.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1.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7" Type="http://schemas.openxmlformats.org/officeDocument/2006/relationships/slideLayout" Target="../slideLayouts/slideLayout1.xml"/><Relationship Id="rId8"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slideLayout" Target="../slideLayouts/slideLayout1.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slideLayout" Target="../slideLayouts/slideLayout1.xml"/><Relationship Id="rId6"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image" Target="../media/image-91-4.png"/><Relationship Id="rId5" Type="http://schemas.openxmlformats.org/officeDocument/2006/relationships/slideLayout" Target="../slideLayouts/slideLayout1.xml"/><Relationship Id="rId6"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image" Target="../media/image-95-3.png"/><Relationship Id="rId4" Type="http://schemas.openxmlformats.org/officeDocument/2006/relationships/slideLayout" Target="../slideLayouts/slideLayout1.xml"/><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image" Target="../media/image-99-4.png"/><Relationship Id="rId5" Type="http://schemas.openxmlformats.org/officeDocument/2006/relationships/slideLayout" Target="../slideLayouts/slideLayout1.xml"/><Relationship Id="rId6"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4" Type="http://schemas.openxmlformats.org/officeDocument/2006/relationships/image" Target="../media/image-105-4.png"/><Relationship Id="rId5" Type="http://schemas.openxmlformats.org/officeDocument/2006/relationships/image" Target="../media/image-105-5.png"/><Relationship Id="rId6" Type="http://schemas.openxmlformats.org/officeDocument/2006/relationships/image" Target="../media/image-105-6.png"/><Relationship Id="rId7" Type="http://schemas.openxmlformats.org/officeDocument/2006/relationships/slideLayout" Target="../slideLayouts/slideLayout1.xml"/><Relationship Id="rId8"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image" Target="../media/image-107-3.png"/><Relationship Id="rId4" Type="http://schemas.openxmlformats.org/officeDocument/2006/relationships/slideLayout" Target="../slideLayouts/slideLayout1.xml"/><Relationship Id="rId5"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image" Target="../media/image-113-3.png"/><Relationship Id="rId4" Type="http://schemas.openxmlformats.org/officeDocument/2006/relationships/slideLayout" Target="../slideLayouts/slideLayout1.xml"/><Relationship Id="rId5"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image" Target="../media/image-114-2.png"/><Relationship Id="rId3" Type="http://schemas.openxmlformats.org/officeDocument/2006/relationships/image" Target="../media/image-114-3.png"/><Relationship Id="rId4" Type="http://schemas.openxmlformats.org/officeDocument/2006/relationships/slideLayout" Target="../slideLayouts/slideLayout1.xml"/><Relationship Id="rId5"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image" Target="../media/image-115-3.png"/><Relationship Id="rId4" Type="http://schemas.openxmlformats.org/officeDocument/2006/relationships/image" Target="../media/image-115-4.png"/><Relationship Id="rId5" Type="http://schemas.openxmlformats.org/officeDocument/2006/relationships/image" Target="../media/image-115-5.png"/><Relationship Id="rId6" Type="http://schemas.openxmlformats.org/officeDocument/2006/relationships/image" Target="../media/image-115-6.png"/><Relationship Id="rId7" Type="http://schemas.openxmlformats.org/officeDocument/2006/relationships/slideLayout" Target="../slideLayouts/slideLayout1.xml"/><Relationship Id="rId8"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image" Target="../media/image-118-2.png"/><Relationship Id="rId3" Type="http://schemas.openxmlformats.org/officeDocument/2006/relationships/image" Target="../media/image-118-3.png"/><Relationship Id="rId4" Type="http://schemas.openxmlformats.org/officeDocument/2006/relationships/image" Target="../media/image-118-4.png"/><Relationship Id="rId5" Type="http://schemas.openxmlformats.org/officeDocument/2006/relationships/slideLayout" Target="../slideLayouts/slideLayout1.xml"/><Relationship Id="rId6"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image" Target="../media/image-126-2.png"/><Relationship Id="rId3" Type="http://schemas.openxmlformats.org/officeDocument/2006/relationships/image" Target="../media/image-126-3.png"/><Relationship Id="rId4" Type="http://schemas.openxmlformats.org/officeDocument/2006/relationships/image" Target="../media/image-126-4.png"/><Relationship Id="rId5" Type="http://schemas.openxmlformats.org/officeDocument/2006/relationships/image" Target="../media/image-126-5.png"/><Relationship Id="rId6" Type="http://schemas.openxmlformats.org/officeDocument/2006/relationships/slideLayout" Target="../slideLayouts/slideLayout1.xml"/><Relationship Id="rId7"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image" Target="../media/image-127-2.png"/><Relationship Id="rId3" Type="http://schemas.openxmlformats.org/officeDocument/2006/relationships/image" Target="../media/image-127-3.png"/><Relationship Id="rId4" Type="http://schemas.openxmlformats.org/officeDocument/2006/relationships/slideLayout" Target="../slideLayouts/slideLayout1.xml"/><Relationship Id="rId5"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image" Target="../media/image-133-2.png"/><Relationship Id="rId3" Type="http://schemas.openxmlformats.org/officeDocument/2006/relationships/image" Target="../media/image-133-3.png"/><Relationship Id="rId4" Type="http://schemas.openxmlformats.org/officeDocument/2006/relationships/slideLayout" Target="../slideLayouts/slideLayout1.xml"/><Relationship Id="rId5"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image" Target="../media/image-134-2.png"/><Relationship Id="rId3" Type="http://schemas.openxmlformats.org/officeDocument/2006/relationships/image" Target="../media/image-134-3.png"/><Relationship Id="rId4" Type="http://schemas.openxmlformats.org/officeDocument/2006/relationships/image" Target="../media/image-134-4.png"/><Relationship Id="rId5" Type="http://schemas.openxmlformats.org/officeDocument/2006/relationships/slideLayout" Target="../slideLayouts/slideLayout1.xml"/><Relationship Id="rId6"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slideLayout" Target="../slideLayouts/slideLayout1.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png"/><Relationship Id="rId2" Type="http://schemas.openxmlformats.org/officeDocument/2006/relationships/image" Target="../media/image-140-2.png"/><Relationship Id="rId3" Type="http://schemas.openxmlformats.org/officeDocument/2006/relationships/image" Target="../media/image-140-3.png"/><Relationship Id="rId4" Type="http://schemas.openxmlformats.org/officeDocument/2006/relationships/slideLayout" Target="../slideLayouts/slideLayout1.xml"/><Relationship Id="rId5"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png"/><Relationship Id="rId2" Type="http://schemas.openxmlformats.org/officeDocument/2006/relationships/slideLayout" Target="../slideLayouts/slideLayout1.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image" Target="../media/image-146-2.png"/><Relationship Id="rId3" Type="http://schemas.openxmlformats.org/officeDocument/2006/relationships/image" Target="../media/image-146-3.png"/><Relationship Id="rId4" Type="http://schemas.openxmlformats.org/officeDocument/2006/relationships/image" Target="../media/image-146-4.png"/><Relationship Id="rId5" Type="http://schemas.openxmlformats.org/officeDocument/2006/relationships/slideLayout" Target="../slideLayouts/slideLayout1.xml"/><Relationship Id="rId6"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png"/><Relationship Id="rId2" Type="http://schemas.openxmlformats.org/officeDocument/2006/relationships/slideLayout" Target="../slideLayouts/slideLayout1.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png"/><Relationship Id="rId2" Type="http://schemas.openxmlformats.org/officeDocument/2006/relationships/image" Target="../media/image-149-2.png"/><Relationship Id="rId3" Type="http://schemas.openxmlformats.org/officeDocument/2006/relationships/image" Target="../media/image-149-3.png"/><Relationship Id="rId4" Type="http://schemas.openxmlformats.org/officeDocument/2006/relationships/image" Target="../media/image-149-4.png"/><Relationship Id="rId5" Type="http://schemas.openxmlformats.org/officeDocument/2006/relationships/image" Target="../media/image-149-5.png"/><Relationship Id="rId6" Type="http://schemas.openxmlformats.org/officeDocument/2006/relationships/image" Target="../media/image-149-6.png"/><Relationship Id="rId7" Type="http://schemas.openxmlformats.org/officeDocument/2006/relationships/slideLayout" Target="../slideLayouts/slideLayout1.xml"/><Relationship Id="rId8"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image" Target="../media/image-150-2.png"/><Relationship Id="rId3" Type="http://schemas.openxmlformats.org/officeDocument/2006/relationships/image" Target="../media/image-150-3.png"/><Relationship Id="rId4" Type="http://schemas.openxmlformats.org/officeDocument/2006/relationships/slideLayout" Target="../slideLayouts/slideLayout1.xml"/><Relationship Id="rId5"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slideLayout" Target="../slideLayouts/slideLayout1.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slideLayout" Target="../slideLayouts/slideLayout1.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image-164-1.png"/><Relationship Id="rId2" Type="http://schemas.openxmlformats.org/officeDocument/2006/relationships/image" Target="../media/image-164-2.png"/><Relationship Id="rId3" Type="http://schemas.openxmlformats.org/officeDocument/2006/relationships/image" Target="../media/image-164-3.png"/><Relationship Id="rId4" Type="http://schemas.openxmlformats.org/officeDocument/2006/relationships/image" Target="../media/image-164-4.png"/><Relationship Id="rId5" Type="http://schemas.openxmlformats.org/officeDocument/2006/relationships/slideLayout" Target="../slideLayouts/slideLayout1.xml"/><Relationship Id="rId6"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png"/><Relationship Id="rId2" Type="http://schemas.openxmlformats.org/officeDocument/2006/relationships/image" Target="../media/image-166-2.png"/><Relationship Id="rId3" Type="http://schemas.openxmlformats.org/officeDocument/2006/relationships/image" Target="../media/image-166-3.png"/><Relationship Id="rId4" Type="http://schemas.openxmlformats.org/officeDocument/2006/relationships/slideLayout" Target="../slideLayouts/slideLayout1.xml"/><Relationship Id="rId5"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png"/><Relationship Id="rId2" Type="http://schemas.openxmlformats.org/officeDocument/2006/relationships/image" Target="../media/image-169-2.png"/><Relationship Id="rId3" Type="http://schemas.openxmlformats.org/officeDocument/2006/relationships/image" Target="../media/image-169-3.png"/><Relationship Id="rId4" Type="http://schemas.openxmlformats.org/officeDocument/2006/relationships/image" Target="../media/image-169-4.png"/><Relationship Id="rId5" Type="http://schemas.openxmlformats.org/officeDocument/2006/relationships/slideLayout" Target="../slideLayouts/slideLayout1.xml"/><Relationship Id="rId6"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image" Target="../media/image-172-2.png"/><Relationship Id="rId3" Type="http://schemas.openxmlformats.org/officeDocument/2006/relationships/image" Target="../media/image-172-3.png"/><Relationship Id="rId4" Type="http://schemas.openxmlformats.org/officeDocument/2006/relationships/image" Target="../media/image-172-4.png"/><Relationship Id="rId5" Type="http://schemas.openxmlformats.org/officeDocument/2006/relationships/slideLayout" Target="../slideLayouts/slideLayout1.xml"/><Relationship Id="rId6"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png"/><Relationship Id="rId2" Type="http://schemas.openxmlformats.org/officeDocument/2006/relationships/image" Target="../media/image-174-2.png"/><Relationship Id="rId3" Type="http://schemas.openxmlformats.org/officeDocument/2006/relationships/image" Target="../media/image-174-3.png"/><Relationship Id="rId4" Type="http://schemas.openxmlformats.org/officeDocument/2006/relationships/image" Target="../media/image-174-4.png"/><Relationship Id="rId5" Type="http://schemas.openxmlformats.org/officeDocument/2006/relationships/image" Target="../media/image-174-5.png"/><Relationship Id="rId6" Type="http://schemas.openxmlformats.org/officeDocument/2006/relationships/image" Target="../media/image-174-6.png"/><Relationship Id="rId7" Type="http://schemas.openxmlformats.org/officeDocument/2006/relationships/slideLayout" Target="../slideLayouts/slideLayout1.xml"/><Relationship Id="rId8"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175-1.png"/><Relationship Id="rId2" Type="http://schemas.openxmlformats.org/officeDocument/2006/relationships/image" Target="../media/image-175-2.png"/><Relationship Id="rId3" Type="http://schemas.openxmlformats.org/officeDocument/2006/relationships/image" Target="../media/image-175-3.png"/><Relationship Id="rId4" Type="http://schemas.openxmlformats.org/officeDocument/2006/relationships/slideLayout" Target="../slideLayouts/slideLayout1.xml"/><Relationship Id="rId5"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png"/><Relationship Id="rId2" Type="http://schemas.openxmlformats.org/officeDocument/2006/relationships/image" Target="../media/image-180-2.png"/><Relationship Id="rId3" Type="http://schemas.openxmlformats.org/officeDocument/2006/relationships/image" Target="../media/image-180-3.png"/><Relationship Id="rId4" Type="http://schemas.openxmlformats.org/officeDocument/2006/relationships/image" Target="../media/image-180-4.png"/><Relationship Id="rId5" Type="http://schemas.openxmlformats.org/officeDocument/2006/relationships/slideLayout" Target="../slideLayouts/slideLayout1.xml"/><Relationship Id="rId6"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image-182-1.png"/><Relationship Id="rId2" Type="http://schemas.openxmlformats.org/officeDocument/2006/relationships/image" Target="../media/image-182-2.png"/><Relationship Id="rId3" Type="http://schemas.openxmlformats.org/officeDocument/2006/relationships/image" Target="../media/image-182-3.png"/><Relationship Id="rId4" Type="http://schemas.openxmlformats.org/officeDocument/2006/relationships/image" Target="../media/image-182-4.png"/><Relationship Id="rId5" Type="http://schemas.openxmlformats.org/officeDocument/2006/relationships/slideLayout" Target="../slideLayouts/slideLayout1.xml"/><Relationship Id="rId6"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image-183-1.png"/><Relationship Id="rId2" Type="http://schemas.openxmlformats.org/officeDocument/2006/relationships/slideLayout" Target="../slideLayouts/slideLayout1.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186-1.png"/><Relationship Id="rId2" Type="http://schemas.openxmlformats.org/officeDocument/2006/relationships/image" Target="../media/image-186-2.png"/><Relationship Id="rId3" Type="http://schemas.openxmlformats.org/officeDocument/2006/relationships/image" Target="../media/image-186-3.png"/><Relationship Id="rId4" Type="http://schemas.openxmlformats.org/officeDocument/2006/relationships/image" Target="../media/image-186-4.png"/><Relationship Id="rId5" Type="http://schemas.openxmlformats.org/officeDocument/2006/relationships/slideLayout" Target="../slideLayouts/slideLayout1.xml"/><Relationship Id="rId6"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image-187-1.png"/><Relationship Id="rId2" Type="http://schemas.openxmlformats.org/officeDocument/2006/relationships/slideLayout" Target="../slideLayouts/slideLayout1.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image-195-1.png"/><Relationship Id="rId2" Type="http://schemas.openxmlformats.org/officeDocument/2006/relationships/slideLayout" Target="../slideLayouts/slideLayout1.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198-1.png"/><Relationship Id="rId2" Type="http://schemas.openxmlformats.org/officeDocument/2006/relationships/image" Target="../media/image-198-2.png"/><Relationship Id="rId3" Type="http://schemas.openxmlformats.org/officeDocument/2006/relationships/image" Target="../media/image-198-3.png"/><Relationship Id="rId4" Type="http://schemas.openxmlformats.org/officeDocument/2006/relationships/image" Target="../media/image-198-4.png"/><Relationship Id="rId5" Type="http://schemas.openxmlformats.org/officeDocument/2006/relationships/image" Target="../media/image-198-5.png"/><Relationship Id="rId6" Type="http://schemas.openxmlformats.org/officeDocument/2006/relationships/image" Target="../media/image-198-6.png"/><Relationship Id="rId7" Type="http://schemas.openxmlformats.org/officeDocument/2006/relationships/slideLayout" Target="../slideLayouts/slideLayout1.xml"/><Relationship Id="rId8"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png"/><Relationship Id="rId2" Type="http://schemas.openxmlformats.org/officeDocument/2006/relationships/image" Target="../media/image-200-2.png"/><Relationship Id="rId3" Type="http://schemas.openxmlformats.org/officeDocument/2006/relationships/image" Target="../media/image-200-3.png"/><Relationship Id="rId4" Type="http://schemas.openxmlformats.org/officeDocument/2006/relationships/slideLayout" Target="../slideLayouts/slideLayout1.xml"/><Relationship Id="rId5"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image-206-1.png"/><Relationship Id="rId2" Type="http://schemas.openxmlformats.org/officeDocument/2006/relationships/image" Target="../media/image-206-2.png"/><Relationship Id="rId3" Type="http://schemas.openxmlformats.org/officeDocument/2006/relationships/image" Target="../media/image-206-3.png"/><Relationship Id="rId4" Type="http://schemas.openxmlformats.org/officeDocument/2006/relationships/image" Target="../media/image-206-4.png"/><Relationship Id="rId5" Type="http://schemas.openxmlformats.org/officeDocument/2006/relationships/slideLayout" Target="../slideLayouts/slideLayout1.xml"/><Relationship Id="rId6"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image-207-1.png"/><Relationship Id="rId2" Type="http://schemas.openxmlformats.org/officeDocument/2006/relationships/slideLayout" Target="../slideLayouts/slideLayout1.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image-209-1.png"/><Relationship Id="rId2" Type="http://schemas.openxmlformats.org/officeDocument/2006/relationships/image" Target="../media/image-209-2.png"/><Relationship Id="rId3" Type="http://schemas.openxmlformats.org/officeDocument/2006/relationships/image" Target="../media/image-209-3.png"/><Relationship Id="rId4" Type="http://schemas.openxmlformats.org/officeDocument/2006/relationships/image" Target="../media/image-209-4.png"/><Relationship Id="rId5" Type="http://schemas.openxmlformats.org/officeDocument/2006/relationships/slideLayout" Target="../slideLayouts/slideLayout1.xml"/><Relationship Id="rId6"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image-214-1.png"/><Relationship Id="rId2" Type="http://schemas.openxmlformats.org/officeDocument/2006/relationships/image" Target="../media/image-214-2.png"/><Relationship Id="rId3" Type="http://schemas.openxmlformats.org/officeDocument/2006/relationships/image" Target="../media/image-214-3.png"/><Relationship Id="rId4" Type="http://schemas.openxmlformats.org/officeDocument/2006/relationships/image" Target="../media/image-214-4.png"/><Relationship Id="rId5" Type="http://schemas.openxmlformats.org/officeDocument/2006/relationships/slideLayout" Target="../slideLayouts/slideLayout1.xml"/><Relationship Id="rId6"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png"/><Relationship Id="rId2" Type="http://schemas.openxmlformats.org/officeDocument/2006/relationships/image" Target="../media/image-218-2.png"/><Relationship Id="rId3" Type="http://schemas.openxmlformats.org/officeDocument/2006/relationships/image" Target="../media/image-218-3.png"/><Relationship Id="rId4" Type="http://schemas.openxmlformats.org/officeDocument/2006/relationships/slideLayout" Target="../slideLayouts/slideLayout1.xml"/><Relationship Id="rId5"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image" Target="../media/image-220-1.png"/><Relationship Id="rId2" Type="http://schemas.openxmlformats.org/officeDocument/2006/relationships/image" Target="../media/image-220-2.png"/><Relationship Id="rId3" Type="http://schemas.openxmlformats.org/officeDocument/2006/relationships/image" Target="../media/image-220-3.png"/><Relationship Id="rId4" Type="http://schemas.openxmlformats.org/officeDocument/2006/relationships/image" Target="../media/image-220-4.png"/><Relationship Id="rId5" Type="http://schemas.openxmlformats.org/officeDocument/2006/relationships/image" Target="../media/image-220-5.png"/><Relationship Id="rId6" Type="http://schemas.openxmlformats.org/officeDocument/2006/relationships/slideLayout" Target="../slideLayouts/slideLayout1.xml"/><Relationship Id="rId7"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image" Target="../media/image-221-1.png"/><Relationship Id="rId2" Type="http://schemas.openxmlformats.org/officeDocument/2006/relationships/image" Target="../media/image-221-2.png"/><Relationship Id="rId3" Type="http://schemas.openxmlformats.org/officeDocument/2006/relationships/image" Target="../media/image-221-3.png"/><Relationship Id="rId4" Type="http://schemas.openxmlformats.org/officeDocument/2006/relationships/slideLayout" Target="../slideLayouts/slideLayout1.xml"/><Relationship Id="rId5"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image" Target="../media/image-224-1.png"/><Relationship Id="rId2" Type="http://schemas.openxmlformats.org/officeDocument/2006/relationships/slideLayout" Target="../slideLayouts/slideLayout1.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image" Target="../media/image-225-1.png"/><Relationship Id="rId2" Type="http://schemas.openxmlformats.org/officeDocument/2006/relationships/image" Target="../media/image-225-2.png"/><Relationship Id="rId3" Type="http://schemas.openxmlformats.org/officeDocument/2006/relationships/image" Target="../media/image-225-3.png"/><Relationship Id="rId4" Type="http://schemas.openxmlformats.org/officeDocument/2006/relationships/slideLayout" Target="../slideLayouts/slideLayout1.xml"/><Relationship Id="rId5"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26-1.png"/><Relationship Id="rId2" Type="http://schemas.openxmlformats.org/officeDocument/2006/relationships/slideLayout" Target="../slideLayouts/slideLayout1.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image" Target="../media/image-229-1.png"/><Relationship Id="rId2" Type="http://schemas.openxmlformats.org/officeDocument/2006/relationships/slideLayout" Target="../slideLayouts/slideLayout1.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image" Target="../media/image-236-1.png"/><Relationship Id="rId2" Type="http://schemas.openxmlformats.org/officeDocument/2006/relationships/image" Target="../media/image-236-2.png"/><Relationship Id="rId3" Type="http://schemas.openxmlformats.org/officeDocument/2006/relationships/image" Target="../media/image-236-3.png"/><Relationship Id="rId4" Type="http://schemas.openxmlformats.org/officeDocument/2006/relationships/image" Target="../media/image-236-4.png"/><Relationship Id="rId5" Type="http://schemas.openxmlformats.org/officeDocument/2006/relationships/slideLayout" Target="../slideLayouts/slideLayout1.xml"/><Relationship Id="rId6"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image" Target="../media/image-237-1.png"/><Relationship Id="rId2" Type="http://schemas.openxmlformats.org/officeDocument/2006/relationships/image" Target="../media/image-237-2.png"/><Relationship Id="rId3" Type="http://schemas.openxmlformats.org/officeDocument/2006/relationships/image" Target="../media/image-237-3.png"/><Relationship Id="rId4" Type="http://schemas.openxmlformats.org/officeDocument/2006/relationships/image" Target="../media/image-237-4.png"/><Relationship Id="rId5" Type="http://schemas.openxmlformats.org/officeDocument/2006/relationships/slideLayout" Target="../slideLayouts/slideLayout1.xml"/><Relationship Id="rId6"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239-1.png"/><Relationship Id="rId2" Type="http://schemas.openxmlformats.org/officeDocument/2006/relationships/slideLayout" Target="../slideLayouts/slideLayout1.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image" Target="../media/image-241-1.png"/><Relationship Id="rId2" Type="http://schemas.openxmlformats.org/officeDocument/2006/relationships/image" Target="../media/image-241-2.png"/><Relationship Id="rId3" Type="http://schemas.openxmlformats.org/officeDocument/2006/relationships/image" Target="../media/image-241-3.png"/><Relationship Id="rId4" Type="http://schemas.openxmlformats.org/officeDocument/2006/relationships/image" Target="../media/image-241-4.png"/><Relationship Id="rId5" Type="http://schemas.openxmlformats.org/officeDocument/2006/relationships/image" Target="../media/image-241-5.png"/><Relationship Id="rId6" Type="http://schemas.openxmlformats.org/officeDocument/2006/relationships/image" Target="../media/image-241-6.png"/><Relationship Id="rId7" Type="http://schemas.openxmlformats.org/officeDocument/2006/relationships/slideLayout" Target="../slideLayouts/slideLayout1.xml"/><Relationship Id="rId8"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image" Target="../media/image-242-1.png"/><Relationship Id="rId2" Type="http://schemas.openxmlformats.org/officeDocument/2006/relationships/image" Target="../media/image-242-2.png"/><Relationship Id="rId3" Type="http://schemas.openxmlformats.org/officeDocument/2006/relationships/image" Target="../media/image-242-3.png"/><Relationship Id="rId4" Type="http://schemas.openxmlformats.org/officeDocument/2006/relationships/slideLayout" Target="../slideLayouts/slideLayout1.xml"/><Relationship Id="rId5"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image" Target="../media/image-245-1.png"/><Relationship Id="rId2" Type="http://schemas.openxmlformats.org/officeDocument/2006/relationships/image" Target="../media/image-245-2.png"/><Relationship Id="rId3" Type="http://schemas.openxmlformats.org/officeDocument/2006/relationships/image" Target="../media/image-245-3.png"/><Relationship Id="rId4" Type="http://schemas.openxmlformats.org/officeDocument/2006/relationships/image" Target="../media/image-245-4.png"/><Relationship Id="rId5" Type="http://schemas.openxmlformats.org/officeDocument/2006/relationships/image" Target="../media/image-245-5.png"/><Relationship Id="rId6" Type="http://schemas.openxmlformats.org/officeDocument/2006/relationships/slideLayout" Target="../slideLayouts/slideLayout1.xml"/><Relationship Id="rId7"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image" Target="../media/image-249-1.png"/><Relationship Id="rId2" Type="http://schemas.openxmlformats.org/officeDocument/2006/relationships/image" Target="../media/image-249-2.png"/><Relationship Id="rId3" Type="http://schemas.openxmlformats.org/officeDocument/2006/relationships/image" Target="../media/image-249-3.png"/><Relationship Id="rId4" Type="http://schemas.openxmlformats.org/officeDocument/2006/relationships/image" Target="../media/image-249-4.png"/><Relationship Id="rId5" Type="http://schemas.openxmlformats.org/officeDocument/2006/relationships/slideLayout" Target="../slideLayouts/slideLayout1.xml"/><Relationship Id="rId6"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254-1.png"/><Relationship Id="rId2" Type="http://schemas.openxmlformats.org/officeDocument/2006/relationships/slideLayout" Target="../slideLayouts/slideLayout1.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image" Target="../media/image-258-1.png"/><Relationship Id="rId2" Type="http://schemas.openxmlformats.org/officeDocument/2006/relationships/image" Target="../media/image-258-2.png"/><Relationship Id="rId3" Type="http://schemas.openxmlformats.org/officeDocument/2006/relationships/image" Target="../media/image-258-3.png"/><Relationship Id="rId4" Type="http://schemas.openxmlformats.org/officeDocument/2006/relationships/image" Target="../media/image-258-4.png"/><Relationship Id="rId5" Type="http://schemas.openxmlformats.org/officeDocument/2006/relationships/slideLayout" Target="../slideLayouts/slideLayout1.xml"/><Relationship Id="rId6"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261-1.png"/><Relationship Id="rId2" Type="http://schemas.openxmlformats.org/officeDocument/2006/relationships/image" Target="../media/image-261-2.png"/><Relationship Id="rId3" Type="http://schemas.openxmlformats.org/officeDocument/2006/relationships/image" Target="../media/image-261-3.png"/><Relationship Id="rId4" Type="http://schemas.openxmlformats.org/officeDocument/2006/relationships/image" Target="../media/image-261-4.png"/><Relationship Id="rId5" Type="http://schemas.openxmlformats.org/officeDocument/2006/relationships/image" Target="../media/image-261-5.png"/><Relationship Id="rId6" Type="http://schemas.openxmlformats.org/officeDocument/2006/relationships/image" Target="../media/image-261-6.png"/><Relationship Id="rId7" Type="http://schemas.openxmlformats.org/officeDocument/2006/relationships/slideLayout" Target="../slideLayouts/slideLayout1.xml"/><Relationship Id="rId8"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image" Target="../media/image-263-1.png"/><Relationship Id="rId2" Type="http://schemas.openxmlformats.org/officeDocument/2006/relationships/image" Target="../media/image-263-2.png"/><Relationship Id="rId3" Type="http://schemas.openxmlformats.org/officeDocument/2006/relationships/image" Target="../media/image-263-3.png"/><Relationship Id="rId4" Type="http://schemas.openxmlformats.org/officeDocument/2006/relationships/slideLayout" Target="../slideLayouts/slideLayout1.xml"/><Relationship Id="rId5"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270-1.png"/><Relationship Id="rId2" Type="http://schemas.openxmlformats.org/officeDocument/2006/relationships/image" Target="../media/image-270-2.png"/><Relationship Id="rId3" Type="http://schemas.openxmlformats.org/officeDocument/2006/relationships/image" Target="../media/image-270-3.png"/><Relationship Id="rId4" Type="http://schemas.openxmlformats.org/officeDocument/2006/relationships/slideLayout" Target="../slideLayouts/slideLayout1.xml"/><Relationship Id="rId5"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image" Target="../media/image-271-1.png"/><Relationship Id="rId2" Type="http://schemas.openxmlformats.org/officeDocument/2006/relationships/slideLayout" Target="../slideLayouts/slideLayout1.xml"/><Relationship Id="rId3"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image" Target="../media/image-273-1.png"/><Relationship Id="rId2" Type="http://schemas.openxmlformats.org/officeDocument/2006/relationships/image" Target="../media/image-273-2.png"/><Relationship Id="rId3" Type="http://schemas.openxmlformats.org/officeDocument/2006/relationships/image" Target="../media/image-273-3.png"/><Relationship Id="rId4" Type="http://schemas.openxmlformats.org/officeDocument/2006/relationships/slideLayout" Target="../slideLayouts/slideLayout1.xml"/><Relationship Id="rId5"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image" Target="../media/image-276-1.png"/><Relationship Id="rId2" Type="http://schemas.openxmlformats.org/officeDocument/2006/relationships/image" Target="../media/image-276-2.png"/><Relationship Id="rId3" Type="http://schemas.openxmlformats.org/officeDocument/2006/relationships/image" Target="../media/image-276-3.png"/><Relationship Id="rId4" Type="http://schemas.openxmlformats.org/officeDocument/2006/relationships/image" Target="../media/image-276-4.png"/><Relationship Id="rId5" Type="http://schemas.openxmlformats.org/officeDocument/2006/relationships/slideLayout" Target="../slideLayouts/slideLayout1.xml"/><Relationship Id="rId6"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image" Target="../media/image-277-1.png"/><Relationship Id="rId2" Type="http://schemas.openxmlformats.org/officeDocument/2006/relationships/slideLayout" Target="../slideLayouts/slideLayout1.xml"/><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image" Target="../media/image-280-1.png"/><Relationship Id="rId2" Type="http://schemas.openxmlformats.org/officeDocument/2006/relationships/image" Target="../media/image-280-2.png"/><Relationship Id="rId3" Type="http://schemas.openxmlformats.org/officeDocument/2006/relationships/image" Target="../media/image-280-3.png"/><Relationship Id="rId4" Type="http://schemas.openxmlformats.org/officeDocument/2006/relationships/image" Target="../media/image-280-4.png"/><Relationship Id="rId5" Type="http://schemas.openxmlformats.org/officeDocument/2006/relationships/slideLayout" Target="../slideLayouts/slideLayout1.xml"/><Relationship Id="rId6"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image" Target="../media/image-281-1.png"/><Relationship Id="rId2" Type="http://schemas.openxmlformats.org/officeDocument/2006/relationships/slideLayout" Target="../slideLayouts/slideLayout1.xml"/><Relationship Id="rId3"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image" Target="../media/image-283-1.png"/><Relationship Id="rId2" Type="http://schemas.openxmlformats.org/officeDocument/2006/relationships/image" Target="../media/image-283-2.png"/><Relationship Id="rId3" Type="http://schemas.openxmlformats.org/officeDocument/2006/relationships/image" Target="../media/image-283-3.png"/><Relationship Id="rId4" Type="http://schemas.openxmlformats.org/officeDocument/2006/relationships/image" Target="../media/image-283-4.png"/><Relationship Id="rId5" Type="http://schemas.openxmlformats.org/officeDocument/2006/relationships/image" Target="../media/image-283-5.png"/><Relationship Id="rId6" Type="http://schemas.openxmlformats.org/officeDocument/2006/relationships/image" Target="../media/image-283-6.png"/><Relationship Id="rId7" Type="http://schemas.openxmlformats.org/officeDocument/2006/relationships/slideLayout" Target="../slideLayouts/slideLayout1.xml"/><Relationship Id="rId8"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image" Target="../media/image-284-1.png"/><Relationship Id="rId2" Type="http://schemas.openxmlformats.org/officeDocument/2006/relationships/image" Target="../media/image-284-2.png"/><Relationship Id="rId3" Type="http://schemas.openxmlformats.org/officeDocument/2006/relationships/image" Target="../media/image-284-3.png"/><Relationship Id="rId4" Type="http://schemas.openxmlformats.org/officeDocument/2006/relationships/slideLayout" Target="../slideLayouts/slideLayout1.xml"/><Relationship Id="rId5"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image" Target="../media/image-287-1.png"/><Relationship Id="rId2" Type="http://schemas.openxmlformats.org/officeDocument/2006/relationships/image" Target="../media/image-287-2.png"/><Relationship Id="rId3" Type="http://schemas.openxmlformats.org/officeDocument/2006/relationships/image" Target="../media/image-287-3.png"/><Relationship Id="rId4" Type="http://schemas.openxmlformats.org/officeDocument/2006/relationships/image" Target="../media/image-287-4.png"/><Relationship Id="rId5" Type="http://schemas.openxmlformats.org/officeDocument/2006/relationships/slideLayout" Target="../slideLayouts/slideLayout1.xml"/><Relationship Id="rId6"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image" Target="../media/image-288-1.png"/><Relationship Id="rId2" Type="http://schemas.openxmlformats.org/officeDocument/2006/relationships/slideLayout" Target="../slideLayouts/slideLayout1.xml"/><Relationship Id="rId3"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image" Target="../media/image-291-1.png"/><Relationship Id="rId2" Type="http://schemas.openxmlformats.org/officeDocument/2006/relationships/image" Target="../media/image-291-2.png"/><Relationship Id="rId3" Type="http://schemas.openxmlformats.org/officeDocument/2006/relationships/image" Target="../media/image-291-3.png"/><Relationship Id="rId4" Type="http://schemas.openxmlformats.org/officeDocument/2006/relationships/image" Target="../media/image-291-4.png"/><Relationship Id="rId5" Type="http://schemas.openxmlformats.org/officeDocument/2006/relationships/image" Target="../media/image-291-5.png"/><Relationship Id="rId6" Type="http://schemas.openxmlformats.org/officeDocument/2006/relationships/slideLayout" Target="../slideLayouts/slideLayout1.xml"/><Relationship Id="rId7"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image" Target="../media/image-295-1.png"/><Relationship Id="rId2" Type="http://schemas.openxmlformats.org/officeDocument/2006/relationships/image" Target="../media/image-295-2.png"/><Relationship Id="rId3" Type="http://schemas.openxmlformats.org/officeDocument/2006/relationships/image" Target="../media/image-295-3.png"/><Relationship Id="rId4" Type="http://schemas.openxmlformats.org/officeDocument/2006/relationships/slideLayout" Target="../slideLayouts/slideLayout1.xml"/><Relationship Id="rId5"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image" Target="../media/image-298-1.png"/><Relationship Id="rId2" Type="http://schemas.openxmlformats.org/officeDocument/2006/relationships/slideLayout" Target="../slideLayouts/slideLayout1.xml"/><Relationship Id="rId3"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image" Target="../media/image-300-1.png"/><Relationship Id="rId2" Type="http://schemas.openxmlformats.org/officeDocument/2006/relationships/image" Target="../media/image-300-2.png"/><Relationship Id="rId3" Type="http://schemas.openxmlformats.org/officeDocument/2006/relationships/image" Target="../media/image-300-3.png"/><Relationship Id="rId4" Type="http://schemas.openxmlformats.org/officeDocument/2006/relationships/image" Target="../media/image-300-4.png"/><Relationship Id="rId5" Type="http://schemas.openxmlformats.org/officeDocument/2006/relationships/slideLayout" Target="../slideLayouts/slideLayout1.xml"/><Relationship Id="rId6"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image" Target="../media/image-303-1.png"/><Relationship Id="rId2" Type="http://schemas.openxmlformats.org/officeDocument/2006/relationships/slideLayout" Target="../slideLayouts/slideLayout1.xml"/><Relationship Id="rId3"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image" Target="../media/image-305-1.png"/><Relationship Id="rId2" Type="http://schemas.openxmlformats.org/officeDocument/2006/relationships/image" Target="../media/image-305-2.png"/><Relationship Id="rId3" Type="http://schemas.openxmlformats.org/officeDocument/2006/relationships/image" Target="../media/image-305-3.png"/><Relationship Id="rId4" Type="http://schemas.openxmlformats.org/officeDocument/2006/relationships/image" Target="../media/image-305-4.png"/><Relationship Id="rId5" Type="http://schemas.openxmlformats.org/officeDocument/2006/relationships/image" Target="../media/image-305-5.png"/><Relationship Id="rId6" Type="http://schemas.openxmlformats.org/officeDocument/2006/relationships/image" Target="../media/image-305-6.png"/><Relationship Id="rId7" Type="http://schemas.openxmlformats.org/officeDocument/2006/relationships/slideLayout" Target="../slideLayouts/slideLayout1.xml"/><Relationship Id="rId8"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image" Target="../media/image-306-1.png"/><Relationship Id="rId2" Type="http://schemas.openxmlformats.org/officeDocument/2006/relationships/image" Target="../media/image-306-2.png"/><Relationship Id="rId3" Type="http://schemas.openxmlformats.org/officeDocument/2006/relationships/image" Target="../media/image-306-3.png"/><Relationship Id="rId4" Type="http://schemas.openxmlformats.org/officeDocument/2006/relationships/slideLayout" Target="../slideLayouts/slideLayout1.xml"/><Relationship Id="rId5"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image" Target="../media/image-310-1.png"/><Relationship Id="rId2" Type="http://schemas.openxmlformats.org/officeDocument/2006/relationships/image" Target="../media/image-310-2.png"/><Relationship Id="rId3" Type="http://schemas.openxmlformats.org/officeDocument/2006/relationships/image" Target="../media/image-310-3.png"/><Relationship Id="rId4" Type="http://schemas.openxmlformats.org/officeDocument/2006/relationships/image" Target="../media/image-310-4.png"/><Relationship Id="rId5" Type="http://schemas.openxmlformats.org/officeDocument/2006/relationships/slideLayout" Target="../slideLayouts/slideLayout1.xml"/><Relationship Id="rId6"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image" Target="../media/image-312-1.png"/><Relationship Id="rId2" Type="http://schemas.openxmlformats.org/officeDocument/2006/relationships/image" Target="../media/image-312-2.png"/><Relationship Id="rId3" Type="http://schemas.openxmlformats.org/officeDocument/2006/relationships/image" Target="../media/image-312-3.png"/><Relationship Id="rId4" Type="http://schemas.openxmlformats.org/officeDocument/2006/relationships/image" Target="../media/image-312-4.png"/><Relationship Id="rId5" Type="http://schemas.openxmlformats.org/officeDocument/2006/relationships/slideLayout" Target="../slideLayouts/slideLayout1.xml"/><Relationship Id="rId6"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image" Target="../media/image-317-1.png"/><Relationship Id="rId2" Type="http://schemas.openxmlformats.org/officeDocument/2006/relationships/slideLayout" Target="../slideLayouts/slideLayout1.xml"/><Relationship Id="rId3"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image" Target="../media/image-321-1.png"/><Relationship Id="rId2" Type="http://schemas.openxmlformats.org/officeDocument/2006/relationships/slideLayout" Target="../slideLayouts/slideLayout1.xml"/><Relationship Id="rId3"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image" Target="../media/image-323-1.png"/><Relationship Id="rId2" Type="http://schemas.openxmlformats.org/officeDocument/2006/relationships/image" Target="../media/image-323-2.png"/><Relationship Id="rId3" Type="http://schemas.openxmlformats.org/officeDocument/2006/relationships/image" Target="../media/image-323-3.png"/><Relationship Id="rId4" Type="http://schemas.openxmlformats.org/officeDocument/2006/relationships/image" Target="../media/image-323-4.png"/><Relationship Id="rId5" Type="http://schemas.openxmlformats.org/officeDocument/2006/relationships/slideLayout" Target="../slideLayouts/slideLayout1.xml"/><Relationship Id="rId6"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image" Target="../media/image-325-1.png"/><Relationship Id="rId2" Type="http://schemas.openxmlformats.org/officeDocument/2006/relationships/image" Target="../media/image-325-2.png"/><Relationship Id="rId3" Type="http://schemas.openxmlformats.org/officeDocument/2006/relationships/image" Target="../media/image-325-3.png"/><Relationship Id="rId4" Type="http://schemas.openxmlformats.org/officeDocument/2006/relationships/image" Target="../media/image-325-4.png"/><Relationship Id="rId5" Type="http://schemas.openxmlformats.org/officeDocument/2006/relationships/image" Target="../media/image-325-5.png"/><Relationship Id="rId6" Type="http://schemas.openxmlformats.org/officeDocument/2006/relationships/image" Target="../media/image-325-6.png"/><Relationship Id="rId7" Type="http://schemas.openxmlformats.org/officeDocument/2006/relationships/slideLayout" Target="../slideLayouts/slideLayout1.xml"/><Relationship Id="rId8"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image" Target="../media/image-326-1.png"/><Relationship Id="rId2" Type="http://schemas.openxmlformats.org/officeDocument/2006/relationships/image" Target="../media/image-326-2.png"/><Relationship Id="rId3" Type="http://schemas.openxmlformats.org/officeDocument/2006/relationships/image" Target="../media/image-326-3.png"/><Relationship Id="rId4" Type="http://schemas.openxmlformats.org/officeDocument/2006/relationships/slideLayout" Target="../slideLayouts/slideLayout1.xml"/><Relationship Id="rId5"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image" Target="../media/image-330-1.png"/><Relationship Id="rId2" Type="http://schemas.openxmlformats.org/officeDocument/2006/relationships/image" Target="../media/image-330-2.png"/><Relationship Id="rId3" Type="http://schemas.openxmlformats.org/officeDocument/2006/relationships/image" Target="../media/image-330-3.png"/><Relationship Id="rId4" Type="http://schemas.openxmlformats.org/officeDocument/2006/relationships/image" Target="../media/image-330-4.png"/><Relationship Id="rId5" Type="http://schemas.openxmlformats.org/officeDocument/2006/relationships/slideLayout" Target="../slideLayouts/slideLayout1.xml"/><Relationship Id="rId6"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image" Target="../media/image-334-1.png"/><Relationship Id="rId2" Type="http://schemas.openxmlformats.org/officeDocument/2006/relationships/slideLayout" Target="../slideLayouts/slideLayout1.xml"/><Relationship Id="rId3"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image" Target="../media/image-336-1.png"/><Relationship Id="rId2" Type="http://schemas.openxmlformats.org/officeDocument/2006/relationships/image" Target="../media/image-336-2.png"/><Relationship Id="rId3" Type="http://schemas.openxmlformats.org/officeDocument/2006/relationships/image" Target="../media/image-336-3.png"/><Relationship Id="rId4" Type="http://schemas.openxmlformats.org/officeDocument/2006/relationships/image" Target="../media/image-336-4.png"/><Relationship Id="rId5" Type="http://schemas.openxmlformats.org/officeDocument/2006/relationships/slideLayout" Target="../slideLayouts/slideLayout1.xml"/><Relationship Id="rId6"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image" Target="../media/image-339-1.png"/><Relationship Id="rId2" Type="http://schemas.openxmlformats.org/officeDocument/2006/relationships/image" Target="../media/image-339-2.png"/><Relationship Id="rId3" Type="http://schemas.openxmlformats.org/officeDocument/2006/relationships/image" Target="../media/image-339-3.png"/><Relationship Id="rId4" Type="http://schemas.openxmlformats.org/officeDocument/2006/relationships/image" Target="../media/image-339-4.png"/><Relationship Id="rId5" Type="http://schemas.openxmlformats.org/officeDocument/2006/relationships/image" Target="../media/image-339-5.png"/><Relationship Id="rId6" Type="http://schemas.openxmlformats.org/officeDocument/2006/relationships/slideLayout" Target="../slideLayouts/slideLayout1.xml"/><Relationship Id="rId7"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image" Target="../media/image-340-1.png"/><Relationship Id="rId2" Type="http://schemas.openxmlformats.org/officeDocument/2006/relationships/slideLayout" Target="../slideLayouts/slideLayout1.xml"/><Relationship Id="rId3"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image" Target="../media/image-342-1.png"/><Relationship Id="rId2" Type="http://schemas.openxmlformats.org/officeDocument/2006/relationships/image" Target="../media/image-342-2.png"/><Relationship Id="rId3" Type="http://schemas.openxmlformats.org/officeDocument/2006/relationships/image" Target="../media/image-342-3.png"/><Relationship Id="rId4" Type="http://schemas.openxmlformats.org/officeDocument/2006/relationships/image" Target="../media/image-342-4.png"/><Relationship Id="rId5" Type="http://schemas.openxmlformats.org/officeDocument/2006/relationships/slideLayout" Target="../slideLayouts/slideLayout1.xml"/><Relationship Id="rId6"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image" Target="../media/image-347-1.png"/><Relationship Id="rId2" Type="http://schemas.openxmlformats.org/officeDocument/2006/relationships/image" Target="../media/image-347-2.png"/><Relationship Id="rId3" Type="http://schemas.openxmlformats.org/officeDocument/2006/relationships/image" Target="../media/image-347-3.png"/><Relationship Id="rId4" Type="http://schemas.openxmlformats.org/officeDocument/2006/relationships/image" Target="../media/image-347-4.png"/><Relationship Id="rId5" Type="http://schemas.openxmlformats.org/officeDocument/2006/relationships/image" Target="../media/image-347-5.png"/><Relationship Id="rId6" Type="http://schemas.openxmlformats.org/officeDocument/2006/relationships/image" Target="../media/image-347-6.png"/><Relationship Id="rId7" Type="http://schemas.openxmlformats.org/officeDocument/2006/relationships/slideLayout" Target="../slideLayouts/slideLayout1.xml"/><Relationship Id="rId8"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image" Target="../media/image-348-1.png"/><Relationship Id="rId2" Type="http://schemas.openxmlformats.org/officeDocument/2006/relationships/image" Target="../media/image-348-2.png"/><Relationship Id="rId3" Type="http://schemas.openxmlformats.org/officeDocument/2006/relationships/image" Target="../media/image-348-3.png"/><Relationship Id="rId4" Type="http://schemas.openxmlformats.org/officeDocument/2006/relationships/slideLayout" Target="../slideLayouts/slideLayout1.xml"/><Relationship Id="rId5"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image" Target="../media/image-351-1.png"/><Relationship Id="rId2" Type="http://schemas.openxmlformats.org/officeDocument/2006/relationships/image" Target="../media/image-351-2.png"/><Relationship Id="rId3" Type="http://schemas.openxmlformats.org/officeDocument/2006/relationships/image" Target="../media/image-351-3.png"/><Relationship Id="rId4" Type="http://schemas.openxmlformats.org/officeDocument/2006/relationships/slideLayout" Target="../slideLayouts/slideLayout1.xml"/><Relationship Id="rId5"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image" Target="../media/image-355-1.png"/><Relationship Id="rId2" Type="http://schemas.openxmlformats.org/officeDocument/2006/relationships/slideLayout" Target="../slideLayouts/slideLayout1.xml"/><Relationship Id="rId3"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image" Target="../media/image-357-1.png"/><Relationship Id="rId2" Type="http://schemas.openxmlformats.org/officeDocument/2006/relationships/image" Target="../media/image-357-2.png"/><Relationship Id="rId3" Type="http://schemas.openxmlformats.org/officeDocument/2006/relationships/image" Target="../media/image-357-3.png"/><Relationship Id="rId4" Type="http://schemas.openxmlformats.org/officeDocument/2006/relationships/image" Target="../media/image-357-4.png"/><Relationship Id="rId5" Type="http://schemas.openxmlformats.org/officeDocument/2006/relationships/slideLayout" Target="../slideLayouts/slideLayout1.xml"/><Relationship Id="rId6"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image" Target="../media/image-358-1.png"/><Relationship Id="rId2" Type="http://schemas.openxmlformats.org/officeDocument/2006/relationships/slideLayout" Target="../slideLayouts/slideLayout1.xml"/><Relationship Id="rId3"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image" Target="../media/image-360-1.png"/><Relationship Id="rId2" Type="http://schemas.openxmlformats.org/officeDocument/2006/relationships/image" Target="../media/image-360-2.png"/><Relationship Id="rId3" Type="http://schemas.openxmlformats.org/officeDocument/2006/relationships/image" Target="../media/image-360-3.png"/><Relationship Id="rId4" Type="http://schemas.openxmlformats.org/officeDocument/2006/relationships/slideLayout" Target="../slideLayouts/slideLayout1.xml"/><Relationship Id="rId5"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image" Target="../media/image-365-1.png"/><Relationship Id="rId2" Type="http://schemas.openxmlformats.org/officeDocument/2006/relationships/image" Target="../media/image-365-2.png"/><Relationship Id="rId3" Type="http://schemas.openxmlformats.org/officeDocument/2006/relationships/image" Target="../media/image-365-3.png"/><Relationship Id="rId4" Type="http://schemas.openxmlformats.org/officeDocument/2006/relationships/slideLayout" Target="../slideLayouts/slideLayout1.xml"/><Relationship Id="rId5"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image" Target="../media/image-368-1.png"/><Relationship Id="rId2" Type="http://schemas.openxmlformats.org/officeDocument/2006/relationships/image" Target="../media/image-368-2.png"/><Relationship Id="rId3" Type="http://schemas.openxmlformats.org/officeDocument/2006/relationships/image" Target="../media/image-368-3.png"/><Relationship Id="rId4" Type="http://schemas.openxmlformats.org/officeDocument/2006/relationships/slideLayout" Target="../slideLayouts/slideLayout1.xml"/><Relationship Id="rId5"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image" Target="../media/image-370-1.png"/><Relationship Id="rId2" Type="http://schemas.openxmlformats.org/officeDocument/2006/relationships/image" Target="../media/image-370-2.png"/><Relationship Id="rId3" Type="http://schemas.openxmlformats.org/officeDocument/2006/relationships/image" Target="../media/image-370-3.png"/><Relationship Id="rId4" Type="http://schemas.openxmlformats.org/officeDocument/2006/relationships/image" Target="../media/image-370-4.png"/><Relationship Id="rId5" Type="http://schemas.openxmlformats.org/officeDocument/2006/relationships/image" Target="../media/image-370-5.png"/><Relationship Id="rId6" Type="http://schemas.openxmlformats.org/officeDocument/2006/relationships/image" Target="../media/image-370-6.png"/><Relationship Id="rId7" Type="http://schemas.openxmlformats.org/officeDocument/2006/relationships/slideLayout" Target="../slideLayouts/slideLayout1.xml"/><Relationship Id="rId8"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image" Target="../media/image-371-1.png"/><Relationship Id="rId2" Type="http://schemas.openxmlformats.org/officeDocument/2006/relationships/image" Target="../media/image-371-2.png"/><Relationship Id="rId3" Type="http://schemas.openxmlformats.org/officeDocument/2006/relationships/image" Target="../media/image-371-3.png"/><Relationship Id="rId4" Type="http://schemas.openxmlformats.org/officeDocument/2006/relationships/slideLayout" Target="../slideLayouts/slideLayout1.xml"/><Relationship Id="rId5"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image" Target="../media/image-374-1.png"/><Relationship Id="rId2" Type="http://schemas.openxmlformats.org/officeDocument/2006/relationships/slideLayout" Target="../slideLayouts/slideLayout1.xml"/><Relationship Id="rId3"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image" Target="../media/image-375-1.png"/><Relationship Id="rId2" Type="http://schemas.openxmlformats.org/officeDocument/2006/relationships/image" Target="../media/image-375-2.png"/><Relationship Id="rId3" Type="http://schemas.openxmlformats.org/officeDocument/2006/relationships/image" Target="../media/image-375-3.png"/><Relationship Id="rId4" Type="http://schemas.openxmlformats.org/officeDocument/2006/relationships/slideLayout" Target="../slideLayouts/slideLayout1.xml"/><Relationship Id="rId5"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image" Target="../media/image-378-1.png"/><Relationship Id="rId2" Type="http://schemas.openxmlformats.org/officeDocument/2006/relationships/slideLayout" Target="../slideLayouts/slideLayout1.xml"/><Relationship Id="rId3"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2.xml"/></Relationships>
</file>

<file path=ppt/slides/_rels/slide383.xml.rels><?xml version="1.0" encoding="UTF-8" standalone="yes"?>
<Relationships xmlns="http://schemas.openxmlformats.org/package/2006/relationships"><Relationship Id="rId1" Type="http://schemas.openxmlformats.org/officeDocument/2006/relationships/image" Target="../media/image-383-1.png"/><Relationship Id="rId2" Type="http://schemas.openxmlformats.org/officeDocument/2006/relationships/image" Target="../media/image-383-2.png"/><Relationship Id="rId3" Type="http://schemas.openxmlformats.org/officeDocument/2006/relationships/image" Target="../media/image-383-3.png"/><Relationship Id="rId4" Type="http://schemas.openxmlformats.org/officeDocument/2006/relationships/image" Target="../media/image-383-4.png"/><Relationship Id="rId5" Type="http://schemas.openxmlformats.org/officeDocument/2006/relationships/slideLayout" Target="../slideLayouts/slideLayout1.xml"/><Relationship Id="rId6" Type="http://schemas.openxmlformats.org/officeDocument/2006/relationships/notesSlide" Target="../notesSlides/notesSlide383.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4.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image" Target="../media/image-386-1.png"/><Relationship Id="rId2" Type="http://schemas.openxmlformats.org/officeDocument/2006/relationships/image" Target="../media/image-386-2.png"/><Relationship Id="rId3" Type="http://schemas.openxmlformats.org/officeDocument/2006/relationships/image" Target="../media/image-386-3.png"/><Relationship Id="rId4" Type="http://schemas.openxmlformats.org/officeDocument/2006/relationships/slideLayout" Target="../slideLayouts/slideLayout1.xml"/><Relationship Id="rId5"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image" Target="../media/image-387-1.png"/><Relationship Id="rId2" Type="http://schemas.openxmlformats.org/officeDocument/2006/relationships/image" Target="../media/image-387-2.png"/><Relationship Id="rId3" Type="http://schemas.openxmlformats.org/officeDocument/2006/relationships/image" Target="../media/image-387-3.png"/><Relationship Id="rId4" Type="http://schemas.openxmlformats.org/officeDocument/2006/relationships/slideLayout" Target="../slideLayouts/slideLayout1.xml"/><Relationship Id="rId5" Type="http://schemas.openxmlformats.org/officeDocument/2006/relationships/notesSlide" Target="../notesSlides/notesSlide38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image" Target="../media/image-390-1.png"/><Relationship Id="rId2" Type="http://schemas.openxmlformats.org/officeDocument/2006/relationships/slideLayout" Target="../slideLayouts/slideLayout1.xml"/><Relationship Id="rId3" Type="http://schemas.openxmlformats.org/officeDocument/2006/relationships/notesSlide" Target="../notesSlides/notesSlide390.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1.xml"/></Relationships>
</file>

<file path=ppt/slides/_rels/slide392.xml.rels><?xml version="1.0" encoding="UTF-8" standalone="yes"?>
<Relationships xmlns="http://schemas.openxmlformats.org/package/2006/relationships"><Relationship Id="rId1" Type="http://schemas.openxmlformats.org/officeDocument/2006/relationships/image" Target="../media/image-392-1.png"/><Relationship Id="rId2" Type="http://schemas.openxmlformats.org/officeDocument/2006/relationships/image" Target="../media/image-392-2.png"/><Relationship Id="rId3" Type="http://schemas.openxmlformats.org/officeDocument/2006/relationships/image" Target="../media/image-392-3.png"/><Relationship Id="rId4" Type="http://schemas.openxmlformats.org/officeDocument/2006/relationships/image" Target="../media/image-392-4.png"/><Relationship Id="rId5" Type="http://schemas.openxmlformats.org/officeDocument/2006/relationships/image" Target="../media/image-392-5.png"/><Relationship Id="rId6" Type="http://schemas.openxmlformats.org/officeDocument/2006/relationships/image" Target="../media/image-392-6.png"/><Relationship Id="rId7" Type="http://schemas.openxmlformats.org/officeDocument/2006/relationships/slideLayout" Target="../slideLayouts/slideLayout1.xml"/><Relationship Id="rId8" Type="http://schemas.openxmlformats.org/officeDocument/2006/relationships/notesSlide" Target="../notesSlides/notesSlide392.xml"/></Relationships>
</file>

<file path=ppt/slides/_rels/slide393.xml.rels><?xml version="1.0" encoding="UTF-8" standalone="yes"?>
<Relationships xmlns="http://schemas.openxmlformats.org/package/2006/relationships"><Relationship Id="rId1" Type="http://schemas.openxmlformats.org/officeDocument/2006/relationships/image" Target="../media/image-393-1.png"/><Relationship Id="rId2" Type="http://schemas.openxmlformats.org/officeDocument/2006/relationships/image" Target="../media/image-393-2.png"/><Relationship Id="rId3" Type="http://schemas.openxmlformats.org/officeDocument/2006/relationships/image" Target="../media/image-393-3.png"/><Relationship Id="rId4" Type="http://schemas.openxmlformats.org/officeDocument/2006/relationships/slideLayout" Target="../slideLayouts/slideLayout1.xml"/><Relationship Id="rId5" Type="http://schemas.openxmlformats.org/officeDocument/2006/relationships/notesSlide" Target="../notesSlides/notesSlide393.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image" Target="../media/image-397-1.png"/><Relationship Id="rId2" Type="http://schemas.openxmlformats.org/officeDocument/2006/relationships/slideLayout" Target="../slideLayouts/slideLayout1.xml"/><Relationship Id="rId3"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image" Target="../media/image-402-1.png"/><Relationship Id="rId2" Type="http://schemas.openxmlformats.org/officeDocument/2006/relationships/image" Target="../media/image-402-2.png"/><Relationship Id="rId3" Type="http://schemas.openxmlformats.org/officeDocument/2006/relationships/image" Target="../media/image-402-3.png"/><Relationship Id="rId4" Type="http://schemas.openxmlformats.org/officeDocument/2006/relationships/image" Target="../media/image-402-4.png"/><Relationship Id="rId5" Type="http://schemas.openxmlformats.org/officeDocument/2006/relationships/slideLayout" Target="../slideLayouts/slideLayout1.xml"/><Relationship Id="rId6"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image" Target="../media/image-405-1.png"/><Relationship Id="rId2" Type="http://schemas.openxmlformats.org/officeDocument/2006/relationships/image" Target="../media/image-405-2.png"/><Relationship Id="rId3" Type="http://schemas.openxmlformats.org/officeDocument/2006/relationships/image" Target="../media/image-405-3.png"/><Relationship Id="rId4" Type="http://schemas.openxmlformats.org/officeDocument/2006/relationships/image" Target="../media/image-405-4.png"/><Relationship Id="rId5" Type="http://schemas.openxmlformats.org/officeDocument/2006/relationships/slideLayout" Target="../slideLayouts/slideLayout1.xml"/><Relationship Id="rId6"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6.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image" Target="../media/image-409-1.png"/><Relationship Id="rId2" Type="http://schemas.openxmlformats.org/officeDocument/2006/relationships/slideLayout" Target="../slideLayouts/slideLayout1.xml"/><Relationship Id="rId3" Type="http://schemas.openxmlformats.org/officeDocument/2006/relationships/notesSlide" Target="../notesSlides/notesSlide409.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0.xml"/></Relationships>
</file>

<file path=ppt/slides/_rels/slide411.xml.rels><?xml version="1.0" encoding="UTF-8" standalone="yes"?>
<Relationships xmlns="http://schemas.openxmlformats.org/package/2006/relationships"><Relationship Id="rId1" Type="http://schemas.openxmlformats.org/officeDocument/2006/relationships/image" Target="../media/image-411-1.png"/><Relationship Id="rId2" Type="http://schemas.openxmlformats.org/officeDocument/2006/relationships/image" Target="../media/image-411-2.png"/><Relationship Id="rId3" Type="http://schemas.openxmlformats.org/officeDocument/2006/relationships/image" Target="../media/image-411-3.png"/><Relationship Id="rId4" Type="http://schemas.openxmlformats.org/officeDocument/2006/relationships/image" Target="../media/image-411-4.png"/><Relationship Id="rId5" Type="http://schemas.openxmlformats.org/officeDocument/2006/relationships/slideLayout" Target="../slideLayouts/slideLayout1.xml"/><Relationship Id="rId6" Type="http://schemas.openxmlformats.org/officeDocument/2006/relationships/notesSlide" Target="../notesSlides/notesSlide411.xml"/></Relationships>
</file>

<file path=ppt/slides/_rels/slide412.xml.rels><?xml version="1.0" encoding="UTF-8" standalone="yes"?>
<Relationships xmlns="http://schemas.openxmlformats.org/package/2006/relationships"><Relationship Id="rId1" Type="http://schemas.openxmlformats.org/officeDocument/2006/relationships/image" Target="../media/image-412-1.png"/><Relationship Id="rId2" Type="http://schemas.openxmlformats.org/officeDocument/2006/relationships/slideLayout" Target="../slideLayouts/slideLayout1.xml"/><Relationship Id="rId3" Type="http://schemas.openxmlformats.org/officeDocument/2006/relationships/notesSlide" Target="../notesSlides/notesSlide41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3.xml"/></Relationships>
</file>

<file path=ppt/slides/_rels/slide414.xml.rels><?xml version="1.0" encoding="UTF-8" standalone="yes"?>
<Relationships xmlns="http://schemas.openxmlformats.org/package/2006/relationships"><Relationship Id="rId1" Type="http://schemas.openxmlformats.org/officeDocument/2006/relationships/image" Target="../media/image-414-1.png"/><Relationship Id="rId2" Type="http://schemas.openxmlformats.org/officeDocument/2006/relationships/image" Target="../media/image-414-2.png"/><Relationship Id="rId3" Type="http://schemas.openxmlformats.org/officeDocument/2006/relationships/image" Target="../media/image-414-3.png"/><Relationship Id="rId4" Type="http://schemas.openxmlformats.org/officeDocument/2006/relationships/image" Target="../media/image-414-4.png"/><Relationship Id="rId5" Type="http://schemas.openxmlformats.org/officeDocument/2006/relationships/image" Target="../media/image-414-5.png"/><Relationship Id="rId6" Type="http://schemas.openxmlformats.org/officeDocument/2006/relationships/image" Target="../media/image-414-6.png"/><Relationship Id="rId7" Type="http://schemas.openxmlformats.org/officeDocument/2006/relationships/slideLayout" Target="../slideLayouts/slideLayout1.xml"/><Relationship Id="rId8" Type="http://schemas.openxmlformats.org/officeDocument/2006/relationships/notesSlide" Target="../notesSlides/notesSlide414.xml"/></Relationships>
</file>

<file path=ppt/slides/_rels/slide415.xml.rels><?xml version="1.0" encoding="UTF-8" standalone="yes"?>
<Relationships xmlns="http://schemas.openxmlformats.org/package/2006/relationships"><Relationship Id="rId1" Type="http://schemas.openxmlformats.org/officeDocument/2006/relationships/image" Target="../media/image-415-1.png"/><Relationship Id="rId2" Type="http://schemas.openxmlformats.org/officeDocument/2006/relationships/image" Target="../media/image-415-2.png"/><Relationship Id="rId3" Type="http://schemas.openxmlformats.org/officeDocument/2006/relationships/image" Target="../media/image-415-3.png"/><Relationship Id="rId4" Type="http://schemas.openxmlformats.org/officeDocument/2006/relationships/slideLayout" Target="../slideLayouts/slideLayout1.xml"/><Relationship Id="rId5" Type="http://schemas.openxmlformats.org/officeDocument/2006/relationships/notesSlide" Target="../notesSlides/notesSlide41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6.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7.xml"/></Relationships>
</file>

<file path=ppt/slides/_rels/slide418.xml.rels><?xml version="1.0" encoding="UTF-8" standalone="yes"?>
<Relationships xmlns="http://schemas.openxmlformats.org/package/2006/relationships"><Relationship Id="rId1" Type="http://schemas.openxmlformats.org/officeDocument/2006/relationships/image" Target="../media/image-418-1.png"/><Relationship Id="rId2" Type="http://schemas.openxmlformats.org/officeDocument/2006/relationships/image" Target="../media/image-418-2.png"/><Relationship Id="rId3" Type="http://schemas.openxmlformats.org/officeDocument/2006/relationships/image" Target="../media/image-418-3.png"/><Relationship Id="rId4" Type="http://schemas.openxmlformats.org/officeDocument/2006/relationships/slideLayout" Target="../slideLayouts/slideLayout1.xml"/><Relationship Id="rId5" Type="http://schemas.openxmlformats.org/officeDocument/2006/relationships/notesSlide" Target="../notesSlides/notesSlide418.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image" Target="../media/image-421-1.png"/><Relationship Id="rId2" Type="http://schemas.openxmlformats.org/officeDocument/2006/relationships/image" Target="../media/image-421-2.png"/><Relationship Id="rId3" Type="http://schemas.openxmlformats.org/officeDocument/2006/relationships/image" Target="../media/image-421-3.png"/><Relationship Id="rId4" Type="http://schemas.openxmlformats.org/officeDocument/2006/relationships/image" Target="../media/image-421-4.png"/><Relationship Id="rId5" Type="http://schemas.openxmlformats.org/officeDocument/2006/relationships/slideLayout" Target="../slideLayouts/slideLayout1.xml"/><Relationship Id="rId6"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image" Target="../media/image-422-1.png"/><Relationship Id="rId2" Type="http://schemas.openxmlformats.org/officeDocument/2006/relationships/slideLayout" Target="../slideLayouts/slideLayout1.xml"/><Relationship Id="rId3" Type="http://schemas.openxmlformats.org/officeDocument/2006/relationships/notesSlide" Target="../notesSlides/notesSlide42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3.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4.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5.xml"/></Relationships>
</file>

<file path=ppt/slides/_rels/slide426.xml.rels><?xml version="1.0" encoding="UTF-8" standalone="yes"?>
<Relationships xmlns="http://schemas.openxmlformats.org/package/2006/relationships"><Relationship Id="rId1" Type="http://schemas.openxmlformats.org/officeDocument/2006/relationships/image" Target="../media/image-426-1.png"/><Relationship Id="rId2" Type="http://schemas.openxmlformats.org/officeDocument/2006/relationships/slideLayout" Target="../slideLayouts/slideLayout1.xml"/><Relationship Id="rId3" Type="http://schemas.openxmlformats.org/officeDocument/2006/relationships/notesSlide" Target="../notesSlides/notesSlide426.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7.xml"/></Relationships>
</file>

<file path=ppt/slides/_rels/slide428.xml.rels><?xml version="1.0" encoding="UTF-8" standalone="yes"?>
<Relationships xmlns="http://schemas.openxmlformats.org/package/2006/relationships"><Relationship Id="rId1" Type="http://schemas.openxmlformats.org/officeDocument/2006/relationships/image" Target="../media/image-428-1.png"/><Relationship Id="rId2" Type="http://schemas.openxmlformats.org/officeDocument/2006/relationships/image" Target="../media/image-428-2.png"/><Relationship Id="rId3" Type="http://schemas.openxmlformats.org/officeDocument/2006/relationships/image" Target="../media/image-428-3.png"/><Relationship Id="rId4" Type="http://schemas.openxmlformats.org/officeDocument/2006/relationships/image" Target="../media/image-428-4.png"/><Relationship Id="rId5" Type="http://schemas.openxmlformats.org/officeDocument/2006/relationships/slideLayout" Target="../slideLayouts/slideLayout1.xml"/><Relationship Id="rId6" Type="http://schemas.openxmlformats.org/officeDocument/2006/relationships/notesSlide" Target="../notesSlides/notesSlide428.xml"/></Relationships>
</file>

<file path=ppt/slides/_rels/slide429.xml.rels><?xml version="1.0" encoding="UTF-8" standalone="yes"?>
<Relationships xmlns="http://schemas.openxmlformats.org/package/2006/relationships"><Relationship Id="rId1" Type="http://schemas.openxmlformats.org/officeDocument/2006/relationships/image" Target="../media/image-429-1.png"/><Relationship Id="rId2" Type="http://schemas.openxmlformats.org/officeDocument/2006/relationships/image" Target="../media/image-429-2.png"/><Relationship Id="rId3" Type="http://schemas.openxmlformats.org/officeDocument/2006/relationships/image" Target="../media/image-429-3.png"/><Relationship Id="rId4" Type="http://schemas.openxmlformats.org/officeDocument/2006/relationships/image" Target="../media/image-429-4.png"/><Relationship Id="rId5" Type="http://schemas.openxmlformats.org/officeDocument/2006/relationships/slideLayout" Target="../slideLayouts/slideLayout1.xml"/><Relationship Id="rId6" Type="http://schemas.openxmlformats.org/officeDocument/2006/relationships/notesSlide" Target="../notesSlides/notesSlide429.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0.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1.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4.xml"/></Relationships>
</file>

<file path=ppt/slides/_rels/slide435.xml.rels><?xml version="1.0" encoding="UTF-8" standalone="yes"?>
<Relationships xmlns="http://schemas.openxmlformats.org/package/2006/relationships"><Relationship Id="rId1" Type="http://schemas.openxmlformats.org/officeDocument/2006/relationships/image" Target="../media/image-435-1.png"/><Relationship Id="rId2" Type="http://schemas.openxmlformats.org/officeDocument/2006/relationships/image" Target="../media/image-435-2.png"/><Relationship Id="rId3" Type="http://schemas.openxmlformats.org/officeDocument/2006/relationships/image" Target="../media/image-435-3.png"/><Relationship Id="rId4" Type="http://schemas.openxmlformats.org/officeDocument/2006/relationships/image" Target="../media/image-435-4.png"/><Relationship Id="rId5" Type="http://schemas.openxmlformats.org/officeDocument/2006/relationships/image" Target="../media/image-435-5.png"/><Relationship Id="rId6" Type="http://schemas.openxmlformats.org/officeDocument/2006/relationships/image" Target="../media/image-435-6.png"/><Relationship Id="rId7" Type="http://schemas.openxmlformats.org/officeDocument/2006/relationships/slideLayout" Target="../slideLayouts/slideLayout1.xml"/><Relationship Id="rId8" Type="http://schemas.openxmlformats.org/officeDocument/2006/relationships/notesSlide" Target="../notesSlides/notesSlide435.xml"/></Relationships>
</file>

<file path=ppt/slides/_rels/slide436.xml.rels><?xml version="1.0" encoding="UTF-8" standalone="yes"?>
<Relationships xmlns="http://schemas.openxmlformats.org/package/2006/relationships"><Relationship Id="rId1" Type="http://schemas.openxmlformats.org/officeDocument/2006/relationships/image" Target="../media/image-436-1.png"/><Relationship Id="rId2" Type="http://schemas.openxmlformats.org/officeDocument/2006/relationships/image" Target="../media/image-436-2.png"/><Relationship Id="rId3" Type="http://schemas.openxmlformats.org/officeDocument/2006/relationships/image" Target="../media/image-436-3.png"/><Relationship Id="rId4" Type="http://schemas.openxmlformats.org/officeDocument/2006/relationships/slideLayout" Target="../slideLayouts/slideLayout1.xml"/><Relationship Id="rId5" Type="http://schemas.openxmlformats.org/officeDocument/2006/relationships/notesSlide" Target="../notesSlides/notesSlide436.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8.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9.xml"/></Relationships>
</file>

<file path=ppt/slides/_rels/slide440.xml.rels><?xml version="1.0" encoding="UTF-8" standalone="yes"?>
<Relationships xmlns="http://schemas.openxmlformats.org/package/2006/relationships"><Relationship Id="rId1" Type="http://schemas.openxmlformats.org/officeDocument/2006/relationships/image" Target="../media/image-440-1.png"/><Relationship Id="rId2" Type="http://schemas.openxmlformats.org/officeDocument/2006/relationships/image" Target="../media/image-440-2.png"/><Relationship Id="rId3" Type="http://schemas.openxmlformats.org/officeDocument/2006/relationships/image" Target="../media/image-440-3.png"/><Relationship Id="rId4" Type="http://schemas.openxmlformats.org/officeDocument/2006/relationships/image" Target="../media/image-440-4.png"/><Relationship Id="rId5" Type="http://schemas.openxmlformats.org/officeDocument/2006/relationships/slideLayout" Target="../slideLayouts/slideLayout1.xml"/><Relationship Id="rId6" Type="http://schemas.openxmlformats.org/officeDocument/2006/relationships/notesSlide" Target="../notesSlides/notesSlide440.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1.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2.xml"/></Relationships>
</file>

<file path=ppt/slides/_rels/slide443.xml.rels><?xml version="1.0" encoding="UTF-8" standalone="yes"?>
<Relationships xmlns="http://schemas.openxmlformats.org/package/2006/relationships"><Relationship Id="rId1" Type="http://schemas.openxmlformats.org/officeDocument/2006/relationships/image" Target="../media/image-443-1.png"/><Relationship Id="rId2" Type="http://schemas.openxmlformats.org/officeDocument/2006/relationships/slideLayout" Target="../slideLayouts/slideLayout1.xml"/><Relationship Id="rId3" Type="http://schemas.openxmlformats.org/officeDocument/2006/relationships/notesSlide" Target="../notesSlides/notesSlide443.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4.xml"/></Relationships>
</file>

<file path=ppt/slides/_rels/slide445.xml.rels><?xml version="1.0" encoding="UTF-8" standalone="yes"?>
<Relationships xmlns="http://schemas.openxmlformats.org/package/2006/relationships"><Relationship Id="rId1" Type="http://schemas.openxmlformats.org/officeDocument/2006/relationships/image" Target="../media/image-445-1.png"/><Relationship Id="rId2" Type="http://schemas.openxmlformats.org/officeDocument/2006/relationships/image" Target="../media/image-445-2.png"/><Relationship Id="rId3" Type="http://schemas.openxmlformats.org/officeDocument/2006/relationships/image" Target="../media/image-445-3.png"/><Relationship Id="rId4" Type="http://schemas.openxmlformats.org/officeDocument/2006/relationships/slideLayout" Target="../slideLayouts/slideLayout1.xml"/><Relationship Id="rId5" Type="http://schemas.openxmlformats.org/officeDocument/2006/relationships/notesSlide" Target="../notesSlides/notesSlide445.xml"/></Relationships>
</file>

<file path=ppt/slides/_rels/slide446.xml.rels><?xml version="1.0" encoding="UTF-8" standalone="yes"?>
<Relationships xmlns="http://schemas.openxmlformats.org/package/2006/relationships"><Relationship Id="rId1" Type="http://schemas.openxmlformats.org/officeDocument/2006/relationships/image" Target="../media/image-446-1.png"/><Relationship Id="rId2" Type="http://schemas.openxmlformats.org/officeDocument/2006/relationships/slideLayout" Target="../slideLayouts/slideLayout1.xml"/><Relationship Id="rId3" Type="http://schemas.openxmlformats.org/officeDocument/2006/relationships/notesSlide" Target="../notesSlides/notesSlide446.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8.xml"/></Relationships>
</file>

<file path=ppt/slides/_rels/slide449.xml.rels><?xml version="1.0" encoding="UTF-8" standalone="yes"?>
<Relationships xmlns="http://schemas.openxmlformats.org/package/2006/relationships"><Relationship Id="rId1" Type="http://schemas.openxmlformats.org/officeDocument/2006/relationships/image" Target="../media/image-449-1.png"/><Relationship Id="rId2" Type="http://schemas.openxmlformats.org/officeDocument/2006/relationships/image" Target="../media/image-449-2.png"/><Relationship Id="rId3" Type="http://schemas.openxmlformats.org/officeDocument/2006/relationships/image" Target="../media/image-449-3.png"/><Relationship Id="rId4" Type="http://schemas.openxmlformats.org/officeDocument/2006/relationships/slideLayout" Target="../slideLayouts/slideLayout1.xml"/><Relationship Id="rId5" Type="http://schemas.openxmlformats.org/officeDocument/2006/relationships/notesSlide" Target="../notesSlides/notesSlide449.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0.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1.xml"/></Relationships>
</file>

<file path=ppt/slides/_rels/slide452.xml.rels><?xml version="1.0" encoding="UTF-8" standalone="yes"?>
<Relationships xmlns="http://schemas.openxmlformats.org/package/2006/relationships"><Relationship Id="rId1" Type="http://schemas.openxmlformats.org/officeDocument/2006/relationships/image" Target="../media/image-452-1.png"/><Relationship Id="rId2" Type="http://schemas.openxmlformats.org/officeDocument/2006/relationships/slideLayout" Target="../slideLayouts/slideLayout1.xml"/><Relationship Id="rId3" Type="http://schemas.openxmlformats.org/officeDocument/2006/relationships/notesSlide" Target="../notesSlides/notesSlide45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3.xml"/></Relationships>
</file>

<file path=ppt/slides/_rels/slide454.xml.rels><?xml version="1.0" encoding="UTF-8" standalone="yes"?>
<Relationships xmlns="http://schemas.openxmlformats.org/package/2006/relationships"><Relationship Id="rId1" Type="http://schemas.openxmlformats.org/officeDocument/2006/relationships/image" Target="../media/image-454-1.png"/><Relationship Id="rId2" Type="http://schemas.openxmlformats.org/officeDocument/2006/relationships/image" Target="../media/image-454-2.png"/><Relationship Id="rId3" Type="http://schemas.openxmlformats.org/officeDocument/2006/relationships/image" Target="../media/image-454-3.png"/><Relationship Id="rId4" Type="http://schemas.openxmlformats.org/officeDocument/2006/relationships/slideLayout" Target="../slideLayouts/slideLayout1.xml"/><Relationship Id="rId5" Type="http://schemas.openxmlformats.org/officeDocument/2006/relationships/notesSlide" Target="../notesSlides/notesSlide454.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5.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6.xml"/></Relationships>
</file>

<file path=ppt/slides/_rels/slide457.xml.rels><?xml version="1.0" encoding="UTF-8" standalone="yes"?>
<Relationships xmlns="http://schemas.openxmlformats.org/package/2006/relationships"><Relationship Id="rId1" Type="http://schemas.openxmlformats.org/officeDocument/2006/relationships/image" Target="../media/image-457-1.png"/><Relationship Id="rId2" Type="http://schemas.openxmlformats.org/officeDocument/2006/relationships/image" Target="../media/image-457-2.png"/><Relationship Id="rId3" Type="http://schemas.openxmlformats.org/officeDocument/2006/relationships/image" Target="../media/image-457-3.png"/><Relationship Id="rId4" Type="http://schemas.openxmlformats.org/officeDocument/2006/relationships/image" Target="../media/image-457-4.png"/><Relationship Id="rId5" Type="http://schemas.openxmlformats.org/officeDocument/2006/relationships/image" Target="../media/image-457-5.png"/><Relationship Id="rId6" Type="http://schemas.openxmlformats.org/officeDocument/2006/relationships/image" Target="../media/image-457-6.png"/><Relationship Id="rId7" Type="http://schemas.openxmlformats.org/officeDocument/2006/relationships/slideLayout" Target="../slideLayouts/slideLayout1.xml"/><Relationship Id="rId8" Type="http://schemas.openxmlformats.org/officeDocument/2006/relationships/notesSlide" Target="../notesSlides/notesSlide457.xml"/></Relationships>
</file>

<file path=ppt/slides/_rels/slide458.xml.rels><?xml version="1.0" encoding="UTF-8" standalone="yes"?>
<Relationships xmlns="http://schemas.openxmlformats.org/package/2006/relationships"><Relationship Id="rId1" Type="http://schemas.openxmlformats.org/officeDocument/2006/relationships/image" Target="../media/image-458-1.png"/><Relationship Id="rId2" Type="http://schemas.openxmlformats.org/officeDocument/2006/relationships/image" Target="../media/image-458-2.png"/><Relationship Id="rId3" Type="http://schemas.openxmlformats.org/officeDocument/2006/relationships/image" Target="../media/image-458-3.png"/><Relationship Id="rId4" Type="http://schemas.openxmlformats.org/officeDocument/2006/relationships/slideLayout" Target="../slideLayouts/slideLayout1.xml"/><Relationship Id="rId5" Type="http://schemas.openxmlformats.org/officeDocument/2006/relationships/notesSlide" Target="../notesSlides/notesSlide458.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9.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0.xml"/></Relationships>
</file>

<file path=ppt/slides/_rels/slide461.xml.rels><?xml version="1.0" encoding="UTF-8" standalone="yes"?>
<Relationships xmlns="http://schemas.openxmlformats.org/package/2006/relationships"><Relationship Id="rId1" Type="http://schemas.openxmlformats.org/officeDocument/2006/relationships/image" Target="../media/image-461-1.png"/><Relationship Id="rId2" Type="http://schemas.openxmlformats.org/officeDocument/2006/relationships/image" Target="../media/image-461-2.png"/><Relationship Id="rId3" Type="http://schemas.openxmlformats.org/officeDocument/2006/relationships/image" Target="../media/image-461-3.png"/><Relationship Id="rId4" Type="http://schemas.openxmlformats.org/officeDocument/2006/relationships/slideLayout" Target="../slideLayouts/slideLayout1.xml"/><Relationship Id="rId5" Type="http://schemas.openxmlformats.org/officeDocument/2006/relationships/notesSlide" Target="../notesSlides/notesSlide461.xml"/></Relationships>
</file>

<file path=ppt/slides/_rels/slide462.xml.rels><?xml version="1.0" encoding="UTF-8" standalone="yes"?>
<Relationships xmlns="http://schemas.openxmlformats.org/package/2006/relationships"><Relationship Id="rId1" Type="http://schemas.openxmlformats.org/officeDocument/2006/relationships/image" Target="../media/image-462-1.png"/><Relationship Id="rId2" Type="http://schemas.openxmlformats.org/officeDocument/2006/relationships/image" Target="../media/image-462-2.png"/><Relationship Id="rId3" Type="http://schemas.openxmlformats.org/officeDocument/2006/relationships/image" Target="../media/image-462-3.png"/><Relationship Id="rId4" Type="http://schemas.openxmlformats.org/officeDocument/2006/relationships/image" Target="../media/image-462-4.png"/><Relationship Id="rId5" Type="http://schemas.openxmlformats.org/officeDocument/2006/relationships/slideLayout" Target="../slideLayouts/slideLayout1.xml"/><Relationship Id="rId6" Type="http://schemas.openxmlformats.org/officeDocument/2006/relationships/notesSlide" Target="../notesSlides/notesSlide46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3.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4.xml"/></Relationships>
</file>

<file path=ppt/slides/_rels/slide465.xml.rels><?xml version="1.0" encoding="UTF-8" standalone="yes"?>
<Relationships xmlns="http://schemas.openxmlformats.org/package/2006/relationships"><Relationship Id="rId1" Type="http://schemas.openxmlformats.org/officeDocument/2006/relationships/image" Target="../media/image-465-1.png"/><Relationship Id="rId2" Type="http://schemas.openxmlformats.org/officeDocument/2006/relationships/slideLayout" Target="../slideLayouts/slideLayout1.xml"/><Relationship Id="rId3" Type="http://schemas.openxmlformats.org/officeDocument/2006/relationships/notesSlide" Target="../notesSlides/notesSlide465.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6.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8.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9.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0.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1.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2.xml"/></Relationships>
</file>

<file path=ppt/slides/_rels/slide473.xml.rels><?xml version="1.0" encoding="UTF-8" standalone="yes"?>
<Relationships xmlns="http://schemas.openxmlformats.org/package/2006/relationships"><Relationship Id="rId1" Type="http://schemas.openxmlformats.org/officeDocument/2006/relationships/image" Target="../media/image-473-1.png"/><Relationship Id="rId2" Type="http://schemas.openxmlformats.org/officeDocument/2006/relationships/image" Target="../media/image-473-2.png"/><Relationship Id="rId3" Type="http://schemas.openxmlformats.org/officeDocument/2006/relationships/image" Target="../media/image-473-3.png"/><Relationship Id="rId4" Type="http://schemas.openxmlformats.org/officeDocument/2006/relationships/image" Target="../media/image-473-4.png"/><Relationship Id="rId5" Type="http://schemas.openxmlformats.org/officeDocument/2006/relationships/slideLayout" Target="../slideLayouts/slideLayout1.xml"/><Relationship Id="rId6" Type="http://schemas.openxmlformats.org/officeDocument/2006/relationships/notesSlide" Target="../notesSlides/notesSlide473.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4.xml"/></Relationships>
</file>

<file path=ppt/slides/_rels/slide475.xml.rels><?xml version="1.0" encoding="UTF-8" standalone="yes"?>
<Relationships xmlns="http://schemas.openxmlformats.org/package/2006/relationships"><Relationship Id="rId1" Type="http://schemas.openxmlformats.org/officeDocument/2006/relationships/image" Target="../media/image-475-1.png"/><Relationship Id="rId2" Type="http://schemas.openxmlformats.org/officeDocument/2006/relationships/slideLayout" Target="../slideLayouts/slideLayout1.xml"/><Relationship Id="rId3" Type="http://schemas.openxmlformats.org/officeDocument/2006/relationships/notesSlide" Target="../notesSlides/notesSlide475.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6.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8.xml"/></Relationships>
</file>

<file path=ppt/slides/_rels/slide479.xml.rels><?xml version="1.0" encoding="UTF-8" standalone="yes"?>
<Relationships xmlns="http://schemas.openxmlformats.org/package/2006/relationships"><Relationship Id="rId1" Type="http://schemas.openxmlformats.org/officeDocument/2006/relationships/image" Target="../media/image-479-1.png"/><Relationship Id="rId2" Type="http://schemas.openxmlformats.org/officeDocument/2006/relationships/image" Target="../media/image-479-2.png"/><Relationship Id="rId3" Type="http://schemas.openxmlformats.org/officeDocument/2006/relationships/image" Target="../media/image-479-3.png"/><Relationship Id="rId4" Type="http://schemas.openxmlformats.org/officeDocument/2006/relationships/image" Target="../media/image-479-4.png"/><Relationship Id="rId5" Type="http://schemas.openxmlformats.org/officeDocument/2006/relationships/image" Target="../media/image-479-5.png"/><Relationship Id="rId6" Type="http://schemas.openxmlformats.org/officeDocument/2006/relationships/image" Target="../media/image-479-6.png"/><Relationship Id="rId7" Type="http://schemas.openxmlformats.org/officeDocument/2006/relationships/slideLayout" Target="../slideLayouts/slideLayout1.xml"/><Relationship Id="rId8" Type="http://schemas.openxmlformats.org/officeDocument/2006/relationships/notesSlide" Target="../notesSlides/notesSlide479.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0.xml"/></Relationships>
</file>

<file path=ppt/slides/_rels/slide481.xml.rels><?xml version="1.0" encoding="UTF-8" standalone="yes"?>
<Relationships xmlns="http://schemas.openxmlformats.org/package/2006/relationships"><Relationship Id="rId1" Type="http://schemas.openxmlformats.org/officeDocument/2006/relationships/image" Target="../media/image-481-1.png"/><Relationship Id="rId2" Type="http://schemas.openxmlformats.org/officeDocument/2006/relationships/image" Target="../media/image-481-2.png"/><Relationship Id="rId3" Type="http://schemas.openxmlformats.org/officeDocument/2006/relationships/image" Target="../media/image-481-3.png"/><Relationship Id="rId4" Type="http://schemas.openxmlformats.org/officeDocument/2006/relationships/slideLayout" Target="../slideLayouts/slideLayout1.xml"/><Relationship Id="rId5" Type="http://schemas.openxmlformats.org/officeDocument/2006/relationships/notesSlide" Target="../notesSlides/notesSlide481.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3.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4.xml"/></Relationships>
</file>

<file path=ppt/slides/_rels/slide485.xml.rels><?xml version="1.0" encoding="UTF-8" standalone="yes"?>
<Relationships xmlns="http://schemas.openxmlformats.org/package/2006/relationships"><Relationship Id="rId1" Type="http://schemas.openxmlformats.org/officeDocument/2006/relationships/image" Target="../media/image-485-1.png"/><Relationship Id="rId2" Type="http://schemas.openxmlformats.org/officeDocument/2006/relationships/image" Target="../media/image-485-2.png"/><Relationship Id="rId3" Type="http://schemas.openxmlformats.org/officeDocument/2006/relationships/image" Target="../media/image-485-3.png"/><Relationship Id="rId4" Type="http://schemas.openxmlformats.org/officeDocument/2006/relationships/image" Target="../media/image-485-4.png"/><Relationship Id="rId5" Type="http://schemas.openxmlformats.org/officeDocument/2006/relationships/slideLayout" Target="../slideLayouts/slideLayout1.xml"/><Relationship Id="rId6" Type="http://schemas.openxmlformats.org/officeDocument/2006/relationships/notesSlide" Target="../notesSlides/notesSlide485.xml"/></Relationships>
</file>

<file path=ppt/slides/_rels/slide486.xml.rels><?xml version="1.0" encoding="UTF-8" standalone="yes"?>
<Relationships xmlns="http://schemas.openxmlformats.org/package/2006/relationships"><Relationship Id="rId1" Type="http://schemas.openxmlformats.org/officeDocument/2006/relationships/image" Target="../media/image-486-1.png"/><Relationship Id="rId2" Type="http://schemas.openxmlformats.org/officeDocument/2006/relationships/slideLayout" Target="../slideLayouts/slideLayout1.xml"/><Relationship Id="rId3" Type="http://schemas.openxmlformats.org/officeDocument/2006/relationships/notesSlide" Target="../notesSlides/notesSlide486.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8.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9.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0.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1.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3.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4.xml"/></Relationships>
</file>

<file path=ppt/slides/_rels/slide495.xml.rels><?xml version="1.0" encoding="UTF-8" standalone="yes"?>
<Relationships xmlns="http://schemas.openxmlformats.org/package/2006/relationships"><Relationship Id="rId1" Type="http://schemas.openxmlformats.org/officeDocument/2006/relationships/image" Target="../media/image-495-1.png"/><Relationship Id="rId2" Type="http://schemas.openxmlformats.org/officeDocument/2006/relationships/slideLayout" Target="../slideLayouts/slideLayout1.xml"/><Relationship Id="rId3" Type="http://schemas.openxmlformats.org/officeDocument/2006/relationships/notesSlide" Target="../notesSlides/notesSlide495.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6.xml"/></Relationships>
</file>

<file path=ppt/slides/_rels/slide497.xml.rels><?xml version="1.0" encoding="UTF-8" standalone="yes"?>
<Relationships xmlns="http://schemas.openxmlformats.org/package/2006/relationships"><Relationship Id="rId1" Type="http://schemas.openxmlformats.org/officeDocument/2006/relationships/image" Target="../media/image-497-1.png"/><Relationship Id="rId2" Type="http://schemas.openxmlformats.org/officeDocument/2006/relationships/image" Target="../media/image-497-2.png"/><Relationship Id="rId3" Type="http://schemas.openxmlformats.org/officeDocument/2006/relationships/image" Target="../media/image-497-3.png"/><Relationship Id="rId4" Type="http://schemas.openxmlformats.org/officeDocument/2006/relationships/slideLayout" Target="../slideLayouts/slideLayout1.xml"/><Relationship Id="rId5" Type="http://schemas.openxmlformats.org/officeDocument/2006/relationships/notesSlide" Target="../notesSlides/notesSlide497.xml"/></Relationships>
</file>

<file path=ppt/slides/_rels/slide498.xml.rels><?xml version="1.0" encoding="UTF-8" standalone="yes"?>
<Relationships xmlns="http://schemas.openxmlformats.org/package/2006/relationships"><Relationship Id="rId1" Type="http://schemas.openxmlformats.org/officeDocument/2006/relationships/image" Target="../media/image-498-1.png"/><Relationship Id="rId2" Type="http://schemas.openxmlformats.org/officeDocument/2006/relationships/slideLayout" Target="../slideLayouts/slideLayout1.xml"/><Relationship Id="rId3" Type="http://schemas.openxmlformats.org/officeDocument/2006/relationships/notesSlide" Target="../notesSlides/notesSlide498.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9.xml"/></Relationships>
</file>

<file path=ppt/slides/_rels/slide500.xml.rels><?xml version="1.0" encoding="UTF-8" standalone="yes"?>
<Relationships xmlns="http://schemas.openxmlformats.org/package/2006/relationships"><Relationship Id="rId1" Type="http://schemas.openxmlformats.org/officeDocument/2006/relationships/image" Target="../media/image-500-1.png"/><Relationship Id="rId2" Type="http://schemas.openxmlformats.org/officeDocument/2006/relationships/image" Target="../media/image-500-2.png"/><Relationship Id="rId3" Type="http://schemas.openxmlformats.org/officeDocument/2006/relationships/image" Target="../media/image-500-3.png"/><Relationship Id="rId4" Type="http://schemas.openxmlformats.org/officeDocument/2006/relationships/image" Target="../media/image-500-4.png"/><Relationship Id="rId5" Type="http://schemas.openxmlformats.org/officeDocument/2006/relationships/slideLayout" Target="../slideLayouts/slideLayout1.xml"/><Relationship Id="rId6" Type="http://schemas.openxmlformats.org/officeDocument/2006/relationships/notesSlide" Target="../notesSlides/notesSlide500.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1.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2.xml"/></Relationships>
</file>

<file path=ppt/slides/_rels/slide503.xml.rels><?xml version="1.0" encoding="UTF-8" standalone="yes"?>
<Relationships xmlns="http://schemas.openxmlformats.org/package/2006/relationships"><Relationship Id="rId1" Type="http://schemas.openxmlformats.org/officeDocument/2006/relationships/image" Target="../media/image-503-1.png"/><Relationship Id="rId2" Type="http://schemas.openxmlformats.org/officeDocument/2006/relationships/image" Target="../media/image-503-2.png"/><Relationship Id="rId3" Type="http://schemas.openxmlformats.org/officeDocument/2006/relationships/image" Target="../media/image-503-3.png"/><Relationship Id="rId4" Type="http://schemas.openxmlformats.org/officeDocument/2006/relationships/image" Target="../media/image-503-4.png"/><Relationship Id="rId5" Type="http://schemas.openxmlformats.org/officeDocument/2006/relationships/image" Target="../media/image-503-5.png"/><Relationship Id="rId6" Type="http://schemas.openxmlformats.org/officeDocument/2006/relationships/image" Target="../media/image-503-6.png"/><Relationship Id="rId7" Type="http://schemas.openxmlformats.org/officeDocument/2006/relationships/slideLayout" Target="../slideLayouts/slideLayout1.xml"/><Relationship Id="rId8" Type="http://schemas.openxmlformats.org/officeDocument/2006/relationships/notesSlide" Target="../notesSlides/notesSlide503.xml"/></Relationships>
</file>

<file path=ppt/slides/_rels/slide504.xml.rels><?xml version="1.0" encoding="UTF-8" standalone="yes"?>
<Relationships xmlns="http://schemas.openxmlformats.org/package/2006/relationships"><Relationship Id="rId1" Type="http://schemas.openxmlformats.org/officeDocument/2006/relationships/image" Target="../media/image-504-1.png"/><Relationship Id="rId2" Type="http://schemas.openxmlformats.org/officeDocument/2006/relationships/image" Target="../media/image-504-2.png"/><Relationship Id="rId3" Type="http://schemas.openxmlformats.org/officeDocument/2006/relationships/image" Target="../media/image-504-3.png"/><Relationship Id="rId4" Type="http://schemas.openxmlformats.org/officeDocument/2006/relationships/slideLayout" Target="../slideLayouts/slideLayout1.xml"/><Relationship Id="rId5" Type="http://schemas.openxmlformats.org/officeDocument/2006/relationships/notesSlide" Target="../notesSlides/notesSlide504.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5.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6.xml"/></Relationships>
</file>

<file path=ppt/slides/_rels/slide507.xml.rels><?xml version="1.0" encoding="UTF-8" standalone="yes"?>
<Relationships xmlns="http://schemas.openxmlformats.org/package/2006/relationships"><Relationship Id="rId1" Type="http://schemas.openxmlformats.org/officeDocument/2006/relationships/image" Target="../media/image-507-1.png"/><Relationship Id="rId2" Type="http://schemas.openxmlformats.org/officeDocument/2006/relationships/image" Target="../media/image-507-2.png"/><Relationship Id="rId3" Type="http://schemas.openxmlformats.org/officeDocument/2006/relationships/image" Target="../media/image-507-3.png"/><Relationship Id="rId4" Type="http://schemas.openxmlformats.org/officeDocument/2006/relationships/image" Target="../media/image-507-4.png"/><Relationship Id="rId5" Type="http://schemas.openxmlformats.org/officeDocument/2006/relationships/image" Target="../media/image-507-5.png"/><Relationship Id="rId6" Type="http://schemas.openxmlformats.org/officeDocument/2006/relationships/slideLayout" Target="../slideLayouts/slideLayout1.xml"/><Relationship Id="rId7" Type="http://schemas.openxmlformats.org/officeDocument/2006/relationships/notesSlide" Target="../notesSlides/notesSlide50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8.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9.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0.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1.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2.xml"/></Relationships>
</file>

<file path=ppt/slides/_rels/slide513.xml.rels><?xml version="1.0" encoding="UTF-8" standalone="yes"?>
<Relationships xmlns="http://schemas.openxmlformats.org/package/2006/relationships"><Relationship Id="rId1" Type="http://schemas.openxmlformats.org/officeDocument/2006/relationships/image" Target="../media/image-513-1.png"/><Relationship Id="rId2" Type="http://schemas.openxmlformats.org/officeDocument/2006/relationships/slideLayout" Target="../slideLayouts/slideLayout1.xml"/><Relationship Id="rId3" Type="http://schemas.openxmlformats.org/officeDocument/2006/relationships/notesSlide" Target="../notesSlides/notesSlide513.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4.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5.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6.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8.xml"/></Relationships>
</file>

<file path=ppt/slides/_rels/slide519.xml.rels><?xml version="1.0" encoding="UTF-8" standalone="yes"?>
<Relationships xmlns="http://schemas.openxmlformats.org/package/2006/relationships"><Relationship Id="rId1" Type="http://schemas.openxmlformats.org/officeDocument/2006/relationships/image" Target="../media/image-519-1.png"/><Relationship Id="rId2" Type="http://schemas.openxmlformats.org/officeDocument/2006/relationships/image" Target="../media/image-519-2.png"/><Relationship Id="rId3" Type="http://schemas.openxmlformats.org/officeDocument/2006/relationships/image" Target="../media/image-519-3.png"/><Relationship Id="rId4" Type="http://schemas.openxmlformats.org/officeDocument/2006/relationships/slideLayout" Target="../slideLayouts/slideLayout1.xml"/><Relationship Id="rId5" Type="http://schemas.openxmlformats.org/officeDocument/2006/relationships/notesSlide" Target="../notesSlides/notesSlide519.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0.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1.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3.xml"/></Relationships>
</file>

<file path=ppt/slides/_rels/slide524.xml.rels><?xml version="1.0" encoding="UTF-8" standalone="yes"?>
<Relationships xmlns="http://schemas.openxmlformats.org/package/2006/relationships"><Relationship Id="rId1" Type="http://schemas.openxmlformats.org/officeDocument/2006/relationships/image" Target="../media/image-524-1.png"/><Relationship Id="rId2" Type="http://schemas.openxmlformats.org/officeDocument/2006/relationships/image" Target="../media/image-524-2.png"/><Relationship Id="rId3" Type="http://schemas.openxmlformats.org/officeDocument/2006/relationships/image" Target="../media/image-524-3.png"/><Relationship Id="rId4" Type="http://schemas.openxmlformats.org/officeDocument/2006/relationships/image" Target="../media/image-524-4.png"/><Relationship Id="rId5" Type="http://schemas.openxmlformats.org/officeDocument/2006/relationships/image" Target="../media/image-524-5.png"/><Relationship Id="rId6" Type="http://schemas.openxmlformats.org/officeDocument/2006/relationships/image" Target="../media/image-524-6.png"/><Relationship Id="rId7" Type="http://schemas.openxmlformats.org/officeDocument/2006/relationships/slideLayout" Target="../slideLayouts/slideLayout1.xml"/><Relationship Id="rId8" Type="http://schemas.openxmlformats.org/officeDocument/2006/relationships/notesSlide" Target="../notesSlides/notesSlide524.xml"/></Relationships>
</file>

<file path=ppt/slides/_rels/slide525.xml.rels><?xml version="1.0" encoding="UTF-8" standalone="yes"?>
<Relationships xmlns="http://schemas.openxmlformats.org/package/2006/relationships"><Relationship Id="rId1" Type="http://schemas.openxmlformats.org/officeDocument/2006/relationships/image" Target="../media/image-525-1.png"/><Relationship Id="rId2" Type="http://schemas.openxmlformats.org/officeDocument/2006/relationships/image" Target="../media/image-525-2.png"/><Relationship Id="rId3" Type="http://schemas.openxmlformats.org/officeDocument/2006/relationships/image" Target="../media/image-525-3.png"/><Relationship Id="rId4" Type="http://schemas.openxmlformats.org/officeDocument/2006/relationships/slideLayout" Target="../slideLayouts/slideLayout1.xml"/><Relationship Id="rId5" Type="http://schemas.openxmlformats.org/officeDocument/2006/relationships/notesSlide" Target="../notesSlides/notesSlide525.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6.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8.xml"/></Relationships>
</file>

<file path=ppt/slides/_rels/slide529.xml.rels><?xml version="1.0" encoding="UTF-8" standalone="yes"?>
<Relationships xmlns="http://schemas.openxmlformats.org/package/2006/relationships"><Relationship Id="rId1" Type="http://schemas.openxmlformats.org/officeDocument/2006/relationships/image" Target="../media/image-529-1.png"/><Relationship Id="rId2" Type="http://schemas.openxmlformats.org/officeDocument/2006/relationships/image" Target="../media/image-529-2.png"/><Relationship Id="rId3" Type="http://schemas.openxmlformats.org/officeDocument/2006/relationships/image" Target="../media/image-529-3.png"/><Relationship Id="rId4" Type="http://schemas.openxmlformats.org/officeDocument/2006/relationships/image" Target="../media/image-529-4.png"/><Relationship Id="rId5" Type="http://schemas.openxmlformats.org/officeDocument/2006/relationships/image" Target="../media/image-529-5.png"/><Relationship Id="rId6" Type="http://schemas.openxmlformats.org/officeDocument/2006/relationships/slideLayout" Target="../slideLayouts/slideLayout1.xml"/><Relationship Id="rId7" Type="http://schemas.openxmlformats.org/officeDocument/2006/relationships/notesSlide" Target="../notesSlides/notesSlide529.xml"/></Relationships>
</file>

<file path=ppt/slides/_rels/slide530.xml.rels><?xml version="1.0" encoding="UTF-8" standalone="yes"?>
<Relationships xmlns="http://schemas.openxmlformats.org/package/2006/relationships"><Relationship Id="rId1" Type="http://schemas.openxmlformats.org/officeDocument/2006/relationships/image" Target="../media/image-530-1.png"/><Relationship Id="rId2" Type="http://schemas.openxmlformats.org/officeDocument/2006/relationships/slideLayout" Target="../slideLayouts/slideLayout1.xml"/><Relationship Id="rId3" Type="http://schemas.openxmlformats.org/officeDocument/2006/relationships/notesSlide" Target="../notesSlides/notesSlide530.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1.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2.xml"/></Relationships>
</file>

<file path=ppt/slides/_rels/slide533.xml.rels><?xml version="1.0" encoding="UTF-8" standalone="yes"?>
<Relationships xmlns="http://schemas.openxmlformats.org/package/2006/relationships"><Relationship Id="rId1" Type="http://schemas.openxmlformats.org/officeDocument/2006/relationships/image" Target="../media/image-533-1.png"/><Relationship Id="rId2" Type="http://schemas.openxmlformats.org/officeDocument/2006/relationships/image" Target="../media/image-533-2.png"/><Relationship Id="rId3" Type="http://schemas.openxmlformats.org/officeDocument/2006/relationships/image" Target="../media/image-533-3.png"/><Relationship Id="rId4" Type="http://schemas.openxmlformats.org/officeDocument/2006/relationships/image" Target="../media/image-533-4.png"/><Relationship Id="rId5" Type="http://schemas.openxmlformats.org/officeDocument/2006/relationships/slideLayout" Target="../slideLayouts/slideLayout1.xml"/><Relationship Id="rId6" Type="http://schemas.openxmlformats.org/officeDocument/2006/relationships/notesSlide" Target="../notesSlides/notesSlide533.xml"/></Relationships>
</file>

<file path=ppt/slides/_rels/slide534.xml.rels><?xml version="1.0" encoding="UTF-8" standalone="yes"?>
<Relationships xmlns="http://schemas.openxmlformats.org/package/2006/relationships"><Relationship Id="rId1" Type="http://schemas.openxmlformats.org/officeDocument/2006/relationships/image" Target="../media/image-534-1.png"/><Relationship Id="rId2" Type="http://schemas.openxmlformats.org/officeDocument/2006/relationships/slideLayout" Target="../slideLayouts/slideLayout1.xml"/><Relationship Id="rId3" Type="http://schemas.openxmlformats.org/officeDocument/2006/relationships/notesSlide" Target="../notesSlides/notesSlide534.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5.xml"/></Relationships>
</file>

<file path=ppt/slides/_rels/slide536.xml.rels><?xml version="1.0" encoding="UTF-8" standalone="yes"?>
<Relationships xmlns="http://schemas.openxmlformats.org/package/2006/relationships"><Relationship Id="rId1" Type="http://schemas.openxmlformats.org/officeDocument/2006/relationships/image" Target="../media/image-536-1.png"/><Relationship Id="rId2" Type="http://schemas.openxmlformats.org/officeDocument/2006/relationships/image" Target="../media/image-536-2.png"/><Relationship Id="rId3" Type="http://schemas.openxmlformats.org/officeDocument/2006/relationships/image" Target="../media/image-536-3.png"/><Relationship Id="rId4" Type="http://schemas.openxmlformats.org/officeDocument/2006/relationships/image" Target="../media/image-536-4.png"/><Relationship Id="rId5" Type="http://schemas.openxmlformats.org/officeDocument/2006/relationships/slideLayout" Target="../slideLayouts/slideLayout1.xml"/><Relationship Id="rId6" Type="http://schemas.openxmlformats.org/officeDocument/2006/relationships/notesSlide" Target="../notesSlides/notesSlide536.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7.xml"/></Relationships>
</file>

<file path=ppt/slides/_rels/slide538.xml.rels><?xml version="1.0" encoding="UTF-8" standalone="yes"?>
<Relationships xmlns="http://schemas.openxmlformats.org/package/2006/relationships"><Relationship Id="rId1" Type="http://schemas.openxmlformats.org/officeDocument/2006/relationships/image" Target="../media/image-538-1.png"/><Relationship Id="rId2" Type="http://schemas.openxmlformats.org/officeDocument/2006/relationships/image" Target="../media/image-538-2.png"/><Relationship Id="rId3" Type="http://schemas.openxmlformats.org/officeDocument/2006/relationships/image" Target="../media/image-538-3.png"/><Relationship Id="rId4" Type="http://schemas.openxmlformats.org/officeDocument/2006/relationships/slideLayout" Target="../slideLayouts/slideLayout1.xml"/><Relationship Id="rId5" Type="http://schemas.openxmlformats.org/officeDocument/2006/relationships/notesSlide" Target="../notesSlides/notesSlide538.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9.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0.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1.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3.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4.xml"/></Relationships>
</file>

<file path=ppt/slides/_rels/slide545.xml.rels><?xml version="1.0" encoding="UTF-8" standalone="yes"?>
<Relationships xmlns="http://schemas.openxmlformats.org/package/2006/relationships"><Relationship Id="rId1" Type="http://schemas.openxmlformats.org/officeDocument/2006/relationships/image" Target="../media/image-545-1.png"/><Relationship Id="rId2" Type="http://schemas.openxmlformats.org/officeDocument/2006/relationships/slideLayout" Target="../slideLayouts/slideLayout1.xml"/><Relationship Id="rId3" Type="http://schemas.openxmlformats.org/officeDocument/2006/relationships/notesSlide" Target="../notesSlides/notesSlide545.xml"/></Relationships>
</file>

<file path=ppt/slides/_rels/slide546.xml.rels><?xml version="1.0" encoding="UTF-8" standalone="yes"?>
<Relationships xmlns="http://schemas.openxmlformats.org/package/2006/relationships"><Relationship Id="rId1" Type="http://schemas.openxmlformats.org/officeDocument/2006/relationships/image" Target="../media/image-546-1.png"/><Relationship Id="rId2" Type="http://schemas.openxmlformats.org/officeDocument/2006/relationships/slideLayout" Target="../slideLayouts/slideLayout1.xml"/><Relationship Id="rId3" Type="http://schemas.openxmlformats.org/officeDocument/2006/relationships/notesSlide" Target="../notesSlides/notesSlide546.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7.xml"/></Relationships>
</file>

<file path=ppt/slides/_rels/slide548.xml.rels><?xml version="1.0" encoding="UTF-8" standalone="yes"?>
<Relationships xmlns="http://schemas.openxmlformats.org/package/2006/relationships"><Relationship Id="rId1" Type="http://schemas.openxmlformats.org/officeDocument/2006/relationships/image" Target="../media/image-548-1.png"/><Relationship Id="rId2" Type="http://schemas.openxmlformats.org/officeDocument/2006/relationships/image" Target="../media/image-548-2.png"/><Relationship Id="rId3" Type="http://schemas.openxmlformats.org/officeDocument/2006/relationships/image" Target="../media/image-548-3.png"/><Relationship Id="rId4" Type="http://schemas.openxmlformats.org/officeDocument/2006/relationships/image" Target="../media/image-548-4.png"/><Relationship Id="rId5" Type="http://schemas.openxmlformats.org/officeDocument/2006/relationships/image" Target="../media/image-548-5.png"/><Relationship Id="rId6" Type="http://schemas.openxmlformats.org/officeDocument/2006/relationships/image" Target="../media/image-548-6.png"/><Relationship Id="rId7" Type="http://schemas.openxmlformats.org/officeDocument/2006/relationships/slideLayout" Target="../slideLayouts/slideLayout1.xml"/><Relationship Id="rId8" Type="http://schemas.openxmlformats.org/officeDocument/2006/relationships/notesSlide" Target="../notesSlides/notesSlide548.xml"/></Relationships>
</file>

<file path=ppt/slides/_rels/slide549.xml.rels><?xml version="1.0" encoding="UTF-8" standalone="yes"?>
<Relationships xmlns="http://schemas.openxmlformats.org/package/2006/relationships"><Relationship Id="rId1" Type="http://schemas.openxmlformats.org/officeDocument/2006/relationships/image" Target="../media/image-549-1.png"/><Relationship Id="rId2" Type="http://schemas.openxmlformats.org/officeDocument/2006/relationships/slideLayout" Target="../slideLayouts/slideLayout1.xml"/><Relationship Id="rId3" Type="http://schemas.openxmlformats.org/officeDocument/2006/relationships/notesSlide" Target="../notesSlides/notesSlide5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01</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第一编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总论：法律职业与职业伦理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从“法律人是谁”出发，建立职业伦理的概念框架、规范体系与评价标准</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第1课时　导论：法律职业伦理为何是法学教育的必修课</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第2课时　法律职业：概念、特征与法律职业共同体</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第3课时　法律职业伦理的概念、性质与理论基础</a:t>
            </a:r>
            <a:endParaRPr lang="en-US" sz="1350" dirty="0"/>
          </a:p>
        </p:txBody>
      </p:sp>
      <p:sp>
        <p:nvSpPr>
          <p:cNvPr id="14" name="Text 12"/>
          <p:cNvSpPr/>
          <p:nvPr/>
        </p:nvSpPr>
        <p:spPr>
          <a:xfrm>
            <a:off x="8476488" y="378675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4</a:t>
            </a:r>
            <a:endParaRPr lang="en-US" sz="1250" dirty="0"/>
          </a:p>
        </p:txBody>
      </p:sp>
      <p:sp>
        <p:nvSpPr>
          <p:cNvPr id="15" name="Text 13"/>
          <p:cNvSpPr/>
          <p:nvPr/>
        </p:nvSpPr>
        <p:spPr>
          <a:xfrm>
            <a:off x="8823960" y="378675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第4课时　法律职业伦理的渊源、体系与中外发展</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导论：法律职业伦理为何是法学教育的必修课</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从三个真实的伦理困境出发，理解法律与伦理的古老纠缠，并确立本课程的问题意识</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法律人为什么会陷入“合法却不道德”的困境？</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法律与伦理的关系是一个怎样的法哲学命题？</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为什么它成为法学专业十门核心必修课之一？</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 · LESSON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导论：六个递进的问题</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一、开篇：三个真实的伦理困境</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二、法律与伦理：一个古老的法哲学命题</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三、为什么对法律人的道德要求高于常人</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四、法律职业伦理教育的中国进程</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五、本课程的目标、结构与考核方式</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六、课堂研讨与阅读书目</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开篇：三个真实的伦理困境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法律职业伦理不是抽象的说教，它诞生于法律人真实的、无法回避的两难时刻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导入</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先请各位同学做一个思想实验</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请设想：你已经通过法考、取得执业资格，正坐在办公室里。以下三件事分别发生在你身上，你会怎么做？</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你是辩护律师。当事人在会见中告诉你，他还杀了另外两个人，并画出了埋尸地点。两名失踪者的父母正在四处寻找孩子，痛不欲生。你说，还是不说？</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你是公诉人。案件即将开庭，你在卷宗中发现一份从未随案移送的证言，它足以动摇被告人的作案时间。指控是你半年心血，撤回意味着承认失败。你移送，还是不移送？</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你是承办法官。一位多年未联系的表兄突然登门，说他朋友的案子恰好在你手上，“只是想让你多了解一下情况”。你听，还是不听？</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注意：这三个问题的共同点在于——法律条文并不能自动给出答案，但你必须在当下作出选择，而且必须承担选择的后果。</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困境之一 · 律师的保密义务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当保密义务与人的良知正面相撞</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经典案例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400" b="1" dirty="0">
                <a:solidFill>
                  <a:srgbClr val="8E2C3B"/>
                </a:solidFill>
                <a:latin typeface="微软雅黑" pitchFamily="34" charset="0"/>
                <a:ea typeface="微软雅黑" pitchFamily="34" charset="-122"/>
                <a:cs typeface="微软雅黑" pitchFamily="34" charset="-120"/>
              </a:rPr>
              <a:t>美国“平静湖藏尸案”（People v. Garrow, 1973—1974）</a:t>
            </a:r>
            <a:endParaRPr lang="en-US" sz="140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1973年，罗伯特·加罗（Robert Garrow）在纽约州被控谋杀一名露营青年。法院为其指定了两名辩护律师——阿玛尼（Frank Armani）与贝尔奇（Francis Belge）。</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在会见中，加罗向两位律师供述：他此前还杀害了另外两名年轻人，并说出了尸体的掩埋地点。两位律师前往查看，确认属实，拍照留存，但没有报警，也没有移动任何物品。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此后数月，失踪女孩的父亲曾直接找到阿玛尼律师，苦苦哀求：“只要告诉我，我的女儿是不是还活着。”阿玛尼沉默以对。直至审判中加罗自行供述，真相才大白。</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两位律师随即被舆论痛骂为“魔鬼的帮凶”，业务凋零，收到死亡威胁；但纽约州律师协会与后续的职业责任委员会均认定：他们恪守了律师保密义务，没有违反职业行为规范。</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律师的沉默在法律上“正确”，在道德上是否也“正确”？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如果失踪者当时仍然活着，答案会不会不同？</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保密义务保护的究竟是这一个当事人，还是整个辩护制度？</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我国《律师法》第38条对此是如何处理的？</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规范定位</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我国法上的对应条款：保密义务及其例外</a:t>
            </a:r>
            <a:endParaRPr lang="en-US" sz="2800" dirty="0"/>
          </a:p>
        </p:txBody>
      </p:sp>
      <p:sp>
        <p:nvSpPr>
          <p:cNvPr id="4" name="Shape 2"/>
          <p:cNvSpPr/>
          <p:nvPr/>
        </p:nvSpPr>
        <p:spPr>
          <a:xfrm>
            <a:off x="566928" y="1316736"/>
            <a:ext cx="11057839" cy="1767459"/>
          </a:xfrm>
          <a:prstGeom prst="roundRect">
            <a:avLst>
              <a:gd name="adj" fmla="val 5174"/>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《中华人民共和国律师法》第三十八条</a:t>
            </a:r>
            <a:endParaRPr lang="en-US" sz="1500" dirty="0"/>
          </a:p>
        </p:txBody>
      </p:sp>
      <p:sp>
        <p:nvSpPr>
          <p:cNvPr id="8" name="Text 6"/>
          <p:cNvSpPr/>
          <p:nvPr/>
        </p:nvSpPr>
        <p:spPr>
          <a:xfrm>
            <a:off x="960120" y="1956816"/>
            <a:ext cx="10271455" cy="9079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律师应当保守在执业活动中知悉的国家秘密、商业秘密，不得泄露当事人的隐私。</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对在执业活动中知悉的委托人和其他人不愿泄露的有关情况和信息，应当予以保密。但是，委托人或者其他人准备或者正在实施危害国家安全、公共安全以及其他严重危害他人人身、财产安全的犯罪事实和信息除外。</a:t>
            </a:r>
            <a:endParaRPr lang="en-US" sz="1400" dirty="0"/>
          </a:p>
        </p:txBody>
      </p:sp>
      <p:sp>
        <p:nvSpPr>
          <p:cNvPr id="9" name="Shape 7"/>
          <p:cNvSpPr/>
          <p:nvPr/>
        </p:nvSpPr>
        <p:spPr>
          <a:xfrm>
            <a:off x="566928" y="3267075"/>
            <a:ext cx="11057839" cy="1500759"/>
          </a:xfrm>
          <a:prstGeom prst="roundRect">
            <a:avLst>
              <a:gd name="adj" fmla="val 6093"/>
            </a:avLst>
          </a:prstGeom>
          <a:solidFill>
            <a:srgbClr val="F6F1E8"/>
          </a:solidFill>
          <a:ln w="12700">
            <a:solidFill>
              <a:srgbClr val="F6F1E8"/>
            </a:solidFill>
            <a:prstDash val="solid"/>
          </a:ln>
        </p:spPr>
      </p:sp>
      <p:sp>
        <p:nvSpPr>
          <p:cNvPr id="10" name="Shape 8"/>
          <p:cNvSpPr/>
          <p:nvPr/>
        </p:nvSpPr>
        <p:spPr>
          <a:xfrm>
            <a:off x="877824" y="35048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5048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4865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《中华人民共和国刑事诉讼法》第四十八条</a:t>
            </a:r>
            <a:endParaRPr lang="en-US" sz="1500" dirty="0"/>
          </a:p>
        </p:txBody>
      </p:sp>
      <p:sp>
        <p:nvSpPr>
          <p:cNvPr id="13" name="Text 11"/>
          <p:cNvSpPr/>
          <p:nvPr/>
        </p:nvSpPr>
        <p:spPr>
          <a:xfrm>
            <a:off x="960120" y="3907155"/>
            <a:ext cx="10271455" cy="6412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辩护律师对在执业活动中知悉的委托人的有关情况和信息，有权予以保密。但是，辩护律师在执业活动中知悉委托人或者其他人，准备或者正在实施危害国家安全、公共安全以及严重危害他人人身安全的犯罪的，应当及时告知司法机关。</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两处限定：其一，例外仅指向“准备或者正在实施”的犯罪，即面向未来的危险，而非已经完成的既往犯罪；其二，例外指向的是特定重大犯罪类型。按此标准，“平静湖案”若发生在我国，律师同样负有保密义务——这正是本课程第16课时要展开的核心问题。</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困境之二 · 检察官的客观义务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指控者同时是“正义的守护人”</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比较视角</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布雷迪规则与我国的全面取证义务</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1963年，美国联邦最高法院在 Brady v. Maryland 案中确立了著名的“布雷迪规则”：控方压制对被告人有利且具有实质意义的证据，无论是否出于恶意，均构成对正当程序的违反。</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这一规则背后的理念是：检察官不是普通的一方当事人，其胜诉利益不能凌驾于查明真相之上。用美国联邦最高法院在 Berger v. United States 案中的著名表述——检察官“不是某场争讼的代理人，而是主权者的代表，其利益不在于赢得案件，而在于实现正义”。</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我国法上，这一理念体现为检察官的“客观公正义务”：《人民检察院刑事诉讼规则》要求人民检察院应当全面、客观地收集、审查证据；《检察官法》第五条明确规定检察官应当“以事实为根据，以法律为准绳，秉持客观公正的立场”。</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为什么检察官比律师承担更重的“发现真相”义务？</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“客观公正义务”是道德要求还是法定义务？</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当业绩考核与客观义务冲突时，制度应当如何设计？</a:t>
            </a:r>
            <a:endParaRPr lang="en-US" sz="14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困境之三 · 法官的中立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“只是想让你多了解一下情况”</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制度回应</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过问与干预：从人情请托到制度防线</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法官面临的伦理风险，往往不以行贿的面目出现，而以人情、乡谊、同学、旧属的面目出现。一句“只是想让你了解一下情况”，就足以在裁判者心中埋下先入之见。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2015年，中央政法委发布《司法机关内部人员过问案件的记录和责任追究规定》；同年，中办、国办发布《领导干部干预司法活动、插手具体案件处理的记录、通报和责任追究规定》——这就是通常所说的“防止干预司法三个规定”。</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其核心机制是：不禁止人们开口，而是要求被过问的法官“逢问必录”，将过问全程记入案卷；构成违纪违法的，依规追责。制度并不指望人性完美，而是用留痕使不当过问失去价值。</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“逢问必录”为什么比“禁止过问”更有效？</a:t>
            </a:r>
            <a:endParaRPr lang="en-US" sz="1400" dirty="0"/>
          </a:p>
        </p:txBody>
      </p:sp>
      <p:sp>
        <p:nvSpPr>
          <p:cNvPr id="14" name="Shape 12"/>
          <p:cNvSpPr/>
          <p:nvPr/>
        </p:nvSpPr>
        <p:spPr>
          <a:xfrm>
            <a:off x="7958023" y="322313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22313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694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法官应当如何回应亲友的打听？</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中立仅指裁判结果中立，还是也包括言行中立？</a:t>
            </a:r>
            <a:endParaRPr lang="en-US" sz="14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归纳</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三个困境的共同结构：角色道德与普通道德的张力</a:t>
            </a:r>
            <a:endParaRPr lang="en-US" sz="2800" dirty="0"/>
          </a:p>
        </p:txBody>
      </p:sp>
      <p:sp>
        <p:nvSpPr>
          <p:cNvPr id="4" name="Shape 2"/>
          <p:cNvSpPr/>
          <p:nvPr/>
        </p:nvSpPr>
        <p:spPr>
          <a:xfrm>
            <a:off x="566928" y="2320036"/>
            <a:ext cx="3527450" cy="3059176"/>
          </a:xfrm>
          <a:prstGeom prst="roundRect">
            <a:avLst>
              <a:gd name="adj" fmla="val 2989"/>
            </a:avLst>
          </a:prstGeom>
          <a:solidFill>
            <a:srgbClr val="F2F4F8"/>
          </a:solidFill>
          <a:ln w="12700">
            <a:solidFill>
              <a:srgbClr val="F2F4F8"/>
            </a:solidFill>
            <a:prstDash val="solid"/>
          </a:ln>
        </p:spPr>
      </p:sp>
      <p:sp>
        <p:nvSpPr>
          <p:cNvPr id="5" name="Shape 3"/>
          <p:cNvSpPr/>
          <p:nvPr/>
        </p:nvSpPr>
        <p:spPr>
          <a:xfrm>
            <a:off x="886968" y="26126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749804"/>
            <a:ext cx="182880" cy="182880"/>
          </a:xfrm>
          <a:prstGeom prst="rect">
            <a:avLst/>
          </a:prstGeom>
        </p:spPr>
      </p:pic>
      <p:sp>
        <p:nvSpPr>
          <p:cNvPr id="7" name="Text 4"/>
          <p:cNvSpPr/>
          <p:nvPr/>
        </p:nvSpPr>
        <p:spPr>
          <a:xfrm>
            <a:off x="886968"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角色义务</a:t>
            </a:r>
            <a:endParaRPr lang="en-US" sz="1700" dirty="0"/>
          </a:p>
        </p:txBody>
      </p:sp>
      <p:sp>
        <p:nvSpPr>
          <p:cNvPr id="8" name="Text 5"/>
          <p:cNvSpPr/>
          <p:nvPr/>
        </p:nvSpPr>
        <p:spPr>
          <a:xfrm>
            <a:off x="886968"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法律人的义务来自其在制度中扮演的角色。辩护人须忠诚于当事人，检察官须忠诚于真相，法官须忠诚于法律——这些义务并非源自其个人良心，而是制度分工的要求。</a:t>
            </a:r>
            <a:endParaRPr lang="en-US" sz="1450" dirty="0"/>
          </a:p>
        </p:txBody>
      </p:sp>
      <p:sp>
        <p:nvSpPr>
          <p:cNvPr id="9" name="Shape 6"/>
          <p:cNvSpPr/>
          <p:nvPr/>
        </p:nvSpPr>
        <p:spPr>
          <a:xfrm>
            <a:off x="4332122" y="2320036"/>
            <a:ext cx="3527450" cy="3059176"/>
          </a:xfrm>
          <a:prstGeom prst="roundRect">
            <a:avLst>
              <a:gd name="adj" fmla="val 2989"/>
            </a:avLst>
          </a:prstGeom>
          <a:solidFill>
            <a:srgbClr val="F6F1E8"/>
          </a:solidFill>
          <a:ln w="12700">
            <a:solidFill>
              <a:srgbClr val="F6F1E8"/>
            </a:solidFill>
            <a:prstDash val="solid"/>
          </a:ln>
        </p:spPr>
      </p:sp>
      <p:sp>
        <p:nvSpPr>
          <p:cNvPr id="10" name="Shape 7"/>
          <p:cNvSpPr/>
          <p:nvPr/>
        </p:nvSpPr>
        <p:spPr>
          <a:xfrm>
            <a:off x="4652162" y="26126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749804"/>
            <a:ext cx="182880" cy="182880"/>
          </a:xfrm>
          <a:prstGeom prst="rect">
            <a:avLst/>
          </a:prstGeom>
        </p:spPr>
      </p:pic>
      <p:sp>
        <p:nvSpPr>
          <p:cNvPr id="12" name="Text 8"/>
          <p:cNvSpPr/>
          <p:nvPr/>
        </p:nvSpPr>
        <p:spPr>
          <a:xfrm>
            <a:off x="4652162"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普通道德</a:t>
            </a:r>
            <a:endParaRPr lang="en-US" sz="1700" dirty="0"/>
          </a:p>
        </p:txBody>
      </p:sp>
      <p:sp>
        <p:nvSpPr>
          <p:cNvPr id="13" name="Text 9"/>
          <p:cNvSpPr/>
          <p:nvPr/>
        </p:nvSpPr>
        <p:spPr>
          <a:xfrm>
            <a:off x="4652162"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与此同时，法律人也是普通人，负有诚实、同情、救助他人的一般道德义务。角色义务与普通道德在多数时候并行不悖，但在极端情形下会正面冲突。</a:t>
            </a:r>
            <a:endParaRPr lang="en-US" sz="1450" dirty="0"/>
          </a:p>
        </p:txBody>
      </p:sp>
      <p:sp>
        <p:nvSpPr>
          <p:cNvPr id="14" name="Shape 10"/>
          <p:cNvSpPr/>
          <p:nvPr/>
        </p:nvSpPr>
        <p:spPr>
          <a:xfrm>
            <a:off x="8097317" y="2320036"/>
            <a:ext cx="3527450" cy="3059176"/>
          </a:xfrm>
          <a:prstGeom prst="roundRect">
            <a:avLst>
              <a:gd name="adj" fmla="val 2989"/>
            </a:avLst>
          </a:prstGeom>
          <a:solidFill>
            <a:srgbClr val="ECF3F2"/>
          </a:solidFill>
          <a:ln w="12700">
            <a:solidFill>
              <a:srgbClr val="ECF3F2"/>
            </a:solidFill>
            <a:prstDash val="solid"/>
          </a:ln>
        </p:spPr>
      </p:sp>
      <p:sp>
        <p:nvSpPr>
          <p:cNvPr id="15" name="Shape 11"/>
          <p:cNvSpPr/>
          <p:nvPr/>
        </p:nvSpPr>
        <p:spPr>
          <a:xfrm>
            <a:off x="8417357" y="2612644"/>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749804"/>
            <a:ext cx="182880" cy="182880"/>
          </a:xfrm>
          <a:prstGeom prst="rect">
            <a:avLst/>
          </a:prstGeom>
        </p:spPr>
      </p:pic>
      <p:sp>
        <p:nvSpPr>
          <p:cNvPr id="17" name="Text 12"/>
          <p:cNvSpPr/>
          <p:nvPr/>
        </p:nvSpPr>
        <p:spPr>
          <a:xfrm>
            <a:off x="8417357"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伦理判断</a:t>
            </a:r>
            <a:endParaRPr lang="en-US" sz="1700" dirty="0"/>
          </a:p>
        </p:txBody>
      </p:sp>
      <p:sp>
        <p:nvSpPr>
          <p:cNvPr id="18" name="Text 13"/>
          <p:cNvSpPr/>
          <p:nvPr/>
        </p:nvSpPr>
        <p:spPr>
          <a:xfrm>
            <a:off x="8417357"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职业伦理正是处理这种冲突的规范体系：它告诉你在何种情形下角色义务优先，在何种情形下必须让位；它既约束你，也在你被指责时保护你。</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律师的职业是高尚的，而不应当是那些不顾正义、只为金钱而运用自己的技巧和口才的人。</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柏拉图</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《法律篇》第一卷 —— 西方思想史上对法律职业伦理最早的系统评论之一</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法律与伦理：一个古老的法哲学命题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法律脱胎于伦理，又与伦理分离；理解这一分合过程，才能理解职业伦理的位置</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基础命题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法律与伦理关系的三个基本判断</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第一，法律脱胎于伦理</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在人类社会早期，规范并未分化。宗教戒律、伦理教条、习惯规则与法律禁令混杂一体。“不得杀人”“不得偷盗”最初是道德诫命，其后才成为法律条文。法律是从伦理母体中分化出来的、以国家强制力为后盾的社会控制手段。</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第二，法律与伦理已经分离</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现代法治的一项基本成就，是法律与道德的相对分离：法律只调整外部行为，不追究内心动机；法律有明确的制定与废止程序，道德没有；违反法律有确定的制裁，违反道德只有舆论与良心的谴责。这种分离保护了个人的思想自由。</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第三，法律的实施仍然依赖伦理</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但法律的控制不可能机械地完成。它必须通过国家的法律机构、以及在机构中工作的法律人共同完成。条文是死的，适用条文的人是活的。法律人的职业伦理，正是法律从纸面走向现实的最后一段路。</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学说对峙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恶法亦法，还是恶法非法？</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自然法学：法律必须合乎道德</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核心主张：不正义的法律不是法律（lex iniusta non est lex）。</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奥古斯丁、阿奎那：人定法若违背自然法，则不具有法律的约束力。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拉德布鲁赫（二战后）：当实定法与正义的抵触达到“不能容忍的程度”时，该法律应当让位于正义——即著名的“拉德布鲁赫公式”。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对职业伦理的意义：法律人不是条文的自动售货机，其对法律的忠诚以法律的正当性为前提。</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法律实证主义：法律与道德须分离</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核心主张：法律的效力来自其来源与制定程序，而非其内容的善恶。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奥斯丁：法律是主权者的命令；边沁批评自然法为“踩着高跷的胡说”。</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哈特：法律与道德之间“没有必然联系”，但承认法律有“最低限度的自然法”内容。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对职业伦理的意义：正因为法律可能不正义，才更需要一套独立的职业伦理，让法律人保有批判与拒绝的空间。</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经典论战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哈特—富勒之争（1958）：本课程的思想背景</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1958年，哈特与富勒在《哈佛法律评论》上的交锋，是二十世纪法哲学最重要的论战之一，也直接关系到“法律人应当忠诚于什么”这一职业伦理的根本问题。</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争论的导火索是纳粹德国时期的“告密者案件”：一名妇女依据当时有效的纳粹法律告发丈夫，致其被判死刑；战后，她是否应当受到惩罚？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哈特的立场：那些纳粹法令确实是“法律”，只是极其邪恶的法律。承认它们是法律，才能保持“法律是什么”与“法律应当是什么”的清醒区分，从而理直气壮地进行道德批判，并以溯及既往的立法来解决问题。</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富勒的立场：纳粹法令根本不配称为法律，因为它们违背了“法律的内在道德”——法律作为一项事业，本身就内含程序性的道德要求。</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两条道路都通向同一个结论：法律人不能把“这是法律规定的”当作一切行为的挡箭牌。这正是职业伦理存在的理由。</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富勒的方案</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“法律的内在道德”：使法律成为法律的八项条件</a:t>
            </a:r>
            <a:endParaRPr lang="en-US" sz="2800" dirty="0"/>
          </a:p>
        </p:txBody>
      </p:sp>
      <p:sp>
        <p:nvSpPr>
          <p:cNvPr id="4" name="Shape 2"/>
          <p:cNvSpPr/>
          <p:nvPr/>
        </p:nvSpPr>
        <p:spPr>
          <a:xfrm>
            <a:off x="566928" y="1996059"/>
            <a:ext cx="5382616" cy="830770"/>
          </a:xfrm>
          <a:prstGeom prst="roundRect">
            <a:avLst>
              <a:gd name="adj" fmla="val 8805"/>
            </a:avLst>
          </a:prstGeom>
          <a:solidFill>
            <a:srgbClr val="F2F4F8"/>
          </a:solidFill>
          <a:ln w="12700">
            <a:solidFill>
              <a:srgbClr val="F2F4F8"/>
            </a:solidFill>
            <a:prstDash val="solid"/>
          </a:ln>
        </p:spPr>
      </p:sp>
      <p:sp>
        <p:nvSpPr>
          <p:cNvPr id="5" name="Shape 3"/>
          <p:cNvSpPr/>
          <p:nvPr/>
        </p:nvSpPr>
        <p:spPr>
          <a:xfrm>
            <a:off x="822960" y="218284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8284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13321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一般性</a:t>
            </a:r>
            <a:endParaRPr lang="en-US" sz="1500" dirty="0"/>
          </a:p>
        </p:txBody>
      </p:sp>
      <p:sp>
        <p:nvSpPr>
          <p:cNvPr id="8" name="Text 6"/>
          <p:cNvSpPr/>
          <p:nvPr/>
        </p:nvSpPr>
        <p:spPr>
          <a:xfrm>
            <a:off x="1444752" y="2441067"/>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必须有规则，而非逐案的临时命令。</a:t>
            </a:r>
            <a:endParaRPr lang="en-US" sz="1350" dirty="0"/>
          </a:p>
        </p:txBody>
      </p:sp>
      <p:sp>
        <p:nvSpPr>
          <p:cNvPr id="9" name="Shape 7"/>
          <p:cNvSpPr/>
          <p:nvPr/>
        </p:nvSpPr>
        <p:spPr>
          <a:xfrm>
            <a:off x="566928" y="2954846"/>
            <a:ext cx="5382616" cy="830770"/>
          </a:xfrm>
          <a:prstGeom prst="roundRect">
            <a:avLst>
              <a:gd name="adj" fmla="val 8805"/>
            </a:avLst>
          </a:prstGeom>
          <a:solidFill>
            <a:srgbClr val="FFFFFF"/>
          </a:solidFill>
          <a:ln w="12700">
            <a:solidFill>
              <a:srgbClr val="D5DBE5"/>
            </a:solidFill>
            <a:prstDash val="solid"/>
          </a:ln>
        </p:spPr>
      </p:sp>
      <p:sp>
        <p:nvSpPr>
          <p:cNvPr id="10" name="Shape 8"/>
          <p:cNvSpPr/>
          <p:nvPr/>
        </p:nvSpPr>
        <p:spPr>
          <a:xfrm>
            <a:off x="822960" y="3141631"/>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14163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0920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公布</a:t>
            </a:r>
            <a:endParaRPr lang="en-US" sz="1500" dirty="0"/>
          </a:p>
        </p:txBody>
      </p:sp>
      <p:sp>
        <p:nvSpPr>
          <p:cNvPr id="13" name="Text 11"/>
          <p:cNvSpPr/>
          <p:nvPr/>
        </p:nvSpPr>
        <p:spPr>
          <a:xfrm>
            <a:off x="1444752" y="3399854"/>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规则必须公开，使人可以知晓。</a:t>
            </a:r>
            <a:endParaRPr lang="en-US" sz="1350" dirty="0"/>
          </a:p>
        </p:txBody>
      </p:sp>
      <p:sp>
        <p:nvSpPr>
          <p:cNvPr id="14" name="Shape 12"/>
          <p:cNvSpPr/>
          <p:nvPr/>
        </p:nvSpPr>
        <p:spPr>
          <a:xfrm>
            <a:off x="566928" y="3913632"/>
            <a:ext cx="5382616" cy="830770"/>
          </a:xfrm>
          <a:prstGeom prst="roundRect">
            <a:avLst>
              <a:gd name="adj" fmla="val 8805"/>
            </a:avLst>
          </a:prstGeom>
          <a:solidFill>
            <a:srgbClr val="F2F4F8"/>
          </a:solidFill>
          <a:ln w="12700">
            <a:solidFill>
              <a:srgbClr val="F2F4F8"/>
            </a:solidFill>
            <a:prstDash val="solid"/>
          </a:ln>
        </p:spPr>
      </p:sp>
      <p:sp>
        <p:nvSpPr>
          <p:cNvPr id="15" name="Shape 13"/>
          <p:cNvSpPr/>
          <p:nvPr/>
        </p:nvSpPr>
        <p:spPr>
          <a:xfrm>
            <a:off x="822960" y="4100417"/>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10041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不溯及既往</a:t>
            </a:r>
            <a:endParaRPr lang="en-US" sz="1500" dirty="0"/>
          </a:p>
        </p:txBody>
      </p:sp>
      <p:sp>
        <p:nvSpPr>
          <p:cNvPr id="18" name="Text 16"/>
          <p:cNvSpPr/>
          <p:nvPr/>
        </p:nvSpPr>
        <p:spPr>
          <a:xfrm>
            <a:off x="1444752" y="4358640"/>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不得以今日之法追究昨日之行。</a:t>
            </a:r>
            <a:endParaRPr lang="en-US" sz="1350" dirty="0"/>
          </a:p>
        </p:txBody>
      </p:sp>
      <p:sp>
        <p:nvSpPr>
          <p:cNvPr id="19" name="Shape 17"/>
          <p:cNvSpPr/>
          <p:nvPr/>
        </p:nvSpPr>
        <p:spPr>
          <a:xfrm>
            <a:off x="566928" y="4872419"/>
            <a:ext cx="5382616" cy="830770"/>
          </a:xfrm>
          <a:prstGeom prst="roundRect">
            <a:avLst>
              <a:gd name="adj" fmla="val 8805"/>
            </a:avLst>
          </a:prstGeom>
          <a:solidFill>
            <a:srgbClr val="FFFFFF"/>
          </a:solidFill>
          <a:ln w="12700">
            <a:solidFill>
              <a:srgbClr val="D5DBE5"/>
            </a:solidFill>
            <a:prstDash val="solid"/>
          </a:ln>
        </p:spPr>
      </p:sp>
      <p:sp>
        <p:nvSpPr>
          <p:cNvPr id="20" name="Shape 18"/>
          <p:cNvSpPr/>
          <p:nvPr/>
        </p:nvSpPr>
        <p:spPr>
          <a:xfrm>
            <a:off x="822960" y="5059204"/>
            <a:ext cx="457200" cy="457200"/>
          </a:xfrm>
          <a:prstGeom prst="ellipse">
            <a:avLst/>
          </a:prstGeom>
          <a:solidFill>
            <a:srgbClr val="13233F"/>
          </a:solidFill>
          <a:ln w="12700">
            <a:solidFill>
              <a:srgbClr val="13233F"/>
            </a:solidFill>
            <a:prstDash val="solid"/>
          </a:ln>
        </p:spPr>
      </p:sp>
      <p:sp>
        <p:nvSpPr>
          <p:cNvPr id="21" name="Text 19"/>
          <p:cNvSpPr/>
          <p:nvPr/>
        </p:nvSpPr>
        <p:spPr>
          <a:xfrm>
            <a:off x="822960" y="505920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44752" y="500957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清晰</a:t>
            </a:r>
            <a:endParaRPr lang="en-US" sz="1500" dirty="0"/>
          </a:p>
        </p:txBody>
      </p:sp>
      <p:sp>
        <p:nvSpPr>
          <p:cNvPr id="23" name="Text 21"/>
          <p:cNvSpPr/>
          <p:nvPr/>
        </p:nvSpPr>
        <p:spPr>
          <a:xfrm>
            <a:off x="1444752" y="5317427"/>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规则必须能够被理解。</a:t>
            </a:r>
            <a:endParaRPr lang="en-US" sz="1350" dirty="0"/>
          </a:p>
        </p:txBody>
      </p:sp>
      <p:sp>
        <p:nvSpPr>
          <p:cNvPr id="24" name="Shape 22"/>
          <p:cNvSpPr/>
          <p:nvPr/>
        </p:nvSpPr>
        <p:spPr>
          <a:xfrm>
            <a:off x="6242152" y="1623155"/>
            <a:ext cx="5382616" cy="830770"/>
          </a:xfrm>
          <a:prstGeom prst="roundRect">
            <a:avLst>
              <a:gd name="adj" fmla="val 8805"/>
            </a:avLst>
          </a:prstGeom>
          <a:solidFill>
            <a:srgbClr val="F2F4F8"/>
          </a:solidFill>
          <a:ln w="12700">
            <a:solidFill>
              <a:srgbClr val="F2F4F8"/>
            </a:solidFill>
            <a:prstDash val="solid"/>
          </a:ln>
        </p:spPr>
      </p:sp>
      <p:sp>
        <p:nvSpPr>
          <p:cNvPr id="25" name="Shape 23"/>
          <p:cNvSpPr/>
          <p:nvPr/>
        </p:nvSpPr>
        <p:spPr>
          <a:xfrm>
            <a:off x="6498184" y="1809941"/>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180994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176031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不矛盾</a:t>
            </a:r>
            <a:endParaRPr lang="en-US" sz="1500" dirty="0"/>
          </a:p>
        </p:txBody>
      </p:sp>
      <p:sp>
        <p:nvSpPr>
          <p:cNvPr id="28" name="Text 26"/>
          <p:cNvSpPr/>
          <p:nvPr/>
        </p:nvSpPr>
        <p:spPr>
          <a:xfrm>
            <a:off x="7119976" y="2068163"/>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规则之间不得相互抵触。</a:t>
            </a:r>
            <a:endParaRPr lang="en-US" sz="1350" dirty="0"/>
          </a:p>
        </p:txBody>
      </p:sp>
      <p:sp>
        <p:nvSpPr>
          <p:cNvPr id="29" name="Shape 27"/>
          <p:cNvSpPr/>
          <p:nvPr/>
        </p:nvSpPr>
        <p:spPr>
          <a:xfrm>
            <a:off x="6242152" y="2581942"/>
            <a:ext cx="5382616" cy="830770"/>
          </a:xfrm>
          <a:prstGeom prst="roundRect">
            <a:avLst>
              <a:gd name="adj" fmla="val 8805"/>
            </a:avLst>
          </a:prstGeom>
          <a:solidFill>
            <a:srgbClr val="FFFFFF"/>
          </a:solidFill>
          <a:ln w="12700">
            <a:solidFill>
              <a:srgbClr val="D5DBE5"/>
            </a:solidFill>
            <a:prstDash val="solid"/>
          </a:ln>
        </p:spPr>
      </p:sp>
      <p:sp>
        <p:nvSpPr>
          <p:cNvPr id="30" name="Shape 28"/>
          <p:cNvSpPr/>
          <p:nvPr/>
        </p:nvSpPr>
        <p:spPr>
          <a:xfrm>
            <a:off x="6498184" y="2768727"/>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276872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271910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可遵循</a:t>
            </a:r>
            <a:endParaRPr lang="en-US" sz="1500" dirty="0"/>
          </a:p>
        </p:txBody>
      </p:sp>
      <p:sp>
        <p:nvSpPr>
          <p:cNvPr id="33" name="Text 31"/>
          <p:cNvSpPr/>
          <p:nvPr/>
        </p:nvSpPr>
        <p:spPr>
          <a:xfrm>
            <a:off x="7119976" y="3026950"/>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不得要求人们做不可能之事。</a:t>
            </a:r>
            <a:endParaRPr lang="en-US" sz="1350" dirty="0"/>
          </a:p>
        </p:txBody>
      </p:sp>
      <p:sp>
        <p:nvSpPr>
          <p:cNvPr id="34" name="Shape 32"/>
          <p:cNvSpPr/>
          <p:nvPr/>
        </p:nvSpPr>
        <p:spPr>
          <a:xfrm>
            <a:off x="6242152" y="3540728"/>
            <a:ext cx="5382616" cy="830770"/>
          </a:xfrm>
          <a:prstGeom prst="roundRect">
            <a:avLst>
              <a:gd name="adj" fmla="val 8805"/>
            </a:avLst>
          </a:prstGeom>
          <a:solidFill>
            <a:srgbClr val="F2F4F8"/>
          </a:solidFill>
          <a:ln w="12700">
            <a:solidFill>
              <a:srgbClr val="F2F4F8"/>
            </a:solidFill>
            <a:prstDash val="solid"/>
          </a:ln>
        </p:spPr>
      </p:sp>
      <p:sp>
        <p:nvSpPr>
          <p:cNvPr id="35" name="Shape 33"/>
          <p:cNvSpPr/>
          <p:nvPr/>
        </p:nvSpPr>
        <p:spPr>
          <a:xfrm>
            <a:off x="6498184" y="3727514"/>
            <a:ext cx="457200" cy="457200"/>
          </a:xfrm>
          <a:prstGeom prst="ellipse">
            <a:avLst/>
          </a:prstGeom>
          <a:solidFill>
            <a:srgbClr val="13233F"/>
          </a:solidFill>
          <a:ln w="12700">
            <a:solidFill>
              <a:srgbClr val="13233F"/>
            </a:solidFill>
            <a:prstDash val="solid"/>
          </a:ln>
        </p:spPr>
      </p:sp>
      <p:sp>
        <p:nvSpPr>
          <p:cNvPr id="36" name="Text 34"/>
          <p:cNvSpPr/>
          <p:nvPr/>
        </p:nvSpPr>
        <p:spPr>
          <a:xfrm>
            <a:off x="6498184" y="37275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7119976" y="36778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稳定</a:t>
            </a:r>
            <a:endParaRPr lang="en-US" sz="1500" dirty="0"/>
          </a:p>
        </p:txBody>
      </p:sp>
      <p:sp>
        <p:nvSpPr>
          <p:cNvPr id="38" name="Text 36"/>
          <p:cNvSpPr/>
          <p:nvPr/>
        </p:nvSpPr>
        <p:spPr>
          <a:xfrm>
            <a:off x="7119976" y="3985736"/>
            <a:ext cx="4340200" cy="248602"/>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不得频繁变动，使人无所适从。</a:t>
            </a:r>
            <a:endParaRPr lang="en-US" sz="1350" dirty="0"/>
          </a:p>
        </p:txBody>
      </p:sp>
      <p:sp>
        <p:nvSpPr>
          <p:cNvPr id="39" name="Shape 37"/>
          <p:cNvSpPr/>
          <p:nvPr/>
        </p:nvSpPr>
        <p:spPr>
          <a:xfrm>
            <a:off x="6242152" y="4499515"/>
            <a:ext cx="5382616" cy="1576578"/>
          </a:xfrm>
          <a:prstGeom prst="roundRect">
            <a:avLst>
              <a:gd name="adj" fmla="val 4640"/>
            </a:avLst>
          </a:prstGeom>
          <a:solidFill>
            <a:srgbClr val="FFFFFF"/>
          </a:solidFill>
          <a:ln w="12700">
            <a:solidFill>
              <a:srgbClr val="D5DBE5"/>
            </a:solidFill>
            <a:prstDash val="solid"/>
          </a:ln>
        </p:spPr>
      </p:sp>
      <p:sp>
        <p:nvSpPr>
          <p:cNvPr id="40" name="Shape 38"/>
          <p:cNvSpPr/>
          <p:nvPr/>
        </p:nvSpPr>
        <p:spPr>
          <a:xfrm>
            <a:off x="6498184" y="5059204"/>
            <a:ext cx="457200" cy="457200"/>
          </a:xfrm>
          <a:prstGeom prst="ellipse">
            <a:avLst/>
          </a:prstGeom>
          <a:solidFill>
            <a:srgbClr val="13233F"/>
          </a:solidFill>
          <a:ln w="12700">
            <a:solidFill>
              <a:srgbClr val="13233F"/>
            </a:solidFill>
            <a:prstDash val="solid"/>
          </a:ln>
        </p:spPr>
      </p:sp>
      <p:sp>
        <p:nvSpPr>
          <p:cNvPr id="41" name="Text 39"/>
          <p:cNvSpPr/>
          <p:nvPr/>
        </p:nvSpPr>
        <p:spPr>
          <a:xfrm>
            <a:off x="6498184" y="505920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7119976" y="463667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官方行为与规则一致</a:t>
            </a:r>
            <a:endParaRPr lang="en-US" sz="1500" dirty="0"/>
          </a:p>
        </p:txBody>
      </p:sp>
      <p:sp>
        <p:nvSpPr>
          <p:cNvPr id="43" name="Text 41"/>
          <p:cNvSpPr/>
          <p:nvPr/>
        </p:nvSpPr>
        <p:spPr>
          <a:xfrm>
            <a:off x="7119976" y="4944523"/>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这是八项中最关键的一项——执法者、司法者必须真正按照公布的规则行事。富勒指出，八项条件中任何一项的彻底失败，都不只是造就了坏的法律，而是造成了根本不能称之为法律制度的东西。</a:t>
            </a:r>
            <a:endParaRPr lang="en-US" sz="1350" dirty="0"/>
          </a:p>
        </p:txBody>
      </p:sp>
      <p:sp>
        <p:nvSpPr>
          <p:cNvPr id="44" name="Text 4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落点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为什么这场论战是职业伦理课的起点</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富勒的第八项条件——“官方行为与公布的规则相一致”——直接指向法律职业伦理。</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这一项条件不能靠立法来保证。立法者可以写出清晰、稳定、公开的规则，却无法替法官保证他会依规则裁判，无法替检察官保证他会客观取证，无法替律师保证他会诚信履职。</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换言之，法治的最后一环，落在法律人的职业品格上。制度可以设计监督，但监督者也是人；层层监督之外，最终仍需要法律人自身的伦理自觉。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这就是为什么现代各国无一例外地建立了法律职业伦理规范体系，也是为什么我国将《法律职业伦理》确定为法学专业核心必修课。</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法律职业伦理不是法学教育的道德点缀，而是法治得以运转的制度组成部分。</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为什么对法律人的道德要求高于常人</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这不是苛求，而是由法律职业本身的结构性特征所决定的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五个理由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法律职业的结构性特征与更高的伦理要求</a:t>
            </a:r>
            <a:endParaRPr lang="en-US" sz="2800" dirty="0"/>
          </a:p>
        </p:txBody>
      </p:sp>
      <p:sp>
        <p:nvSpPr>
          <p:cNvPr id="4" name="Shape 2"/>
          <p:cNvSpPr/>
          <p:nvPr/>
        </p:nvSpPr>
        <p:spPr>
          <a:xfrm>
            <a:off x="566928" y="1316736"/>
            <a:ext cx="11057839" cy="1043432"/>
          </a:xfrm>
          <a:prstGeom prst="roundRect">
            <a:avLst>
              <a:gd name="adj" fmla="val 7011"/>
            </a:avLst>
          </a:prstGeom>
          <a:solidFill>
            <a:srgbClr val="F2F4F8"/>
          </a:solidFill>
          <a:ln w="12700">
            <a:solidFill>
              <a:srgbClr val="F2F4F8"/>
            </a:solidFill>
            <a:prstDash val="solid"/>
          </a:ln>
        </p:spPr>
      </p:sp>
      <p:sp>
        <p:nvSpPr>
          <p:cNvPr id="5" name="Shape 3"/>
          <p:cNvSpPr/>
          <p:nvPr/>
        </p:nvSpPr>
        <p:spPr>
          <a:xfrm>
            <a:off x="841248" y="158242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36039"/>
            <a:ext cx="204826" cy="204826"/>
          </a:xfrm>
          <a:prstGeom prst="rect">
            <a:avLst/>
          </a:prstGeom>
        </p:spPr>
      </p:pic>
      <p:sp>
        <p:nvSpPr>
          <p:cNvPr id="7" name="Text 4"/>
          <p:cNvSpPr/>
          <p:nvPr/>
        </p:nvSpPr>
        <p:spPr>
          <a:xfrm>
            <a:off x="1536192" y="1520190"/>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垄断性：社会把一扇门的钥匙只交给了你</a:t>
            </a:r>
            <a:endParaRPr lang="en-US" sz="1200" dirty="0"/>
          </a:p>
        </p:txBody>
      </p:sp>
      <p:sp>
        <p:nvSpPr>
          <p:cNvPr id="8" name="Text 5"/>
          <p:cNvSpPr/>
          <p:nvPr/>
        </p:nvSpPr>
        <p:spPr>
          <a:xfrm>
            <a:off x="1536192" y="1788414"/>
            <a:ext cx="9832543"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法律服务与司法权的行使是受严格准入限制的。未通过法律职业资格考试者不得从事，这就意味着社会将一项稀缺资源独家授予了法律职业群体，作为交换，社会有权要求更高的行为标准。</a:t>
            </a:r>
            <a:endParaRPr lang="en-US" sz="1000" dirty="0"/>
          </a:p>
        </p:txBody>
      </p:sp>
      <p:sp>
        <p:nvSpPr>
          <p:cNvPr id="9" name="Shape 6"/>
          <p:cNvSpPr/>
          <p:nvPr/>
        </p:nvSpPr>
        <p:spPr>
          <a:xfrm>
            <a:off x="566928" y="2506472"/>
            <a:ext cx="11057839" cy="859282"/>
          </a:xfrm>
          <a:prstGeom prst="roundRect">
            <a:avLst>
              <a:gd name="adj" fmla="val 8513"/>
            </a:avLst>
          </a:prstGeom>
          <a:solidFill>
            <a:srgbClr val="FFFFFF"/>
          </a:solidFill>
          <a:ln w="12700">
            <a:solidFill>
              <a:srgbClr val="D5DBE5"/>
            </a:solidFill>
            <a:prstDash val="solid"/>
          </a:ln>
        </p:spPr>
      </p:sp>
      <p:sp>
        <p:nvSpPr>
          <p:cNvPr id="10" name="Shape 7"/>
          <p:cNvSpPr/>
          <p:nvPr/>
        </p:nvSpPr>
        <p:spPr>
          <a:xfrm>
            <a:off x="841248" y="268008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833700"/>
            <a:ext cx="204826" cy="204826"/>
          </a:xfrm>
          <a:prstGeom prst="rect">
            <a:avLst/>
          </a:prstGeom>
        </p:spPr>
      </p:pic>
      <p:sp>
        <p:nvSpPr>
          <p:cNvPr id="12" name="Text 8"/>
          <p:cNvSpPr/>
          <p:nvPr/>
        </p:nvSpPr>
        <p:spPr>
          <a:xfrm>
            <a:off x="1536192" y="2709926"/>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公共性：你的职业行为直接关系公共利益</a:t>
            </a:r>
            <a:endParaRPr lang="en-US" sz="1200" dirty="0"/>
          </a:p>
        </p:txBody>
      </p:sp>
      <p:sp>
        <p:nvSpPr>
          <p:cNvPr id="13" name="Text 9"/>
          <p:cNvSpPr/>
          <p:nvPr/>
        </p:nvSpPr>
        <p:spPr>
          <a:xfrm>
            <a:off x="1536192" y="2978150"/>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工匠的失误损害一件产品，法律人的失误可能损害一个人的自由、财产乃至生命，并动摇公众对整个法律秩序的信赖。法律职业以服务公众为宗旨，不同于纯粹逐利的行业。</a:t>
            </a:r>
            <a:endParaRPr lang="en-US" sz="1000" dirty="0"/>
          </a:p>
        </p:txBody>
      </p:sp>
      <p:sp>
        <p:nvSpPr>
          <p:cNvPr id="14" name="Shape 10"/>
          <p:cNvSpPr/>
          <p:nvPr/>
        </p:nvSpPr>
        <p:spPr>
          <a:xfrm>
            <a:off x="566928" y="3512058"/>
            <a:ext cx="11057839" cy="859282"/>
          </a:xfrm>
          <a:prstGeom prst="roundRect">
            <a:avLst>
              <a:gd name="adj" fmla="val 8513"/>
            </a:avLst>
          </a:prstGeom>
          <a:solidFill>
            <a:srgbClr val="F2F4F8"/>
          </a:solidFill>
          <a:ln w="12700">
            <a:solidFill>
              <a:srgbClr val="F2F4F8"/>
            </a:solidFill>
            <a:prstDash val="solid"/>
          </a:ln>
        </p:spPr>
      </p:sp>
      <p:sp>
        <p:nvSpPr>
          <p:cNvPr id="15" name="Shape 11"/>
          <p:cNvSpPr/>
          <p:nvPr/>
        </p:nvSpPr>
        <p:spPr>
          <a:xfrm>
            <a:off x="841248" y="368566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839286"/>
            <a:ext cx="204826" cy="204826"/>
          </a:xfrm>
          <a:prstGeom prst="rect">
            <a:avLst/>
          </a:prstGeom>
        </p:spPr>
      </p:pic>
      <p:sp>
        <p:nvSpPr>
          <p:cNvPr id="17" name="Text 12"/>
          <p:cNvSpPr/>
          <p:nvPr/>
        </p:nvSpPr>
        <p:spPr>
          <a:xfrm>
            <a:off x="1536192" y="3715512"/>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信息不对称：当事人无从判断你是否尽责</a:t>
            </a:r>
            <a:endParaRPr lang="en-US" sz="1200" dirty="0"/>
          </a:p>
        </p:txBody>
      </p:sp>
      <p:sp>
        <p:nvSpPr>
          <p:cNvPr id="18" name="Text 13"/>
          <p:cNvSpPr/>
          <p:nvPr/>
        </p:nvSpPr>
        <p:spPr>
          <a:xfrm>
            <a:off x="1536192" y="3983736"/>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病人看不懂病历，当事人也看不懂诉讼策略。委托人无法有效监督律师是否勤勉、法官是否公正。这种不对称使外部约束天然乏力，只能更多依赖职业伦理的内部约束。</a:t>
            </a:r>
            <a:endParaRPr lang="en-US" sz="1000" dirty="0"/>
          </a:p>
        </p:txBody>
      </p:sp>
      <p:sp>
        <p:nvSpPr>
          <p:cNvPr id="19" name="Shape 14"/>
          <p:cNvSpPr/>
          <p:nvPr/>
        </p:nvSpPr>
        <p:spPr>
          <a:xfrm>
            <a:off x="566928" y="4517644"/>
            <a:ext cx="11057839" cy="859282"/>
          </a:xfrm>
          <a:prstGeom prst="roundRect">
            <a:avLst>
              <a:gd name="adj" fmla="val 8513"/>
            </a:avLst>
          </a:prstGeom>
          <a:solidFill>
            <a:srgbClr val="FFFFFF"/>
          </a:solidFill>
          <a:ln w="12700">
            <a:solidFill>
              <a:srgbClr val="D5DBE5"/>
            </a:solidFill>
            <a:prstDash val="solid"/>
          </a:ln>
        </p:spPr>
      </p:sp>
      <p:sp>
        <p:nvSpPr>
          <p:cNvPr id="20" name="Shape 15"/>
          <p:cNvSpPr/>
          <p:nvPr/>
        </p:nvSpPr>
        <p:spPr>
          <a:xfrm>
            <a:off x="841248" y="4691253"/>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844872"/>
            <a:ext cx="204826" cy="204826"/>
          </a:xfrm>
          <a:prstGeom prst="rect">
            <a:avLst/>
          </a:prstGeom>
        </p:spPr>
      </p:pic>
      <p:sp>
        <p:nvSpPr>
          <p:cNvPr id="22" name="Text 16"/>
          <p:cNvSpPr/>
          <p:nvPr/>
        </p:nvSpPr>
        <p:spPr>
          <a:xfrm>
            <a:off x="1536192" y="4721098"/>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权力性：你的判断具有强制力</a:t>
            </a:r>
            <a:endParaRPr lang="en-US" sz="1200" dirty="0"/>
          </a:p>
        </p:txBody>
      </p:sp>
      <p:sp>
        <p:nvSpPr>
          <p:cNvPr id="23" name="Text 17"/>
          <p:cNvSpPr/>
          <p:nvPr/>
        </p:nvSpPr>
        <p:spPr>
          <a:xfrm>
            <a:off x="1536192" y="4989322"/>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法官的裁判、检察官的起诉决定，一经作出即具有国家强制力。权力愈大，对行使者的德性要求愈高——这是一切公权力伦理的通则。</a:t>
            </a:r>
            <a:endParaRPr lang="en-US" sz="1000" dirty="0"/>
          </a:p>
        </p:txBody>
      </p:sp>
      <p:sp>
        <p:nvSpPr>
          <p:cNvPr id="24" name="Shape 18"/>
          <p:cNvSpPr/>
          <p:nvPr/>
        </p:nvSpPr>
        <p:spPr>
          <a:xfrm>
            <a:off x="566928" y="5523230"/>
            <a:ext cx="11057839" cy="859282"/>
          </a:xfrm>
          <a:prstGeom prst="roundRect">
            <a:avLst>
              <a:gd name="adj" fmla="val 8513"/>
            </a:avLst>
          </a:prstGeom>
          <a:solidFill>
            <a:srgbClr val="F2F4F8"/>
          </a:solidFill>
          <a:ln w="12700">
            <a:solidFill>
              <a:srgbClr val="F2F4F8"/>
            </a:solidFill>
            <a:prstDash val="solid"/>
          </a:ln>
        </p:spPr>
      </p:sp>
      <p:sp>
        <p:nvSpPr>
          <p:cNvPr id="25" name="Shape 19"/>
          <p:cNvSpPr/>
          <p:nvPr/>
        </p:nvSpPr>
        <p:spPr>
          <a:xfrm>
            <a:off x="841248" y="5696839"/>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50458"/>
            <a:ext cx="204826" cy="204826"/>
          </a:xfrm>
          <a:prstGeom prst="rect">
            <a:avLst/>
          </a:prstGeom>
        </p:spPr>
      </p:pic>
      <p:sp>
        <p:nvSpPr>
          <p:cNvPr id="27" name="Text 20"/>
          <p:cNvSpPr/>
          <p:nvPr/>
        </p:nvSpPr>
        <p:spPr>
          <a:xfrm>
            <a:off x="1536192" y="5726684"/>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信任基础：整个制度建立在“可被信赖”之上</a:t>
            </a:r>
            <a:endParaRPr lang="en-US" sz="1200" dirty="0"/>
          </a:p>
        </p:txBody>
      </p:sp>
      <p:sp>
        <p:nvSpPr>
          <p:cNvPr id="28" name="Text 21"/>
          <p:cNvSpPr/>
          <p:nvPr/>
        </p:nvSpPr>
        <p:spPr>
          <a:xfrm>
            <a:off x="1536192" y="5994908"/>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当事人愿意把最隐秘的事实告诉律师，社会愿意把最激烈的争端交给法院，前提是相信法律人值得托付。信任一旦崩塌，制度即告瘫痪，且修复极其缓慢。</a:t>
            </a:r>
            <a:endParaRPr lang="en-US" sz="10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法官的一言一行，都必须使人们相信，正义不仅得到了实现，而且是以人们看得见的方式得到实现。</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休厄特勋爵（Lord Hewart）</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R v Sussex Justices, ex parte McCarthy (1924) —— “看得见的正义”这一表述的经典出处</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一个庞大而仍在快速扩张的职业群体</a:t>
            </a:r>
            <a:endParaRPr lang="en-US" sz="2800" dirty="0"/>
          </a:p>
        </p:txBody>
      </p:sp>
      <p:sp>
        <p:nvSpPr>
          <p:cNvPr id="4" name="Shape 2"/>
          <p:cNvSpPr/>
          <p:nvPr/>
        </p:nvSpPr>
        <p:spPr>
          <a:xfrm>
            <a:off x="566928" y="2101152"/>
            <a:ext cx="3527450" cy="2994025"/>
          </a:xfrm>
          <a:prstGeom prst="roundRect">
            <a:avLst>
              <a:gd name="adj" fmla="val 3054"/>
            </a:avLst>
          </a:prstGeom>
          <a:solidFill>
            <a:srgbClr val="13233F"/>
          </a:solidFill>
          <a:ln w="12700">
            <a:solidFill>
              <a:srgbClr val="13233F"/>
            </a:solidFill>
            <a:prstDash val="solid"/>
          </a:ln>
        </p:spPr>
      </p:sp>
      <p:sp>
        <p:nvSpPr>
          <p:cNvPr id="5" name="Text 3"/>
          <p:cNvSpPr/>
          <p:nvPr/>
        </p:nvSpPr>
        <p:spPr>
          <a:xfrm>
            <a:off x="749808" y="2430336"/>
            <a:ext cx="3161690" cy="1024128"/>
          </a:xfrm>
          <a:prstGeom prst="rect">
            <a:avLst/>
          </a:prstGeom>
          <a:noFill/>
          <a:ln/>
        </p:spPr>
        <p:txBody>
          <a:bodyPr wrap="square" lIns="0" tIns="0" rIns="0" bIns="0" rtlCol="0" anchor="ctr"/>
          <a:lstStyle/>
          <a:p>
            <a:pPr algn="ctr" indent="0" marL="0">
              <a:buNone/>
            </a:pPr>
            <a:r>
              <a:rPr lang="en-US" sz="4650" b="1" dirty="0">
                <a:solidFill>
                  <a:srgbClr val="B08D57"/>
                </a:solidFill>
                <a:latin typeface="Arial" pitchFamily="34" charset="0"/>
                <a:ea typeface="Arial" pitchFamily="34" charset="-122"/>
                <a:cs typeface="Arial" pitchFamily="34" charset="-120"/>
              </a:rPr>
              <a:t>65.16</a:t>
            </a:r>
            <a:pPr algn="ctr" indent="0" marL="0">
              <a:buNone/>
            </a:pPr>
            <a:r>
              <a:rPr lang="en-US" sz="2400" b="1" dirty="0">
                <a:solidFill>
                  <a:srgbClr val="B08D57"/>
                </a:solidFill>
                <a:latin typeface="微软雅黑" pitchFamily="34" charset="0"/>
                <a:ea typeface="微软雅黑" pitchFamily="34" charset="-122"/>
                <a:cs typeface="微软雅黑" pitchFamily="34" charset="-120"/>
              </a:rPr>
              <a:t>万</a:t>
            </a:r>
            <a:endParaRPr lang="en-US" sz="4650" dirty="0"/>
          </a:p>
        </p:txBody>
      </p:sp>
      <p:sp>
        <p:nvSpPr>
          <p:cNvPr id="6" name="Text 4"/>
          <p:cNvSpPr/>
          <p:nvPr/>
        </p:nvSpPr>
        <p:spPr>
          <a:xfrm>
            <a:off x="886968"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全国执业律师</a:t>
            </a:r>
            <a:endParaRPr lang="en-US" sz="1600" dirty="0"/>
          </a:p>
        </p:txBody>
      </p:sp>
      <p:sp>
        <p:nvSpPr>
          <p:cNvPr id="7" name="Text 5"/>
          <p:cNvSpPr/>
          <p:nvPr/>
        </p:nvSpPr>
        <p:spPr>
          <a:xfrm>
            <a:off x="886968"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截至 2022 年底。司法部《2022 年度律师、基层法律服务工作统计分析》</a:t>
            </a:r>
            <a:endParaRPr lang="en-US" sz="1300" dirty="0"/>
          </a:p>
        </p:txBody>
      </p:sp>
      <p:sp>
        <p:nvSpPr>
          <p:cNvPr id="8" name="Shape 6"/>
          <p:cNvSpPr/>
          <p:nvPr/>
        </p:nvSpPr>
        <p:spPr>
          <a:xfrm>
            <a:off x="4332122" y="2101152"/>
            <a:ext cx="3527450" cy="2994025"/>
          </a:xfrm>
          <a:prstGeom prst="roundRect">
            <a:avLst>
              <a:gd name="adj" fmla="val 3054"/>
            </a:avLst>
          </a:prstGeom>
          <a:solidFill>
            <a:srgbClr val="F6F1E8"/>
          </a:solidFill>
          <a:ln w="12700">
            <a:solidFill>
              <a:srgbClr val="F6F1E8"/>
            </a:solidFill>
            <a:prstDash val="solid"/>
          </a:ln>
        </p:spPr>
      </p:sp>
      <p:sp>
        <p:nvSpPr>
          <p:cNvPr id="9" name="Text 7"/>
          <p:cNvSpPr/>
          <p:nvPr/>
        </p:nvSpPr>
        <p:spPr>
          <a:xfrm>
            <a:off x="4515002" y="2430336"/>
            <a:ext cx="3161690" cy="1024128"/>
          </a:xfrm>
          <a:prstGeom prst="rect">
            <a:avLst/>
          </a:prstGeom>
          <a:noFill/>
          <a:ln/>
        </p:spPr>
        <p:txBody>
          <a:bodyPr wrap="square" lIns="0" tIns="0" rIns="0" bIns="0" rtlCol="0" anchor="ctr"/>
          <a:lstStyle/>
          <a:p>
            <a:pPr algn="ctr" indent="0" marL="0">
              <a:buNone/>
            </a:pPr>
            <a:r>
              <a:rPr lang="en-US" sz="5481" b="1" dirty="0">
                <a:solidFill>
                  <a:srgbClr val="B08D57"/>
                </a:solidFill>
                <a:latin typeface="Arial" pitchFamily="34" charset="0"/>
                <a:ea typeface="Arial" pitchFamily="34" charset="-122"/>
                <a:cs typeface="Arial" pitchFamily="34" charset="-120"/>
              </a:rPr>
              <a:t>3.86</a:t>
            </a:r>
            <a:pPr algn="ctr" indent="0" marL="0">
              <a:buNone/>
            </a:pPr>
            <a:r>
              <a:rPr lang="en-US" sz="2900" b="1" dirty="0">
                <a:solidFill>
                  <a:srgbClr val="B08D57"/>
                </a:solidFill>
                <a:latin typeface="微软雅黑" pitchFamily="34" charset="0"/>
                <a:ea typeface="微软雅黑" pitchFamily="34" charset="-122"/>
                <a:cs typeface="微软雅黑" pitchFamily="34" charset="-120"/>
              </a:rPr>
              <a:t>万</a:t>
            </a:r>
            <a:endParaRPr lang="en-US" sz="5481" dirty="0"/>
          </a:p>
        </p:txBody>
      </p:sp>
      <p:sp>
        <p:nvSpPr>
          <p:cNvPr id="10" name="Text 8"/>
          <p:cNvSpPr/>
          <p:nvPr/>
        </p:nvSpPr>
        <p:spPr>
          <a:xfrm>
            <a:off x="4652162"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律师事务所</a:t>
            </a:r>
            <a:endParaRPr lang="en-US" sz="1600" dirty="0"/>
          </a:p>
        </p:txBody>
      </p:sp>
      <p:sp>
        <p:nvSpPr>
          <p:cNvPr id="11" name="Text 9"/>
          <p:cNvSpPr/>
          <p:nvPr/>
        </p:nvSpPr>
        <p:spPr>
          <a:xfrm>
            <a:off x="4652162"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同期数据；2024 年全国执业律师人数已增至约 75 万人</a:t>
            </a:r>
            <a:endParaRPr lang="en-US" sz="1300" dirty="0"/>
          </a:p>
        </p:txBody>
      </p:sp>
      <p:sp>
        <p:nvSpPr>
          <p:cNvPr id="12" name="Shape 10"/>
          <p:cNvSpPr/>
          <p:nvPr/>
        </p:nvSpPr>
        <p:spPr>
          <a:xfrm>
            <a:off x="8097317" y="2101152"/>
            <a:ext cx="3527450" cy="2994025"/>
          </a:xfrm>
          <a:prstGeom prst="roundRect">
            <a:avLst>
              <a:gd name="adj" fmla="val 3054"/>
            </a:avLst>
          </a:prstGeom>
          <a:solidFill>
            <a:srgbClr val="ECF3F2"/>
          </a:solidFill>
          <a:ln w="12700">
            <a:solidFill>
              <a:srgbClr val="ECF3F2"/>
            </a:solidFill>
            <a:prstDash val="solid"/>
          </a:ln>
        </p:spPr>
      </p:sp>
      <p:sp>
        <p:nvSpPr>
          <p:cNvPr id="13" name="Text 11"/>
          <p:cNvSpPr/>
          <p:nvPr/>
        </p:nvSpPr>
        <p:spPr>
          <a:xfrm>
            <a:off x="8280197" y="2430336"/>
            <a:ext cx="3161690" cy="1024128"/>
          </a:xfrm>
          <a:prstGeom prst="rect">
            <a:avLst/>
          </a:prstGeom>
          <a:noFill/>
          <a:ln/>
        </p:spPr>
        <p:txBody>
          <a:bodyPr wrap="square" lIns="0" tIns="0" rIns="0" bIns="0" rtlCol="0" anchor="ctr"/>
          <a:lstStyle/>
          <a:p>
            <a:pPr algn="ctr" indent="0" marL="0">
              <a:buNone/>
            </a:pPr>
            <a:r>
              <a:rPr lang="en-US" sz="5600" b="1" dirty="0">
                <a:solidFill>
                  <a:srgbClr val="2F6E6A"/>
                </a:solidFill>
                <a:latin typeface="Arial" pitchFamily="34" charset="0"/>
                <a:ea typeface="Arial" pitchFamily="34" charset="-122"/>
                <a:cs typeface="Arial" pitchFamily="34" charset="-120"/>
              </a:rPr>
              <a:t>10</a:t>
            </a:r>
            <a:endParaRPr lang="en-US" sz="5600" dirty="0"/>
          </a:p>
        </p:txBody>
      </p:sp>
      <p:sp>
        <p:nvSpPr>
          <p:cNvPr id="14" name="Text 12"/>
          <p:cNvSpPr/>
          <p:nvPr/>
        </p:nvSpPr>
        <p:spPr>
          <a:xfrm>
            <a:off x="8417357"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法学核心必修课</a:t>
            </a:r>
            <a:endParaRPr lang="en-US" sz="1600" dirty="0"/>
          </a:p>
        </p:txBody>
      </p:sp>
      <p:sp>
        <p:nvSpPr>
          <p:cNvPr id="15" name="Text 13"/>
          <p:cNvSpPr/>
          <p:nvPr/>
        </p:nvSpPr>
        <p:spPr>
          <a:xfrm>
            <a:off x="8417357"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2021 版《法学类教学质量国家标准》“1+10+X”体系，《法律职业伦理》位列其中</a:t>
            </a:r>
            <a:endParaRPr lang="en-US" sz="1300" dirty="0"/>
          </a:p>
        </p:txBody>
      </p:sp>
      <p:sp>
        <p:nvSpPr>
          <p:cNvPr id="16" name="Text 14"/>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数据说明：职业群体规模越大、进入速度越快，统一的执业伦理标准与惩戒机制就越不可或缺。</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法律职业伦理教育的中国进程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从“附带提一句”到“独立必修课”：一门课程的四十年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制度演进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从律师制度恢复到“1+10+X”：五个关键节点</a:t>
            </a:r>
            <a:endParaRPr lang="en-US" sz="2800" dirty="0"/>
          </a:p>
        </p:txBody>
      </p:sp>
      <p:sp>
        <p:nvSpPr>
          <p:cNvPr id="4" name="Shape 2"/>
          <p:cNvSpPr/>
          <p:nvPr/>
        </p:nvSpPr>
        <p:spPr>
          <a:xfrm>
            <a:off x="566928" y="1316736"/>
            <a:ext cx="11057839" cy="802043"/>
          </a:xfrm>
          <a:prstGeom prst="roundRect">
            <a:avLst>
              <a:gd name="adj" fmla="val 9121"/>
            </a:avLst>
          </a:prstGeom>
          <a:solidFill>
            <a:srgbClr val="F2F4F8"/>
          </a:solidFill>
          <a:ln w="12700">
            <a:solidFill>
              <a:srgbClr val="F2F4F8"/>
            </a:solidFill>
            <a:prstDash val="solid"/>
          </a:ln>
        </p:spPr>
      </p:sp>
      <p:sp>
        <p:nvSpPr>
          <p:cNvPr id="5" name="Shape 3"/>
          <p:cNvSpPr/>
          <p:nvPr/>
        </p:nvSpPr>
        <p:spPr>
          <a:xfrm>
            <a:off x="841248" y="1480014"/>
            <a:ext cx="475488" cy="475488"/>
          </a:xfrm>
          <a:prstGeom prst="ellipse">
            <a:avLst/>
          </a:prstGeom>
          <a:solidFill>
            <a:srgbClr val="13233F"/>
          </a:solidFill>
          <a:ln w="12700">
            <a:solidFill>
              <a:srgbClr val="13233F"/>
            </a:solidFill>
            <a:prstDash val="solid"/>
          </a:ln>
        </p:spPr>
      </p:sp>
      <p:sp>
        <p:nvSpPr>
          <p:cNvPr id="6" name="Text 4"/>
          <p:cNvSpPr/>
          <p:nvPr/>
        </p:nvSpPr>
        <p:spPr>
          <a:xfrm>
            <a:off x="841248" y="148001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7475"/>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1980 年　《律师暂行条例》</a:t>
            </a:r>
            <a:endParaRPr lang="en-US" sz="1250" dirty="0"/>
          </a:p>
        </p:txBody>
      </p:sp>
      <p:sp>
        <p:nvSpPr>
          <p:cNvPr id="8" name="Text 6"/>
          <p:cNvSpPr/>
          <p:nvPr/>
        </p:nvSpPr>
        <p:spPr>
          <a:xfrm>
            <a:off x="1499616" y="1754683"/>
            <a:ext cx="9887407" cy="193358"/>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我国律师制度恢复重建的起点。律师被定位为“国家法律工作者”，在国家机关性质的法律顾问处工作，职业伦理主要表现为纪律要求。</a:t>
            </a:r>
            <a:endParaRPr lang="en-US" sz="1050" dirty="0"/>
          </a:p>
        </p:txBody>
      </p:sp>
      <p:sp>
        <p:nvSpPr>
          <p:cNvPr id="9" name="Shape 7"/>
          <p:cNvSpPr/>
          <p:nvPr/>
        </p:nvSpPr>
        <p:spPr>
          <a:xfrm>
            <a:off x="566928" y="2237651"/>
            <a:ext cx="11057839" cy="995401"/>
          </a:xfrm>
          <a:prstGeom prst="roundRect">
            <a:avLst>
              <a:gd name="adj" fmla="val 7349"/>
            </a:avLst>
          </a:prstGeom>
          <a:solidFill>
            <a:srgbClr val="FFFFFF"/>
          </a:solidFill>
          <a:ln w="12700">
            <a:solidFill>
              <a:srgbClr val="D5DBE5"/>
            </a:solidFill>
            <a:prstDash val="solid"/>
          </a:ln>
        </p:spPr>
      </p:sp>
      <p:sp>
        <p:nvSpPr>
          <p:cNvPr id="10" name="Shape 8"/>
          <p:cNvSpPr/>
          <p:nvPr/>
        </p:nvSpPr>
        <p:spPr>
          <a:xfrm>
            <a:off x="841248" y="2497607"/>
            <a:ext cx="475488" cy="475488"/>
          </a:xfrm>
          <a:prstGeom prst="ellipse">
            <a:avLst/>
          </a:prstGeom>
          <a:solidFill>
            <a:srgbClr val="13233F"/>
          </a:solidFill>
          <a:ln w="12700">
            <a:solidFill>
              <a:srgbClr val="13233F"/>
            </a:solidFill>
            <a:prstDash val="solid"/>
          </a:ln>
        </p:spPr>
      </p:sp>
      <p:sp>
        <p:nvSpPr>
          <p:cNvPr id="11" name="Text 9"/>
          <p:cNvSpPr/>
          <p:nvPr/>
        </p:nvSpPr>
        <p:spPr>
          <a:xfrm>
            <a:off x="841248" y="2497607"/>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408390"/>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1996 年　《律师法》颁布</a:t>
            </a:r>
            <a:endParaRPr lang="en-US" sz="1250" dirty="0"/>
          </a:p>
        </p:txBody>
      </p:sp>
      <p:sp>
        <p:nvSpPr>
          <p:cNvPr id="13" name="Text 11"/>
          <p:cNvSpPr/>
          <p:nvPr/>
        </p:nvSpPr>
        <p:spPr>
          <a:xfrm>
            <a:off x="1499616" y="2675598"/>
            <a:ext cx="9887407" cy="386715"/>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律师定位从“国家法律工作者”转变为“为社会提供法律服务的执业人员”，2007 年修订进一步明确为“依法取得律师执业证书，接受委托或者指定，为当事人提供法律服务的执业人员”。职业属性的转变，使独立的职业伦理成为必需。</a:t>
            </a:r>
            <a:endParaRPr lang="en-US" sz="1050" dirty="0"/>
          </a:p>
        </p:txBody>
      </p:sp>
      <p:sp>
        <p:nvSpPr>
          <p:cNvPr id="14" name="Shape 12"/>
          <p:cNvSpPr/>
          <p:nvPr/>
        </p:nvSpPr>
        <p:spPr>
          <a:xfrm>
            <a:off x="566928" y="3351924"/>
            <a:ext cx="11057839" cy="802043"/>
          </a:xfrm>
          <a:prstGeom prst="roundRect">
            <a:avLst>
              <a:gd name="adj" fmla="val 9121"/>
            </a:avLst>
          </a:prstGeom>
          <a:solidFill>
            <a:srgbClr val="F2F4F8"/>
          </a:solidFill>
          <a:ln w="12700">
            <a:solidFill>
              <a:srgbClr val="F2F4F8"/>
            </a:solidFill>
            <a:prstDash val="solid"/>
          </a:ln>
        </p:spPr>
      </p:sp>
      <p:sp>
        <p:nvSpPr>
          <p:cNvPr id="15" name="Shape 13"/>
          <p:cNvSpPr/>
          <p:nvPr/>
        </p:nvSpPr>
        <p:spPr>
          <a:xfrm>
            <a:off x="841248" y="3515201"/>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3515201"/>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3522663"/>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2002 年　国家统一司法考试</a:t>
            </a:r>
            <a:endParaRPr lang="en-US" sz="1250" dirty="0"/>
          </a:p>
        </p:txBody>
      </p:sp>
      <p:sp>
        <p:nvSpPr>
          <p:cNvPr id="18" name="Text 16"/>
          <p:cNvSpPr/>
          <p:nvPr/>
        </p:nvSpPr>
        <p:spPr>
          <a:xfrm>
            <a:off x="1499616" y="3789871"/>
            <a:ext cx="9887407" cy="193358"/>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法官、检察官、律师、公证员的准入被统一到一次考试之中，“法律职业共同体”从学理概念走向制度现实，共同的职业伦理才有了共同的主体。</a:t>
            </a:r>
            <a:endParaRPr lang="en-US" sz="1050" dirty="0"/>
          </a:p>
        </p:txBody>
      </p:sp>
      <p:sp>
        <p:nvSpPr>
          <p:cNvPr id="19" name="Shape 17"/>
          <p:cNvSpPr/>
          <p:nvPr/>
        </p:nvSpPr>
        <p:spPr>
          <a:xfrm>
            <a:off x="566928" y="4272839"/>
            <a:ext cx="11057839" cy="995401"/>
          </a:xfrm>
          <a:prstGeom prst="roundRect">
            <a:avLst>
              <a:gd name="adj" fmla="val 7349"/>
            </a:avLst>
          </a:prstGeom>
          <a:solidFill>
            <a:srgbClr val="FFFFFF"/>
          </a:solidFill>
          <a:ln w="12700">
            <a:solidFill>
              <a:srgbClr val="D5DBE5"/>
            </a:solidFill>
            <a:prstDash val="solid"/>
          </a:ln>
        </p:spPr>
      </p:sp>
      <p:sp>
        <p:nvSpPr>
          <p:cNvPr id="20" name="Shape 18"/>
          <p:cNvSpPr/>
          <p:nvPr/>
        </p:nvSpPr>
        <p:spPr>
          <a:xfrm>
            <a:off x="841248" y="4532795"/>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453279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4443578"/>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2018 年　法考改革与卓越计划 2.0</a:t>
            </a:r>
            <a:endParaRPr lang="en-US" sz="1250" dirty="0"/>
          </a:p>
        </p:txBody>
      </p:sp>
      <p:sp>
        <p:nvSpPr>
          <p:cNvPr id="23" name="Text 21"/>
          <p:cNvSpPr/>
          <p:nvPr/>
        </p:nvSpPr>
        <p:spPr>
          <a:xfrm>
            <a:off x="1499616" y="4710786"/>
            <a:ext cx="9887407" cy="386715"/>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“国家统一司法考试”改为“国家统一法律职业资格考试”，适用主体进一步扩大；同年 10 月，教育部、中央政法委印发《关于坚持德法兼修 实施卓越法治人才教育培养计划 2.0 的意见》，明确要求把法律职业伦理教育贯穿法治人才培养全过程。</a:t>
            </a:r>
            <a:endParaRPr lang="en-US" sz="1050" dirty="0"/>
          </a:p>
        </p:txBody>
      </p:sp>
      <p:sp>
        <p:nvSpPr>
          <p:cNvPr id="24" name="Shape 22"/>
          <p:cNvSpPr/>
          <p:nvPr/>
        </p:nvSpPr>
        <p:spPr>
          <a:xfrm>
            <a:off x="566928" y="5387111"/>
            <a:ext cx="11057839" cy="995401"/>
          </a:xfrm>
          <a:prstGeom prst="roundRect">
            <a:avLst>
              <a:gd name="adj" fmla="val 7349"/>
            </a:avLst>
          </a:prstGeom>
          <a:solidFill>
            <a:srgbClr val="F2F4F8"/>
          </a:solidFill>
          <a:ln w="12700">
            <a:solidFill>
              <a:srgbClr val="F2F4F8"/>
            </a:solidFill>
            <a:prstDash val="solid"/>
          </a:ln>
        </p:spPr>
      </p:sp>
      <p:sp>
        <p:nvSpPr>
          <p:cNvPr id="25" name="Shape 23"/>
          <p:cNvSpPr/>
          <p:nvPr/>
        </p:nvSpPr>
        <p:spPr>
          <a:xfrm>
            <a:off x="841248" y="5647068"/>
            <a:ext cx="475488" cy="475488"/>
          </a:xfrm>
          <a:prstGeom prst="ellipse">
            <a:avLst/>
          </a:prstGeom>
          <a:solidFill>
            <a:srgbClr val="13233F"/>
          </a:solidFill>
          <a:ln w="12700">
            <a:solidFill>
              <a:srgbClr val="13233F"/>
            </a:solidFill>
            <a:prstDash val="solid"/>
          </a:ln>
        </p:spPr>
      </p:sp>
      <p:sp>
        <p:nvSpPr>
          <p:cNvPr id="26" name="Text 24"/>
          <p:cNvSpPr/>
          <p:nvPr/>
        </p:nvSpPr>
        <p:spPr>
          <a:xfrm>
            <a:off x="841248" y="5647068"/>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499616" y="5557850"/>
            <a:ext cx="9887407" cy="203200"/>
          </a:xfrm>
          <a:prstGeom prst="rect">
            <a:avLst/>
          </a:prstGeom>
          <a:noFill/>
          <a:ln/>
        </p:spPr>
        <p:txBody>
          <a:bodyPr wrap="square" lIns="0" tIns="0" rIns="0" bIns="0" rtlCol="0" anchor="t"/>
          <a:lstStyle/>
          <a:p>
            <a:pPr indent="0" marL="0">
              <a:lnSpc>
                <a:spcPts val="1600"/>
              </a:lnSpc>
              <a:buNone/>
            </a:pPr>
            <a:r>
              <a:rPr lang="en-US" sz="1250" b="1" dirty="0">
                <a:solidFill>
                  <a:srgbClr val="13233F"/>
                </a:solidFill>
                <a:latin typeface="微软雅黑" pitchFamily="34" charset="0"/>
                <a:ea typeface="微软雅黑" pitchFamily="34" charset="-122"/>
                <a:cs typeface="微软雅黑" pitchFamily="34" charset="-120"/>
              </a:rPr>
              <a:t>2021 年　列入核心必修课</a:t>
            </a:r>
            <a:endParaRPr lang="en-US" sz="1250" dirty="0"/>
          </a:p>
        </p:txBody>
      </p:sp>
      <p:sp>
        <p:nvSpPr>
          <p:cNvPr id="28" name="Text 26"/>
          <p:cNvSpPr/>
          <p:nvPr/>
        </p:nvSpPr>
        <p:spPr>
          <a:xfrm>
            <a:off x="1499616" y="5825058"/>
            <a:ext cx="9887407" cy="386715"/>
          </a:xfrm>
          <a:prstGeom prst="rect">
            <a:avLst/>
          </a:prstGeom>
          <a:noFill/>
          <a:ln/>
        </p:spPr>
        <p:txBody>
          <a:bodyPr wrap="square" lIns="0" tIns="0" rIns="0" bIns="0" rtlCol="0" anchor="t"/>
          <a:lstStyle/>
          <a:p>
            <a:pPr indent="0" marL="0">
              <a:lnSpc>
                <a:spcPts val="1523"/>
              </a:lnSpc>
              <a:buNone/>
            </a:pPr>
            <a:r>
              <a:rPr lang="en-US" sz="1050" dirty="0">
                <a:solidFill>
                  <a:srgbClr val="32404F"/>
                </a:solidFill>
                <a:latin typeface="微软雅黑" pitchFamily="34" charset="0"/>
                <a:ea typeface="微软雅黑" pitchFamily="34" charset="-122"/>
                <a:cs typeface="微软雅黑" pitchFamily="34" charset="-120"/>
              </a:rPr>
              <a:t>2021 版《法学类教学质量国家标准》确立法学专业核心课程“1+10+X”分类设置模式：“1”为习近平法治思想概论；“10”门专业必修课中，《法律职业伦理》与法理学、宪法学、刑法、民法等并列。至此，本课程取得了与传统部门法同等的地位。</a:t>
            </a:r>
            <a:endParaRPr lang="en-US" sz="10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政策依据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“德法兼修”：本课程的政策定位</a:t>
            </a:r>
            <a:endParaRPr lang="en-US" sz="2800" dirty="0"/>
          </a:p>
        </p:txBody>
      </p:sp>
      <p:sp>
        <p:nvSpPr>
          <p:cNvPr id="4" name="Shape 2"/>
          <p:cNvSpPr/>
          <p:nvPr/>
        </p:nvSpPr>
        <p:spPr>
          <a:xfrm>
            <a:off x="566928" y="1316736"/>
            <a:ext cx="11057839" cy="1615377"/>
          </a:xfrm>
          <a:prstGeom prst="roundRect">
            <a:avLst>
              <a:gd name="adj" fmla="val 5661"/>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教育部、中央政法委《关于坚持德法兼修 实施卓越法治人才教育培养计划2.0的意见》（教高〔2018〕6号）</a:t>
            </a:r>
            <a:endParaRPr lang="en-US" sz="1500" dirty="0"/>
          </a:p>
        </p:txBody>
      </p:sp>
      <p:sp>
        <p:nvSpPr>
          <p:cNvPr id="8" name="Text 6"/>
          <p:cNvSpPr/>
          <p:nvPr/>
        </p:nvSpPr>
        <p:spPr>
          <a:xfrm>
            <a:off x="960120" y="1956816"/>
            <a:ext cx="10271455" cy="755841"/>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坚持立德树人、德法兼修，坚持规模、结构、质量、效益相统一，……推动法学教育与法治实践深度融合。将思想政治教育贯穿高素质法治人才培养全过程，加强法律职业伦理教育，为学生上好人生第一堂课。</a:t>
            </a:r>
            <a:endParaRPr lang="en-US" sz="1550" dirty="0"/>
          </a:p>
        </p:txBody>
      </p:sp>
      <p:sp>
        <p:nvSpPr>
          <p:cNvPr id="9" name="Shape 7"/>
          <p:cNvSpPr/>
          <p:nvPr/>
        </p:nvSpPr>
        <p:spPr>
          <a:xfrm>
            <a:off x="566928" y="3114993"/>
            <a:ext cx="11057839" cy="1910652"/>
          </a:xfrm>
          <a:prstGeom prst="roundRect">
            <a:avLst>
              <a:gd name="adj" fmla="val 4786"/>
            </a:avLst>
          </a:prstGeom>
          <a:solidFill>
            <a:srgbClr val="F6F1E8"/>
          </a:solidFill>
          <a:ln w="12700">
            <a:solidFill>
              <a:srgbClr val="F6F1E8"/>
            </a:solidFill>
            <a:prstDash val="solid"/>
          </a:ln>
        </p:spPr>
      </p:sp>
      <p:sp>
        <p:nvSpPr>
          <p:cNvPr id="10" name="Shape 8"/>
          <p:cNvSpPr/>
          <p:nvPr/>
        </p:nvSpPr>
        <p:spPr>
          <a:xfrm>
            <a:off x="877824" y="3352737"/>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52737"/>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34449"/>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《法学类教学质量国家标准》（2021 年版）核心课程设置</a:t>
            </a:r>
            <a:endParaRPr lang="en-US" sz="1500" dirty="0"/>
          </a:p>
        </p:txBody>
      </p:sp>
      <p:sp>
        <p:nvSpPr>
          <p:cNvPr id="13" name="Text 11"/>
          <p:cNvSpPr/>
          <p:nvPr/>
        </p:nvSpPr>
        <p:spPr>
          <a:xfrm>
            <a:off x="960120" y="3755073"/>
            <a:ext cx="10271455" cy="1051116"/>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学专业核心课程采取“1+10+X”分类设置模式。“1”指“习近平法治思想概论”；“10”指法理学、宪法学、中国法律史、刑法、民法、刑事诉讼法、民事诉讼法、行政法与行政诉讼法、国际法、法律职业伦理等十门专业必修课；“X”由各校根据办学特色自主设置，原则上不低于五门。</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德法兼修”四字是理解本课程性质的钥匙：“法”指向知识与技能，“德”指向品格与判断。二者不是先后关系，而是同一过程的两面——本课程要培养的，不是知道规范的人，而是能够在规范沉默处仍作出正当选择的人。</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23</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本课程的目标、结构与要求</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我们用二十四课时，完成一次从概念到规范、从规范到判断的完整训练</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24</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课程目标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四个层次的教学目标</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知识：掌握规范体系</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系统掌握我国法官、检察官、律师、公证员等法律职业的伦理规范体系，能够准确检索并援引《法官法》《检察官法》《律师法》及配套行为规范的具体条文。</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能力：形成伦理判断</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面对具体情境，能够识别其中的伦理问题、界定冲突的义务、援引恰当的规范、并作出可以说明理由的选择。这是本课程最核心的能力目标。</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认同：内化职业信念</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理解规范背后的价值——为什么要保密、为什么要回避、为什么要客观公正——从而由“被要求遵守”转向“自愿认同”。</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自护：学会保护自己</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职业伦理不仅约束你，也保护你。懂得利益冲突审查、懂得收费与财物保管的规矩、懂得留痕，是执业生涯中最实用的风险防范能力。</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五编二十四课时总览</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2319084"/>
          <a:ext cx="11057839" cy="914400"/>
        </p:xfrm>
        <a:graphic>
          <a:graphicData uri="http://schemas.openxmlformats.org/drawingml/2006/table">
            <a:tbl>
              <a:tblPr/>
              <a:tblGrid>
                <a:gridCol w="1371600"/>
                <a:gridCol w="4114800"/>
                <a:gridCol w="1188720"/>
                <a:gridCol w="4379976"/>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编</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内　容</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课时</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核心问题</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第一编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总论：法律职业与职业伦理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1—4</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法律人是谁？职业伦理是什么？规范从何而来？</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第二编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法官职业伦理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5—8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司法权的属性如何决定法官的伦理义务？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第三编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检察官职业伦理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9—11</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法律监督者为何负有客观公正义务？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律师职业伦理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12—21</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委托、保密、冲突、收费、争讼五大支柱</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第五编</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其他法律职业与伦理责任</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22—24</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违反伦理规范会承担什么责任？</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087557"/>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说明：第四编占十课时，因律师职业伦理规范最为细密、执业情境最为复杂，也是法律职业资格考试的重点考查领域。</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学习方法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这门课应当怎么学</a:t>
            </a:r>
            <a:endParaRPr lang="en-US" sz="2800" dirty="0"/>
          </a:p>
        </p:txBody>
      </p:sp>
      <p:sp>
        <p:nvSpPr>
          <p:cNvPr id="4" name="Shape 2"/>
          <p:cNvSpPr/>
          <p:nvPr/>
        </p:nvSpPr>
        <p:spPr>
          <a:xfrm>
            <a:off x="566928" y="1316736"/>
            <a:ext cx="11057839" cy="1221169"/>
          </a:xfrm>
          <a:prstGeom prst="roundRect">
            <a:avLst>
              <a:gd name="adj" fmla="val 5990"/>
            </a:avLst>
          </a:prstGeom>
          <a:solidFill>
            <a:srgbClr val="F2F4F8"/>
          </a:solidFill>
          <a:ln w="12700">
            <a:solidFill>
              <a:srgbClr val="F2F4F8"/>
            </a:solidFill>
            <a:prstDash val="solid"/>
          </a:ln>
        </p:spPr>
      </p:sp>
      <p:sp>
        <p:nvSpPr>
          <p:cNvPr id="5" name="Shape 3"/>
          <p:cNvSpPr/>
          <p:nvPr/>
        </p:nvSpPr>
        <p:spPr>
          <a:xfrm>
            <a:off x="841248" y="1671288"/>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4907"/>
            <a:ext cx="204826" cy="204826"/>
          </a:xfrm>
          <a:prstGeom prst="rect">
            <a:avLst/>
          </a:prstGeom>
        </p:spPr>
      </p:pic>
      <p:sp>
        <p:nvSpPr>
          <p:cNvPr id="7" name="Text 4"/>
          <p:cNvSpPr/>
          <p:nvPr/>
        </p:nvSpPr>
        <p:spPr>
          <a:xfrm>
            <a:off x="1536192" y="1502886"/>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第一，把规范读成条文，而不是口号</a:t>
            </a:r>
            <a:endParaRPr lang="en-US" sz="1600" dirty="0"/>
          </a:p>
        </p:txBody>
      </p:sp>
      <p:sp>
        <p:nvSpPr>
          <p:cNvPr id="8" name="Text 5"/>
          <p:cNvSpPr/>
          <p:nvPr/>
        </p:nvSpPr>
        <p:spPr>
          <a:xfrm>
            <a:off x="1536192" y="1836134"/>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“公正”“廉洁”这类词汇本身不能解决问题。请务必落到具体条款：《律师执业行为规范》第几条？《法官行为规范》第几条？构成要件是什么？法律后果是什么？考试考的是条文，执业用的也是条文。</a:t>
            </a:r>
            <a:endParaRPr lang="en-US" sz="1400" dirty="0"/>
          </a:p>
        </p:txBody>
      </p:sp>
      <p:sp>
        <p:nvSpPr>
          <p:cNvPr id="9" name="Shape 6"/>
          <p:cNvSpPr/>
          <p:nvPr/>
        </p:nvSpPr>
        <p:spPr>
          <a:xfrm>
            <a:off x="566928" y="2684209"/>
            <a:ext cx="11057839" cy="1221169"/>
          </a:xfrm>
          <a:prstGeom prst="roundRect">
            <a:avLst>
              <a:gd name="adj" fmla="val 5990"/>
            </a:avLst>
          </a:prstGeom>
          <a:solidFill>
            <a:srgbClr val="FFFFFF"/>
          </a:solidFill>
          <a:ln w="12700">
            <a:solidFill>
              <a:srgbClr val="D5DBE5"/>
            </a:solidFill>
            <a:prstDash val="solid"/>
          </a:ln>
        </p:spPr>
      </p:sp>
      <p:sp>
        <p:nvSpPr>
          <p:cNvPr id="10" name="Shape 7"/>
          <p:cNvSpPr/>
          <p:nvPr/>
        </p:nvSpPr>
        <p:spPr>
          <a:xfrm>
            <a:off x="841248" y="303876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92380"/>
            <a:ext cx="204826" cy="204826"/>
          </a:xfrm>
          <a:prstGeom prst="rect">
            <a:avLst/>
          </a:prstGeom>
        </p:spPr>
      </p:pic>
      <p:sp>
        <p:nvSpPr>
          <p:cNvPr id="12" name="Text 8"/>
          <p:cNvSpPr/>
          <p:nvPr/>
        </p:nvSpPr>
        <p:spPr>
          <a:xfrm>
            <a:off x="1536192" y="2870359"/>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第二，用案例训练判断，而不是记忆结论</a:t>
            </a:r>
            <a:endParaRPr lang="en-US" sz="1600" dirty="0"/>
          </a:p>
        </p:txBody>
      </p:sp>
      <p:sp>
        <p:nvSpPr>
          <p:cNvPr id="13" name="Text 9"/>
          <p:cNvSpPr/>
          <p:nvPr/>
        </p:nvSpPr>
        <p:spPr>
          <a:xfrm>
            <a:off x="1536192" y="3203607"/>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本课程每一课时都设置研讨案例。请不要急于知道“标准答案”，而要练习完整的分析路径：识别当事人—界定义务—检索规范—权衡冲突—作出选择—说明理由。</a:t>
            </a:r>
            <a:endParaRPr lang="en-US" sz="1400" dirty="0"/>
          </a:p>
        </p:txBody>
      </p:sp>
      <p:sp>
        <p:nvSpPr>
          <p:cNvPr id="14" name="Shape 10"/>
          <p:cNvSpPr/>
          <p:nvPr/>
        </p:nvSpPr>
        <p:spPr>
          <a:xfrm>
            <a:off x="566928" y="4051681"/>
            <a:ext cx="11057839" cy="1221169"/>
          </a:xfrm>
          <a:prstGeom prst="roundRect">
            <a:avLst>
              <a:gd name="adj" fmla="val 5990"/>
            </a:avLst>
          </a:prstGeom>
          <a:solidFill>
            <a:srgbClr val="F2F4F8"/>
          </a:solidFill>
          <a:ln w="12700">
            <a:solidFill>
              <a:srgbClr val="F2F4F8"/>
            </a:solidFill>
            <a:prstDash val="solid"/>
          </a:ln>
        </p:spPr>
      </p:sp>
      <p:sp>
        <p:nvSpPr>
          <p:cNvPr id="15" name="Shape 11"/>
          <p:cNvSpPr/>
          <p:nvPr/>
        </p:nvSpPr>
        <p:spPr>
          <a:xfrm>
            <a:off x="841248" y="4406233"/>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559852"/>
            <a:ext cx="204826" cy="204826"/>
          </a:xfrm>
          <a:prstGeom prst="rect">
            <a:avLst/>
          </a:prstGeom>
        </p:spPr>
      </p:pic>
      <p:sp>
        <p:nvSpPr>
          <p:cNvPr id="17" name="Text 12"/>
          <p:cNvSpPr/>
          <p:nvPr/>
        </p:nvSpPr>
        <p:spPr>
          <a:xfrm>
            <a:off x="1536192" y="4237831"/>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第三，带着比较的眼光看待规则</a:t>
            </a:r>
            <a:endParaRPr lang="en-US" sz="1600" dirty="0"/>
          </a:p>
        </p:txBody>
      </p:sp>
      <p:sp>
        <p:nvSpPr>
          <p:cNvPr id="18" name="Text 13"/>
          <p:cNvSpPr/>
          <p:nvPr/>
        </p:nvSpPr>
        <p:spPr>
          <a:xfrm>
            <a:off x="1536192" y="4571079"/>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许多规则在美国《律师职业行为示范规则》、德国《联邦律师法》中有不同处理。了解差异，才能理解我国规则的选择理由，也才能应对涉外法律服务中的规则冲突。</a:t>
            </a:r>
            <a:endParaRPr lang="en-US" sz="1400" dirty="0"/>
          </a:p>
        </p:txBody>
      </p:sp>
      <p:sp>
        <p:nvSpPr>
          <p:cNvPr id="19" name="Shape 14"/>
          <p:cNvSpPr/>
          <p:nvPr/>
        </p:nvSpPr>
        <p:spPr>
          <a:xfrm>
            <a:off x="566928" y="5419153"/>
            <a:ext cx="11057839" cy="963359"/>
          </a:xfrm>
          <a:prstGeom prst="roundRect">
            <a:avLst>
              <a:gd name="adj" fmla="val 7593"/>
            </a:avLst>
          </a:prstGeom>
          <a:solidFill>
            <a:srgbClr val="FFFFFF"/>
          </a:solidFill>
          <a:ln w="12700">
            <a:solidFill>
              <a:srgbClr val="D5DBE5"/>
            </a:solidFill>
            <a:prstDash val="solid"/>
          </a:ln>
        </p:spPr>
      </p:sp>
      <p:sp>
        <p:nvSpPr>
          <p:cNvPr id="20" name="Shape 15"/>
          <p:cNvSpPr/>
          <p:nvPr/>
        </p:nvSpPr>
        <p:spPr>
          <a:xfrm>
            <a:off x="841248" y="5644801"/>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98420"/>
            <a:ext cx="204826" cy="204826"/>
          </a:xfrm>
          <a:prstGeom prst="rect">
            <a:avLst/>
          </a:prstGeom>
        </p:spPr>
      </p:pic>
      <p:sp>
        <p:nvSpPr>
          <p:cNvPr id="22" name="Text 16"/>
          <p:cNvSpPr/>
          <p:nvPr/>
        </p:nvSpPr>
        <p:spPr>
          <a:xfrm>
            <a:off x="1536192" y="5605304"/>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第四，把自己代入进去</a:t>
            </a:r>
            <a:endParaRPr lang="en-US" sz="1600" dirty="0"/>
          </a:p>
        </p:txBody>
      </p:sp>
      <p:sp>
        <p:nvSpPr>
          <p:cNvPr id="23" name="Text 17"/>
          <p:cNvSpPr/>
          <p:nvPr/>
        </p:nvSpPr>
        <p:spPr>
          <a:xfrm>
            <a:off x="1536192" y="5938552"/>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请始终以“如果我是承办人”的视角阅读案例。伦理判断的能力不能靠旁观获得，只能靠一次次设身处地的预演获得。</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27</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参考书目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教材与课外读物</a:t>
            </a:r>
            <a:endParaRPr lang="en-US" sz="2800" dirty="0"/>
          </a:p>
        </p:txBody>
      </p:sp>
      <p:sp>
        <p:nvSpPr>
          <p:cNvPr id="4" name="Shape 2"/>
          <p:cNvSpPr/>
          <p:nvPr/>
        </p:nvSpPr>
        <p:spPr>
          <a:xfrm>
            <a:off x="566928" y="2043811"/>
            <a:ext cx="3527450" cy="3611626"/>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33641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473579"/>
            <a:ext cx="182880" cy="182880"/>
          </a:xfrm>
          <a:prstGeom prst="rect">
            <a:avLst/>
          </a:prstGeom>
        </p:spPr>
      </p:pic>
      <p:sp>
        <p:nvSpPr>
          <p:cNvPr id="7" name="Text 4"/>
          <p:cNvSpPr/>
          <p:nvPr/>
        </p:nvSpPr>
        <p:spPr>
          <a:xfrm>
            <a:off x="886968" y="2958211"/>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主要教材</a:t>
            </a:r>
            <a:endParaRPr lang="en-US" sz="1700" dirty="0"/>
          </a:p>
        </p:txBody>
      </p:sp>
      <p:sp>
        <p:nvSpPr>
          <p:cNvPr id="8" name="Text 5"/>
          <p:cNvSpPr/>
          <p:nvPr/>
        </p:nvSpPr>
        <p:spPr>
          <a:xfrm>
            <a:off x="886968" y="3356102"/>
            <a:ext cx="2887370" cy="20798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王进喜、陈宜主编：《法律职业伦理》，中国政法大学出版社</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许身健主编：《法律职业伦理》（马工程重点教材配套），高等教育出版社</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李本森：《法律职业伦理》（第三版），北京大学出版社</a:t>
            </a:r>
            <a:endParaRPr lang="en-US" sz="1450" dirty="0"/>
          </a:p>
        </p:txBody>
      </p:sp>
      <p:sp>
        <p:nvSpPr>
          <p:cNvPr id="9" name="Shape 6"/>
          <p:cNvSpPr/>
          <p:nvPr/>
        </p:nvSpPr>
        <p:spPr>
          <a:xfrm>
            <a:off x="4332122" y="2043811"/>
            <a:ext cx="3527450" cy="3611626"/>
          </a:xfrm>
          <a:prstGeom prst="roundRect">
            <a:avLst>
              <a:gd name="adj" fmla="val 2592"/>
            </a:avLst>
          </a:prstGeom>
          <a:solidFill>
            <a:srgbClr val="F2F4F8"/>
          </a:solidFill>
          <a:ln w="12700">
            <a:solidFill>
              <a:srgbClr val="F2F4F8"/>
            </a:solidFill>
            <a:prstDash val="solid"/>
          </a:ln>
        </p:spPr>
      </p:sp>
      <p:sp>
        <p:nvSpPr>
          <p:cNvPr id="10" name="Shape 7"/>
          <p:cNvSpPr/>
          <p:nvPr/>
        </p:nvSpPr>
        <p:spPr>
          <a:xfrm>
            <a:off x="4652162" y="2336419"/>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4789322" y="2473579"/>
            <a:ext cx="182880" cy="182880"/>
          </a:xfrm>
          <a:prstGeom prst="rect">
            <a:avLst/>
          </a:prstGeom>
        </p:spPr>
      </p:pic>
      <p:sp>
        <p:nvSpPr>
          <p:cNvPr id="12" name="Text 8"/>
          <p:cNvSpPr/>
          <p:nvPr/>
        </p:nvSpPr>
        <p:spPr>
          <a:xfrm>
            <a:off x="4652162" y="2958211"/>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规范汇编</a:t>
            </a:r>
            <a:endParaRPr lang="en-US" sz="1700" dirty="0"/>
          </a:p>
        </p:txBody>
      </p:sp>
      <p:sp>
        <p:nvSpPr>
          <p:cNvPr id="13" name="Text 9"/>
          <p:cNvSpPr/>
          <p:nvPr/>
        </p:nvSpPr>
        <p:spPr>
          <a:xfrm>
            <a:off x="4652162" y="3356102"/>
            <a:ext cx="2887370" cy="20798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《律师法》《法官法》《检察官法》《公证法》</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《律师执业行为规范》《律师职业道德基本准则》</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《法官职业道德基本准则》《法官行为规范》</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《检察官职业道德基本准则》</a:t>
            </a:r>
            <a:endParaRPr lang="en-US" sz="1450" dirty="0"/>
          </a:p>
        </p:txBody>
      </p:sp>
      <p:sp>
        <p:nvSpPr>
          <p:cNvPr id="14" name="Shape 10"/>
          <p:cNvSpPr/>
          <p:nvPr/>
        </p:nvSpPr>
        <p:spPr>
          <a:xfrm>
            <a:off x="8097317" y="2043811"/>
            <a:ext cx="3527450" cy="3611626"/>
          </a:xfrm>
          <a:prstGeom prst="roundRect">
            <a:avLst>
              <a:gd name="adj" fmla="val 2592"/>
            </a:avLst>
          </a:prstGeom>
          <a:solidFill>
            <a:srgbClr val="F2F4F8"/>
          </a:solidFill>
          <a:ln w="12700">
            <a:solidFill>
              <a:srgbClr val="F2F4F8"/>
            </a:solidFill>
            <a:prstDash val="solid"/>
          </a:ln>
        </p:spPr>
      </p:sp>
      <p:sp>
        <p:nvSpPr>
          <p:cNvPr id="15" name="Shape 11"/>
          <p:cNvSpPr/>
          <p:nvPr/>
        </p:nvSpPr>
        <p:spPr>
          <a:xfrm>
            <a:off x="8417357" y="2336419"/>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8554517" y="2473579"/>
            <a:ext cx="182880" cy="182880"/>
          </a:xfrm>
          <a:prstGeom prst="rect">
            <a:avLst/>
          </a:prstGeom>
        </p:spPr>
      </p:pic>
      <p:sp>
        <p:nvSpPr>
          <p:cNvPr id="17" name="Text 12"/>
          <p:cNvSpPr/>
          <p:nvPr/>
        </p:nvSpPr>
        <p:spPr>
          <a:xfrm>
            <a:off x="8417357" y="2958211"/>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延伸阅读</a:t>
            </a:r>
            <a:endParaRPr lang="en-US" sz="1700" dirty="0"/>
          </a:p>
        </p:txBody>
      </p:sp>
      <p:sp>
        <p:nvSpPr>
          <p:cNvPr id="18" name="Text 13"/>
          <p:cNvSpPr/>
          <p:nvPr/>
        </p:nvSpPr>
        <p:spPr>
          <a:xfrm>
            <a:off x="8417357" y="3356102"/>
            <a:ext cx="2887370" cy="20798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美国律师协会：《律师职业行为示范规则》（Model Rules of Professional Conduct）</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丹宁勋爵：《法律的正当程序》</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富勒：《法律的道德性》</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《联合国关于律师作用的基本原则》《班加罗尔司法行为准则》</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28</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回到本课开篇的“平静湖藏尸案”：假如你是阿玛尼律师，面对失踪女孩父亲的哀求，你会怎样回答？请说明你的理由，并指出你所依据的规范。</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有人说：“律师职业具有非道德性（amoral）——律师只需忠于当事人，道德评价交给法官。”你是否同意？这一主张的边界在哪里？</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如果法律职业伦理规范与你个人的道德信念发生冲突，你应当服从哪一个？你可以选择退出（withdraw）吗？退出是不是一种负责任的做法？</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结合“防止干预司法三个规定”，讨论：制度设计究竟应当假定人是善的，还是假定人是可能犯错的？两种假定会导致怎样不同的制度？</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第1课时 · 29</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第1课时要点回顾</a:t>
            </a:r>
            <a:endParaRPr lang="en-US" sz="3000" dirty="0"/>
          </a:p>
        </p:txBody>
      </p:sp>
      <p:sp>
        <p:nvSpPr>
          <p:cNvPr id="4" name="Shape 2"/>
          <p:cNvSpPr/>
          <p:nvPr/>
        </p:nvSpPr>
        <p:spPr>
          <a:xfrm>
            <a:off x="566928" y="1591056"/>
            <a:ext cx="11057839" cy="671779"/>
          </a:xfrm>
          <a:prstGeom prst="roundRect">
            <a:avLst>
              <a:gd name="adj" fmla="val 10889"/>
            </a:avLst>
          </a:prstGeom>
          <a:solidFill>
            <a:srgbClr val="25395F"/>
          </a:solidFill>
          <a:ln w="12700">
            <a:solidFill>
              <a:srgbClr val="25395F"/>
            </a:solidFill>
            <a:prstDash val="solid"/>
          </a:ln>
        </p:spPr>
      </p:sp>
      <p:sp>
        <p:nvSpPr>
          <p:cNvPr id="5" name="Shape 3"/>
          <p:cNvSpPr/>
          <p:nvPr/>
        </p:nvSpPr>
        <p:spPr>
          <a:xfrm>
            <a:off x="859536" y="1725778"/>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46478"/>
            <a:ext cx="160934" cy="160934"/>
          </a:xfrm>
          <a:prstGeom prst="rect">
            <a:avLst/>
          </a:prstGeom>
        </p:spPr>
      </p:pic>
      <p:sp>
        <p:nvSpPr>
          <p:cNvPr id="7" name="Text 4"/>
          <p:cNvSpPr/>
          <p:nvPr/>
        </p:nvSpPr>
        <p:spPr>
          <a:xfrm>
            <a:off x="1444752" y="1774546"/>
            <a:ext cx="9997135" cy="3048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法律职业伦理源于法律人真实的两难处境：角色义务与普通道德的张力，是本课程全部内容的原点。</a:t>
            </a:r>
            <a:endParaRPr lang="en-US" sz="1600" dirty="0"/>
          </a:p>
        </p:txBody>
      </p:sp>
      <p:sp>
        <p:nvSpPr>
          <p:cNvPr id="8" name="Shape 5"/>
          <p:cNvSpPr/>
          <p:nvPr/>
        </p:nvSpPr>
        <p:spPr>
          <a:xfrm>
            <a:off x="566928" y="2399995"/>
            <a:ext cx="11057839" cy="966419"/>
          </a:xfrm>
          <a:prstGeom prst="roundRect">
            <a:avLst>
              <a:gd name="adj" fmla="val 7569"/>
            </a:avLst>
          </a:prstGeom>
          <a:solidFill>
            <a:srgbClr val="25395F"/>
          </a:solidFill>
          <a:ln w="12700">
            <a:solidFill>
              <a:srgbClr val="25395F"/>
            </a:solidFill>
            <a:prstDash val="solid"/>
          </a:ln>
        </p:spPr>
      </p:sp>
      <p:sp>
        <p:nvSpPr>
          <p:cNvPr id="9" name="Shape 6"/>
          <p:cNvSpPr/>
          <p:nvPr/>
        </p:nvSpPr>
        <p:spPr>
          <a:xfrm>
            <a:off x="859536" y="2682037"/>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802738"/>
            <a:ext cx="160934" cy="160934"/>
          </a:xfrm>
          <a:prstGeom prst="rect">
            <a:avLst/>
          </a:prstGeom>
        </p:spPr>
      </p:pic>
      <p:sp>
        <p:nvSpPr>
          <p:cNvPr id="11" name="Text 7"/>
          <p:cNvSpPr/>
          <p:nvPr/>
        </p:nvSpPr>
        <p:spPr>
          <a:xfrm>
            <a:off x="1444752" y="2578405"/>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法律脱胎于伦理，又与伦理相对分离；但法律的实施始终依赖法律人的品格——这是富勒“官方行为与规则一致”这一内在道德条件的现实含义。</a:t>
            </a:r>
            <a:endParaRPr lang="en-US" sz="1600" dirty="0"/>
          </a:p>
        </p:txBody>
      </p:sp>
      <p:sp>
        <p:nvSpPr>
          <p:cNvPr id="12" name="Shape 8"/>
          <p:cNvSpPr/>
          <p:nvPr/>
        </p:nvSpPr>
        <p:spPr>
          <a:xfrm>
            <a:off x="566928" y="3503574"/>
            <a:ext cx="11057839" cy="966419"/>
          </a:xfrm>
          <a:prstGeom prst="roundRect">
            <a:avLst>
              <a:gd name="adj" fmla="val 7569"/>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681984"/>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对法律人更高的道德要求，源自职业的垄断性、公共性、信息不对称、权力性与信任基础，是结构性的，而非苛求。</a:t>
            </a:r>
            <a:endParaRPr lang="en-US" sz="1600" dirty="0"/>
          </a:p>
        </p:txBody>
      </p:sp>
      <p:sp>
        <p:nvSpPr>
          <p:cNvPr id="16" name="Shape 11"/>
          <p:cNvSpPr/>
          <p:nvPr/>
        </p:nvSpPr>
        <p:spPr>
          <a:xfrm>
            <a:off x="566928" y="4607154"/>
            <a:ext cx="11057839" cy="966419"/>
          </a:xfrm>
          <a:prstGeom prst="roundRect">
            <a:avLst>
              <a:gd name="adj" fmla="val 7569"/>
            </a:avLst>
          </a:prstGeom>
          <a:solidFill>
            <a:srgbClr val="25395F"/>
          </a:solidFill>
          <a:ln w="12700">
            <a:solidFill>
              <a:srgbClr val="25395F"/>
            </a:solidFill>
            <a:prstDash val="solid"/>
          </a:ln>
        </p:spPr>
      </p:sp>
      <p:sp>
        <p:nvSpPr>
          <p:cNvPr id="17" name="Shape 12"/>
          <p:cNvSpPr/>
          <p:nvPr/>
        </p:nvSpPr>
        <p:spPr>
          <a:xfrm>
            <a:off x="859536" y="4889195"/>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5009896"/>
            <a:ext cx="160934" cy="160934"/>
          </a:xfrm>
          <a:prstGeom prst="rect">
            <a:avLst/>
          </a:prstGeom>
        </p:spPr>
      </p:pic>
      <p:sp>
        <p:nvSpPr>
          <p:cNvPr id="19" name="Text 13"/>
          <p:cNvSpPr/>
          <p:nvPr/>
        </p:nvSpPr>
        <p:spPr>
          <a:xfrm>
            <a:off x="1444752" y="4785563"/>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2018 年卓越法治人才教育培养计划 2.0 提出“德法兼修”，2021 版法学类教学质量国家标准将《法律职业伦理》列入“1+10+X”十门核心必修课。</a:t>
            </a:r>
            <a:endParaRPr lang="en-US" sz="1600" dirty="0"/>
          </a:p>
        </p:txBody>
      </p:sp>
      <p:sp>
        <p:nvSpPr>
          <p:cNvPr id="20" name="Shape 14"/>
          <p:cNvSpPr/>
          <p:nvPr/>
        </p:nvSpPr>
        <p:spPr>
          <a:xfrm>
            <a:off x="566928" y="5710733"/>
            <a:ext cx="11057839" cy="671779"/>
          </a:xfrm>
          <a:prstGeom prst="roundRect">
            <a:avLst>
              <a:gd name="adj" fmla="val 10889"/>
            </a:avLst>
          </a:prstGeom>
          <a:solidFill>
            <a:srgbClr val="25395F"/>
          </a:solidFill>
          <a:ln w="12700">
            <a:solidFill>
              <a:srgbClr val="25395F"/>
            </a:solidFill>
            <a:prstDash val="solid"/>
          </a:ln>
        </p:spPr>
      </p:sp>
      <p:sp>
        <p:nvSpPr>
          <p:cNvPr id="21" name="Shape 15"/>
          <p:cNvSpPr/>
          <p:nvPr/>
        </p:nvSpPr>
        <p:spPr>
          <a:xfrm>
            <a:off x="859536" y="5845454"/>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966155"/>
            <a:ext cx="160934" cy="160934"/>
          </a:xfrm>
          <a:prstGeom prst="rect">
            <a:avLst/>
          </a:prstGeom>
        </p:spPr>
      </p:pic>
      <p:sp>
        <p:nvSpPr>
          <p:cNvPr id="23" name="Text 16"/>
          <p:cNvSpPr/>
          <p:nvPr/>
        </p:nvSpPr>
        <p:spPr>
          <a:xfrm>
            <a:off x="1444752" y="5894222"/>
            <a:ext cx="9997135" cy="3048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本课程的核心能力目标：识别伦理问题 → 界定冲突义务 → 检索适用规范 → 权衡并选择 → 说明理由。</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法律职业：概念、特征与法律职业共同体</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在讨论“法律人应当怎样行为”之前，必须先回答“法律人究竟是谁”</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“职业”与“工作”“行业”有什么本质区别？</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法律职业凭什么享有垄断性的准入门槛？</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法律职业共同体是现实，还是一个理想？</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从“职业”到“法律职业共同体”</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一、什么是“职业”：一个被误用的词</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二、法律职业的四项特征</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三、法律职业资格制度：准入的门槛</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四、法律职业的范围：广义与狭义</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五、法律职业共同体：理想与现实</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什么是“职业”：一个被误用的词</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职业球员、职业杀手、职业分类——它们和“法律职业”说的是同一件事吗？</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03</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概念澄清</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我们日常所说的“职业”，至少有三种含义</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汉语中的“职业”一词高度含混。请先把三种用法区分开来，否则后面的讨论会失焦。</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第一种：occupation（谋生的工作）。</a:t>
            </a:r>
            <a:endParaRPr lang="en-US" sz="1600" dirty="0"/>
          </a:p>
          <a:p>
            <a:pPr lvl="1" marL="457200" indent="-228600">
              <a:lnSpc>
                <a:spcPts val="2400"/>
              </a:lnSpc>
              <a:spcAft>
                <a:spcPts val="800"/>
              </a:spcAft>
              <a:buSzPct val="100000"/>
              <a:buChar char="▫"/>
            </a:pPr>
            <a:r>
              <a:rPr lang="en-US" sz="1500" dirty="0">
                <a:solidFill>
                  <a:srgbClr val="6B7684"/>
                </a:solidFill>
                <a:latin typeface="微软雅黑" pitchFamily="34" charset="0"/>
                <a:ea typeface="微软雅黑" pitchFamily="34" charset="-122"/>
                <a:cs typeface="微软雅黑" pitchFamily="34" charset="-120"/>
              </a:rPr>
              <a:t>指个人赖以谋生的活动。在这个意义上，快递员、程序员、教师、律师都是“职业”，彼此之间没有高下之分。人口普查中的“职业分类”用的就是这个含义。</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第二种：professional（专业化、以此为生的）。</a:t>
            </a:r>
            <a:endParaRPr lang="en-US" sz="1600" dirty="0"/>
          </a:p>
          <a:p>
            <a:pPr lvl="1" marL="457200" indent="-228600">
              <a:lnSpc>
                <a:spcPts val="2400"/>
              </a:lnSpc>
              <a:spcAft>
                <a:spcPts val="800"/>
              </a:spcAft>
              <a:buSzPct val="100000"/>
              <a:buChar char="▫"/>
            </a:pPr>
            <a:r>
              <a:rPr lang="en-US" sz="1500" dirty="0">
                <a:solidFill>
                  <a:srgbClr val="6B7684"/>
                </a:solidFill>
                <a:latin typeface="微软雅黑" pitchFamily="34" charset="0"/>
                <a:ea typeface="微软雅黑" pitchFamily="34" charset="-122"/>
                <a:cs typeface="微软雅黑" pitchFamily="34" charset="-120"/>
              </a:rPr>
              <a:t>与“业余”相对。“职业球员”“职业棋手”中的“职业”就是这个意思，强调的是以此为生、训练有素，而非兼职玩票。“职业杀手”这种用法则是一种修辞借用。</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第三种：profession（专门职业 / 专业）。</a:t>
            </a:r>
            <a:endParaRPr lang="en-US" sz="1600" dirty="0"/>
          </a:p>
          <a:p>
            <a:pPr lvl="1" marL="457200" indent="-228600">
              <a:lnSpc>
                <a:spcPts val="2400"/>
              </a:lnSpc>
              <a:spcAft>
                <a:spcPts val="800"/>
              </a:spcAft>
              <a:buSzPct val="100000"/>
              <a:buChar char="▫"/>
            </a:pPr>
            <a:r>
              <a:rPr lang="en-US" sz="1500" dirty="0">
                <a:solidFill>
                  <a:srgbClr val="6B7684"/>
                </a:solidFill>
                <a:latin typeface="微软雅黑" pitchFamily="34" charset="0"/>
                <a:ea typeface="微软雅黑" pitchFamily="34" charset="-122"/>
                <a:cs typeface="微软雅黑" pitchFamily="34" charset="-120"/>
              </a:rPr>
              <a:t>这才是“法律职业伦理”中“职业”的确切含义。传统上只有三种职业被称为 profession：神职、医生、律师。它们的共同点是：博学、准入受限、自我管理、承担公共责任、以服务而非牟利为宗旨。</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04</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词源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profession：一个来自“宣誓”的词</a:t>
            </a:r>
            <a:endParaRPr lang="en-US" sz="2800" dirty="0"/>
          </a:p>
        </p:txBody>
      </p:sp>
      <p:sp>
        <p:nvSpPr>
          <p:cNvPr id="4" name="Shape 2"/>
          <p:cNvSpPr/>
          <p:nvPr/>
        </p:nvSpPr>
        <p:spPr>
          <a:xfrm>
            <a:off x="566928" y="2181924"/>
            <a:ext cx="3527450" cy="3335401"/>
          </a:xfrm>
          <a:prstGeom prst="roundRect">
            <a:avLst>
              <a:gd name="adj" fmla="val 2741"/>
            </a:avLst>
          </a:prstGeom>
          <a:solidFill>
            <a:srgbClr val="F2F4F8"/>
          </a:solidFill>
          <a:ln w="12700">
            <a:solidFill>
              <a:srgbClr val="F2F4F8"/>
            </a:solidFill>
            <a:prstDash val="solid"/>
          </a:ln>
        </p:spPr>
      </p:sp>
      <p:sp>
        <p:nvSpPr>
          <p:cNvPr id="5" name="Shape 3"/>
          <p:cNvSpPr/>
          <p:nvPr/>
        </p:nvSpPr>
        <p:spPr>
          <a:xfrm>
            <a:off x="886968" y="2474532"/>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611692"/>
            <a:ext cx="182880" cy="182880"/>
          </a:xfrm>
          <a:prstGeom prst="rect">
            <a:avLst/>
          </a:prstGeom>
        </p:spPr>
      </p:pic>
      <p:sp>
        <p:nvSpPr>
          <p:cNvPr id="7" name="Text 4"/>
          <p:cNvSpPr/>
          <p:nvPr/>
        </p:nvSpPr>
        <p:spPr>
          <a:xfrm>
            <a:off x="886968"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源于 profess（公开宣告）</a:t>
            </a:r>
            <a:endParaRPr lang="en-US" sz="1700" dirty="0"/>
          </a:p>
        </p:txBody>
      </p:sp>
      <p:sp>
        <p:nvSpPr>
          <p:cNvPr id="8" name="Text 5"/>
          <p:cNvSpPr/>
          <p:nvPr/>
        </p:nvSpPr>
        <p:spPr>
          <a:xfrm>
            <a:off x="886968"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拉丁语 professio，意为“公开的宣告、声明”。中世纪修士加入修会时须公开宣誓，宣告自己献身于某种理想，这一行为即 profession。</a:t>
            </a:r>
            <a:endParaRPr lang="en-US" sz="1450" dirty="0"/>
          </a:p>
        </p:txBody>
      </p:sp>
      <p:sp>
        <p:nvSpPr>
          <p:cNvPr id="9" name="Shape 6"/>
          <p:cNvSpPr/>
          <p:nvPr/>
        </p:nvSpPr>
        <p:spPr>
          <a:xfrm>
            <a:off x="4332122" y="2181924"/>
            <a:ext cx="3527450" cy="3335401"/>
          </a:xfrm>
          <a:prstGeom prst="roundRect">
            <a:avLst>
              <a:gd name="adj" fmla="val 2741"/>
            </a:avLst>
          </a:prstGeom>
          <a:solidFill>
            <a:srgbClr val="F2F4F8"/>
          </a:solidFill>
          <a:ln w="12700">
            <a:solidFill>
              <a:srgbClr val="F2F4F8"/>
            </a:solidFill>
            <a:prstDash val="solid"/>
          </a:ln>
        </p:spPr>
      </p:sp>
      <p:sp>
        <p:nvSpPr>
          <p:cNvPr id="10" name="Shape 7"/>
          <p:cNvSpPr/>
          <p:nvPr/>
        </p:nvSpPr>
        <p:spPr>
          <a:xfrm>
            <a:off x="4652162" y="2474532"/>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4789322" y="2611692"/>
            <a:ext cx="182880" cy="182880"/>
          </a:xfrm>
          <a:prstGeom prst="rect">
            <a:avLst/>
          </a:prstGeom>
        </p:spPr>
      </p:pic>
      <p:sp>
        <p:nvSpPr>
          <p:cNvPr id="12" name="Text 8"/>
          <p:cNvSpPr/>
          <p:nvPr/>
        </p:nvSpPr>
        <p:spPr>
          <a:xfrm>
            <a:off x="4652162"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转指须经宣誓的博学职业</a:t>
            </a:r>
            <a:endParaRPr lang="en-US" sz="1700" dirty="0"/>
          </a:p>
        </p:txBody>
      </p:sp>
      <p:sp>
        <p:nvSpPr>
          <p:cNvPr id="13" name="Text 9"/>
          <p:cNvSpPr/>
          <p:nvPr/>
        </p:nvSpPr>
        <p:spPr>
          <a:xfrm>
            <a:off x="4652162"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词义演变后，用以描述那些要求新成员公开宣誓、声明其致力于该职业理想与业务的博学行当。至今英美法律人取得执业资格仍须宣誓，我国亦有法律职业人员宪法宣誓制度。</a:t>
            </a:r>
            <a:endParaRPr lang="en-US" sz="1450" dirty="0"/>
          </a:p>
        </p:txBody>
      </p:sp>
      <p:sp>
        <p:nvSpPr>
          <p:cNvPr id="14" name="Shape 10"/>
          <p:cNvSpPr/>
          <p:nvPr/>
        </p:nvSpPr>
        <p:spPr>
          <a:xfrm>
            <a:off x="8097317" y="2181924"/>
            <a:ext cx="3527450" cy="3335401"/>
          </a:xfrm>
          <a:prstGeom prst="roundRect">
            <a:avLst>
              <a:gd name="adj" fmla="val 2741"/>
            </a:avLst>
          </a:prstGeom>
          <a:solidFill>
            <a:srgbClr val="F2F4F8"/>
          </a:solidFill>
          <a:ln w="12700">
            <a:solidFill>
              <a:srgbClr val="F2F4F8"/>
            </a:solidFill>
            <a:prstDash val="solid"/>
          </a:ln>
        </p:spPr>
      </p:sp>
      <p:sp>
        <p:nvSpPr>
          <p:cNvPr id="15" name="Shape 11"/>
          <p:cNvSpPr/>
          <p:nvPr/>
        </p:nvSpPr>
        <p:spPr>
          <a:xfrm>
            <a:off x="8417357" y="2474532"/>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8554517" y="2611692"/>
            <a:ext cx="182880" cy="182880"/>
          </a:xfrm>
          <a:prstGeom prst="rect">
            <a:avLst/>
          </a:prstGeom>
        </p:spPr>
      </p:pic>
      <p:sp>
        <p:nvSpPr>
          <p:cNvPr id="17" name="Text 12"/>
          <p:cNvSpPr/>
          <p:nvPr/>
        </p:nvSpPr>
        <p:spPr>
          <a:xfrm>
            <a:off x="8417357" y="3096324"/>
            <a:ext cx="2887370" cy="539750"/>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宣誓的含义：先有承诺，后有权利</a:t>
            </a:r>
            <a:endParaRPr lang="en-US" sz="1700" dirty="0"/>
          </a:p>
        </p:txBody>
      </p:sp>
      <p:sp>
        <p:nvSpPr>
          <p:cNvPr id="18" name="Text 13"/>
          <p:cNvSpPr/>
          <p:nvPr/>
        </p:nvSpPr>
        <p:spPr>
          <a:xfrm>
            <a:off x="8417357" y="3764090"/>
            <a:ext cx="2887370" cy="153377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宣誓意味着：你先向共同体承诺遵守某些标准，共同体才授予你从业的资格。职业伦理不是执业之后附加的负担，而是取得执业资格的前提条件。</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学说</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profession 的构成要素：学界的公认清单</a:t>
            </a:r>
            <a:endParaRPr lang="en-US" sz="2800" dirty="0"/>
          </a:p>
        </p:txBody>
      </p:sp>
      <p:sp>
        <p:nvSpPr>
          <p:cNvPr id="4" name="Shape 2"/>
          <p:cNvSpPr/>
          <p:nvPr/>
        </p:nvSpPr>
        <p:spPr>
          <a:xfrm>
            <a:off x="566928" y="1316736"/>
            <a:ext cx="11057839"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841248" y="150876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62379"/>
            <a:ext cx="204826" cy="204826"/>
          </a:xfrm>
          <a:prstGeom prst="rect">
            <a:avLst/>
          </a:prstGeom>
        </p:spPr>
      </p:pic>
      <p:sp>
        <p:nvSpPr>
          <p:cNvPr id="7" name="Text 4"/>
          <p:cNvSpPr/>
          <p:nvPr/>
        </p:nvSpPr>
        <p:spPr>
          <a:xfrm>
            <a:off x="1536192" y="1503934"/>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博学性（learned）</a:t>
            </a:r>
            <a:endParaRPr lang="en-US" sz="1400" dirty="0"/>
          </a:p>
        </p:txBody>
      </p:sp>
      <p:sp>
        <p:nvSpPr>
          <p:cNvPr id="8" name="Text 5"/>
          <p:cNvSpPr/>
          <p:nvPr/>
        </p:nvSpPr>
        <p:spPr>
          <a:xfrm>
            <a:off x="1536192" y="1804670"/>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以系统的、需要长期训练才能掌握的理论知识为基础。这种知识不能靠短期培训或经验模仿获得，必须经由正规教育体系传授。</a:t>
            </a:r>
            <a:endParaRPr lang="en-US" sz="1200" dirty="0"/>
          </a:p>
        </p:txBody>
      </p:sp>
      <p:sp>
        <p:nvSpPr>
          <p:cNvPr id="9" name="Shape 6"/>
          <p:cNvSpPr/>
          <p:nvPr/>
        </p:nvSpPr>
        <p:spPr>
          <a:xfrm>
            <a:off x="566928" y="2359152"/>
            <a:ext cx="11057839" cy="896112"/>
          </a:xfrm>
          <a:prstGeom prst="roundRect">
            <a:avLst>
              <a:gd name="adj" fmla="val 8163"/>
            </a:avLst>
          </a:prstGeom>
          <a:solidFill>
            <a:srgbClr val="FFFFFF"/>
          </a:solidFill>
          <a:ln w="12700">
            <a:solidFill>
              <a:srgbClr val="D5DBE5"/>
            </a:solidFill>
            <a:prstDash val="solid"/>
          </a:ln>
        </p:spPr>
      </p:sp>
      <p:sp>
        <p:nvSpPr>
          <p:cNvPr id="10" name="Shape 7"/>
          <p:cNvSpPr/>
          <p:nvPr/>
        </p:nvSpPr>
        <p:spPr>
          <a:xfrm>
            <a:off x="841248" y="2551176"/>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704795"/>
            <a:ext cx="204826" cy="204826"/>
          </a:xfrm>
          <a:prstGeom prst="rect">
            <a:avLst/>
          </a:prstGeom>
        </p:spPr>
      </p:pic>
      <p:sp>
        <p:nvSpPr>
          <p:cNvPr id="12" name="Text 8"/>
          <p:cNvSpPr/>
          <p:nvPr/>
        </p:nvSpPr>
        <p:spPr>
          <a:xfrm>
            <a:off x="1536192" y="2546350"/>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公共精神（public service）</a:t>
            </a:r>
            <a:endParaRPr lang="en-US" sz="1400" dirty="0"/>
          </a:p>
        </p:txBody>
      </p:sp>
      <p:sp>
        <p:nvSpPr>
          <p:cNvPr id="13" name="Text 9"/>
          <p:cNvSpPr/>
          <p:nvPr/>
        </p:nvSpPr>
        <p:spPr>
          <a:xfrm>
            <a:off x="1536192" y="2847086"/>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以服务公众为宗旨，服务本身具有重要的社会价值；从业者与所服务的对象之间存在紧密的个人联系与信任关系，而非一次性的市场交易。</a:t>
            </a:r>
            <a:endParaRPr lang="en-US" sz="1200" dirty="0"/>
          </a:p>
        </p:txBody>
      </p:sp>
      <p:sp>
        <p:nvSpPr>
          <p:cNvPr id="14" name="Shape 10"/>
          <p:cNvSpPr/>
          <p:nvPr/>
        </p:nvSpPr>
        <p:spPr>
          <a:xfrm>
            <a:off x="566928" y="3401568"/>
            <a:ext cx="11057839" cy="896112"/>
          </a:xfrm>
          <a:prstGeom prst="roundRect">
            <a:avLst>
              <a:gd name="adj" fmla="val 8163"/>
            </a:avLst>
          </a:prstGeom>
          <a:solidFill>
            <a:srgbClr val="F2F4F8"/>
          </a:solidFill>
          <a:ln w="12700">
            <a:solidFill>
              <a:srgbClr val="F2F4F8"/>
            </a:solidFill>
            <a:prstDash val="solid"/>
          </a:ln>
        </p:spPr>
      </p:sp>
      <p:sp>
        <p:nvSpPr>
          <p:cNvPr id="15" name="Shape 11"/>
          <p:cNvSpPr/>
          <p:nvPr/>
        </p:nvSpPr>
        <p:spPr>
          <a:xfrm>
            <a:off x="841248" y="359359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747211"/>
            <a:ext cx="204826" cy="204826"/>
          </a:xfrm>
          <a:prstGeom prst="rect">
            <a:avLst/>
          </a:prstGeom>
        </p:spPr>
      </p:pic>
      <p:sp>
        <p:nvSpPr>
          <p:cNvPr id="17" name="Text 12"/>
          <p:cNvSpPr/>
          <p:nvPr/>
        </p:nvSpPr>
        <p:spPr>
          <a:xfrm>
            <a:off x="1536192" y="358876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准入门槛（entry barrier）</a:t>
            </a:r>
            <a:endParaRPr lang="en-US" sz="1400" dirty="0"/>
          </a:p>
        </p:txBody>
      </p:sp>
      <p:sp>
        <p:nvSpPr>
          <p:cNvPr id="18" name="Text 13"/>
          <p:cNvSpPr/>
          <p:nvPr/>
        </p:nvSpPr>
        <p:spPr>
          <a:xfrm>
            <a:off x="1536192" y="3889502"/>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通过考试、执照、实习等制度限制进入，非经许可不得从事。这既是对公众的保护，也带来了垄断性的执业利益。</a:t>
            </a:r>
            <a:endParaRPr lang="en-US" sz="1200" dirty="0"/>
          </a:p>
        </p:txBody>
      </p:sp>
      <p:sp>
        <p:nvSpPr>
          <p:cNvPr id="19" name="Shape 14"/>
          <p:cNvSpPr/>
          <p:nvPr/>
        </p:nvSpPr>
        <p:spPr>
          <a:xfrm>
            <a:off x="566928" y="4443984"/>
            <a:ext cx="11057839" cy="896112"/>
          </a:xfrm>
          <a:prstGeom prst="roundRect">
            <a:avLst>
              <a:gd name="adj" fmla="val 8163"/>
            </a:avLst>
          </a:prstGeom>
          <a:solidFill>
            <a:srgbClr val="FFFFFF"/>
          </a:solidFill>
          <a:ln w="12700">
            <a:solidFill>
              <a:srgbClr val="D5DBE5"/>
            </a:solidFill>
            <a:prstDash val="solid"/>
          </a:ln>
        </p:spPr>
      </p:sp>
      <p:sp>
        <p:nvSpPr>
          <p:cNvPr id="20" name="Shape 15"/>
          <p:cNvSpPr/>
          <p:nvPr/>
        </p:nvSpPr>
        <p:spPr>
          <a:xfrm>
            <a:off x="841248" y="4636008"/>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789627"/>
            <a:ext cx="204826" cy="204826"/>
          </a:xfrm>
          <a:prstGeom prst="rect">
            <a:avLst/>
          </a:prstGeom>
        </p:spPr>
      </p:pic>
      <p:sp>
        <p:nvSpPr>
          <p:cNvPr id="22" name="Text 16"/>
          <p:cNvSpPr/>
          <p:nvPr/>
        </p:nvSpPr>
        <p:spPr>
          <a:xfrm>
            <a:off x="1536192" y="4631182"/>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自治与自律（autonomy）</a:t>
            </a:r>
            <a:endParaRPr lang="en-US" sz="1400" dirty="0"/>
          </a:p>
        </p:txBody>
      </p:sp>
      <p:sp>
        <p:nvSpPr>
          <p:cNvPr id="23" name="Text 17"/>
          <p:cNvSpPr/>
          <p:nvPr/>
        </p:nvSpPr>
        <p:spPr>
          <a:xfrm>
            <a:off x="1536192" y="4931918"/>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由同行组成的自治组织进行管理，通过道德准则对成员加以控制，并享有一定程度的独立性，摆脱纯粹的个人考虑或外部干预。</a:t>
            </a:r>
            <a:endParaRPr lang="en-US" sz="1200" dirty="0"/>
          </a:p>
        </p:txBody>
      </p:sp>
      <p:sp>
        <p:nvSpPr>
          <p:cNvPr id="24" name="Shape 18"/>
          <p:cNvSpPr/>
          <p:nvPr/>
        </p:nvSpPr>
        <p:spPr>
          <a:xfrm>
            <a:off x="566928" y="5486400"/>
            <a:ext cx="11057839" cy="896112"/>
          </a:xfrm>
          <a:prstGeom prst="roundRect">
            <a:avLst>
              <a:gd name="adj" fmla="val 8163"/>
            </a:avLst>
          </a:prstGeom>
          <a:solidFill>
            <a:srgbClr val="F2F4F8"/>
          </a:solidFill>
          <a:ln w="12700">
            <a:solidFill>
              <a:srgbClr val="F2F4F8"/>
            </a:solidFill>
            <a:prstDash val="solid"/>
          </a:ln>
        </p:spPr>
      </p:sp>
      <p:sp>
        <p:nvSpPr>
          <p:cNvPr id="25" name="Shape 19"/>
          <p:cNvSpPr/>
          <p:nvPr/>
        </p:nvSpPr>
        <p:spPr>
          <a:xfrm>
            <a:off x="841248" y="5678424"/>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32043"/>
            <a:ext cx="204826" cy="204826"/>
          </a:xfrm>
          <a:prstGeom prst="rect">
            <a:avLst/>
          </a:prstGeom>
        </p:spPr>
      </p:pic>
      <p:sp>
        <p:nvSpPr>
          <p:cNvPr id="27" name="Text 20"/>
          <p:cNvSpPr/>
          <p:nvPr/>
        </p:nvSpPr>
        <p:spPr>
          <a:xfrm>
            <a:off x="1536192" y="5673598"/>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高声望与相应的高标准</a:t>
            </a:r>
            <a:endParaRPr lang="en-US" sz="1400" dirty="0"/>
          </a:p>
        </p:txBody>
      </p:sp>
      <p:sp>
        <p:nvSpPr>
          <p:cNvPr id="28" name="Text 21"/>
          <p:cNvSpPr/>
          <p:nvPr/>
        </p:nvSpPr>
        <p:spPr>
          <a:xfrm>
            <a:off x="1536192" y="5974334"/>
            <a:ext cx="9832543" cy="22098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职业享有高于一般行业的社会声望与收入，作为对价，社会有权要求其成员遵守高于一般人的行为标准。这是理解职业伦理正当性的关键。</a:t>
            </a:r>
            <a:endParaRPr lang="en-US" sz="12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职业是这样一群人：他们持有共同的专业知识，以此谋生，同时又宣称自己的首要义务不是牟利，而是服务。</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职业社会学的经典命题</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这一“服务优先于牟利”的宣称，正是职业区别于一般行业的分水岭，也是职业伦理全部约束力的来源</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法律职业的四项特征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专业性、公共性、自治性、伦理性——四者互相支撑，缺一不可</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08</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专业性：法律人凭什么被称为专业人士</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共同的教育背景</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系统的法学教育塑造了共同的知识结构。学过法学的人和没学过的人，看同一件事的方式完全不同——前者会自动去找“请求权基础”“构成要件”“证明责任”。</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独特的法律思维</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以权利义务为分析线索，以合法性为首要判断，重视程序，遵循先例与体系，讲究“以法律术语思考”。这是一种需要长期训练才能形成的思维习惯。</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共同的话语体系</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善意取得、表见代理、期待可能性、既判力——这套术语构成了法律人之间的“行话”，使精确交流成为可能，同时也构成了对外行的天然屏障。</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严格的资格准入</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国家统一法律职业资格考试是专业性的制度保障。它把“具备专业能力”这一事实判断，转化为“取得法律职业资格”这一制度事实。</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09</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专业性的制度基础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法律职业资格的法律依据</a:t>
            </a:r>
            <a:endParaRPr lang="en-US" sz="2800" dirty="0"/>
          </a:p>
        </p:txBody>
      </p:sp>
      <p:sp>
        <p:nvSpPr>
          <p:cNvPr id="4" name="Shape 2"/>
          <p:cNvSpPr/>
          <p:nvPr/>
        </p:nvSpPr>
        <p:spPr>
          <a:xfrm>
            <a:off x="566928" y="1316736"/>
            <a:ext cx="11057839" cy="1320102"/>
          </a:xfrm>
          <a:prstGeom prst="roundRect">
            <a:avLst>
              <a:gd name="adj" fmla="val 692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《中共中央关于全面推进依法治国若干重大问题的决定》（2014年）</a:t>
            </a:r>
            <a:endParaRPr lang="en-US" sz="1500" dirty="0"/>
          </a:p>
        </p:txBody>
      </p:sp>
      <p:sp>
        <p:nvSpPr>
          <p:cNvPr id="8" name="Text 6"/>
          <p:cNvSpPr/>
          <p:nvPr/>
        </p:nvSpPr>
        <p:spPr>
          <a:xfrm>
            <a:off x="960120" y="1956816"/>
            <a:ext cx="10271455" cy="460566"/>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完善法律职业准入制度，健全国家统一法律职业资格考试制度，建立法律职业人员统一职前培训制度。</a:t>
            </a:r>
            <a:endParaRPr lang="en-US" sz="1550" dirty="0"/>
          </a:p>
        </p:txBody>
      </p:sp>
      <p:sp>
        <p:nvSpPr>
          <p:cNvPr id="9" name="Shape 7"/>
          <p:cNvSpPr/>
          <p:nvPr/>
        </p:nvSpPr>
        <p:spPr>
          <a:xfrm>
            <a:off x="566928" y="2819718"/>
            <a:ext cx="11057839" cy="2205927"/>
          </a:xfrm>
          <a:prstGeom prst="roundRect">
            <a:avLst>
              <a:gd name="adj" fmla="val 4145"/>
            </a:avLst>
          </a:prstGeom>
          <a:solidFill>
            <a:srgbClr val="F6F1E8"/>
          </a:solidFill>
          <a:ln w="12700">
            <a:solidFill>
              <a:srgbClr val="F6F1E8"/>
            </a:solidFill>
            <a:prstDash val="solid"/>
          </a:ln>
        </p:spPr>
      </p:sp>
      <p:sp>
        <p:nvSpPr>
          <p:cNvPr id="10" name="Shape 8"/>
          <p:cNvSpPr/>
          <p:nvPr/>
        </p:nvSpPr>
        <p:spPr>
          <a:xfrm>
            <a:off x="877824" y="3057462"/>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05746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03917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《国家统一法律职业资格考试实施办法》（2018年）第二条</a:t>
            </a:r>
            <a:endParaRPr lang="en-US" sz="1500" dirty="0"/>
          </a:p>
        </p:txBody>
      </p:sp>
      <p:sp>
        <p:nvSpPr>
          <p:cNvPr id="13" name="Text 11"/>
          <p:cNvSpPr/>
          <p:nvPr/>
        </p:nvSpPr>
        <p:spPr>
          <a:xfrm>
            <a:off x="960120" y="3459798"/>
            <a:ext cx="10271455" cy="1346391"/>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国家统一法律职业资格考试，是国家按照条件公平、机会均等、程序公开、择优录用的原则，选拔合格法律职业人才的国家考试。</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初任法官、初任检察官、申请律师执业、初任公证员，以及担任法律顾问、仲裁员（法律类）和政府部门中初次从事行政处罚决定审核、行政复议、行政裁决的公务员，应当取得国家统一法律职业资格。</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请注意“应当取得”四个字：这不是倡导性规定，而是强制性的任职资格条件。未取得法律职业资格而从事上述职业的，任职行为本身即不合法。</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10</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制度演进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从司法考试到法律职业资格考试：三点重要进展</a:t>
            </a:r>
            <a:endParaRPr lang="en-US" sz="2800" dirty="0"/>
          </a:p>
        </p:txBody>
      </p:sp>
      <p:sp>
        <p:nvSpPr>
          <p:cNvPr id="4" name="Shape 2"/>
          <p:cNvSpPr/>
          <p:nvPr/>
        </p:nvSpPr>
        <p:spPr>
          <a:xfrm>
            <a:off x="566928" y="1316736"/>
            <a:ext cx="11057839" cy="1356836"/>
          </a:xfrm>
          <a:prstGeom prst="roundRect">
            <a:avLst>
              <a:gd name="adj" fmla="val 5391"/>
            </a:avLst>
          </a:prstGeom>
          <a:solidFill>
            <a:srgbClr val="F2F4F8"/>
          </a:solidFill>
          <a:ln w="12700">
            <a:solidFill>
              <a:srgbClr val="F2F4F8"/>
            </a:solidFill>
            <a:prstDash val="solid"/>
          </a:ln>
        </p:spPr>
      </p:sp>
      <p:sp>
        <p:nvSpPr>
          <p:cNvPr id="5" name="Shape 3"/>
          <p:cNvSpPr/>
          <p:nvPr/>
        </p:nvSpPr>
        <p:spPr>
          <a:xfrm>
            <a:off x="841248" y="1757410"/>
            <a:ext cx="475488" cy="475488"/>
          </a:xfrm>
          <a:prstGeom prst="ellipse">
            <a:avLst/>
          </a:prstGeom>
          <a:solidFill>
            <a:srgbClr val="13233F"/>
          </a:solidFill>
          <a:ln w="12700">
            <a:solidFill>
              <a:srgbClr val="13233F"/>
            </a:solidFill>
            <a:prstDash val="solid"/>
          </a:ln>
        </p:spPr>
      </p:sp>
      <p:sp>
        <p:nvSpPr>
          <p:cNvPr id="6" name="Text 4"/>
          <p:cNvSpPr/>
          <p:nvPr/>
        </p:nvSpPr>
        <p:spPr>
          <a:xfrm>
            <a:off x="841248" y="1757410"/>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2138"/>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第一，适用主体扩大</a:t>
            </a:r>
            <a:endParaRPr lang="en-US" sz="1500" dirty="0"/>
          </a:p>
        </p:txBody>
      </p:sp>
      <p:sp>
        <p:nvSpPr>
          <p:cNvPr id="8" name="Text 6"/>
          <p:cNvSpPr/>
          <p:nvPr/>
        </p:nvSpPr>
        <p:spPr>
          <a:xfrm>
            <a:off x="1499616" y="1789986"/>
            <a:ext cx="9887407" cy="718185"/>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由原来的法官、检察官、律师、公证员四类，扩大到从事行政处罚决定审核、行政复议、行政裁决的公务员，以及法律顾问、仲裁员（法律类）。名称也相应地由“国家统一司法考试”改为“国家统一法律职业资格考试”。这一扩大意味着“法律职业”的外延在制度上被正式拓宽。</a:t>
            </a:r>
            <a:endParaRPr lang="en-US" sz="1300" dirty="0"/>
          </a:p>
        </p:txBody>
      </p:sp>
      <p:sp>
        <p:nvSpPr>
          <p:cNvPr id="9" name="Shape 7"/>
          <p:cNvSpPr/>
          <p:nvPr/>
        </p:nvSpPr>
        <p:spPr>
          <a:xfrm>
            <a:off x="566928" y="2792444"/>
            <a:ext cx="11057839" cy="1117441"/>
          </a:xfrm>
          <a:prstGeom prst="roundRect">
            <a:avLst>
              <a:gd name="adj" fmla="val 6546"/>
            </a:avLst>
          </a:prstGeom>
          <a:solidFill>
            <a:srgbClr val="FFFFFF"/>
          </a:solidFill>
          <a:ln w="12700">
            <a:solidFill>
              <a:srgbClr val="D5DBE5"/>
            </a:solidFill>
            <a:prstDash val="solid"/>
          </a:ln>
        </p:spPr>
      </p:sp>
      <p:sp>
        <p:nvSpPr>
          <p:cNvPr id="10" name="Shape 8"/>
          <p:cNvSpPr/>
          <p:nvPr/>
        </p:nvSpPr>
        <p:spPr>
          <a:xfrm>
            <a:off x="841248" y="3113421"/>
            <a:ext cx="475488" cy="475488"/>
          </a:xfrm>
          <a:prstGeom prst="ellipse">
            <a:avLst/>
          </a:prstGeom>
          <a:solidFill>
            <a:srgbClr val="13233F"/>
          </a:solidFill>
          <a:ln w="12700">
            <a:solidFill>
              <a:srgbClr val="13233F"/>
            </a:solidFill>
            <a:prstDash val="solid"/>
          </a:ln>
        </p:spPr>
      </p:sp>
      <p:sp>
        <p:nvSpPr>
          <p:cNvPr id="11" name="Text 9"/>
          <p:cNvSpPr/>
          <p:nvPr/>
        </p:nvSpPr>
        <p:spPr>
          <a:xfrm>
            <a:off x="841248" y="3113421"/>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957846"/>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第二，报考条件限缩</a:t>
            </a:r>
            <a:endParaRPr lang="en-US" sz="1500" dirty="0"/>
          </a:p>
        </p:txBody>
      </p:sp>
      <p:sp>
        <p:nvSpPr>
          <p:cNvPr id="13" name="Text 11"/>
          <p:cNvSpPr/>
          <p:nvPr/>
        </p:nvSpPr>
        <p:spPr>
          <a:xfrm>
            <a:off x="1499616" y="3265694"/>
            <a:ext cx="9887407" cy="478790"/>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实行“学历+学位”的双重要求：全日制普通高等学校法学类本科学历并获学士及以上学位；或全日制普通高等学校非法学类本科及以上学历并获法律硕士、法学硕士及以上学位；或全日制普通高等学校非法学类本科及以上学历并获相应学位且从事法律工作满三年。</a:t>
            </a:r>
            <a:endParaRPr lang="en-US" sz="1300" dirty="0"/>
          </a:p>
        </p:txBody>
      </p:sp>
      <p:sp>
        <p:nvSpPr>
          <p:cNvPr id="14" name="Shape 12"/>
          <p:cNvSpPr/>
          <p:nvPr/>
        </p:nvSpPr>
        <p:spPr>
          <a:xfrm>
            <a:off x="566928" y="4028758"/>
            <a:ext cx="11057839" cy="1117441"/>
          </a:xfrm>
          <a:prstGeom prst="roundRect">
            <a:avLst>
              <a:gd name="adj" fmla="val 6546"/>
            </a:avLst>
          </a:prstGeom>
          <a:solidFill>
            <a:srgbClr val="F2F4F8"/>
          </a:solidFill>
          <a:ln w="12700">
            <a:solidFill>
              <a:srgbClr val="F2F4F8"/>
            </a:solidFill>
            <a:prstDash val="solid"/>
          </a:ln>
        </p:spPr>
      </p:sp>
      <p:sp>
        <p:nvSpPr>
          <p:cNvPr id="15" name="Shape 13"/>
          <p:cNvSpPr/>
          <p:nvPr/>
        </p:nvSpPr>
        <p:spPr>
          <a:xfrm>
            <a:off x="841248" y="4349734"/>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434973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4194159"/>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第三，两阶段考试</a:t>
            </a:r>
            <a:endParaRPr lang="en-US" sz="1500" dirty="0"/>
          </a:p>
        </p:txBody>
      </p:sp>
      <p:sp>
        <p:nvSpPr>
          <p:cNvPr id="18" name="Text 16"/>
          <p:cNvSpPr/>
          <p:nvPr/>
        </p:nvSpPr>
        <p:spPr>
          <a:xfrm>
            <a:off x="1499616" y="4502007"/>
            <a:ext cx="9887407" cy="478790"/>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分为客观题与主观题两个阶段。客观题考查法律知识的广度与准确性，主观题考查法律适用、论证说理与文书写作能力。客观题成绩在本年度及次年度有效，为考生提供了缓冲。</a:t>
            </a:r>
            <a:endParaRPr lang="en-US" sz="1300" dirty="0"/>
          </a:p>
        </p:txBody>
      </p:sp>
      <p:sp>
        <p:nvSpPr>
          <p:cNvPr id="19" name="Shape 17"/>
          <p:cNvSpPr/>
          <p:nvPr/>
        </p:nvSpPr>
        <p:spPr>
          <a:xfrm>
            <a:off x="566928" y="5265071"/>
            <a:ext cx="11057839" cy="1117441"/>
          </a:xfrm>
          <a:prstGeom prst="roundRect">
            <a:avLst>
              <a:gd name="adj" fmla="val 6546"/>
            </a:avLst>
          </a:prstGeom>
          <a:solidFill>
            <a:srgbClr val="FFFFFF"/>
          </a:solidFill>
          <a:ln w="12700">
            <a:solidFill>
              <a:srgbClr val="D5DBE5"/>
            </a:solidFill>
            <a:prstDash val="solid"/>
          </a:ln>
        </p:spPr>
      </p:sp>
      <p:sp>
        <p:nvSpPr>
          <p:cNvPr id="20" name="Shape 18"/>
          <p:cNvSpPr/>
          <p:nvPr/>
        </p:nvSpPr>
        <p:spPr>
          <a:xfrm>
            <a:off x="841248" y="5586047"/>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5586047"/>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5430472"/>
            <a:ext cx="9887407"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配套：统一职前培训与宣誓制度</a:t>
            </a:r>
            <a:endParaRPr lang="en-US" sz="1500" dirty="0"/>
          </a:p>
        </p:txBody>
      </p:sp>
      <p:sp>
        <p:nvSpPr>
          <p:cNvPr id="23" name="Text 21"/>
          <p:cNvSpPr/>
          <p:nvPr/>
        </p:nvSpPr>
        <p:spPr>
          <a:xfrm>
            <a:off x="1499616" y="5738320"/>
            <a:ext cx="9887407" cy="478790"/>
          </a:xfrm>
          <a:prstGeom prst="rect">
            <a:avLst/>
          </a:prstGeom>
          <a:noFill/>
          <a:ln/>
        </p:spPr>
        <p:txBody>
          <a:bodyPr wrap="square" lIns="0" tIns="0" rIns="0" bIns="0" rtlCol="0" anchor="t"/>
          <a:lstStyle/>
          <a:p>
            <a:pP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取得资格并不等于可以立即独立执业。律师须经一年实习，法官、检察官须经统一职前培训并实行员额遴选。同时，国家工作人员就职时须依法进行宪法宣誓——这正是 profession 一词“宣誓”本义的现代回归。</a:t>
            </a:r>
            <a:endParaRPr lang="en-US" sz="13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公共性：法律职业服务于何种价值</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公平与正义</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法律职业的正当性最终建立在其对公平正义的实现之上。一个不能带来公正的司法制度，无论多么专业、多么高效，都会丧失存在的理由。</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秩序</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法律职业通过定分止争维持社会秩序。纠纷交由中立第三方依既定规则解决，是文明社会区别于丛林状态的关键装置。</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信赖</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公众对法律职业的信赖，是法律得以自愿遵守的心理基础。绝大多数人守法不是因为害怕制裁，而是因为相信这套制度值得尊重。</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普遍性</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法律职业的服务面向一切人，不因当事人的身份、财富、地位而区别对待。法律援助制度正是这一普遍性要求的制度化表达。</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自治性：为什么法律职业需要自我管理</a:t>
            </a:r>
            <a:endParaRPr lang="en-US" sz="2800" dirty="0"/>
          </a:p>
        </p:txBody>
      </p:sp>
      <p:sp>
        <p:nvSpPr>
          <p:cNvPr id="4" name="Shape 2"/>
          <p:cNvSpPr/>
          <p:nvPr/>
        </p:nvSpPr>
        <p:spPr>
          <a:xfrm>
            <a:off x="566928" y="2126933"/>
            <a:ext cx="5410048" cy="3445383"/>
          </a:xfrm>
          <a:prstGeom prst="roundRect">
            <a:avLst>
              <a:gd name="adj" fmla="val 2654"/>
            </a:avLst>
          </a:prstGeom>
          <a:solidFill>
            <a:srgbClr val="F2F4F8"/>
          </a:solidFill>
          <a:ln w="12700">
            <a:solidFill>
              <a:srgbClr val="F2F4F8"/>
            </a:solidFill>
            <a:prstDash val="solid"/>
          </a:ln>
        </p:spPr>
      </p:sp>
      <p:sp>
        <p:nvSpPr>
          <p:cNvPr id="5" name="Shape 3"/>
          <p:cNvSpPr/>
          <p:nvPr/>
        </p:nvSpPr>
        <p:spPr>
          <a:xfrm>
            <a:off x="841248" y="23829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829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自治性的三重内容</a:t>
            </a:r>
            <a:endParaRPr lang="en-US" sz="1600" dirty="0"/>
          </a:p>
        </p:txBody>
      </p:sp>
      <p:sp>
        <p:nvSpPr>
          <p:cNvPr id="7" name="Text 5"/>
          <p:cNvSpPr/>
          <p:nvPr/>
        </p:nvSpPr>
        <p:spPr>
          <a:xfrm>
            <a:off x="932688" y="3041333"/>
            <a:ext cx="4678528" cy="22932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独立：不受不当的外部干预。律师独立于国家机关与委托人，法官独立于当事人与外部势力，检察官依法独立行使检察权。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组织：拥有自己的行业自治组织。我国实行律师协会与司法行政机关“两结合”的管理体制。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规则：由行业自行制定执业行为规范，并据以进行惩戒。《律师执业行为规范》即由中华全国律师协会制定。</a:t>
            </a:r>
            <a:endParaRPr lang="en-US" sz="1450" dirty="0"/>
          </a:p>
        </p:txBody>
      </p:sp>
      <p:sp>
        <p:nvSpPr>
          <p:cNvPr id="8" name="Shape 6"/>
          <p:cNvSpPr/>
          <p:nvPr/>
        </p:nvSpPr>
        <p:spPr>
          <a:xfrm>
            <a:off x="6214720" y="2126933"/>
            <a:ext cx="5410048" cy="3445383"/>
          </a:xfrm>
          <a:prstGeom prst="roundRect">
            <a:avLst>
              <a:gd name="adj" fmla="val 2654"/>
            </a:avLst>
          </a:prstGeom>
          <a:solidFill>
            <a:srgbClr val="F6F1E8"/>
          </a:solidFill>
          <a:ln w="12700">
            <a:solidFill>
              <a:srgbClr val="F6F1E8"/>
            </a:solidFill>
            <a:prstDash val="solid"/>
          </a:ln>
        </p:spPr>
      </p:sp>
      <p:sp>
        <p:nvSpPr>
          <p:cNvPr id="9" name="Shape 7"/>
          <p:cNvSpPr/>
          <p:nvPr/>
        </p:nvSpPr>
        <p:spPr>
          <a:xfrm>
            <a:off x="6489040" y="23829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3829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为什么必须自治</a:t>
            </a:r>
            <a:endParaRPr lang="en-US" sz="1600" dirty="0"/>
          </a:p>
        </p:txBody>
      </p:sp>
      <p:sp>
        <p:nvSpPr>
          <p:cNvPr id="11" name="Text 9"/>
          <p:cNvSpPr/>
          <p:nvPr/>
        </p:nvSpPr>
        <p:spPr>
          <a:xfrm>
            <a:off x="6580480" y="3041333"/>
            <a:ext cx="4678528" cy="22932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专业判断只能由同行评价：律师是否勤勉、法官论证是否充分，外行难以判断，只能交由懂行的同行来衡量。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独立性是履职的前提：如果律师的执业资格完全由被他起诉的行政机关掌握，辩护将无法进行。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自治必须以自律为对价：行业自治的正当性来自其严格约束成员的能力。自治组织若沦为“护短组织”，社会必然收回自治权。</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13</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特征之四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伦理性：法律职业的自我约束</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有职业的产生，就必然有职业伦理的要求。医生的职业伦理是救死扶伤，教师的职业伦理是有教无类，法律职业的伦理则围绕“公正”展开。</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职业伦理属于专业伦理学或应用伦理学的范畴，是从业人员以伦理自然律为基础，根据本行业的专业知识，经逻辑推演而形成的规范体系。</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它随着职业的出现而产生并逐步发展，是社会道德在特定职业领域的具体化。社会一般道德要求“诚实”，落到律师身上就具体化为“不得向法庭提交虚假证据”。</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法律职业伦理具有其他职业伦理少有的特点：高度成文化、高度规范化，并诉诸制度化建构加以保障——它往往直接由法律和行业规范加以规定，违反者要承担确定的法律责任。</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这正是本课程与一般“职业道德教育”的根本区别：我们讨论的不是应然的劝导，而是实然的、有制裁后果的规范。</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14</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法律职业的范围：广义与狭义</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谁是法律人？这个问题的答案，决定了职业伦理规范的适用范围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范围界定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两种界定方式及其意义</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狭义说：法官、检察官、律师（及法学学者）</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以直接参与法律运行核心环节为标准。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法官行使审判权，检察官行使检察权，律师提供法律服务并制约公权力——三者构成诉讼的基本结构。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法学学者通过法教义学的建构影响法律的解释与适用，故亦常被纳入。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意义：这一范围内的主体，其职业伦理规范最为发达、最为严格。</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广义说：一切从事法律工作的人员</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包括侦查员、检察员、审判员、执行员、仲裁员、公证员、律师、基层法律服务工作者以及司法辅助人员。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甚至可以包括立法工作者、企业法律顾问、公司律师、公职律师。</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意义：随着法治国家建设推进，法律职业的外延持续扩张，2018年法考适用主体的扩大即是明证。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注意：外延越大，统一的伦理标准越难建立，规范只能分层设置。</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16</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法定界定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四类核心法律职业的法定定义</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《律师法》第二条</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本法所称律师，是指依法取得律师执业证书，接受委托或者指定，为当事人提供法律服务的执业人员。律师应当维护当事人合法权益，维护法律正确实施，维护社会公平和正义。</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《法官法》第二条</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法官是依法行使国家审判权的审判人员，包括最高人民法院、地方各级人民法院和军事法院等专门人民法院的院长、副院长、审判委员会委员和审判员。</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《检察官法》第二条</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检察官是依法行使国家检察权的检察人员，包括最高人民检察院、地方各级人民检察院和军事检察院等专门人民检察院的检察长、副检察长、检察委员会委员和检察员。</a:t>
            </a:r>
            <a:endParaRPr lang="en-US" sz="850" dirty="0"/>
          </a:p>
        </p:txBody>
      </p:sp>
      <p:sp>
        <p:nvSpPr>
          <p:cNvPr id="19" name="Shape 1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20" name="Text 1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请比较三个定义的落点：律师定义于“提供法律服务”，法官定义于“行使审判权”，检察官定义于“行使检察权”。一个是服务提供者，两个是公权力行使者——这一区别，正是三者职业伦理内容差异的根源。</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17</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外延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其他取得法律职业资格的主体</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公证员——《公证法》第六条、第十六条</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证机构是依法设立，不以营利为目的，依法独立行使公证职能、承担民事责任的证明机构；公证员是符合本法规定条件，在公证机构从事公证业务的执业人员。公证员的核心伦理要求是真实性与合法性审查义务。</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仲裁员（法律类）——《仲裁法》第十三条</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仲裁委员会应当从公道正派的人员中聘任仲裁员。仲裁员须通过法律职业资格考试并从事仲裁工作满八年，或从事律师工作满八年，或曾任法官满八年，或具有法律高级职称等。仲裁员的核心伦理要求是独立性与披露义务。</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特定岗位公务员——《公务员法》第二十三条</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国家对行政机关中初次从事行政处罚决定审核、行政复议、行政裁决、法律顾问的公务员，实行统一法律职业资格考试制度。这类主体兼具公务员纪律与法律职业伦理的双重约束。</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公职律师、公司律师与法律顾问</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公职律师在党政机关任职，公司律师在国有企业任职，二者均需取得律师执业证书。其特殊之处在于：既受《律师法》约束，又受所在单位的管理，容易产生“忠于单位”与“忠于法律”的角色冲突。</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18</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法律职业共同体：理想与现实</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共同的知识、共同的语言、共同的思维，能否催生共同的伦理？</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19</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法律职业共同体的四根支柱</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共同的知识</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受过相同的法学教育，掌握同一套法教义学体系。这使得一名法官能够看懂律师的代理词，一名律师能够预测法官的裁判思路。</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共同的语言</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使用同一套法律术语与论证方式。共同语言降低了沟通成本，也构成了共同体的边界。</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共同的思维</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以合法性为首要判断标准，重视程序，讲究证据，遵循体系。这种思维方式使法律人在面对同一事实时，会提出结构相似的问题。</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共同的伦理</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共同信奉法治、公正、正当程序等基本价值，并遵守各自角色所要求的行为规范。这是共同体最难形成、也最容易破裂的一根支柱。</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20</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现实的裂缝</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共同体是一个尚未完成的建构</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我们必须诚实地承认：法律职业共同体在中国仍然是一个“进行中的理想”，而非既成的现实。至少存在以下几重张力。</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角色对立的张力：控辩之间、律师与法官之间，在具体案件中处于对抗位置。一旦对抗被理解为敌对，“共同体”就无从谈起。近年来关于律师执业权利保障的争论，本质上就是这一张力的表现。</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流动不畅的张力：成熟法治国家中，律师、法官、检察官之间存在双向流动，法官多从资深律师中遴选。我国已建立从律师、法学专家中公开选拔法官检察官的制度，但规模仍然有限，职业身份之间的壁垒依然存在。</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利益结构的张力：法官、检察官是公职人员，收入稳定但受严格约束；律师面向市场，收入弹性大但风险自负。不同的利益结构会塑造不同的行为逻辑。</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伦理标准差异的张力：三类职业的伦理要求内容不同——律师须忠诚于委托人，检察官须客观公正，法官须中立。误将一方的伦理标准套用于另一方，是实践中大量误解与冲突的根源。</a:t>
            </a:r>
            <a:endParaRPr lang="en-US" sz="1550" dirty="0"/>
          </a:p>
          <a:p>
            <a:pPr marL="228600" indent="-228600">
              <a:lnSpc>
                <a:spcPts val="2325"/>
              </a:lnSpc>
              <a:spcAft>
                <a:spcPts val="800"/>
              </a:spcAft>
              <a:buSzPct val="100000"/>
              <a:buChar char="■"/>
            </a:pPr>
            <a:r>
              <a:rPr lang="en-US" sz="1550" b="1" dirty="0">
                <a:solidFill>
                  <a:srgbClr val="32404F"/>
                </a:solidFill>
                <a:latin typeface="微软雅黑" pitchFamily="34" charset="0"/>
                <a:ea typeface="微软雅黑" pitchFamily="34" charset="-122"/>
                <a:cs typeface="微软雅黑" pitchFamily="34" charset="-120"/>
              </a:rPr>
              <a:t>认识这些裂缝，不是为了否定共同体，而是为了理解：共同体需要通过制度建设与职业伦理的共同信守来逐步建成。这正是各位这一代法律人的任务。</a:t>
            </a:r>
            <a:endParaRPr lang="en-US" sz="15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21</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当“共同体”遭遇具体的对抗</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研讨案例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法庭上的冲突：辩护人被“训诫”之后</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刑事案件庭审中，辩护律师就非法证据排除问题反复申请，多次被审判长以“与本案无关”打断。律师坚持要求将其申请记入笔录，审判长认为其“扰乱法庭秩序”，予以训诫，并警告将报请司法行政机关处理。律师当庭表示抗议，随后退庭。</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庭后，律师在社交媒体上发布长文，指责法官剥夺辩护权；法院则通报称律师无正当理由退庭，已依法向司法行政机关通报。事件迅速发酵，形成舆论对立。</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需要说明的是：《刑事诉讼法》规定了法庭秩序的维护权，也规定了辩护人的辩护权；《律师法》第三十七条规定律师在法庭上发表的代理、辩护意见不受法律追究（但发表危害国家安全、恶意诽谤他人、严重扰乱法庭秩序的言论除外）；《律师执业行为规范》则要求律师尊重法庭、遵守法庭规则。</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审判长的打断与训诫，边界应当如何划定？</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律师当庭退庭是否属于正当的抗议方式？有无更妥当的救济途径？</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双方各自违反了哪些具体规范？请指出条文。</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这一事件对“法律职业共同体”意味着什么？</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428496"/>
            <a:ext cx="11057839" cy="1174496"/>
          </a:xfrm>
          <a:prstGeom prst="roundRect">
            <a:avLst>
              <a:gd name="adj" fmla="val 7007"/>
            </a:avLst>
          </a:prstGeom>
          <a:solidFill>
            <a:srgbClr val="ECF3F2"/>
          </a:solidFill>
          <a:ln w="12700">
            <a:solidFill>
              <a:srgbClr val="ECF3F2"/>
            </a:solidFill>
            <a:prstDash val="solid"/>
          </a:ln>
        </p:spPr>
      </p:sp>
      <p:sp>
        <p:nvSpPr>
          <p:cNvPr id="5" name="Shape 3"/>
          <p:cNvSpPr/>
          <p:nvPr/>
        </p:nvSpPr>
        <p:spPr>
          <a:xfrm>
            <a:off x="859536" y="178714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871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71094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“法律职业”与“法律行业”是同一个概念吗？如果一名律师完全以商业逻辑经营，把法律服务视为纯粹的商品交易，他还属于 profession 吗？</a:t>
            </a:r>
            <a:endParaRPr lang="en-US" sz="1600" dirty="0"/>
          </a:p>
        </p:txBody>
      </p:sp>
      <p:sp>
        <p:nvSpPr>
          <p:cNvPr id="8" name="Shape 6"/>
          <p:cNvSpPr/>
          <p:nvPr/>
        </p:nvSpPr>
        <p:spPr>
          <a:xfrm>
            <a:off x="566928" y="2749296"/>
            <a:ext cx="11057839" cy="1174496"/>
          </a:xfrm>
          <a:prstGeom prst="roundRect">
            <a:avLst>
              <a:gd name="adj" fmla="val 7007"/>
            </a:avLst>
          </a:prstGeom>
          <a:solidFill>
            <a:srgbClr val="ECF3F2"/>
          </a:solidFill>
          <a:ln w="12700">
            <a:solidFill>
              <a:srgbClr val="ECF3F2"/>
            </a:solidFill>
            <a:prstDash val="solid"/>
          </a:ln>
        </p:spPr>
      </p:sp>
      <p:sp>
        <p:nvSpPr>
          <p:cNvPr id="9" name="Shape 7"/>
          <p:cNvSpPr/>
          <p:nvPr/>
        </p:nvSpPr>
        <p:spPr>
          <a:xfrm>
            <a:off x="859536" y="310794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079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3174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法律职业的垄断性准入，客观上抬高了法律服务的价格，是否有损于公众获得法律帮助的权利？应当如何平衡准入门槛与服务可及性？</a:t>
            </a:r>
            <a:endParaRPr lang="en-US" sz="1600" dirty="0"/>
          </a:p>
        </p:txBody>
      </p:sp>
      <p:sp>
        <p:nvSpPr>
          <p:cNvPr id="12" name="Shape 10"/>
          <p:cNvSpPr/>
          <p:nvPr/>
        </p:nvSpPr>
        <p:spPr>
          <a:xfrm>
            <a:off x="566928" y="4070096"/>
            <a:ext cx="11057839" cy="879856"/>
          </a:xfrm>
          <a:prstGeom prst="roundRect">
            <a:avLst>
              <a:gd name="adj" fmla="val 9353"/>
            </a:avLst>
          </a:prstGeom>
          <a:solidFill>
            <a:srgbClr val="ECF3F2"/>
          </a:solidFill>
          <a:ln w="12700">
            <a:solidFill>
              <a:srgbClr val="ECF3F2"/>
            </a:solidFill>
            <a:prstDash val="solid"/>
          </a:ln>
        </p:spPr>
      </p:sp>
      <p:sp>
        <p:nvSpPr>
          <p:cNvPr id="13" name="Shape 11"/>
          <p:cNvSpPr/>
          <p:nvPr/>
        </p:nvSpPr>
        <p:spPr>
          <a:xfrm>
            <a:off x="859536" y="42814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81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57624"/>
            <a:ext cx="9887407" cy="3048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假设某地推行“律师、法官、检察官定期交流任职”制度，你认为这会促进还是损害法律职业共同体的形成？</a:t>
            </a:r>
            <a:endParaRPr lang="en-US" sz="1600" dirty="0"/>
          </a:p>
        </p:txBody>
      </p:sp>
      <p:sp>
        <p:nvSpPr>
          <p:cNvPr id="16" name="Shape 14"/>
          <p:cNvSpPr/>
          <p:nvPr/>
        </p:nvSpPr>
        <p:spPr>
          <a:xfrm>
            <a:off x="566928" y="5096256"/>
            <a:ext cx="11057839" cy="1174496"/>
          </a:xfrm>
          <a:prstGeom prst="roundRect">
            <a:avLst>
              <a:gd name="adj" fmla="val 7007"/>
            </a:avLst>
          </a:prstGeom>
          <a:solidFill>
            <a:srgbClr val="ECF3F2"/>
          </a:solidFill>
          <a:ln w="12700">
            <a:solidFill>
              <a:srgbClr val="ECF3F2"/>
            </a:solidFill>
            <a:prstDash val="solid"/>
          </a:ln>
        </p:spPr>
      </p:sp>
      <p:sp>
        <p:nvSpPr>
          <p:cNvPr id="17" name="Shape 15"/>
          <p:cNvSpPr/>
          <p:nvPr/>
        </p:nvSpPr>
        <p:spPr>
          <a:xfrm>
            <a:off x="859536" y="545490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4549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37870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人工智能法律工具已能完成大量检索、审查与文书起草工作。如果“专业知识”不再由法律人独占，法律职业的正当性基础会不会动摇？</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第2课时 · 23</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第2课时要点回顾</a:t>
            </a:r>
            <a:endParaRPr lang="en-US" sz="3000" dirty="0"/>
          </a:p>
        </p:txBody>
      </p:sp>
      <p:sp>
        <p:nvSpPr>
          <p:cNvPr id="4" name="Shape 2"/>
          <p:cNvSpPr/>
          <p:nvPr/>
        </p:nvSpPr>
        <p:spPr>
          <a:xfrm>
            <a:off x="566928" y="1591056"/>
            <a:ext cx="11057839" cy="907491"/>
          </a:xfrm>
          <a:prstGeom prst="roundRect">
            <a:avLst>
              <a:gd name="adj" fmla="val 8061"/>
            </a:avLst>
          </a:prstGeom>
          <a:solidFill>
            <a:srgbClr val="25395F"/>
          </a:solidFill>
          <a:ln w="12700">
            <a:solidFill>
              <a:srgbClr val="25395F"/>
            </a:solidFill>
            <a:prstDash val="solid"/>
          </a:ln>
        </p:spPr>
      </p:sp>
      <p:sp>
        <p:nvSpPr>
          <p:cNvPr id="5" name="Shape 3"/>
          <p:cNvSpPr/>
          <p:nvPr/>
        </p:nvSpPr>
        <p:spPr>
          <a:xfrm>
            <a:off x="859536" y="1843634"/>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64334"/>
            <a:ext cx="160934" cy="160934"/>
          </a:xfrm>
          <a:prstGeom prst="rect">
            <a:avLst/>
          </a:prstGeom>
        </p:spPr>
      </p:pic>
      <p:sp>
        <p:nvSpPr>
          <p:cNvPr id="7" name="Text 4"/>
          <p:cNvSpPr/>
          <p:nvPr/>
        </p:nvSpPr>
        <p:spPr>
          <a:xfrm>
            <a:off x="1444752" y="1740002"/>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“职业”（profession）源于“宣誓”，指博学、准入受限、自我管理、承担公共责任的专门职业，与泛指的 occupation 须严格区分。</a:t>
            </a:r>
            <a:endParaRPr lang="en-US" sz="1600" dirty="0"/>
          </a:p>
        </p:txBody>
      </p:sp>
      <p:sp>
        <p:nvSpPr>
          <p:cNvPr id="8" name="Shape 5"/>
          <p:cNvSpPr/>
          <p:nvPr/>
        </p:nvSpPr>
        <p:spPr>
          <a:xfrm>
            <a:off x="566928" y="2635707"/>
            <a:ext cx="11057839" cy="907491"/>
          </a:xfrm>
          <a:prstGeom prst="roundRect">
            <a:avLst>
              <a:gd name="adj" fmla="val 8061"/>
            </a:avLst>
          </a:prstGeom>
          <a:solidFill>
            <a:srgbClr val="25395F"/>
          </a:solidFill>
          <a:ln w="12700">
            <a:solidFill>
              <a:srgbClr val="25395F"/>
            </a:solidFill>
            <a:prstDash val="solid"/>
          </a:ln>
        </p:spPr>
      </p:sp>
      <p:sp>
        <p:nvSpPr>
          <p:cNvPr id="9" name="Shape 6"/>
          <p:cNvSpPr/>
          <p:nvPr/>
        </p:nvSpPr>
        <p:spPr>
          <a:xfrm>
            <a:off x="859536" y="2888285"/>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3008986"/>
            <a:ext cx="160934" cy="160934"/>
          </a:xfrm>
          <a:prstGeom prst="rect">
            <a:avLst/>
          </a:prstGeom>
        </p:spPr>
      </p:pic>
      <p:sp>
        <p:nvSpPr>
          <p:cNvPr id="11" name="Text 7"/>
          <p:cNvSpPr/>
          <p:nvPr/>
        </p:nvSpPr>
        <p:spPr>
          <a:xfrm>
            <a:off x="1444752" y="2784653"/>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法律职业具有四项特征：专业性（教育、思维、话语、资格）、公共性（公正、秩序、信赖、普遍）、自治性（独立、组织、规则）与伦理性。</a:t>
            </a:r>
            <a:endParaRPr lang="en-US" sz="1600" dirty="0"/>
          </a:p>
        </p:txBody>
      </p:sp>
      <p:sp>
        <p:nvSpPr>
          <p:cNvPr id="12" name="Shape 8"/>
          <p:cNvSpPr/>
          <p:nvPr/>
        </p:nvSpPr>
        <p:spPr>
          <a:xfrm>
            <a:off x="566928" y="3680358"/>
            <a:ext cx="11057839" cy="612851"/>
          </a:xfrm>
          <a:prstGeom prst="roundRect">
            <a:avLst>
              <a:gd name="adj" fmla="val 11936"/>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834384"/>
            <a:ext cx="9997135" cy="3048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国家统一法律职业资格考试改革的三点进展：适用主体扩大、报考条件限缩、客观题与主观题两阶段考试。</a:t>
            </a:r>
            <a:endParaRPr lang="en-US" sz="1600" dirty="0"/>
          </a:p>
        </p:txBody>
      </p:sp>
      <p:sp>
        <p:nvSpPr>
          <p:cNvPr id="16" name="Shape 11"/>
          <p:cNvSpPr/>
          <p:nvPr/>
        </p:nvSpPr>
        <p:spPr>
          <a:xfrm>
            <a:off x="566928" y="4430370"/>
            <a:ext cx="11057839" cy="907491"/>
          </a:xfrm>
          <a:prstGeom prst="roundRect">
            <a:avLst>
              <a:gd name="adj" fmla="val 8061"/>
            </a:avLst>
          </a:prstGeom>
          <a:solidFill>
            <a:srgbClr val="25395F"/>
          </a:solidFill>
          <a:ln w="12700">
            <a:solidFill>
              <a:srgbClr val="25395F"/>
            </a:solidFill>
            <a:prstDash val="solid"/>
          </a:ln>
        </p:spPr>
      </p:sp>
      <p:sp>
        <p:nvSpPr>
          <p:cNvPr id="17" name="Shape 12"/>
          <p:cNvSpPr/>
          <p:nvPr/>
        </p:nvSpPr>
        <p:spPr>
          <a:xfrm>
            <a:off x="859536" y="468294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803648"/>
            <a:ext cx="160934" cy="160934"/>
          </a:xfrm>
          <a:prstGeom prst="rect">
            <a:avLst/>
          </a:prstGeom>
        </p:spPr>
      </p:pic>
      <p:sp>
        <p:nvSpPr>
          <p:cNvPr id="19" name="Text 13"/>
          <p:cNvSpPr/>
          <p:nvPr/>
        </p:nvSpPr>
        <p:spPr>
          <a:xfrm>
            <a:off x="1444752" y="4579315"/>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法律职业有广狭二义：狭义指法官、检察官、律师（及法学学者），广义涵盖一切从事法律工作的人员。规范的适用范围随之分层。</a:t>
            </a:r>
            <a:endParaRPr lang="en-US" sz="1600" dirty="0"/>
          </a:p>
        </p:txBody>
      </p:sp>
      <p:sp>
        <p:nvSpPr>
          <p:cNvPr id="20" name="Shape 14"/>
          <p:cNvSpPr/>
          <p:nvPr/>
        </p:nvSpPr>
        <p:spPr>
          <a:xfrm>
            <a:off x="566928" y="5475021"/>
            <a:ext cx="11057839" cy="907491"/>
          </a:xfrm>
          <a:prstGeom prst="roundRect">
            <a:avLst>
              <a:gd name="adj" fmla="val 8061"/>
            </a:avLst>
          </a:prstGeom>
          <a:solidFill>
            <a:srgbClr val="25395F"/>
          </a:solidFill>
          <a:ln w="12700">
            <a:solidFill>
              <a:srgbClr val="25395F"/>
            </a:solidFill>
            <a:prstDash val="solid"/>
          </a:ln>
        </p:spPr>
      </p:sp>
      <p:sp>
        <p:nvSpPr>
          <p:cNvPr id="21" name="Shape 15"/>
          <p:cNvSpPr/>
          <p:nvPr/>
        </p:nvSpPr>
        <p:spPr>
          <a:xfrm>
            <a:off x="859536" y="572759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848299"/>
            <a:ext cx="160934" cy="160934"/>
          </a:xfrm>
          <a:prstGeom prst="rect">
            <a:avLst/>
          </a:prstGeom>
        </p:spPr>
      </p:pic>
      <p:sp>
        <p:nvSpPr>
          <p:cNvPr id="23" name="Text 16"/>
          <p:cNvSpPr/>
          <p:nvPr/>
        </p:nvSpPr>
        <p:spPr>
          <a:xfrm>
            <a:off x="1444752" y="5623966"/>
            <a:ext cx="9997135" cy="609600"/>
          </a:xfrm>
          <a:prstGeom prst="rect">
            <a:avLst/>
          </a:prstGeom>
          <a:noFill/>
          <a:ln/>
        </p:spPr>
        <p:txBody>
          <a:bodyPr wrap="square" lIns="0" tIns="0" rIns="0" bIns="0" rtlCol="0" anchor="t"/>
          <a:lstStyle/>
          <a:p>
            <a:pPr indent="0" marL="0">
              <a:lnSpc>
                <a:spcPts val="2400"/>
              </a:lnSpc>
              <a:buNone/>
            </a:pPr>
            <a:r>
              <a:rPr lang="en-US" sz="1600" dirty="0">
                <a:solidFill>
                  <a:srgbClr val="E4E9F1"/>
                </a:solidFill>
                <a:latin typeface="微软雅黑" pitchFamily="34" charset="0"/>
                <a:ea typeface="微软雅黑" pitchFamily="34" charset="-122"/>
                <a:cs typeface="微软雅黑" pitchFamily="34" charset="-120"/>
              </a:rPr>
              <a:t>法律职业共同体建立在共同的知识、语言、思维与伦理之上，在我国仍是一个需要通过制度建设逐步实现的目标。</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第3课时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法律职业伦理的概念、性质与理论基础</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它究竟是道德还是法律？是自律还是他律？我们凭什么说一个行为“不合职业伦理”？</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法律职业伦理的概念、特征与规范构造</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功利主义、义务论、德性论三种伦理学进路</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角色道德与“律师职业非道德性”命题</a:t>
            </a:r>
            <a:endParaRPr lang="en-US" sz="1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从概念到判断标准</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一、职业伦理与法律职业伦理的概念</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二、法律职业伦理的三项特征</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三、性质之争：道德抑或法律，自律抑或他律</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四、三种伦理学进路及其在法律职业中的应用</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五、角色道德与“非道德性”命题</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六、职业伦理的评价体系：秩序、自由、正义、效率</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职业伦理与法律职业伦理的概念</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先把“伦理”“道德”“职业伦理”“法律职业伦理”这四个层层嵌套的概念理清楚</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03</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概念层级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四个概念的层层递进</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伦理（ethics）</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关于人与人之间应然关系的规范体系及其学理反思。汉语“伦”指人际关系的条理，“理”指其中的道理。伦理学是研究“应当如何行为”的学问，是哲学的分支。</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道德（morality）</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特定社会中被普遍接受的善恶评价与行为准则。伦理与道德常被混用；在严格用法上，伦理偏重规范体系与学理，道德偏重内心信念与社会评价。职业领域的规范通常称“伦理”，因其外在性、成文性更强。</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职业伦理（professional ethics）</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属于专业伦理学或应用伦理学的范畴。是某种职业的从业人员以伦理自然律为基础，根据本行业的专业知识经逻辑推演而形成的规范体系；随职业的出现而产生并逐步发展，是社会道德在职业领域的具体体现。</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法律职业伦理（legal ethics）</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指法律职业人员（包括法官、检察官、律师、仲裁员、公证员等）在其执业活动中所应当具备或遵循的、符合法律职业要求的心理意识、行为准则与规范的总和。</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04</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定义拆解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法律职业伦理定义中的四个要素</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请把定义拆开来读，每一个限定词都有其规范意义。</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主体要素：法律职业人员。</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不是所有懂法的人，而是取得法律职业资格、从事特定法律职业的人。这决定了规范的适用对象与惩戒的管辖。</a:t>
            </a:r>
            <a:endParaRPr lang="en-US" sz="1400" dirty="0"/>
          </a:p>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场域要素：在其执业活动中。</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原则上指向职务行为，但法律职业伦理的特殊性在于，它同时延伸到部分职外行为——法官不得从事营利性活动、律师不得有严重损害职业形象的行为，均属其例。</a:t>
            </a:r>
            <a:endParaRPr lang="en-US" sz="1400" dirty="0"/>
          </a:p>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内容要素：心理意识、行为准则与规范的总和。</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既包括内在的信念与职业认同（心理意识），也包括外在的、可被评价的行为标准（行为准则）。二者缺一不可：只有信念而无规则，无从评价；只有规则而无信念，必然规避。</a:t>
            </a:r>
            <a:endParaRPr lang="en-US" sz="1400" dirty="0"/>
          </a:p>
          <a:p>
            <a:pPr marL="228600" indent="-228600">
              <a:lnSpc>
                <a:spcPts val="2100"/>
              </a:lnSpc>
              <a:spcAft>
                <a:spcPts val="800"/>
              </a:spcAft>
              <a:buSzPct val="100000"/>
              <a:buChar char="■"/>
            </a:pPr>
            <a:r>
              <a:rPr lang="en-US" sz="1400" b="1" dirty="0">
                <a:solidFill>
                  <a:srgbClr val="32404F"/>
                </a:solidFill>
                <a:latin typeface="微软雅黑" pitchFamily="34" charset="0"/>
                <a:ea typeface="微软雅黑" pitchFamily="34" charset="-122"/>
                <a:cs typeface="微软雅黑" pitchFamily="34" charset="-120"/>
              </a:rPr>
              <a:t>标准要素：符合法律职业要求。</a:t>
            </a:r>
            <a:endParaRPr lang="en-US" sz="1400" dirty="0"/>
          </a:p>
          <a:p>
            <a:pPr lvl="1" marL="457200" indent="-228600">
              <a:lnSpc>
                <a:spcPts val="2100"/>
              </a:lnSpc>
              <a:spcAft>
                <a:spcPts val="800"/>
              </a:spcAft>
              <a:buSzPct val="100000"/>
              <a:buChar char="▫"/>
            </a:pPr>
            <a:r>
              <a:rPr lang="en-US" sz="1300" dirty="0">
                <a:solidFill>
                  <a:srgbClr val="6B7684"/>
                </a:solidFill>
                <a:latin typeface="微软雅黑" pitchFamily="34" charset="0"/>
                <a:ea typeface="微软雅黑" pitchFamily="34" charset="-122"/>
                <a:cs typeface="微软雅黑" pitchFamily="34" charset="-120"/>
              </a:rPr>
              <a:t>评价标准来自法律职业本身的角色定位，而非一般社会道德。这正是律师“为坏人辩护”不违反职业伦理的根本理由。</a:t>
            </a:r>
            <a:endParaRPr lang="en-US" sz="14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05</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法律职业伦理的三项特征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与一般职业道德相比，法律职业伦理在形式、基础与约束力上均有其特殊性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06</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三项特征</a:t>
            </a:r>
            <a:endParaRPr lang="en-US" sz="2800" dirty="0"/>
          </a:p>
        </p:txBody>
      </p:sp>
      <p:sp>
        <p:nvSpPr>
          <p:cNvPr id="4" name="Shape 2"/>
          <p:cNvSpPr/>
          <p:nvPr/>
        </p:nvSpPr>
        <p:spPr>
          <a:xfrm>
            <a:off x="566928" y="2181924"/>
            <a:ext cx="3527450" cy="3335401"/>
          </a:xfrm>
          <a:prstGeom prst="roundRect">
            <a:avLst>
              <a:gd name="adj" fmla="val 2741"/>
            </a:avLst>
          </a:prstGeom>
          <a:solidFill>
            <a:srgbClr val="F2F4F8"/>
          </a:solidFill>
          <a:ln w="12700">
            <a:solidFill>
              <a:srgbClr val="F2F4F8"/>
            </a:solidFill>
            <a:prstDash val="solid"/>
          </a:ln>
        </p:spPr>
      </p:sp>
      <p:sp>
        <p:nvSpPr>
          <p:cNvPr id="5" name="Shape 3"/>
          <p:cNvSpPr/>
          <p:nvPr/>
        </p:nvSpPr>
        <p:spPr>
          <a:xfrm>
            <a:off x="886968" y="2474532"/>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611692"/>
            <a:ext cx="182880" cy="182880"/>
          </a:xfrm>
          <a:prstGeom prst="rect">
            <a:avLst/>
          </a:prstGeom>
        </p:spPr>
      </p:pic>
      <p:sp>
        <p:nvSpPr>
          <p:cNvPr id="7" name="Text 4"/>
          <p:cNvSpPr/>
          <p:nvPr/>
        </p:nvSpPr>
        <p:spPr>
          <a:xfrm>
            <a:off x="886968"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高度成文化、制度化</a:t>
            </a:r>
            <a:endParaRPr lang="en-US" sz="1700" dirty="0"/>
          </a:p>
        </p:txBody>
      </p:sp>
      <p:sp>
        <p:nvSpPr>
          <p:cNvPr id="8" name="Text 5"/>
          <p:cNvSpPr/>
          <p:nvPr/>
        </p:nvSpPr>
        <p:spPr>
          <a:xfrm>
            <a:off x="886968"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现代法律职业伦理多以成文的、规范的形式加以表现，并诉诸制度化建构保障实现。它不停留于劝导，而是由法律、规章与行业规范加以规定，配有明确的构成要件与法律后果。</a:t>
            </a:r>
            <a:endParaRPr lang="en-US" sz="1450" dirty="0"/>
          </a:p>
        </p:txBody>
      </p:sp>
      <p:sp>
        <p:nvSpPr>
          <p:cNvPr id="9" name="Shape 6"/>
          <p:cNvSpPr/>
          <p:nvPr/>
        </p:nvSpPr>
        <p:spPr>
          <a:xfrm>
            <a:off x="4332122" y="2181924"/>
            <a:ext cx="3527450" cy="3335401"/>
          </a:xfrm>
          <a:prstGeom prst="roundRect">
            <a:avLst>
              <a:gd name="adj" fmla="val 2741"/>
            </a:avLst>
          </a:prstGeom>
          <a:solidFill>
            <a:srgbClr val="F6F1E8"/>
          </a:solidFill>
          <a:ln w="12700">
            <a:solidFill>
              <a:srgbClr val="F6F1E8"/>
            </a:solidFill>
            <a:prstDash val="solid"/>
          </a:ln>
        </p:spPr>
      </p:sp>
      <p:sp>
        <p:nvSpPr>
          <p:cNvPr id="10" name="Shape 7"/>
          <p:cNvSpPr/>
          <p:nvPr/>
        </p:nvSpPr>
        <p:spPr>
          <a:xfrm>
            <a:off x="4652162" y="2474532"/>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611692"/>
            <a:ext cx="182880" cy="182880"/>
          </a:xfrm>
          <a:prstGeom prst="rect">
            <a:avLst/>
          </a:prstGeom>
        </p:spPr>
      </p:pic>
      <p:sp>
        <p:nvSpPr>
          <p:cNvPr id="12" name="Text 8"/>
          <p:cNvSpPr/>
          <p:nvPr/>
        </p:nvSpPr>
        <p:spPr>
          <a:xfrm>
            <a:off x="4652162"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以品格为基础、以行为为导向</a:t>
            </a:r>
            <a:endParaRPr lang="en-US" sz="1700" dirty="0"/>
          </a:p>
        </p:txBody>
      </p:sp>
      <p:sp>
        <p:nvSpPr>
          <p:cNvPr id="13" name="Text 9"/>
          <p:cNvSpPr/>
          <p:nvPr/>
        </p:nvSpPr>
        <p:spPr>
          <a:xfrm>
            <a:off x="4652162"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注重以法律职业共同体中“人”的品格要求为基础，但以行为为导向加以调整，并以行为作为道德评价的对象。换言之：内心的动机不受追究，外在的行为才是评价对象。</a:t>
            </a:r>
            <a:endParaRPr lang="en-US" sz="1450" dirty="0"/>
          </a:p>
        </p:txBody>
      </p:sp>
      <p:sp>
        <p:nvSpPr>
          <p:cNvPr id="14" name="Shape 10"/>
          <p:cNvSpPr/>
          <p:nvPr/>
        </p:nvSpPr>
        <p:spPr>
          <a:xfrm>
            <a:off x="8097317" y="2181924"/>
            <a:ext cx="3527450" cy="3335401"/>
          </a:xfrm>
          <a:prstGeom prst="roundRect">
            <a:avLst>
              <a:gd name="adj" fmla="val 2741"/>
            </a:avLst>
          </a:prstGeom>
          <a:solidFill>
            <a:srgbClr val="ECF3F2"/>
          </a:solidFill>
          <a:ln w="12700">
            <a:solidFill>
              <a:srgbClr val="ECF3F2"/>
            </a:solidFill>
            <a:prstDash val="solid"/>
          </a:ln>
        </p:spPr>
      </p:sp>
      <p:sp>
        <p:nvSpPr>
          <p:cNvPr id="15" name="Shape 11"/>
          <p:cNvSpPr/>
          <p:nvPr/>
        </p:nvSpPr>
        <p:spPr>
          <a:xfrm>
            <a:off x="8417357" y="2474532"/>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611692"/>
            <a:ext cx="182880" cy="182880"/>
          </a:xfrm>
          <a:prstGeom prst="rect">
            <a:avLst/>
          </a:prstGeom>
        </p:spPr>
      </p:pic>
      <p:sp>
        <p:nvSpPr>
          <p:cNvPr id="17" name="Text 12"/>
          <p:cNvSpPr/>
          <p:nvPr/>
        </p:nvSpPr>
        <p:spPr>
          <a:xfrm>
            <a:off x="8417357"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建立在信念、角色与责任之上</a:t>
            </a:r>
            <a:endParaRPr lang="en-US" sz="1700" dirty="0"/>
          </a:p>
        </p:txBody>
      </p:sp>
      <p:sp>
        <p:nvSpPr>
          <p:cNvPr id="18" name="Text 13"/>
          <p:cNvSpPr/>
          <p:nvPr/>
        </p:nvSpPr>
        <p:spPr>
          <a:xfrm>
            <a:off x="8417357"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是建立在信念、角色和责任基础之上的规则体系，是法律职业共同体应遵行的、基于法律职业所形成的道德准则。它主要表现为两种形态：信念，以及基于角色之上的责任而形成的准则。</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07</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与一般道德的比较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法律职业伦理的三重特殊性</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主体的特定性</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法律职业伦理所规范的，是专门从事法律工作的法官、检察官、律师、公证员等法律职业人员，而非一般社会成员。同一行为，由法律人作出与由普通人作出，评价可能截然不同。</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职业的特殊性</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上述主体所从事的工作，直接关系到国家法律制度的实施和保障。其行为的外部性远大于一般职业，一次违规可能同时损害当事人利益、案件公正与制度公信。</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更强的约束性</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相对于一般社会道德而言，法律职业伦理具有更强的约束性：它有明确的规范文本、有专门的惩戒机构、有可执行的制裁措施，其中相当部分已经上升为法律义务，违反即产生法律责任。</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08</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性质之争：道德抑或法律，自律抑或他律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这两组争论并非概念游戏，它们直接决定违反职业伦理会产生什么后果</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09</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第一组争论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法律职业伦理是道德规范还是法律规范？</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道德规范说</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职业伦理源于职业共同体的内在信念，其效力基础是共同体的自我认同，而非国家强制。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许多要求（如“忠诚”“审慎”“敬业”）具有高度概括性，无法像法律规则那样精确适用。</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主要依靠行业自律与舆论评价实现，制裁手段是资格罚与声誉罚，而非人身罚、财产罚。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意义：强调职业伦理不能完全法律化，否则将丧失其引导与激励功能。</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法律规范说（通说：二元性）</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我国大量职业伦理要求直接规定于《律师法》《法官法》《检察官法》之中，具有法律强制力。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违反的后果包括行政处罚（警告、停止执业、吊销执业证书）乃至刑事责任。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行业规范虽非法律，但经法律授权制定，其惩戒决定可被司法审查，具有准法律效力。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通说：法律职业伦理兼具道德性与法律性，是法律制度的重要组成部分，也是法律得以执行的有效保障。</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10</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第二组争论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自律抑或他律？——我国的“两结合”体制</a:t>
            </a:r>
            <a:endParaRPr lang="en-US" sz="2800" dirty="0"/>
          </a:p>
        </p:txBody>
      </p:sp>
      <p:sp>
        <p:nvSpPr>
          <p:cNvPr id="4" name="Shape 2"/>
          <p:cNvSpPr/>
          <p:nvPr/>
        </p:nvSpPr>
        <p:spPr>
          <a:xfrm>
            <a:off x="566928" y="1574483"/>
            <a:ext cx="3527450" cy="45502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183051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8305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自律：行业自我管理</a:t>
            </a:r>
            <a:endParaRPr lang="en-US" sz="1600" dirty="0"/>
          </a:p>
        </p:txBody>
      </p:sp>
      <p:sp>
        <p:nvSpPr>
          <p:cNvPr id="7" name="Text 5"/>
          <p:cNvSpPr/>
          <p:nvPr/>
        </p:nvSpPr>
        <p:spPr>
          <a:xfrm>
            <a:off x="932688" y="2488883"/>
            <a:ext cx="2795930" cy="33981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由律师协会制定《律师执业行为规范》《律师职业道德基本准则》等行业规范。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由律协行业惩戒委员会实施训诫、通报批评、公开谴责、中止会员权利等行业处分。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理据：专业判断须由同行作出；独立性是履职的前提。</a:t>
            </a:r>
            <a:endParaRPr lang="en-US" sz="1450" dirty="0"/>
          </a:p>
        </p:txBody>
      </p:sp>
      <p:sp>
        <p:nvSpPr>
          <p:cNvPr id="8" name="Shape 6"/>
          <p:cNvSpPr/>
          <p:nvPr/>
        </p:nvSpPr>
        <p:spPr>
          <a:xfrm>
            <a:off x="4332122" y="1574483"/>
            <a:ext cx="3527450" cy="45502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183051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18305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他律：国家监督管理</a:t>
            </a:r>
            <a:endParaRPr lang="en-US" sz="1600" dirty="0"/>
          </a:p>
        </p:txBody>
      </p:sp>
      <p:sp>
        <p:nvSpPr>
          <p:cNvPr id="11" name="Text 9"/>
          <p:cNvSpPr/>
          <p:nvPr/>
        </p:nvSpPr>
        <p:spPr>
          <a:xfrm>
            <a:off x="4697882" y="2488883"/>
            <a:ext cx="2795930" cy="33981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由司法行政机关依《律师法》《律师执业管理办法》实施行政处罚。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措施包括警告、没收违法所得、罚款、停止执业、吊销律师执业证书。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理据：行业自治可能失灵；公共利益需要国家兜底保障。</a:t>
            </a:r>
            <a:endParaRPr lang="en-US" sz="1450" dirty="0"/>
          </a:p>
        </p:txBody>
      </p:sp>
      <p:sp>
        <p:nvSpPr>
          <p:cNvPr id="12" name="Shape 10"/>
          <p:cNvSpPr/>
          <p:nvPr/>
        </p:nvSpPr>
        <p:spPr>
          <a:xfrm>
            <a:off x="8097317" y="1574483"/>
            <a:ext cx="3527450" cy="45502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183051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18305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两结合体制</a:t>
            </a:r>
            <a:endParaRPr lang="en-US" sz="1600" dirty="0"/>
          </a:p>
        </p:txBody>
      </p:sp>
      <p:sp>
        <p:nvSpPr>
          <p:cNvPr id="15" name="Text 13"/>
          <p:cNvSpPr/>
          <p:nvPr/>
        </p:nvSpPr>
        <p:spPr>
          <a:xfrm>
            <a:off x="8463077" y="2488883"/>
            <a:ext cx="2795930" cy="33981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我国律师工作实行司法行政机关行政管理与律师协会行业自律相结合的管理体制。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法官、检察官则以国家管理为主：由法官、检察官惩戒委员会从专业角度审查，人民法院、人民检察院依规作出处理决定。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注意：行业处分与行政处罚可以并存，二者性质不同、程序不同、救济途径不同。</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11</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三种伦理学进路及其在法律职业中的应用</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当规范沉默时，你依据什么作出判断？伦理学提供的是三种不同的思考框架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12</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伦理学基础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功利主义 · 义务论 · 德性论</a:t>
            </a:r>
            <a:endParaRPr lang="en-US" sz="2800" dirty="0"/>
          </a:p>
        </p:txBody>
      </p:sp>
      <p:sp>
        <p:nvSpPr>
          <p:cNvPr id="4" name="Shape 2"/>
          <p:cNvSpPr/>
          <p:nvPr/>
        </p:nvSpPr>
        <p:spPr>
          <a:xfrm>
            <a:off x="566928" y="1905699"/>
            <a:ext cx="3527450" cy="38878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19830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335467"/>
            <a:ext cx="182880" cy="182880"/>
          </a:xfrm>
          <a:prstGeom prst="rect">
            <a:avLst/>
          </a:prstGeom>
        </p:spPr>
      </p:pic>
      <p:sp>
        <p:nvSpPr>
          <p:cNvPr id="7" name="Text 4"/>
          <p:cNvSpPr/>
          <p:nvPr/>
        </p:nvSpPr>
        <p:spPr>
          <a:xfrm>
            <a:off x="886968"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功利主义（结果论）</a:t>
            </a:r>
            <a:endParaRPr lang="en-US" sz="1700" dirty="0"/>
          </a:p>
        </p:txBody>
      </p:sp>
      <p:sp>
        <p:nvSpPr>
          <p:cNvPr id="8" name="Text 5"/>
          <p:cNvSpPr/>
          <p:nvPr/>
        </p:nvSpPr>
        <p:spPr>
          <a:xfrm>
            <a:off x="886968"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行为的正当性取决于其后果——能否带来最大多数人的最大幸福。代表人物：边沁、密尔。</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在法律职业中的体现：保密义务的辩护理由之一，正是“若允许律师披露，将摧毁整个辩护制度，长远看损害更大”。</a:t>
            </a:r>
            <a:endParaRPr lang="en-US" sz="1450" dirty="0"/>
          </a:p>
        </p:txBody>
      </p:sp>
      <p:sp>
        <p:nvSpPr>
          <p:cNvPr id="9" name="Shape 6"/>
          <p:cNvSpPr/>
          <p:nvPr/>
        </p:nvSpPr>
        <p:spPr>
          <a:xfrm>
            <a:off x="4332122" y="1905699"/>
            <a:ext cx="3527450" cy="38878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219830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335467"/>
            <a:ext cx="182880" cy="182880"/>
          </a:xfrm>
          <a:prstGeom prst="rect">
            <a:avLst/>
          </a:prstGeom>
        </p:spPr>
      </p:pic>
      <p:sp>
        <p:nvSpPr>
          <p:cNvPr id="12" name="Text 8"/>
          <p:cNvSpPr/>
          <p:nvPr/>
        </p:nvSpPr>
        <p:spPr>
          <a:xfrm>
            <a:off x="4652162"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义务论（道义论）</a:t>
            </a:r>
            <a:endParaRPr lang="en-US" sz="1700" dirty="0"/>
          </a:p>
        </p:txBody>
      </p:sp>
      <p:sp>
        <p:nvSpPr>
          <p:cNvPr id="13" name="Text 9"/>
          <p:cNvSpPr/>
          <p:nvPr/>
        </p:nvSpPr>
        <p:spPr>
          <a:xfrm>
            <a:off x="4652162"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行为的正当性取决于其是否符合义务本身，而非后果。康德：“人是目的，不能仅作为手段。”</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在法律职业中的体现：法官必须回避，不是因为回避会带来好结果，而是因为中立本身就是裁判者的义务。</a:t>
            </a:r>
            <a:endParaRPr lang="en-US" sz="1450" dirty="0"/>
          </a:p>
        </p:txBody>
      </p:sp>
      <p:sp>
        <p:nvSpPr>
          <p:cNvPr id="14" name="Shape 10"/>
          <p:cNvSpPr/>
          <p:nvPr/>
        </p:nvSpPr>
        <p:spPr>
          <a:xfrm>
            <a:off x="8097317" y="1905699"/>
            <a:ext cx="3527450" cy="38878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219830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335467"/>
            <a:ext cx="182880" cy="182880"/>
          </a:xfrm>
          <a:prstGeom prst="rect">
            <a:avLst/>
          </a:prstGeom>
        </p:spPr>
      </p:pic>
      <p:sp>
        <p:nvSpPr>
          <p:cNvPr id="17" name="Text 12"/>
          <p:cNvSpPr/>
          <p:nvPr/>
        </p:nvSpPr>
        <p:spPr>
          <a:xfrm>
            <a:off x="8417357"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德性论</a:t>
            </a:r>
            <a:endParaRPr lang="en-US" sz="1700" dirty="0"/>
          </a:p>
        </p:txBody>
      </p:sp>
      <p:sp>
        <p:nvSpPr>
          <p:cNvPr id="18" name="Text 13"/>
          <p:cNvSpPr/>
          <p:nvPr/>
        </p:nvSpPr>
        <p:spPr>
          <a:xfrm>
            <a:off x="8417357"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关注“成为怎样的人”而非“遵守哪条规则”。亚里士多德：德性是在实践中养成的品格。</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在法律职业中的体现：《法官职业道德基本准则》《律师职业道德基本准则》中大量使用“忠诚”“公正”“廉洁”等品格词，走的正是德性论进路。</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13</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三种进路的实战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同一个问题，三种论证路径</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方法示范</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律师是否应当为明知有罪的被告人作无罪辩护？</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设例：某抢劫案被告人在会见中向律师承认作案，但侦查程序存在重大瑕疵，关键证据可能被排除。被告人要求律师作无罪辩护。律师应当如何处理？</a:t>
            </a:r>
            <a:endParaRPr lang="en-US" sz="1350" dirty="0"/>
          </a:p>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功利主义进路】考察后果：若律师因当事人私下认罪即拒绝作证据不足的辩护，长远看会使被告人不敢对律师说实话，辩护制度整体失效；同时也会放任非法取证，损害程序法治。因此，就证据不足作无罪辩护，总体后果更优。</a:t>
            </a:r>
            <a:endParaRPr lang="en-US" sz="1350" dirty="0"/>
          </a:p>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【义务论进路】考察义务本身：律师负有忠实于委托人合法权益、维护法律正确实施的义务；证明被告人有罪是控方的责任，律师就控方举证不足提出质疑，本身即为其角色义务的履行，无须以后果好坏为条件。</a:t>
            </a:r>
            <a:endParaRPr lang="en-US" sz="1350" dirty="0"/>
          </a:p>
          <a:p>
            <a:pPr indent="0" marL="0">
              <a:lnSpc>
                <a:spcPts val="2052"/>
              </a:lnSpc>
              <a:spcAft>
                <a:spcPts val="800"/>
              </a:spcAft>
              <a:buNone/>
            </a:pPr>
            <a:r>
              <a:rPr lang="en-US" sz="1350" dirty="0">
                <a:solidFill>
                  <a:srgbClr val="32404F"/>
                </a:solidFill>
                <a:latin typeface="微软雅黑" pitchFamily="34" charset="0"/>
                <a:ea typeface="微软雅黑" pitchFamily="34" charset="-122"/>
                <a:cs typeface="微软雅黑" pitchFamily="34" charset="-120"/>
              </a:rPr>
              <a:t>【德性论进路】考察品格：一名有德性的律师，应当兼具忠诚与审慎、勇气与诚实。他会为当事人尽最大努力，但不会伪造证据、教唆伪证；他会指出控方证据的不足，但不会向法庭作虚假陈述。德性论给出的不是一条规则，而是一种分寸感。</a:t>
            </a:r>
            <a:endParaRPr lang="en-US" sz="135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三种进路的结论一致吗？在什么情形下会分歧？</a:t>
            </a:r>
            <a:endParaRPr lang="en-US" sz="1400" dirty="0"/>
          </a:p>
        </p:txBody>
      </p:sp>
      <p:sp>
        <p:nvSpPr>
          <p:cNvPr id="14" name="Shape 12"/>
          <p:cNvSpPr/>
          <p:nvPr/>
        </p:nvSpPr>
        <p:spPr>
          <a:xfrm>
            <a:off x="7958023" y="348094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48094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18053"/>
            <a:ext cx="2971800" cy="8001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如果律师改为“提出被告人不在现场”的积极辩护，三种进路的评价会不会改变？</a:t>
            </a:r>
            <a:endParaRPr lang="en-US" sz="1400" dirty="0"/>
          </a:p>
        </p:txBody>
      </p:sp>
      <p:sp>
        <p:nvSpPr>
          <p:cNvPr id="17" name="Shape 15"/>
          <p:cNvSpPr/>
          <p:nvPr/>
        </p:nvSpPr>
        <p:spPr>
          <a:xfrm>
            <a:off x="7958023" y="461924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61924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48970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你认为我国现行规范采取的是哪一种进路？</a:t>
            </a:r>
            <a:endParaRPr lang="en-US" sz="14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14</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方法论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请把三种进路当作“检查清单”而非“立场选择”</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我不要求各位在功利主义、义务论、德性论之间选边站队。我要求的是：遇到伦理难题时，依次用三个问题检查自己的判断。</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第一问（后果）：如果所有处在我这个位置的人都这样做，会产生什么后果？制度会变好还是变坏？</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第二问（义务）：我这个角色的义务是什么？我的选择是在履行义务，还是在为了好结果而牺牲义务？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第三问（品格）：一个我所敬重的、有德性的资深同行，处在我的位置上会怎么做？我的选择说出去，我敢不敢承认？</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当三个问题给出同一答案时，你可以放心去做；当它们互相冲突时，说明这是一个真正的伦理难题——此时最重要的不是找到“正确答案”，而是把冲突记录下来、把理由说清楚、必要时寻求同事或律协的意见。</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15</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角色道德与“非道德性”命题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法律职业伦理最具挑战性、也最容易被误解的一个理论问题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16</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理论核心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角色道德（role morality）的三个命题</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命题一：角色产生特殊义务</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占据某个制度角色的人，因该角色而承担了普通人所没有的义务，也获得了普通人所没有的许可。医生可以切开病人的身体，辩护人可以质疑被害人的陈述——这些行为在角色之外将是不可接受的。</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命题二：角色义务可以阻却一般道德评价</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这就是所谓的“职业分离命题”（the principle of non-accountability）：律师不因其当事人的目的或品行而受道德归责。他被视为制度分工中的一环，而非当事人行为的道德共犯。</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命题三：阻却是有限度的</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角色不是道德豁免权。律师不得伪造证据、不得教唆伪证、不得向法庭作虚假陈述、不得协助当事人实施新的犯罪。角色义务只能在“法律允许的手段”范围内阻却道德评价，越界即失去保护。</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17</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争议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“律师职业的非道德性”：一个需要精确理解的命题</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该命题的正确含义</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“非道德”（amoral）不等于“不道德”（immoral），而是指“不由律师个人作道德判断”。</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律师首要的伦理要求是对委托人的诚信义务与忠诚义务；道德上的最终评价交由法庭依据法律作出。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理由：若每个律师都以自己的道德判断筛选当事人，无人代理的当事人将丧失接近正义的机会；且律师并不掌握全部事实，其道德判断未必可靠。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这一命题保护的是“任何人都有权获得辩护”这一宪法性原则。</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该命题的边界</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不得因此协助违法：《律师法》第四十条明确列举了律师执业中的禁止行为。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不得因此丧失独立性：律师是独立的执业人员，不是当事人的传声筒，有权拒绝当事人的不当要求。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不得因此免于选择：律师有权决定是否接受委托（法律援助指定除外），这一选择权本身即是道德主体性的体现。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学界批评：过度强调非道德性，可能使律师沦为“雇佣枪手”，侵蚀职业的公共性。</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18</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边界的规范表达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角色义务的法定界限</a:t>
            </a:r>
            <a:endParaRPr lang="en-US" sz="2800" dirty="0"/>
          </a:p>
        </p:txBody>
      </p:sp>
      <p:sp>
        <p:nvSpPr>
          <p:cNvPr id="4" name="Shape 2"/>
          <p:cNvSpPr/>
          <p:nvPr/>
        </p:nvSpPr>
        <p:spPr>
          <a:xfrm>
            <a:off x="566928" y="1502220"/>
            <a:ext cx="11057839" cy="3337941"/>
          </a:xfrm>
          <a:prstGeom prst="roundRect">
            <a:avLst>
              <a:gd name="adj" fmla="val 2739"/>
            </a:avLst>
          </a:prstGeom>
          <a:solidFill>
            <a:srgbClr val="F6F1E8"/>
          </a:solidFill>
          <a:ln w="12700">
            <a:solidFill>
              <a:srgbClr val="F6F1E8"/>
            </a:solidFill>
            <a:prstDash val="solid"/>
          </a:ln>
        </p:spPr>
      </p:sp>
      <p:sp>
        <p:nvSpPr>
          <p:cNvPr id="5" name="Shape 3"/>
          <p:cNvSpPr/>
          <p:nvPr/>
        </p:nvSpPr>
        <p:spPr>
          <a:xfrm>
            <a:off x="877824" y="173996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73996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72167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《律师法》第四十条（节录）</a:t>
            </a:r>
            <a:endParaRPr lang="en-US" sz="1500" dirty="0"/>
          </a:p>
        </p:txBody>
      </p:sp>
      <p:sp>
        <p:nvSpPr>
          <p:cNvPr id="8" name="Text 6"/>
          <p:cNvSpPr/>
          <p:nvPr/>
        </p:nvSpPr>
        <p:spPr>
          <a:xfrm>
            <a:off x="960120" y="2142300"/>
            <a:ext cx="10271455" cy="24784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律师在执业活动中不得有下列行为：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（一）私自接受委托、收取费用，接受委托人的财物或者其他利益；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（二）利用提供法律服务的便利牟取当事人争议的权益；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（三）接受对方当事人的财物或者其他利益，与对方当事人或者第三人恶意串通，侵害委托人的权益；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（五）向法官、检察官、仲裁员以及其他有关工作人员行贿，介绍贿赂或者指使、诱导当事人行贿；</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（六）故意提供虚假证据或者威胁、利诱他人提供虚假证据，妨碍对方当事人合法取得证据；</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（七）煽动、教唆当事人采取扰乱公共秩序、危害公共安全等非法手段解决争议……</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第（六）项：“故意提供虚假证据或者威胁、利诱他人提供虚假证据”——这是角色义务的硬边界。忠诚于委托人，绝不包括为委托人造假。凡越过此线者，不再受“非道德性”命题的保护，且可能构成《刑法》第三百零六条辩护人妨害作证罪。</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19</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627757"/>
            <a:ext cx="8726119" cy="109728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职业伦理的评价体系：秩序、自由、正义、效率</a:t>
            </a:r>
            <a:endParaRPr lang="en-US" sz="3600" dirty="0"/>
          </a:p>
        </p:txBody>
      </p:sp>
      <p:sp>
        <p:nvSpPr>
          <p:cNvPr id="5" name="Text 3"/>
          <p:cNvSpPr/>
          <p:nvPr/>
        </p:nvSpPr>
        <p:spPr>
          <a:xfrm>
            <a:off x="2916936" y="390791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“善”是伦理评价的基本准则，但法律执业活动有其自身的价值坐标</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20</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评价标准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从一般的“善”到法律职业特有的评价体系</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94297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善”是伦理评价的基本准则。法律职业伦理也应以“善”作为评价标准，即“对法之善的实现度与促进度”。但法律执业活动有它自己的特点：它是在人类共有的理念与价值追求下所从事的职业活动。因此“善”在法律职业中的具体要求，必须与法律的理念和价值相融合。</a:t>
            </a:r>
            <a:endParaRPr lang="en-US" sz="1650" dirty="0"/>
          </a:p>
        </p:txBody>
      </p:sp>
      <p:sp>
        <p:nvSpPr>
          <p:cNvPr id="7" name="Text 4"/>
          <p:cNvSpPr/>
          <p:nvPr/>
        </p:nvSpPr>
        <p:spPr>
          <a:xfrm>
            <a:off x="1069848" y="2844927"/>
            <a:ext cx="10051999" cy="3226689"/>
          </a:xfrm>
          <a:prstGeom prst="rect">
            <a:avLst/>
          </a:prstGeom>
          <a:noFill/>
          <a:ln/>
        </p:spPr>
        <p:txBody>
          <a:bodyPr wrap="square" lIns="0" tIns="0" rIns="0" bIns="0" rtlCol="0" anchor="t"/>
          <a:lstStyle/>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秩序：秩序是法律的首要追求，秩序的存在是人类一切活动的必要前提。法律职业者的执业行为，首先应当有助于而非破坏既定的法律秩序。</a:t>
            </a:r>
            <a:endParaRPr lang="en-US" sz="1350" dirty="0"/>
          </a:p>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自由：自由自古以来就是人类的追求。法律表征为规则，但这个规则并不是为限制自由而设置，而是为保护自由而设。法律人应当时刻记得：规则的目的在于自由。</a:t>
            </a:r>
            <a:endParaRPr lang="en-US" sz="1350" dirty="0"/>
          </a:p>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正义：正义是人类社会的美德与崇高理想，是法律职业者执业活动的衡量标准。在立法中要衡量是否实现分配正义，在司法中要衡量是否实现程序正义。正义通过法律职业者的执业行为得以实现。</a:t>
            </a:r>
            <a:endParaRPr lang="en-US" sz="1350" dirty="0"/>
          </a:p>
          <a:p>
            <a:pPr marL="228600" indent="-228600">
              <a:lnSpc>
                <a:spcPts val="2025"/>
              </a:lnSpc>
              <a:spcAft>
                <a:spcPts val="800"/>
              </a:spcAft>
              <a:buSzPct val="100000"/>
              <a:buChar char="■"/>
            </a:pPr>
            <a:r>
              <a:rPr lang="en-US" sz="1350" dirty="0">
                <a:solidFill>
                  <a:srgbClr val="32404F"/>
                </a:solidFill>
                <a:latin typeface="微软雅黑" pitchFamily="34" charset="0"/>
                <a:ea typeface="微软雅黑" pitchFamily="34" charset="-122"/>
                <a:cs typeface="微软雅黑" pitchFamily="34" charset="-120"/>
              </a:rPr>
              <a:t>效率：效率同样是社会重要的美德与价值，是对法律职业者的评价之一。迟来的正义非正义。法律职业者应当学会在效率与公平之间取得平衡。</a:t>
            </a:r>
            <a:endParaRPr lang="en-US" sz="1350" dirty="0"/>
          </a:p>
          <a:p>
            <a:pPr marL="228600" indent="-228600">
              <a:lnSpc>
                <a:spcPts val="2025"/>
              </a:lnSpc>
              <a:spcAft>
                <a:spcPts val="800"/>
              </a:spcAft>
              <a:buSzPct val="100000"/>
              <a:buChar char="■"/>
            </a:pPr>
            <a:r>
              <a:rPr lang="en-US" sz="1350" b="1" dirty="0">
                <a:solidFill>
                  <a:srgbClr val="32404F"/>
                </a:solidFill>
                <a:latin typeface="微软雅黑" pitchFamily="34" charset="0"/>
                <a:ea typeface="微软雅黑" pitchFamily="34" charset="-122"/>
                <a:cs typeface="微软雅黑" pitchFamily="34" charset="-120"/>
              </a:rPr>
              <a:t>四者并非总是同向：追求效率可能损及程序正义，强调秩序可能压缩自由空间。职业伦理判断，很多时候正是在这四个价值之间作权衡。</a:t>
            </a:r>
            <a:endParaRPr lang="en-US" sz="13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21</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实践路径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职业伦理的践行：三个环节</a:t>
            </a:r>
            <a:endParaRPr lang="en-US" sz="2800" dirty="0"/>
          </a:p>
        </p:txBody>
      </p:sp>
      <p:sp>
        <p:nvSpPr>
          <p:cNvPr id="4" name="Shape 2"/>
          <p:cNvSpPr/>
          <p:nvPr/>
        </p:nvSpPr>
        <p:spPr>
          <a:xfrm>
            <a:off x="566928" y="2329891"/>
            <a:ext cx="3551834" cy="3039466"/>
          </a:xfrm>
          <a:prstGeom prst="roundRect">
            <a:avLst>
              <a:gd name="adj" fmla="val 3008"/>
            </a:avLst>
          </a:prstGeom>
          <a:solidFill>
            <a:srgbClr val="F2F4F8"/>
          </a:solidFill>
          <a:ln w="12700">
            <a:solidFill>
              <a:srgbClr val="F2F4F8"/>
            </a:solidFill>
            <a:prstDash val="solid"/>
          </a:ln>
        </p:spPr>
      </p:sp>
      <p:sp>
        <p:nvSpPr>
          <p:cNvPr id="5" name="Shape 3"/>
          <p:cNvSpPr/>
          <p:nvPr/>
        </p:nvSpPr>
        <p:spPr>
          <a:xfrm>
            <a:off x="2077669" y="2604211"/>
            <a:ext cx="530352" cy="530352"/>
          </a:xfrm>
          <a:prstGeom prst="ellipse">
            <a:avLst/>
          </a:prstGeom>
          <a:solidFill>
            <a:srgbClr val="13233F"/>
          </a:solidFill>
          <a:ln w="12700">
            <a:solidFill>
              <a:srgbClr val="13233F"/>
            </a:solidFill>
            <a:prstDash val="solid"/>
          </a:ln>
        </p:spPr>
      </p:sp>
      <p:sp>
        <p:nvSpPr>
          <p:cNvPr id="6" name="Text 4"/>
          <p:cNvSpPr/>
          <p:nvPr/>
        </p:nvSpPr>
        <p:spPr>
          <a:xfrm>
            <a:off x="2077669"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1</a:t>
            </a:r>
            <a:endParaRPr lang="en-US" sz="2100" dirty="0"/>
          </a:p>
        </p:txBody>
      </p:sp>
      <p:sp>
        <p:nvSpPr>
          <p:cNvPr id="7" name="Text 5"/>
          <p:cNvSpPr/>
          <p:nvPr/>
        </p:nvSpPr>
        <p:spPr>
          <a:xfrm>
            <a:off x="822960" y="3299155"/>
            <a:ext cx="3039770" cy="206375"/>
          </a:xfrm>
          <a:prstGeom prst="rect">
            <a:avLst/>
          </a:prstGeom>
          <a:noFill/>
          <a:ln/>
        </p:spPr>
        <p:txBody>
          <a:bodyPr wrap="square" lIns="0" tIns="0" rIns="0" bIns="0" rtlCol="0" anchor="t"/>
          <a:lstStyle/>
          <a:p>
            <a:pPr algn="ctr" indent="0" marL="0">
              <a:lnSpc>
                <a:spcPts val="1625"/>
              </a:lnSpc>
              <a:buNone/>
            </a:pPr>
            <a:r>
              <a:rPr lang="en-US" sz="1300" b="1" dirty="0">
                <a:solidFill>
                  <a:srgbClr val="13233F"/>
                </a:solidFill>
                <a:latin typeface="微软雅黑" pitchFamily="34" charset="0"/>
                <a:ea typeface="微软雅黑" pitchFamily="34" charset="-122"/>
                <a:cs typeface="微软雅黑" pitchFamily="34" charset="-120"/>
              </a:rPr>
              <a:t>以职业伦理指导立法</a:t>
            </a:r>
            <a:endParaRPr lang="en-US" sz="1300" dirty="0"/>
          </a:p>
        </p:txBody>
      </p:sp>
      <p:sp>
        <p:nvSpPr>
          <p:cNvPr id="8" name="Text 6"/>
          <p:cNvSpPr/>
          <p:nvPr/>
        </p:nvSpPr>
        <p:spPr>
          <a:xfrm>
            <a:off x="822960" y="3596970"/>
            <a:ext cx="3039770" cy="155293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立法为法律运行的其他环节提供规范蓝本。法治乃良法之治；立法过程应体现程序正义，做到民主、公开、互涉、自律、科学。</a:t>
            </a:r>
            <a:endParaRPr lang="en-US" sz="1350" dirty="0"/>
          </a:p>
        </p:txBody>
      </p:sp>
      <p:sp>
        <p:nvSpPr>
          <p:cNvPr id="9" name="Shape 7"/>
          <p:cNvSpPr/>
          <p:nvPr/>
        </p:nvSpPr>
        <p:spPr>
          <a:xfrm>
            <a:off x="4319930" y="2329891"/>
            <a:ext cx="3551834" cy="3039466"/>
          </a:xfrm>
          <a:prstGeom prst="roundRect">
            <a:avLst>
              <a:gd name="adj" fmla="val 3008"/>
            </a:avLst>
          </a:prstGeom>
          <a:solidFill>
            <a:srgbClr val="F2F4F8"/>
          </a:solidFill>
          <a:ln w="12700">
            <a:solidFill>
              <a:srgbClr val="F2F4F8"/>
            </a:solidFill>
            <a:prstDash val="solid"/>
          </a:ln>
        </p:spPr>
      </p:sp>
      <p:sp>
        <p:nvSpPr>
          <p:cNvPr id="10" name="Shape 8"/>
          <p:cNvSpPr/>
          <p:nvPr/>
        </p:nvSpPr>
        <p:spPr>
          <a:xfrm>
            <a:off x="5830672" y="2604211"/>
            <a:ext cx="530352" cy="530352"/>
          </a:xfrm>
          <a:prstGeom prst="ellipse">
            <a:avLst/>
          </a:prstGeom>
          <a:solidFill>
            <a:srgbClr val="13233F"/>
          </a:solidFill>
          <a:ln w="12700">
            <a:solidFill>
              <a:srgbClr val="13233F"/>
            </a:solidFill>
            <a:prstDash val="solid"/>
          </a:ln>
        </p:spPr>
      </p:sp>
      <p:sp>
        <p:nvSpPr>
          <p:cNvPr id="11" name="Text 9"/>
          <p:cNvSpPr/>
          <p:nvPr/>
        </p:nvSpPr>
        <p:spPr>
          <a:xfrm>
            <a:off x="5830672"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2</a:t>
            </a:r>
            <a:endParaRPr lang="en-US" sz="2100" dirty="0"/>
          </a:p>
        </p:txBody>
      </p:sp>
      <p:sp>
        <p:nvSpPr>
          <p:cNvPr id="12" name="Text 10"/>
          <p:cNvSpPr/>
          <p:nvPr/>
        </p:nvSpPr>
        <p:spPr>
          <a:xfrm>
            <a:off x="4575962" y="3299155"/>
            <a:ext cx="3039770" cy="206375"/>
          </a:xfrm>
          <a:prstGeom prst="rect">
            <a:avLst/>
          </a:prstGeom>
          <a:noFill/>
          <a:ln/>
        </p:spPr>
        <p:txBody>
          <a:bodyPr wrap="square" lIns="0" tIns="0" rIns="0" bIns="0" rtlCol="0" anchor="t"/>
          <a:lstStyle/>
          <a:p>
            <a:pPr algn="ctr" indent="0" marL="0">
              <a:lnSpc>
                <a:spcPts val="1625"/>
              </a:lnSpc>
              <a:buNone/>
            </a:pPr>
            <a:r>
              <a:rPr lang="en-US" sz="1300" b="1" dirty="0">
                <a:solidFill>
                  <a:srgbClr val="13233F"/>
                </a:solidFill>
                <a:latin typeface="微软雅黑" pitchFamily="34" charset="0"/>
                <a:ea typeface="微软雅黑" pitchFamily="34" charset="-122"/>
                <a:cs typeface="微软雅黑" pitchFamily="34" charset="-120"/>
              </a:rPr>
              <a:t>以职业伦理指导法律适用</a:t>
            </a:r>
            <a:endParaRPr lang="en-US" sz="1300" dirty="0"/>
          </a:p>
        </p:txBody>
      </p:sp>
      <p:sp>
        <p:nvSpPr>
          <p:cNvPr id="13" name="Text 11"/>
          <p:cNvSpPr/>
          <p:nvPr/>
        </p:nvSpPr>
        <p:spPr>
          <a:xfrm>
            <a:off x="4575962" y="3596970"/>
            <a:ext cx="3039770" cy="155293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法律的生命力在于实施，而实施的程度与效果取决于法律职业者的素质。法律职业者需依靠法学知识与职业伦理，对具体个案作出判断与处理。这是职业伦理外化并直接作用于社会的关键环节。</a:t>
            </a:r>
            <a:endParaRPr lang="en-US" sz="1350" dirty="0"/>
          </a:p>
        </p:txBody>
      </p:sp>
      <p:sp>
        <p:nvSpPr>
          <p:cNvPr id="14" name="Shape 12"/>
          <p:cNvSpPr/>
          <p:nvPr/>
        </p:nvSpPr>
        <p:spPr>
          <a:xfrm>
            <a:off x="8072933" y="2329891"/>
            <a:ext cx="3551834" cy="3039466"/>
          </a:xfrm>
          <a:prstGeom prst="roundRect">
            <a:avLst>
              <a:gd name="adj" fmla="val 3008"/>
            </a:avLst>
          </a:prstGeom>
          <a:solidFill>
            <a:srgbClr val="F2F4F8"/>
          </a:solidFill>
          <a:ln w="12700">
            <a:solidFill>
              <a:srgbClr val="F2F4F8"/>
            </a:solidFill>
            <a:prstDash val="solid"/>
          </a:ln>
        </p:spPr>
      </p:sp>
      <p:sp>
        <p:nvSpPr>
          <p:cNvPr id="15" name="Shape 13"/>
          <p:cNvSpPr/>
          <p:nvPr/>
        </p:nvSpPr>
        <p:spPr>
          <a:xfrm>
            <a:off x="9583674" y="2604211"/>
            <a:ext cx="530352" cy="530352"/>
          </a:xfrm>
          <a:prstGeom prst="ellipse">
            <a:avLst/>
          </a:prstGeom>
          <a:solidFill>
            <a:srgbClr val="13233F"/>
          </a:solidFill>
          <a:ln w="12700">
            <a:solidFill>
              <a:srgbClr val="13233F"/>
            </a:solidFill>
            <a:prstDash val="solid"/>
          </a:ln>
        </p:spPr>
      </p:sp>
      <p:sp>
        <p:nvSpPr>
          <p:cNvPr id="16" name="Text 14"/>
          <p:cNvSpPr/>
          <p:nvPr/>
        </p:nvSpPr>
        <p:spPr>
          <a:xfrm>
            <a:off x="9583674"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3</a:t>
            </a:r>
            <a:endParaRPr lang="en-US" sz="2100" dirty="0"/>
          </a:p>
        </p:txBody>
      </p:sp>
      <p:sp>
        <p:nvSpPr>
          <p:cNvPr id="17" name="Text 15"/>
          <p:cNvSpPr/>
          <p:nvPr/>
        </p:nvSpPr>
        <p:spPr>
          <a:xfrm>
            <a:off x="8328965" y="3299155"/>
            <a:ext cx="3039770" cy="206375"/>
          </a:xfrm>
          <a:prstGeom prst="rect">
            <a:avLst/>
          </a:prstGeom>
          <a:noFill/>
          <a:ln/>
        </p:spPr>
        <p:txBody>
          <a:bodyPr wrap="square" lIns="0" tIns="0" rIns="0" bIns="0" rtlCol="0" anchor="t"/>
          <a:lstStyle/>
          <a:p>
            <a:pPr algn="ctr" indent="0" marL="0">
              <a:lnSpc>
                <a:spcPts val="1625"/>
              </a:lnSpc>
              <a:buNone/>
            </a:pPr>
            <a:r>
              <a:rPr lang="en-US" sz="1300" b="1" dirty="0">
                <a:solidFill>
                  <a:srgbClr val="13233F"/>
                </a:solidFill>
                <a:latin typeface="微软雅黑" pitchFamily="34" charset="0"/>
                <a:ea typeface="微软雅黑" pitchFamily="34" charset="-122"/>
                <a:cs typeface="微软雅黑" pitchFamily="34" charset="-120"/>
              </a:rPr>
              <a:t>以职业伦理指导法律服务</a:t>
            </a:r>
            <a:endParaRPr lang="en-US" sz="1300" dirty="0"/>
          </a:p>
        </p:txBody>
      </p:sp>
      <p:sp>
        <p:nvSpPr>
          <p:cNvPr id="18" name="Text 16"/>
          <p:cNvSpPr/>
          <p:nvPr/>
        </p:nvSpPr>
        <p:spPr>
          <a:xfrm>
            <a:off x="8328965" y="3596970"/>
            <a:ext cx="3039770" cy="155293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律师的主要工作是法律服务，其职业道德具有鲜明的自律性特点，且经常面临道德冲突——如维护法的精神与保护当事人利益之间的冲突。处理道德冲突的过程，正是重要的伦理践行过程。</a:t>
            </a:r>
            <a:endParaRPr lang="en-US" sz="1350" dirty="0"/>
          </a:p>
        </p:txBody>
      </p:sp>
      <p:sp>
        <p:nvSpPr>
          <p:cNvPr id="19" name="Text 1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22</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“非道德性”命题主张律师不因当事人的品行而受道德归责。那么，一名长期为电信诈骗集团提供“合规咨询”的律师，能否以此为自己辩护？请指出边界所在。</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功利主义与义务论在保密义务问题上会得出相同结论吗？如果一名律师确信披露某项秘密能挽救一条生命，但规范明确禁止披露，他应当怎么做？他事后应当承担什么责任？</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《法官职业道德基本准则》大量使用“忠诚”“公正”“廉洁”等品格词，而《律师执业行为规范》则多用“不得……”的禁止性表述。这两种立法技术各自的优点与局限是什么？</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秩序、自由、正义、效率四项价值发生冲突时，法律职业者应当依据什么位阶作出选择？位阶是固定的，还是依情境而变？</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第3课时 · 23</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第3课时要点回顾</a:t>
            </a:r>
            <a:endParaRPr lang="en-US" sz="3000" dirty="0"/>
          </a:p>
        </p:txBody>
      </p:sp>
      <p:sp>
        <p:nvSpPr>
          <p:cNvPr id="4" name="Shape 2"/>
          <p:cNvSpPr/>
          <p:nvPr/>
        </p:nvSpPr>
        <p:spPr>
          <a:xfrm>
            <a:off x="566928" y="1591056"/>
            <a:ext cx="11057839" cy="813181"/>
          </a:xfrm>
          <a:prstGeom prst="roundRect">
            <a:avLst>
              <a:gd name="adj" fmla="val 8996"/>
            </a:avLst>
          </a:prstGeom>
          <a:solidFill>
            <a:srgbClr val="25395F"/>
          </a:solidFill>
          <a:ln w="12700">
            <a:solidFill>
              <a:srgbClr val="25395F"/>
            </a:solidFill>
            <a:prstDash val="solid"/>
          </a:ln>
        </p:spPr>
      </p:sp>
      <p:sp>
        <p:nvSpPr>
          <p:cNvPr id="5" name="Shape 3"/>
          <p:cNvSpPr/>
          <p:nvPr/>
        </p:nvSpPr>
        <p:spPr>
          <a:xfrm>
            <a:off x="859536" y="1796479"/>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17179"/>
            <a:ext cx="160934" cy="160934"/>
          </a:xfrm>
          <a:prstGeom prst="rect">
            <a:avLst/>
          </a:prstGeom>
        </p:spPr>
      </p:pic>
      <p:sp>
        <p:nvSpPr>
          <p:cNvPr id="7" name="Text 4"/>
          <p:cNvSpPr/>
          <p:nvPr/>
        </p:nvSpPr>
        <p:spPr>
          <a:xfrm>
            <a:off x="1444752" y="1730947"/>
            <a:ext cx="9997135"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法律职业伦理，指法律职业人员在执业活动中所应具备或遵循的、符合法律职业要求的心理意识、行为准则与规范的总和；其定义包含主体、场域、内容、标准四个要素。</a:t>
            </a:r>
            <a:endParaRPr lang="en-US" sz="1400" dirty="0"/>
          </a:p>
        </p:txBody>
      </p:sp>
      <p:sp>
        <p:nvSpPr>
          <p:cNvPr id="8" name="Shape 5"/>
          <p:cNvSpPr/>
          <p:nvPr/>
        </p:nvSpPr>
        <p:spPr>
          <a:xfrm>
            <a:off x="566928" y="2541397"/>
            <a:ext cx="11057839" cy="813181"/>
          </a:xfrm>
          <a:prstGeom prst="roundRect">
            <a:avLst>
              <a:gd name="adj" fmla="val 8996"/>
            </a:avLst>
          </a:prstGeom>
          <a:solidFill>
            <a:srgbClr val="25395F"/>
          </a:solidFill>
          <a:ln w="12700">
            <a:solidFill>
              <a:srgbClr val="25395F"/>
            </a:solidFill>
            <a:prstDash val="solid"/>
          </a:ln>
        </p:spPr>
      </p:sp>
      <p:sp>
        <p:nvSpPr>
          <p:cNvPr id="9" name="Shape 6"/>
          <p:cNvSpPr/>
          <p:nvPr/>
        </p:nvSpPr>
        <p:spPr>
          <a:xfrm>
            <a:off x="859536" y="2746820"/>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867520"/>
            <a:ext cx="160934" cy="160934"/>
          </a:xfrm>
          <a:prstGeom prst="rect">
            <a:avLst/>
          </a:prstGeom>
        </p:spPr>
      </p:pic>
      <p:sp>
        <p:nvSpPr>
          <p:cNvPr id="11" name="Text 7"/>
          <p:cNvSpPr/>
          <p:nvPr/>
        </p:nvSpPr>
        <p:spPr>
          <a:xfrm>
            <a:off x="1444752" y="2681288"/>
            <a:ext cx="9997135"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三项特征：高度成文化与制度化；以品格为基础而以行为为评价对象；建立在信念、角色与责任之上。与一般道德相比，具有主体特定性、职业特殊性与更强的约束性。</a:t>
            </a:r>
            <a:endParaRPr lang="en-US" sz="1400" dirty="0"/>
          </a:p>
        </p:txBody>
      </p:sp>
      <p:sp>
        <p:nvSpPr>
          <p:cNvPr id="12" name="Shape 8"/>
          <p:cNvSpPr/>
          <p:nvPr/>
        </p:nvSpPr>
        <p:spPr>
          <a:xfrm>
            <a:off x="566928" y="3491738"/>
            <a:ext cx="11057839" cy="555371"/>
          </a:xfrm>
          <a:prstGeom prst="roundRect">
            <a:avLst>
              <a:gd name="adj" fmla="val 13172"/>
            </a:avLst>
          </a:prstGeom>
          <a:solidFill>
            <a:srgbClr val="25395F"/>
          </a:solidFill>
          <a:ln w="12700">
            <a:solidFill>
              <a:srgbClr val="25395F"/>
            </a:solidFill>
            <a:prstDash val="solid"/>
          </a:ln>
        </p:spPr>
      </p:sp>
      <p:sp>
        <p:nvSpPr>
          <p:cNvPr id="13" name="Shape 9"/>
          <p:cNvSpPr/>
          <p:nvPr/>
        </p:nvSpPr>
        <p:spPr>
          <a:xfrm>
            <a:off x="859536" y="3574034"/>
            <a:ext cx="390779" cy="390779"/>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6770" y="3691268"/>
            <a:ext cx="156312" cy="156312"/>
          </a:xfrm>
          <a:prstGeom prst="rect">
            <a:avLst/>
          </a:prstGeom>
        </p:spPr>
      </p:pic>
      <p:sp>
        <p:nvSpPr>
          <p:cNvPr id="15" name="Text 10"/>
          <p:cNvSpPr/>
          <p:nvPr/>
        </p:nvSpPr>
        <p:spPr>
          <a:xfrm>
            <a:off x="1444752" y="3636074"/>
            <a:ext cx="9997135"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性质上兼具道德性与法律性；我国律师行业实行司法行政机关行政管理与律师协会行业自律相结合的“两结合”体制。</a:t>
            </a:r>
            <a:endParaRPr lang="en-US" sz="1400" dirty="0"/>
          </a:p>
        </p:txBody>
      </p:sp>
      <p:sp>
        <p:nvSpPr>
          <p:cNvPr id="16" name="Shape 11"/>
          <p:cNvSpPr/>
          <p:nvPr/>
        </p:nvSpPr>
        <p:spPr>
          <a:xfrm>
            <a:off x="566928" y="4184269"/>
            <a:ext cx="11057839" cy="555371"/>
          </a:xfrm>
          <a:prstGeom prst="roundRect">
            <a:avLst>
              <a:gd name="adj" fmla="val 13172"/>
            </a:avLst>
          </a:prstGeom>
          <a:solidFill>
            <a:srgbClr val="25395F"/>
          </a:solidFill>
          <a:ln w="12700">
            <a:solidFill>
              <a:srgbClr val="25395F"/>
            </a:solidFill>
            <a:prstDash val="solid"/>
          </a:ln>
        </p:spPr>
      </p:sp>
      <p:sp>
        <p:nvSpPr>
          <p:cNvPr id="17" name="Shape 12"/>
          <p:cNvSpPr/>
          <p:nvPr/>
        </p:nvSpPr>
        <p:spPr>
          <a:xfrm>
            <a:off x="859536" y="4266565"/>
            <a:ext cx="390779" cy="390779"/>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6770" y="4383799"/>
            <a:ext cx="156312" cy="156312"/>
          </a:xfrm>
          <a:prstGeom prst="rect">
            <a:avLst/>
          </a:prstGeom>
        </p:spPr>
      </p:pic>
      <p:sp>
        <p:nvSpPr>
          <p:cNvPr id="19" name="Text 13"/>
          <p:cNvSpPr/>
          <p:nvPr/>
        </p:nvSpPr>
        <p:spPr>
          <a:xfrm>
            <a:off x="1444752" y="4328605"/>
            <a:ext cx="9997135"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功利主义、义务论、德性论提供三种互补的判断框架。遇到难题时依次自问：后果如何？义务为何？有德性的同行会怎么做？</a:t>
            </a:r>
            <a:endParaRPr lang="en-US" sz="1400" dirty="0"/>
          </a:p>
        </p:txBody>
      </p:sp>
      <p:sp>
        <p:nvSpPr>
          <p:cNvPr id="20" name="Shape 14"/>
          <p:cNvSpPr/>
          <p:nvPr/>
        </p:nvSpPr>
        <p:spPr>
          <a:xfrm>
            <a:off x="566928" y="4876800"/>
            <a:ext cx="11057839" cy="813181"/>
          </a:xfrm>
          <a:prstGeom prst="roundRect">
            <a:avLst>
              <a:gd name="adj" fmla="val 8996"/>
            </a:avLst>
          </a:prstGeom>
          <a:solidFill>
            <a:srgbClr val="25395F"/>
          </a:solidFill>
          <a:ln w="12700">
            <a:solidFill>
              <a:srgbClr val="25395F"/>
            </a:solidFill>
            <a:prstDash val="solid"/>
          </a:ln>
        </p:spPr>
      </p:sp>
      <p:sp>
        <p:nvSpPr>
          <p:cNvPr id="21" name="Shape 15"/>
          <p:cNvSpPr/>
          <p:nvPr/>
        </p:nvSpPr>
        <p:spPr>
          <a:xfrm>
            <a:off x="859536" y="5082223"/>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202923"/>
            <a:ext cx="160934" cy="160934"/>
          </a:xfrm>
          <a:prstGeom prst="rect">
            <a:avLst/>
          </a:prstGeom>
        </p:spPr>
      </p:pic>
      <p:sp>
        <p:nvSpPr>
          <p:cNvPr id="23" name="Text 16"/>
          <p:cNvSpPr/>
          <p:nvPr/>
        </p:nvSpPr>
        <p:spPr>
          <a:xfrm>
            <a:off x="1444752" y="5016690"/>
            <a:ext cx="9997135"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角色道德使律师的行为在一定范围内免于一般道德归责，但绝不包括伪造证据、教唆伪证等越界行为——《律师法》第四十条即为其硬边界。</a:t>
            </a:r>
            <a:endParaRPr lang="en-US" sz="1400" dirty="0"/>
          </a:p>
        </p:txBody>
      </p:sp>
      <p:sp>
        <p:nvSpPr>
          <p:cNvPr id="24" name="Shape 17"/>
          <p:cNvSpPr/>
          <p:nvPr/>
        </p:nvSpPr>
        <p:spPr>
          <a:xfrm>
            <a:off x="566928" y="5827141"/>
            <a:ext cx="11057839" cy="555371"/>
          </a:xfrm>
          <a:prstGeom prst="roundRect">
            <a:avLst>
              <a:gd name="adj" fmla="val 13172"/>
            </a:avLst>
          </a:prstGeom>
          <a:solidFill>
            <a:srgbClr val="25395F"/>
          </a:solidFill>
          <a:ln w="12700">
            <a:solidFill>
              <a:srgbClr val="25395F"/>
            </a:solidFill>
            <a:prstDash val="solid"/>
          </a:ln>
        </p:spPr>
      </p:sp>
      <p:sp>
        <p:nvSpPr>
          <p:cNvPr id="25" name="Shape 18"/>
          <p:cNvSpPr/>
          <p:nvPr/>
        </p:nvSpPr>
        <p:spPr>
          <a:xfrm>
            <a:off x="859536" y="5909437"/>
            <a:ext cx="390779" cy="390779"/>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76770" y="6026671"/>
            <a:ext cx="156312" cy="156312"/>
          </a:xfrm>
          <a:prstGeom prst="rect">
            <a:avLst/>
          </a:prstGeom>
        </p:spPr>
      </p:pic>
      <p:sp>
        <p:nvSpPr>
          <p:cNvPr id="27" name="Text 19"/>
          <p:cNvSpPr/>
          <p:nvPr/>
        </p:nvSpPr>
        <p:spPr>
          <a:xfrm>
            <a:off x="1444752" y="5971477"/>
            <a:ext cx="9997135"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法律职业伦理的评价体系由秩序、自由、正义、效率四项价值构成，伦理判断常常是在四者之间的权衡。</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第4课时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法律职业伦理的渊源、体系与中外发展</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规范从哪里来？效力层级如何排列？当规范之间冲突时应当适用哪一个？</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我国法律职业伦理规范的五个效力层级</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律师、法官、检察官三大规范体系的具体构成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国际文件与域外经验：ABA规则与班加罗尔准则</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规范从哪里来</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一、渊源的概念：规范性与非规范性</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二、我国规范渊源的五个效力层级</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三、律师职业伦理规范体系</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四、法官与检察官职业伦理规范体系</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五、国际文件与域外比较</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六、中国法律职业伦理的历史脉络</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02</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渊源的概念：规范性与非规范性</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法律职业伦理的渊源，即法律职业伦理的表现形式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03</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分类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两类渊源</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规范性渊源（有文本、可援引）</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伦理性规范：《法官法》《检察官法》《律师法》《公证法》等法律中关于职业操守的规定。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行为规范：《法官职业道德基本准则》《法官行为规范》《检察官职业道德基本准则》《律师职业道德和执业纪律规范》《律师执业行为规范》等。</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特点：以成文形式表现，有明确构成要件与法律后果，可以直接援引，可以据以惩戒。</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这是本课程的主要研究对象。</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非规范性渊源（无文本、靠养成）</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法律职业道德习惯：长期实践中形成的不成文做法，如“律师不当庭指责对方律师人品”“法官不在庭外单独接触一方”。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法律职业意识：共同体成员对角色的自我认知与价值信念。</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法律职业礼仪：法庭着装、称谓、进出法庭的礼节、法袍与法槌的使用等。</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特点：不可直接援引惩戒，但塑造着规范的解释与适用，是共同体认同的载体。</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04</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为什么礼仪不是小事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非规范性渊源的功能</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不少同学认为法袍、法槌、称谓这些“形式”无关紧要。恰恰相反，它们承担着实质功能。</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象征功能：法袍使法官从“张某某”变成“法庭”。着装的统一意在提示：作出裁判的不是这个人的私意，而是这个角色所代表的法律。</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约束功能：仪式塑造心理状态。穿上法袍的人，行为方式会不自觉地趋向庄重。这是最低成本的自我约束机制。</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沟通功能：稳定的礼仪降低了误解的可能。当律师起立发言、法官居中而坐，双方对彼此的角色期待是清晰的。</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信赖功能：可见的仪式感是“看得见的正义”的组成部分。一个随意的、缺乏仪式的法庭，很难让当事人相信自己受到了郑重对待。</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所以，礼仪虽不可直接援引，却是职业伦理最日常、最持续的表达形式。</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05</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我国规范渊源的五个效力层级</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从宪法法律到行业规范，层级不同，效力不同，适用规则也不同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06</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效力层级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由高到低的五个层级</a:t>
            </a:r>
            <a:endParaRPr lang="en-US" sz="2800" dirty="0"/>
          </a:p>
        </p:txBody>
      </p:sp>
      <p:sp>
        <p:nvSpPr>
          <p:cNvPr id="4" name="Shape 2"/>
          <p:cNvSpPr/>
          <p:nvPr/>
        </p:nvSpPr>
        <p:spPr>
          <a:xfrm>
            <a:off x="566928" y="1316736"/>
            <a:ext cx="11057839" cy="954888"/>
          </a:xfrm>
          <a:prstGeom prst="roundRect">
            <a:avLst>
              <a:gd name="adj" fmla="val 7661"/>
            </a:avLst>
          </a:prstGeom>
          <a:solidFill>
            <a:srgbClr val="F2F4F8"/>
          </a:solidFill>
          <a:ln w="12700">
            <a:solidFill>
              <a:srgbClr val="F2F4F8"/>
            </a:solidFill>
            <a:prstDash val="solid"/>
          </a:ln>
        </p:spPr>
      </p:sp>
      <p:sp>
        <p:nvSpPr>
          <p:cNvPr id="5" name="Shape 3"/>
          <p:cNvSpPr/>
          <p:nvPr/>
        </p:nvSpPr>
        <p:spPr>
          <a:xfrm>
            <a:off x="841248" y="1556436"/>
            <a:ext cx="475488" cy="475488"/>
          </a:xfrm>
          <a:prstGeom prst="ellipse">
            <a:avLst/>
          </a:prstGeom>
          <a:solidFill>
            <a:srgbClr val="13233F"/>
          </a:solidFill>
          <a:ln w="12700">
            <a:solidFill>
              <a:srgbClr val="13233F"/>
            </a:solidFill>
            <a:prstDash val="solid"/>
          </a:ln>
        </p:spPr>
      </p:sp>
      <p:sp>
        <p:nvSpPr>
          <p:cNvPr id="6" name="Text 4"/>
          <p:cNvSpPr/>
          <p:nvPr/>
        </p:nvSpPr>
        <p:spPr>
          <a:xfrm>
            <a:off x="841248" y="1556436"/>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0490"/>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第一层　宪法与法律</a:t>
            </a:r>
            <a:endParaRPr lang="en-US" sz="1200" dirty="0"/>
          </a:p>
        </p:txBody>
      </p:sp>
      <p:sp>
        <p:nvSpPr>
          <p:cNvPr id="8" name="Text 6"/>
          <p:cNvSpPr/>
          <p:nvPr/>
        </p:nvSpPr>
        <p:spPr>
          <a:xfrm>
            <a:off x="1499616" y="1739570"/>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宪法》关于国家机关职权与公民权利的规定为整体框架；《律师法》《法官法》《检察官法》《公证法》为职业基本法；《刑事诉讼法》《民事诉讼法》《行政诉讼法》中关于辩护、代理、回避、保密的规定亦属之。由全国人大及其常委会制定，效力最高。</a:t>
            </a:r>
            <a:endParaRPr lang="en-US" sz="1000" dirty="0"/>
          </a:p>
        </p:txBody>
      </p:sp>
      <p:sp>
        <p:nvSpPr>
          <p:cNvPr id="9" name="Shape 7"/>
          <p:cNvSpPr/>
          <p:nvPr/>
        </p:nvSpPr>
        <p:spPr>
          <a:xfrm>
            <a:off x="566928" y="2390496"/>
            <a:ext cx="11057839" cy="770738"/>
          </a:xfrm>
          <a:prstGeom prst="roundRect">
            <a:avLst>
              <a:gd name="adj" fmla="val 9491"/>
            </a:avLst>
          </a:prstGeom>
          <a:solidFill>
            <a:srgbClr val="FFFFFF"/>
          </a:solidFill>
          <a:ln w="12700">
            <a:solidFill>
              <a:srgbClr val="D5DBE5"/>
            </a:solidFill>
            <a:prstDash val="solid"/>
          </a:ln>
        </p:spPr>
      </p:sp>
      <p:sp>
        <p:nvSpPr>
          <p:cNvPr id="10" name="Shape 8"/>
          <p:cNvSpPr/>
          <p:nvPr/>
        </p:nvSpPr>
        <p:spPr>
          <a:xfrm>
            <a:off x="841248" y="2538120"/>
            <a:ext cx="475488" cy="475488"/>
          </a:xfrm>
          <a:prstGeom prst="ellipse">
            <a:avLst/>
          </a:prstGeom>
          <a:solidFill>
            <a:srgbClr val="13233F"/>
          </a:solidFill>
          <a:ln w="12700">
            <a:solidFill>
              <a:srgbClr val="13233F"/>
            </a:solidFill>
            <a:prstDash val="solid"/>
          </a:ln>
        </p:spPr>
      </p:sp>
      <p:sp>
        <p:nvSpPr>
          <p:cNvPr id="11" name="Text 9"/>
          <p:cNvSpPr/>
          <p:nvPr/>
        </p:nvSpPr>
        <p:spPr>
          <a:xfrm>
            <a:off x="841248" y="2538120"/>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55424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第二层　行政法规与部门规章</a:t>
            </a:r>
            <a:endParaRPr lang="en-US" sz="1200" dirty="0"/>
          </a:p>
        </p:txBody>
      </p:sp>
      <p:sp>
        <p:nvSpPr>
          <p:cNvPr id="13" name="Text 11"/>
          <p:cNvSpPr/>
          <p:nvPr/>
        </p:nvSpPr>
        <p:spPr>
          <a:xfrm>
            <a:off x="1499616" y="2813329"/>
            <a:ext cx="9887407"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如司法部《律师执业管理办法》《律师事务所管理办法》《公证程序规则》等。它们是对《律师法》《公证法》的具体化，规定了准入、监管、行政处罚的具体规则与程序。</a:t>
            </a:r>
            <a:endParaRPr lang="en-US" sz="1000" dirty="0"/>
          </a:p>
        </p:txBody>
      </p:sp>
      <p:sp>
        <p:nvSpPr>
          <p:cNvPr id="14" name="Shape 12"/>
          <p:cNvSpPr/>
          <p:nvPr/>
        </p:nvSpPr>
        <p:spPr>
          <a:xfrm>
            <a:off x="566928" y="3280105"/>
            <a:ext cx="11057839" cy="954888"/>
          </a:xfrm>
          <a:prstGeom prst="roundRect">
            <a:avLst>
              <a:gd name="adj" fmla="val 7661"/>
            </a:avLst>
          </a:prstGeom>
          <a:solidFill>
            <a:srgbClr val="F2F4F8"/>
          </a:solidFill>
          <a:ln w="12700">
            <a:solidFill>
              <a:srgbClr val="F2F4F8"/>
            </a:solidFill>
            <a:prstDash val="solid"/>
          </a:ln>
        </p:spPr>
      </p:sp>
      <p:sp>
        <p:nvSpPr>
          <p:cNvPr id="15" name="Shape 13"/>
          <p:cNvSpPr/>
          <p:nvPr/>
        </p:nvSpPr>
        <p:spPr>
          <a:xfrm>
            <a:off x="841248" y="3519805"/>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351980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344385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第三层　司法解释与司法文件</a:t>
            </a:r>
            <a:endParaRPr lang="en-US" sz="1200" dirty="0"/>
          </a:p>
        </p:txBody>
      </p:sp>
      <p:sp>
        <p:nvSpPr>
          <p:cNvPr id="18" name="Text 16"/>
          <p:cNvSpPr/>
          <p:nvPr/>
        </p:nvSpPr>
        <p:spPr>
          <a:xfrm>
            <a:off x="1499616" y="370293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如最高人民法院《法官职业道德基本准则》《法官行为规范》《人民法院法庭规则》，最高人民检察院《检察官职业道德基本准则》《人民检察院刑事诉讼规则》，以及“防止干预司法三个规定”的实施办法等。</a:t>
            </a:r>
            <a:endParaRPr lang="en-US" sz="1000" dirty="0"/>
          </a:p>
        </p:txBody>
      </p:sp>
      <p:sp>
        <p:nvSpPr>
          <p:cNvPr id="19" name="Shape 17"/>
          <p:cNvSpPr/>
          <p:nvPr/>
        </p:nvSpPr>
        <p:spPr>
          <a:xfrm>
            <a:off x="566928" y="4353865"/>
            <a:ext cx="11057839" cy="954888"/>
          </a:xfrm>
          <a:prstGeom prst="roundRect">
            <a:avLst>
              <a:gd name="adj" fmla="val 7661"/>
            </a:avLst>
          </a:prstGeom>
          <a:solidFill>
            <a:srgbClr val="FFFFFF"/>
          </a:solidFill>
          <a:ln w="12700">
            <a:solidFill>
              <a:srgbClr val="D5DBE5"/>
            </a:solidFill>
            <a:prstDash val="solid"/>
          </a:ln>
        </p:spPr>
      </p:sp>
      <p:sp>
        <p:nvSpPr>
          <p:cNvPr id="20" name="Shape 18"/>
          <p:cNvSpPr/>
          <p:nvPr/>
        </p:nvSpPr>
        <p:spPr>
          <a:xfrm>
            <a:off x="841248" y="4593565"/>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459356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451761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第四层　行业自律规范</a:t>
            </a:r>
            <a:endParaRPr lang="en-US" sz="1200" dirty="0"/>
          </a:p>
        </p:txBody>
      </p:sp>
      <p:sp>
        <p:nvSpPr>
          <p:cNvPr id="23" name="Text 21"/>
          <p:cNvSpPr/>
          <p:nvPr/>
        </p:nvSpPr>
        <p:spPr>
          <a:xfrm>
            <a:off x="1499616" y="477669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中华全国律师协会制定的《律师执业行为规范》《律师职业道德基本准则》《律师协会会员违规行为处分规则》《律师办理刑事案件规范》等；地方律协的实施细则。虽非法律，但经法律授权，可据以行业惩戒。</a:t>
            </a:r>
            <a:endParaRPr lang="en-US" sz="1000" dirty="0"/>
          </a:p>
        </p:txBody>
      </p:sp>
      <p:sp>
        <p:nvSpPr>
          <p:cNvPr id="24" name="Shape 22"/>
          <p:cNvSpPr/>
          <p:nvPr/>
        </p:nvSpPr>
        <p:spPr>
          <a:xfrm>
            <a:off x="566928" y="5427624"/>
            <a:ext cx="11057839" cy="954888"/>
          </a:xfrm>
          <a:prstGeom prst="roundRect">
            <a:avLst>
              <a:gd name="adj" fmla="val 7661"/>
            </a:avLst>
          </a:prstGeom>
          <a:solidFill>
            <a:srgbClr val="F2F4F8"/>
          </a:solidFill>
          <a:ln w="12700">
            <a:solidFill>
              <a:srgbClr val="F2F4F8"/>
            </a:solidFill>
            <a:prstDash val="solid"/>
          </a:ln>
        </p:spPr>
      </p:sp>
      <p:sp>
        <p:nvSpPr>
          <p:cNvPr id="25" name="Shape 23"/>
          <p:cNvSpPr/>
          <p:nvPr/>
        </p:nvSpPr>
        <p:spPr>
          <a:xfrm>
            <a:off x="841248" y="5667324"/>
            <a:ext cx="475488" cy="475488"/>
          </a:xfrm>
          <a:prstGeom prst="ellipse">
            <a:avLst/>
          </a:prstGeom>
          <a:solidFill>
            <a:srgbClr val="13233F"/>
          </a:solidFill>
          <a:ln w="12700">
            <a:solidFill>
              <a:srgbClr val="13233F"/>
            </a:solidFill>
            <a:prstDash val="solid"/>
          </a:ln>
        </p:spPr>
      </p:sp>
      <p:sp>
        <p:nvSpPr>
          <p:cNvPr id="26" name="Text 24"/>
          <p:cNvSpPr/>
          <p:nvPr/>
        </p:nvSpPr>
        <p:spPr>
          <a:xfrm>
            <a:off x="841248" y="566732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499616" y="5591378"/>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第五层　党内法规与纪律规定</a:t>
            </a:r>
            <a:endParaRPr lang="en-US" sz="1200" dirty="0"/>
          </a:p>
        </p:txBody>
      </p:sp>
      <p:sp>
        <p:nvSpPr>
          <p:cNvPr id="28" name="Text 26"/>
          <p:cNvSpPr/>
          <p:nvPr/>
        </p:nvSpPr>
        <p:spPr>
          <a:xfrm>
            <a:off x="1499616" y="5850458"/>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如《中国共产党纪律处分条例》《关于建立健全惩治和预防腐败体系的意见》以及政法队伍教育整顿的相关规定。对具有党员身份的法律职业人员产生约束，与国家法律规范形成叠加适用。</a:t>
            </a:r>
            <a:endParaRPr lang="en-US" sz="100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07</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适用规则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当规范之间发生冲突时</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上位法优先</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行业规范不得与《律师法》等法律相抵触。若《律师执业行为规范》的某一条款被认为超越了《律师法》的授权范围，应当适用《律师法》。</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新法优先于旧法</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同一位阶的规范，后制定的优先。例如《律师执业行为规范》历经多次修订，应适用现行有效文本，注意查证版本与生效日期。</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特别规定优先于一般规定</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《律师办理刑事案件规范》相对于《律师执业行为规范》属特别规定，在刑事辩护领域优先适用；《律师法》第三十八条与《刑事诉讼法》第四十八条的关系亦需依此分析。</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从严不从宽的实践取向</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当行业规范的要求严于法律时，行业规范仍然有效——因为行业可以对成员提出高于法定底线的要求。反之，行业规范不得降低法定标准。</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08</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律师职业伦理规范体系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这是我国法律职业伦理中规范最密集、层次最完整的一个板块</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09</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律师规范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四部核心规范及其分工</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2374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《律师法》——基本法</a:t>
            </a:r>
            <a:endParaRPr lang="en-US" sz="1400" dirty="0"/>
          </a:p>
        </p:txBody>
      </p:sp>
      <p:sp>
        <p:nvSpPr>
          <p:cNvPr id="8" name="Text 5"/>
          <p:cNvSpPr/>
          <p:nvPr/>
        </p:nvSpPr>
        <p:spPr>
          <a:xfrm>
            <a:off x="1536192" y="182448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我国律师制度的基本法，也是律师职业伦理规范的重要组成部分。第四章“律师的业务和权利、义务”与律师执业行为密切相关，是对律师执业行为的具体指引，体现了极强的律师职业伦理规范特征；第六章“法律责任”规定了违反义务的行政处罚。</a:t>
            </a:r>
            <a:endParaRPr lang="en-US" sz="120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2676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《律师执业管理办法》——行政管理</a:t>
            </a:r>
            <a:endParaRPr lang="en-US" sz="1400" dirty="0"/>
          </a:p>
        </p:txBody>
      </p:sp>
      <p:sp>
        <p:nvSpPr>
          <p:cNvPr id="13" name="Text 9"/>
          <p:cNvSpPr/>
          <p:nvPr/>
        </p:nvSpPr>
        <p:spPr>
          <a:xfrm>
            <a:off x="1536192" y="312750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司法部规章，是对《律师法》的具体化。其中第四章“律师执业行为规范”对律师执业行为提出明确要求；第五章“司法行政机关的监督管理”规定了司法行政机关的行政处罚权限及程序。侧重于监督与管理。</a:t>
            </a:r>
            <a:endParaRPr lang="en-US" sz="120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2978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《律师执业行为规范》——行业核心规范</a:t>
            </a:r>
            <a:endParaRPr lang="en-US" sz="1400" dirty="0"/>
          </a:p>
        </p:txBody>
      </p:sp>
      <p:sp>
        <p:nvSpPr>
          <p:cNvPr id="18" name="Text 13"/>
          <p:cNvSpPr/>
          <p:nvPr/>
        </p:nvSpPr>
        <p:spPr>
          <a:xfrm>
            <a:off x="1536192" y="443052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立法目的虽与《律师执业管理办法》相类似，但后者更突出对律师的监督管理，而《律师执业行为规范》更注重规范律师行为，目前是我国律师职业最为重要的职业伦理规范。第二章“律师执业基本行为规范”对律师职业的基本价值取向、理想追求等带有强烈伦理性的内容作出规定。</a:t>
            </a:r>
            <a:endParaRPr lang="en-US" sz="120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32806"/>
            <a:ext cx="9832543" cy="227584"/>
          </a:xfrm>
          <a:prstGeom prst="rect">
            <a:avLst/>
          </a:prstGeom>
          <a:noFill/>
          <a:ln/>
        </p:spPr>
        <p:txBody>
          <a:bodyPr wrap="square" lIns="0" tIns="0" rIns="0" bIns="0" rtlCol="0" anchor="t"/>
          <a:lstStyle/>
          <a:p>
            <a:pPr indent="0" marL="0">
              <a:lnSpc>
                <a:spcPts val="1792"/>
              </a:lnSpc>
              <a:buNone/>
            </a:pPr>
            <a:r>
              <a:rPr lang="en-US" sz="1400" b="1" dirty="0">
                <a:solidFill>
                  <a:srgbClr val="13233F"/>
                </a:solidFill>
                <a:latin typeface="微软雅黑" pitchFamily="34" charset="0"/>
                <a:ea typeface="微软雅黑" pitchFamily="34" charset="-122"/>
                <a:cs typeface="微软雅黑" pitchFamily="34" charset="-120"/>
              </a:rPr>
              <a:t>《律师职业道德基本准则》——理念宣示</a:t>
            </a:r>
            <a:endParaRPr lang="en-US" sz="1400" dirty="0"/>
          </a:p>
        </p:txBody>
      </p:sp>
      <p:sp>
        <p:nvSpPr>
          <p:cNvPr id="23" name="Text 17"/>
          <p:cNvSpPr/>
          <p:nvPr/>
        </p:nvSpPr>
        <p:spPr>
          <a:xfrm>
            <a:off x="1536192" y="5733542"/>
            <a:ext cx="9832543" cy="441960"/>
          </a:xfrm>
          <a:prstGeom prst="rect">
            <a:avLst/>
          </a:prstGeom>
          <a:noFill/>
          <a:ln/>
        </p:spPr>
        <p:txBody>
          <a:bodyPr wrap="square" lIns="0" tIns="0" rIns="0" bIns="0" rtlCol="0" anchor="t"/>
          <a:lstStyle/>
          <a:p>
            <a:pPr indent="0" marL="0">
              <a:lnSpc>
                <a:spcPts val="1740"/>
              </a:lnSpc>
              <a:buNone/>
            </a:pPr>
            <a:r>
              <a:rPr lang="en-US" sz="1200" dirty="0">
                <a:solidFill>
                  <a:srgbClr val="32404F"/>
                </a:solidFill>
                <a:latin typeface="微软雅黑" pitchFamily="34" charset="0"/>
                <a:ea typeface="微软雅黑" pitchFamily="34" charset="-122"/>
                <a:cs typeface="微软雅黑" pitchFamily="34" charset="-120"/>
              </a:rPr>
              <a:t>中华全国律师协会依据司法部《关于进一步加强律师职业道德建设的意见》制定。属行业规定，具有很强的概括性与抽象性，主要发挥价值引领与理念宣示功能，不宜直接作为惩戒依据。</a:t>
            </a:r>
            <a:endParaRPr lang="en-US" sz="12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10</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配套规范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律师协会制定的其他规范</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除上述四部核心规范外，中华全国律师协会还制定了一系列配套规范，共同构成律师职业伦理规范的组成部分。</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《律师协会会员违规行为处分规则》——行业惩戒的程序法与处分种类的依据。</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《律师职业道德和执业纪律规范》——较早制定的综合性规范，仍具参考价值。</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《律师办理刑事案件规范》——刑事辩护领域的操作指引，涉及会见、阅卷、调查取证、质证等具体环节的行为界限。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《律师业务推广行为规则》——规范广告宣传、媒体发言、案件推介等行为。</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《律师执业风险防范指引》《律师承办民事诉讼案件业务操作指引》等业务规范——虽以“操作”为名，实含大量伦理要求。</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实务提示：律协规范体系庞杂且更新频繁。执业时请务必核对现行有效文本与修订日期，不可凭记忆援引。</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11</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伦理性条款示例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《律师法》中的伦理条款</a:t>
            </a:r>
            <a:endParaRPr lang="en-US" sz="2800" dirty="0"/>
          </a:p>
        </p:txBody>
      </p:sp>
      <p:sp>
        <p:nvSpPr>
          <p:cNvPr id="4" name="Shape 2"/>
          <p:cNvSpPr/>
          <p:nvPr/>
        </p:nvSpPr>
        <p:spPr>
          <a:xfrm>
            <a:off x="566928" y="1316736"/>
            <a:ext cx="11057839" cy="1338834"/>
          </a:xfrm>
          <a:prstGeom prst="roundRect">
            <a:avLst>
              <a:gd name="adj" fmla="val 683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《律师法》第二条第二款</a:t>
            </a:r>
            <a:endParaRPr lang="en-US" sz="1500" dirty="0"/>
          </a:p>
        </p:txBody>
      </p:sp>
      <p:sp>
        <p:nvSpPr>
          <p:cNvPr id="8" name="Text 6"/>
          <p:cNvSpPr/>
          <p:nvPr/>
        </p:nvSpPr>
        <p:spPr>
          <a:xfrm>
            <a:off x="960120" y="1956816"/>
            <a:ext cx="10271455" cy="479298"/>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律师应当维护当事人合法权益，维护法律正确实施，维护社会公平和正义。</a:t>
            </a:r>
            <a:endParaRPr lang="en-US" sz="1550" dirty="0"/>
          </a:p>
        </p:txBody>
      </p:sp>
      <p:sp>
        <p:nvSpPr>
          <p:cNvPr id="9" name="Shape 7"/>
          <p:cNvSpPr/>
          <p:nvPr/>
        </p:nvSpPr>
        <p:spPr>
          <a:xfrm>
            <a:off x="566928" y="2838450"/>
            <a:ext cx="11057839" cy="1929384"/>
          </a:xfrm>
          <a:prstGeom prst="roundRect">
            <a:avLst>
              <a:gd name="adj" fmla="val 4739"/>
            </a:avLst>
          </a:prstGeom>
          <a:solidFill>
            <a:srgbClr val="F6F1E8"/>
          </a:solidFill>
          <a:ln w="12700">
            <a:solidFill>
              <a:srgbClr val="F6F1E8"/>
            </a:solidFill>
            <a:prstDash val="solid"/>
          </a:ln>
        </p:spPr>
      </p:sp>
      <p:sp>
        <p:nvSpPr>
          <p:cNvPr id="10" name="Shape 8"/>
          <p:cNvSpPr/>
          <p:nvPr/>
        </p:nvSpPr>
        <p:spPr>
          <a:xfrm>
            <a:off x="877824" y="3076194"/>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07619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05790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《律师法》第三条第二、三、四款</a:t>
            </a:r>
            <a:endParaRPr lang="en-US" sz="1500" dirty="0"/>
          </a:p>
        </p:txBody>
      </p:sp>
      <p:sp>
        <p:nvSpPr>
          <p:cNvPr id="13" name="Text 11"/>
          <p:cNvSpPr/>
          <p:nvPr/>
        </p:nvSpPr>
        <p:spPr>
          <a:xfrm>
            <a:off x="960120" y="3478530"/>
            <a:ext cx="10271455" cy="1069848"/>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律师执业必须以事实为根据，以法律为准绳。</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律师执业应当接受国家、社会和当事人的监督。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律师依法执业受法律保护，任何组织和个人不得侵害律师的合法权益。</a:t>
            </a:r>
            <a:endParaRPr lang="en-US" sz="15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二条第二款的“三个维护”是律师职业伦理的总纲。三者在绝大多数案件中一致，但在个别情形下存在张力——例如当事人要求作虚假陈述时，维护当事人“合法”权益与维护法律正确实施的关系如何处理？注意条文用的是“合法权益”，这四个字本身就划定了忠诚义务的边界。</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12</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法官与检察官职业伦理规范体系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公权力行使者的伦理规范，在结构与重心上与律师规范有明显差异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13</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法官规范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法官职业伦理的三部核心规范</a:t>
            </a:r>
            <a:endParaRPr lang="en-US" sz="2800" dirty="0"/>
          </a:p>
        </p:txBody>
      </p:sp>
      <p:sp>
        <p:nvSpPr>
          <p:cNvPr id="4" name="Shape 2"/>
          <p:cNvSpPr/>
          <p:nvPr/>
        </p:nvSpPr>
        <p:spPr>
          <a:xfrm>
            <a:off x="566928" y="1316736"/>
            <a:ext cx="11057839" cy="1867281"/>
          </a:xfrm>
          <a:prstGeom prst="roundRect">
            <a:avLst>
              <a:gd name="adj" fmla="val 3918"/>
            </a:avLst>
          </a:prstGeom>
          <a:solidFill>
            <a:srgbClr val="F2F4F8"/>
          </a:solidFill>
          <a:ln w="12700">
            <a:solidFill>
              <a:srgbClr val="F2F4F8"/>
            </a:solidFill>
            <a:prstDash val="solid"/>
          </a:ln>
        </p:spPr>
      </p:sp>
      <p:sp>
        <p:nvSpPr>
          <p:cNvPr id="5" name="Shape 3"/>
          <p:cNvSpPr/>
          <p:nvPr/>
        </p:nvSpPr>
        <p:spPr>
          <a:xfrm>
            <a:off x="841248" y="1994344"/>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47964"/>
            <a:ext cx="204826" cy="204826"/>
          </a:xfrm>
          <a:prstGeom prst="rect">
            <a:avLst/>
          </a:prstGeom>
        </p:spPr>
      </p:pic>
      <p:sp>
        <p:nvSpPr>
          <p:cNvPr id="7" name="Text 4"/>
          <p:cNvSpPr/>
          <p:nvPr/>
        </p:nvSpPr>
        <p:spPr>
          <a:xfrm>
            <a:off x="1536192" y="152723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《法官法》（2019年修订施行）</a:t>
            </a:r>
            <a:endParaRPr lang="en-US" sz="1650" dirty="0"/>
          </a:p>
        </p:txBody>
      </p:sp>
      <p:sp>
        <p:nvSpPr>
          <p:cNvPr id="8" name="Text 5"/>
          <p:cNvSpPr/>
          <p:nvPr/>
        </p:nvSpPr>
        <p:spPr>
          <a:xfrm>
            <a:off x="1536192" y="1868615"/>
            <a:ext cx="9832543" cy="110490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十条规定法官应当履行的义务，第二十二条规定禁止兼职与营利性活动，第四十六条列举惩戒事由，第四十八条至第五十一条规定法官惩戒委员会及其程序。第十条要求法官严格遵守宪法和法律，秉公办案，不得徇私枉法；依法保障当事人的诉讼权利；维护国家利益、社会公共利益，维护个人和组织的合法权益；清正廉明，忠于职守，遵守纪律，恪守职业道德。</a:t>
            </a:r>
            <a:endParaRPr lang="en-US" sz="1500" dirty="0"/>
          </a:p>
        </p:txBody>
      </p:sp>
      <p:sp>
        <p:nvSpPr>
          <p:cNvPr id="9" name="Shape 6"/>
          <p:cNvSpPr/>
          <p:nvPr/>
        </p:nvSpPr>
        <p:spPr>
          <a:xfrm>
            <a:off x="566928" y="3330321"/>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869817"/>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4023436"/>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《法官行为规范》（2010年修订）</a:t>
            </a:r>
            <a:endParaRPr lang="en-US" sz="1650" dirty="0"/>
          </a:p>
        </p:txBody>
      </p:sp>
      <p:sp>
        <p:nvSpPr>
          <p:cNvPr id="13" name="Text 9"/>
          <p:cNvSpPr/>
          <p:nvPr/>
        </p:nvSpPr>
        <p:spPr>
          <a:xfrm>
            <a:off x="1536192" y="388220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比起《法官法》更为具体，主要体现在对法官的行为控制上，从立案到涉诉信访，涵盖了法官职务行为的方方面面，还包括法官的非职务行为与业外活动。第一章“一般规定”给出了一组关键词：忠诚坚定、公正司法、高效办案、清正廉洁、一心为民、严守纪律、敬业奉献、加强修养——可视为法官职业伦理的基本要求。</a:t>
            </a:r>
            <a:endParaRPr lang="en-US" sz="1500" dirty="0"/>
          </a:p>
        </p:txBody>
      </p:sp>
      <p:sp>
        <p:nvSpPr>
          <p:cNvPr id="14" name="Shape 10"/>
          <p:cNvSpPr/>
          <p:nvPr/>
        </p:nvSpPr>
        <p:spPr>
          <a:xfrm>
            <a:off x="566928" y="5067681"/>
            <a:ext cx="11057839" cy="1314831"/>
          </a:xfrm>
          <a:prstGeom prst="roundRect">
            <a:avLst>
              <a:gd name="adj" fmla="val 5564"/>
            </a:avLst>
          </a:prstGeom>
          <a:solidFill>
            <a:srgbClr val="F2F4F8"/>
          </a:solidFill>
          <a:ln w="12700">
            <a:solidFill>
              <a:srgbClr val="F2F4F8"/>
            </a:solidFill>
            <a:prstDash val="solid"/>
          </a:ln>
        </p:spPr>
      </p:sp>
      <p:sp>
        <p:nvSpPr>
          <p:cNvPr id="15" name="Shape 11"/>
          <p:cNvSpPr/>
          <p:nvPr/>
        </p:nvSpPr>
        <p:spPr>
          <a:xfrm>
            <a:off x="841248" y="5469064"/>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622684"/>
            <a:ext cx="204826" cy="204826"/>
          </a:xfrm>
          <a:prstGeom prst="rect">
            <a:avLst/>
          </a:prstGeom>
        </p:spPr>
      </p:pic>
      <p:sp>
        <p:nvSpPr>
          <p:cNvPr id="17" name="Text 12"/>
          <p:cNvSpPr/>
          <p:nvPr/>
        </p:nvSpPr>
        <p:spPr>
          <a:xfrm>
            <a:off x="1536192" y="527818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《法官职业道德基本准则》（2010年修订）</a:t>
            </a:r>
            <a:endParaRPr lang="en-US" sz="1650" dirty="0"/>
          </a:p>
        </p:txBody>
      </p:sp>
      <p:sp>
        <p:nvSpPr>
          <p:cNvPr id="18" name="Text 13"/>
          <p:cNvSpPr/>
          <p:nvPr/>
        </p:nvSpPr>
        <p:spPr>
          <a:xfrm>
            <a:off x="1536192" y="561956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共七章三十条。核心是公正、廉洁、为民；基本要求为五项：忠诚司法事业、保证司法公正、确保司法廉洁、坚持司法为民、维护司法形象。从框架内容上看，它是对《法官行为规范》第一章一般规定的具体化与理念提升。</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14</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检察官规范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《检察官职业道德基本准则》：五条五个关键词</a:t>
            </a:r>
            <a:endParaRPr lang="en-US" sz="2800" dirty="0"/>
          </a:p>
        </p:txBody>
      </p:sp>
      <p:sp>
        <p:nvSpPr>
          <p:cNvPr id="4" name="Shape 2"/>
          <p:cNvSpPr/>
          <p:nvPr/>
        </p:nvSpPr>
        <p:spPr>
          <a:xfrm>
            <a:off x="566928" y="1668590"/>
            <a:ext cx="11057839" cy="2747391"/>
          </a:xfrm>
          <a:prstGeom prst="roundRect">
            <a:avLst>
              <a:gd name="adj" fmla="val 3328"/>
            </a:avLst>
          </a:prstGeom>
          <a:solidFill>
            <a:srgbClr val="F6F1E8"/>
          </a:solidFill>
          <a:ln w="12700">
            <a:solidFill>
              <a:srgbClr val="F6F1E8"/>
            </a:solidFill>
            <a:prstDash val="solid"/>
          </a:ln>
        </p:spPr>
      </p:sp>
      <p:sp>
        <p:nvSpPr>
          <p:cNvPr id="5" name="Shape 3"/>
          <p:cNvSpPr/>
          <p:nvPr/>
        </p:nvSpPr>
        <p:spPr>
          <a:xfrm>
            <a:off x="877824" y="190633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90633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8804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最高人民检察院《中华人民共和国检察官职业道德基本准则》（2016年12月修订印发）</a:t>
            </a:r>
            <a:endParaRPr lang="en-US" sz="1500" dirty="0"/>
          </a:p>
        </p:txBody>
      </p:sp>
      <p:sp>
        <p:nvSpPr>
          <p:cNvPr id="8" name="Text 6"/>
          <p:cNvSpPr/>
          <p:nvPr/>
        </p:nvSpPr>
        <p:spPr>
          <a:xfrm>
            <a:off x="960120" y="2308670"/>
            <a:ext cx="10271455" cy="18878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第一条　坚持忠诚品格，永葆政治本色。</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第二条　坚持为民宗旨，保障人民权益。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第三条　坚持担当精神，强化法律监督。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第四条　坚持公正理念，维护法制统一。</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第五条　坚持廉洁操守，自觉接受监督。</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2016年修订的《准则》不分章节，仅五条，简明地点出忠诚、为民、担当、公正、廉洁五项基本要求。相较2009年试行版的“忠诚、公正、清廉、文明”四个关键词，新增“为民”与“担当”，删去“文明”——这一调整反映了检察机关法律监督职能强化的制度背景。此外，《检察官法》第五条、第十条，以及《检察人员纪律处分条例》构成检察官伦理规范的其他重要部分。</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15</a:t>
            </a:r>
            <a:endParaRPr lang="en-US" sz="11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结构比较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三类规范体系的重心差异</a:t>
            </a:r>
            <a:endParaRPr lang="en-US" sz="2800" dirty="0"/>
          </a:p>
        </p:txBody>
      </p:sp>
      <p:sp>
        <p:nvSpPr>
          <p:cNvPr id="4" name="Shape 2"/>
          <p:cNvSpPr/>
          <p:nvPr/>
        </p:nvSpPr>
        <p:spPr>
          <a:xfrm>
            <a:off x="566928" y="1523683"/>
            <a:ext cx="3527450" cy="46518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177971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律师规范：以“禁止”为主</a:t>
            </a:r>
            <a:endParaRPr lang="en-US" sz="1600" dirty="0"/>
          </a:p>
        </p:txBody>
      </p:sp>
      <p:sp>
        <p:nvSpPr>
          <p:cNvPr id="7" name="Text 5"/>
          <p:cNvSpPr/>
          <p:nvPr/>
        </p:nvSpPr>
        <p:spPr>
          <a:xfrm>
            <a:off x="932688"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大量使用“不得……”的禁止性表述。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重心在于：忠诚义务、保密、利益冲突、收费、争讼行为界限。</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规范最为细密，可操作性最强。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原因：律师面向市场，行为空间大，需要明确的行为边界。</a:t>
            </a:r>
            <a:endParaRPr lang="en-US" sz="1450" dirty="0"/>
          </a:p>
        </p:txBody>
      </p:sp>
      <p:sp>
        <p:nvSpPr>
          <p:cNvPr id="8" name="Shape 6"/>
          <p:cNvSpPr/>
          <p:nvPr/>
        </p:nvSpPr>
        <p:spPr>
          <a:xfrm>
            <a:off x="4332122" y="1523683"/>
            <a:ext cx="3527450" cy="46518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177971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1779715"/>
            <a:ext cx="2978810" cy="512064"/>
          </a:xfrm>
          <a:prstGeom prst="rect">
            <a:avLst/>
          </a:prstGeom>
          <a:noFill/>
          <a:ln/>
        </p:spPr>
        <p:txBody>
          <a:bodyPr wrap="square" lIns="0" tIns="0" rIns="0" bIns="0" rtlCol="0" anchor="ctr"/>
          <a:lstStyle/>
          <a:p>
            <a:pPr algn="ctr" indent="0" marL="0">
              <a:buNone/>
            </a:pPr>
            <a:r>
              <a:rPr lang="en-US" sz="1550" b="1" dirty="0">
                <a:solidFill>
                  <a:srgbClr val="FFFFFF"/>
                </a:solidFill>
                <a:latin typeface="微软雅黑" pitchFamily="34" charset="0"/>
                <a:ea typeface="微软雅黑" pitchFamily="34" charset="-122"/>
                <a:cs typeface="微软雅黑" pitchFamily="34" charset="-120"/>
              </a:rPr>
              <a:t>法官规范：以“品格+行为”并重</a:t>
            </a:r>
            <a:endParaRPr lang="en-US" sz="1550" dirty="0"/>
          </a:p>
        </p:txBody>
      </p:sp>
      <p:sp>
        <p:nvSpPr>
          <p:cNvPr id="11" name="Text 9"/>
          <p:cNvSpPr/>
          <p:nvPr/>
        </p:nvSpPr>
        <p:spPr>
          <a:xfrm>
            <a:off x="4697882"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既有“忠诚司法事业”等品格要求，也有涵盖立案至信访全流程的行为指引。</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重心在于：独立、中立、回避、廉洁、司法形象、职外行为限制。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特别强调职外行为——这是与律师规范最大的差异之一。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原因：法官行使裁判权，公信力依赖于全方位的可信赖形象。</a:t>
            </a:r>
            <a:endParaRPr lang="en-US" sz="1450" dirty="0"/>
          </a:p>
        </p:txBody>
      </p:sp>
      <p:sp>
        <p:nvSpPr>
          <p:cNvPr id="12" name="Shape 10"/>
          <p:cNvSpPr/>
          <p:nvPr/>
        </p:nvSpPr>
        <p:spPr>
          <a:xfrm>
            <a:off x="8097317" y="1523683"/>
            <a:ext cx="3527450" cy="46518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177971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1779715"/>
            <a:ext cx="2978810" cy="512064"/>
          </a:xfrm>
          <a:prstGeom prst="rect">
            <a:avLst/>
          </a:prstGeom>
          <a:noFill/>
          <a:ln/>
        </p:spPr>
        <p:txBody>
          <a:bodyPr wrap="square" lIns="0" tIns="0" rIns="0" bIns="0" rtlCol="0" anchor="ctr"/>
          <a:lstStyle/>
          <a:p>
            <a:pPr algn="ctr" indent="0" marL="0">
              <a:buNone/>
            </a:pPr>
            <a:r>
              <a:rPr lang="en-US" sz="1550" b="1" dirty="0">
                <a:solidFill>
                  <a:srgbClr val="FFFFFF"/>
                </a:solidFill>
                <a:latin typeface="微软雅黑" pitchFamily="34" charset="0"/>
                <a:ea typeface="微软雅黑" pitchFamily="34" charset="-122"/>
                <a:cs typeface="微软雅黑" pitchFamily="34" charset="-120"/>
              </a:rPr>
              <a:t>检察官规范：以“理念”为纲</a:t>
            </a:r>
            <a:endParaRPr lang="en-US" sz="1550" dirty="0"/>
          </a:p>
        </p:txBody>
      </p:sp>
      <p:sp>
        <p:nvSpPr>
          <p:cNvPr id="15" name="Text 13"/>
          <p:cNvSpPr/>
          <p:nvPr/>
        </p:nvSpPr>
        <p:spPr>
          <a:xfrm>
            <a:off x="8463077"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五条准则高度凝练，主要发挥价值引领功能。</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重心在于：客观公正义务、法律监督职责、忠诚与担当。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具体行为规范散见于《检察官法》《人民检察院刑事诉讼规则》《检察人员纪律处分条例》。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原因：检察官兼具追诉者与监督者双重身份，理念统摄比条文罗列更为必要。</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16</a:t>
            </a:r>
            <a:endParaRPr lang="en-US" sz="11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国际文件与域外比较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了解他人的选择，才能理解自己的规则为什么这样设计</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17</a:t>
            </a:r>
            <a:endParaRPr lang="en-US" sz="11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国际文件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四份需要知道的国际文件</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《关于律师作用的基本原则》</a:t>
            </a:r>
            <a:endParaRPr lang="en-US" sz="1400" dirty="0"/>
          </a:p>
        </p:txBody>
      </p:sp>
      <p:sp>
        <p:nvSpPr>
          <p:cNvPr id="8" name="Text 5"/>
          <p:cNvSpPr/>
          <p:nvPr/>
        </p:nvSpPr>
        <p:spPr>
          <a:xfrm>
            <a:off x="886968" y="2581402"/>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1990年第八届联合国预防犯罪和罪犯待遇大会通过。确立了获得律师帮助的权利、律师执业的保障（不因履行职责而受威胁或制裁）、律师的义务与职业自律组织的作用。是律师执业权利保障的国际基准。</a:t>
            </a:r>
            <a:endParaRPr lang="en-US" sz="11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《班加罗尔司法行为准则》</a:t>
            </a:r>
            <a:endParaRPr lang="en-US" sz="1400" dirty="0"/>
          </a:p>
        </p:txBody>
      </p:sp>
      <p:sp>
        <p:nvSpPr>
          <p:cNvPr id="13" name="Text 9"/>
          <p:cNvSpPr/>
          <p:nvPr/>
        </p:nvSpPr>
        <p:spPr>
          <a:xfrm>
            <a:off x="6534760" y="2581402"/>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2002年制定，2006年经联合国经社理事会认可。确立法官行为的六项价值：独立、中立（不偏不倚）、正直、正当、平等、称职与勤勉。是各国法官伦理规范的重要参照，我国《法官职业道德基本准则》的修订亦受其影响。</a:t>
            </a:r>
            <a:endParaRPr lang="en-US" sz="11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ABA《律师职业行为示范规则》</a:t>
            </a:r>
            <a:endParaRPr lang="en-US" sz="1400" dirty="0"/>
          </a:p>
        </p:txBody>
      </p:sp>
      <p:sp>
        <p:nvSpPr>
          <p:cNvPr id="18" name="Text 13"/>
          <p:cNvSpPr/>
          <p:nvPr/>
        </p:nvSpPr>
        <p:spPr>
          <a:xfrm>
            <a:off x="886968" y="5224018"/>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美国律师协会制定。自1908年《职业伦理准则》、1969年《职业责任示范守则》演进而来，1983年形成《示范规则》并持续修订。采“规则+评注”体例，逐条给出适用说明与例外，是全球最具影响力的律师伦理文本。</a:t>
            </a:r>
            <a:endParaRPr lang="en-US" sz="11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IBA《国际律师职业行为准则》</a:t>
            </a:r>
            <a:endParaRPr lang="en-US" sz="1400" dirty="0"/>
          </a:p>
        </p:txBody>
      </p:sp>
      <p:sp>
        <p:nvSpPr>
          <p:cNvPr id="23" name="Text 17"/>
          <p:cNvSpPr/>
          <p:nvPr/>
        </p:nvSpPr>
        <p:spPr>
          <a:xfrm>
            <a:off x="6534760" y="5224018"/>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国际律师协会制定，为跨境法律服务提供最低限度的共同标准，涉及独立性、保密、利益冲突、收费等核心议题。随涉外法律服务发展，其重要性日益上升。</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18</a:t>
            </a:r>
            <a:endParaRPr lang="en-US" sz="11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两大法系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英美法系与大陆法系的规范风格</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英美法系：行业自治 + 判例塑造</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以律师协会自治为主，规范由行业制定，法院通过惩戒判例予以塑造。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规则体例细密，采“规则+评注+参考”结构，重视具体情境的类型化。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强调当事人自治与知情同意——大量利益冲突可经充分披露并获书面同意后豁免。</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违反后果以吊销执照（disbarment）、暂停执业为核心。</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大陆法系：立法规定 + 行业细化</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以成文法直接规定基本义务，如德国《联邦律师法》(BRAO)、《律师职业规则》(BORA)。</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规则表述较为概括，倚重学理解释与行业惯例填补。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更强调律师作为“司法机关组成部分”（Organ der Rechtspflege）的公共角色，而非纯粹的当事人代理人。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设有律师法院或纪律法庭，惩戒程序具有较强的司法化特征。</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19</a:t>
            </a:r>
            <a:endParaRPr lang="en-US" sz="11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中国法律职业伦理的历史脉络</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理解今天的规范，需要知道它从哪里来</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20</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历史演进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从官箴文化到现代职业伦理</a:t>
            </a:r>
            <a:endParaRPr lang="en-US" sz="2800" dirty="0"/>
          </a:p>
        </p:txBody>
      </p:sp>
      <p:sp>
        <p:nvSpPr>
          <p:cNvPr id="4" name="Shape 2"/>
          <p:cNvSpPr/>
          <p:nvPr/>
        </p:nvSpPr>
        <p:spPr>
          <a:xfrm>
            <a:off x="566928" y="1316736"/>
            <a:ext cx="11057839" cy="954888"/>
          </a:xfrm>
          <a:prstGeom prst="roundRect">
            <a:avLst>
              <a:gd name="adj" fmla="val 7661"/>
            </a:avLst>
          </a:prstGeom>
          <a:solidFill>
            <a:srgbClr val="F2F4F8"/>
          </a:solidFill>
          <a:ln w="12700">
            <a:solidFill>
              <a:srgbClr val="F2F4F8"/>
            </a:solidFill>
            <a:prstDash val="solid"/>
          </a:ln>
        </p:spPr>
      </p:sp>
      <p:sp>
        <p:nvSpPr>
          <p:cNvPr id="5" name="Shape 3"/>
          <p:cNvSpPr/>
          <p:nvPr/>
        </p:nvSpPr>
        <p:spPr>
          <a:xfrm>
            <a:off x="841248" y="1556436"/>
            <a:ext cx="475488" cy="475488"/>
          </a:xfrm>
          <a:prstGeom prst="ellipse">
            <a:avLst/>
          </a:prstGeom>
          <a:solidFill>
            <a:srgbClr val="13233F"/>
          </a:solidFill>
          <a:ln w="12700">
            <a:solidFill>
              <a:srgbClr val="13233F"/>
            </a:solidFill>
            <a:prstDash val="solid"/>
          </a:ln>
        </p:spPr>
      </p:sp>
      <p:sp>
        <p:nvSpPr>
          <p:cNvPr id="6" name="Text 4"/>
          <p:cNvSpPr/>
          <p:nvPr/>
        </p:nvSpPr>
        <p:spPr>
          <a:xfrm>
            <a:off x="841248" y="1556436"/>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99616" y="1480490"/>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古代：发达的官箴，缺席的律师伦理</a:t>
            </a:r>
            <a:endParaRPr lang="en-US" sz="1200" dirty="0"/>
          </a:p>
        </p:txBody>
      </p:sp>
      <p:sp>
        <p:nvSpPr>
          <p:cNvPr id="8" name="Text 6"/>
          <p:cNvSpPr/>
          <p:nvPr/>
        </p:nvSpPr>
        <p:spPr>
          <a:xfrm>
            <a:off x="1499616" y="1739570"/>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中国古代有极为丰富的司法官德文化：《周礼》的“五听”要求察言观色、审慎断案；宋慈《洗冤集录》强调勘验须亲历亲为、不可假手他人；张养浩《为政忠告》（《三事忠告》）系统论述了为官者的公、慎、勤、廉。但另一方面，代人诉讼的“讼师”长期被污名化为“讼棍”，未能形成独立的职业伦理传统。</a:t>
            </a:r>
            <a:endParaRPr lang="en-US" sz="1000" dirty="0"/>
          </a:p>
        </p:txBody>
      </p:sp>
      <p:sp>
        <p:nvSpPr>
          <p:cNvPr id="9" name="Shape 7"/>
          <p:cNvSpPr/>
          <p:nvPr/>
        </p:nvSpPr>
        <p:spPr>
          <a:xfrm>
            <a:off x="566928" y="2390496"/>
            <a:ext cx="11057839" cy="954888"/>
          </a:xfrm>
          <a:prstGeom prst="roundRect">
            <a:avLst>
              <a:gd name="adj" fmla="val 7661"/>
            </a:avLst>
          </a:prstGeom>
          <a:solidFill>
            <a:srgbClr val="FFFFFF"/>
          </a:solidFill>
          <a:ln w="12700">
            <a:solidFill>
              <a:srgbClr val="D5DBE5"/>
            </a:solidFill>
            <a:prstDash val="solid"/>
          </a:ln>
        </p:spPr>
      </p:sp>
      <p:sp>
        <p:nvSpPr>
          <p:cNvPr id="10" name="Shape 8"/>
          <p:cNvSpPr/>
          <p:nvPr/>
        </p:nvSpPr>
        <p:spPr>
          <a:xfrm>
            <a:off x="841248" y="2630195"/>
            <a:ext cx="475488" cy="475488"/>
          </a:xfrm>
          <a:prstGeom prst="ellipse">
            <a:avLst/>
          </a:prstGeom>
          <a:solidFill>
            <a:srgbClr val="13233F"/>
          </a:solidFill>
          <a:ln w="12700">
            <a:solidFill>
              <a:srgbClr val="13233F"/>
            </a:solidFill>
            <a:prstDash val="solid"/>
          </a:ln>
        </p:spPr>
      </p:sp>
      <p:sp>
        <p:nvSpPr>
          <p:cNvPr id="11" name="Text 9"/>
          <p:cNvSpPr/>
          <p:nvPr/>
        </p:nvSpPr>
        <p:spPr>
          <a:xfrm>
            <a:off x="841248" y="263019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99616" y="255424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近代：律师制度的引入</a:t>
            </a:r>
            <a:endParaRPr lang="en-US" sz="1200" dirty="0"/>
          </a:p>
        </p:txBody>
      </p:sp>
      <p:sp>
        <p:nvSpPr>
          <p:cNvPr id="13" name="Text 11"/>
          <p:cNvSpPr/>
          <p:nvPr/>
        </p:nvSpPr>
        <p:spPr>
          <a:xfrm>
            <a:off x="1499616" y="281332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1912年北洋政府颁布《律师暂行章程》，中国近代律师制度正式确立，同时规定了律师的宣誓、公会组织与惩戒制度。此后陆续有《律师登录暂行章程》《律师惩戒规则》等。这是中国法律职业伦理成文化的开端。</a:t>
            </a:r>
            <a:endParaRPr lang="en-US" sz="1000" dirty="0"/>
          </a:p>
        </p:txBody>
      </p:sp>
      <p:sp>
        <p:nvSpPr>
          <p:cNvPr id="14" name="Shape 12"/>
          <p:cNvSpPr/>
          <p:nvPr/>
        </p:nvSpPr>
        <p:spPr>
          <a:xfrm>
            <a:off x="566928" y="3464255"/>
            <a:ext cx="11057839" cy="770738"/>
          </a:xfrm>
          <a:prstGeom prst="roundRect">
            <a:avLst>
              <a:gd name="adj" fmla="val 9491"/>
            </a:avLst>
          </a:prstGeom>
          <a:solidFill>
            <a:srgbClr val="F2F4F8"/>
          </a:solidFill>
          <a:ln w="12700">
            <a:solidFill>
              <a:srgbClr val="F2F4F8"/>
            </a:solidFill>
            <a:prstDash val="solid"/>
          </a:ln>
        </p:spPr>
      </p:sp>
      <p:sp>
        <p:nvSpPr>
          <p:cNvPr id="15" name="Shape 13"/>
          <p:cNvSpPr/>
          <p:nvPr/>
        </p:nvSpPr>
        <p:spPr>
          <a:xfrm>
            <a:off x="841248" y="3611880"/>
            <a:ext cx="475488" cy="475488"/>
          </a:xfrm>
          <a:prstGeom prst="ellipse">
            <a:avLst/>
          </a:prstGeom>
          <a:solidFill>
            <a:srgbClr val="13233F"/>
          </a:solidFill>
          <a:ln w="12700">
            <a:solidFill>
              <a:srgbClr val="13233F"/>
            </a:solidFill>
            <a:prstDash val="solid"/>
          </a:ln>
        </p:spPr>
      </p:sp>
      <p:sp>
        <p:nvSpPr>
          <p:cNvPr id="16" name="Text 14"/>
          <p:cNvSpPr/>
          <p:nvPr/>
        </p:nvSpPr>
        <p:spPr>
          <a:xfrm>
            <a:off x="841248" y="3611880"/>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99616" y="362800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1980年：《律师暂行条例》</a:t>
            </a:r>
            <a:endParaRPr lang="en-US" sz="1200" dirty="0"/>
          </a:p>
        </p:txBody>
      </p:sp>
      <p:sp>
        <p:nvSpPr>
          <p:cNvPr id="18" name="Text 16"/>
          <p:cNvSpPr/>
          <p:nvPr/>
        </p:nvSpPr>
        <p:spPr>
          <a:xfrm>
            <a:off x="1499616" y="3887089"/>
            <a:ext cx="9887407"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律师制度恢复重建。律师被定位为“国家法律工作者”，在法律顾问处工作，职业伦理主要表现为纪律要求，尚未形成独立的职业伦理体系。</a:t>
            </a:r>
            <a:endParaRPr lang="en-US" sz="1000" dirty="0"/>
          </a:p>
        </p:txBody>
      </p:sp>
      <p:sp>
        <p:nvSpPr>
          <p:cNvPr id="19" name="Shape 17"/>
          <p:cNvSpPr/>
          <p:nvPr/>
        </p:nvSpPr>
        <p:spPr>
          <a:xfrm>
            <a:off x="566928" y="4353865"/>
            <a:ext cx="11057839" cy="954888"/>
          </a:xfrm>
          <a:prstGeom prst="roundRect">
            <a:avLst>
              <a:gd name="adj" fmla="val 7661"/>
            </a:avLst>
          </a:prstGeom>
          <a:solidFill>
            <a:srgbClr val="FFFFFF"/>
          </a:solidFill>
          <a:ln w="12700">
            <a:solidFill>
              <a:srgbClr val="D5DBE5"/>
            </a:solidFill>
            <a:prstDash val="solid"/>
          </a:ln>
        </p:spPr>
      </p:sp>
      <p:sp>
        <p:nvSpPr>
          <p:cNvPr id="20" name="Shape 18"/>
          <p:cNvSpPr/>
          <p:nvPr/>
        </p:nvSpPr>
        <p:spPr>
          <a:xfrm>
            <a:off x="841248" y="4593565"/>
            <a:ext cx="475488" cy="475488"/>
          </a:xfrm>
          <a:prstGeom prst="ellipse">
            <a:avLst/>
          </a:prstGeom>
          <a:solidFill>
            <a:srgbClr val="13233F"/>
          </a:solidFill>
          <a:ln w="12700">
            <a:solidFill>
              <a:srgbClr val="13233F"/>
            </a:solidFill>
            <a:prstDash val="solid"/>
          </a:ln>
        </p:spPr>
      </p:sp>
      <p:sp>
        <p:nvSpPr>
          <p:cNvPr id="21" name="Text 19"/>
          <p:cNvSpPr/>
          <p:nvPr/>
        </p:nvSpPr>
        <p:spPr>
          <a:xfrm>
            <a:off x="841248" y="4593565"/>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99616" y="4517619"/>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1996—2007年：《律师法》确立职业属性</a:t>
            </a:r>
            <a:endParaRPr lang="en-US" sz="1200" dirty="0"/>
          </a:p>
        </p:txBody>
      </p:sp>
      <p:sp>
        <p:nvSpPr>
          <p:cNvPr id="23" name="Text 21"/>
          <p:cNvSpPr/>
          <p:nvPr/>
        </p:nvSpPr>
        <p:spPr>
          <a:xfrm>
            <a:off x="1499616" y="4776699"/>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1996年《律师法》颁布，2001年、2007年、2012年、2017年历经修正。律师定位转变为“为社会提供法律服务的执业人员”，独立的职业伦理由此成为必需。行业规范体系随之建立并不断完善。</a:t>
            </a:r>
            <a:endParaRPr lang="en-US" sz="1000" dirty="0"/>
          </a:p>
        </p:txBody>
      </p:sp>
      <p:sp>
        <p:nvSpPr>
          <p:cNvPr id="24" name="Shape 22"/>
          <p:cNvSpPr/>
          <p:nvPr/>
        </p:nvSpPr>
        <p:spPr>
          <a:xfrm>
            <a:off x="566928" y="5427624"/>
            <a:ext cx="11057839" cy="954888"/>
          </a:xfrm>
          <a:prstGeom prst="roundRect">
            <a:avLst>
              <a:gd name="adj" fmla="val 7661"/>
            </a:avLst>
          </a:prstGeom>
          <a:solidFill>
            <a:srgbClr val="F2F4F8"/>
          </a:solidFill>
          <a:ln w="12700">
            <a:solidFill>
              <a:srgbClr val="F2F4F8"/>
            </a:solidFill>
            <a:prstDash val="solid"/>
          </a:ln>
        </p:spPr>
      </p:sp>
      <p:sp>
        <p:nvSpPr>
          <p:cNvPr id="25" name="Shape 23"/>
          <p:cNvSpPr/>
          <p:nvPr/>
        </p:nvSpPr>
        <p:spPr>
          <a:xfrm>
            <a:off x="841248" y="5667324"/>
            <a:ext cx="475488" cy="475488"/>
          </a:xfrm>
          <a:prstGeom prst="ellipse">
            <a:avLst/>
          </a:prstGeom>
          <a:solidFill>
            <a:srgbClr val="13233F"/>
          </a:solidFill>
          <a:ln w="12700">
            <a:solidFill>
              <a:srgbClr val="13233F"/>
            </a:solidFill>
            <a:prstDash val="solid"/>
          </a:ln>
        </p:spPr>
      </p:sp>
      <p:sp>
        <p:nvSpPr>
          <p:cNvPr id="26" name="Text 24"/>
          <p:cNvSpPr/>
          <p:nvPr/>
        </p:nvSpPr>
        <p:spPr>
          <a:xfrm>
            <a:off x="841248" y="5667324"/>
            <a:ext cx="475488" cy="475488"/>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1499616" y="5591378"/>
            <a:ext cx="9887407"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2010年至今：三大体系并立与持续完善</a:t>
            </a:r>
            <a:endParaRPr lang="en-US" sz="1200" dirty="0"/>
          </a:p>
        </p:txBody>
      </p:sp>
      <p:sp>
        <p:nvSpPr>
          <p:cNvPr id="28" name="Text 26"/>
          <p:cNvSpPr/>
          <p:nvPr/>
        </p:nvSpPr>
        <p:spPr>
          <a:xfrm>
            <a:off x="1499616" y="5850458"/>
            <a:ext cx="9887407"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2010年最高人民法院修订《法官职业道德基本准则》《法官行为规范》；2016年最高人民检察院修订《检察官职业道德基本准则》；律协持续修订《律师执业行为规范》。2019年《法官法》《检察官法》修订施行，建立法官、检察官惩戒委员会制度。至此，三大职业伦理规范体系基本成型。</a:t>
            </a:r>
            <a:endParaRPr lang="en-US" sz="100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21</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规范冲突时如何适用</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适用练习</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两条保密规范之间的差异</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《律师法》第三十八条第二款规定，保密义务的例外为“委托人或者其他人准备或者正在实施危害国家安全、公共安全以及其他严重危害他人人身、财产安全的犯罪事实和信息”。</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《刑事诉讼法》第四十八条规定，辩护律师的告知义务限于“准备或者正在实施危害国家安全、公共安全以及严重危害他人人身安全的犯罪”。</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两相比较：《律师法》多出“财产安全”，且表述为“除外”（即不受保密义务约束）；《刑事诉讼法》则表述为“应当及时告知司法机关”（即负有主动告知义务）。</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设例：某刑事案件辩护过程中，律师得知委托人正在策划一起数额特别巨大的合同诈骗（仅涉财产，不危及人身）。律师应当如何处理？</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两条规范是何种关系？一般法与特别法？</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“除外”与“应当告知”在义务强度上有何区别？</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在刑事辩护场景下应当优先适用哪一条？理由是什么？</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如果是非诉业务中得知同一信息，结论是否不同？</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22</a:t>
            </a:r>
            <a:endParaRPr lang="en-US" sz="11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《律师职业道德基本准则》概括性强、抽象度高，能否直接作为行业惩戒的依据？如果不能，它的规范意义何在？</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党内法规对具有党员身份的法官、检察官、律师产生约束，与国家法律规范叠加适用。这种叠加在适用上可能产生哪些问题？应当如何协调？</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英美法系允许大量利益冲突经“充分披露+书面同意”后豁免，我国规范则以刚性禁止为主。你认为哪种模式更适合我国现阶段？请说明理由。</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中国古代有发达的司法官箴文化，却没有律师职业伦理传统。这一历史特征对当代中国法律职业伦理的建构有什么影响？</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第4课时 · 23</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第4课时要点回顾</a:t>
            </a:r>
            <a:endParaRPr lang="en-US" sz="3000" dirty="0"/>
          </a:p>
        </p:txBody>
      </p:sp>
      <p:sp>
        <p:nvSpPr>
          <p:cNvPr id="4" name="Shape 2"/>
          <p:cNvSpPr/>
          <p:nvPr/>
        </p:nvSpPr>
        <p:spPr>
          <a:xfrm>
            <a:off x="566928" y="1591056"/>
            <a:ext cx="11057839" cy="684276"/>
          </a:xfrm>
          <a:prstGeom prst="roundRect">
            <a:avLst>
              <a:gd name="adj" fmla="val 10690"/>
            </a:avLst>
          </a:prstGeom>
          <a:solidFill>
            <a:srgbClr val="25395F"/>
          </a:solidFill>
          <a:ln w="12700">
            <a:solidFill>
              <a:srgbClr val="25395F"/>
            </a:solidFill>
            <a:prstDash val="solid"/>
          </a:ln>
        </p:spPr>
      </p:sp>
      <p:sp>
        <p:nvSpPr>
          <p:cNvPr id="5" name="Shape 3"/>
          <p:cNvSpPr/>
          <p:nvPr/>
        </p:nvSpPr>
        <p:spPr>
          <a:xfrm>
            <a:off x="859536" y="1732026"/>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52727"/>
            <a:ext cx="160934" cy="160934"/>
          </a:xfrm>
          <a:prstGeom prst="rect">
            <a:avLst/>
          </a:prstGeom>
        </p:spPr>
      </p:pic>
      <p:sp>
        <p:nvSpPr>
          <p:cNvPr id="7" name="Text 4"/>
          <p:cNvSpPr/>
          <p:nvPr/>
        </p:nvSpPr>
        <p:spPr>
          <a:xfrm>
            <a:off x="1444752" y="173316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法律职业伦理的渊源分为规范性渊源（法律、规章、司法文件、行业规范）与非规范性渊源（职业习惯、意识、礼仪）；后者虽不可直接援引，却塑造着规范的解释与共同体认同。</a:t>
            </a:r>
            <a:endParaRPr lang="en-US" sz="1050" dirty="0"/>
          </a:p>
        </p:txBody>
      </p:sp>
      <p:sp>
        <p:nvSpPr>
          <p:cNvPr id="8" name="Shape 5"/>
          <p:cNvSpPr/>
          <p:nvPr/>
        </p:nvSpPr>
        <p:spPr>
          <a:xfrm>
            <a:off x="566928" y="2412492"/>
            <a:ext cx="11057839" cy="684276"/>
          </a:xfrm>
          <a:prstGeom prst="roundRect">
            <a:avLst>
              <a:gd name="adj" fmla="val 10690"/>
            </a:avLst>
          </a:prstGeom>
          <a:solidFill>
            <a:srgbClr val="25395F"/>
          </a:solidFill>
          <a:ln w="12700">
            <a:solidFill>
              <a:srgbClr val="25395F"/>
            </a:solidFill>
            <a:prstDash val="solid"/>
          </a:ln>
        </p:spPr>
      </p:sp>
      <p:sp>
        <p:nvSpPr>
          <p:cNvPr id="9" name="Shape 6"/>
          <p:cNvSpPr/>
          <p:nvPr/>
        </p:nvSpPr>
        <p:spPr>
          <a:xfrm>
            <a:off x="859536" y="2553462"/>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674163"/>
            <a:ext cx="160934" cy="160934"/>
          </a:xfrm>
          <a:prstGeom prst="rect">
            <a:avLst/>
          </a:prstGeom>
        </p:spPr>
      </p:pic>
      <p:sp>
        <p:nvSpPr>
          <p:cNvPr id="11" name="Text 7"/>
          <p:cNvSpPr/>
          <p:nvPr/>
        </p:nvSpPr>
        <p:spPr>
          <a:xfrm>
            <a:off x="1444752" y="2554605"/>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我国规范渊源有五个效力层级：宪法与法律—行政法规与规章—司法解释与司法文件—行业自律规范—党内法规。冲突时依上位法优先、新法优先、特别规定优先，并有从严不从宽的实践取向。</a:t>
            </a:r>
            <a:endParaRPr lang="en-US" sz="1050" dirty="0"/>
          </a:p>
        </p:txBody>
      </p:sp>
      <p:sp>
        <p:nvSpPr>
          <p:cNvPr id="12" name="Shape 8"/>
          <p:cNvSpPr/>
          <p:nvPr/>
        </p:nvSpPr>
        <p:spPr>
          <a:xfrm>
            <a:off x="566928" y="3233928"/>
            <a:ext cx="11057839" cy="684276"/>
          </a:xfrm>
          <a:prstGeom prst="roundRect">
            <a:avLst>
              <a:gd name="adj" fmla="val 10690"/>
            </a:avLst>
          </a:prstGeom>
          <a:solidFill>
            <a:srgbClr val="25395F"/>
          </a:solidFill>
          <a:ln w="12700">
            <a:solidFill>
              <a:srgbClr val="25395F"/>
            </a:solidFill>
            <a:prstDash val="solid"/>
          </a:ln>
        </p:spPr>
      </p:sp>
      <p:sp>
        <p:nvSpPr>
          <p:cNvPr id="13" name="Shape 9"/>
          <p:cNvSpPr/>
          <p:nvPr/>
        </p:nvSpPr>
        <p:spPr>
          <a:xfrm>
            <a:off x="859536" y="3374898"/>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95599"/>
            <a:ext cx="160934" cy="160934"/>
          </a:xfrm>
          <a:prstGeom prst="rect">
            <a:avLst/>
          </a:prstGeom>
        </p:spPr>
      </p:pic>
      <p:sp>
        <p:nvSpPr>
          <p:cNvPr id="15" name="Text 10"/>
          <p:cNvSpPr/>
          <p:nvPr/>
        </p:nvSpPr>
        <p:spPr>
          <a:xfrm>
            <a:off x="1444752" y="3376041"/>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律师规范体系以《律师法》为基本法，《律师执业管理办法》侧重行政监管，《律师执业行为规范》为最重要的行业伦理规范，《律师职业道德基本准则》发挥理念宣示功能。</a:t>
            </a:r>
            <a:endParaRPr lang="en-US" sz="1050" dirty="0"/>
          </a:p>
        </p:txBody>
      </p:sp>
      <p:sp>
        <p:nvSpPr>
          <p:cNvPr id="16" name="Shape 11"/>
          <p:cNvSpPr/>
          <p:nvPr/>
        </p:nvSpPr>
        <p:spPr>
          <a:xfrm>
            <a:off x="566928" y="4055364"/>
            <a:ext cx="11057839" cy="684276"/>
          </a:xfrm>
          <a:prstGeom prst="roundRect">
            <a:avLst>
              <a:gd name="adj" fmla="val 10690"/>
            </a:avLst>
          </a:prstGeom>
          <a:solidFill>
            <a:srgbClr val="25395F"/>
          </a:solidFill>
          <a:ln w="12700">
            <a:solidFill>
              <a:srgbClr val="25395F"/>
            </a:solidFill>
            <a:prstDash val="solid"/>
          </a:ln>
        </p:spPr>
      </p:sp>
      <p:sp>
        <p:nvSpPr>
          <p:cNvPr id="17" name="Shape 12"/>
          <p:cNvSpPr/>
          <p:nvPr/>
        </p:nvSpPr>
        <p:spPr>
          <a:xfrm>
            <a:off x="859536" y="4196334"/>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17035"/>
            <a:ext cx="160934" cy="160934"/>
          </a:xfrm>
          <a:prstGeom prst="rect">
            <a:avLst/>
          </a:prstGeom>
        </p:spPr>
      </p:pic>
      <p:sp>
        <p:nvSpPr>
          <p:cNvPr id="19" name="Text 13"/>
          <p:cNvSpPr/>
          <p:nvPr/>
        </p:nvSpPr>
        <p:spPr>
          <a:xfrm>
            <a:off x="1444752" y="4197477"/>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法官规范以《法官法》《法官行为规范》《法官职业道德基本准则》为核心，五项基本要求为忠诚司法事业、保证司法公正、确保司法廉洁、坚持司法为民、维护司法形象；检察官规范以2016年《检察官职业道德基本准则》五条为纲，关键词为忠诚、为民、担当、公正、廉洁。</a:t>
            </a:r>
            <a:endParaRPr lang="en-US" sz="1050" dirty="0"/>
          </a:p>
        </p:txBody>
      </p:sp>
      <p:sp>
        <p:nvSpPr>
          <p:cNvPr id="20" name="Shape 14"/>
          <p:cNvSpPr/>
          <p:nvPr/>
        </p:nvSpPr>
        <p:spPr>
          <a:xfrm>
            <a:off x="566928" y="4876800"/>
            <a:ext cx="11057839" cy="684276"/>
          </a:xfrm>
          <a:prstGeom prst="roundRect">
            <a:avLst>
              <a:gd name="adj" fmla="val 10690"/>
            </a:avLst>
          </a:prstGeom>
          <a:solidFill>
            <a:srgbClr val="25395F"/>
          </a:solidFill>
          <a:ln w="12700">
            <a:solidFill>
              <a:srgbClr val="25395F"/>
            </a:solidFill>
            <a:prstDash val="solid"/>
          </a:ln>
        </p:spPr>
      </p:sp>
      <p:sp>
        <p:nvSpPr>
          <p:cNvPr id="21" name="Shape 15"/>
          <p:cNvSpPr/>
          <p:nvPr/>
        </p:nvSpPr>
        <p:spPr>
          <a:xfrm>
            <a:off x="859536" y="5017770"/>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138471"/>
            <a:ext cx="160934" cy="160934"/>
          </a:xfrm>
          <a:prstGeom prst="rect">
            <a:avLst/>
          </a:prstGeom>
        </p:spPr>
      </p:pic>
      <p:sp>
        <p:nvSpPr>
          <p:cNvPr id="23" name="Text 16"/>
          <p:cNvSpPr/>
          <p:nvPr/>
        </p:nvSpPr>
        <p:spPr>
          <a:xfrm>
            <a:off x="1444752" y="5018913"/>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国际层面须知《关于律师作用的基本原则》《班加罗尔司法行为准则》、ABA《律师职业行为示范规则》与IBA准则；英美法系重行业自治与知情同意，大陆法系重成文规定与律师的公共角色。</a:t>
            </a:r>
            <a:endParaRPr lang="en-US" sz="1050" dirty="0"/>
          </a:p>
        </p:txBody>
      </p:sp>
      <p:sp>
        <p:nvSpPr>
          <p:cNvPr id="24" name="Shape 17"/>
          <p:cNvSpPr/>
          <p:nvPr/>
        </p:nvSpPr>
        <p:spPr>
          <a:xfrm>
            <a:off x="566928" y="5698236"/>
            <a:ext cx="11057839" cy="684276"/>
          </a:xfrm>
          <a:prstGeom prst="roundRect">
            <a:avLst>
              <a:gd name="adj" fmla="val 10690"/>
            </a:avLst>
          </a:prstGeom>
          <a:solidFill>
            <a:srgbClr val="25395F"/>
          </a:solidFill>
          <a:ln w="12700">
            <a:solidFill>
              <a:srgbClr val="25395F"/>
            </a:solidFill>
            <a:prstDash val="solid"/>
          </a:ln>
        </p:spPr>
      </p:sp>
      <p:sp>
        <p:nvSpPr>
          <p:cNvPr id="25" name="Shape 18"/>
          <p:cNvSpPr/>
          <p:nvPr/>
        </p:nvSpPr>
        <p:spPr>
          <a:xfrm>
            <a:off x="859536" y="5839206"/>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59907"/>
            <a:ext cx="160934" cy="160934"/>
          </a:xfrm>
          <a:prstGeom prst="rect">
            <a:avLst/>
          </a:prstGeom>
        </p:spPr>
      </p:pic>
      <p:sp>
        <p:nvSpPr>
          <p:cNvPr id="27" name="Text 19"/>
          <p:cNvSpPr/>
          <p:nvPr/>
        </p:nvSpPr>
        <p:spPr>
          <a:xfrm>
            <a:off x="1444752" y="584034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中国有发达的古代官箴文化而无律师伦理传统；1912年《律师暂行章程》为成文化开端，1980年后经《律师暂行条例》《律师法》至2010年代形成三大规范体系并立的格局。</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02</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第二编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法官职业伦理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司法权的属性决定法官伦理的内容：独立、中立、廉洁、为民、形象</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第5课时　司法权的属性与法官职业伦理规范体系</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第6课时　保证司法公正（一）：司法独立与法官的独立义务</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第7课时　保证司法公正（二）：中立、回避与程序伦理</a:t>
            </a:r>
            <a:endParaRPr lang="en-US" sz="1350" dirty="0"/>
          </a:p>
        </p:txBody>
      </p:sp>
      <p:sp>
        <p:nvSpPr>
          <p:cNvPr id="14" name="Text 12"/>
          <p:cNvSpPr/>
          <p:nvPr/>
        </p:nvSpPr>
        <p:spPr>
          <a:xfrm>
            <a:off x="8476488" y="378675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4</a:t>
            </a:r>
            <a:endParaRPr lang="en-US" sz="1250" dirty="0"/>
          </a:p>
        </p:txBody>
      </p:sp>
      <p:sp>
        <p:nvSpPr>
          <p:cNvPr id="15" name="Text 13"/>
          <p:cNvSpPr/>
          <p:nvPr/>
        </p:nvSpPr>
        <p:spPr>
          <a:xfrm>
            <a:off x="8823960" y="378675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第8课时　司法廉洁、司法为民、司法形象与法官惩戒制度</a:t>
            </a:r>
            <a:endParaRPr lang="en-US" sz="13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第5课时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司法权的属性与法官职业伦理规范体系</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法官的伦理义务不是外部强加的道德要求，而是从司法权自身的属性中推导出来的</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司法权的六项程序特征如何决定法官的行为方式</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司法独立的四个层次：整体、内部、身份、特权</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法官职业伦理的五项基本要求与规范体系</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从权力属性到伦理义务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一、为什么要从司法权的属性讲起</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二、司法权的六项程序特征</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三、司法权的独立性：四个层次</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四、法官职业伦理的规范体系</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五、五项基本要求与域外参照</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02</a:t>
            </a:r>
            <a:endParaRPr lang="en-US" sz="11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为什么要从司法权的属性讲起</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伦理义务不能凭空设定，它必须能够从权力的性质中被推导出来</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03</a:t>
            </a:r>
            <a:endParaRPr lang="en-US" sz="11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方法论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一条推导链：权力属性 → 行为要求 → 伦理规范</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请各位建立一个方法论意识：法官为什么必须回避、为什么不得单方接触当事人、为什么不能从事营利活动——这些都不是道德说教，而是有推导路径的。</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第一步，确定司法权是一种什么性质的权力。它与立法权、行政权有何不同？</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第二步，从这种性质中推出司法权行使的行为要求。比如：既然司法具有被动性，法官就不得主动介入纠纷、不得为一方出谋划策。</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第三步，把这些行为要求规范化，形成可以援引、可以惩戒的职业伦理规则。</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掌握这条推导链的意义在于：当你遇到规范没有明确规定的新情形时，你可以自己推导出答案——回到司法权的属性去问，什么样的做法与这种权力的性质相容。</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04</a:t>
            </a:r>
            <a:endParaRPr lang="en-US" sz="11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三种权力的性质差异</a:t>
            </a:r>
            <a:endParaRPr lang="en-US" sz="2800" dirty="0"/>
          </a:p>
        </p:txBody>
      </p:sp>
      <p:sp>
        <p:nvSpPr>
          <p:cNvPr id="4" name="Shape 2"/>
          <p:cNvSpPr/>
          <p:nvPr/>
        </p:nvSpPr>
        <p:spPr>
          <a:xfrm>
            <a:off x="566928" y="2076133"/>
            <a:ext cx="3527450" cy="35469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233216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3216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立法权</a:t>
            </a:r>
            <a:endParaRPr lang="en-US" sz="1600" dirty="0"/>
          </a:p>
        </p:txBody>
      </p:sp>
      <p:sp>
        <p:nvSpPr>
          <p:cNvPr id="7" name="Text 5"/>
          <p:cNvSpPr/>
          <p:nvPr/>
        </p:nvSpPr>
        <p:spPr>
          <a:xfrm>
            <a:off x="932688" y="2990533"/>
            <a:ext cx="2795930"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面向未来，创设一般性规则。</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以民主代表性为正当性基础。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过程以协商、妥协、表决为特征。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允许并鼓励价值偏好的表达。</a:t>
            </a:r>
            <a:endParaRPr lang="en-US" sz="1450" dirty="0"/>
          </a:p>
        </p:txBody>
      </p:sp>
      <p:sp>
        <p:nvSpPr>
          <p:cNvPr id="8" name="Shape 6"/>
          <p:cNvSpPr/>
          <p:nvPr/>
        </p:nvSpPr>
        <p:spPr>
          <a:xfrm>
            <a:off x="4332122" y="2076133"/>
            <a:ext cx="3527450" cy="35469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233216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233216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行政权</a:t>
            </a:r>
            <a:endParaRPr lang="en-US" sz="1600" dirty="0"/>
          </a:p>
        </p:txBody>
      </p:sp>
      <p:sp>
        <p:nvSpPr>
          <p:cNvPr id="11" name="Text 9"/>
          <p:cNvSpPr/>
          <p:nvPr/>
        </p:nvSpPr>
        <p:spPr>
          <a:xfrm>
            <a:off x="4697882" y="2990533"/>
            <a:ext cx="2795930"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主动干预、管理、控制社会生活。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以效率与目标实现为导向。</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层级服从，上命下从。</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正当性来自法律授权与执行效果。</a:t>
            </a:r>
            <a:endParaRPr lang="en-US" sz="1450" dirty="0"/>
          </a:p>
        </p:txBody>
      </p:sp>
      <p:sp>
        <p:nvSpPr>
          <p:cNvPr id="12" name="Shape 10"/>
          <p:cNvSpPr/>
          <p:nvPr/>
        </p:nvSpPr>
        <p:spPr>
          <a:xfrm>
            <a:off x="8097317" y="2076133"/>
            <a:ext cx="3527450" cy="35469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233216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233216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司法权</a:t>
            </a:r>
            <a:endParaRPr lang="en-US" sz="1600" dirty="0"/>
          </a:p>
        </p:txBody>
      </p:sp>
      <p:sp>
        <p:nvSpPr>
          <p:cNvPr id="15" name="Text 13"/>
          <p:cNvSpPr/>
          <p:nvPr/>
        </p:nvSpPr>
        <p:spPr>
          <a:xfrm>
            <a:off x="8463077" y="2990533"/>
            <a:ext cx="2795930"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被动应答，不告不理。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以中立与程序公正为正当性基础。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亲历审理，居中裁断，一案一决。</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严禁裁判者表达预设的价值偏好。</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05</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司法权的六项程序特征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被动性、公开性、多方参与性、亲历性、集中性、终结性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06</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特征一至三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被动性 · 公开性 · 多方参与性</a:t>
            </a:r>
            <a:endParaRPr lang="en-US" sz="2800" dirty="0"/>
          </a:p>
        </p:txBody>
      </p:sp>
      <p:sp>
        <p:nvSpPr>
          <p:cNvPr id="4" name="Shape 2"/>
          <p:cNvSpPr/>
          <p:nvPr/>
        </p:nvSpPr>
        <p:spPr>
          <a:xfrm>
            <a:off x="566928" y="1316736"/>
            <a:ext cx="11057839" cy="1848866"/>
          </a:xfrm>
          <a:prstGeom prst="roundRect">
            <a:avLst>
              <a:gd name="adj" fmla="val 3957"/>
            </a:avLst>
          </a:prstGeom>
          <a:solidFill>
            <a:srgbClr val="F2F4F8"/>
          </a:solidFill>
          <a:ln w="12700">
            <a:solidFill>
              <a:srgbClr val="F2F4F8"/>
            </a:solidFill>
            <a:prstDash val="solid"/>
          </a:ln>
        </p:spPr>
      </p:sp>
      <p:sp>
        <p:nvSpPr>
          <p:cNvPr id="5" name="Shape 3"/>
          <p:cNvSpPr/>
          <p:nvPr/>
        </p:nvSpPr>
        <p:spPr>
          <a:xfrm>
            <a:off x="841248" y="198513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38756"/>
            <a:ext cx="204826" cy="204826"/>
          </a:xfrm>
          <a:prstGeom prst="rect">
            <a:avLst/>
          </a:prstGeom>
        </p:spPr>
      </p:pic>
      <p:sp>
        <p:nvSpPr>
          <p:cNvPr id="7" name="Text 4"/>
          <p:cNvSpPr/>
          <p:nvPr/>
        </p:nvSpPr>
        <p:spPr>
          <a:xfrm>
            <a:off x="1536192" y="1558925"/>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一、被动性：不告不理</a:t>
            </a:r>
            <a:endParaRPr lang="en-US" sz="1600" dirty="0"/>
          </a:p>
        </p:txBody>
      </p:sp>
      <p:sp>
        <p:nvSpPr>
          <p:cNvPr id="8" name="Text 5"/>
          <p:cNvSpPr/>
          <p:nvPr/>
        </p:nvSpPr>
        <p:spPr>
          <a:xfrm>
            <a:off x="1536192" y="1892173"/>
            <a:ext cx="9832543" cy="103124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通常情况下，行政机构靠其对社会生活的主动干预、管理、控制，来维护国家和社会的利益。但与此不同，司法裁判活动在启动方面必须保持被动性。托克维尔说：司法权自身不是主动的，要想使它行动，就得推动它。向它告发一个犯罪案件，它就惩罚犯罪的人；请它纠正一个非法行为，它就加以纠正；让它审查一项法案，它就予以解释。但是，它不能自己去追捕罪犯、调查非法行为和纠察事实。</a:t>
            </a:r>
            <a:endParaRPr lang="en-US" sz="1400" dirty="0"/>
          </a:p>
        </p:txBody>
      </p:sp>
      <p:sp>
        <p:nvSpPr>
          <p:cNvPr id="9" name="Shape 6"/>
          <p:cNvSpPr/>
          <p:nvPr/>
        </p:nvSpPr>
        <p:spPr>
          <a:xfrm>
            <a:off x="566928" y="3311906"/>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85140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4005021"/>
            <a:ext cx="204826" cy="204826"/>
          </a:xfrm>
          <a:prstGeom prst="rect">
            <a:avLst/>
          </a:prstGeom>
        </p:spPr>
      </p:pic>
      <p:sp>
        <p:nvSpPr>
          <p:cNvPr id="12" name="Text 8"/>
          <p:cNvSpPr/>
          <p:nvPr/>
        </p:nvSpPr>
        <p:spPr>
          <a:xfrm>
            <a:off x="1536192" y="3554095"/>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二、公开性与透明性</a:t>
            </a:r>
            <a:endParaRPr lang="en-US" sz="1600" dirty="0"/>
          </a:p>
        </p:txBody>
      </p:sp>
      <p:sp>
        <p:nvSpPr>
          <p:cNvPr id="13" name="Text 9"/>
          <p:cNvSpPr/>
          <p:nvPr/>
        </p:nvSpPr>
        <p:spPr>
          <a:xfrm>
            <a:off x="1536192" y="3887343"/>
            <a:ext cx="9832543" cy="77343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使社会公众真正全面地了解司法裁判活动的过程、裁决形成的依据，从而参与裁判过程、对法院的裁判施加外部制约；使被裁判者——尤其是刑事被告人的各项诉讼权利得到切实行使；使裁判者克服人性中固有的弱点，压制私欲、偏见、先入之见的影响，尽可能依据证据和法律作出裁判结论。</a:t>
            </a:r>
            <a:endParaRPr lang="en-US" sz="1400" dirty="0"/>
          </a:p>
        </p:txBody>
      </p:sp>
      <p:sp>
        <p:nvSpPr>
          <p:cNvPr id="14" name="Shape 10"/>
          <p:cNvSpPr/>
          <p:nvPr/>
        </p:nvSpPr>
        <p:spPr>
          <a:xfrm>
            <a:off x="566928" y="5049266"/>
            <a:ext cx="11057839" cy="1333246"/>
          </a:xfrm>
          <a:prstGeom prst="roundRect">
            <a:avLst>
              <a:gd name="adj" fmla="val 5487"/>
            </a:avLst>
          </a:prstGeom>
          <a:solidFill>
            <a:srgbClr val="F2F4F8"/>
          </a:solidFill>
          <a:ln w="12700">
            <a:solidFill>
              <a:srgbClr val="F2F4F8"/>
            </a:solidFill>
            <a:prstDash val="solid"/>
          </a:ln>
        </p:spPr>
      </p:sp>
      <p:sp>
        <p:nvSpPr>
          <p:cNvPr id="15" name="Shape 11"/>
          <p:cNvSpPr/>
          <p:nvPr/>
        </p:nvSpPr>
        <p:spPr>
          <a:xfrm>
            <a:off x="841248" y="545985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613476"/>
            <a:ext cx="204826" cy="204826"/>
          </a:xfrm>
          <a:prstGeom prst="rect">
            <a:avLst/>
          </a:prstGeom>
        </p:spPr>
      </p:pic>
      <p:sp>
        <p:nvSpPr>
          <p:cNvPr id="17" name="Text 12"/>
          <p:cNvSpPr/>
          <p:nvPr/>
        </p:nvSpPr>
        <p:spPr>
          <a:xfrm>
            <a:off x="1536192" y="5291455"/>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三、多方参与性</a:t>
            </a:r>
            <a:endParaRPr lang="en-US" sz="1600" dirty="0"/>
          </a:p>
        </p:txBody>
      </p:sp>
      <p:sp>
        <p:nvSpPr>
          <p:cNvPr id="18" name="Text 13"/>
          <p:cNvSpPr/>
          <p:nvPr/>
        </p:nvSpPr>
        <p:spPr>
          <a:xfrm>
            <a:off x="1536192" y="5624703"/>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司法裁判活动必须在作为被裁判者的控辩双方同时参与下，通过听取各方举证、辩论的方式进行。否则，无论是被裁判者还是普通社会公众，都可能对那种由裁判者单方面进行的裁判活动的公正性提出异议。这正是禁止单方接触规则的法理基础。</a:t>
            </a:r>
            <a:endParaRPr lang="en-US" sz="14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07</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特征四至六</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亲历性 · 集中性 · 终结性</a:t>
            </a:r>
            <a:endParaRPr lang="en-US" sz="2800" dirty="0"/>
          </a:p>
        </p:txBody>
      </p:sp>
      <p:sp>
        <p:nvSpPr>
          <p:cNvPr id="4" name="Shape 2"/>
          <p:cNvSpPr/>
          <p:nvPr/>
        </p:nvSpPr>
        <p:spPr>
          <a:xfrm>
            <a:off x="566928" y="1316736"/>
            <a:ext cx="11057839" cy="1591056"/>
          </a:xfrm>
          <a:prstGeom prst="roundRect">
            <a:avLst>
              <a:gd name="adj" fmla="val 4598"/>
            </a:avLst>
          </a:prstGeom>
          <a:solidFill>
            <a:srgbClr val="F2F4F8"/>
          </a:solidFill>
          <a:ln w="12700">
            <a:solidFill>
              <a:srgbClr val="F2F4F8"/>
            </a:solidFill>
            <a:prstDash val="solid"/>
          </a:ln>
        </p:spPr>
      </p:sp>
      <p:sp>
        <p:nvSpPr>
          <p:cNvPr id="5" name="Shape 3"/>
          <p:cNvSpPr/>
          <p:nvPr/>
        </p:nvSpPr>
        <p:spPr>
          <a:xfrm>
            <a:off x="841248" y="185623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09851"/>
            <a:ext cx="204826" cy="204826"/>
          </a:xfrm>
          <a:prstGeom prst="rect">
            <a:avLst/>
          </a:prstGeom>
        </p:spPr>
      </p:pic>
      <p:sp>
        <p:nvSpPr>
          <p:cNvPr id="7" name="Text 4"/>
          <p:cNvSpPr/>
          <p:nvPr/>
        </p:nvSpPr>
        <p:spPr>
          <a:xfrm>
            <a:off x="1536192" y="152723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四、亲历性：裁判者要亲自经历裁判全过程</a:t>
            </a:r>
            <a:endParaRPr lang="en-US" sz="1650" dirty="0"/>
          </a:p>
        </p:txBody>
      </p:sp>
      <p:sp>
        <p:nvSpPr>
          <p:cNvPr id="8" name="Text 5"/>
          <p:cNvSpPr/>
          <p:nvPr/>
        </p:nvSpPr>
        <p:spPr>
          <a:xfrm>
            <a:off x="1536192" y="186861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亲历性有两个基本要求：一是直接审理，要求裁判者在裁判过程中必须亲自在场，接触那些距离原始事实最近的证据材料；二是言词审理，要求裁判者以口头方式进行裁判活动，听取控辩双方以口头方式提交的各类证据。宋慈《洗冤集录》强调勘验须亲历亲为、不可假手他人，正是这一原则的古代表达。</a:t>
            </a:r>
            <a:endParaRPr lang="en-US" sz="1500" dirty="0"/>
          </a:p>
        </p:txBody>
      </p:sp>
      <p:sp>
        <p:nvSpPr>
          <p:cNvPr id="9" name="Shape 6"/>
          <p:cNvSpPr/>
          <p:nvPr/>
        </p:nvSpPr>
        <p:spPr>
          <a:xfrm>
            <a:off x="566928" y="3054096"/>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五、集中性：不更换、不间断</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裁判活动要在相对集中的时间、集中的场所连续不断地进行，直至形成最后的裁判结论为止。集中性与亲历性密切相关，有两个基本要求：裁判者不更换、裁判过程不间断。据前一要求，作为裁判者的法官、陪审员在对一个案件尚未形成裁决结论之前不得中途更换，否则业已进行完毕的裁判活动无效。</a:t>
            </a:r>
            <a:endParaRPr lang="en-US" sz="1500" dirty="0"/>
          </a:p>
        </p:txBody>
      </p:sp>
      <p:sp>
        <p:nvSpPr>
          <p:cNvPr id="14" name="Shape 10"/>
          <p:cNvSpPr/>
          <p:nvPr/>
        </p:nvSpPr>
        <p:spPr>
          <a:xfrm>
            <a:off x="566928" y="4791456"/>
            <a:ext cx="11057839" cy="1591056"/>
          </a:xfrm>
          <a:prstGeom prst="roundRect">
            <a:avLst>
              <a:gd name="adj" fmla="val 4598"/>
            </a:avLst>
          </a:prstGeom>
          <a:solidFill>
            <a:srgbClr val="F2F4F8"/>
          </a:solidFill>
          <a:ln w="12700">
            <a:solidFill>
              <a:srgbClr val="F2F4F8"/>
            </a:solidFill>
            <a:prstDash val="solid"/>
          </a:ln>
        </p:spPr>
      </p:sp>
      <p:sp>
        <p:nvSpPr>
          <p:cNvPr id="15" name="Shape 11"/>
          <p:cNvSpPr/>
          <p:nvPr/>
        </p:nvSpPr>
        <p:spPr>
          <a:xfrm>
            <a:off x="841248" y="533095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84571"/>
            <a:ext cx="204826" cy="204826"/>
          </a:xfrm>
          <a:prstGeom prst="rect">
            <a:avLst/>
          </a:prstGeom>
        </p:spPr>
      </p:pic>
      <p:sp>
        <p:nvSpPr>
          <p:cNvPr id="17" name="Text 12"/>
          <p:cNvSpPr/>
          <p:nvPr/>
        </p:nvSpPr>
        <p:spPr>
          <a:xfrm>
            <a:off x="1536192" y="500195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六、终结性：定纷止争</a:t>
            </a:r>
            <a:endParaRPr lang="en-US" sz="1650" dirty="0"/>
          </a:p>
        </p:txBody>
      </p:sp>
      <p:sp>
        <p:nvSpPr>
          <p:cNvPr id="18" name="Text 13"/>
          <p:cNvSpPr/>
          <p:nvPr/>
        </p:nvSpPr>
        <p:spPr>
          <a:xfrm>
            <a:off x="1536192" y="534333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法院在作出生效裁判之后，非依法律明确规定，不得启动对该案件的再审程序；控辩双方之间的利益争端一旦由裁判者以生效裁判的形式加以解决，一般不得再将这一争端纳入司法裁判的范围。终结性是对裁判活动在终结环节上的要求，从而使裁判具有定纷止争的效力。</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08</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推导</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六项特征各自推出哪些伦理义务</a:t>
            </a:r>
            <a:endParaRPr lang="en-US" sz="2800" dirty="0"/>
          </a:p>
        </p:txBody>
      </p:sp>
      <p:sp>
        <p:nvSpPr>
          <p:cNvPr id="4" name="Shape 2"/>
          <p:cNvSpPr/>
          <p:nvPr/>
        </p:nvSpPr>
        <p:spPr>
          <a:xfrm>
            <a:off x="566928" y="1384491"/>
            <a:ext cx="3527450"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7709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14259"/>
            <a:ext cx="182880" cy="182880"/>
          </a:xfrm>
          <a:prstGeom prst="rect">
            <a:avLst/>
          </a:prstGeom>
        </p:spPr>
      </p:pic>
      <p:sp>
        <p:nvSpPr>
          <p:cNvPr id="7" name="Text 4"/>
          <p:cNvSpPr/>
          <p:nvPr/>
        </p:nvSpPr>
        <p:spPr>
          <a:xfrm>
            <a:off x="886968" y="2298891"/>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被动性 →</a:t>
            </a:r>
            <a:endParaRPr lang="en-US" sz="1400" dirty="0"/>
          </a:p>
        </p:txBody>
      </p:sp>
      <p:sp>
        <p:nvSpPr>
          <p:cNvPr id="8" name="Text 5"/>
          <p:cNvSpPr/>
          <p:nvPr/>
        </p:nvSpPr>
        <p:spPr>
          <a:xfrm>
            <a:off x="886968" y="2649157"/>
            <a:ext cx="2887370"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不得主动为当事人出谋划策；不得动员当事人起诉或撤诉；不得超出诉讼请求范围裁判；不得在庭外主动调查取证（法定情形除外）。</a:t>
            </a:r>
            <a:endParaRPr lang="en-US" sz="1150" dirty="0"/>
          </a:p>
        </p:txBody>
      </p:sp>
      <p:sp>
        <p:nvSpPr>
          <p:cNvPr id="9" name="Shape 6"/>
          <p:cNvSpPr/>
          <p:nvPr/>
        </p:nvSpPr>
        <p:spPr>
          <a:xfrm>
            <a:off x="4332122" y="1384491"/>
            <a:ext cx="3527450" cy="2423160"/>
          </a:xfrm>
          <a:prstGeom prst="roundRect">
            <a:avLst>
              <a:gd name="adj" fmla="val 3774"/>
            </a:avLst>
          </a:prstGeom>
          <a:solidFill>
            <a:srgbClr val="F2F4F8"/>
          </a:solidFill>
          <a:ln w="12700">
            <a:solidFill>
              <a:srgbClr val="F2F4F8"/>
            </a:solidFill>
            <a:prstDash val="solid"/>
          </a:ln>
        </p:spPr>
      </p:sp>
      <p:sp>
        <p:nvSpPr>
          <p:cNvPr id="10" name="Shape 7"/>
          <p:cNvSpPr/>
          <p:nvPr/>
        </p:nvSpPr>
        <p:spPr>
          <a:xfrm>
            <a:off x="4652162" y="1677099"/>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4789322" y="1814259"/>
            <a:ext cx="182880" cy="182880"/>
          </a:xfrm>
          <a:prstGeom prst="rect">
            <a:avLst/>
          </a:prstGeom>
        </p:spPr>
      </p:pic>
      <p:sp>
        <p:nvSpPr>
          <p:cNvPr id="12" name="Text 8"/>
          <p:cNvSpPr/>
          <p:nvPr/>
        </p:nvSpPr>
        <p:spPr>
          <a:xfrm>
            <a:off x="4652162" y="2298891"/>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公开性 →</a:t>
            </a:r>
            <a:endParaRPr lang="en-US" sz="1400" dirty="0"/>
          </a:p>
        </p:txBody>
      </p:sp>
      <p:sp>
        <p:nvSpPr>
          <p:cNvPr id="13" name="Text 9"/>
          <p:cNvSpPr/>
          <p:nvPr/>
        </p:nvSpPr>
        <p:spPr>
          <a:xfrm>
            <a:off x="4652162" y="2649157"/>
            <a:ext cx="2887370"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依法公开审理与宣判；裁判文书说理并公开；不得对应当公开的事项作不当保密；同时须保守审判工作秘密与个人隐私。</a:t>
            </a:r>
            <a:endParaRPr lang="en-US" sz="1150" dirty="0"/>
          </a:p>
        </p:txBody>
      </p:sp>
      <p:sp>
        <p:nvSpPr>
          <p:cNvPr id="14" name="Shape 10"/>
          <p:cNvSpPr/>
          <p:nvPr/>
        </p:nvSpPr>
        <p:spPr>
          <a:xfrm>
            <a:off x="8097317" y="1384491"/>
            <a:ext cx="3527450" cy="2423160"/>
          </a:xfrm>
          <a:prstGeom prst="roundRect">
            <a:avLst>
              <a:gd name="adj" fmla="val 3774"/>
            </a:avLst>
          </a:prstGeom>
          <a:solidFill>
            <a:srgbClr val="F2F4F8"/>
          </a:solidFill>
          <a:ln w="12700">
            <a:solidFill>
              <a:srgbClr val="F2F4F8"/>
            </a:solidFill>
            <a:prstDash val="solid"/>
          </a:ln>
        </p:spPr>
      </p:sp>
      <p:sp>
        <p:nvSpPr>
          <p:cNvPr id="15" name="Shape 11"/>
          <p:cNvSpPr/>
          <p:nvPr/>
        </p:nvSpPr>
        <p:spPr>
          <a:xfrm>
            <a:off x="8417357" y="1677099"/>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8554517" y="1814259"/>
            <a:ext cx="182880" cy="182880"/>
          </a:xfrm>
          <a:prstGeom prst="rect">
            <a:avLst/>
          </a:prstGeom>
        </p:spPr>
      </p:pic>
      <p:sp>
        <p:nvSpPr>
          <p:cNvPr id="17" name="Text 12"/>
          <p:cNvSpPr/>
          <p:nvPr/>
        </p:nvSpPr>
        <p:spPr>
          <a:xfrm>
            <a:off x="8417357" y="2298891"/>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多方参与性 →</a:t>
            </a:r>
            <a:endParaRPr lang="en-US" sz="1400" dirty="0"/>
          </a:p>
        </p:txBody>
      </p:sp>
      <p:sp>
        <p:nvSpPr>
          <p:cNvPr id="18" name="Text 13"/>
          <p:cNvSpPr/>
          <p:nvPr/>
        </p:nvSpPr>
        <p:spPr>
          <a:xfrm>
            <a:off x="8417357" y="2649157"/>
            <a:ext cx="2887370"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禁止单方接触；应当给予双方平等的陈述与举证机会；不得对一方作出程序上的优待；调解中不得偏袒。</a:t>
            </a:r>
            <a:endParaRPr lang="en-US" sz="1150" dirty="0"/>
          </a:p>
        </p:txBody>
      </p:sp>
      <p:sp>
        <p:nvSpPr>
          <p:cNvPr id="19" name="Shape 14"/>
          <p:cNvSpPr/>
          <p:nvPr/>
        </p:nvSpPr>
        <p:spPr>
          <a:xfrm>
            <a:off x="566928" y="4027107"/>
            <a:ext cx="3527450" cy="2287651"/>
          </a:xfrm>
          <a:prstGeom prst="roundRect">
            <a:avLst>
              <a:gd name="adj" fmla="val 3997"/>
            </a:avLst>
          </a:prstGeom>
          <a:solidFill>
            <a:srgbClr val="F2F4F8"/>
          </a:solidFill>
          <a:ln w="12700">
            <a:solidFill>
              <a:srgbClr val="F2F4F8"/>
            </a:solidFill>
            <a:prstDash val="solid"/>
          </a:ln>
        </p:spPr>
      </p:sp>
      <p:sp>
        <p:nvSpPr>
          <p:cNvPr id="20" name="Shape 15"/>
          <p:cNvSpPr/>
          <p:nvPr/>
        </p:nvSpPr>
        <p:spPr>
          <a:xfrm>
            <a:off x="886968" y="4319715"/>
            <a:ext cx="457200" cy="457200"/>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1024128" y="4456875"/>
            <a:ext cx="182880" cy="182880"/>
          </a:xfrm>
          <a:prstGeom prst="rect">
            <a:avLst/>
          </a:prstGeom>
        </p:spPr>
      </p:pic>
      <p:sp>
        <p:nvSpPr>
          <p:cNvPr id="22" name="Text 16"/>
          <p:cNvSpPr/>
          <p:nvPr/>
        </p:nvSpPr>
        <p:spPr>
          <a:xfrm>
            <a:off x="886968" y="4941507"/>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亲历性 →</a:t>
            </a:r>
            <a:endParaRPr lang="en-US" sz="1400" dirty="0"/>
          </a:p>
        </p:txBody>
      </p:sp>
      <p:sp>
        <p:nvSpPr>
          <p:cNvPr id="23" name="Text 17"/>
          <p:cNvSpPr/>
          <p:nvPr/>
        </p:nvSpPr>
        <p:spPr>
          <a:xfrm>
            <a:off x="886968" y="5291773"/>
            <a:ext cx="2887370"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必须亲自参加庭审；不得由未参加审理者作出裁判；合议庭成员应当实质参与评议；不得以阅卷代替开庭。</a:t>
            </a:r>
            <a:endParaRPr lang="en-US" sz="1150" dirty="0"/>
          </a:p>
        </p:txBody>
      </p:sp>
      <p:sp>
        <p:nvSpPr>
          <p:cNvPr id="24" name="Shape 18"/>
          <p:cNvSpPr/>
          <p:nvPr/>
        </p:nvSpPr>
        <p:spPr>
          <a:xfrm>
            <a:off x="4332122" y="4027107"/>
            <a:ext cx="3527450" cy="2287651"/>
          </a:xfrm>
          <a:prstGeom prst="roundRect">
            <a:avLst>
              <a:gd name="adj" fmla="val 3997"/>
            </a:avLst>
          </a:prstGeom>
          <a:solidFill>
            <a:srgbClr val="F2F4F8"/>
          </a:solidFill>
          <a:ln w="12700">
            <a:solidFill>
              <a:srgbClr val="F2F4F8"/>
            </a:solidFill>
            <a:prstDash val="solid"/>
          </a:ln>
        </p:spPr>
      </p:sp>
      <p:sp>
        <p:nvSpPr>
          <p:cNvPr id="25" name="Shape 19"/>
          <p:cNvSpPr/>
          <p:nvPr/>
        </p:nvSpPr>
        <p:spPr>
          <a:xfrm>
            <a:off x="4652162" y="4319715"/>
            <a:ext cx="457200" cy="457200"/>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4789322" y="4456875"/>
            <a:ext cx="182880" cy="182880"/>
          </a:xfrm>
          <a:prstGeom prst="rect">
            <a:avLst/>
          </a:prstGeom>
        </p:spPr>
      </p:pic>
      <p:sp>
        <p:nvSpPr>
          <p:cNvPr id="27" name="Text 20"/>
          <p:cNvSpPr/>
          <p:nvPr/>
        </p:nvSpPr>
        <p:spPr>
          <a:xfrm>
            <a:off x="4652162" y="4941507"/>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集中性 →</a:t>
            </a:r>
            <a:endParaRPr lang="en-US" sz="1400" dirty="0"/>
          </a:p>
        </p:txBody>
      </p:sp>
      <p:sp>
        <p:nvSpPr>
          <p:cNvPr id="28" name="Text 21"/>
          <p:cNvSpPr/>
          <p:nvPr/>
        </p:nvSpPr>
        <p:spPr>
          <a:xfrm>
            <a:off x="4652162" y="5291773"/>
            <a:ext cx="2887370"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不得无正当理由中途更换承办人；不得无故拖延审理；变更合议庭组成人员应当重新开庭。</a:t>
            </a:r>
            <a:endParaRPr lang="en-US" sz="1150" dirty="0"/>
          </a:p>
        </p:txBody>
      </p:sp>
      <p:sp>
        <p:nvSpPr>
          <p:cNvPr id="29" name="Shape 22"/>
          <p:cNvSpPr/>
          <p:nvPr/>
        </p:nvSpPr>
        <p:spPr>
          <a:xfrm>
            <a:off x="8097317" y="4027107"/>
            <a:ext cx="3527450" cy="2287651"/>
          </a:xfrm>
          <a:prstGeom prst="roundRect">
            <a:avLst>
              <a:gd name="adj" fmla="val 3997"/>
            </a:avLst>
          </a:prstGeom>
          <a:solidFill>
            <a:srgbClr val="F2F4F8"/>
          </a:solidFill>
          <a:ln w="12700">
            <a:solidFill>
              <a:srgbClr val="F2F4F8"/>
            </a:solidFill>
            <a:prstDash val="solid"/>
          </a:ln>
        </p:spPr>
      </p:sp>
      <p:sp>
        <p:nvSpPr>
          <p:cNvPr id="30" name="Shape 23"/>
          <p:cNvSpPr/>
          <p:nvPr/>
        </p:nvSpPr>
        <p:spPr>
          <a:xfrm>
            <a:off x="8417357" y="4319715"/>
            <a:ext cx="457200" cy="457200"/>
          </a:xfrm>
          <a:prstGeom prst="ellipse">
            <a:avLst/>
          </a:prstGeom>
          <a:solidFill>
            <a:srgbClr val="13233F"/>
          </a:solidFill>
          <a:ln w="12700">
            <a:solidFill>
              <a:srgbClr val="13233F"/>
            </a:solidFill>
            <a:prstDash val="solid"/>
          </a:ln>
        </p:spPr>
      </p:sp>
      <p:pic>
        <p:nvPicPr>
          <p:cNvPr id="31" name="Image 5" descr="preencoded.png">    </p:cNvPr>
          <p:cNvPicPr>
            <a:picLocks noChangeAspect="1"/>
          </p:cNvPicPr>
          <p:nvPr/>
        </p:nvPicPr>
        <p:blipFill>
          <a:blip r:embed="rId6"/>
          <a:stretch>
            <a:fillRect/>
          </a:stretch>
        </p:blipFill>
        <p:spPr>
          <a:xfrm>
            <a:off x="8554517" y="4456875"/>
            <a:ext cx="182880" cy="182880"/>
          </a:xfrm>
          <a:prstGeom prst="rect">
            <a:avLst/>
          </a:prstGeom>
        </p:spPr>
      </p:pic>
      <p:sp>
        <p:nvSpPr>
          <p:cNvPr id="32" name="Text 24"/>
          <p:cNvSpPr/>
          <p:nvPr/>
        </p:nvSpPr>
        <p:spPr>
          <a:xfrm>
            <a:off x="8417357" y="4941507"/>
            <a:ext cx="2887370"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终结性 →</a:t>
            </a:r>
            <a:endParaRPr lang="en-US" sz="1400" dirty="0"/>
          </a:p>
        </p:txBody>
      </p:sp>
      <p:sp>
        <p:nvSpPr>
          <p:cNvPr id="33" name="Text 25"/>
          <p:cNvSpPr/>
          <p:nvPr/>
        </p:nvSpPr>
        <p:spPr>
          <a:xfrm>
            <a:off x="8417357" y="5291773"/>
            <a:ext cx="2887370"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审慎对待再审启动；尊重生效裁判的既判力；不得为迎合舆论或压力轻易推翻已决案件。</a:t>
            </a:r>
            <a:endParaRPr lang="en-US" sz="1150" dirty="0"/>
          </a:p>
        </p:txBody>
      </p:sp>
      <p:sp>
        <p:nvSpPr>
          <p:cNvPr id="34"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09</a:t>
            </a:r>
            <a:endParaRPr lang="en-US" sz="11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司法权的独立性：四个层次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司法独立的核心，是裁判者在裁判过程中只服从法律的要求与良心的命令</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10</a:t>
            </a:r>
            <a:endParaRPr lang="en-US" sz="11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司法独立的核心，是裁判者在进行司法裁判的过程中，只能服从法律的要求及其良心的命令，而不受任何来自法院内部或者外部的影响、干预或控制。</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司法独立原理</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这里的“裁判者”可以是个体法官，可以是由若干法官或陪审员组成的法庭，也可以是由非法律职业人士组成的陪审团</a:t>
            </a:r>
            <a:endParaRPr lang="en-US" sz="13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四个层次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从法院独立到法官特权</a:t>
            </a:r>
            <a:endParaRPr lang="en-US" sz="2800" dirty="0"/>
          </a:p>
        </p:txBody>
      </p:sp>
      <p:sp>
        <p:nvSpPr>
          <p:cNvPr id="4" name="Shape 2"/>
          <p:cNvSpPr/>
          <p:nvPr/>
        </p:nvSpPr>
        <p:spPr>
          <a:xfrm>
            <a:off x="566928" y="1316736"/>
            <a:ext cx="11057839" cy="1315545"/>
          </a:xfrm>
          <a:prstGeom prst="roundRect">
            <a:avLst>
              <a:gd name="adj" fmla="val 5561"/>
            </a:avLst>
          </a:prstGeom>
          <a:solidFill>
            <a:srgbClr val="F2F4F8"/>
          </a:solidFill>
          <a:ln w="12700">
            <a:solidFill>
              <a:srgbClr val="F2F4F8"/>
            </a:solidFill>
            <a:prstDash val="solid"/>
          </a:ln>
        </p:spPr>
      </p:sp>
      <p:sp>
        <p:nvSpPr>
          <p:cNvPr id="5" name="Shape 3"/>
          <p:cNvSpPr/>
          <p:nvPr/>
        </p:nvSpPr>
        <p:spPr>
          <a:xfrm>
            <a:off x="841248" y="171847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72096"/>
            <a:ext cx="204826" cy="204826"/>
          </a:xfrm>
          <a:prstGeom prst="rect">
            <a:avLst/>
          </a:prstGeom>
        </p:spPr>
      </p:pic>
      <p:sp>
        <p:nvSpPr>
          <p:cNvPr id="7" name="Text 4"/>
          <p:cNvSpPr/>
          <p:nvPr/>
        </p:nvSpPr>
        <p:spPr>
          <a:xfrm>
            <a:off x="1536192" y="1510546"/>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一、法院的整体独立</a:t>
            </a:r>
            <a:endParaRPr lang="en-US" sz="1350" dirty="0"/>
          </a:p>
        </p:txBody>
      </p:sp>
      <p:sp>
        <p:nvSpPr>
          <p:cNvPr id="8" name="Text 5"/>
          <p:cNvSpPr/>
          <p:nvPr/>
        </p:nvSpPr>
        <p:spPr>
          <a:xfrm>
            <a:off x="1536192" y="1803154"/>
            <a:ext cx="9832543"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指法院无论在司法裁判还是司法行政管理方面，都独立于法院之外的机构、组织和个人，不受外部力量或权威的控制和干预。考虑到法院活动极易受到其他国家权力机构的控制与干预，法院必须首先独立于行政机构和立法机构；又鉴于裁判活动也可能受到新闻传媒、大众舆论的不当影响，法律必须建立可使法院摆脱传媒和舆论不当影响的制度机制。</a:t>
            </a:r>
            <a:endParaRPr lang="en-US" sz="1150" dirty="0"/>
          </a:p>
        </p:txBody>
      </p:sp>
      <p:sp>
        <p:nvSpPr>
          <p:cNvPr id="9" name="Shape 6"/>
          <p:cNvSpPr/>
          <p:nvPr/>
        </p:nvSpPr>
        <p:spPr>
          <a:xfrm>
            <a:off x="566928" y="2778585"/>
            <a:ext cx="11057839" cy="1103773"/>
          </a:xfrm>
          <a:prstGeom prst="roundRect">
            <a:avLst>
              <a:gd name="adj" fmla="val 6627"/>
            </a:avLst>
          </a:prstGeom>
          <a:solidFill>
            <a:srgbClr val="FFFFFF"/>
          </a:solidFill>
          <a:ln w="12700">
            <a:solidFill>
              <a:srgbClr val="D5DBE5"/>
            </a:solidFill>
            <a:prstDash val="solid"/>
          </a:ln>
        </p:spPr>
      </p:sp>
      <p:sp>
        <p:nvSpPr>
          <p:cNvPr id="10" name="Shape 7"/>
          <p:cNvSpPr/>
          <p:nvPr/>
        </p:nvSpPr>
        <p:spPr>
          <a:xfrm>
            <a:off x="841248" y="3074440"/>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228059"/>
            <a:ext cx="204826" cy="204826"/>
          </a:xfrm>
          <a:prstGeom prst="rect">
            <a:avLst/>
          </a:prstGeom>
        </p:spPr>
      </p:pic>
      <p:sp>
        <p:nvSpPr>
          <p:cNvPr id="12" name="Text 8"/>
          <p:cNvSpPr/>
          <p:nvPr/>
        </p:nvSpPr>
        <p:spPr>
          <a:xfrm>
            <a:off x="1536192" y="2972395"/>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二、法院的内部独立</a:t>
            </a:r>
            <a:endParaRPr lang="en-US" sz="1350" dirty="0"/>
          </a:p>
        </p:txBody>
      </p:sp>
      <p:sp>
        <p:nvSpPr>
          <p:cNvPr id="13" name="Text 9"/>
          <p:cNvSpPr/>
          <p:nvPr/>
        </p:nvSpPr>
        <p:spPr>
          <a:xfrm>
            <a:off x="1536192" y="3265003"/>
            <a:ext cx="9832543"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指法官进行裁判活动时独立于其同事以及上级法院的法官。法院内部若在保障法官独立裁判方面存在制度瑕疵，法官就可能受到其他法官、法院司法行政首脑以及上级法官的控制，使法官在裁判方面依附于本院院长、庭长、审判委员会，甚至受制于上级法院。</a:t>
            </a:r>
            <a:endParaRPr lang="en-US" sz="1150" dirty="0"/>
          </a:p>
        </p:txBody>
      </p:sp>
      <p:sp>
        <p:nvSpPr>
          <p:cNvPr id="14" name="Shape 10"/>
          <p:cNvSpPr/>
          <p:nvPr/>
        </p:nvSpPr>
        <p:spPr>
          <a:xfrm>
            <a:off x="566928" y="4028662"/>
            <a:ext cx="11057839" cy="1103773"/>
          </a:xfrm>
          <a:prstGeom prst="roundRect">
            <a:avLst>
              <a:gd name="adj" fmla="val 6627"/>
            </a:avLst>
          </a:prstGeom>
          <a:solidFill>
            <a:srgbClr val="F2F4F8"/>
          </a:solidFill>
          <a:ln w="12700">
            <a:solidFill>
              <a:srgbClr val="F2F4F8"/>
            </a:solidFill>
            <a:prstDash val="solid"/>
          </a:ln>
        </p:spPr>
      </p:sp>
      <p:sp>
        <p:nvSpPr>
          <p:cNvPr id="15" name="Shape 11"/>
          <p:cNvSpPr/>
          <p:nvPr/>
        </p:nvSpPr>
        <p:spPr>
          <a:xfrm>
            <a:off x="841248" y="432451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78136"/>
            <a:ext cx="204826" cy="204826"/>
          </a:xfrm>
          <a:prstGeom prst="rect">
            <a:avLst/>
          </a:prstGeom>
        </p:spPr>
      </p:pic>
      <p:sp>
        <p:nvSpPr>
          <p:cNvPr id="17" name="Text 12"/>
          <p:cNvSpPr/>
          <p:nvPr/>
        </p:nvSpPr>
        <p:spPr>
          <a:xfrm>
            <a:off x="1536192" y="4222472"/>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三、法官的身份独立</a:t>
            </a:r>
            <a:endParaRPr lang="en-US" sz="1350" dirty="0"/>
          </a:p>
        </p:txBody>
      </p:sp>
      <p:sp>
        <p:nvSpPr>
          <p:cNvPr id="18" name="Text 13"/>
          <p:cNvSpPr/>
          <p:nvPr/>
        </p:nvSpPr>
        <p:spPr>
          <a:xfrm>
            <a:off x="1536192" y="4515080"/>
            <a:ext cx="9832543"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法官的任职期间和任职条件应当得到充分保障。如果法官的任职期间不固定、定期轮换或较为短暂，或者法官在薪俸、晋升、调转、惩戒等方面完全受制于某一机构、组织或个人，法官就不可能从容不迫地依法独立裁判，而会出现职业服从甚至人身依附现象。</a:t>
            </a:r>
            <a:endParaRPr lang="en-US" sz="1150" dirty="0"/>
          </a:p>
        </p:txBody>
      </p:sp>
      <p:sp>
        <p:nvSpPr>
          <p:cNvPr id="19" name="Shape 14"/>
          <p:cNvSpPr/>
          <p:nvPr/>
        </p:nvSpPr>
        <p:spPr>
          <a:xfrm>
            <a:off x="566928" y="5278739"/>
            <a:ext cx="11057839" cy="1103773"/>
          </a:xfrm>
          <a:prstGeom prst="roundRect">
            <a:avLst>
              <a:gd name="adj" fmla="val 6627"/>
            </a:avLst>
          </a:prstGeom>
          <a:solidFill>
            <a:srgbClr val="FFFFFF"/>
          </a:solidFill>
          <a:ln w="12700">
            <a:solidFill>
              <a:srgbClr val="D5DBE5"/>
            </a:solidFill>
            <a:prstDash val="solid"/>
          </a:ln>
        </p:spPr>
      </p:sp>
      <p:sp>
        <p:nvSpPr>
          <p:cNvPr id="20" name="Shape 15"/>
          <p:cNvSpPr/>
          <p:nvPr/>
        </p:nvSpPr>
        <p:spPr>
          <a:xfrm>
            <a:off x="841248" y="5574594"/>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28213"/>
            <a:ext cx="204826" cy="204826"/>
          </a:xfrm>
          <a:prstGeom prst="rect">
            <a:avLst/>
          </a:prstGeom>
        </p:spPr>
      </p:pic>
      <p:sp>
        <p:nvSpPr>
          <p:cNvPr id="22" name="Text 16"/>
          <p:cNvSpPr/>
          <p:nvPr/>
        </p:nvSpPr>
        <p:spPr>
          <a:xfrm>
            <a:off x="1536192" y="5472549"/>
            <a:ext cx="9832543"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四、法官的职业特权</a:t>
            </a:r>
            <a:endParaRPr lang="en-US" sz="1350" dirty="0"/>
          </a:p>
        </p:txBody>
      </p:sp>
      <p:sp>
        <p:nvSpPr>
          <p:cNvPr id="23" name="Text 17"/>
          <p:cNvSpPr/>
          <p:nvPr/>
        </p:nvSpPr>
        <p:spPr>
          <a:xfrm>
            <a:off x="1536192" y="5765157"/>
            <a:ext cx="9832543"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使法官为履行裁判职能而享有特殊的职业保障，目的在于使法官在行使司法权方面免受一系列指控、追究、评论，从而为独立裁判创造必要的安全氛围。例如：法官在裁判过程中所发表的言论不受刑事或民事指控；正在审理的案件不受外部评论；对案件的审理和裁判结论不得被列入议会讨论日程等。</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12</a:t>
            </a:r>
            <a:endParaRPr lang="en-US" sz="11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警示案例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当法官因坚守职责而付出生命代价</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身份独立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周春梅法官被害案（2021年）</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法院经审理查明：被告人向慧为达到案件胜诉目的，多次请求被害人周春梅（湖南省高级人民法院法官，与向慧系同乡和校友）向办案法官打招呼，均被拒绝，遂心生怨恨，起意报复。</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2021年1月4日，向慧为方便接近周春梅并伺机报复，应聘为周春梅居住小区的保洁员。1月12日上午7时许，向慧发现周春梅从小区电梯间进入车库，即上前将其扑倒在地，用随身携带的单刃刀朝周春梅头、颈部连刺数刀，致其右侧颈静脉破裂大失血当场死亡。</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向慧后被依法判处死刑并执行。周春梅被追授全国模范法官等荣誉称号。</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周春梅拒绝“打招呼”，履行的是哪一项具体义务？</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本案暴露了法官职业保障的哪些不足？</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若周春梅当时选择“了解一下情况”，会违反哪些规范？</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身份独立与人身安全保障是什么关系？</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13</a:t>
            </a:r>
            <a:endParaRPr lang="en-US" sz="11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制度保障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保护司法人员依法履行法定职责</a:t>
            </a:r>
            <a:endParaRPr lang="en-US" sz="2800" dirty="0"/>
          </a:p>
        </p:txBody>
      </p:sp>
      <p:sp>
        <p:nvSpPr>
          <p:cNvPr id="4" name="Shape 2"/>
          <p:cNvSpPr/>
          <p:nvPr/>
        </p:nvSpPr>
        <p:spPr>
          <a:xfrm>
            <a:off x="566928" y="1316736"/>
            <a:ext cx="11057839" cy="1467739"/>
          </a:xfrm>
          <a:prstGeom prst="roundRect">
            <a:avLst>
              <a:gd name="adj" fmla="val 623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《法官法》第八条（节录）</a:t>
            </a:r>
            <a:endParaRPr lang="en-US" sz="1500" dirty="0"/>
          </a:p>
        </p:txBody>
      </p:sp>
      <p:sp>
        <p:nvSpPr>
          <p:cNvPr id="8" name="Text 6"/>
          <p:cNvSpPr/>
          <p:nvPr/>
        </p:nvSpPr>
        <p:spPr>
          <a:xfrm>
            <a:off x="960120" y="1956816"/>
            <a:ext cx="10271455" cy="60820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法官依法履行职责，受法律保护，不受行政机关、社会团体和个人的干涉。</a:t>
            </a:r>
            <a:endParaRPr lang="en-US" sz="1550" dirty="0"/>
          </a:p>
        </p:txBody>
      </p:sp>
      <p:sp>
        <p:nvSpPr>
          <p:cNvPr id="9" name="Shape 7"/>
          <p:cNvSpPr/>
          <p:nvPr/>
        </p:nvSpPr>
        <p:spPr>
          <a:xfrm>
            <a:off x="566928" y="2967355"/>
            <a:ext cx="11057839" cy="2058289"/>
          </a:xfrm>
          <a:prstGeom prst="roundRect">
            <a:avLst>
              <a:gd name="adj" fmla="val 4443"/>
            </a:avLst>
          </a:prstGeom>
          <a:solidFill>
            <a:srgbClr val="F6F1E8"/>
          </a:solidFill>
          <a:ln w="12700">
            <a:solidFill>
              <a:srgbClr val="F6F1E8"/>
            </a:solidFill>
            <a:prstDash val="solid"/>
          </a:ln>
        </p:spPr>
      </p:sp>
      <p:sp>
        <p:nvSpPr>
          <p:cNvPr id="10" name="Shape 8"/>
          <p:cNvSpPr/>
          <p:nvPr/>
        </p:nvSpPr>
        <p:spPr>
          <a:xfrm>
            <a:off x="877824" y="320509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0509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18681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《保护司法人员依法履行法定职责规定》要旨</a:t>
            </a:r>
            <a:endParaRPr lang="en-US" sz="1500" dirty="0"/>
          </a:p>
        </p:txBody>
      </p:sp>
      <p:sp>
        <p:nvSpPr>
          <p:cNvPr id="13" name="Text 11"/>
          <p:cNvSpPr/>
          <p:nvPr/>
        </p:nvSpPr>
        <p:spPr>
          <a:xfrm>
            <a:off x="960120" y="3607435"/>
            <a:ext cx="10271455" cy="1198753"/>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非因法定事由、非经法定程序，不得将法官调离、免职、辞退或者作出降级、撤职等处分。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法官依法履行审判职责的行为受法律保护，任何单位或者个人不得要求法官从事超出法定职责范围的事务。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对于干扰、阻碍司法活动，以及诬告陷害、侮辱诽谤、暴力伤害司法人员及其近亲属的行为，依法追究责任。</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请注意“非因法定事由、非经法定程序”这一表述：它把法官的职务保障提升为一项法定权利，而不再是组织的裁量事项。这正是身份独立的制度化表达。</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14</a:t>
            </a:r>
            <a:endParaRPr lang="en-US" sz="11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法官职业伦理的规范体系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三部核心规范、五项基本要求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15</a:t>
            </a:r>
            <a:endParaRPr lang="en-US" sz="11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基本义务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《法官法》第十条：法官的七项义务</a:t>
            </a:r>
            <a:endParaRPr lang="en-US" sz="2800" dirty="0"/>
          </a:p>
        </p:txBody>
      </p:sp>
      <p:sp>
        <p:nvSpPr>
          <p:cNvPr id="4" name="Shape 2"/>
          <p:cNvSpPr/>
          <p:nvPr/>
        </p:nvSpPr>
        <p:spPr>
          <a:xfrm>
            <a:off x="566928" y="1354582"/>
            <a:ext cx="11057839" cy="3633216"/>
          </a:xfrm>
          <a:prstGeom prst="roundRect">
            <a:avLst>
              <a:gd name="adj" fmla="val 2517"/>
            </a:avLst>
          </a:prstGeom>
          <a:solidFill>
            <a:srgbClr val="F6F1E8"/>
          </a:solidFill>
          <a:ln w="12700">
            <a:solidFill>
              <a:srgbClr val="F6F1E8"/>
            </a:solidFill>
            <a:prstDash val="solid"/>
          </a:ln>
        </p:spPr>
      </p:sp>
      <p:sp>
        <p:nvSpPr>
          <p:cNvPr id="5" name="Shape 3"/>
          <p:cNvSpPr/>
          <p:nvPr/>
        </p:nvSpPr>
        <p:spPr>
          <a:xfrm>
            <a:off x="877824" y="159232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9232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7403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《中华人民共和国法官法》第十条</a:t>
            </a:r>
            <a:endParaRPr lang="en-US" sz="1500" dirty="0"/>
          </a:p>
        </p:txBody>
      </p:sp>
      <p:sp>
        <p:nvSpPr>
          <p:cNvPr id="8" name="Text 6"/>
          <p:cNvSpPr/>
          <p:nvPr/>
        </p:nvSpPr>
        <p:spPr>
          <a:xfrm>
            <a:off x="960120" y="1994662"/>
            <a:ext cx="10271455" cy="27736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法官应当履行下列义务：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（一）严格遵守宪法和法律；</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（二）依法履行审判职责，秉公办案，不得徇私枉法；</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（三）依法保障当事人和其他诉讼参与人的诉讼权利；</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（四）维护国家利益、社会公共利益，维护个人和组织的合法权益；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（五）保守国家秘密和审判工作秘密，对履行职责中知悉的商业秘密和个人隐私予以保密；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（六）依法接受法律监督和人民群众监督；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（七）法律规定的其他义务。</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一）项的意义在于：法官的职责是通过审判活动将国家法律适用到现实生活中去，使法律得以贯彻执行；同时，法官严格遵守法律对当事人和其他社会成员具有重要的示范作用与教育意义——公众正是通过法官的行为来认识法律的。</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16</a:t>
            </a:r>
            <a:endParaRPr lang="en-US" sz="11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五项基本要求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《法官职业道德基本准则》的框架</a:t>
            </a:r>
            <a:endParaRPr lang="en-US" sz="2800" dirty="0"/>
          </a:p>
        </p:txBody>
      </p:sp>
      <p:sp>
        <p:nvSpPr>
          <p:cNvPr id="4" name="Shape 2"/>
          <p:cNvSpPr/>
          <p:nvPr/>
        </p:nvSpPr>
        <p:spPr>
          <a:xfrm>
            <a:off x="566928" y="1853946"/>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忠诚司法事业</a:t>
            </a:r>
            <a:endParaRPr lang="en-US" sz="1500" dirty="0"/>
          </a:p>
        </p:txBody>
      </p:sp>
      <p:sp>
        <p:nvSpPr>
          <p:cNvPr id="8" name="Text 6"/>
          <p:cNvSpPr/>
          <p:nvPr/>
        </p:nvSpPr>
        <p:spPr>
          <a:xfrm>
            <a:off x="1444752" y="229895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忠于职守，献身司法，坚定理想信念，牢固树立社会主义法治理念；坚持和维护中国特色社会主义司法制度。</a:t>
            </a:r>
            <a:endParaRPr lang="en-US" sz="1350" dirty="0"/>
          </a:p>
        </p:txBody>
      </p:sp>
      <p:sp>
        <p:nvSpPr>
          <p:cNvPr id="9" name="Shape 7"/>
          <p:cNvSpPr/>
          <p:nvPr/>
        </p:nvSpPr>
        <p:spPr>
          <a:xfrm>
            <a:off x="566928" y="3061335"/>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19849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保证司法公正</a:t>
            </a:r>
            <a:endParaRPr lang="en-US" sz="1500" dirty="0"/>
          </a:p>
        </p:txBody>
      </p:sp>
      <p:sp>
        <p:nvSpPr>
          <p:cNvPr id="13" name="Text 11"/>
          <p:cNvSpPr/>
          <p:nvPr/>
        </p:nvSpPr>
        <p:spPr>
          <a:xfrm>
            <a:off x="1444752" y="350634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坚持和维护审判独立原则，客观公正地审理案件；严格执行回避制度；平等对待当事人；避免单方接触；不因个人偏好或外部影响改变裁判。</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确保司法廉洁</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不接受当事人及其代理人、辩护人的请客送礼；不利用职务便利为自己或他人谋取利益；不违规过问、干预、插手他人办理的案件。</a:t>
            </a:r>
            <a:endParaRPr lang="en-US" sz="1350" dirty="0"/>
          </a:p>
        </p:txBody>
      </p:sp>
      <p:sp>
        <p:nvSpPr>
          <p:cNvPr id="19" name="Shape 17"/>
          <p:cNvSpPr/>
          <p:nvPr/>
        </p:nvSpPr>
        <p:spPr>
          <a:xfrm>
            <a:off x="6242152" y="1729645"/>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坚持司法为民</a:t>
            </a:r>
            <a:endParaRPr lang="en-US" sz="1500" dirty="0"/>
          </a:p>
        </p:txBody>
      </p:sp>
      <p:sp>
        <p:nvSpPr>
          <p:cNvPr id="23" name="Text 21"/>
          <p:cNvSpPr/>
          <p:nvPr/>
        </p:nvSpPr>
        <p:spPr>
          <a:xfrm>
            <a:off x="7119976"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牢固树立以人民为中心的思想，尊重当事人的诉讼权利，注重诉讼便利，耐心听取诉求，加强释法说理，注重司法的社会效果。</a:t>
            </a:r>
            <a:endParaRPr lang="en-US" sz="1350" dirty="0"/>
          </a:p>
        </p:txBody>
      </p:sp>
      <p:sp>
        <p:nvSpPr>
          <p:cNvPr id="24" name="Shape 22"/>
          <p:cNvSpPr/>
          <p:nvPr/>
        </p:nvSpPr>
        <p:spPr>
          <a:xfrm>
            <a:off x="6242152" y="3185636"/>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维护司法形象</a:t>
            </a:r>
            <a:endParaRPr lang="en-US" sz="1500" dirty="0"/>
          </a:p>
        </p:txBody>
      </p:sp>
      <p:sp>
        <p:nvSpPr>
          <p:cNvPr id="28" name="Text 26"/>
          <p:cNvSpPr/>
          <p:nvPr/>
        </p:nvSpPr>
        <p:spPr>
          <a:xfrm>
            <a:off x="7119976"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注重言行举止的得体，谨慎对待社交与业外活动，不参加可能影响司法公正的活动；不利用法官身份谋取特殊照顾；约束家庭成员的相关行为。</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规范框架</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《法官职业道德基本准则》（2010年修订）共七章三十条：总则、上述五章、附则；每章包含三至五个具体条文。其核心是公正、廉洁、为民。</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17</a:t>
            </a:r>
            <a:endParaRPr lang="en-US" sz="11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域外参照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班加罗尔六项价值与我国五项要求的对照</a:t>
            </a:r>
            <a:endParaRPr lang="en-US" sz="2800" dirty="0"/>
          </a:p>
        </p:txBody>
      </p:sp>
      <p:sp>
        <p:nvSpPr>
          <p:cNvPr id="4" name="Shape 2"/>
          <p:cNvSpPr/>
          <p:nvPr/>
        </p:nvSpPr>
        <p:spPr>
          <a:xfrm>
            <a:off x="566928" y="1422083"/>
            <a:ext cx="5410048" cy="4855083"/>
          </a:xfrm>
          <a:prstGeom prst="roundRect">
            <a:avLst>
              <a:gd name="adj" fmla="val 1883"/>
            </a:avLst>
          </a:prstGeom>
          <a:solidFill>
            <a:srgbClr val="F2F4F8"/>
          </a:solidFill>
          <a:ln w="12700">
            <a:solidFill>
              <a:srgbClr val="F2F4F8"/>
            </a:solidFill>
            <a:prstDash val="solid"/>
          </a:ln>
        </p:spPr>
      </p:sp>
      <p:sp>
        <p:nvSpPr>
          <p:cNvPr id="5" name="Shape 3"/>
          <p:cNvSpPr/>
          <p:nvPr/>
        </p:nvSpPr>
        <p:spPr>
          <a:xfrm>
            <a:off x="841248" y="167811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67811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《班加罗尔司法行为准则》六项价值</a:t>
            </a:r>
            <a:endParaRPr lang="en-US" sz="1600" dirty="0"/>
          </a:p>
        </p:txBody>
      </p:sp>
      <p:sp>
        <p:nvSpPr>
          <p:cNvPr id="7" name="Text 5"/>
          <p:cNvSpPr/>
          <p:nvPr/>
        </p:nvSpPr>
        <p:spPr>
          <a:xfrm>
            <a:off x="932688" y="2336483"/>
            <a:ext cx="4678528" cy="37029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独立（Independence）：法官独立于任何外部影响与内部压力。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中立 / 不偏不倚（Impartiality）：不仅结果中立，且外观上须使人相信中立。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正直（Integrity）：言行一致，经得起检验。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正当 / 得体（Propriety）：避免不当行为及不当行为的表象。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平等（Equality）：不因种族、性别、身份等因素区别对待。</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称职与勤勉（Competence and Diligence）：具备并保持专业能力，勤勉办案。</a:t>
            </a:r>
            <a:endParaRPr lang="en-US" sz="1450" dirty="0"/>
          </a:p>
        </p:txBody>
      </p:sp>
      <p:sp>
        <p:nvSpPr>
          <p:cNvPr id="8" name="Shape 6"/>
          <p:cNvSpPr/>
          <p:nvPr/>
        </p:nvSpPr>
        <p:spPr>
          <a:xfrm>
            <a:off x="6214720" y="1422083"/>
            <a:ext cx="5410048" cy="4855083"/>
          </a:xfrm>
          <a:prstGeom prst="roundRect">
            <a:avLst>
              <a:gd name="adj" fmla="val 1883"/>
            </a:avLst>
          </a:prstGeom>
          <a:solidFill>
            <a:srgbClr val="F6F1E8"/>
          </a:solidFill>
          <a:ln w="12700">
            <a:solidFill>
              <a:srgbClr val="F6F1E8"/>
            </a:solidFill>
            <a:prstDash val="solid"/>
          </a:ln>
        </p:spPr>
      </p:sp>
      <p:sp>
        <p:nvSpPr>
          <p:cNvPr id="9" name="Shape 7"/>
          <p:cNvSpPr/>
          <p:nvPr/>
        </p:nvSpPr>
        <p:spPr>
          <a:xfrm>
            <a:off x="6489040" y="167811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67811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我国五项基本要求</a:t>
            </a:r>
            <a:endParaRPr lang="en-US" sz="1600" dirty="0"/>
          </a:p>
        </p:txBody>
      </p:sp>
      <p:sp>
        <p:nvSpPr>
          <p:cNvPr id="11" name="Text 9"/>
          <p:cNvSpPr/>
          <p:nvPr/>
        </p:nvSpPr>
        <p:spPr>
          <a:xfrm>
            <a:off x="6580480" y="2336483"/>
            <a:ext cx="4678528" cy="37029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忠诚司法事业：强调政治属性与职业信念，为班加罗尔准则所无。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保证司法公正：涵盖独立、中立、平等三项价值。</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确保司法廉洁：与“正直”相对应，但更侧重廉洁自律的具体禁令。</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坚持司法为民：强调司法的人民性与便民导向，具有鲜明的中国特色。</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维护司法形象：与“正当/得体”高度对应，特别关注业外行为与表象。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差异提示：我国准则未单列“称职与勤勉”，相关内容规定于《法官法》与《法官行为规范》。</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18</a:t>
            </a:r>
            <a:endParaRPr lang="en-US" sz="11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司法权的被动性要求“不告不理”。那么，法院在民事诉讼中依职权调查取证、在行政诉讼中主动审查规范性文件，是否与被动性相冲突？应当如何解释？</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“亲历性”要求裁判者亲自在场、以言词方式审理。在线庭审、书面审理、以及人工智能辅助生成裁判文书，是否会侵蚀亲历性？边界何在？</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司法独立常被误解为“法官想怎么判就怎么判”。请说明：独立究竟是法官的权利，还是法官的义务？如果是义务，其对应的责任是什么？</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我国五项基本要求中的“忠诚司法事业”为班加罗尔准则所无，“坚持司法为民”亦具中国特色。你如何理解这两项要求的规范内涵？</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第5课时 · 19</a:t>
            </a:r>
            <a:endParaRPr lang="en-US" sz="11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第5课时要点回顾</a:t>
            </a:r>
            <a:endParaRPr lang="en-US" sz="3000" dirty="0"/>
          </a:p>
        </p:txBody>
      </p:sp>
      <p:sp>
        <p:nvSpPr>
          <p:cNvPr id="4" name="Shape 2"/>
          <p:cNvSpPr/>
          <p:nvPr/>
        </p:nvSpPr>
        <p:spPr>
          <a:xfrm>
            <a:off x="566928" y="1591056"/>
            <a:ext cx="11057839" cy="848563"/>
          </a:xfrm>
          <a:prstGeom prst="roundRect">
            <a:avLst>
              <a:gd name="adj" fmla="val 8621"/>
            </a:avLst>
          </a:prstGeom>
          <a:solidFill>
            <a:srgbClr val="25395F"/>
          </a:solidFill>
          <a:ln w="12700">
            <a:solidFill>
              <a:srgbClr val="25395F"/>
            </a:solidFill>
            <a:prstDash val="solid"/>
          </a:ln>
        </p:spPr>
      </p:sp>
      <p:sp>
        <p:nvSpPr>
          <p:cNvPr id="5" name="Shape 3"/>
          <p:cNvSpPr/>
          <p:nvPr/>
        </p:nvSpPr>
        <p:spPr>
          <a:xfrm>
            <a:off x="859536" y="1814170"/>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34870"/>
            <a:ext cx="160934" cy="160934"/>
          </a:xfrm>
          <a:prstGeom prst="rect">
            <a:avLst/>
          </a:prstGeom>
        </p:spPr>
      </p:pic>
      <p:sp>
        <p:nvSpPr>
          <p:cNvPr id="7" name="Text 4"/>
          <p:cNvSpPr/>
          <p:nvPr/>
        </p:nvSpPr>
        <p:spPr>
          <a:xfrm>
            <a:off x="1444752" y="1729588"/>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法官的伦理义务可以从司法权的属性中推导出来：权力属性 → 行为要求 → 伦理规范。掌握这条推导链，方能应对规范未及的新情形。</a:t>
            </a:r>
            <a:endParaRPr lang="en-US" sz="1500" dirty="0"/>
          </a:p>
        </p:txBody>
      </p:sp>
      <p:sp>
        <p:nvSpPr>
          <p:cNvPr id="8" name="Shape 5"/>
          <p:cNvSpPr/>
          <p:nvPr/>
        </p:nvSpPr>
        <p:spPr>
          <a:xfrm>
            <a:off x="566928" y="2576779"/>
            <a:ext cx="11057839" cy="848563"/>
          </a:xfrm>
          <a:prstGeom prst="roundRect">
            <a:avLst>
              <a:gd name="adj" fmla="val 8621"/>
            </a:avLst>
          </a:prstGeom>
          <a:solidFill>
            <a:srgbClr val="25395F"/>
          </a:solidFill>
          <a:ln w="12700">
            <a:solidFill>
              <a:srgbClr val="25395F"/>
            </a:solidFill>
            <a:prstDash val="solid"/>
          </a:ln>
        </p:spPr>
      </p:sp>
      <p:sp>
        <p:nvSpPr>
          <p:cNvPr id="9" name="Shape 6"/>
          <p:cNvSpPr/>
          <p:nvPr/>
        </p:nvSpPr>
        <p:spPr>
          <a:xfrm>
            <a:off x="859536" y="2799893"/>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920594"/>
            <a:ext cx="160934" cy="160934"/>
          </a:xfrm>
          <a:prstGeom prst="rect">
            <a:avLst/>
          </a:prstGeom>
        </p:spPr>
      </p:pic>
      <p:sp>
        <p:nvSpPr>
          <p:cNvPr id="11" name="Text 7"/>
          <p:cNvSpPr/>
          <p:nvPr/>
        </p:nvSpPr>
        <p:spPr>
          <a:xfrm>
            <a:off x="1444752" y="2715311"/>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司法权的六项程序特征：被动性（不告不理）、公开性与透明性、多方参与性、亲历性（直接审理与言词审理）、集中性（不更换、不间断）、终结性（定纷止争）。</a:t>
            </a:r>
            <a:endParaRPr lang="en-US" sz="1500" dirty="0"/>
          </a:p>
        </p:txBody>
      </p:sp>
      <p:sp>
        <p:nvSpPr>
          <p:cNvPr id="12" name="Shape 8"/>
          <p:cNvSpPr/>
          <p:nvPr/>
        </p:nvSpPr>
        <p:spPr>
          <a:xfrm>
            <a:off x="566928" y="3562502"/>
            <a:ext cx="11057839" cy="848563"/>
          </a:xfrm>
          <a:prstGeom prst="roundRect">
            <a:avLst>
              <a:gd name="adj" fmla="val 8621"/>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701034"/>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司法独立包含四个层次：法院的整体独立、法院的内部独立、法官的身份独立、法官的职业特权。其核心是裁判者只服从法律与良心。</a:t>
            </a:r>
            <a:endParaRPr lang="en-US" sz="1500" dirty="0"/>
          </a:p>
        </p:txBody>
      </p:sp>
      <p:sp>
        <p:nvSpPr>
          <p:cNvPr id="16" name="Shape 11"/>
          <p:cNvSpPr/>
          <p:nvPr/>
        </p:nvSpPr>
        <p:spPr>
          <a:xfrm>
            <a:off x="566928" y="4548226"/>
            <a:ext cx="11057839" cy="848563"/>
          </a:xfrm>
          <a:prstGeom prst="roundRect">
            <a:avLst>
              <a:gd name="adj" fmla="val 8621"/>
            </a:avLst>
          </a:prstGeom>
          <a:solidFill>
            <a:srgbClr val="25395F"/>
          </a:solidFill>
          <a:ln w="12700">
            <a:solidFill>
              <a:srgbClr val="25395F"/>
            </a:solidFill>
            <a:prstDash val="solid"/>
          </a:ln>
        </p:spPr>
      </p:sp>
      <p:sp>
        <p:nvSpPr>
          <p:cNvPr id="17" name="Shape 12"/>
          <p:cNvSpPr/>
          <p:nvPr/>
        </p:nvSpPr>
        <p:spPr>
          <a:xfrm>
            <a:off x="859536" y="4771339"/>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892040"/>
            <a:ext cx="160934" cy="160934"/>
          </a:xfrm>
          <a:prstGeom prst="rect">
            <a:avLst/>
          </a:prstGeom>
        </p:spPr>
      </p:pic>
      <p:sp>
        <p:nvSpPr>
          <p:cNvPr id="19" name="Text 13"/>
          <p:cNvSpPr/>
          <p:nvPr/>
        </p:nvSpPr>
        <p:spPr>
          <a:xfrm>
            <a:off x="1444752" y="4686757"/>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法官职业伦理规范体系以《法官法》《法官行为规范》《法官职业道德基本准则》为核心；《法官法》第十条规定了法官的七项基本义务。</a:t>
            </a:r>
            <a:endParaRPr lang="en-US" sz="1500" dirty="0"/>
          </a:p>
        </p:txBody>
      </p:sp>
      <p:sp>
        <p:nvSpPr>
          <p:cNvPr id="20" name="Shape 14"/>
          <p:cNvSpPr/>
          <p:nvPr/>
        </p:nvSpPr>
        <p:spPr>
          <a:xfrm>
            <a:off x="566928" y="5533949"/>
            <a:ext cx="11057839" cy="848563"/>
          </a:xfrm>
          <a:prstGeom prst="roundRect">
            <a:avLst>
              <a:gd name="adj" fmla="val 8621"/>
            </a:avLst>
          </a:prstGeom>
          <a:solidFill>
            <a:srgbClr val="25395F"/>
          </a:solidFill>
          <a:ln w="12700">
            <a:solidFill>
              <a:srgbClr val="25395F"/>
            </a:solidFill>
            <a:prstDash val="solid"/>
          </a:ln>
        </p:spPr>
      </p:sp>
      <p:sp>
        <p:nvSpPr>
          <p:cNvPr id="21" name="Shape 15"/>
          <p:cNvSpPr/>
          <p:nvPr/>
        </p:nvSpPr>
        <p:spPr>
          <a:xfrm>
            <a:off x="859536" y="5757062"/>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877763"/>
            <a:ext cx="160934" cy="160934"/>
          </a:xfrm>
          <a:prstGeom prst="rect">
            <a:avLst/>
          </a:prstGeom>
        </p:spPr>
      </p:pic>
      <p:sp>
        <p:nvSpPr>
          <p:cNvPr id="23" name="Text 16"/>
          <p:cNvSpPr/>
          <p:nvPr/>
        </p:nvSpPr>
        <p:spPr>
          <a:xfrm>
            <a:off x="1444752" y="5672480"/>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《法官职业道德基本准则》五项基本要求：忠诚司法事业、保证司法公正、确保司法廉洁、坚持司法为民、维护司法形象；核心是公正、廉洁、为民。</a:t>
            </a:r>
            <a:endParaRPr lang="en-US" sz="15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第6课时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保证司法公正（一）：司法独立与法官的独立义务</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独立不是法官的特权，而是法官必须履行、并须为之承担责任的义务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外部干预：为什么“逢问必录”胜过“禁止过问”</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内部独立：院庭长审判监督权的边界在哪里</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司法责任制：让审理者裁判，由裁判者负责</a:t>
            </a:r>
            <a:endParaRPr lang="en-US" sz="14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独立的三重战场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一、正本清源：独立是义务，不是特权</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二、抵御外部干预：“防止干预司法三个规定”</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三、实现内部独立：审判权运行机制改革</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四、司法责任制：权责一致的制度安排</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五、独立的限度：独立不等于任意</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02</a:t>
            </a:r>
            <a:endParaRPr lang="en-US" sz="11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正本清源：独立是义务，不是特权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把独立理解为特权，会得出“法官不受任何约束”的荒谬结论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03</a:t>
            </a:r>
            <a:endParaRPr lang="en-US" sz="11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两种理解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独立究竟是权利还是义务？</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误解：独立是法官的特权</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推论一：法官可以主张“我怎么判是我的事，谁也管不着”。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推论二：一切监督都构成对独立的侵犯。</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推论三：错案追究制度与司法独立不相容。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为什么错：把独立当作法官的个人利益，而司法权本质上是公共权力，不存在“属于法官个人”的部分。</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正解：独立是法官的义务</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推论一：法官必须排除干扰、独立判断；屈从压力作出违心裁判，本身即为失职。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推论二：独立与监督并行不悖——独立指向“过程不受干预”，监督指向“结果与行为可被检验”。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推论三：独立必然伴随责任。既然裁判由你独立作出，后果就由你承担。</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规范表达：《法官法》第十条同时规定“依法履行审判职责，秉公办案”与“依法接受法律监督和人民群众监督”。</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04</a:t>
            </a:r>
            <a:endParaRPr lang="en-US" sz="11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关键区分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独立于什么，服从于什么</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讨论独立时，必须精确回答两个问题：独立于什么？服从于什么？</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法官应当独立于：当事人及其近亲属；行政机关、社会团体与个人；新闻传媒与舆论压力；本院院长、庭长与上级法院法官的不当干预；自身的偏好、成见与利害关系。</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法官必须服从于：宪法和法律；经过法定程序查明的事实与证据；生效的司法解释与依法应当参照的裁判规则；良心与理性的判断。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请注意“独立于上级法院法官”这一项：上下级法院之间是审级监督关系，而非行政领导关系。上级法院通过二审、再审纠正错误裁判，而不是通过事前指示决定下级法院怎么判。</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一句话概括：法官独立于一切影响，只服从法律与良心。凡是要求法官偏离法律与证据的力量，无论来自何方、无论出于何种善意，都属于应当排除的干预。</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05</a:t>
            </a:r>
            <a:endParaRPr lang="en-US" sz="11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抵御外部干预：“防止干预司法三个规定”</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制度不指望人性完美，而是用留痕使不当过问失去价值</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06</a:t>
            </a:r>
            <a:endParaRPr lang="en-US" sz="1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制度构成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“三个规定”是哪三个</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《领导干部干预司法活动、插手具体案件处理的记录、通报和责任追究规定》</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2015年3月由中共中央办公厅、国务院办公厅印发。针对的是来自党政领导干部的外部干预，要求司法人员对领导干部的干预行为全面、如实记录，做到全程留痕、有据可查；情节严重的予以通报并追究责任。</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《司法机关内部人员过问案件的记录和责任追究规定》</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2015年3月由中央政法委印发。针对的是来自司法机关内部的过问，包括本院其他人员、上下级机关人员、已离任人员等。内部过问往往比外部干预更隐蔽、更难拒绝，因而单独设规。</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两高三部的实施办法</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最高人民法院、最高人民检察院、公安部、国家安全部、司法部分别制定实施办法，细化记录主体、记录内容、报告程序、通报范围与责任追究方式，并将“过问和干预情况记录”纳入案件卷宗与办案系统。</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07</a:t>
            </a:r>
            <a:endParaRPr lang="en-US" sz="11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制度机理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为什么“逢问必录”胜过“禁止过问”</a:t>
            </a:r>
            <a:endParaRPr lang="en-US" sz="2800" dirty="0"/>
          </a:p>
        </p:txBody>
      </p:sp>
      <p:sp>
        <p:nvSpPr>
          <p:cNvPr id="4" name="Shape 2"/>
          <p:cNvSpPr/>
          <p:nvPr/>
        </p:nvSpPr>
        <p:spPr>
          <a:xfrm>
            <a:off x="566928" y="1379220"/>
            <a:ext cx="5410048" cy="2360676"/>
          </a:xfrm>
          <a:prstGeom prst="roundRect">
            <a:avLst>
              <a:gd name="adj" fmla="val 3873"/>
            </a:avLst>
          </a:prstGeom>
          <a:solidFill>
            <a:srgbClr val="F2F4F8"/>
          </a:solidFill>
          <a:ln w="12700">
            <a:solidFill>
              <a:srgbClr val="F2F4F8"/>
            </a:solidFill>
            <a:prstDash val="solid"/>
          </a:ln>
        </p:spPr>
      </p:sp>
      <p:sp>
        <p:nvSpPr>
          <p:cNvPr id="5" name="Shape 3"/>
          <p:cNvSpPr/>
          <p:nvPr/>
        </p:nvSpPr>
        <p:spPr>
          <a:xfrm>
            <a:off x="886968" y="1671828"/>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08988"/>
            <a:ext cx="182880" cy="182880"/>
          </a:xfrm>
          <a:prstGeom prst="rect">
            <a:avLst/>
          </a:prstGeom>
        </p:spPr>
      </p:pic>
      <p:sp>
        <p:nvSpPr>
          <p:cNvPr id="7" name="Text 4"/>
          <p:cNvSpPr/>
          <p:nvPr/>
        </p:nvSpPr>
        <p:spPr>
          <a:xfrm>
            <a:off x="886968"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纯粹禁止：不可行</a:t>
            </a:r>
            <a:endParaRPr lang="en-US" sz="1500" dirty="0"/>
          </a:p>
        </p:txBody>
      </p:sp>
      <p:sp>
        <p:nvSpPr>
          <p:cNvPr id="8" name="Text 5"/>
          <p:cNvSpPr/>
          <p:nvPr/>
        </p:nvSpPr>
        <p:spPr>
          <a:xfrm>
            <a:off x="886968"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法官有亲属、同学、旧属、师长。无法通过一纸禁令切断人的社会关系。禁止令一旦无法执行，反而损害规范的严肃性——“人人违反的规则等于没有规则”。</a:t>
            </a:r>
            <a:endParaRPr lang="en-US" sz="1250" dirty="0"/>
          </a:p>
        </p:txBody>
      </p:sp>
      <p:sp>
        <p:nvSpPr>
          <p:cNvPr id="9" name="Shape 6"/>
          <p:cNvSpPr/>
          <p:nvPr/>
        </p:nvSpPr>
        <p:spPr>
          <a:xfrm>
            <a:off x="6214720" y="1379220"/>
            <a:ext cx="5410048" cy="2360676"/>
          </a:xfrm>
          <a:prstGeom prst="roundRect">
            <a:avLst>
              <a:gd name="adj" fmla="val 3873"/>
            </a:avLst>
          </a:prstGeom>
          <a:solidFill>
            <a:srgbClr val="F6F1E8"/>
          </a:solidFill>
          <a:ln w="12700">
            <a:solidFill>
              <a:srgbClr val="F6F1E8"/>
            </a:solidFill>
            <a:prstDash val="solid"/>
          </a:ln>
        </p:spPr>
      </p:sp>
      <p:sp>
        <p:nvSpPr>
          <p:cNvPr id="10" name="Shape 7"/>
          <p:cNvSpPr/>
          <p:nvPr/>
        </p:nvSpPr>
        <p:spPr>
          <a:xfrm>
            <a:off x="6534760" y="1671828"/>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08988"/>
            <a:ext cx="182880" cy="182880"/>
          </a:xfrm>
          <a:prstGeom prst="rect">
            <a:avLst/>
          </a:prstGeom>
        </p:spPr>
      </p:pic>
      <p:sp>
        <p:nvSpPr>
          <p:cNvPr id="12" name="Text 8"/>
          <p:cNvSpPr/>
          <p:nvPr/>
        </p:nvSpPr>
        <p:spPr>
          <a:xfrm>
            <a:off x="6534760"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全程留痕：改变博弈</a:t>
            </a:r>
            <a:endParaRPr lang="en-US" sz="1500" dirty="0"/>
          </a:p>
        </p:txBody>
      </p:sp>
      <p:sp>
        <p:nvSpPr>
          <p:cNvPr id="13" name="Text 9"/>
          <p:cNvSpPr/>
          <p:nvPr/>
        </p:nvSpPr>
        <p:spPr>
          <a:xfrm>
            <a:off x="6534760"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不禁止开口，而是要求被过问者如实记录，记入案卷、录入办案系统、可倒查、可通报。过问者由此承担暴露风险，理性的过问者会自行放弃。</a:t>
            </a:r>
            <a:endParaRPr lang="en-US" sz="1250" dirty="0"/>
          </a:p>
        </p:txBody>
      </p:sp>
      <p:sp>
        <p:nvSpPr>
          <p:cNvPr id="14" name="Shape 10"/>
          <p:cNvSpPr/>
          <p:nvPr/>
        </p:nvSpPr>
        <p:spPr>
          <a:xfrm>
            <a:off x="566928" y="3959352"/>
            <a:ext cx="5410048" cy="2360676"/>
          </a:xfrm>
          <a:prstGeom prst="roundRect">
            <a:avLst>
              <a:gd name="adj" fmla="val 3873"/>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保护被过问者</a:t>
            </a:r>
            <a:endParaRPr lang="en-US" sz="1500" dirty="0"/>
          </a:p>
        </p:txBody>
      </p:sp>
      <p:sp>
        <p:nvSpPr>
          <p:cNvPr id="18" name="Text 13"/>
          <p:cNvSpPr/>
          <p:nvPr/>
        </p:nvSpPr>
        <p:spPr>
          <a:xfrm>
            <a:off x="886968"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留痕同时保护了法官：面对无法直接拒绝的请托，法官可以说“按规定我必须记录”。这句话既有力又体面，把个人的拒绝转化为制度的拒绝。</a:t>
            </a:r>
            <a:endParaRPr lang="en-US" sz="1250" dirty="0"/>
          </a:p>
        </p:txBody>
      </p:sp>
      <p:sp>
        <p:nvSpPr>
          <p:cNvPr id="19" name="Shape 14"/>
          <p:cNvSpPr/>
          <p:nvPr/>
        </p:nvSpPr>
        <p:spPr>
          <a:xfrm>
            <a:off x="6214720" y="3959352"/>
            <a:ext cx="5410048" cy="2360676"/>
          </a:xfrm>
          <a:prstGeom prst="roundRect">
            <a:avLst>
              <a:gd name="adj" fmla="val 3873"/>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区分正当与不当</a:t>
            </a:r>
            <a:endParaRPr lang="en-US" sz="1500" dirty="0"/>
          </a:p>
        </p:txBody>
      </p:sp>
      <p:sp>
        <p:nvSpPr>
          <p:cNvPr id="23" name="Text 17"/>
          <p:cNvSpPr/>
          <p:nvPr/>
        </p:nvSpPr>
        <p:spPr>
          <a:xfrm>
            <a:off x="6534760"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并非一切沟通都属干预。依职权进行的案件督办、上级法院的审判指导、检察机关的法律监督、当事人依程序提交的意见，均属正当。制度要过滤的是“程序外的、指向具体处理结果的”影响。</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08</a:t>
            </a:r>
            <a:endParaRPr lang="en-US" sz="11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操作要点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遇到过问时的标准动作</a:t>
            </a:r>
            <a:endParaRPr lang="en-US" sz="2800" dirty="0"/>
          </a:p>
        </p:txBody>
      </p:sp>
      <p:sp>
        <p:nvSpPr>
          <p:cNvPr id="4" name="Shape 2"/>
          <p:cNvSpPr/>
          <p:nvPr/>
        </p:nvSpPr>
        <p:spPr>
          <a:xfrm>
            <a:off x="566928" y="2329891"/>
            <a:ext cx="2613584" cy="3039466"/>
          </a:xfrm>
          <a:prstGeom prst="roundRect">
            <a:avLst>
              <a:gd name="adj" fmla="val 3499"/>
            </a:avLst>
          </a:prstGeom>
          <a:solidFill>
            <a:srgbClr val="F2F4F8"/>
          </a:solidFill>
          <a:ln w="12700">
            <a:solidFill>
              <a:srgbClr val="F2F4F8"/>
            </a:solidFill>
            <a:prstDash val="solid"/>
          </a:ln>
        </p:spPr>
      </p:sp>
      <p:sp>
        <p:nvSpPr>
          <p:cNvPr id="5" name="Shape 3"/>
          <p:cNvSpPr/>
          <p:nvPr/>
        </p:nvSpPr>
        <p:spPr>
          <a:xfrm>
            <a:off x="1608544" y="2604211"/>
            <a:ext cx="530352" cy="530352"/>
          </a:xfrm>
          <a:prstGeom prst="ellipse">
            <a:avLst/>
          </a:prstGeom>
          <a:solidFill>
            <a:srgbClr val="13233F"/>
          </a:solidFill>
          <a:ln w="12700">
            <a:solidFill>
              <a:srgbClr val="13233F"/>
            </a:solidFill>
            <a:prstDash val="solid"/>
          </a:ln>
        </p:spPr>
      </p:sp>
      <p:sp>
        <p:nvSpPr>
          <p:cNvPr id="6" name="Text 4"/>
          <p:cNvSpPr/>
          <p:nvPr/>
        </p:nvSpPr>
        <p:spPr>
          <a:xfrm>
            <a:off x="1608544"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1</a:t>
            </a:r>
            <a:endParaRPr lang="en-US" sz="2100" dirty="0"/>
          </a:p>
        </p:txBody>
      </p:sp>
      <p:sp>
        <p:nvSpPr>
          <p:cNvPr id="7" name="Text 5"/>
          <p:cNvSpPr/>
          <p:nvPr/>
        </p:nvSpPr>
        <p:spPr>
          <a:xfrm>
            <a:off x="822960"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如实记录</a:t>
            </a:r>
            <a:endParaRPr lang="en-US" sz="1100" dirty="0"/>
          </a:p>
        </p:txBody>
      </p:sp>
      <p:sp>
        <p:nvSpPr>
          <p:cNvPr id="8" name="Text 6"/>
          <p:cNvSpPr/>
          <p:nvPr/>
        </p:nvSpPr>
        <p:spPr>
          <a:xfrm>
            <a:off x="822960"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记录过问人姓名、单位、职务、时间、方式、内容，不作选择性记录，不作模糊化处理。</a:t>
            </a:r>
            <a:endParaRPr lang="en-US" sz="1350" dirty="0"/>
          </a:p>
        </p:txBody>
      </p:sp>
      <p:sp>
        <p:nvSpPr>
          <p:cNvPr id="9" name="Shape 7"/>
          <p:cNvSpPr/>
          <p:nvPr/>
        </p:nvSpPr>
        <p:spPr>
          <a:xfrm>
            <a:off x="3381680" y="2329891"/>
            <a:ext cx="2613584" cy="3039466"/>
          </a:xfrm>
          <a:prstGeom prst="roundRect">
            <a:avLst>
              <a:gd name="adj" fmla="val 3499"/>
            </a:avLst>
          </a:prstGeom>
          <a:solidFill>
            <a:srgbClr val="F2F4F8"/>
          </a:solidFill>
          <a:ln w="12700">
            <a:solidFill>
              <a:srgbClr val="F2F4F8"/>
            </a:solidFill>
            <a:prstDash val="solid"/>
          </a:ln>
        </p:spPr>
      </p:sp>
      <p:sp>
        <p:nvSpPr>
          <p:cNvPr id="10" name="Shape 8"/>
          <p:cNvSpPr/>
          <p:nvPr/>
        </p:nvSpPr>
        <p:spPr>
          <a:xfrm>
            <a:off x="4423296" y="2604211"/>
            <a:ext cx="530352" cy="530352"/>
          </a:xfrm>
          <a:prstGeom prst="ellipse">
            <a:avLst/>
          </a:prstGeom>
          <a:solidFill>
            <a:srgbClr val="13233F"/>
          </a:solidFill>
          <a:ln w="12700">
            <a:solidFill>
              <a:srgbClr val="13233F"/>
            </a:solidFill>
            <a:prstDash val="solid"/>
          </a:ln>
        </p:spPr>
      </p:sp>
      <p:sp>
        <p:nvSpPr>
          <p:cNvPr id="11" name="Text 9"/>
          <p:cNvSpPr/>
          <p:nvPr/>
        </p:nvSpPr>
        <p:spPr>
          <a:xfrm>
            <a:off x="4423296"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2</a:t>
            </a:r>
            <a:endParaRPr lang="en-US" sz="2100" dirty="0"/>
          </a:p>
        </p:txBody>
      </p:sp>
      <p:sp>
        <p:nvSpPr>
          <p:cNvPr id="12" name="Text 10"/>
          <p:cNvSpPr/>
          <p:nvPr/>
        </p:nvSpPr>
        <p:spPr>
          <a:xfrm>
            <a:off x="3637712"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录入系统</a:t>
            </a:r>
            <a:endParaRPr lang="en-US" sz="1100" dirty="0"/>
          </a:p>
        </p:txBody>
      </p:sp>
      <p:sp>
        <p:nvSpPr>
          <p:cNvPr id="13" name="Text 11"/>
          <p:cNvSpPr/>
          <p:nvPr/>
        </p:nvSpPr>
        <p:spPr>
          <a:xfrm>
            <a:off x="3637712"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按本院规定录入办案系统或专门登记表，纳入案卷副卷，做到全程留痕、有据可查。</a:t>
            </a:r>
            <a:endParaRPr lang="en-US" sz="1350" dirty="0"/>
          </a:p>
        </p:txBody>
      </p:sp>
      <p:sp>
        <p:nvSpPr>
          <p:cNvPr id="14" name="Shape 12"/>
          <p:cNvSpPr/>
          <p:nvPr/>
        </p:nvSpPr>
        <p:spPr>
          <a:xfrm>
            <a:off x="6196432" y="2329891"/>
            <a:ext cx="2613584" cy="3039466"/>
          </a:xfrm>
          <a:prstGeom prst="roundRect">
            <a:avLst>
              <a:gd name="adj" fmla="val 3499"/>
            </a:avLst>
          </a:prstGeom>
          <a:solidFill>
            <a:srgbClr val="F2F4F8"/>
          </a:solidFill>
          <a:ln w="12700">
            <a:solidFill>
              <a:srgbClr val="F2F4F8"/>
            </a:solidFill>
            <a:prstDash val="solid"/>
          </a:ln>
        </p:spPr>
      </p:sp>
      <p:sp>
        <p:nvSpPr>
          <p:cNvPr id="15" name="Shape 13"/>
          <p:cNvSpPr/>
          <p:nvPr/>
        </p:nvSpPr>
        <p:spPr>
          <a:xfrm>
            <a:off x="7238048" y="2604211"/>
            <a:ext cx="530352" cy="530352"/>
          </a:xfrm>
          <a:prstGeom prst="ellipse">
            <a:avLst/>
          </a:prstGeom>
          <a:solidFill>
            <a:srgbClr val="13233F"/>
          </a:solidFill>
          <a:ln w="12700">
            <a:solidFill>
              <a:srgbClr val="13233F"/>
            </a:solidFill>
            <a:prstDash val="solid"/>
          </a:ln>
        </p:spPr>
      </p:sp>
      <p:sp>
        <p:nvSpPr>
          <p:cNvPr id="16" name="Text 14"/>
          <p:cNvSpPr/>
          <p:nvPr/>
        </p:nvSpPr>
        <p:spPr>
          <a:xfrm>
            <a:off x="7238048"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3</a:t>
            </a:r>
            <a:endParaRPr lang="en-US" sz="2100" dirty="0"/>
          </a:p>
        </p:txBody>
      </p:sp>
      <p:sp>
        <p:nvSpPr>
          <p:cNvPr id="17" name="Text 15"/>
          <p:cNvSpPr/>
          <p:nvPr/>
        </p:nvSpPr>
        <p:spPr>
          <a:xfrm>
            <a:off x="6452464"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及时报告</a:t>
            </a:r>
            <a:endParaRPr lang="en-US" sz="1100" dirty="0"/>
          </a:p>
        </p:txBody>
      </p:sp>
      <p:sp>
        <p:nvSpPr>
          <p:cNvPr id="18" name="Text 16"/>
          <p:cNvSpPr/>
          <p:nvPr/>
        </p:nvSpPr>
        <p:spPr>
          <a:xfrm>
            <a:off x="6452464"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依规定向本院纪检监察部门或指定机构报告；涉及重大情形的，逐级上报。</a:t>
            </a:r>
            <a:endParaRPr lang="en-US" sz="1350" dirty="0"/>
          </a:p>
        </p:txBody>
      </p:sp>
      <p:sp>
        <p:nvSpPr>
          <p:cNvPr id="19" name="Shape 17"/>
          <p:cNvSpPr/>
          <p:nvPr/>
        </p:nvSpPr>
        <p:spPr>
          <a:xfrm>
            <a:off x="9011183" y="2329891"/>
            <a:ext cx="2613584" cy="3039466"/>
          </a:xfrm>
          <a:prstGeom prst="roundRect">
            <a:avLst>
              <a:gd name="adj" fmla="val 3499"/>
            </a:avLst>
          </a:prstGeom>
          <a:solidFill>
            <a:srgbClr val="F2F4F8"/>
          </a:solidFill>
          <a:ln w="12700">
            <a:solidFill>
              <a:srgbClr val="F2F4F8"/>
            </a:solidFill>
            <a:prstDash val="solid"/>
          </a:ln>
        </p:spPr>
      </p:sp>
      <p:sp>
        <p:nvSpPr>
          <p:cNvPr id="20" name="Shape 18"/>
          <p:cNvSpPr/>
          <p:nvPr/>
        </p:nvSpPr>
        <p:spPr>
          <a:xfrm>
            <a:off x="10052799" y="2604211"/>
            <a:ext cx="530352" cy="530352"/>
          </a:xfrm>
          <a:prstGeom prst="ellipse">
            <a:avLst/>
          </a:prstGeom>
          <a:solidFill>
            <a:srgbClr val="13233F"/>
          </a:solidFill>
          <a:ln w="12700">
            <a:solidFill>
              <a:srgbClr val="13233F"/>
            </a:solidFill>
            <a:prstDash val="solid"/>
          </a:ln>
        </p:spPr>
      </p:sp>
      <p:sp>
        <p:nvSpPr>
          <p:cNvPr id="21" name="Text 19"/>
          <p:cNvSpPr/>
          <p:nvPr/>
        </p:nvSpPr>
        <p:spPr>
          <a:xfrm>
            <a:off x="10052799" y="2604211"/>
            <a:ext cx="530352" cy="530352"/>
          </a:xfrm>
          <a:prstGeom prst="rect">
            <a:avLst/>
          </a:prstGeom>
          <a:noFill/>
          <a:ln/>
        </p:spPr>
        <p:txBody>
          <a:bodyPr wrap="square" lIns="0" tIns="0" rIns="0" bIns="0" rtlCol="0" anchor="ctr"/>
          <a:lstStyle/>
          <a:p>
            <a:pPr algn="ctr" indent="0" marL="0">
              <a:buNone/>
            </a:pPr>
            <a:r>
              <a:rPr lang="en-US" sz="2100" b="1" dirty="0">
                <a:solidFill>
                  <a:srgbClr val="B08D57"/>
                </a:solidFill>
                <a:latin typeface="Arial" pitchFamily="34" charset="0"/>
                <a:ea typeface="Arial" pitchFamily="34" charset="-122"/>
                <a:cs typeface="Arial" pitchFamily="34" charset="-120"/>
              </a:rPr>
              <a:t>4</a:t>
            </a:r>
            <a:endParaRPr lang="en-US" sz="2100" dirty="0"/>
          </a:p>
        </p:txBody>
      </p:sp>
      <p:sp>
        <p:nvSpPr>
          <p:cNvPr id="22" name="Text 20"/>
          <p:cNvSpPr/>
          <p:nvPr/>
        </p:nvSpPr>
        <p:spPr>
          <a:xfrm>
            <a:off x="9267215" y="3299155"/>
            <a:ext cx="2101520" cy="174625"/>
          </a:xfrm>
          <a:prstGeom prst="rect">
            <a:avLst/>
          </a:prstGeom>
          <a:noFill/>
          <a:ln/>
        </p:spPr>
        <p:txBody>
          <a:bodyPr wrap="square" lIns="0" tIns="0" rIns="0" bIns="0" rtlCol="0" anchor="t"/>
          <a:lstStyle/>
          <a:p>
            <a:pPr algn="ctr" indent="0" marL="0">
              <a:lnSpc>
                <a:spcPts val="1375"/>
              </a:lnSpc>
              <a:buNone/>
            </a:pPr>
            <a:r>
              <a:rPr lang="en-US" sz="1100" b="1" dirty="0">
                <a:solidFill>
                  <a:srgbClr val="13233F"/>
                </a:solidFill>
                <a:latin typeface="微软雅黑" pitchFamily="34" charset="0"/>
                <a:ea typeface="微软雅黑" pitchFamily="34" charset="-122"/>
                <a:cs typeface="微软雅黑" pitchFamily="34" charset="-120"/>
              </a:rPr>
              <a:t>依法办案</a:t>
            </a:r>
            <a:endParaRPr lang="en-US" sz="1100" dirty="0"/>
          </a:p>
        </p:txBody>
      </p:sp>
      <p:sp>
        <p:nvSpPr>
          <p:cNvPr id="23" name="Text 21"/>
          <p:cNvSpPr/>
          <p:nvPr/>
        </p:nvSpPr>
        <p:spPr>
          <a:xfrm>
            <a:off x="9267215" y="3565220"/>
            <a:ext cx="2101520" cy="1584681"/>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记录与报告不影响案件的正常审理。法官仍应依据事实和法律独立作出裁判，不因被过问而改变判断，也不因被过问而刻意反向裁判。</a:t>
            </a:r>
            <a:endParaRPr lang="en-US" sz="135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09</a:t>
            </a:r>
            <a:endParaRPr lang="en-US" sz="11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哪些属于应当记录的“过问”</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情境辨析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四个情境的辨析</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情境一：某局长打电话给承办法官，说“这个案子的当事人是我们单位的老同志，情况比较特殊，请你们酌情考虑”。</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情境二：上级法院法官在业务会议上就同类案件的法律适用问题作出统一指导意见，未涉及具体个案的处理结果。</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情境三：本院已退休的老庭长来访，闲谈中提到“某某案的原告是我远房亲戚，人挺不容易的”。</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情境四：当事人的代理律师依程序提交书面代理意见，并申请与合议庭当面沟通，法官安排了双方均在场的听取意见程序。</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四个情境中，哪些属于应当记录的过问？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情境三中对方并未提出明确要求，是否仍需记录？</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情境二与“内部干预”的界限在哪里？</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情境四为何不属于单方接触？</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10</a:t>
            </a:r>
            <a:endParaRPr lang="en-US" sz="11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实现内部独立：审判权运行机制改革</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审者不判、判者不审——这是我国司法改革要解决的核心问题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11</a:t>
            </a:r>
            <a:endParaRPr lang="en-US" sz="11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问题诊断</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审判行政化的四种表现</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内部独立在我国面临的主要障碍，是长期形成的审判行政化倾向。</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案件层层审批：承办法官写出裁判文书后，须经庭长、分管院长逐级审批签发，实际决定权上移。</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审判委员会讨论决定：大量案件提交审委会讨论，而审委会委员并未参加庭审，形成“判者不审”。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向上级法院请示：下级法院就个案的处理结果向上级法院请示，使二审、再审救济名存实亡。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考核指标压力：以结案率、调解率、上诉率、发回改判率等指标考核法官，可能扭曲裁判行为。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这四种做法的初衷都是保证案件质量，客观效果却是责任分散、无人负责，并且切断了“亲历性”与“裁判权”之间的联系。</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12</a:t>
            </a:r>
            <a:endParaRPr lang="en-US" sz="11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边界划定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院庭长审判监督权的范围：四类案件</a:t>
            </a:r>
            <a:endParaRPr lang="en-US" sz="2800" dirty="0"/>
          </a:p>
        </p:txBody>
      </p:sp>
      <p:sp>
        <p:nvSpPr>
          <p:cNvPr id="4" name="Shape 2"/>
          <p:cNvSpPr/>
          <p:nvPr/>
        </p:nvSpPr>
        <p:spPr>
          <a:xfrm>
            <a:off x="566928" y="1520952"/>
            <a:ext cx="11057839" cy="3042666"/>
          </a:xfrm>
          <a:prstGeom prst="roundRect">
            <a:avLst>
              <a:gd name="adj" fmla="val 3005"/>
            </a:avLst>
          </a:prstGeom>
          <a:solidFill>
            <a:srgbClr val="F6F1E8"/>
          </a:solidFill>
          <a:ln w="12700">
            <a:solidFill>
              <a:srgbClr val="F6F1E8"/>
            </a:solidFill>
            <a:prstDash val="solid"/>
          </a:ln>
        </p:spPr>
      </p:sp>
      <p:sp>
        <p:nvSpPr>
          <p:cNvPr id="5" name="Shape 3"/>
          <p:cNvSpPr/>
          <p:nvPr/>
        </p:nvSpPr>
        <p:spPr>
          <a:xfrm>
            <a:off x="877824" y="175869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75869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74040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审判权运行机制改革的相关规定</a:t>
            </a:r>
            <a:endParaRPr lang="en-US" sz="1500" dirty="0"/>
          </a:p>
        </p:txBody>
      </p:sp>
      <p:sp>
        <p:nvSpPr>
          <p:cNvPr id="8" name="Text 6"/>
          <p:cNvSpPr/>
          <p:nvPr/>
        </p:nvSpPr>
        <p:spPr>
          <a:xfrm>
            <a:off x="960120" y="2161032"/>
            <a:ext cx="10271455" cy="21831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对于以下四类案件，院长、副院长、庭长有权行使审判管理与监督职能，要求独任法官或者合议庭报告案件进展和评议结果：</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（一）涉及群体性纠纷，可能影响社会稳定的；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（二）疑难、复杂且在社会上有重大影响的；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（三）与本院或者上级法院的类案判决可能发生冲突的；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（四）有关单位或者个人反映法官有违法审判行为的。</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把握两点：第一，这是“列举式”授权，四类之外院庭长无权要求报告；第二，权限限于“要求报告案件进展和评议结果”，即知情权与提示权，不包括改变裁判结果的决定权。院庭长如认为裁判确有错误，应当通过提交专业法官会议讨论、提请审判委员会讨论等法定途径处理，而不得直接指令承办人如何裁判。</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13</a:t>
            </a:r>
            <a:endParaRPr lang="en-US" sz="11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机制安排</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三种法定的内部讨论机制及其性质</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合议庭评议</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合议庭是法定的审判组织。评议实行少数服从多数，不同意见必须如实记入评议笔录。合议庭成员对自己的评议意见承担责任——这是责任落地的基本单元。</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专业法官会议</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为疑难复杂案件提供法律适用方面的咨询意见。其意见仅供合议庭参考，不具约束力，合议庭有权不予采纳但应当说明理由。它的价值在于以专业讨论替代行政审批。</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审判委员会</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讨论决定重大、疑难、复杂案件的法律适用问题，总结审判经验。改革方向是：由讨论个案转向总结经验与统一法律适用；讨论个案时原则上只讨论法律适用问题，不讨论事实认定；委员的意见及表决情况记入笔录并承担相应责任。</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14</a:t>
            </a:r>
            <a:endParaRPr lang="en-US" sz="11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司法责任制：权责一致的制度安排</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让审理者裁判，由裁判者负责——独立与责任是同一枚硬币的两面</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15</a:t>
            </a:r>
            <a:endParaRPr lang="en-US" sz="11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改革框架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司法责任制的三根支柱</a:t>
            </a:r>
            <a:endParaRPr lang="en-US" sz="2800" dirty="0"/>
          </a:p>
        </p:txBody>
      </p:sp>
      <p:sp>
        <p:nvSpPr>
          <p:cNvPr id="4" name="Shape 2"/>
          <p:cNvSpPr/>
          <p:nvPr/>
        </p:nvSpPr>
        <p:spPr>
          <a:xfrm>
            <a:off x="566928" y="2101152"/>
            <a:ext cx="3527450" cy="2994025"/>
          </a:xfrm>
          <a:prstGeom prst="roundRect">
            <a:avLst>
              <a:gd name="adj" fmla="val 3054"/>
            </a:avLst>
          </a:prstGeom>
          <a:solidFill>
            <a:srgbClr val="13233F"/>
          </a:solidFill>
          <a:ln w="12700">
            <a:solidFill>
              <a:srgbClr val="13233F"/>
            </a:solidFill>
            <a:prstDash val="solid"/>
          </a:ln>
        </p:spPr>
      </p:sp>
      <p:sp>
        <p:nvSpPr>
          <p:cNvPr id="5" name="Text 3"/>
          <p:cNvSpPr/>
          <p:nvPr/>
        </p:nvSpPr>
        <p:spPr>
          <a:xfrm>
            <a:off x="749808" y="2430336"/>
            <a:ext cx="3161690"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员额制</a:t>
            </a:r>
            <a:endParaRPr lang="en-US" sz="3400" dirty="0"/>
          </a:p>
        </p:txBody>
      </p:sp>
      <p:sp>
        <p:nvSpPr>
          <p:cNvPr id="6" name="Text 4"/>
          <p:cNvSpPr/>
          <p:nvPr/>
        </p:nvSpPr>
        <p:spPr>
          <a:xfrm>
            <a:off x="886968"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谁来裁判</a:t>
            </a:r>
            <a:endParaRPr lang="en-US" sz="1600" dirty="0"/>
          </a:p>
        </p:txBody>
      </p:sp>
      <p:sp>
        <p:nvSpPr>
          <p:cNvPr id="7" name="Text 5"/>
          <p:cNvSpPr/>
          <p:nvPr/>
        </p:nvSpPr>
        <p:spPr>
          <a:xfrm>
            <a:off x="886968"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通过遴选确定员额法官，实行法官、法官助理、书记员的分类管理，使真正办案的人成为责任主体</a:t>
            </a:r>
            <a:endParaRPr lang="en-US" sz="1300" dirty="0"/>
          </a:p>
        </p:txBody>
      </p:sp>
      <p:sp>
        <p:nvSpPr>
          <p:cNvPr id="8" name="Shape 6"/>
          <p:cNvSpPr/>
          <p:nvPr/>
        </p:nvSpPr>
        <p:spPr>
          <a:xfrm>
            <a:off x="4332122" y="2101152"/>
            <a:ext cx="3527450" cy="2994025"/>
          </a:xfrm>
          <a:prstGeom prst="roundRect">
            <a:avLst>
              <a:gd name="adj" fmla="val 3054"/>
            </a:avLst>
          </a:prstGeom>
          <a:solidFill>
            <a:srgbClr val="F6F1E8"/>
          </a:solidFill>
          <a:ln w="12700">
            <a:solidFill>
              <a:srgbClr val="F6F1E8"/>
            </a:solidFill>
            <a:prstDash val="solid"/>
          </a:ln>
        </p:spPr>
      </p:sp>
      <p:sp>
        <p:nvSpPr>
          <p:cNvPr id="9" name="Text 7"/>
          <p:cNvSpPr/>
          <p:nvPr/>
        </p:nvSpPr>
        <p:spPr>
          <a:xfrm>
            <a:off x="4515002" y="2430336"/>
            <a:ext cx="3161690"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放权</a:t>
            </a:r>
            <a:endParaRPr lang="en-US" sz="3400" dirty="0"/>
          </a:p>
        </p:txBody>
      </p:sp>
      <p:sp>
        <p:nvSpPr>
          <p:cNvPr id="10" name="Text 8"/>
          <p:cNvSpPr/>
          <p:nvPr/>
        </p:nvSpPr>
        <p:spPr>
          <a:xfrm>
            <a:off x="4652162"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如何裁判</a:t>
            </a:r>
            <a:endParaRPr lang="en-US" sz="1600" dirty="0"/>
          </a:p>
        </p:txBody>
      </p:sp>
      <p:sp>
        <p:nvSpPr>
          <p:cNvPr id="11" name="Text 9"/>
          <p:cNvSpPr/>
          <p:nvPr/>
        </p:nvSpPr>
        <p:spPr>
          <a:xfrm>
            <a:off x="4652162"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取消案件层层审批，独任法官、合议庭直接签发裁判文书，院庭长监督权限于法定的四类案件</a:t>
            </a:r>
            <a:endParaRPr lang="en-US" sz="1300" dirty="0"/>
          </a:p>
        </p:txBody>
      </p:sp>
      <p:sp>
        <p:nvSpPr>
          <p:cNvPr id="12" name="Shape 10"/>
          <p:cNvSpPr/>
          <p:nvPr/>
        </p:nvSpPr>
        <p:spPr>
          <a:xfrm>
            <a:off x="8097317" y="2101152"/>
            <a:ext cx="3527450" cy="2994025"/>
          </a:xfrm>
          <a:prstGeom prst="roundRect">
            <a:avLst>
              <a:gd name="adj" fmla="val 3054"/>
            </a:avLst>
          </a:prstGeom>
          <a:solidFill>
            <a:srgbClr val="ECF3F2"/>
          </a:solidFill>
          <a:ln w="12700">
            <a:solidFill>
              <a:srgbClr val="ECF3F2"/>
            </a:solidFill>
            <a:prstDash val="solid"/>
          </a:ln>
        </p:spPr>
      </p:sp>
      <p:sp>
        <p:nvSpPr>
          <p:cNvPr id="13" name="Text 11"/>
          <p:cNvSpPr/>
          <p:nvPr/>
        </p:nvSpPr>
        <p:spPr>
          <a:xfrm>
            <a:off x="8280197" y="2430336"/>
            <a:ext cx="3161690" cy="1024128"/>
          </a:xfrm>
          <a:prstGeom prst="rect">
            <a:avLst/>
          </a:prstGeom>
          <a:noFill/>
          <a:ln/>
        </p:spPr>
        <p:txBody>
          <a:bodyPr wrap="square" lIns="0" tIns="0" rIns="0" bIns="0" rtlCol="0" anchor="ctr"/>
          <a:lstStyle/>
          <a:p>
            <a:pPr algn="ctr" indent="0" marL="0">
              <a:buNone/>
            </a:pPr>
            <a:r>
              <a:rPr lang="en-US" sz="3400" b="1" dirty="0">
                <a:solidFill>
                  <a:srgbClr val="2F6E6A"/>
                </a:solidFill>
                <a:latin typeface="微软雅黑" pitchFamily="34" charset="0"/>
                <a:ea typeface="微软雅黑" pitchFamily="34" charset="-122"/>
                <a:cs typeface="微软雅黑" pitchFamily="34" charset="-120"/>
              </a:rPr>
              <a:t>追责</a:t>
            </a:r>
            <a:endParaRPr lang="en-US" sz="3400" dirty="0"/>
          </a:p>
        </p:txBody>
      </p:sp>
      <p:sp>
        <p:nvSpPr>
          <p:cNvPr id="14" name="Text 12"/>
          <p:cNvSpPr/>
          <p:nvPr/>
        </p:nvSpPr>
        <p:spPr>
          <a:xfrm>
            <a:off x="8417357"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谁来负责</a:t>
            </a:r>
            <a:endParaRPr lang="en-US" sz="1600" dirty="0"/>
          </a:p>
        </p:txBody>
      </p:sp>
      <p:sp>
        <p:nvSpPr>
          <p:cNvPr id="15" name="Text 13"/>
          <p:cNvSpPr/>
          <p:nvPr/>
        </p:nvSpPr>
        <p:spPr>
          <a:xfrm>
            <a:off x="8417357"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建立与放权相配套的审判责任追究机制，同时明确不受追究的情形，保障法官依法履职</a:t>
            </a:r>
            <a:endParaRPr lang="en-US" sz="1300" dirty="0"/>
          </a:p>
        </p:txBody>
      </p:sp>
      <p:sp>
        <p:nvSpPr>
          <p:cNvPr id="16" name="Text 14"/>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三者缺一不可：只放权不追责会导致失控，只追责不放权则法官无从负责。</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16</a:t>
            </a:r>
            <a:endParaRPr lang="en-US" sz="11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责任界限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哪些应当追责，哪些不受追究</a:t>
            </a:r>
            <a:endParaRPr lang="en-US" sz="2800" dirty="0"/>
          </a:p>
        </p:txBody>
      </p:sp>
      <p:sp>
        <p:nvSpPr>
          <p:cNvPr id="4" name="Shape 2"/>
          <p:cNvSpPr/>
          <p:nvPr/>
        </p:nvSpPr>
        <p:spPr>
          <a:xfrm>
            <a:off x="566928" y="1610995"/>
            <a:ext cx="5410048" cy="4477258"/>
          </a:xfrm>
          <a:prstGeom prst="roundRect">
            <a:avLst>
              <a:gd name="adj" fmla="val 2042"/>
            </a:avLst>
          </a:prstGeom>
          <a:solidFill>
            <a:srgbClr val="F2F4F8"/>
          </a:solidFill>
          <a:ln w="12700">
            <a:solidFill>
              <a:srgbClr val="F2F4F8"/>
            </a:solidFill>
            <a:prstDash val="solid"/>
          </a:ln>
        </p:spPr>
      </p:sp>
      <p:sp>
        <p:nvSpPr>
          <p:cNvPr id="5" name="Shape 3"/>
          <p:cNvSpPr/>
          <p:nvPr/>
        </p:nvSpPr>
        <p:spPr>
          <a:xfrm>
            <a:off x="841248" y="186702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应当追究审判责任的情形</a:t>
            </a:r>
            <a:endParaRPr lang="en-US" sz="1600" dirty="0"/>
          </a:p>
        </p:txBody>
      </p:sp>
      <p:sp>
        <p:nvSpPr>
          <p:cNvPr id="7" name="Text 5"/>
          <p:cNvSpPr/>
          <p:nvPr/>
        </p:nvSpPr>
        <p:spPr>
          <a:xfrm>
            <a:off x="932688"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故意违反法律法规办理案件（《法官法》第四十六条第四项）。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因重大过失导致裁判结果错误并造成严重后果（第五项）。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贪污受贿、徇私舞弊、枉法裁判（第一项）。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隐瞒、伪造、变造、故意损毁证据、案件材料（第二项）。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接受当事人及其代理人利益输送，或违规会见（第八项）。</a:t>
            </a:r>
            <a:endParaRPr lang="en-US" sz="1450" dirty="0"/>
          </a:p>
        </p:txBody>
      </p:sp>
      <p:sp>
        <p:nvSpPr>
          <p:cNvPr id="8" name="Shape 6"/>
          <p:cNvSpPr/>
          <p:nvPr/>
        </p:nvSpPr>
        <p:spPr>
          <a:xfrm>
            <a:off x="6214720" y="1610995"/>
            <a:ext cx="5410048" cy="4477258"/>
          </a:xfrm>
          <a:prstGeom prst="roundRect">
            <a:avLst>
              <a:gd name="adj" fmla="val 2042"/>
            </a:avLst>
          </a:prstGeom>
          <a:solidFill>
            <a:srgbClr val="F6F1E8"/>
          </a:solidFill>
          <a:ln w="12700">
            <a:solidFill>
              <a:srgbClr val="F6F1E8"/>
            </a:solidFill>
            <a:prstDash val="solid"/>
          </a:ln>
        </p:spPr>
      </p:sp>
      <p:sp>
        <p:nvSpPr>
          <p:cNvPr id="9" name="Shape 7"/>
          <p:cNvSpPr/>
          <p:nvPr/>
        </p:nvSpPr>
        <p:spPr>
          <a:xfrm>
            <a:off x="6489040" y="186702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不应追究责任的情形</a:t>
            </a:r>
            <a:endParaRPr lang="en-US" sz="1600" dirty="0"/>
          </a:p>
        </p:txBody>
      </p:sp>
      <p:sp>
        <p:nvSpPr>
          <p:cNvPr id="11" name="Text 9"/>
          <p:cNvSpPr/>
          <p:nvPr/>
        </p:nvSpPr>
        <p:spPr>
          <a:xfrm>
            <a:off x="6580480"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对法律理解与认识上的偏差——法律解释存在合理分歧的，不属违法审判。</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对案件事实和证据认识上的偏差，且已尽到审查职责的。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因法律修改、司法解释变更或指导性案例调整而导致的裁判差异。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因不可归责于法官的事由（如新证据出现）导致裁判被改变的。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法官依照法定程序对案件集体讨论决定，个人已提出正确意见的。</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17</a:t>
            </a:r>
            <a:endParaRPr lang="en-US" sz="11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为什么必须明确“不追责”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免责边界是独立的前提</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如果任何被改判、被发回的案件都可能被追责，法官就会采取自我保护性的行为，独立随之落空。</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自我保护性行为之一：凡有疑难必上报，主动放弃独立判断，把责任推给院庭长或审委会。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自我保护性行为之二：在法律解释存在分歧时，一律选择最保守、最不容易被指责的方案，即使该方案未必最符合个案正义。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自我保护性行为之三：对新型案件、疑难案件消极拖延，久拖不决。</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所以，明确“不受追究的情形”，不是为法官开脱，而是为独立裁判提供必要的安全空间。裁判责任只应针对故意与重大过失，不应针对合理的认识分歧。</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18</a:t>
            </a:r>
            <a:endParaRPr lang="en-US" sz="11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独立的限度：独立不等于任意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独立是在法律之内的独立，不是超越法律的自由裁量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19</a:t>
            </a:r>
            <a:endParaRPr lang="en-US" sz="11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四项限度</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独立受到哪些正当约束</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受法律与司法解释的约束</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法官必须适用现行有效的法律与司法解释，不得以个人对法律的评价为由拒绝适用。若认为规范性文件与上位法冲突，应当依法定程序处理（如逐级报送审查），而非径行拒绝适用。</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受类案裁判规则的约束</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依《关于统一法律适用加强类案检索的指导意见》，法官在特定情形下应当进行类案检索；检索到指导性案例的，应当参照。同案同判是形式正义的基本要求，也是对恣意的约束。</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受程序与说理的约束</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独立行使的裁判权必须以裁判文书说理的方式接受检验。说理不充分的裁判，即使结论正确，也未完成正当性论证。裁判文书公开正是这一约束的制度化。</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受审级监督的约束</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二审、再审程序是对独立裁判的正当审查。被改判不等于错误，更不等于违纪；但法官应当从改判中检视自己的判断，这是职业成长的正常方式。</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20</a:t>
            </a:r>
            <a:endParaRPr lang="en-US" sz="11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法官的独立不是为了法官自己，而是为了当事人——为了让每一个走进法庭的人相信，决定他命运的只有事实与法律。</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司法独立的价值归属</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一旦把独立理解为法官的个人利益，就必然导向对监督的排斥；理解为当事人的权利，则独立与责任自然统一</a:t>
            </a:r>
            <a:endParaRPr lang="en-US" sz="13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某法官在审理一起备受关注的案件时，收到本院院长的书面意见，认为其拟作出的判决“社会效果不好，建议慎重考虑”。该案不属于法定的四类案件。法官应当如何处理？请给出具体的操作步骤。</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“逢问必录”要求如实记录过问情况。但如果过问者是本院分管领导，法官担心记录后遭到报复，应当如何保障其权利？现行制度提供了哪些保护？</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司法责任制要求“由裁判者负责”，但法律解释常有合理分歧。请设计一个判断标准，用以区分“错误的法律理解”与“合理的认识分歧”。</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有观点认为，类案检索制度实质上限制了法官的独立判断，使我国事实上引入了判例约束。你是否同意？同案同判与法官独立是什么关系？</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第6课时 · 22</a:t>
            </a:r>
            <a:endParaRPr lang="en-US" sz="11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第6课时要点回顾</a:t>
            </a:r>
            <a:endParaRPr lang="en-US" sz="3000" dirty="0"/>
          </a:p>
        </p:txBody>
      </p:sp>
      <p:sp>
        <p:nvSpPr>
          <p:cNvPr id="4" name="Shape 2"/>
          <p:cNvSpPr/>
          <p:nvPr/>
        </p:nvSpPr>
        <p:spPr>
          <a:xfrm>
            <a:off x="566928" y="1591056"/>
            <a:ext cx="11057839" cy="607547"/>
          </a:xfrm>
          <a:prstGeom prst="roundRect">
            <a:avLst>
              <a:gd name="adj" fmla="val 12041"/>
            </a:avLst>
          </a:prstGeom>
          <a:solidFill>
            <a:srgbClr val="25395F"/>
          </a:solidFill>
          <a:ln w="12700">
            <a:solidFill>
              <a:srgbClr val="25395F"/>
            </a:solidFill>
            <a:prstDash val="solid"/>
          </a:ln>
        </p:spPr>
      </p:sp>
      <p:sp>
        <p:nvSpPr>
          <p:cNvPr id="5" name="Shape 3"/>
          <p:cNvSpPr/>
          <p:nvPr/>
        </p:nvSpPr>
        <p:spPr>
          <a:xfrm>
            <a:off x="859536" y="169366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14362"/>
            <a:ext cx="160934" cy="160934"/>
          </a:xfrm>
          <a:prstGeom prst="rect">
            <a:avLst/>
          </a:prstGeom>
        </p:spPr>
      </p:pic>
      <p:sp>
        <p:nvSpPr>
          <p:cNvPr id="7" name="Text 4"/>
          <p:cNvSpPr/>
          <p:nvPr/>
        </p:nvSpPr>
        <p:spPr>
          <a:xfrm>
            <a:off x="1444752" y="1775767"/>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独立是法官的义务而非特权：法官必须排除干扰独立判断，屈从压力作出违心裁判本身即为失职；独立必然伴随责任。</a:t>
            </a:r>
            <a:endParaRPr lang="en-US" sz="1250" dirty="0"/>
          </a:p>
        </p:txBody>
      </p:sp>
      <p:sp>
        <p:nvSpPr>
          <p:cNvPr id="8" name="Shape 5"/>
          <p:cNvSpPr/>
          <p:nvPr/>
        </p:nvSpPr>
        <p:spPr>
          <a:xfrm>
            <a:off x="566928" y="2335763"/>
            <a:ext cx="11057839" cy="837734"/>
          </a:xfrm>
          <a:prstGeom prst="roundRect">
            <a:avLst>
              <a:gd name="adj" fmla="val 8732"/>
            </a:avLst>
          </a:prstGeom>
          <a:solidFill>
            <a:srgbClr val="25395F"/>
          </a:solidFill>
          <a:ln w="12700">
            <a:solidFill>
              <a:srgbClr val="25395F"/>
            </a:solidFill>
            <a:prstDash val="solid"/>
          </a:ln>
        </p:spPr>
      </p:sp>
      <p:sp>
        <p:nvSpPr>
          <p:cNvPr id="9" name="Shape 6"/>
          <p:cNvSpPr/>
          <p:nvPr/>
        </p:nvSpPr>
        <p:spPr>
          <a:xfrm>
            <a:off x="859536" y="2553462"/>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674163"/>
            <a:ext cx="160934" cy="160934"/>
          </a:xfrm>
          <a:prstGeom prst="rect">
            <a:avLst/>
          </a:prstGeom>
        </p:spPr>
      </p:pic>
      <p:sp>
        <p:nvSpPr>
          <p:cNvPr id="11" name="Text 7"/>
          <p:cNvSpPr/>
          <p:nvPr/>
        </p:nvSpPr>
        <p:spPr>
          <a:xfrm>
            <a:off x="1444752" y="2516505"/>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法官独立于当事人、行政机关、传媒舆论、本院院庭长与上级法院法官的不当干预及自身偏好；只服从宪法法律、法定程序查明的事实与良心。</a:t>
            </a:r>
            <a:endParaRPr lang="en-US" sz="1250" dirty="0"/>
          </a:p>
        </p:txBody>
      </p:sp>
      <p:sp>
        <p:nvSpPr>
          <p:cNvPr id="12" name="Shape 8"/>
          <p:cNvSpPr/>
          <p:nvPr/>
        </p:nvSpPr>
        <p:spPr>
          <a:xfrm>
            <a:off x="566928" y="3310657"/>
            <a:ext cx="11057839" cy="607547"/>
          </a:xfrm>
          <a:prstGeom prst="roundRect">
            <a:avLst>
              <a:gd name="adj" fmla="val 12041"/>
            </a:avLst>
          </a:prstGeom>
          <a:solidFill>
            <a:srgbClr val="25395F"/>
          </a:solidFill>
          <a:ln w="12700">
            <a:solidFill>
              <a:srgbClr val="25395F"/>
            </a:solidFill>
            <a:prstDash val="solid"/>
          </a:ln>
        </p:spPr>
      </p:sp>
      <p:sp>
        <p:nvSpPr>
          <p:cNvPr id="13" name="Shape 9"/>
          <p:cNvSpPr/>
          <p:nvPr/>
        </p:nvSpPr>
        <p:spPr>
          <a:xfrm>
            <a:off x="859536" y="3413263"/>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533963"/>
            <a:ext cx="160934" cy="160934"/>
          </a:xfrm>
          <a:prstGeom prst="rect">
            <a:avLst/>
          </a:prstGeom>
        </p:spPr>
      </p:pic>
      <p:sp>
        <p:nvSpPr>
          <p:cNvPr id="15" name="Text 10"/>
          <p:cNvSpPr/>
          <p:nvPr/>
        </p:nvSpPr>
        <p:spPr>
          <a:xfrm>
            <a:off x="1444752" y="349536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“防止干预司法三个规定”的核心机理是“逢问必录”：不禁止开口，而以全程留痕改变博弈结构，同时把个人的拒绝转化为制度的拒绝。</a:t>
            </a:r>
            <a:endParaRPr lang="en-US" sz="1250" dirty="0"/>
          </a:p>
        </p:txBody>
      </p:sp>
      <p:sp>
        <p:nvSpPr>
          <p:cNvPr id="16" name="Shape 11"/>
          <p:cNvSpPr/>
          <p:nvPr/>
        </p:nvSpPr>
        <p:spPr>
          <a:xfrm>
            <a:off x="566928" y="4055364"/>
            <a:ext cx="11057839" cy="837734"/>
          </a:xfrm>
          <a:prstGeom prst="roundRect">
            <a:avLst>
              <a:gd name="adj" fmla="val 8732"/>
            </a:avLst>
          </a:prstGeom>
          <a:solidFill>
            <a:srgbClr val="25395F"/>
          </a:solidFill>
          <a:ln w="12700">
            <a:solidFill>
              <a:srgbClr val="25395F"/>
            </a:solidFill>
            <a:prstDash val="solid"/>
          </a:ln>
        </p:spPr>
      </p:sp>
      <p:sp>
        <p:nvSpPr>
          <p:cNvPr id="17" name="Shape 12"/>
          <p:cNvSpPr/>
          <p:nvPr/>
        </p:nvSpPr>
        <p:spPr>
          <a:xfrm>
            <a:off x="859536" y="4273063"/>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93764"/>
            <a:ext cx="160934" cy="160934"/>
          </a:xfrm>
          <a:prstGeom prst="rect">
            <a:avLst/>
          </a:prstGeom>
        </p:spPr>
      </p:pic>
      <p:sp>
        <p:nvSpPr>
          <p:cNvPr id="19" name="Text 13"/>
          <p:cNvSpPr/>
          <p:nvPr/>
        </p:nvSpPr>
        <p:spPr>
          <a:xfrm>
            <a:off x="1444752" y="423610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内部独立的障碍是审判行政化（层层审批、审委会决定、向上请示、考核压力）；院庭长的监督权限于法定四类案件，且仅有知情权与提示权，无改变裁判结果的决定权。</a:t>
            </a:r>
            <a:endParaRPr lang="en-US" sz="1250" dirty="0"/>
          </a:p>
        </p:txBody>
      </p:sp>
      <p:sp>
        <p:nvSpPr>
          <p:cNvPr id="20" name="Shape 14"/>
          <p:cNvSpPr/>
          <p:nvPr/>
        </p:nvSpPr>
        <p:spPr>
          <a:xfrm>
            <a:off x="566928" y="5030258"/>
            <a:ext cx="11057839" cy="607547"/>
          </a:xfrm>
          <a:prstGeom prst="roundRect">
            <a:avLst>
              <a:gd name="adj" fmla="val 12041"/>
            </a:avLst>
          </a:prstGeom>
          <a:solidFill>
            <a:srgbClr val="25395F"/>
          </a:solidFill>
          <a:ln w="12700">
            <a:solidFill>
              <a:srgbClr val="25395F"/>
            </a:solidFill>
            <a:prstDash val="solid"/>
          </a:ln>
        </p:spPr>
      </p:sp>
      <p:sp>
        <p:nvSpPr>
          <p:cNvPr id="21" name="Shape 15"/>
          <p:cNvSpPr/>
          <p:nvPr/>
        </p:nvSpPr>
        <p:spPr>
          <a:xfrm>
            <a:off x="859536" y="5132864"/>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253565"/>
            <a:ext cx="160934" cy="160934"/>
          </a:xfrm>
          <a:prstGeom prst="rect">
            <a:avLst/>
          </a:prstGeom>
        </p:spPr>
      </p:pic>
      <p:sp>
        <p:nvSpPr>
          <p:cNvPr id="23" name="Text 16"/>
          <p:cNvSpPr/>
          <p:nvPr/>
        </p:nvSpPr>
        <p:spPr>
          <a:xfrm>
            <a:off x="1444752" y="5214969"/>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司法责任制由员额制、放权、追责三根支柱构成；审判责任只针对故意与重大过失，明确“不受追究的情形”是独立裁判的必要安全空间。</a:t>
            </a:r>
            <a:endParaRPr lang="en-US" sz="1250" dirty="0"/>
          </a:p>
        </p:txBody>
      </p:sp>
      <p:sp>
        <p:nvSpPr>
          <p:cNvPr id="24" name="Shape 17"/>
          <p:cNvSpPr/>
          <p:nvPr/>
        </p:nvSpPr>
        <p:spPr>
          <a:xfrm>
            <a:off x="566928" y="5774965"/>
            <a:ext cx="11057839" cy="607547"/>
          </a:xfrm>
          <a:prstGeom prst="roundRect">
            <a:avLst>
              <a:gd name="adj" fmla="val 12041"/>
            </a:avLst>
          </a:prstGeom>
          <a:solidFill>
            <a:srgbClr val="25395F"/>
          </a:solidFill>
          <a:ln w="12700">
            <a:solidFill>
              <a:srgbClr val="25395F"/>
            </a:solidFill>
            <a:prstDash val="solid"/>
          </a:ln>
        </p:spPr>
      </p:sp>
      <p:sp>
        <p:nvSpPr>
          <p:cNvPr id="25" name="Shape 18"/>
          <p:cNvSpPr/>
          <p:nvPr/>
        </p:nvSpPr>
        <p:spPr>
          <a:xfrm>
            <a:off x="859536" y="587757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98271"/>
            <a:ext cx="160934" cy="160934"/>
          </a:xfrm>
          <a:prstGeom prst="rect">
            <a:avLst/>
          </a:prstGeom>
        </p:spPr>
      </p:pic>
      <p:sp>
        <p:nvSpPr>
          <p:cNvPr id="27" name="Text 19"/>
          <p:cNvSpPr/>
          <p:nvPr/>
        </p:nvSpPr>
        <p:spPr>
          <a:xfrm>
            <a:off x="1444752" y="59596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独立不等于任意：仍受法律与司法解释、类案裁判规则、程序与说理、审级监督四项正当约束。独立的价值归属是当事人，而非法官自身。</a:t>
            </a:r>
            <a:endParaRPr lang="en-US" sz="12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第7课时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保证司法公正（二）：中立、回避与程序伦理</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正义不仅要实现，而且要以人们看得见的方式实现——中立既是实质要求，也是外观要求</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中立的两个维度：实质中立与外观中立</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回避制度：事由、程序、后果与任职离任回避</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禁止单方接触、言行中立与平等对待</a:t>
            </a:r>
            <a:endParaRPr lang="en-US" sz="14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中立的规范展开</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一、中立的两个维度：实质与外观</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二、回避制度（一）：事由与程序</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三、回避制度（二）：任职回避与离任回避</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四、禁止单方接触</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五、言行中立与平等对待当事人</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六、程序伦理：释明、审限与庭审指挥</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02</a:t>
            </a:r>
            <a:endParaRPr lang="en-US" sz="11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中立的两个维度：实质与外观</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一个实际公正但看起来可疑的裁判，与一个不公正的裁判，对公信力的损害可能同样严重</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03</a:t>
            </a:r>
            <a:endParaRPr lang="en-US" sz="11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926336"/>
            <a:ext cx="749808" cy="749808"/>
          </a:xfrm>
          <a:prstGeom prst="rect">
            <a:avLst/>
          </a:prstGeom>
        </p:spPr>
      </p:pic>
      <p:sp>
        <p:nvSpPr>
          <p:cNvPr id="3" name="Text 0"/>
          <p:cNvSpPr/>
          <p:nvPr/>
        </p:nvSpPr>
        <p:spPr>
          <a:xfrm>
            <a:off x="1298448" y="3005328"/>
            <a:ext cx="9594799" cy="6096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正义不仅要实现，而且要以人们看得见的方式实现。</a:t>
            </a:r>
            <a:endParaRPr lang="en-US" sz="3200" dirty="0"/>
          </a:p>
        </p:txBody>
      </p:sp>
      <p:sp>
        <p:nvSpPr>
          <p:cNvPr id="4" name="Text 1"/>
          <p:cNvSpPr/>
          <p:nvPr/>
        </p:nvSpPr>
        <p:spPr>
          <a:xfrm>
            <a:off x="1335024" y="39806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休厄特勋爵（Lord Hewart）</a:t>
            </a:r>
            <a:endParaRPr lang="en-US" sz="1700" dirty="0"/>
          </a:p>
        </p:txBody>
      </p:sp>
      <p:sp>
        <p:nvSpPr>
          <p:cNvPr id="5" name="Text 2"/>
          <p:cNvSpPr/>
          <p:nvPr/>
        </p:nvSpPr>
        <p:spPr>
          <a:xfrm>
            <a:off x="1335024" y="43830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R v Sussex Justices, ex parte McCarthy (1924) —— 该案中书记员系一方当事人的代理人，虽未参与实际决定，判决仍被撤销</a:t>
            </a:r>
            <a:endParaRPr lang="en-US" sz="13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两个维度</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实质中立与外观中立</a:t>
            </a:r>
            <a:endParaRPr lang="en-US" sz="2800" dirty="0"/>
          </a:p>
        </p:txBody>
      </p:sp>
      <p:sp>
        <p:nvSpPr>
          <p:cNvPr id="4" name="Shape 2"/>
          <p:cNvSpPr/>
          <p:nvPr/>
        </p:nvSpPr>
        <p:spPr>
          <a:xfrm>
            <a:off x="566928" y="2076133"/>
            <a:ext cx="5410048" cy="3546983"/>
          </a:xfrm>
          <a:prstGeom prst="roundRect">
            <a:avLst>
              <a:gd name="adj" fmla="val 2578"/>
            </a:avLst>
          </a:prstGeom>
          <a:solidFill>
            <a:srgbClr val="F2F4F8"/>
          </a:solidFill>
          <a:ln w="12700">
            <a:solidFill>
              <a:srgbClr val="F2F4F8"/>
            </a:solidFill>
            <a:prstDash val="solid"/>
          </a:ln>
        </p:spPr>
      </p:sp>
      <p:sp>
        <p:nvSpPr>
          <p:cNvPr id="5" name="Shape 3"/>
          <p:cNvSpPr/>
          <p:nvPr/>
        </p:nvSpPr>
        <p:spPr>
          <a:xfrm>
            <a:off x="841248" y="23321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实质中立：不偏袒任何一方</a:t>
            </a:r>
            <a:endParaRPr lang="en-US" sz="1600" dirty="0"/>
          </a:p>
        </p:txBody>
      </p:sp>
      <p:sp>
        <p:nvSpPr>
          <p:cNvPr id="7" name="Text 5"/>
          <p:cNvSpPr/>
          <p:nvPr/>
        </p:nvSpPr>
        <p:spPr>
          <a:xfrm>
            <a:off x="932688"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指向裁判者的实际心理状态与实际行为：不因偏好、利害、请托而倾向某一方。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判断困难：内心状态无法直接查证，只能通过外在行为推断。</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违反的典型表现：接受请托后作出有利裁判；对一方的证据明显宽松、对另一方明显苛刻。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救济：通过上诉、再审纠正裁判结果。</a:t>
            </a:r>
            <a:endParaRPr lang="en-US" sz="1450" dirty="0"/>
          </a:p>
        </p:txBody>
      </p:sp>
      <p:sp>
        <p:nvSpPr>
          <p:cNvPr id="8" name="Shape 6"/>
          <p:cNvSpPr/>
          <p:nvPr/>
        </p:nvSpPr>
        <p:spPr>
          <a:xfrm>
            <a:off x="6214720" y="2076133"/>
            <a:ext cx="5410048" cy="3546983"/>
          </a:xfrm>
          <a:prstGeom prst="roundRect">
            <a:avLst>
              <a:gd name="adj" fmla="val 2578"/>
            </a:avLst>
          </a:prstGeom>
          <a:solidFill>
            <a:srgbClr val="F6F1E8"/>
          </a:solidFill>
          <a:ln w="12700">
            <a:solidFill>
              <a:srgbClr val="F6F1E8"/>
            </a:solidFill>
            <a:prstDash val="solid"/>
          </a:ln>
        </p:spPr>
      </p:sp>
      <p:sp>
        <p:nvSpPr>
          <p:cNvPr id="9" name="Shape 7"/>
          <p:cNvSpPr/>
          <p:nvPr/>
        </p:nvSpPr>
        <p:spPr>
          <a:xfrm>
            <a:off x="6489040" y="23321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外观中立：使人相信没有偏袒</a:t>
            </a:r>
            <a:endParaRPr lang="en-US" sz="1600" dirty="0"/>
          </a:p>
        </p:txBody>
      </p:sp>
      <p:sp>
        <p:nvSpPr>
          <p:cNvPr id="11" name="Text 9"/>
          <p:cNvSpPr/>
          <p:nvPr/>
        </p:nvSpPr>
        <p:spPr>
          <a:xfrm>
            <a:off x="6580480"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指向一个理性的旁观者所能感知的印象：这个裁判者看起来是否可能有所偏袒。</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判断标准客观化：不问裁判者实际是否偏袒，只问是否存在使人合理怀疑的情形。</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违反的典型表现：与一方共进宴席；与一方存在特定亲属或利害关系而未回避；庭外单独会见一方。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救济：回避制度——它保护的正是外观中立。</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05</a:t>
            </a:r>
            <a:endParaRPr lang="en-US" sz="11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关键命题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为什么外观中立必须被独立保护</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很多同学会问：如果法官确实没有偏袒，仅因“看起来可疑”就要求他回避，是不是过于苛刻？</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第一，实质中立不可查证。我们无法打开一个人的头脑去检验他是否偏袒。若以实质偏袒为唯一标准，绝大多数偏袒将无法被证明，规则形同虚设。</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第二，公信力依赖于感知而非事实。当事人是否接受裁判，取决于他相信什么，而不取决于客观上发生了什么。一个他不相信的公正判决，仍然无法定纷止争。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第三，外观标准保护法官自己。有了客观的回避事由，法官无须自证清白，只需依规回避；这反而使他免于事后被无端质疑。</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第四，班加罗尔准则将此表述为“应当避免不当行为及不当行为的表象”（the appearance of impropriety），这是国际司法伦理的共识表述。</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判断口诀：不问“我是否偏袒”，而问“一个理性的旁观者会不会合理地怀疑我偏袒”。</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06</a:t>
            </a:r>
            <a:endParaRPr lang="en-US" sz="11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回避制度（一）：事由与程序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回避是外观中立最重要的制度装置</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07</a:t>
            </a:r>
            <a:endParaRPr lang="en-US" sz="11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回避事由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三大诉讼法中的回避事由</a:t>
            </a:r>
            <a:endParaRPr lang="en-US" sz="2800" dirty="0"/>
          </a:p>
        </p:txBody>
      </p:sp>
      <p:sp>
        <p:nvSpPr>
          <p:cNvPr id="4" name="Shape 2"/>
          <p:cNvSpPr/>
          <p:nvPr/>
        </p:nvSpPr>
        <p:spPr>
          <a:xfrm>
            <a:off x="566928" y="1316736"/>
            <a:ext cx="11057839" cy="1979676"/>
          </a:xfrm>
          <a:prstGeom prst="roundRect">
            <a:avLst>
              <a:gd name="adj" fmla="val 4619"/>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《民事诉讼法》（2023年修正）第四十七条</a:t>
            </a:r>
            <a:endParaRPr lang="en-US" sz="1500" dirty="0"/>
          </a:p>
        </p:txBody>
      </p:sp>
      <p:sp>
        <p:nvSpPr>
          <p:cNvPr id="8" name="Text 6"/>
          <p:cNvSpPr/>
          <p:nvPr/>
        </p:nvSpPr>
        <p:spPr>
          <a:xfrm>
            <a:off x="960120" y="1956816"/>
            <a:ext cx="10271455" cy="112014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审判人员有下列情形之一的，应当自行回避，当事人有权用口头或者书面方式申请他们回避：</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（一）是本案当事人或者当事人、诉讼代理人近亲属的；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（二）与本案有利害关系的；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（三）与本案当事人、诉讼代理人有其他关系，可能影响对案件公正审理的。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审判人员接受当事人、诉讼代理人请客送礼，或者违反规定会见当事人、诉讼代理人的，当事人有权要求他们回避。</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前三款规定，适用于书记员、翻译人员、鉴定人、勘验人。</a:t>
            </a:r>
            <a:endParaRPr lang="en-US" sz="850" dirty="0"/>
          </a:p>
        </p:txBody>
      </p:sp>
      <p:sp>
        <p:nvSpPr>
          <p:cNvPr id="9" name="Shape 7"/>
          <p:cNvSpPr/>
          <p:nvPr/>
        </p:nvSpPr>
        <p:spPr>
          <a:xfrm>
            <a:off x="566928" y="3479292"/>
            <a:ext cx="11057839" cy="1808226"/>
          </a:xfrm>
          <a:prstGeom prst="roundRect">
            <a:avLst>
              <a:gd name="adj" fmla="val 5057"/>
            </a:avLst>
          </a:prstGeom>
          <a:solidFill>
            <a:srgbClr val="F6F1E8"/>
          </a:solidFill>
          <a:ln w="12700">
            <a:solidFill>
              <a:srgbClr val="F6F1E8"/>
            </a:solidFill>
            <a:prstDash val="solid"/>
          </a:ln>
        </p:spPr>
      </p:sp>
      <p:sp>
        <p:nvSpPr>
          <p:cNvPr id="10" name="Shape 8"/>
          <p:cNvSpPr/>
          <p:nvPr/>
        </p:nvSpPr>
        <p:spPr>
          <a:xfrm>
            <a:off x="877824" y="371703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71703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69874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《刑事诉讼法》第二十九条</a:t>
            </a:r>
            <a:endParaRPr lang="en-US" sz="1500" dirty="0"/>
          </a:p>
        </p:txBody>
      </p:sp>
      <p:sp>
        <p:nvSpPr>
          <p:cNvPr id="13" name="Text 11"/>
          <p:cNvSpPr/>
          <p:nvPr/>
        </p:nvSpPr>
        <p:spPr>
          <a:xfrm>
            <a:off x="960120" y="4119372"/>
            <a:ext cx="10271455" cy="9486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审判人员、检察人员、侦查人员有下列情形之一的，应当回避，当事人及其法定代理人也有权要求他们回避：</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（一）是本案的当事人或者是当事人的近亲属的；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（二）本人或者他的近亲属和本案有利害关系的；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（三）担任过本案的证人、鉴定人、辩护人、诉讼代理人的；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（四）与本案当事人有其他关系，可能影响公正处理案件的。</a:t>
            </a:r>
            <a:endParaRPr lang="en-US" sz="8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比较两条的差异：刑诉法多出第（三）项“担任过本案的证人、鉴定人、辩护人、诉讼代理人的”，这是角色混同的禁止；民诉法则明确将“接受请客送礼、违规会见”单列为回避事由。共同的兜底条款是“其他关系，可能影响公正审理/处理”——这正是外观中立标准的规范入口。</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08</a:t>
            </a:r>
            <a:endParaRPr lang="en-US" sz="11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廉洁性回避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《刑事诉讼法》第三十条：请托与违规会见</a:t>
            </a:r>
            <a:endParaRPr lang="en-US" sz="2800" dirty="0"/>
          </a:p>
        </p:txBody>
      </p:sp>
      <p:sp>
        <p:nvSpPr>
          <p:cNvPr id="4" name="Shape 2"/>
          <p:cNvSpPr/>
          <p:nvPr/>
        </p:nvSpPr>
        <p:spPr>
          <a:xfrm>
            <a:off x="566928" y="2240407"/>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47815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47815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45986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《中华人民共和国刑事诉讼法》第三十条</a:t>
            </a:r>
            <a:endParaRPr lang="en-US" sz="1500" dirty="0"/>
          </a:p>
        </p:txBody>
      </p:sp>
      <p:sp>
        <p:nvSpPr>
          <p:cNvPr id="8" name="Text 6"/>
          <p:cNvSpPr/>
          <p:nvPr/>
        </p:nvSpPr>
        <p:spPr>
          <a:xfrm>
            <a:off x="960120" y="2880487"/>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审判人员、检察人员、侦查人员不得接受当事人及其委托的人的请客送礼，不得违反规定会见当事人及其委托的人。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违反前款规定的，应当依法追究法律责任。当事人及其法定代理人有权要求他们回避。</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把廉洁要求与回避制度打通：接受请客送礼、违规会见，不仅要承担纪律或刑事责任，而且直接构成当事人申请回避的事由。请注意其规范逻辑——违规接触之所以成为回避事由，正是因为它破坏了外观中立，而不必证明裁判者实际上已被收买。</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09</a:t>
            </a:r>
            <a:endParaRPr lang="en-US" sz="11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回避程序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三种启动方式与决定主体</a:t>
            </a:r>
            <a:endParaRPr lang="en-US" sz="2800" dirty="0"/>
          </a:p>
        </p:txBody>
      </p:sp>
      <p:sp>
        <p:nvSpPr>
          <p:cNvPr id="4" name="Shape 2"/>
          <p:cNvSpPr/>
          <p:nvPr/>
        </p:nvSpPr>
        <p:spPr>
          <a:xfrm>
            <a:off x="566928" y="1824704"/>
            <a:ext cx="5382616" cy="1264603"/>
          </a:xfrm>
          <a:prstGeom prst="roundRect">
            <a:avLst>
              <a:gd name="adj" fmla="val 5785"/>
            </a:avLst>
          </a:prstGeom>
          <a:solidFill>
            <a:srgbClr val="F2F4F8"/>
          </a:solidFill>
          <a:ln w="12700">
            <a:solidFill>
              <a:srgbClr val="F2F4F8"/>
            </a:solidFill>
            <a:prstDash val="solid"/>
          </a:ln>
        </p:spPr>
      </p:sp>
      <p:sp>
        <p:nvSpPr>
          <p:cNvPr id="5" name="Shape 3"/>
          <p:cNvSpPr/>
          <p:nvPr/>
        </p:nvSpPr>
        <p:spPr>
          <a:xfrm>
            <a:off x="822960" y="2228406"/>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2840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61864"/>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自行回避</a:t>
            </a:r>
            <a:endParaRPr lang="en-US" sz="1450" dirty="0"/>
          </a:p>
        </p:txBody>
      </p:sp>
      <p:sp>
        <p:nvSpPr>
          <p:cNvPr id="8" name="Text 6"/>
          <p:cNvSpPr/>
          <p:nvPr/>
        </p:nvSpPr>
        <p:spPr>
          <a:xfrm>
            <a:off x="1444752" y="2261584"/>
            <a:ext cx="4340200" cy="690563"/>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审判人员发现自己有法定回避情形的，应当主动提出回避，不待当事人申请。这是法官的主动义务，隐瞒应当回避的事由属于违纪行为。</a:t>
            </a:r>
            <a:endParaRPr lang="en-US" sz="1250" dirty="0"/>
          </a:p>
        </p:txBody>
      </p:sp>
      <p:sp>
        <p:nvSpPr>
          <p:cNvPr id="9" name="Shape 7"/>
          <p:cNvSpPr/>
          <p:nvPr/>
        </p:nvSpPr>
        <p:spPr>
          <a:xfrm>
            <a:off x="566928" y="3217323"/>
            <a:ext cx="5382616" cy="1494790"/>
          </a:xfrm>
          <a:prstGeom prst="roundRect">
            <a:avLst>
              <a:gd name="adj" fmla="val 4894"/>
            </a:avLst>
          </a:prstGeom>
          <a:solidFill>
            <a:srgbClr val="FFFFFF"/>
          </a:solidFill>
          <a:ln w="12700">
            <a:solidFill>
              <a:srgbClr val="D5DBE5"/>
            </a:solidFill>
            <a:prstDash val="solid"/>
          </a:ln>
        </p:spPr>
      </p:sp>
      <p:sp>
        <p:nvSpPr>
          <p:cNvPr id="10" name="Shape 8"/>
          <p:cNvSpPr/>
          <p:nvPr/>
        </p:nvSpPr>
        <p:spPr>
          <a:xfrm>
            <a:off x="822960" y="3736118"/>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3611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54483"/>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申请回避</a:t>
            </a:r>
            <a:endParaRPr lang="en-US" sz="1450" dirty="0"/>
          </a:p>
        </p:txBody>
      </p:sp>
      <p:sp>
        <p:nvSpPr>
          <p:cNvPr id="13" name="Text 11"/>
          <p:cNvSpPr/>
          <p:nvPr/>
        </p:nvSpPr>
        <p:spPr>
          <a:xfrm>
            <a:off x="1444752" y="3654203"/>
            <a:ext cx="4340200" cy="920750"/>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当事人及其法定代理人有权以口头或者书面方式申请回避，并应当说明理由。刑事案件中，申请回避应当在案件开始审查时提出；回避事由在案件开始审查后知道的，也可以在法庭辩论终结前提出。</a:t>
            </a:r>
            <a:endParaRPr lang="en-US" sz="1250" dirty="0"/>
          </a:p>
        </p:txBody>
      </p:sp>
      <p:sp>
        <p:nvSpPr>
          <p:cNvPr id="14" name="Shape 12"/>
          <p:cNvSpPr/>
          <p:nvPr/>
        </p:nvSpPr>
        <p:spPr>
          <a:xfrm>
            <a:off x="566928" y="4840129"/>
            <a:ext cx="5382616" cy="1034415"/>
          </a:xfrm>
          <a:prstGeom prst="roundRect">
            <a:avLst>
              <a:gd name="adj" fmla="val 7072"/>
            </a:avLst>
          </a:prstGeom>
          <a:solidFill>
            <a:srgbClr val="F2F4F8"/>
          </a:solidFill>
          <a:ln w="12700">
            <a:solidFill>
              <a:srgbClr val="F2F4F8"/>
            </a:solidFill>
            <a:prstDash val="solid"/>
          </a:ln>
        </p:spPr>
      </p:sp>
      <p:sp>
        <p:nvSpPr>
          <p:cNvPr id="15" name="Shape 13"/>
          <p:cNvSpPr/>
          <p:nvPr/>
        </p:nvSpPr>
        <p:spPr>
          <a:xfrm>
            <a:off x="822960" y="512873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12873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977289"/>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指令回避</a:t>
            </a:r>
            <a:endParaRPr lang="en-US" sz="1450" dirty="0"/>
          </a:p>
        </p:txBody>
      </p:sp>
      <p:sp>
        <p:nvSpPr>
          <p:cNvPr id="18" name="Text 16"/>
          <p:cNvSpPr/>
          <p:nvPr/>
        </p:nvSpPr>
        <p:spPr>
          <a:xfrm>
            <a:off x="1444752" y="5277009"/>
            <a:ext cx="4340200"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院长、检察长、公安机关负责人发现应当回避的情形而本人未自行回避、当事人也未申请的，有权决定其回避。</a:t>
            </a:r>
            <a:endParaRPr lang="en-US" sz="1250" dirty="0"/>
          </a:p>
        </p:txBody>
      </p:sp>
      <p:sp>
        <p:nvSpPr>
          <p:cNvPr id="19" name="Shape 17"/>
          <p:cNvSpPr/>
          <p:nvPr/>
        </p:nvSpPr>
        <p:spPr>
          <a:xfrm>
            <a:off x="6242152" y="1364329"/>
            <a:ext cx="5382616" cy="1494790"/>
          </a:xfrm>
          <a:prstGeom prst="roundRect">
            <a:avLst>
              <a:gd name="adj" fmla="val 4894"/>
            </a:avLst>
          </a:prstGeom>
          <a:solidFill>
            <a:srgbClr val="FFFFFF"/>
          </a:solidFill>
          <a:ln w="12700">
            <a:solidFill>
              <a:srgbClr val="D5DBE5"/>
            </a:solidFill>
            <a:prstDash val="solid"/>
          </a:ln>
        </p:spPr>
      </p:sp>
      <p:sp>
        <p:nvSpPr>
          <p:cNvPr id="20" name="Shape 18"/>
          <p:cNvSpPr/>
          <p:nvPr/>
        </p:nvSpPr>
        <p:spPr>
          <a:xfrm>
            <a:off x="6498184" y="1883124"/>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18831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501489"/>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决定主体（《刑事诉讼法》第三十一条）</a:t>
            </a:r>
            <a:endParaRPr lang="en-US" sz="1450" dirty="0"/>
          </a:p>
        </p:txBody>
      </p:sp>
      <p:sp>
        <p:nvSpPr>
          <p:cNvPr id="23" name="Text 21"/>
          <p:cNvSpPr/>
          <p:nvPr/>
        </p:nvSpPr>
        <p:spPr>
          <a:xfrm>
            <a:off x="7119976" y="1801209"/>
            <a:ext cx="4340200" cy="920750"/>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审判人员、检察人员、侦查人员的回避，分别由院长、检察长、公安机关负责人决定；院长的回避，由本院审判委员会决定；检察长和公安机关负责人的回避，由同级人民检察院检察委员会决定。</a:t>
            </a:r>
            <a:endParaRPr lang="en-US" sz="1250" dirty="0"/>
          </a:p>
        </p:txBody>
      </p:sp>
      <p:sp>
        <p:nvSpPr>
          <p:cNvPr id="24" name="Shape 22"/>
          <p:cNvSpPr/>
          <p:nvPr/>
        </p:nvSpPr>
        <p:spPr>
          <a:xfrm>
            <a:off x="6242152" y="2987135"/>
            <a:ext cx="5382616" cy="1724978"/>
          </a:xfrm>
          <a:prstGeom prst="roundRect">
            <a:avLst>
              <a:gd name="adj" fmla="val 4241"/>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124295"/>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救济：申请复议一次（《刑事诉讼法》第三十二条）</a:t>
            </a:r>
            <a:endParaRPr lang="en-US" sz="1450" dirty="0"/>
          </a:p>
        </p:txBody>
      </p:sp>
      <p:sp>
        <p:nvSpPr>
          <p:cNvPr id="28" name="Text 26"/>
          <p:cNvSpPr/>
          <p:nvPr/>
        </p:nvSpPr>
        <p:spPr>
          <a:xfrm>
            <a:off x="7119976" y="3424015"/>
            <a:ext cx="4340200" cy="115093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对驳回申请回避的决定，当事人及其法定代理人可以申请复议一次。请注意“一次”这一限定：它在保障当事人权利与防止拖延诉讼之间作了折中。复议期间，被申请回避的人员原则上不停止参与本案工作（侦查人员除外的具体规则依法律规定）。</a:t>
            </a:r>
            <a:endParaRPr lang="en-US" sz="1250" dirty="0"/>
          </a:p>
        </p:txBody>
      </p:sp>
      <p:sp>
        <p:nvSpPr>
          <p:cNvPr id="29" name="Shape 27"/>
          <p:cNvSpPr/>
          <p:nvPr/>
        </p:nvSpPr>
        <p:spPr>
          <a:xfrm>
            <a:off x="6242152" y="4840129"/>
            <a:ext cx="5382616" cy="1494790"/>
          </a:xfrm>
          <a:prstGeom prst="roundRect">
            <a:avLst>
              <a:gd name="adj" fmla="val 4894"/>
            </a:avLst>
          </a:prstGeom>
          <a:solidFill>
            <a:srgbClr val="FFFFFF"/>
          </a:solidFill>
          <a:ln w="12700">
            <a:solidFill>
              <a:srgbClr val="D5DBE5"/>
            </a:solidFill>
            <a:prstDash val="solid"/>
          </a:ln>
        </p:spPr>
      </p:sp>
      <p:sp>
        <p:nvSpPr>
          <p:cNvPr id="30" name="Shape 28"/>
          <p:cNvSpPr/>
          <p:nvPr/>
        </p:nvSpPr>
        <p:spPr>
          <a:xfrm>
            <a:off x="6498184" y="5358924"/>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3589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977289"/>
            <a:ext cx="4340200"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违反回避的后果</a:t>
            </a:r>
            <a:endParaRPr lang="en-US" sz="1450" dirty="0"/>
          </a:p>
        </p:txBody>
      </p:sp>
      <p:sp>
        <p:nvSpPr>
          <p:cNvPr id="33" name="Text 31"/>
          <p:cNvSpPr/>
          <p:nvPr/>
        </p:nvSpPr>
        <p:spPr>
          <a:xfrm>
            <a:off x="7119976" y="5277009"/>
            <a:ext cx="4340200" cy="920750"/>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审判组织的组成不合法或者依法应当回避的审判人员没有回避的，属于严重违反法定程序，二审法院应当裁定撤销原判、发回重审；已经生效的，可以成为再审事由。这体现了回避规则的刚性。</a:t>
            </a:r>
            <a:endParaRPr lang="en-US" sz="12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10</a:t>
            </a:r>
            <a:endParaRPr lang="en-US" sz="11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哪些情形构成“其他关系，可能影响公正审理”</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情境辨析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兜底条款的适用边界</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情形一：承办法官与被告方代理律师系法学院同班同学，毕业后仍保持往来，二人在本案中未有任何案外接触。</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情形二：承办法官的配偶在原告公司担任中层管理人员，但与涉案业务无关。</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情形三：承办法官曾就同类法律问题在学术刊物上发表论文，观点明显有利于被告的主张。</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情形四：承办法官在本案立案前，曾接受原告方的咨询并提供过口头法律意见。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情形五：承办法官与本案当事人同住一个小区，平日点头之交，无深交。</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哪些情形应当回避？请说明适用的具体条款。</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情形三涉及“预断”还是“学术观点”？二者如何区分？</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情形一若二人无往来，结论是否不同？</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请提出一个可操作的判断标准。</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11</a:t>
            </a:r>
            <a:endParaRPr lang="en-US" sz="11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回避制度（二）：任职回避与离任回避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回避不仅针对个案，也针对身份关系与职业流动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12</a:t>
            </a:r>
            <a:endParaRPr lang="en-US" sz="11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任职回避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《法官法》上的两类任职回避</a:t>
            </a:r>
            <a:endParaRPr lang="en-US" sz="2800" dirty="0"/>
          </a:p>
        </p:txBody>
      </p:sp>
      <p:sp>
        <p:nvSpPr>
          <p:cNvPr id="4" name="Shape 2"/>
          <p:cNvSpPr/>
          <p:nvPr/>
        </p:nvSpPr>
        <p:spPr>
          <a:xfrm>
            <a:off x="566928" y="1316736"/>
            <a:ext cx="11057839" cy="1808226"/>
          </a:xfrm>
          <a:prstGeom prst="roundRect">
            <a:avLst>
              <a:gd name="adj" fmla="val 505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《法官法》第二十三条（亲属关系任职回避）</a:t>
            </a:r>
            <a:endParaRPr lang="en-US" sz="1500" dirty="0"/>
          </a:p>
        </p:txBody>
      </p:sp>
      <p:sp>
        <p:nvSpPr>
          <p:cNvPr id="8" name="Text 6"/>
          <p:cNvSpPr/>
          <p:nvPr/>
        </p:nvSpPr>
        <p:spPr>
          <a:xfrm>
            <a:off x="960120" y="1956816"/>
            <a:ext cx="10271455" cy="9486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法官之间有夫妻关系、直系血亲关系、三代以内旁系血亲以及近姻亲关系的，不得同时担任下列职务：</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（一）同一人民法院的院长、副院长、审判委员会委员、庭长、副庭长；</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（二）同一人民法院的院长、副院长和审判员；</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（三）同一审判庭的庭长、副庭长、审判员；</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（四）上下相邻两级人民法院的院长、副院长。</a:t>
            </a:r>
            <a:endParaRPr lang="en-US" sz="850" dirty="0"/>
          </a:p>
        </p:txBody>
      </p:sp>
      <p:sp>
        <p:nvSpPr>
          <p:cNvPr id="9" name="Shape 7"/>
          <p:cNvSpPr/>
          <p:nvPr/>
        </p:nvSpPr>
        <p:spPr>
          <a:xfrm>
            <a:off x="566928" y="3307842"/>
            <a:ext cx="11057839" cy="1465326"/>
          </a:xfrm>
          <a:prstGeom prst="roundRect">
            <a:avLst>
              <a:gd name="adj" fmla="val 6240"/>
            </a:avLst>
          </a:prstGeom>
          <a:solidFill>
            <a:srgbClr val="F6F1E8"/>
          </a:solidFill>
          <a:ln w="12700">
            <a:solidFill>
              <a:srgbClr val="F6F1E8"/>
            </a:solidFill>
            <a:prstDash val="solid"/>
          </a:ln>
        </p:spPr>
      </p:sp>
      <p:sp>
        <p:nvSpPr>
          <p:cNvPr id="10" name="Shape 8"/>
          <p:cNvSpPr/>
          <p:nvPr/>
        </p:nvSpPr>
        <p:spPr>
          <a:xfrm>
            <a:off x="877824" y="35455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5455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5272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《法官法》第二十四条（近亲属从事律师职业的任职回避）</a:t>
            </a:r>
            <a:endParaRPr lang="en-US" sz="1500" dirty="0"/>
          </a:p>
        </p:txBody>
      </p:sp>
      <p:sp>
        <p:nvSpPr>
          <p:cNvPr id="13" name="Text 11"/>
          <p:cNvSpPr/>
          <p:nvPr/>
        </p:nvSpPr>
        <p:spPr>
          <a:xfrm>
            <a:off x="960120" y="3947922"/>
            <a:ext cx="10271455" cy="6057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法官的配偶、父母、子女有下列情形之一的，法官应当实行任职回避：</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（一）担任该法官所任职人民法院辖区内律师事务所的合伙人或者设立人的；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（二）在该法官所任职人民法院辖区内以律师身份担任诉讼代理人、辩护人，或者为诉讼案件当事人提供其他有偿法律服务的。</a:t>
            </a:r>
            <a:endParaRPr lang="en-US" sz="8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第二十四条的严厉程度：只要配偶、父母、子女在本院辖区内执业，需要回避的不是“这个案件”，而是“这个职位”——法官本人必须调离或者其近亲属停止在该辖区执业。这是一项彻底的、结构性的防范，其针对的正是“关系案”“人情案”的制度土壤。</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13</a:t>
            </a:r>
            <a:endParaRPr lang="en-US" sz="11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离任回避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《法官法》第三十六条：旋转门的限制</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《中华人民共和国法官法》第三十六条</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法官从人民法院离任后二年内，不得以律师身份担任诉讼代理人或者辩护人。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法官从人民法院离任后，不得担任原任职法院办理案件的诉讼代理人或者辩护人，但是作为当事人的监护人或者近亲属代理诉讼或者进行辩护的除外。</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法官的配偶、父母、子女不得担任该法官所任职法院办理案件的诉讼代理人或者辩护人。</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三款分别设置了三道防线：第一款是“两年冷却期”（时间限制，普遍适用）；第二款是“原任职法院终身禁止”（空间限制，无期限）；第三款是“近亲属同步禁止”（关系限制）。2021年最高人民法院、最高人民检察院、司法部联合印发《关于进一步规范法院、检察院离任人员从事律师职业的意见》，对上述规则作了进一步细化，并将规制范围扩展至更多离任人员。</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14</a:t>
            </a:r>
            <a:endParaRPr lang="en-US" sz="11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制度理据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为什么要限制“旋转门”</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防止影响力交易</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离任法官在原任职法院拥有人脉与影响力。若允许其立即回原单位代理案件，实际上是把职务期间积累的关系资本变现，这将严重损害裁判的外观中立。</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防止信息不当利用</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法官在职期间知悉大量审判工作秘密——包括本院的裁判倾向、内部讨论意见、承办人的办案风格。这些信息一旦被用于代理，会造成实质上的武器不平等。</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保护在职法官</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限制离任人员回原单位执业，也免除了在职法官面对老同事、老领导时的为难处境。制度性隔离比个人拒绝可靠得多。</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保障职业流动的正当性</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限制不是禁止流动。冷却期届满后、在原任职法院之外，离任法官仍可正常执业。制度所禁止的是影响力的即时变现，而非法律职业内部的人才流动本身。</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15</a:t>
            </a:r>
            <a:endParaRPr lang="en-US" sz="11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禁止单方接触</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即使谈话内容完全无害，单方接触本身就破坏了程序结构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16</a:t>
            </a:r>
            <a:endParaRPr lang="en-US" sz="11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规则要点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单方接触禁止的三个层次</a:t>
            </a:r>
            <a:endParaRPr lang="en-US" sz="2800" dirty="0"/>
          </a:p>
        </p:txBody>
      </p:sp>
      <p:sp>
        <p:nvSpPr>
          <p:cNvPr id="4" name="Shape 2"/>
          <p:cNvSpPr/>
          <p:nvPr/>
        </p:nvSpPr>
        <p:spPr>
          <a:xfrm>
            <a:off x="566928" y="1316736"/>
            <a:ext cx="11057839" cy="1498981"/>
          </a:xfrm>
          <a:prstGeom prst="roundRect">
            <a:avLst>
              <a:gd name="adj" fmla="val 4880"/>
            </a:avLst>
          </a:prstGeom>
          <a:solidFill>
            <a:srgbClr val="F2F4F8"/>
          </a:solidFill>
          <a:ln w="12700">
            <a:solidFill>
              <a:srgbClr val="F2F4F8"/>
            </a:solidFill>
            <a:prstDash val="solid"/>
          </a:ln>
        </p:spPr>
      </p:sp>
      <p:sp>
        <p:nvSpPr>
          <p:cNvPr id="5" name="Shape 3"/>
          <p:cNvSpPr/>
          <p:nvPr/>
        </p:nvSpPr>
        <p:spPr>
          <a:xfrm>
            <a:off x="841248" y="181019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963814"/>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禁止庭外单独会见</a:t>
            </a:r>
            <a:endParaRPr lang="en-US" sz="1650" dirty="0"/>
          </a:p>
        </p:txBody>
      </p:sp>
      <p:sp>
        <p:nvSpPr>
          <p:cNvPr id="8" name="Text 5"/>
          <p:cNvSpPr/>
          <p:nvPr/>
        </p:nvSpPr>
        <p:spPr>
          <a:xfrm>
            <a:off x="1536192" y="196069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违反规定单独会见一方当事人及其代理人、辩护人。会见应当在办公场所、工作时间进行，并有其他人员在场或者有记录。请注意：违规会见不仅是纪律问题，依《刑事诉讼法》第三十条，它直接构成当事人申请回避的事由。</a:t>
            </a:r>
            <a:endParaRPr lang="en-US" sz="1500" dirty="0"/>
          </a:p>
        </p:txBody>
      </p:sp>
      <p:sp>
        <p:nvSpPr>
          <p:cNvPr id="9" name="Shape 6"/>
          <p:cNvSpPr/>
          <p:nvPr/>
        </p:nvSpPr>
        <p:spPr>
          <a:xfrm>
            <a:off x="566928" y="2962021"/>
            <a:ext cx="11057839" cy="1775206"/>
          </a:xfrm>
          <a:prstGeom prst="roundRect">
            <a:avLst>
              <a:gd name="adj" fmla="val 4121"/>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禁止接受请客送礼与利益输送</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接受当事人及其代理人、辩护人的宴请、礼品、礼金、消费卡；不得接受可能影响公正履行职责的任何利益。《法官法》第四十六条第八项将“接受当事人及其代理人利益输送，或者违反有关规定会见当事人及其代理人”列为应予处分的行为。</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必要沟通须以双方在场或可知悉的方式进行</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确因案件审理需要与一方沟通的（如核对诉讼材料、送达、询问程序性事项），应当限于程序性事项，作出记录并附卷，必要时告知对方。判断标准：这次沟通的内容与方式，能否坦然地让对方当事人知道？</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17</a:t>
            </a:r>
            <a:endParaRPr lang="en-US" sz="11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言行中立与平等对待当事人</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中立不仅体现在裁判结论中，也体现在庭审的每一句话、每一个表情里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18</a:t>
            </a:r>
            <a:endParaRPr lang="en-US" sz="11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职责边界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不得从事超出法定职责范围的事务</a:t>
            </a:r>
            <a:endParaRPr lang="en-US" sz="2800" dirty="0"/>
          </a:p>
        </p:txBody>
      </p:sp>
      <p:sp>
        <p:nvSpPr>
          <p:cNvPr id="4" name="Shape 2"/>
          <p:cNvSpPr/>
          <p:nvPr/>
        </p:nvSpPr>
        <p:spPr>
          <a:xfrm>
            <a:off x="566928" y="1945132"/>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18287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18287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6458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人民法院落实《保护司法人员依法履行法定职责规定》的实施办法</a:t>
            </a:r>
            <a:endParaRPr lang="en-US" sz="1500" dirty="0"/>
          </a:p>
        </p:txBody>
      </p:sp>
      <p:sp>
        <p:nvSpPr>
          <p:cNvPr id="8" name="Text 6"/>
          <p:cNvSpPr/>
          <p:nvPr/>
        </p:nvSpPr>
        <p:spPr>
          <a:xfrm>
            <a:off x="960120" y="2585212"/>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对于任何单位、个人安排法官从事招商引资、行政执法、治安巡逻、交通疏导、卫生整治、行风评议等超出法定职责范围事务的要求，人民法院应当拒绝，并不得以任何名义安排法官从事上述活动。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严禁人民法院工作人员参与地方招商、联合执法，严禁提前介入土地征收、房屋拆迁等具体行政管理活动，杜绝参加地方牵头组织的各类“拆迁领导小组”“项目指挥部”等临时机构。</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条规定的伦理意义在于：法官一旦参与招商引资或征收拆迁，就在相关领域中取得了利害关系与预设立场，此后再审理相关案件，中立性荡然无存。它同时保护了法官——使其得以拒绝地方的不当安排，而无须承担个人得罪人的成本。</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19</a:t>
            </a:r>
            <a:endParaRPr lang="en-US" sz="11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具体要求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言行中立的四个场景</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庭审场景</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平等给予双方陈述、举证、质证、辩论的机会；不得对一方的发言频繁打断而对另一方放任；不得以表情、语气、评论流露倾向；引导发问应当中立，不得为一方补强主张。制止不当发言应当依据法庭规则，且对双方标准一致。</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调解场景</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调解中可以分别做工作，但不得以透露心证施压，不得以“不接受调解就判你输”相要挟；不得为促成调解而作出无根据的胜败预测；当事人拒绝调解的，应当及时转入裁判程序，不得久调不决。</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媒体与网络场景</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不得对本人正在承办的案件公开发表评论；不得在社交媒体披露审判工作秘密、当事人隐私或案件细节；以个人身份发表学术观点、参加研讨的，应当注意与承办案件保持距离，避免形成预断的外观。</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社交与业外场景</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谨慎对待社交活动，不参加可能影响司法公正、有损司法形象的活动；不得出入可能引发议论的场所；对家庭成员的相关行为负有约束与提醒的责任。</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20</a:t>
            </a:r>
            <a:endParaRPr lang="en-US" sz="11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平等对待</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平等对待当事人的具体含义</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班加罗尔准则将“平等”列为独立的价值。平等不只是“一视同仁”这句口号，它有具体的操作内容。</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不因当事人的民族、种族、性别、职业、宗教信仰、教育程度、财产状况、居住地、健康状况等因素而区别对待。</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对没有委托代理人的当事人，应当在不损害中立的前提下履行必要的释明与告知义务——这是平等的实质要求，而非对一方的偏袒。</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对语言不通、听力或视力障碍、行动不便的当事人，应当提供必要的诉讼便利与合理便利安排。</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在称谓、发言顺序、时间分配上保持对等；不得对具有特殊身份的当事人（如公职人员、知名人士）给予程序上的优待。</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请注意平等与释明的关系：对弱势一方的必要释明是为了恢复实质上的程序平等，而不是替其打官司。释明限于程序性事项与举证责任的告知，不得代为提出主张或建议诉讼策略。</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21</a:t>
            </a:r>
            <a:endParaRPr lang="en-US" sz="11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程序伦理：释明、审限与庭审指挥</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程序上的每一个细节，都是当事人感知司法公正的窗口</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22</a:t>
            </a:r>
            <a:endParaRPr lang="en-US" sz="11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四项程序义务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日常审判中的伦理要求</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释明义务的边界</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应当释明：诉讼权利义务、举证责任与举证期限、不举证的法律后果、诉讼请求不明确时要求明确、法律关系性质可能与主张不一致时的告知。不得释明：具体的诉讼策略、应当提出何种诉讼请求以获胜、证据的取得途径。越界的释明即构成偏袒。</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审限与效率</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迟来的正义非正义。应当在法定审限内结案；确需延长的，依法定程序报批并告知当事人；不得以“中止”“扣除审限”等技术手段变相拖延；不得为规避考核指标而不立案、不结案。</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裁判文书说理</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说理是独立裁判接受检验的方式，也是当事人服判息讼的基础。应当回应双方的主要争点与主张，特别是对败诉方主张的不予采纳，必须说明理由。以“证据不足，本院不予支持”一笔带过而不说明何以不足，属于说理不充分。</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司法礼仪与文明司法</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着法袍、使用规范称谓、按时开庭、不无故休庭；耐心听取当事人陈述，不训斥、不讥讽、不使用侮辱性言辞；对情绪激动的当事人应当依法制止但保持克制。这些细节共同构成当事人对司法的直观感受。</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23</a:t>
            </a:r>
            <a:endParaRPr lang="en-US" sz="11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休厄特勋爵所在的案件中，书记员虽未参与实际决定，判决仍被撤销。这一处理是否过于严苛？请从“实质中立不可查证”与“公信力依赖感知”两个角度评价。</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某法官的大学同学担任本案一方的代理律师，二人多年未联系。该法官是否应当回避？如果他选择不回避，但在庭前主动向双方披露这一关系并征询意见，是否可行？我国法上有无“披露+同意”的制度空间？</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《法官法》第二十四条要求：配偶、父母、子女在本院辖区内以律师身份执业的，法官应当实行任职回避。有人认为这限制了法官近亲属的职业自由。请评价这一规则的正当性与比例性。</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法官在社交媒体上以个人身份普及法律知识，是否有违言行中立？如果他评论的是已经生效的、非本人承办的案件呢？请给出一个判断框架。</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第7课时 · 24</a:t>
            </a:r>
            <a:endParaRPr lang="en-US" sz="11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第7课时要点回顾</a:t>
            </a:r>
            <a:endParaRPr lang="en-US" sz="3000" dirty="0"/>
          </a:p>
        </p:txBody>
      </p:sp>
      <p:sp>
        <p:nvSpPr>
          <p:cNvPr id="4" name="Shape 2"/>
          <p:cNvSpPr/>
          <p:nvPr/>
        </p:nvSpPr>
        <p:spPr>
          <a:xfrm>
            <a:off x="566928" y="1591056"/>
            <a:ext cx="11057839" cy="752306"/>
          </a:xfrm>
          <a:prstGeom prst="roundRect">
            <a:avLst>
              <a:gd name="adj" fmla="val 9724"/>
            </a:avLst>
          </a:prstGeom>
          <a:solidFill>
            <a:srgbClr val="25395F"/>
          </a:solidFill>
          <a:ln w="12700">
            <a:solidFill>
              <a:srgbClr val="25395F"/>
            </a:solidFill>
            <a:prstDash val="solid"/>
          </a:ln>
        </p:spPr>
      </p:sp>
      <p:sp>
        <p:nvSpPr>
          <p:cNvPr id="5" name="Shape 3"/>
          <p:cNvSpPr/>
          <p:nvPr/>
        </p:nvSpPr>
        <p:spPr>
          <a:xfrm>
            <a:off x="859536" y="176604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6742"/>
            <a:ext cx="160934" cy="160934"/>
          </a:xfrm>
          <a:prstGeom prst="rect">
            <a:avLst/>
          </a:prstGeom>
        </p:spPr>
      </p:pic>
      <p:sp>
        <p:nvSpPr>
          <p:cNvPr id="7" name="Text 4"/>
          <p:cNvSpPr/>
          <p:nvPr/>
        </p:nvSpPr>
        <p:spPr>
          <a:xfrm>
            <a:off x="1444752" y="174813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中立包含实质中立与外观中立两个维度。外观中立须被独立保护，因为实质中立不可查证、公信力依赖感知，且客观标准反而保护法官自身。判断口诀：不问“我是否偏袒”，而问“理性旁观者会不会合理怀疑我偏袒”。</a:t>
            </a:r>
            <a:endParaRPr lang="en-US" sz="1150" dirty="0"/>
          </a:p>
        </p:txBody>
      </p:sp>
      <p:sp>
        <p:nvSpPr>
          <p:cNvPr id="8" name="Shape 5"/>
          <p:cNvSpPr/>
          <p:nvPr/>
        </p:nvSpPr>
        <p:spPr>
          <a:xfrm>
            <a:off x="566928" y="2480522"/>
            <a:ext cx="11057839" cy="752306"/>
          </a:xfrm>
          <a:prstGeom prst="roundRect">
            <a:avLst>
              <a:gd name="adj" fmla="val 9724"/>
            </a:avLst>
          </a:prstGeom>
          <a:solidFill>
            <a:srgbClr val="25395F"/>
          </a:solidFill>
          <a:ln w="12700">
            <a:solidFill>
              <a:srgbClr val="25395F"/>
            </a:solidFill>
            <a:prstDash val="solid"/>
          </a:ln>
        </p:spPr>
      </p:sp>
      <p:sp>
        <p:nvSpPr>
          <p:cNvPr id="9" name="Shape 6"/>
          <p:cNvSpPr/>
          <p:nvPr/>
        </p:nvSpPr>
        <p:spPr>
          <a:xfrm>
            <a:off x="859536" y="2655507"/>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76207"/>
            <a:ext cx="160934" cy="160934"/>
          </a:xfrm>
          <a:prstGeom prst="rect">
            <a:avLst/>
          </a:prstGeom>
        </p:spPr>
      </p:pic>
      <p:sp>
        <p:nvSpPr>
          <p:cNvPr id="11" name="Text 7"/>
          <p:cNvSpPr/>
          <p:nvPr/>
        </p:nvSpPr>
        <p:spPr>
          <a:xfrm>
            <a:off x="1444752" y="263760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回避事由规定于《民事诉讼法》第四十七条、《刑事诉讼法》第二十九条、第三十条；兜底条款“其他关系，可能影响公正审理”是外观中立标准的规范入口。</a:t>
            </a:r>
            <a:endParaRPr lang="en-US" sz="1150" dirty="0"/>
          </a:p>
        </p:txBody>
      </p:sp>
      <p:sp>
        <p:nvSpPr>
          <p:cNvPr id="12" name="Shape 8"/>
          <p:cNvSpPr/>
          <p:nvPr/>
        </p:nvSpPr>
        <p:spPr>
          <a:xfrm>
            <a:off x="566928" y="3369987"/>
            <a:ext cx="11057839" cy="752306"/>
          </a:xfrm>
          <a:prstGeom prst="roundRect">
            <a:avLst>
              <a:gd name="adj" fmla="val 9724"/>
            </a:avLst>
          </a:prstGeom>
          <a:solidFill>
            <a:srgbClr val="25395F"/>
          </a:solidFill>
          <a:ln w="12700">
            <a:solidFill>
              <a:srgbClr val="25395F"/>
            </a:solidFill>
            <a:prstDash val="solid"/>
          </a:ln>
        </p:spPr>
      </p:sp>
      <p:sp>
        <p:nvSpPr>
          <p:cNvPr id="13" name="Shape 9"/>
          <p:cNvSpPr/>
          <p:nvPr/>
        </p:nvSpPr>
        <p:spPr>
          <a:xfrm>
            <a:off x="859536" y="3544972"/>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65673"/>
            <a:ext cx="160934" cy="160934"/>
          </a:xfrm>
          <a:prstGeom prst="rect">
            <a:avLst/>
          </a:prstGeom>
        </p:spPr>
      </p:pic>
      <p:sp>
        <p:nvSpPr>
          <p:cNvPr id="15" name="Text 10"/>
          <p:cNvSpPr/>
          <p:nvPr/>
        </p:nvSpPr>
        <p:spPr>
          <a:xfrm>
            <a:off x="1444752" y="3527065"/>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回避有自行回避、申请回避、指令回避三种启动方式；决定主体依《刑事诉讼法》第三十一条确定；对驳回可申请复议一次；应当回避而未回避构成严重违反法定程序，可致撤销原判、发回重审。</a:t>
            </a:r>
            <a:endParaRPr lang="en-US" sz="1150" dirty="0"/>
          </a:p>
        </p:txBody>
      </p:sp>
      <p:sp>
        <p:nvSpPr>
          <p:cNvPr id="16" name="Shape 11"/>
          <p:cNvSpPr/>
          <p:nvPr/>
        </p:nvSpPr>
        <p:spPr>
          <a:xfrm>
            <a:off x="566928" y="4259453"/>
            <a:ext cx="11057839" cy="548217"/>
          </a:xfrm>
          <a:prstGeom prst="roundRect">
            <a:avLst>
              <a:gd name="adj" fmla="val 13344"/>
            </a:avLst>
          </a:prstGeom>
          <a:solidFill>
            <a:srgbClr val="25395F"/>
          </a:solidFill>
          <a:ln w="12700">
            <a:solidFill>
              <a:srgbClr val="25395F"/>
            </a:solidFill>
            <a:prstDash val="solid"/>
          </a:ln>
        </p:spPr>
      </p:sp>
      <p:sp>
        <p:nvSpPr>
          <p:cNvPr id="17" name="Shape 12"/>
          <p:cNvSpPr/>
          <p:nvPr/>
        </p:nvSpPr>
        <p:spPr>
          <a:xfrm>
            <a:off x="859536" y="4341749"/>
            <a:ext cx="383625" cy="383625"/>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4623" y="4456836"/>
            <a:ext cx="153450" cy="153450"/>
          </a:xfrm>
          <a:prstGeom prst="rect">
            <a:avLst/>
          </a:prstGeom>
        </p:spPr>
      </p:pic>
      <p:sp>
        <p:nvSpPr>
          <p:cNvPr id="19" name="Text 13"/>
          <p:cNvSpPr/>
          <p:nvPr/>
        </p:nvSpPr>
        <p:spPr>
          <a:xfrm>
            <a:off x="1444752" y="4424024"/>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任职回避规定于《法官法》第二十三条、第二十四条；离任回避规定于第三十六条，设置了两年冷却期、原任职法院终身禁止、近亲属同步禁止三道防线。</a:t>
            </a:r>
            <a:endParaRPr lang="en-US" sz="1150" dirty="0"/>
          </a:p>
        </p:txBody>
      </p:sp>
      <p:sp>
        <p:nvSpPr>
          <p:cNvPr id="20" name="Shape 14"/>
          <p:cNvSpPr/>
          <p:nvPr/>
        </p:nvSpPr>
        <p:spPr>
          <a:xfrm>
            <a:off x="566928" y="4944830"/>
            <a:ext cx="11057839" cy="548217"/>
          </a:xfrm>
          <a:prstGeom prst="roundRect">
            <a:avLst>
              <a:gd name="adj" fmla="val 13344"/>
            </a:avLst>
          </a:prstGeom>
          <a:solidFill>
            <a:srgbClr val="25395F"/>
          </a:solidFill>
          <a:ln w="12700">
            <a:solidFill>
              <a:srgbClr val="25395F"/>
            </a:solidFill>
            <a:prstDash val="solid"/>
          </a:ln>
        </p:spPr>
      </p:sp>
      <p:sp>
        <p:nvSpPr>
          <p:cNvPr id="21" name="Shape 15"/>
          <p:cNvSpPr/>
          <p:nvPr/>
        </p:nvSpPr>
        <p:spPr>
          <a:xfrm>
            <a:off x="859536" y="5027126"/>
            <a:ext cx="383625" cy="383625"/>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74623" y="5142213"/>
            <a:ext cx="153450" cy="153450"/>
          </a:xfrm>
          <a:prstGeom prst="rect">
            <a:avLst/>
          </a:prstGeom>
        </p:spPr>
      </p:pic>
      <p:sp>
        <p:nvSpPr>
          <p:cNvPr id="23" name="Text 16"/>
          <p:cNvSpPr/>
          <p:nvPr/>
        </p:nvSpPr>
        <p:spPr>
          <a:xfrm>
            <a:off x="1444752" y="5109401"/>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禁止单方接触包含三个层次：禁止庭外单独会见、禁止请客送礼与利益输送、必要沟通须双方在场或可知悉。判断标准：这次沟通能否坦然地让对方知道？</a:t>
            </a:r>
            <a:endParaRPr lang="en-US" sz="1150" dirty="0"/>
          </a:p>
        </p:txBody>
      </p:sp>
      <p:sp>
        <p:nvSpPr>
          <p:cNvPr id="24" name="Shape 17"/>
          <p:cNvSpPr/>
          <p:nvPr/>
        </p:nvSpPr>
        <p:spPr>
          <a:xfrm>
            <a:off x="566928" y="5630206"/>
            <a:ext cx="11057839" cy="752306"/>
          </a:xfrm>
          <a:prstGeom prst="roundRect">
            <a:avLst>
              <a:gd name="adj" fmla="val 9724"/>
            </a:avLst>
          </a:prstGeom>
          <a:solidFill>
            <a:srgbClr val="25395F"/>
          </a:solidFill>
          <a:ln w="12700">
            <a:solidFill>
              <a:srgbClr val="25395F"/>
            </a:solidFill>
            <a:prstDash val="solid"/>
          </a:ln>
        </p:spPr>
      </p:sp>
      <p:sp>
        <p:nvSpPr>
          <p:cNvPr id="25" name="Shape 18"/>
          <p:cNvSpPr/>
          <p:nvPr/>
        </p:nvSpPr>
        <p:spPr>
          <a:xfrm>
            <a:off x="859536" y="580519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5892"/>
            <a:ext cx="160934" cy="160934"/>
          </a:xfrm>
          <a:prstGeom prst="rect">
            <a:avLst/>
          </a:prstGeom>
        </p:spPr>
      </p:pic>
      <p:sp>
        <p:nvSpPr>
          <p:cNvPr id="27" name="Text 19"/>
          <p:cNvSpPr/>
          <p:nvPr/>
        </p:nvSpPr>
        <p:spPr>
          <a:xfrm>
            <a:off x="1444752" y="578728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言行中立涵盖庭审、调解、媒体网络、社交业外四个场景；平等对待要求不因身份因素区别对待，并对弱势方履行必要释明——释明限于程序事项，不得代为提出主张。</a:t>
            </a:r>
            <a:endParaRPr lang="en-US" sz="11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第8课时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司法廉洁、司法为民、司法形象与法官惩戒制度</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从五项基本要求的后三项，到违反义务时的责任追究</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司法廉洁：防止利益冲突的具体禁令</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司法为民与司法形象：职内与职外的双重约束</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法官惩戒制度：事由、主体、程序与救济</a:t>
            </a:r>
            <a:endParaRPr lang="en-US" sz="14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从义务到责任</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一、确保司法廉洁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二、坚持司法为民</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三、维护司法形象与职外行为规范</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四、法官惩戒制度：事由与主体</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五、惩戒程序与追责程序的基本要素</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六、案例研讨与本编总结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02</a:t>
            </a:r>
            <a:endParaRPr lang="en-US" sz="11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确保司法廉洁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廉洁不是一句口号，它由一系列具体、可检验的禁令构成</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03</a:t>
            </a:r>
            <a:endParaRPr lang="en-US" sz="11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兼职禁止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《法官法》第二十二条：全面的兼职禁止</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《中华人民共和国法官法》第二十二条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法官不得兼任人民代表大会常务委员会的组成人员，不得兼任行政机关、监察机关、检察机关的职务，不得兼任企业或者其他营利性组织、事业单位的职务，不得兼任律师、仲裁员和公证员。</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四项禁止各有其理据：禁止兼任人大常委会组成人员，是为避免立法权与司法权集于一身；禁止兼任行政、监察、检察职务，是权力分工的要求；禁止兼任营利性组织职务，是防止利益冲突；禁止兼任律师、仲裁员、公证员，是防止角色混同。请注意条文用的是“不得兼任”，即无论是否取酬、无论是否实际履职，一律禁止。</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04</a:t>
            </a:r>
            <a:endParaRPr lang="en-US" sz="11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营利禁止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防止利益冲突：七类禁止从事的营利性活动</a:t>
            </a:r>
            <a:endParaRPr lang="en-US" sz="2800" dirty="0"/>
          </a:p>
        </p:txBody>
      </p:sp>
      <p:sp>
        <p:nvSpPr>
          <p:cNvPr id="4" name="Shape 2"/>
          <p:cNvSpPr/>
          <p:nvPr/>
        </p:nvSpPr>
        <p:spPr>
          <a:xfrm>
            <a:off x="566928" y="1316736"/>
            <a:ext cx="11057839" cy="3451098"/>
          </a:xfrm>
          <a:prstGeom prst="roundRect">
            <a:avLst>
              <a:gd name="adj" fmla="val 265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《关于人民法院落实廉政准则防止利益冲突的若干规定》第三条</a:t>
            </a:r>
            <a:endParaRPr lang="en-US" sz="1500" dirty="0"/>
          </a:p>
        </p:txBody>
      </p:sp>
      <p:sp>
        <p:nvSpPr>
          <p:cNvPr id="8" name="Text 6"/>
          <p:cNvSpPr/>
          <p:nvPr/>
        </p:nvSpPr>
        <p:spPr>
          <a:xfrm>
            <a:off x="960120" y="1956816"/>
            <a:ext cx="10271455" cy="2591562"/>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人民法院工作人员不得从事下列营利性活动：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（一）本人独资或者与他人合资、合股经办商业或者其他企业；</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（二）以他人名义入股经办企业；</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（三）以承包、租赁、受聘等方式从事经营活动；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（四）违反规定拥有非上市公司（企业）的股份或者证券；</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（五）本人或者与他人合伙在国（境）外注册公司或者投资入股；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（六）以本人或者他人名义从事以营利为目的的民间借贷活动；</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（七）以本人或者他人名义从事可能与公共利益发生冲突的其他营利性活动。</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两处技术设计：其一，第（二）（五）（六）项都包含“以他人名义”，直指规避行为；其二，第（七）项是兜底条款，判断标准为“可能与公共利益发生冲突”，与回避制度的兜底条款同构。违反本条的，依照《人民法院工作人员处分条例》的相关规定处理。</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05</a:t>
            </a:r>
            <a:endParaRPr lang="en-US" sz="11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廉洁的具体展开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司法廉洁的四个方面</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不得接受利益输送</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接受当事人及其代理人、辩护人的请客送礼、礼品礼金、消费卡、旅游安排；不接受可能影响公正履行职责的任何款待与馈赠。请注意《法官法》第四十六条第八项将其列为应予处分的行为，《刑事诉讼法》第三十条同时将其列为回避事由。</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不得利用职权谋取私利</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不得利用职务便利或者法官身份为本人、亲属或者他人谋取利益；不得为当事人介绍律师、鉴定机构、评估机构；不得干预、插手他人办理的案件；不得从事与审判职责相冲突的商业活动。</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约束近亲属与身边工作人员</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对配偶、子女及其他近亲属利用法官职务影响谋取利益的行为，负有约束、提醒与制止的义务；不得默许其以法官家属身份承揽案件、打听案情、干预办案。发现相关情形应当及时报告。</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接受监督与如实报告</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依法接受法律监督和人民群众监督；按规定报告个人有关事项（婚姻、出国、房产、投资、配偶子女从业等）；发现被过问、被请托的，依“三个规定”如实记录并报告。</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06</a:t>
            </a:r>
            <a:endParaRPr lang="en-US" sz="11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坚持司法为民</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司法权来自人民，其行使必须以人民为中心</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07</a:t>
            </a:r>
            <a:endParaRPr lang="en-US" sz="11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内涵</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司法为民的四个落点</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诉讼便利</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立案登记制改革使“有案必立、有诉必理”成为原则；诉讼服务中心、跨域立案、在线诉讼、巡回审判等，都是降低当事人诉讼成本的具体安排。</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释法说理与判后答疑</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耐心听取当事人诉求，用当事人听得懂的语言解释法律与裁判理由；对当事人的疑问进行判后答疑，是化解对立情绪、实现服判息讼的关键环节。</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司法救助与法律援助衔接</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对确有困难的当事人依法缓、减、免交诉讼费；对符合条件的当事人告知其申请法律援助的权利；对因案件陷入生活困境的当事人依规提供司法救助。</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特殊群体的权益保障</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对未成年人、老年人、残疾人、妇女等给予符合其特点的程序保障与便利；注意保护当事人隐私与个人信息；避免程序本身对弱势群体造成二次伤害。</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08</a:t>
            </a:r>
            <a:endParaRPr lang="en-US" sz="11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边界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司法为民不等于迁就当事人</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司法为民是一项价值导向，但它不能取代依法裁判。请把握以下界限。</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为民不等于同情弱者而枉法。对处于弱势地位的当事人给予程序便利是正当的，但实体裁判仍须依据事实与法律，不得“和稀泥”式判决。</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为民不等于无原则地满足诉求。对无理缠访、恶意诉讼，应当依法处理，这同样是对其他当事人与公共资源的负责。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为民不等于以调解率代替公正。久调不决、以判压调，表面上追求“案结事了”，实质上损害当事人的裁判请求权。</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为民不等于迎合舆论。舆论所反映的社会关切应当被认真对待，但认真对待的方式是加强说理，而不是修改结论。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正确的理解是：司法为民约束的是司法的态度、程序与作风，而不是裁判的实体标准。</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09</a:t>
            </a:r>
            <a:endParaRPr lang="en-US" sz="11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维护司法形象与职外行为规范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法官在八小时之外，仍然是法官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10</a:t>
            </a:r>
            <a:endParaRPr lang="en-US" sz="11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不得滥用司法声望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《法官行为规范》第八十五、八十六条</a:t>
            </a:r>
            <a:endParaRPr lang="en-US" sz="2800" dirty="0"/>
          </a:p>
        </p:txBody>
      </p:sp>
      <p:sp>
        <p:nvSpPr>
          <p:cNvPr id="4" name="Shape 2"/>
          <p:cNvSpPr/>
          <p:nvPr/>
        </p:nvSpPr>
        <p:spPr>
          <a:xfrm>
            <a:off x="566928" y="1316736"/>
            <a:ext cx="11057839" cy="1500759"/>
          </a:xfrm>
          <a:prstGeom prst="roundRect">
            <a:avLst>
              <a:gd name="adj" fmla="val 6093"/>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《法官行为规范》第八十五条　本人或者亲友与他人发生矛盾</a:t>
            </a:r>
            <a:endParaRPr lang="en-US" sz="1500" dirty="0"/>
          </a:p>
        </p:txBody>
      </p:sp>
      <p:sp>
        <p:nvSpPr>
          <p:cNvPr id="8" name="Text 6"/>
          <p:cNvSpPr/>
          <p:nvPr/>
        </p:nvSpPr>
        <p:spPr>
          <a:xfrm>
            <a:off x="960120" y="1956816"/>
            <a:ext cx="10271455" cy="6412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（一）保持冷静、克制，通过正当、合法途径解决；</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（二）不得利用法官身份寻求特殊照顾，不得妨碍有关部门对问题的解决。</a:t>
            </a:r>
            <a:endParaRPr lang="en-US" sz="1400" dirty="0"/>
          </a:p>
        </p:txBody>
      </p:sp>
      <p:sp>
        <p:nvSpPr>
          <p:cNvPr id="9" name="Shape 7"/>
          <p:cNvSpPr/>
          <p:nvPr/>
        </p:nvSpPr>
        <p:spPr>
          <a:xfrm>
            <a:off x="566928" y="3000375"/>
            <a:ext cx="11057839" cy="1767459"/>
          </a:xfrm>
          <a:prstGeom prst="roundRect">
            <a:avLst>
              <a:gd name="adj" fmla="val 5174"/>
            </a:avLst>
          </a:prstGeom>
          <a:solidFill>
            <a:srgbClr val="F6F1E8"/>
          </a:solidFill>
          <a:ln w="12700">
            <a:solidFill>
              <a:srgbClr val="F6F1E8"/>
            </a:solidFill>
            <a:prstDash val="solid"/>
          </a:ln>
        </p:spPr>
      </p:sp>
      <p:sp>
        <p:nvSpPr>
          <p:cNvPr id="10" name="Shape 8"/>
          <p:cNvSpPr/>
          <p:nvPr/>
        </p:nvSpPr>
        <p:spPr>
          <a:xfrm>
            <a:off x="877824" y="32381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381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2198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《法官行为规范》第八十六条　本人及家庭成员遇到纠纷需通过诉讼方式解决</a:t>
            </a:r>
            <a:endParaRPr lang="en-US" sz="1500" dirty="0"/>
          </a:p>
        </p:txBody>
      </p:sp>
      <p:sp>
        <p:nvSpPr>
          <p:cNvPr id="13" name="Text 11"/>
          <p:cNvSpPr/>
          <p:nvPr/>
        </p:nvSpPr>
        <p:spPr>
          <a:xfrm>
            <a:off x="960120" y="3640455"/>
            <a:ext cx="10271455" cy="9079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（一）对本人的案件或者以直系亲属代理人身份参加的案件，应当依照有关法律规定，平等地参与诉讼；</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（二）在诉讼过程中不以法官身份获取特殊照顾，不利用职权收集所需证据；</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（三）对非直系亲属的其他家庭成员的诉讼案件，一般应当让其自行委托诉讼代理人，法官本人不宜作为诉讼代理人参与诉讼。</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两条处理的是一个真实而普遍的困境：法官也是普通人，也会有纠纷。规范的立场是——法官在自己的纠纷中只能作为普通公民出现，不得动用职业身份换取任何优待。请注意第八十六条第（三）项用的是“不宜”，属于倡导性表述，但实务中应当从严把握。</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11</a:t>
            </a:r>
            <a:endParaRPr lang="en-US" sz="11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职外行为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业外活动的四条界限</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公开言论</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不得公开发表有损司法公正与司法权威的言论；不得对本人正在承办的案件公开评论；参加学术研讨、发表论著、接受媒体采访应当审慎，注意区分个人学术观点与司法机关立场。</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社会兼职与社会活动</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除法律规定外，不得在企业、社会团体等组织中兼任职务；参加社会公益活动应当避免可能引发利益冲突或影响公正的情形；不得为商业活动、产品服务作宣传或者站台。</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社交活动</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谨慎交友，不与可能影响司法公正的人员进行不正当交往；严禁与律师、当事人及其他利害关系人进行不正当交往；不出入可能引发议论、有损形象的场所。</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家庭成员的行为</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教育、约束家庭成员和身边工作人员遵纪守法，不得利用法官的职务影响谋取利益；发现家庭成员有相关行为的，应当予以制止并按规定报告。</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12</a:t>
            </a:r>
            <a:endParaRPr lang="en-US" sz="11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法官应当避免不当行为，并且避免不当行为的表象。这一要求在法官的职务活动与业外活动中同样适用。</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《班加罗尔司法行为准则》第4项价值：正当（Propriety）</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“表象”标准之所以延伸至业外，是因为公众并不区分法官何时“在岗”——他们只知道那个人是法官</a:t>
            </a:r>
            <a:endParaRPr lang="en-US" sz="13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法官惩戒制度：事由与主体</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在法治社会，法官惩戒是一个敏感而复杂的问题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14</a:t>
            </a:r>
            <a:endParaRPr lang="en-US" sz="11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惩戒事由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《法官法》第四十六条：十项处分事由</a:t>
            </a:r>
            <a:endParaRPr lang="en-US" sz="2800" dirty="0"/>
          </a:p>
        </p:txBody>
      </p:sp>
      <p:sp>
        <p:nvSpPr>
          <p:cNvPr id="4" name="Shape 2"/>
          <p:cNvSpPr/>
          <p:nvPr/>
        </p:nvSpPr>
        <p:spPr>
          <a:xfrm>
            <a:off x="566928" y="1316736"/>
            <a:ext cx="11057839" cy="3708908"/>
          </a:xfrm>
          <a:prstGeom prst="roundRect">
            <a:avLst>
              <a:gd name="adj" fmla="val 2465"/>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《中华人民共和国法官法》第四十六条</a:t>
            </a:r>
            <a:endParaRPr lang="en-US" sz="1500" dirty="0"/>
          </a:p>
        </p:txBody>
      </p:sp>
      <p:sp>
        <p:nvSpPr>
          <p:cNvPr id="8" name="Text 6"/>
          <p:cNvSpPr/>
          <p:nvPr/>
        </p:nvSpPr>
        <p:spPr>
          <a:xfrm>
            <a:off x="960120" y="1956816"/>
            <a:ext cx="10271455" cy="2849372"/>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法官有下列行为之一的，应当给予处分；构成犯罪的，依法追究刑事责任：</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（一）贪污受贿、徇私舞弊、枉法裁判的；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（二）隐瞒、伪造、变造、故意损毁证据、案件材料的；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（三）泄露国家秘密、审判工作秘密、商业秘密或者个人隐私的；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（四）故意违反法律法规办理案件的；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（五）因重大过失导致裁判结果错误并造成严重后果的；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（六）拖延办案，贻误工作的；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（七）利用职权为自己或者他人谋取私利的；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（八）接受当事人及其代理人利益输送，或者违反有关规定会见当事人及其代理人的；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（九）违反有关规定从事或者参与营利性活动，在企业或者其他营利性组织中兼任职务的；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（十）有其他违纪违法行为的。</a:t>
            </a:r>
            <a:endParaRPr lang="en-US" sz="130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把十项归为四类：审判职责类（四、五、六）、廉洁类（一、七、八、九）、保密与证据类（二、三）、兜底（十）。其中第（四）（五）项是审判责任的核心归责标准——故意与重大过失，且第（五）项还要求“造成严重后果”这一结果要件。</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15</a:t>
            </a:r>
            <a:endParaRPr lang="en-US" sz="11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惩戒主体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《法官法》第四十八条：法官惩戒委员会</a:t>
            </a:r>
            <a:endParaRPr lang="en-US" sz="2800" dirty="0"/>
          </a:p>
        </p:txBody>
      </p:sp>
      <p:sp>
        <p:nvSpPr>
          <p:cNvPr id="4" name="Shape 2"/>
          <p:cNvSpPr/>
          <p:nvPr/>
        </p:nvSpPr>
        <p:spPr>
          <a:xfrm>
            <a:off x="566928" y="1668590"/>
            <a:ext cx="11057839" cy="2747391"/>
          </a:xfrm>
          <a:prstGeom prst="roundRect">
            <a:avLst>
              <a:gd name="adj" fmla="val 3328"/>
            </a:avLst>
          </a:prstGeom>
          <a:solidFill>
            <a:srgbClr val="F6F1E8"/>
          </a:solidFill>
          <a:ln w="12700">
            <a:solidFill>
              <a:srgbClr val="F6F1E8"/>
            </a:solidFill>
            <a:prstDash val="solid"/>
          </a:ln>
        </p:spPr>
      </p:sp>
      <p:sp>
        <p:nvSpPr>
          <p:cNvPr id="5" name="Shape 3"/>
          <p:cNvSpPr/>
          <p:nvPr/>
        </p:nvSpPr>
        <p:spPr>
          <a:xfrm>
            <a:off x="877824" y="190633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90633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8804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《中华人民共和国法官法》第四十八条</a:t>
            </a:r>
            <a:endParaRPr lang="en-US" sz="1500" dirty="0"/>
          </a:p>
        </p:txBody>
      </p:sp>
      <p:sp>
        <p:nvSpPr>
          <p:cNvPr id="8" name="Text 6"/>
          <p:cNvSpPr/>
          <p:nvPr/>
        </p:nvSpPr>
        <p:spPr>
          <a:xfrm>
            <a:off x="960120" y="2308670"/>
            <a:ext cx="10271455" cy="18878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最高人民法院和省、自治区、直辖市设立法官惩戒委员会，负责从专业角度审查认定法官是否存在本法第四十六条第四项、第五项规定的违反审判职责的行为，提出构成故意违反职责、存在重大过失、存在一般过失或者没有违反职责等审查意见。法官惩戒委员会提出审查意见后，人民法院依照有关规定作出是否予以惩戒的决定，并给予相应处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法官惩戒委员会由法官代表、其他从事法律职业的人员和有关方面代表组成，其中法官代表不少于半数。</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最高人民法院法官惩戒委员会、省级法官惩戒委员会的日常工作，由相关人民法院的内设职能部门承担。</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的制度精妙之处在于“两分”：专业问题（是否违反审判职责、过错程度）由惩戒委员会以同行评议方式认定；处理决定则由人民法院依组织程序作出。它在“同行评议”与“组织管理”之间取得了平衡。请注意惩戒委员会的审查范围仅限于第（四）（五）项，其他事由不经此程序。</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16</a:t>
            </a:r>
            <a:endParaRPr lang="en-US" sz="11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过错分级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惩戒委员会的四档审查意见</a:t>
            </a:r>
            <a:endParaRPr lang="en-US" sz="2800" dirty="0"/>
          </a:p>
        </p:txBody>
      </p:sp>
      <p:sp>
        <p:nvSpPr>
          <p:cNvPr id="4" name="Shape 2"/>
          <p:cNvSpPr/>
          <p:nvPr/>
        </p:nvSpPr>
        <p:spPr>
          <a:xfrm>
            <a:off x="566928" y="1981454"/>
            <a:ext cx="2586152" cy="3233420"/>
          </a:xfrm>
          <a:prstGeom prst="roundRect">
            <a:avLst>
              <a:gd name="adj" fmla="val 3536"/>
            </a:avLst>
          </a:prstGeom>
          <a:solidFill>
            <a:srgbClr val="13233F"/>
          </a:solidFill>
          <a:ln w="12700">
            <a:solidFill>
              <a:srgbClr val="13233F"/>
            </a:solidFill>
            <a:prstDash val="solid"/>
          </a:ln>
        </p:spPr>
      </p:sp>
      <p:sp>
        <p:nvSpPr>
          <p:cNvPr id="5" name="Text 3"/>
          <p:cNvSpPr/>
          <p:nvPr/>
        </p:nvSpPr>
        <p:spPr>
          <a:xfrm>
            <a:off x="749808" y="2310638"/>
            <a:ext cx="2220392"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故意</a:t>
            </a:r>
            <a:endParaRPr lang="en-US" sz="3400" dirty="0"/>
          </a:p>
        </p:txBody>
      </p:sp>
      <p:sp>
        <p:nvSpPr>
          <p:cNvPr id="6" name="Text 4"/>
          <p:cNvSpPr/>
          <p:nvPr/>
        </p:nvSpPr>
        <p:spPr>
          <a:xfrm>
            <a:off x="886968"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构成故意违反职责</a:t>
            </a:r>
            <a:endParaRPr lang="en-US" sz="1600" dirty="0"/>
          </a:p>
        </p:txBody>
      </p:sp>
      <p:sp>
        <p:nvSpPr>
          <p:cNvPr id="7" name="Text 5"/>
          <p:cNvSpPr/>
          <p:nvPr/>
        </p:nvSpPr>
        <p:spPr>
          <a:xfrm>
            <a:off x="886968"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明知违反法律法规而为之，主观恶性最重，应当从严处理，构成犯罪的追究刑事责任</a:t>
            </a:r>
            <a:endParaRPr lang="en-US" sz="1300" dirty="0"/>
          </a:p>
        </p:txBody>
      </p:sp>
      <p:sp>
        <p:nvSpPr>
          <p:cNvPr id="8" name="Shape 6"/>
          <p:cNvSpPr/>
          <p:nvPr/>
        </p:nvSpPr>
        <p:spPr>
          <a:xfrm>
            <a:off x="3390824" y="1981454"/>
            <a:ext cx="2586152" cy="3233420"/>
          </a:xfrm>
          <a:prstGeom prst="roundRect">
            <a:avLst>
              <a:gd name="adj" fmla="val 3536"/>
            </a:avLst>
          </a:prstGeom>
          <a:solidFill>
            <a:srgbClr val="F6F1E8"/>
          </a:solidFill>
          <a:ln w="12700">
            <a:solidFill>
              <a:srgbClr val="F6F1E8"/>
            </a:solidFill>
            <a:prstDash val="solid"/>
          </a:ln>
        </p:spPr>
      </p:sp>
      <p:sp>
        <p:nvSpPr>
          <p:cNvPr id="9" name="Text 7"/>
          <p:cNvSpPr/>
          <p:nvPr/>
        </p:nvSpPr>
        <p:spPr>
          <a:xfrm>
            <a:off x="3573704" y="2310638"/>
            <a:ext cx="2220392"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重大过失</a:t>
            </a:r>
            <a:endParaRPr lang="en-US" sz="3400" dirty="0"/>
          </a:p>
        </p:txBody>
      </p:sp>
      <p:sp>
        <p:nvSpPr>
          <p:cNvPr id="10" name="Text 8"/>
          <p:cNvSpPr/>
          <p:nvPr/>
        </p:nvSpPr>
        <p:spPr>
          <a:xfrm>
            <a:off x="3710864"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存在重大过失</a:t>
            </a:r>
            <a:endParaRPr lang="en-US" sz="1600" dirty="0"/>
          </a:p>
        </p:txBody>
      </p:sp>
      <p:sp>
        <p:nvSpPr>
          <p:cNvPr id="11" name="Text 9"/>
          <p:cNvSpPr/>
          <p:nvPr/>
        </p:nvSpPr>
        <p:spPr>
          <a:xfrm>
            <a:off x="3710864"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应当预见而未预见，或已预见而轻信可以避免，且导致裁判结果错误并造成严重后果</a:t>
            </a:r>
            <a:endParaRPr lang="en-US" sz="1300" dirty="0"/>
          </a:p>
        </p:txBody>
      </p:sp>
      <p:sp>
        <p:nvSpPr>
          <p:cNvPr id="12" name="Shape 10"/>
          <p:cNvSpPr/>
          <p:nvPr/>
        </p:nvSpPr>
        <p:spPr>
          <a:xfrm>
            <a:off x="6214720" y="1981454"/>
            <a:ext cx="2586152" cy="3233420"/>
          </a:xfrm>
          <a:prstGeom prst="roundRect">
            <a:avLst>
              <a:gd name="adj" fmla="val 3536"/>
            </a:avLst>
          </a:prstGeom>
          <a:solidFill>
            <a:srgbClr val="ECF3F2"/>
          </a:solidFill>
          <a:ln w="12700">
            <a:solidFill>
              <a:srgbClr val="ECF3F2"/>
            </a:solidFill>
            <a:prstDash val="solid"/>
          </a:ln>
        </p:spPr>
      </p:sp>
      <p:sp>
        <p:nvSpPr>
          <p:cNvPr id="13" name="Text 11"/>
          <p:cNvSpPr/>
          <p:nvPr/>
        </p:nvSpPr>
        <p:spPr>
          <a:xfrm>
            <a:off x="6397600" y="2310638"/>
            <a:ext cx="2220392" cy="1024128"/>
          </a:xfrm>
          <a:prstGeom prst="rect">
            <a:avLst/>
          </a:prstGeom>
          <a:noFill/>
          <a:ln/>
        </p:spPr>
        <p:txBody>
          <a:bodyPr wrap="square" lIns="0" tIns="0" rIns="0" bIns="0" rtlCol="0" anchor="ctr"/>
          <a:lstStyle/>
          <a:p>
            <a:pPr algn="ctr" indent="0" marL="0">
              <a:buNone/>
            </a:pPr>
            <a:r>
              <a:rPr lang="en-US" sz="3400" b="1" dirty="0">
                <a:solidFill>
                  <a:srgbClr val="2F6E6A"/>
                </a:solidFill>
                <a:latin typeface="微软雅黑" pitchFamily="34" charset="0"/>
                <a:ea typeface="微软雅黑" pitchFamily="34" charset="-122"/>
                <a:cs typeface="微软雅黑" pitchFamily="34" charset="-120"/>
              </a:rPr>
              <a:t>一般过失</a:t>
            </a:r>
            <a:endParaRPr lang="en-US" sz="3400" dirty="0"/>
          </a:p>
        </p:txBody>
      </p:sp>
      <p:sp>
        <p:nvSpPr>
          <p:cNvPr id="14" name="Text 12"/>
          <p:cNvSpPr/>
          <p:nvPr/>
        </p:nvSpPr>
        <p:spPr>
          <a:xfrm>
            <a:off x="6534760"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存在一般过失</a:t>
            </a:r>
            <a:endParaRPr lang="en-US" sz="1600" dirty="0"/>
          </a:p>
        </p:txBody>
      </p:sp>
      <p:sp>
        <p:nvSpPr>
          <p:cNvPr id="15" name="Text 13"/>
          <p:cNvSpPr/>
          <p:nvPr/>
        </p:nvSpPr>
        <p:spPr>
          <a:xfrm>
            <a:off x="6534760"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过错程度较轻，一般不作为审判责任追究，可通过业务指导、培训等方式处理</a:t>
            </a:r>
            <a:endParaRPr lang="en-US" sz="1300" dirty="0"/>
          </a:p>
        </p:txBody>
      </p:sp>
      <p:sp>
        <p:nvSpPr>
          <p:cNvPr id="16" name="Shape 14"/>
          <p:cNvSpPr/>
          <p:nvPr/>
        </p:nvSpPr>
        <p:spPr>
          <a:xfrm>
            <a:off x="9038615" y="1981454"/>
            <a:ext cx="2586152" cy="3233420"/>
          </a:xfrm>
          <a:prstGeom prst="roundRect">
            <a:avLst>
              <a:gd name="adj" fmla="val 3536"/>
            </a:avLst>
          </a:prstGeom>
          <a:solidFill>
            <a:srgbClr val="F8EFF0"/>
          </a:solidFill>
          <a:ln w="12700">
            <a:solidFill>
              <a:srgbClr val="F8EFF0"/>
            </a:solidFill>
            <a:prstDash val="solid"/>
          </a:ln>
        </p:spPr>
      </p:sp>
      <p:sp>
        <p:nvSpPr>
          <p:cNvPr id="17" name="Text 15"/>
          <p:cNvSpPr/>
          <p:nvPr/>
        </p:nvSpPr>
        <p:spPr>
          <a:xfrm>
            <a:off x="9221495" y="2310638"/>
            <a:ext cx="2220392" cy="1024128"/>
          </a:xfrm>
          <a:prstGeom prst="rect">
            <a:avLst/>
          </a:prstGeom>
          <a:noFill/>
          <a:ln/>
        </p:spPr>
        <p:txBody>
          <a:bodyPr wrap="square" lIns="0" tIns="0" rIns="0" bIns="0" rtlCol="0" anchor="ctr"/>
          <a:lstStyle/>
          <a:p>
            <a:pPr algn="ctr" indent="0" marL="0">
              <a:buNone/>
            </a:pPr>
            <a:r>
              <a:rPr lang="en-US" sz="3400" b="1" dirty="0">
                <a:solidFill>
                  <a:srgbClr val="8E2C3B"/>
                </a:solidFill>
                <a:latin typeface="微软雅黑" pitchFamily="34" charset="0"/>
                <a:ea typeface="微软雅黑" pitchFamily="34" charset="-122"/>
                <a:cs typeface="微软雅黑" pitchFamily="34" charset="-120"/>
              </a:rPr>
              <a:t>无责</a:t>
            </a:r>
            <a:endParaRPr lang="en-US" sz="3400" dirty="0"/>
          </a:p>
        </p:txBody>
      </p:sp>
      <p:sp>
        <p:nvSpPr>
          <p:cNvPr id="18" name="Text 16"/>
          <p:cNvSpPr/>
          <p:nvPr/>
        </p:nvSpPr>
        <p:spPr>
          <a:xfrm>
            <a:off x="9358655" y="3462782"/>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没有违反职责</a:t>
            </a:r>
            <a:endParaRPr lang="en-US" sz="1600" dirty="0"/>
          </a:p>
        </p:txBody>
      </p:sp>
      <p:sp>
        <p:nvSpPr>
          <p:cNvPr id="19" name="Text 17"/>
          <p:cNvSpPr/>
          <p:nvPr/>
        </p:nvSpPr>
        <p:spPr>
          <a:xfrm>
            <a:off x="9358655" y="3928110"/>
            <a:ext cx="1946072"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属于法律理解与认识上的合理分歧，或已尽审查职责，不承担审判责任</a:t>
            </a:r>
            <a:endParaRPr lang="en-US" sz="1300" dirty="0"/>
          </a:p>
        </p:txBody>
      </p:sp>
      <p:sp>
        <p:nvSpPr>
          <p:cNvPr id="20" name="Text 18"/>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四档划分的意义：把“结果错误”与“行为有责”分离开来。裁判被改变不等于法官有过错，这是保障独立裁判的必要安全空间。</a:t>
            </a:r>
            <a:endParaRPr lang="en-US" sz="1150" dirty="0"/>
          </a:p>
        </p:txBody>
      </p:sp>
      <p:sp>
        <p:nvSpPr>
          <p:cNvPr id="21" name="Text 19"/>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17</a:t>
            </a:r>
            <a:endParaRPr lang="en-US" sz="11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惩戒程序与追责程序的基本要素</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一个正当的追责程序，应当具备哪些要素？</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18</a:t>
            </a:r>
            <a:endParaRPr lang="en-US" sz="11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程序保障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《法官法》第四十九条至第五十一条</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《法官法》第四十九条</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法官惩戒委员会审议惩戒事项时，当事法官有权申请有关人员回避，有权进行陈述、举证、辩解。</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《法官法》第五十条</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法官惩戒委员会作出的审查意见应当送达当事法官。当事法官对审查意见有异议的，可以向惩戒委员会提出，惩戒委员会应当对异议及其理由进行审查，作出决定。</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《法官法》第五十一条</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法官惩戒委员会审议惩戒事项的具体程序，由最高人民法院商有关部门确定。</a:t>
            </a:r>
            <a:endParaRPr lang="en-US" sz="850" dirty="0"/>
          </a:p>
        </p:txBody>
      </p:sp>
      <p:sp>
        <p:nvSpPr>
          <p:cNvPr id="19" name="Shape 1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20" name="Text 1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四十九条赋予当事法官三项程序权利：申请回避权、陈述权、举证与辩解权——这是最低限度的正当程序要求；第五十条建立了异议审查机制，使审查意见不至于一锤定音。请注意：被惩戒者本身是法律职业人员，程序若不正当，其损害不仅在个案，更在于对整个司法制度正当性的示范性破坏。</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19</a:t>
            </a:r>
            <a:endParaRPr lang="en-US" sz="11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程序分析框架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追责程序基本要素的拆解</a:t>
            </a:r>
            <a:endParaRPr lang="en-US" sz="2800" dirty="0"/>
          </a:p>
        </p:txBody>
      </p:sp>
      <p:sp>
        <p:nvSpPr>
          <p:cNvPr id="4" name="Shape 2"/>
          <p:cNvSpPr/>
          <p:nvPr/>
        </p:nvSpPr>
        <p:spPr>
          <a:xfrm>
            <a:off x="566928" y="1481042"/>
            <a:ext cx="5382616" cy="1576578"/>
          </a:xfrm>
          <a:prstGeom prst="roundRect">
            <a:avLst>
              <a:gd name="adj" fmla="val 4640"/>
            </a:avLst>
          </a:prstGeom>
          <a:solidFill>
            <a:srgbClr val="F2F4F8"/>
          </a:solidFill>
          <a:ln w="12700">
            <a:solidFill>
              <a:srgbClr val="F2F4F8"/>
            </a:solidFill>
            <a:prstDash val="solid"/>
          </a:ln>
        </p:spPr>
      </p:sp>
      <p:sp>
        <p:nvSpPr>
          <p:cNvPr id="5" name="Shape 3"/>
          <p:cNvSpPr/>
          <p:nvPr/>
        </p:nvSpPr>
        <p:spPr>
          <a:xfrm>
            <a:off x="822960" y="2040731"/>
            <a:ext cx="457200" cy="457200"/>
          </a:xfrm>
          <a:prstGeom prst="ellipse">
            <a:avLst/>
          </a:prstGeom>
          <a:solidFill>
            <a:srgbClr val="13233F"/>
          </a:solidFill>
          <a:ln w="12700">
            <a:solidFill>
              <a:srgbClr val="13233F"/>
            </a:solidFill>
            <a:prstDash val="solid"/>
          </a:ln>
        </p:spPr>
      </p:sp>
      <p:sp>
        <p:nvSpPr>
          <p:cNvPr id="6" name="Text 4"/>
          <p:cNvSpPr/>
          <p:nvPr/>
        </p:nvSpPr>
        <p:spPr>
          <a:xfrm>
            <a:off x="822960" y="204073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61820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程序的基本形态</a:t>
            </a:r>
            <a:endParaRPr lang="en-US" sz="1500" dirty="0"/>
          </a:p>
        </p:txBody>
      </p:sp>
      <p:sp>
        <p:nvSpPr>
          <p:cNvPr id="8" name="Text 6"/>
          <p:cNvSpPr/>
          <p:nvPr/>
        </p:nvSpPr>
        <p:spPr>
          <a:xfrm>
            <a:off x="1444752" y="1926050"/>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在典型的司法程序中，两造对抗、裁判者居中裁判的形态最为显著；而在行政程序中，行政权鼓励主动、追求效率、贵在权变的特征得以体现。程序的基本形态确定了程序的基本类型。法官惩戒程序具有司法与行政的混合特征。</a:t>
            </a:r>
            <a:endParaRPr lang="en-US" sz="1350" dirty="0"/>
          </a:p>
        </p:txBody>
      </p:sp>
      <p:sp>
        <p:nvSpPr>
          <p:cNvPr id="9" name="Shape 7"/>
          <p:cNvSpPr/>
          <p:nvPr/>
        </p:nvSpPr>
        <p:spPr>
          <a:xfrm>
            <a:off x="566928" y="3185636"/>
            <a:ext cx="5382616" cy="1576578"/>
          </a:xfrm>
          <a:prstGeom prst="roundRect">
            <a:avLst>
              <a:gd name="adj" fmla="val 4640"/>
            </a:avLst>
          </a:prstGeom>
          <a:solidFill>
            <a:srgbClr val="FFFFFF"/>
          </a:solidFill>
          <a:ln w="12700">
            <a:solidFill>
              <a:srgbClr val="D5DBE5"/>
            </a:solidFill>
            <a:prstDash val="solid"/>
          </a:ln>
        </p:spPr>
      </p:sp>
      <p:sp>
        <p:nvSpPr>
          <p:cNvPr id="10" name="Shape 8"/>
          <p:cNvSpPr/>
          <p:nvPr/>
        </p:nvSpPr>
        <p:spPr>
          <a:xfrm>
            <a:off x="822960" y="374532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程序的启动</a:t>
            </a:r>
            <a:endParaRPr lang="en-US" sz="1500" dirty="0"/>
          </a:p>
        </p:txBody>
      </p:sp>
      <p:sp>
        <p:nvSpPr>
          <p:cNvPr id="13" name="Text 11"/>
          <p:cNvSpPr/>
          <p:nvPr/>
        </p:nvSpPr>
        <p:spPr>
          <a:xfrm>
            <a:off x="1444752" y="3630644"/>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程序启动是程序进一步展开的逻辑起点。程序如何启动、由谁启动，在程序构建上极为重要——如果程序的启动设置不合理，后续的程序设计再精巧，也可能沦为空中楼阁。</a:t>
            </a:r>
            <a:endParaRPr lang="en-US" sz="1350" dirty="0"/>
          </a:p>
        </p:txBody>
      </p:sp>
      <p:sp>
        <p:nvSpPr>
          <p:cNvPr id="14" name="Shape 12"/>
          <p:cNvSpPr/>
          <p:nvPr/>
        </p:nvSpPr>
        <p:spPr>
          <a:xfrm>
            <a:off x="566928" y="4890230"/>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5325618"/>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32561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5027390"/>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裁决方式</a:t>
            </a:r>
            <a:endParaRPr lang="en-US" sz="1500" dirty="0"/>
          </a:p>
        </p:txBody>
      </p:sp>
      <p:sp>
        <p:nvSpPr>
          <p:cNvPr id="18" name="Text 16"/>
          <p:cNvSpPr/>
          <p:nvPr/>
        </p:nvSpPr>
        <p:spPr>
          <a:xfrm>
            <a:off x="1444752" y="5335238"/>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由谁作出认定？依据什么标准？是同行评议还是行政决定？《法官法》采取了“专业审查+组织决定”的两分模式，专业问题交由惩戒委员会，处理决定由法院作出。</a:t>
            </a:r>
            <a:endParaRPr lang="en-US" sz="1350" dirty="0"/>
          </a:p>
        </p:txBody>
      </p:sp>
      <p:sp>
        <p:nvSpPr>
          <p:cNvPr id="19" name="Shape 17"/>
          <p:cNvSpPr/>
          <p:nvPr/>
        </p:nvSpPr>
        <p:spPr>
          <a:xfrm>
            <a:off x="6242152" y="1605344"/>
            <a:ext cx="5382616" cy="1576578"/>
          </a:xfrm>
          <a:prstGeom prst="roundRect">
            <a:avLst>
              <a:gd name="adj" fmla="val 4640"/>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742504"/>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权利保障</a:t>
            </a:r>
            <a:endParaRPr lang="en-US" sz="1500" dirty="0"/>
          </a:p>
        </p:txBody>
      </p:sp>
      <p:sp>
        <p:nvSpPr>
          <p:cNvPr id="23" name="Text 21"/>
          <p:cNvSpPr/>
          <p:nvPr/>
        </p:nvSpPr>
        <p:spPr>
          <a:xfrm>
            <a:off x="7119976" y="2050352"/>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在程序当中，权力与权利的冲突与平衡是核心内容。由于权利弱小的本质，对权利保障的类型、程度、方式，是体现程序文明程度的重要标志。第四十九条的三项权利即属于此。</a:t>
            </a:r>
            <a:endParaRPr lang="en-US" sz="1350" dirty="0"/>
          </a:p>
        </p:txBody>
      </p:sp>
      <p:sp>
        <p:nvSpPr>
          <p:cNvPr id="24" name="Shape 22"/>
          <p:cNvSpPr/>
          <p:nvPr/>
        </p:nvSpPr>
        <p:spPr>
          <a:xfrm>
            <a:off x="6242152" y="3309938"/>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745325"/>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救济机制</a:t>
            </a:r>
            <a:endParaRPr lang="en-US" sz="1500" dirty="0"/>
          </a:p>
        </p:txBody>
      </p:sp>
      <p:sp>
        <p:nvSpPr>
          <p:cNvPr id="28" name="Text 26"/>
          <p:cNvSpPr/>
          <p:nvPr/>
        </p:nvSpPr>
        <p:spPr>
          <a:xfrm>
            <a:off x="7119976" y="375494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对于一项法律程序而言，如果参与人对由该程序产生的结果缺少救济的手段，则该程序的正当性即面临考验与质疑。第五十条的异议审查是初步的救济安排。</a:t>
            </a:r>
            <a:endParaRPr lang="en-US" sz="1350" dirty="0"/>
          </a:p>
        </p:txBody>
      </p:sp>
      <p:sp>
        <p:nvSpPr>
          <p:cNvPr id="29" name="Shape 27"/>
          <p:cNvSpPr/>
          <p:nvPr/>
        </p:nvSpPr>
        <p:spPr>
          <a:xfrm>
            <a:off x="6242152" y="4765929"/>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201317"/>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20131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90308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责任形式</a:t>
            </a:r>
            <a:endParaRPr lang="en-US" sz="1500" dirty="0"/>
          </a:p>
        </p:txBody>
      </p:sp>
      <p:sp>
        <p:nvSpPr>
          <p:cNvPr id="33" name="Text 31"/>
          <p:cNvSpPr/>
          <p:nvPr/>
        </p:nvSpPr>
        <p:spPr>
          <a:xfrm>
            <a:off x="7119976" y="5210937"/>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处分种类依《法官法》及《公职人员政务处分法》《人民法院工作人员处分条例》等规定确定；构成犯罪的，依《刑法》第三百九十九条等追究刑事责任。</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20</a:t>
            </a:r>
            <a:endParaRPr lang="en-US" sz="11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制度反思</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法官惩戒制度为何重要</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在法治社会，法官惩戒是一个敏感而复杂的问题。</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原因在于：现代法治社会秉承司法最终裁决原则，将司法作为社会正义的最后一道防线。同时，随着社会发展，司法不仅承担解决纠纷的单一职能，还越来越广泛地承担厘定社会规则、参与社会治理的角色。</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而法官占据着司法体系中的最核心位置，掌握着最重要的裁决权。人们一方面期待法官作出独立、公正的裁决，另一方面又对法官的腐败、滥权、擅断存在忧虑。</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为实现前者，各国普遍确立了司法独立的原则与配套制度；为实现后者，各国又普遍建立了严格、理性的法官惩戒制度。二者互为条件，缺一不可。</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法官惩戒制度的构建必须遵循一些基本规律，其最核心的要义是：将法官作为司法人员对待，而非作为行政人员对待。这决定了惩戒程序应当具有司法化特征——同行评议、正当程序、独立判断、可救济。</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21</a:t>
            </a:r>
            <a:endParaRPr lang="en-US" sz="11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内部干预链条中的责任分配</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责任认定</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庭长授意与承办法官的责任</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案中，承办法官在时任庭长的授意下并接受他人请托，明知案件事实不清、可能遗漏共同犯罪人，仍以简易程序审理，并对被告人从轻判处。该判决导致相关恶势力犯罪团伙成员长期未得到查处，团伙坐大成势，严重损害司法公信力。</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案发后查明，该庭长收受黑社会性质组织领导者通过他人给予的巨额现金，并将其中一部分给予承办法官。二人均被追究刑事责任。</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在类似情形中，如果承办法官并未收受任何财物，只是“服从领导指示”，其责任应当如何认定？如果他在评议时提出过不同意见但被否决呢？</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承办法官能否以“服从领导”作为免责事由？</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本案应当适用《法官法》第四十六条哪几项？</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若法官在评议中提出过正确意见，依法应当如何处理？</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这一案例说明“独立是义务”具有什么实践含义？</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22</a:t>
            </a:r>
            <a:endParaRPr lang="en-US" sz="11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《法官法》第四十六条第（五）项规定“因重大过失导致裁判结果错误并造成严重后果的”应当给予处分。请设计一组可操作的标准，用以区分“重大过失”与“一般过失”，并说明“严重后果”应如何认定。</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法官惩戒委员会中“法官代表不少于半数”。有观点认为这一比例过高，可能导致同行相护；也有观点认为比例还不够，专业问题应完全由同行判断。你的看法是什么？</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《法官行为规范》第八十六条规定法官本人涉诉时“不以法官身份获取特殊照顾”。但在实践中，即使法官不主动亮明身份，受诉法院也可能知晓其身份。制度上应当如何应对？</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司法为民与依法裁判在个案中可能产生张力。请以一起涉及生活困难当事人的民间借贷纠纷为例，说明法官应当如何处理这一张力。</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第8课时 · 23</a:t>
            </a:r>
            <a:endParaRPr lang="en-US" sz="11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第二编总结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第8课时要点与法官职业伦理小结</a:t>
            </a:r>
            <a:endParaRPr lang="en-US" sz="3000" dirty="0"/>
          </a:p>
        </p:txBody>
      </p:sp>
      <p:sp>
        <p:nvSpPr>
          <p:cNvPr id="4" name="Shape 2"/>
          <p:cNvSpPr/>
          <p:nvPr/>
        </p:nvSpPr>
        <p:spPr>
          <a:xfrm>
            <a:off x="566928" y="1591056"/>
            <a:ext cx="11057839" cy="684276"/>
          </a:xfrm>
          <a:prstGeom prst="roundRect">
            <a:avLst>
              <a:gd name="adj" fmla="val 10690"/>
            </a:avLst>
          </a:prstGeom>
          <a:solidFill>
            <a:srgbClr val="25395F"/>
          </a:solidFill>
          <a:ln w="12700">
            <a:solidFill>
              <a:srgbClr val="25395F"/>
            </a:solidFill>
            <a:prstDash val="solid"/>
          </a:ln>
        </p:spPr>
      </p:sp>
      <p:sp>
        <p:nvSpPr>
          <p:cNvPr id="5" name="Shape 3"/>
          <p:cNvSpPr/>
          <p:nvPr/>
        </p:nvSpPr>
        <p:spPr>
          <a:xfrm>
            <a:off x="859536" y="1732026"/>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52727"/>
            <a:ext cx="160934" cy="160934"/>
          </a:xfrm>
          <a:prstGeom prst="rect">
            <a:avLst/>
          </a:prstGeom>
        </p:spPr>
      </p:pic>
      <p:sp>
        <p:nvSpPr>
          <p:cNvPr id="7" name="Text 4"/>
          <p:cNvSpPr/>
          <p:nvPr/>
        </p:nvSpPr>
        <p:spPr>
          <a:xfrm>
            <a:off x="1444752" y="173316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司法廉洁由具体禁令构成：《法官法》第二十二条的全面兼职禁止；防止利益冲突规定的七类营利性活动禁止；不得接受利益输送、不得利用职权谋利、约束近亲属、接受监督与如实报告。</a:t>
            </a:r>
            <a:endParaRPr lang="en-US" sz="1050" dirty="0"/>
          </a:p>
        </p:txBody>
      </p:sp>
      <p:sp>
        <p:nvSpPr>
          <p:cNvPr id="8" name="Shape 5"/>
          <p:cNvSpPr/>
          <p:nvPr/>
        </p:nvSpPr>
        <p:spPr>
          <a:xfrm>
            <a:off x="566928" y="2412492"/>
            <a:ext cx="11057839" cy="684276"/>
          </a:xfrm>
          <a:prstGeom prst="roundRect">
            <a:avLst>
              <a:gd name="adj" fmla="val 10690"/>
            </a:avLst>
          </a:prstGeom>
          <a:solidFill>
            <a:srgbClr val="25395F"/>
          </a:solidFill>
          <a:ln w="12700">
            <a:solidFill>
              <a:srgbClr val="25395F"/>
            </a:solidFill>
            <a:prstDash val="solid"/>
          </a:ln>
        </p:spPr>
      </p:sp>
      <p:sp>
        <p:nvSpPr>
          <p:cNvPr id="9" name="Shape 6"/>
          <p:cNvSpPr/>
          <p:nvPr/>
        </p:nvSpPr>
        <p:spPr>
          <a:xfrm>
            <a:off x="859536" y="2553462"/>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674163"/>
            <a:ext cx="160934" cy="160934"/>
          </a:xfrm>
          <a:prstGeom prst="rect">
            <a:avLst/>
          </a:prstGeom>
        </p:spPr>
      </p:pic>
      <p:sp>
        <p:nvSpPr>
          <p:cNvPr id="11" name="Text 7"/>
          <p:cNvSpPr/>
          <p:nvPr/>
        </p:nvSpPr>
        <p:spPr>
          <a:xfrm>
            <a:off x="1444752" y="2554605"/>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司法为民落于诉讼便利、释法说理与判后答疑、司法救助、特殊群体保障；但为民约束的是态度、程序与作风，而非裁判的实体标准，不得以为民之名行枉法、迁就、以调代判或迎合舆论之实。</a:t>
            </a:r>
            <a:endParaRPr lang="en-US" sz="1050" dirty="0"/>
          </a:p>
        </p:txBody>
      </p:sp>
      <p:sp>
        <p:nvSpPr>
          <p:cNvPr id="12" name="Shape 8"/>
          <p:cNvSpPr/>
          <p:nvPr/>
        </p:nvSpPr>
        <p:spPr>
          <a:xfrm>
            <a:off x="566928" y="3233928"/>
            <a:ext cx="11057839" cy="684276"/>
          </a:xfrm>
          <a:prstGeom prst="roundRect">
            <a:avLst>
              <a:gd name="adj" fmla="val 10690"/>
            </a:avLst>
          </a:prstGeom>
          <a:solidFill>
            <a:srgbClr val="25395F"/>
          </a:solidFill>
          <a:ln w="12700">
            <a:solidFill>
              <a:srgbClr val="25395F"/>
            </a:solidFill>
            <a:prstDash val="solid"/>
          </a:ln>
        </p:spPr>
      </p:sp>
      <p:sp>
        <p:nvSpPr>
          <p:cNvPr id="13" name="Shape 9"/>
          <p:cNvSpPr/>
          <p:nvPr/>
        </p:nvSpPr>
        <p:spPr>
          <a:xfrm>
            <a:off x="859536" y="3374898"/>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95599"/>
            <a:ext cx="160934" cy="160934"/>
          </a:xfrm>
          <a:prstGeom prst="rect">
            <a:avLst/>
          </a:prstGeom>
        </p:spPr>
      </p:pic>
      <p:sp>
        <p:nvSpPr>
          <p:cNvPr id="15" name="Text 10"/>
          <p:cNvSpPr/>
          <p:nvPr/>
        </p:nvSpPr>
        <p:spPr>
          <a:xfrm>
            <a:off x="1444752" y="3376041"/>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维护司法形象要求不滥用司法声望（《法官行为规范》第八十五、八十六条），并在公开言论、社会兼职、社交活动、家庭成员四方面保持约束。“避免不当行为的表象”同样适用于业外。</a:t>
            </a:r>
            <a:endParaRPr lang="en-US" sz="1050" dirty="0"/>
          </a:p>
        </p:txBody>
      </p:sp>
      <p:sp>
        <p:nvSpPr>
          <p:cNvPr id="16" name="Shape 11"/>
          <p:cNvSpPr/>
          <p:nvPr/>
        </p:nvSpPr>
        <p:spPr>
          <a:xfrm>
            <a:off x="566928" y="4055364"/>
            <a:ext cx="11057839" cy="684276"/>
          </a:xfrm>
          <a:prstGeom prst="roundRect">
            <a:avLst>
              <a:gd name="adj" fmla="val 10690"/>
            </a:avLst>
          </a:prstGeom>
          <a:solidFill>
            <a:srgbClr val="25395F"/>
          </a:solidFill>
          <a:ln w="12700">
            <a:solidFill>
              <a:srgbClr val="25395F"/>
            </a:solidFill>
            <a:prstDash val="solid"/>
          </a:ln>
        </p:spPr>
      </p:sp>
      <p:sp>
        <p:nvSpPr>
          <p:cNvPr id="17" name="Shape 12"/>
          <p:cNvSpPr/>
          <p:nvPr/>
        </p:nvSpPr>
        <p:spPr>
          <a:xfrm>
            <a:off x="859536" y="4196334"/>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17035"/>
            <a:ext cx="160934" cy="160934"/>
          </a:xfrm>
          <a:prstGeom prst="rect">
            <a:avLst/>
          </a:prstGeom>
        </p:spPr>
      </p:pic>
      <p:sp>
        <p:nvSpPr>
          <p:cNvPr id="19" name="Text 13"/>
          <p:cNvSpPr/>
          <p:nvPr/>
        </p:nvSpPr>
        <p:spPr>
          <a:xfrm>
            <a:off x="1444752" y="4197477"/>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法官惩戒事由规定于《法官法》第四十六条十项，可归为审判职责类、廉洁类、保密与证据类及兜底；惩戒主体为最高人民法院和省级设立的法官惩戒委员会，法官代表不少于半数。</a:t>
            </a:r>
            <a:endParaRPr lang="en-US" sz="1050" dirty="0"/>
          </a:p>
        </p:txBody>
      </p:sp>
      <p:sp>
        <p:nvSpPr>
          <p:cNvPr id="20" name="Shape 14"/>
          <p:cNvSpPr/>
          <p:nvPr/>
        </p:nvSpPr>
        <p:spPr>
          <a:xfrm>
            <a:off x="566928" y="4876800"/>
            <a:ext cx="11057839" cy="684276"/>
          </a:xfrm>
          <a:prstGeom prst="roundRect">
            <a:avLst>
              <a:gd name="adj" fmla="val 10690"/>
            </a:avLst>
          </a:prstGeom>
          <a:solidFill>
            <a:srgbClr val="25395F"/>
          </a:solidFill>
          <a:ln w="12700">
            <a:solidFill>
              <a:srgbClr val="25395F"/>
            </a:solidFill>
            <a:prstDash val="solid"/>
          </a:ln>
        </p:spPr>
      </p:sp>
      <p:sp>
        <p:nvSpPr>
          <p:cNvPr id="21" name="Shape 15"/>
          <p:cNvSpPr/>
          <p:nvPr/>
        </p:nvSpPr>
        <p:spPr>
          <a:xfrm>
            <a:off x="859536" y="5017770"/>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138471"/>
            <a:ext cx="160934" cy="160934"/>
          </a:xfrm>
          <a:prstGeom prst="rect">
            <a:avLst/>
          </a:prstGeom>
        </p:spPr>
      </p:pic>
      <p:sp>
        <p:nvSpPr>
          <p:cNvPr id="23" name="Text 16"/>
          <p:cNvSpPr/>
          <p:nvPr/>
        </p:nvSpPr>
        <p:spPr>
          <a:xfrm>
            <a:off x="1444752" y="5018913"/>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惩戒采“专业审查+组织决定”两分模式，审查意见分故意、重大过失、一般过失、没有违反职责四档；当事法官享有申请回避、陈述、举证辩解三项程序权利及异议审查救济。</a:t>
            </a:r>
            <a:endParaRPr lang="en-US" sz="1050" dirty="0"/>
          </a:p>
        </p:txBody>
      </p:sp>
      <p:sp>
        <p:nvSpPr>
          <p:cNvPr id="24" name="Shape 17"/>
          <p:cNvSpPr/>
          <p:nvPr/>
        </p:nvSpPr>
        <p:spPr>
          <a:xfrm>
            <a:off x="566928" y="5698236"/>
            <a:ext cx="11057839" cy="684276"/>
          </a:xfrm>
          <a:prstGeom prst="roundRect">
            <a:avLst>
              <a:gd name="adj" fmla="val 10690"/>
            </a:avLst>
          </a:prstGeom>
          <a:solidFill>
            <a:srgbClr val="25395F"/>
          </a:solidFill>
          <a:ln w="12700">
            <a:solidFill>
              <a:srgbClr val="25395F"/>
            </a:solidFill>
            <a:prstDash val="solid"/>
          </a:ln>
        </p:spPr>
      </p:sp>
      <p:sp>
        <p:nvSpPr>
          <p:cNvPr id="25" name="Shape 18"/>
          <p:cNvSpPr/>
          <p:nvPr/>
        </p:nvSpPr>
        <p:spPr>
          <a:xfrm>
            <a:off x="859536" y="5839206"/>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59907"/>
            <a:ext cx="160934" cy="160934"/>
          </a:xfrm>
          <a:prstGeom prst="rect">
            <a:avLst/>
          </a:prstGeom>
        </p:spPr>
      </p:pic>
      <p:sp>
        <p:nvSpPr>
          <p:cNvPr id="27" name="Text 19"/>
          <p:cNvSpPr/>
          <p:nvPr/>
        </p:nvSpPr>
        <p:spPr>
          <a:xfrm>
            <a:off x="1444752" y="5840349"/>
            <a:ext cx="9997135" cy="400050"/>
          </a:xfrm>
          <a:prstGeom prst="rect">
            <a:avLst/>
          </a:prstGeom>
          <a:noFill/>
          <a:ln/>
        </p:spPr>
        <p:txBody>
          <a:bodyPr wrap="square" lIns="0" tIns="0" rIns="0" bIns="0" rtlCol="0" anchor="t"/>
          <a:lstStyle/>
          <a:p>
            <a:pPr indent="0" marL="0">
              <a:lnSpc>
                <a:spcPts val="1575"/>
              </a:lnSpc>
              <a:buNone/>
            </a:pPr>
            <a:r>
              <a:rPr lang="en-US" sz="1050" dirty="0">
                <a:solidFill>
                  <a:srgbClr val="E4E9F1"/>
                </a:solidFill>
                <a:latin typeface="微软雅黑" pitchFamily="34" charset="0"/>
                <a:ea typeface="微软雅黑" pitchFamily="34" charset="-122"/>
                <a:cs typeface="微软雅黑" pitchFamily="34" charset="-120"/>
              </a:rPr>
              <a:t>第二编总结：司法权的属性决定法官伦理的内容；五项基本要求——忠诚司法事业、保证司法公正、确保司法廉洁、坚持司法为民、维护司法形象——分别对应信念、裁判、操守、作风与形象五个层面；独立与责任互为条件，缺一不可。</a:t>
            </a:r>
            <a:endParaRPr lang="en-US" sz="10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03</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第三编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检察官职业伦理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法律监督机关的宪法定位与检察官的客观公正义务</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第9课时　检察权的性质、检察官角色与规范体系</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第10课时　检察官的客观公正义务</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第11课时　检察官职业道德五项准则与检察责任追究</a:t>
            </a:r>
            <a:endParaRPr lang="en-US" sz="13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第9课时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检察权的性质、检察官角色与规范体系</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检察官既是追诉者，又是法律监督者——这一双重身份是检察伦理全部难题的根源</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法律监督机关的宪法定位与检察权的属性之争</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检察官的多重角色：公诉人、监督者、公益代表</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检察一体化与检察官相对独立之间的张力</a:t>
            </a:r>
            <a:endParaRPr lang="en-US" sz="14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从宪法定位到职业角色</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一、检察机关的宪法定位</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二、检察权的属性之争</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三、检察官的多重角色与“四大检察”</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四、检察一体化与检察官的相对独立</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五、检察官职业伦理的规范体系</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六、域外比较与本课小结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02</a:t>
            </a:r>
            <a:endParaRPr lang="en-US" sz="11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检察机关的宪法定位</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我国检察机关的性质，与两大法系的检察机关均有显著不同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03</a:t>
            </a:r>
            <a:endParaRPr lang="en-US" sz="11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宪法依据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两条决定一切的宪法条文</a:t>
            </a:r>
            <a:endParaRPr lang="en-US" sz="2800" dirty="0"/>
          </a:p>
        </p:txBody>
      </p:sp>
      <p:sp>
        <p:nvSpPr>
          <p:cNvPr id="4" name="Shape 2"/>
          <p:cNvSpPr/>
          <p:nvPr/>
        </p:nvSpPr>
        <p:spPr>
          <a:xfrm>
            <a:off x="566928" y="1384554"/>
            <a:ext cx="11057839" cy="1566291"/>
          </a:xfrm>
          <a:prstGeom prst="roundRect">
            <a:avLst>
              <a:gd name="adj" fmla="val 5838"/>
            </a:avLst>
          </a:prstGeom>
          <a:solidFill>
            <a:srgbClr val="F6F1E8"/>
          </a:solidFill>
          <a:ln w="12700">
            <a:solidFill>
              <a:srgbClr val="F6F1E8"/>
            </a:solidFill>
            <a:prstDash val="solid"/>
          </a:ln>
        </p:spPr>
      </p:sp>
      <p:sp>
        <p:nvSpPr>
          <p:cNvPr id="5" name="Shape 3"/>
          <p:cNvSpPr/>
          <p:nvPr/>
        </p:nvSpPr>
        <p:spPr>
          <a:xfrm>
            <a:off x="877824" y="1622298"/>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622298"/>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604010"/>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《中华人民共和国宪法》第一百三十四条</a:t>
            </a:r>
            <a:endParaRPr lang="en-US" sz="1500" dirty="0"/>
          </a:p>
        </p:txBody>
      </p:sp>
      <p:sp>
        <p:nvSpPr>
          <p:cNvPr id="8" name="Text 6"/>
          <p:cNvSpPr/>
          <p:nvPr/>
        </p:nvSpPr>
        <p:spPr>
          <a:xfrm>
            <a:off x="960120" y="2024634"/>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中华人民共和国人民检察院是国家的法律监督机关。</a:t>
            </a:r>
            <a:endParaRPr lang="en-US" sz="1550" dirty="0"/>
          </a:p>
        </p:txBody>
      </p:sp>
      <p:sp>
        <p:nvSpPr>
          <p:cNvPr id="9" name="Shape 7"/>
          <p:cNvSpPr/>
          <p:nvPr/>
        </p:nvSpPr>
        <p:spPr>
          <a:xfrm>
            <a:off x="566928" y="3133725"/>
            <a:ext cx="11057839" cy="1566291"/>
          </a:xfrm>
          <a:prstGeom prst="roundRect">
            <a:avLst>
              <a:gd name="adj" fmla="val 5838"/>
            </a:avLst>
          </a:prstGeom>
          <a:solidFill>
            <a:srgbClr val="F6F1E8"/>
          </a:solidFill>
          <a:ln w="12700">
            <a:solidFill>
              <a:srgbClr val="F6F1E8"/>
            </a:solidFill>
            <a:prstDash val="solid"/>
          </a:ln>
        </p:spPr>
      </p:sp>
      <p:sp>
        <p:nvSpPr>
          <p:cNvPr id="10" name="Shape 8"/>
          <p:cNvSpPr/>
          <p:nvPr/>
        </p:nvSpPr>
        <p:spPr>
          <a:xfrm>
            <a:off x="877824" y="337146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7146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5318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《中华人民共和国宪法》第一百三十六条</a:t>
            </a:r>
            <a:endParaRPr lang="en-US" sz="1500" dirty="0"/>
          </a:p>
        </p:txBody>
      </p:sp>
      <p:sp>
        <p:nvSpPr>
          <p:cNvPr id="13" name="Text 11"/>
          <p:cNvSpPr/>
          <p:nvPr/>
        </p:nvSpPr>
        <p:spPr>
          <a:xfrm>
            <a:off x="960120" y="3773805"/>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人民检察院依照法律规定独立行使检察权，不受行政机关、社会团体和个人的干涉。</a:t>
            </a:r>
            <a:endParaRPr lang="en-US" sz="15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法律监督机关”这一定位的独特性：在英美法系，检察官主要是政府的公诉代理人；在大陆法系，检察官是“法律的守护人”但主要活动于刑事领域。而我国检察机关的法律监督职能覆盖刑事、民事、行政、公益诉讼四大领域，其广度为世界所少有。这一定位是理解我国检察官职业伦理的起点。</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04</a:t>
            </a:r>
            <a:endParaRPr lang="en-US" sz="11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三种检察制度模式</a:t>
            </a:r>
            <a:endParaRPr lang="en-US" sz="2800" dirty="0"/>
          </a:p>
        </p:txBody>
      </p:sp>
      <p:sp>
        <p:nvSpPr>
          <p:cNvPr id="4" name="Shape 2"/>
          <p:cNvSpPr/>
          <p:nvPr/>
        </p:nvSpPr>
        <p:spPr>
          <a:xfrm>
            <a:off x="566928" y="1523683"/>
            <a:ext cx="3527450" cy="46518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177971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英美法系：政府的公诉人</a:t>
            </a:r>
            <a:endParaRPr lang="en-US" sz="1600" dirty="0"/>
          </a:p>
        </p:txBody>
      </p:sp>
      <p:sp>
        <p:nvSpPr>
          <p:cNvPr id="7" name="Text 5"/>
          <p:cNvSpPr/>
          <p:nvPr/>
        </p:nvSpPr>
        <p:spPr>
          <a:xfrm>
            <a:off x="932688"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检察官主要是代表政府提起并维持公诉的一方当事人。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享有极大的起诉裁量权（不起诉、辩诉交易）。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部分地区检察长由选举产生，具有政治属性。</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对客观义务的约束主要通过布雷迪规则等判例实现。</a:t>
            </a:r>
            <a:endParaRPr lang="en-US" sz="1450" dirty="0"/>
          </a:p>
        </p:txBody>
      </p:sp>
      <p:sp>
        <p:nvSpPr>
          <p:cNvPr id="8" name="Shape 6"/>
          <p:cNvSpPr/>
          <p:nvPr/>
        </p:nvSpPr>
        <p:spPr>
          <a:xfrm>
            <a:off x="4332122" y="1523683"/>
            <a:ext cx="3527450" cy="46518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177971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大陆法系：法律的守护人</a:t>
            </a:r>
            <a:endParaRPr lang="en-US" sz="1600" dirty="0"/>
          </a:p>
        </p:txBody>
      </p:sp>
      <p:sp>
        <p:nvSpPr>
          <p:cNvPr id="11" name="Text 9"/>
          <p:cNvSpPr/>
          <p:nvPr/>
        </p:nvSpPr>
        <p:spPr>
          <a:xfrm>
            <a:off x="4697882"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检察官被视为广义的司法官，负有发现实体真实的义务。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德国《刑事诉讼法》第160条第2款：检察机关不仅有义务查明不利于被告人的情况，也有义务查明有利于被告人的情况。</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检察官被称为“世界上最客观的官署”。</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实行检察一体，上命下从，但个案中保有职业良知空间。</a:t>
            </a:r>
            <a:endParaRPr lang="en-US" sz="1450" dirty="0"/>
          </a:p>
        </p:txBody>
      </p:sp>
      <p:sp>
        <p:nvSpPr>
          <p:cNvPr id="12" name="Shape 10"/>
          <p:cNvSpPr/>
          <p:nvPr/>
        </p:nvSpPr>
        <p:spPr>
          <a:xfrm>
            <a:off x="8097317" y="1523683"/>
            <a:ext cx="3527450" cy="46518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177971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我国：国家的法律监督机关</a:t>
            </a:r>
            <a:endParaRPr lang="en-US" sz="1600" dirty="0"/>
          </a:p>
        </p:txBody>
      </p:sp>
      <p:sp>
        <p:nvSpPr>
          <p:cNvPr id="15" name="Text 13"/>
          <p:cNvSpPr/>
          <p:nvPr/>
        </p:nvSpPr>
        <p:spPr>
          <a:xfrm>
            <a:off x="8463077"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宪法定位为法律监督机关，而非单纯的公诉机关。</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职能覆盖刑事、民事、行政、公益诉讼“四大检察”。</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既承担追诉职能，又对侦查、审判、执行进行监督。</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《检察官法》第五条明确规定客观公正立场，将客观义务法定化。</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05</a:t>
            </a:r>
            <a:endParaRPr lang="en-US" sz="11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检察权的属性之争</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属性决定伦理：检察权是行政权、司法权，还是独立的第四种权力？</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06</a:t>
            </a:r>
            <a:endParaRPr lang="en-US" sz="11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四种学说</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检察权属性的主要学说及其伦理后果</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行政权说</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认为检察权在组织上实行上命下从、在功能上具有主动性与目的性，本质上属于行政权。伦理后果：强调检察一体、服从领导、追求追诉效率；但难以解释检察官为何负有客观义务与监督职能。</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司法权说</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认为检察官参与刑事诉讼、作出不起诉等准裁判性决定，且负有客观义务，应属广义的司法权。伦理后果：强调检察官的独立性、中立性与职业良知；但难以解释检察一体与上命下从。</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双重属性说</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认为检察权兼具行政与司法双重属性：在组织管理上呈现行政性，在职权行使上呈现司法性。伦理后果：检察官须同时接受组织领导与坚守客观立场，二者在个案中可能冲突，这正是检察伦理的核心难题。</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独立的法律监督权说</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我国通说。认为检察权是宪法配置的、独立于行政权与审判权的法律监督权。伦理后果：检察官的首要品格是“担当”——不仅要追诉犯罪，更要监督法律统一正确实施，包括监督侦查机关与审判机关。</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07</a:t>
            </a:r>
            <a:endParaRPr lang="en-US" sz="11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方法论提示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属性之争为什么与职业伦理直接相关</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这不是一场抽象的学理争论。你对检察权属性的判断，会直接决定你在具体情境中的选择。</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如果检察权是纯粹行政权：检察官接到检察长的指令时，服从是首要义务，个人的不同意见服从组织决定。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如果检察权是司法权：检察官应当像法官一样独立判断，检察长不得干预其对个案的法律判断。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如果采双重属性说或法律监督权说：检察官须在组织领导与职业良知之间寻求平衡——这正是《检察官法》所采取的路径，我们将在第五节看到它的具体制度安排。</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请记住第5课时确立的方法论：权力属性 → 行为要求 → 伦理规范。检察权属性的复杂性，正是检察官伦理比法官伦理更为纠结的原因。</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08</a:t>
            </a:r>
            <a:endParaRPr lang="en-US" sz="11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检察官的多重角色与“四大检察”</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一个人身上同时装着几个角色，冲突就在所难免</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09</a:t>
            </a:r>
            <a:endParaRPr lang="en-US" sz="11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角色</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检察官的四重角色</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追诉者：公诉人</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代表国家提起并支持公诉，承担证明被告人有罪的举证责任。这是检察官最为人熟知的角色，也是“胜诉冲动”的来源。</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监督者：法律监督</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对侦查活动、审判活动、刑事执行进行监督；对确有错误的生效裁判提出抗诉。监督者角色要求检察官在必要时站到“自己人”的对立面——包括为被告人的利益提出抗诉。</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公益代表：公益诉讼</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在生态环境、食品药品安全、国有财产保护、国有土地使用权出让、英雄烈士权益等领域提起公益诉讼。这一角色要求检察官超越具体当事人，代表不特定多数人的利益。</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保护者：未检与救助</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未成年人检察实行专门化办理，强调教育、感化、挽救；对因案致困当事人开展司法救助。这一角色要求检察官在追诉之外承担社会修复功能。</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10</a:t>
            </a:r>
            <a:endParaRPr lang="en-US" sz="11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职能格局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“四大检察”“十大业务”的新格局</a:t>
            </a:r>
            <a:endParaRPr lang="en-US" sz="2800" dirty="0"/>
          </a:p>
        </p:txBody>
      </p:sp>
      <p:sp>
        <p:nvSpPr>
          <p:cNvPr id="4" name="Shape 2"/>
          <p:cNvSpPr/>
          <p:nvPr/>
        </p:nvSpPr>
        <p:spPr>
          <a:xfrm>
            <a:off x="566928" y="2101152"/>
            <a:ext cx="2586152" cy="2994025"/>
          </a:xfrm>
          <a:prstGeom prst="roundRect">
            <a:avLst>
              <a:gd name="adj" fmla="val 3536"/>
            </a:avLst>
          </a:prstGeom>
          <a:solidFill>
            <a:srgbClr val="13233F"/>
          </a:solidFill>
          <a:ln w="12700">
            <a:solidFill>
              <a:srgbClr val="13233F"/>
            </a:solidFill>
            <a:prstDash val="solid"/>
          </a:ln>
        </p:spPr>
      </p:sp>
      <p:sp>
        <p:nvSpPr>
          <p:cNvPr id="5" name="Text 3"/>
          <p:cNvSpPr/>
          <p:nvPr/>
        </p:nvSpPr>
        <p:spPr>
          <a:xfrm>
            <a:off x="749808" y="2430336"/>
            <a:ext cx="2220392"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刑事检察</a:t>
            </a:r>
            <a:endParaRPr lang="en-US" sz="3400" dirty="0"/>
          </a:p>
        </p:txBody>
      </p:sp>
      <p:sp>
        <p:nvSpPr>
          <p:cNvPr id="6" name="Text 4"/>
          <p:cNvSpPr/>
          <p:nvPr/>
        </p:nvSpPr>
        <p:spPr>
          <a:xfrm>
            <a:off x="886968"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传统主责主业</a:t>
            </a:r>
            <a:endParaRPr lang="en-US" sz="1600" dirty="0"/>
          </a:p>
        </p:txBody>
      </p:sp>
      <p:sp>
        <p:nvSpPr>
          <p:cNvPr id="7" name="Text 5"/>
          <p:cNvSpPr/>
          <p:nvPr/>
        </p:nvSpPr>
        <p:spPr>
          <a:xfrm>
            <a:off x="886968"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审查逮捕、审查起诉、出庭公诉、刑事诉讼监督、刑事执行检察</a:t>
            </a:r>
            <a:endParaRPr lang="en-US" sz="1300" dirty="0"/>
          </a:p>
        </p:txBody>
      </p:sp>
      <p:sp>
        <p:nvSpPr>
          <p:cNvPr id="8" name="Shape 6"/>
          <p:cNvSpPr/>
          <p:nvPr/>
        </p:nvSpPr>
        <p:spPr>
          <a:xfrm>
            <a:off x="3390824" y="2101152"/>
            <a:ext cx="2586152" cy="2994025"/>
          </a:xfrm>
          <a:prstGeom prst="roundRect">
            <a:avLst>
              <a:gd name="adj" fmla="val 3536"/>
            </a:avLst>
          </a:prstGeom>
          <a:solidFill>
            <a:srgbClr val="F6F1E8"/>
          </a:solidFill>
          <a:ln w="12700">
            <a:solidFill>
              <a:srgbClr val="F6F1E8"/>
            </a:solidFill>
            <a:prstDash val="solid"/>
          </a:ln>
        </p:spPr>
      </p:sp>
      <p:sp>
        <p:nvSpPr>
          <p:cNvPr id="9" name="Text 7"/>
          <p:cNvSpPr/>
          <p:nvPr/>
        </p:nvSpPr>
        <p:spPr>
          <a:xfrm>
            <a:off x="3573704" y="2430336"/>
            <a:ext cx="2220392"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民事检察</a:t>
            </a:r>
            <a:endParaRPr lang="en-US" sz="3400" dirty="0"/>
          </a:p>
        </p:txBody>
      </p:sp>
      <p:sp>
        <p:nvSpPr>
          <p:cNvPr id="10" name="Text 8"/>
          <p:cNvSpPr/>
          <p:nvPr/>
        </p:nvSpPr>
        <p:spPr>
          <a:xfrm>
            <a:off x="3710864"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生效裁判监督</a:t>
            </a:r>
            <a:endParaRPr lang="en-US" sz="1600" dirty="0"/>
          </a:p>
        </p:txBody>
      </p:sp>
      <p:sp>
        <p:nvSpPr>
          <p:cNvPr id="11" name="Text 9"/>
          <p:cNvSpPr/>
          <p:nvPr/>
        </p:nvSpPr>
        <p:spPr>
          <a:xfrm>
            <a:off x="3710864"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对民事生效裁判、调解书、审判程序、执行活动进行监督</a:t>
            </a:r>
            <a:endParaRPr lang="en-US" sz="1300" dirty="0"/>
          </a:p>
        </p:txBody>
      </p:sp>
      <p:sp>
        <p:nvSpPr>
          <p:cNvPr id="12" name="Shape 10"/>
          <p:cNvSpPr/>
          <p:nvPr/>
        </p:nvSpPr>
        <p:spPr>
          <a:xfrm>
            <a:off x="6214720" y="2101152"/>
            <a:ext cx="2586152" cy="2994025"/>
          </a:xfrm>
          <a:prstGeom prst="roundRect">
            <a:avLst>
              <a:gd name="adj" fmla="val 3536"/>
            </a:avLst>
          </a:prstGeom>
          <a:solidFill>
            <a:srgbClr val="ECF3F2"/>
          </a:solidFill>
          <a:ln w="12700">
            <a:solidFill>
              <a:srgbClr val="ECF3F2"/>
            </a:solidFill>
            <a:prstDash val="solid"/>
          </a:ln>
        </p:spPr>
      </p:sp>
      <p:sp>
        <p:nvSpPr>
          <p:cNvPr id="13" name="Text 11"/>
          <p:cNvSpPr/>
          <p:nvPr/>
        </p:nvSpPr>
        <p:spPr>
          <a:xfrm>
            <a:off x="6397600" y="2430336"/>
            <a:ext cx="2220392" cy="1024128"/>
          </a:xfrm>
          <a:prstGeom prst="rect">
            <a:avLst/>
          </a:prstGeom>
          <a:noFill/>
          <a:ln/>
        </p:spPr>
        <p:txBody>
          <a:bodyPr wrap="square" lIns="0" tIns="0" rIns="0" bIns="0" rtlCol="0" anchor="ctr"/>
          <a:lstStyle/>
          <a:p>
            <a:pPr algn="ctr" indent="0" marL="0">
              <a:buNone/>
            </a:pPr>
            <a:r>
              <a:rPr lang="en-US" sz="3400" b="1" dirty="0">
                <a:solidFill>
                  <a:srgbClr val="2F6E6A"/>
                </a:solidFill>
                <a:latin typeface="微软雅黑" pitchFamily="34" charset="0"/>
                <a:ea typeface="微软雅黑" pitchFamily="34" charset="-122"/>
                <a:cs typeface="微软雅黑" pitchFamily="34" charset="-120"/>
              </a:rPr>
              <a:t>行政检察</a:t>
            </a:r>
            <a:endParaRPr lang="en-US" sz="3400" dirty="0"/>
          </a:p>
        </p:txBody>
      </p:sp>
      <p:sp>
        <p:nvSpPr>
          <p:cNvPr id="14" name="Text 12"/>
          <p:cNvSpPr/>
          <p:nvPr/>
        </p:nvSpPr>
        <p:spPr>
          <a:xfrm>
            <a:off x="6534760"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监督与实质化解</a:t>
            </a:r>
            <a:endParaRPr lang="en-US" sz="1600" dirty="0"/>
          </a:p>
        </p:txBody>
      </p:sp>
      <p:sp>
        <p:nvSpPr>
          <p:cNvPr id="15" name="Text 13"/>
          <p:cNvSpPr/>
          <p:nvPr/>
        </p:nvSpPr>
        <p:spPr>
          <a:xfrm>
            <a:off x="6534760"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对行政生效裁判与行政违法行为进行监督，推动行政争议实质性化解</a:t>
            </a:r>
            <a:endParaRPr lang="en-US" sz="1300" dirty="0"/>
          </a:p>
        </p:txBody>
      </p:sp>
      <p:sp>
        <p:nvSpPr>
          <p:cNvPr id="16" name="Shape 14"/>
          <p:cNvSpPr/>
          <p:nvPr/>
        </p:nvSpPr>
        <p:spPr>
          <a:xfrm>
            <a:off x="9038615" y="2101152"/>
            <a:ext cx="2586152" cy="2994025"/>
          </a:xfrm>
          <a:prstGeom prst="roundRect">
            <a:avLst>
              <a:gd name="adj" fmla="val 3536"/>
            </a:avLst>
          </a:prstGeom>
          <a:solidFill>
            <a:srgbClr val="F8EFF0"/>
          </a:solidFill>
          <a:ln w="12700">
            <a:solidFill>
              <a:srgbClr val="F8EFF0"/>
            </a:solidFill>
            <a:prstDash val="solid"/>
          </a:ln>
        </p:spPr>
      </p:sp>
      <p:sp>
        <p:nvSpPr>
          <p:cNvPr id="17" name="Text 15"/>
          <p:cNvSpPr/>
          <p:nvPr/>
        </p:nvSpPr>
        <p:spPr>
          <a:xfrm>
            <a:off x="9221495" y="2430336"/>
            <a:ext cx="2220392" cy="1024128"/>
          </a:xfrm>
          <a:prstGeom prst="rect">
            <a:avLst/>
          </a:prstGeom>
          <a:noFill/>
          <a:ln/>
        </p:spPr>
        <p:txBody>
          <a:bodyPr wrap="square" lIns="0" tIns="0" rIns="0" bIns="0" rtlCol="0" anchor="ctr"/>
          <a:lstStyle/>
          <a:p>
            <a:pPr algn="ctr" indent="0" marL="0">
              <a:buNone/>
            </a:pPr>
            <a:r>
              <a:rPr lang="en-US" sz="3400" b="1" dirty="0">
                <a:solidFill>
                  <a:srgbClr val="8E2C3B"/>
                </a:solidFill>
                <a:latin typeface="微软雅黑" pitchFamily="34" charset="0"/>
                <a:ea typeface="微软雅黑" pitchFamily="34" charset="-122"/>
                <a:cs typeface="微软雅黑" pitchFamily="34" charset="-120"/>
              </a:rPr>
              <a:t>公益诉讼</a:t>
            </a:r>
            <a:endParaRPr lang="en-US" sz="3400" dirty="0"/>
          </a:p>
        </p:txBody>
      </p:sp>
      <p:sp>
        <p:nvSpPr>
          <p:cNvPr id="18" name="Text 16"/>
          <p:cNvSpPr/>
          <p:nvPr/>
        </p:nvSpPr>
        <p:spPr>
          <a:xfrm>
            <a:off x="9358655"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公共利益代表</a:t>
            </a:r>
            <a:endParaRPr lang="en-US" sz="1600" dirty="0"/>
          </a:p>
        </p:txBody>
      </p:sp>
      <p:sp>
        <p:nvSpPr>
          <p:cNvPr id="19" name="Text 17"/>
          <p:cNvSpPr/>
          <p:nvPr/>
        </p:nvSpPr>
        <p:spPr>
          <a:xfrm>
            <a:off x="9358655"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办理民事、行政公益诉讼案件，法定领域并有拓展趋势</a:t>
            </a:r>
            <a:endParaRPr lang="en-US" sz="1300" dirty="0"/>
          </a:p>
        </p:txBody>
      </p:sp>
      <p:sp>
        <p:nvSpPr>
          <p:cNvPr id="20" name="Text 18"/>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职能扩张带来伦理挑战：角色越多，角色之间冲突的可能性越大，对检察官判断力的要求也越高。</a:t>
            </a:r>
            <a:endParaRPr lang="en-US" sz="1150" dirty="0"/>
          </a:p>
        </p:txBody>
      </p:sp>
      <p:sp>
        <p:nvSpPr>
          <p:cNvPr id="21" name="Text 19"/>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11</a:t>
            </a:r>
            <a:endParaRPr lang="en-US" sz="11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角色冲突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当追诉者必须为被告人说话</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典型难题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检察官应否为被告人的利益提出抗诉？</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某故意伤害案，一审法院判处被告人有期徒刑五年。判决后，承办检察官在复核卷宗时发现：认定被告人系主犯的关键证据存在重大瑕疵，被告人极可能仅系从犯，量刑明显过重。</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本案系该院当年的重点案件，起诉意见由检察长审批，庭审效果获得肯定。若提出抗诉，等于自我否定；若不抗诉，被告人可能多服刑数年。被告人一方并未上诉。</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我国《刑事诉讼法》规定，人民检察院认为同级人民法院第一审的判决、裁定确有错误的时候，应当向上一级人民法院提出抗诉。请注意条文用的是“确有错误”，并未区分错误是对被告人不利还是有利。</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检察官是否应当提出抗诉？规范依据是什么？</a:t>
            </a:r>
            <a:endParaRPr lang="en-US" sz="1400" dirty="0"/>
          </a:p>
        </p:txBody>
      </p:sp>
      <p:sp>
        <p:nvSpPr>
          <p:cNvPr id="14" name="Shape 12"/>
          <p:cNvSpPr/>
          <p:nvPr/>
        </p:nvSpPr>
        <p:spPr>
          <a:xfrm>
            <a:off x="7958023" y="322313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22313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694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若不抗诉，违反了哪一项义务？</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“自我否定”的组织压力应当如何面对？</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这一情形体现了哪两个角色之间的冲突？</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12</a:t>
            </a:r>
            <a:endParaRPr lang="en-US" sz="11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检察一体化与检察官的相对独立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与法官不同，检察官的独立性是“相对”的——但相对到什么程度？</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13</a:t>
            </a:r>
            <a:endParaRPr lang="en-US" sz="11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两个原则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检察一体化 vs 检察官相对独立</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检察一体化原则</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含义：全国检察机关是一个整体，上级检察院领导下级检察院，检察长领导本院工作。</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制度表现：职务承继（检察长可将下属承办的案件收归自办）、职务转移（可将案件交由其他检察官办理）、上级指令权。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理据：法律监督须全国统一；追诉标准须避免因人而异；重大案件须集中力量。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这是检察制度区别于审判制度的根本特征。</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检察官的相对独立</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含义：检察官在职权范围内对所办案件依法作出决定，并承担相应责任。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制度表现：检察官办案责任制、权力清单、检察官联席会议、司法责任认定。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理据：客观公正义务须由具体的人来履行；无独立判断则无责任可言。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《检察官法》第五条的客观公正立场，正是相对独立的规范支点。</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14</a:t>
            </a:r>
            <a:endParaRPr lang="en-US" sz="11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冲突的处理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当检察长的指令与检察官的判断不一致时</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第一，要求以书面形式提出</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口头指令无痕，书面指令使指令者共同承担责任。这与法官面对不当指令时的处理逻辑完全一致：把私下的、无痕的压力，转移到公开的、有记录的程序中去。</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第二，充分陈述意见并记录在案</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检察官有权保留意见，并要求将其意见记入案卷。这既是职业操守的体现，也是日后责任认定的依据——《检察官法》同样规定，依法定程序集体讨论决定而个人已提出正确意见的，不承担责任。</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第三，通过法定程序寻求救济</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提请检察官联席会议讨论、提请检察委员会讨论；对明显违法的指令，有权也有义务拒绝执行并按规定报告。服从违法指令不构成免责事由。</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第四，底线：客观公正义务不可让渡</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一体化解决的是“由谁决定”的问题，不能解决“依据什么决定”的问题。任何层级的指令都不能要求检察官隐瞒证据、伪造材料或作出违背事实的判断——这是不可逾越的伦理底线。</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15</a:t>
            </a:r>
            <a:endParaRPr lang="en-US" sz="11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检察官职业伦理的规范体系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《检察官法》—《检察官职业道德基本准则》—《检察人员纪律处分条例》</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16</a:t>
            </a:r>
            <a:endParaRPr lang="en-US" sz="11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《检察官法》第五条：客观公正立场的法定化</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《中华人民共和国检察官法》第五条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检察官应当以事实为根据，以法律为准绳，秉持客观公正的立场。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检察官办理刑事案件，应当严格坚持罪刑法定原则，尊重和保障人权，既要追诉犯罪，也要保障无罪的人不受刑事追究。</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是我国法上客观公正义务最直接、最集中的表达，也是2019年修订《检察官法》的重要成果。请注意第二款的两个“要”：既要追诉犯罪（追诉职能），也要保障无罪的人不受刑事追究（保障职能）。这两项并列而非主次，正是检察官双重身份的规范表达。第10课时我们将围绕这一条展开整堂课。</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17</a:t>
            </a:r>
            <a:endParaRPr lang="en-US" sz="11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职业道德</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《检察官职业道德基本准则》：五条五个关键词</a:t>
            </a:r>
            <a:endParaRPr lang="en-US" sz="2800" dirty="0"/>
          </a:p>
        </p:txBody>
      </p:sp>
      <p:sp>
        <p:nvSpPr>
          <p:cNvPr id="4" name="Shape 2"/>
          <p:cNvSpPr/>
          <p:nvPr/>
        </p:nvSpPr>
        <p:spPr>
          <a:xfrm>
            <a:off x="566928" y="1668590"/>
            <a:ext cx="11057839" cy="2747391"/>
          </a:xfrm>
          <a:prstGeom prst="roundRect">
            <a:avLst>
              <a:gd name="adj" fmla="val 3328"/>
            </a:avLst>
          </a:prstGeom>
          <a:solidFill>
            <a:srgbClr val="F6F1E8"/>
          </a:solidFill>
          <a:ln w="12700">
            <a:solidFill>
              <a:srgbClr val="F6F1E8"/>
            </a:solidFill>
            <a:prstDash val="solid"/>
          </a:ln>
        </p:spPr>
      </p:sp>
      <p:sp>
        <p:nvSpPr>
          <p:cNvPr id="5" name="Shape 3"/>
          <p:cNvSpPr/>
          <p:nvPr/>
        </p:nvSpPr>
        <p:spPr>
          <a:xfrm>
            <a:off x="877824" y="190633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90633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8804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最高人民检察院《中华人民共和国检察官职业道德基本准则》（2016年12月修订印发）</a:t>
            </a:r>
            <a:endParaRPr lang="en-US" sz="1500" dirty="0"/>
          </a:p>
        </p:txBody>
      </p:sp>
      <p:sp>
        <p:nvSpPr>
          <p:cNvPr id="8" name="Text 6"/>
          <p:cNvSpPr/>
          <p:nvPr/>
        </p:nvSpPr>
        <p:spPr>
          <a:xfrm>
            <a:off x="960120" y="2308670"/>
            <a:ext cx="10271455" cy="18878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第一条　坚持忠诚品格，永葆政治本色。</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第二条　坚持为民宗旨，保障人民权益。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第三条　坚持担当精神，强化法律监督。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第四条　坚持公正理念，维护法制统一。</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第五条　坚持廉洁操守，自觉接受监督。</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2016年修订版不分章节，仅五条，凝练地点出忠诚、为民、担当、公正、廉洁五项基本要求。相较2009年试行版的“忠诚、公正、清廉、文明”，新增“为民”与“担当”、删去“文明”。“担当”直接对应“强化法律监督”——它要求检察官敢于监督、善于监督，包括监督同为司法机关的法院与侦查机关。</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18</a:t>
            </a:r>
            <a:endParaRPr lang="en-US" sz="11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检察官伦理规范的三个层次</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法律层：《检察官法》</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条客观公正立场；第十条检察官义务（严格遵守宪法法律、秉公办案不得徇私枉法、依法保障诉讼参与人权利、维护国家利益与社会公共利益、保守秘密、接受监督）；第二十一条至第二十四条兼职禁止与任职回避；第四十七条处分事由；第四十九条至第五十二条惩戒委员会与程序。</a:t>
            </a:r>
            <a:endParaRPr lang="en-US" sz="1500" dirty="0"/>
          </a:p>
        </p:txBody>
      </p:sp>
      <p:sp>
        <p:nvSpPr>
          <p:cNvPr id="9" name="Shape 6"/>
          <p:cNvSpPr/>
          <p:nvPr/>
        </p:nvSpPr>
        <p:spPr>
          <a:xfrm>
            <a:off x="566928" y="3146171"/>
            <a:ext cx="11057839" cy="1406906"/>
          </a:xfrm>
          <a:prstGeom prst="roundRect">
            <a:avLst>
              <a:gd name="adj" fmla="val 519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职业道德层：《检察官职业道德基本准则》</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2016年修订，五条准则，发挥价值引领与理念统摄功能。因其高度概括，一般不直接作为处分依据，须与具体规范结合适用。</a:t>
            </a:r>
            <a:endParaRPr lang="en-US" sz="1500" dirty="0"/>
          </a:p>
        </p:txBody>
      </p:sp>
      <p:sp>
        <p:nvSpPr>
          <p:cNvPr id="14" name="Shape 10"/>
          <p:cNvSpPr/>
          <p:nvPr/>
        </p:nvSpPr>
        <p:spPr>
          <a:xfrm>
            <a:off x="566928" y="4699381"/>
            <a:ext cx="11057839" cy="1683131"/>
          </a:xfrm>
          <a:prstGeom prst="roundRect">
            <a:avLst>
              <a:gd name="adj" fmla="val 4346"/>
            </a:avLst>
          </a:prstGeom>
          <a:solidFill>
            <a:srgbClr val="F2F4F8"/>
          </a:solidFill>
          <a:ln w="12700">
            <a:solidFill>
              <a:srgbClr val="F2F4F8"/>
            </a:solidFill>
            <a:prstDash val="solid"/>
          </a:ln>
        </p:spPr>
      </p:sp>
      <p:sp>
        <p:nvSpPr>
          <p:cNvPr id="15" name="Shape 11"/>
          <p:cNvSpPr/>
          <p:nvPr/>
        </p:nvSpPr>
        <p:spPr>
          <a:xfrm>
            <a:off x="841248" y="528491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38534"/>
            <a:ext cx="204826" cy="204826"/>
          </a:xfrm>
          <a:prstGeom prst="rect">
            <a:avLst/>
          </a:prstGeom>
        </p:spPr>
      </p:pic>
      <p:sp>
        <p:nvSpPr>
          <p:cNvPr id="17" name="Text 12"/>
          <p:cNvSpPr/>
          <p:nvPr/>
        </p:nvSpPr>
        <p:spPr>
          <a:xfrm>
            <a:off x="1536192" y="4955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纪律与程序层</a:t>
            </a:r>
            <a:endParaRPr lang="en-US" sz="1650" dirty="0"/>
          </a:p>
        </p:txBody>
      </p:sp>
      <p:sp>
        <p:nvSpPr>
          <p:cNvPr id="18" name="Text 13"/>
          <p:cNvSpPr/>
          <p:nvPr/>
        </p:nvSpPr>
        <p:spPr>
          <a:xfrm>
            <a:off x="1536192" y="529729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检察人员纪律处分条例》规定具体违纪行为与处分种类；《人民检察院刑事诉讼规则》规定办案中的具体行为规范，包括全面客观收集审查证据、非法证据排除、讯问同步录音录像等；另有关于检察人员与律师交往、防止干预司法等专门规定。</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19</a:t>
            </a:r>
            <a:endParaRPr lang="en-US" sz="11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我国宪法将检察机关定位为“法律监督机关”。有观点认为，让追诉方同时担任监督者，等于“运动员兼裁判员”。你如何回应这一批评？客观公正义务能否化解这一质疑？</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检察一体化要求上命下从，客观公正义务要求独立判断。假设检察长指示对某案作不起诉处理，而承办检察官认为应当起诉，检察官应当如何处理？请给出完整的操作方案。</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检察公益诉讼使检察官成为“公共利益的代表”。在公益诉讼中，检察官与被告（往往是行政机关或企业）的关系，与刑事诉讼中的控辩关系有何不同？其伦理要求是否应当有别？</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《检察官职业道德基本准则》将“担当”列为一项独立要求，指向“强化法律监督”。在实践中，监督同级法院、监督公安机关往往面临现实阻力。“担当”这一伦理要求能否转化为可操作的行为标准？</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20</a:t>
            </a:r>
            <a:endParaRPr lang="en-US" sz="11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第9课时要点回顾</a:t>
            </a:r>
            <a:endParaRPr lang="en-US" sz="3000" dirty="0"/>
          </a:p>
        </p:txBody>
      </p:sp>
      <p:sp>
        <p:nvSpPr>
          <p:cNvPr id="4" name="Shape 2"/>
          <p:cNvSpPr/>
          <p:nvPr/>
        </p:nvSpPr>
        <p:spPr>
          <a:xfrm>
            <a:off x="566928" y="1591056"/>
            <a:ext cx="11057839" cy="848563"/>
          </a:xfrm>
          <a:prstGeom prst="roundRect">
            <a:avLst>
              <a:gd name="adj" fmla="val 8621"/>
            </a:avLst>
          </a:prstGeom>
          <a:solidFill>
            <a:srgbClr val="25395F"/>
          </a:solidFill>
          <a:ln w="12700">
            <a:solidFill>
              <a:srgbClr val="25395F"/>
            </a:solidFill>
            <a:prstDash val="solid"/>
          </a:ln>
        </p:spPr>
      </p:sp>
      <p:sp>
        <p:nvSpPr>
          <p:cNvPr id="5" name="Shape 3"/>
          <p:cNvSpPr/>
          <p:nvPr/>
        </p:nvSpPr>
        <p:spPr>
          <a:xfrm>
            <a:off x="859536" y="1814170"/>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34870"/>
            <a:ext cx="160934" cy="160934"/>
          </a:xfrm>
          <a:prstGeom prst="rect">
            <a:avLst/>
          </a:prstGeom>
        </p:spPr>
      </p:pic>
      <p:sp>
        <p:nvSpPr>
          <p:cNvPr id="7" name="Text 4"/>
          <p:cNvSpPr/>
          <p:nvPr/>
        </p:nvSpPr>
        <p:spPr>
          <a:xfrm>
            <a:off x="1444752" y="1729588"/>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我国宪法第一百三十四条将人民检察院定位为国家的法律监督机关，第一百三十六条规定其依法独立行使检察权。这一定位区别于英美法系的政府公诉人与大陆法系的法律守护人。</a:t>
            </a:r>
            <a:endParaRPr lang="en-US" sz="1500" dirty="0"/>
          </a:p>
        </p:txBody>
      </p:sp>
      <p:sp>
        <p:nvSpPr>
          <p:cNvPr id="8" name="Shape 5"/>
          <p:cNvSpPr/>
          <p:nvPr/>
        </p:nvSpPr>
        <p:spPr>
          <a:xfrm>
            <a:off x="566928" y="2576779"/>
            <a:ext cx="11057839" cy="848563"/>
          </a:xfrm>
          <a:prstGeom prst="roundRect">
            <a:avLst>
              <a:gd name="adj" fmla="val 8621"/>
            </a:avLst>
          </a:prstGeom>
          <a:solidFill>
            <a:srgbClr val="25395F"/>
          </a:solidFill>
          <a:ln w="12700">
            <a:solidFill>
              <a:srgbClr val="25395F"/>
            </a:solidFill>
            <a:prstDash val="solid"/>
          </a:ln>
        </p:spPr>
      </p:sp>
      <p:sp>
        <p:nvSpPr>
          <p:cNvPr id="9" name="Shape 6"/>
          <p:cNvSpPr/>
          <p:nvPr/>
        </p:nvSpPr>
        <p:spPr>
          <a:xfrm>
            <a:off x="859536" y="2799893"/>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920594"/>
            <a:ext cx="160934" cy="160934"/>
          </a:xfrm>
          <a:prstGeom prst="rect">
            <a:avLst/>
          </a:prstGeom>
        </p:spPr>
      </p:pic>
      <p:sp>
        <p:nvSpPr>
          <p:cNvPr id="11" name="Text 7"/>
          <p:cNvSpPr/>
          <p:nvPr/>
        </p:nvSpPr>
        <p:spPr>
          <a:xfrm>
            <a:off x="1444752" y="2715311"/>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检察权属性有行政权说、司法权说、双重属性说、独立的法律监督权说四种。属性判断直接决定检察官在组织指令与职业良知之间的取舍，这是检察伦理比法官伦理更纠结的原因。</a:t>
            </a:r>
            <a:endParaRPr lang="en-US" sz="1500" dirty="0"/>
          </a:p>
        </p:txBody>
      </p:sp>
      <p:sp>
        <p:nvSpPr>
          <p:cNvPr id="12" name="Shape 8"/>
          <p:cNvSpPr/>
          <p:nvPr/>
        </p:nvSpPr>
        <p:spPr>
          <a:xfrm>
            <a:off x="566928" y="3562502"/>
            <a:ext cx="11057839" cy="848563"/>
          </a:xfrm>
          <a:prstGeom prst="roundRect">
            <a:avLst>
              <a:gd name="adj" fmla="val 8621"/>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701034"/>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检察官具有追诉者、监督者、公益代表、保护者四重角色，对应刑事、民事、行政、公益诉讼“四大检察”。角色越多，冲突可能性越大。</a:t>
            </a:r>
            <a:endParaRPr lang="en-US" sz="1500" dirty="0"/>
          </a:p>
        </p:txBody>
      </p:sp>
      <p:sp>
        <p:nvSpPr>
          <p:cNvPr id="16" name="Shape 11"/>
          <p:cNvSpPr/>
          <p:nvPr/>
        </p:nvSpPr>
        <p:spPr>
          <a:xfrm>
            <a:off x="566928" y="4548226"/>
            <a:ext cx="11057839" cy="848563"/>
          </a:xfrm>
          <a:prstGeom prst="roundRect">
            <a:avLst>
              <a:gd name="adj" fmla="val 8621"/>
            </a:avLst>
          </a:prstGeom>
          <a:solidFill>
            <a:srgbClr val="25395F"/>
          </a:solidFill>
          <a:ln w="12700">
            <a:solidFill>
              <a:srgbClr val="25395F"/>
            </a:solidFill>
            <a:prstDash val="solid"/>
          </a:ln>
        </p:spPr>
      </p:sp>
      <p:sp>
        <p:nvSpPr>
          <p:cNvPr id="17" name="Shape 12"/>
          <p:cNvSpPr/>
          <p:nvPr/>
        </p:nvSpPr>
        <p:spPr>
          <a:xfrm>
            <a:off x="859536" y="4771339"/>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892040"/>
            <a:ext cx="160934" cy="160934"/>
          </a:xfrm>
          <a:prstGeom prst="rect">
            <a:avLst/>
          </a:prstGeom>
        </p:spPr>
      </p:pic>
      <p:sp>
        <p:nvSpPr>
          <p:cNvPr id="19" name="Text 13"/>
          <p:cNvSpPr/>
          <p:nvPr/>
        </p:nvSpPr>
        <p:spPr>
          <a:xfrm>
            <a:off x="1444752" y="4686757"/>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检察一体化（职务承继、职务转移、上级指令权）与检察官相对独立（办案责任制、权力清单）并存。冲突处理四步：要求书面、陈述并记录、程序内救济、坚守客观义务底线。</a:t>
            </a:r>
            <a:endParaRPr lang="en-US" sz="1500" dirty="0"/>
          </a:p>
        </p:txBody>
      </p:sp>
      <p:sp>
        <p:nvSpPr>
          <p:cNvPr id="20" name="Shape 14"/>
          <p:cNvSpPr/>
          <p:nvPr/>
        </p:nvSpPr>
        <p:spPr>
          <a:xfrm>
            <a:off x="566928" y="5533949"/>
            <a:ext cx="11057839" cy="848563"/>
          </a:xfrm>
          <a:prstGeom prst="roundRect">
            <a:avLst>
              <a:gd name="adj" fmla="val 8621"/>
            </a:avLst>
          </a:prstGeom>
          <a:solidFill>
            <a:srgbClr val="25395F"/>
          </a:solidFill>
          <a:ln w="12700">
            <a:solidFill>
              <a:srgbClr val="25395F"/>
            </a:solidFill>
            <a:prstDash val="solid"/>
          </a:ln>
        </p:spPr>
      </p:sp>
      <p:sp>
        <p:nvSpPr>
          <p:cNvPr id="21" name="Shape 15"/>
          <p:cNvSpPr/>
          <p:nvPr/>
        </p:nvSpPr>
        <p:spPr>
          <a:xfrm>
            <a:off x="859536" y="5757062"/>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877763"/>
            <a:ext cx="160934" cy="160934"/>
          </a:xfrm>
          <a:prstGeom prst="rect">
            <a:avLst/>
          </a:prstGeom>
        </p:spPr>
      </p:pic>
      <p:sp>
        <p:nvSpPr>
          <p:cNvPr id="23" name="Text 16"/>
          <p:cNvSpPr/>
          <p:nvPr/>
        </p:nvSpPr>
        <p:spPr>
          <a:xfrm>
            <a:off x="1444752" y="5672480"/>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规范体系分三层：《检察官法》（第五条客观公正立场、第十条义务、第四十七条处分事由、第四十九条惩戒委员会）、《检察官职业道德基本准则》五条、《检察人员纪律处分条例》与《人民检察院刑事诉讼规则》。</a:t>
            </a:r>
            <a:endParaRPr lang="en-US" sz="15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第10课时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检察官的客观公正义务</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检察官的利益不在于赢得案件，而在于实现正义——这句话如何落为可操作的规范？</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客观义务的德国渊源与“最客观的官署”</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客观义务的八项具体内容</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考核、惯性与偏误：客观义务面临的现实挑战</a:t>
            </a:r>
            <a:endParaRPr lang="en-US" sz="14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客观公正义务的完整展开</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一、客观义务的概念与域外渊源</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二、我国法上的规范依据</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三、客观义务的八项具体内容</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四、布雷迪规则与证据开示的比较</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五、客观义务面临的现实挑战</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六、冤错案件的镜鉴与本课小结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02</a:t>
            </a:r>
            <a:endParaRPr lang="en-US" sz="11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客观义务的概念与域外渊源</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为什么全世界都要求追诉者同时保护被追诉者？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03</a:t>
            </a:r>
            <a:endParaRPr lang="en-US" sz="11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检察官不是某一场争讼中一方当事人的代理人，而是主权者的代表……其利益不在于赢得案件，而在于实现正义。</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美国联邦最高法院</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Berger v. United States (1935) —— 英美法上关于检察官角色最经典的表述</a:t>
            </a:r>
            <a:endParaRPr lang="en-US" sz="13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渊源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客观义务的三个来源</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德国：检察制度的设计初衷</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19世纪德国设立检察官制度，本意之一是以检察官制约警察与法官，防止纠问式诉讼下的恣意。检察官因此被期待为“世界上最客观的官署”（die objektivste Behörde der Welt）。《德国刑事诉讼法》第一百六十条第二款明确规定：检察机关不仅有义务查明不利于被告人的情况，也有义务查明有利于被告人的情况。</a:t>
            </a:r>
            <a:endParaRPr lang="en-US" sz="1500" dirty="0"/>
          </a:p>
        </p:txBody>
      </p:sp>
      <p:sp>
        <p:nvSpPr>
          <p:cNvPr id="9" name="Shape 6"/>
          <p:cNvSpPr/>
          <p:nvPr/>
        </p:nvSpPr>
        <p:spPr>
          <a:xfrm>
            <a:off x="566928" y="3146171"/>
            <a:ext cx="11057839" cy="1683131"/>
          </a:xfrm>
          <a:prstGeom prst="roundRect">
            <a:avLst>
              <a:gd name="adj" fmla="val 4346"/>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英美：判例与职业规则</a:t>
            </a:r>
            <a:endParaRPr lang="en-US" sz="1650" dirty="0"/>
          </a:p>
        </p:txBody>
      </p:sp>
      <p:sp>
        <p:nvSpPr>
          <p:cNvPr id="13" name="Text 9"/>
          <p:cNvSpPr/>
          <p:nvPr/>
        </p:nvSpPr>
        <p:spPr>
          <a:xfrm>
            <a:off x="1536192" y="374408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Berger v. United States (1935) 确立检察官“主权者代表”的角色定位；Brady v. Maryland (1963) 确立控方不得压制对被告人有利且具实质意义的证据。ABA《律师职业行为示范规则》第3.8条专门规定检察官的特别责任，包括不得追诉缺乏合理根据的指控、及时披露有利于被告人的证据。</a:t>
            </a:r>
            <a:endParaRPr lang="en-US" sz="1500" dirty="0"/>
          </a:p>
        </p:txBody>
      </p:sp>
      <p:sp>
        <p:nvSpPr>
          <p:cNvPr id="14" name="Shape 10"/>
          <p:cNvSpPr/>
          <p:nvPr/>
        </p:nvSpPr>
        <p:spPr>
          <a:xfrm>
            <a:off x="566928" y="4975606"/>
            <a:ext cx="11057839" cy="1406906"/>
          </a:xfrm>
          <a:prstGeom prst="roundRect">
            <a:avLst>
              <a:gd name="adj" fmla="val 5199"/>
            </a:avLst>
          </a:prstGeom>
          <a:solidFill>
            <a:srgbClr val="F2F4F8"/>
          </a:solidFill>
          <a:ln w="12700">
            <a:solidFill>
              <a:srgbClr val="F2F4F8"/>
            </a:solidFill>
            <a:prstDash val="solid"/>
          </a:ln>
        </p:spPr>
      </p:sp>
      <p:sp>
        <p:nvSpPr>
          <p:cNvPr id="15" name="Shape 11"/>
          <p:cNvSpPr/>
          <p:nvPr/>
        </p:nvSpPr>
        <p:spPr>
          <a:xfrm>
            <a:off x="841248" y="542302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76646"/>
            <a:ext cx="204826" cy="204826"/>
          </a:xfrm>
          <a:prstGeom prst="rect">
            <a:avLst/>
          </a:prstGeom>
        </p:spPr>
      </p:pic>
      <p:sp>
        <p:nvSpPr>
          <p:cNvPr id="17" name="Text 12"/>
          <p:cNvSpPr/>
          <p:nvPr/>
        </p:nvSpPr>
        <p:spPr>
          <a:xfrm>
            <a:off x="1536192" y="523214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我国：法定化的客观公正立场</a:t>
            </a:r>
            <a:endParaRPr lang="en-US" sz="1650" dirty="0"/>
          </a:p>
        </p:txBody>
      </p:sp>
      <p:sp>
        <p:nvSpPr>
          <p:cNvPr id="18" name="Text 13"/>
          <p:cNvSpPr/>
          <p:nvPr/>
        </p:nvSpPr>
        <p:spPr>
          <a:xfrm>
            <a:off x="1536192" y="5573522"/>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2019年修订《检察官法》第五条将客观公正立场直接写入检察官基本法；结合宪法上“法律监督机关”的定位，我国检察官的客观义务在规范强度上并不弱于大陆法系国家，且适用范围超出刑事领域。</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05</a:t>
            </a:r>
            <a:endParaRPr lang="en-US" sz="11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法理基础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客观义务为什么正当</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有人质疑：让控方为被告人着想，是否违反对抗制的基本逻辑？回答是——检察官从来不是普通的一方当事人。</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第一，权力不对等。检察官掌握侦查资源、强制措施与国家机器，被追诉人往往身陷囹圄、举证能力薄弱。武器不平等的诉讼结构，必须由控方的自我克制来平衡。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第二，目的不相同。私人当事人的目的是胜诉，国家追诉的目的是实现刑罚权的正确行使。错误定罪不是“赢”，而是国家职能的失败——真凶逍遥法外，无辜者身陷牢狱，双重失败。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第三，信息不对称。控方掌握全部侦查卷宗，辩方所见有限。若允许控方选择性出示，对抗制赖以运转的信息基础即告瓦解。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第四，公信力所系。刑事司法的正当性建立在“不冤枉一个好人”之上。一次错案对制度信任的损害，远大于数十次成功追诉所积累的信任。</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因此，客观义务不是对对抗制的背离，而恰恰是使对抗制得以正当运转的前提条件。</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06</a:t>
            </a:r>
            <a:endParaRPr lang="en-US" sz="11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我国法上的规范依据</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从宪法定位到诉讼法条文，再到检察工作规则</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07</a:t>
            </a:r>
            <a:endParaRPr lang="en-US" sz="11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三个层次的规范依据</a:t>
            </a:r>
            <a:endParaRPr lang="en-US" sz="2800" dirty="0"/>
          </a:p>
        </p:txBody>
      </p:sp>
      <p:sp>
        <p:nvSpPr>
          <p:cNvPr id="4" name="Shape 2"/>
          <p:cNvSpPr/>
          <p:nvPr/>
        </p:nvSpPr>
        <p:spPr>
          <a:xfrm>
            <a:off x="566928" y="1316736"/>
            <a:ext cx="11057839" cy="1500759"/>
          </a:xfrm>
          <a:prstGeom prst="roundRect">
            <a:avLst>
              <a:gd name="adj" fmla="val 6093"/>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《检察官法》第五条</a:t>
            </a:r>
            <a:endParaRPr lang="en-US" sz="1500" dirty="0"/>
          </a:p>
        </p:txBody>
      </p:sp>
      <p:sp>
        <p:nvSpPr>
          <p:cNvPr id="8" name="Text 6"/>
          <p:cNvSpPr/>
          <p:nvPr/>
        </p:nvSpPr>
        <p:spPr>
          <a:xfrm>
            <a:off x="960120" y="1956816"/>
            <a:ext cx="10271455" cy="6412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检察官应当以事实为根据，以法律为准绳，秉持客观公正的立场。</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检察官办理刑事案件，应当严格坚持罪刑法定原则，尊重和保障人权，既要追诉犯罪，也要保障无罪的人不受刑事追究。</a:t>
            </a:r>
            <a:endParaRPr lang="en-US" sz="1400" dirty="0"/>
          </a:p>
        </p:txBody>
      </p:sp>
      <p:sp>
        <p:nvSpPr>
          <p:cNvPr id="9" name="Shape 7"/>
          <p:cNvSpPr/>
          <p:nvPr/>
        </p:nvSpPr>
        <p:spPr>
          <a:xfrm>
            <a:off x="566928" y="3000375"/>
            <a:ext cx="11057839" cy="1767459"/>
          </a:xfrm>
          <a:prstGeom prst="roundRect">
            <a:avLst>
              <a:gd name="adj" fmla="val 5174"/>
            </a:avLst>
          </a:prstGeom>
          <a:solidFill>
            <a:srgbClr val="F6F1E8"/>
          </a:solidFill>
          <a:ln w="12700">
            <a:solidFill>
              <a:srgbClr val="F6F1E8"/>
            </a:solidFill>
            <a:prstDash val="solid"/>
          </a:ln>
        </p:spPr>
      </p:sp>
      <p:sp>
        <p:nvSpPr>
          <p:cNvPr id="10" name="Shape 8"/>
          <p:cNvSpPr/>
          <p:nvPr/>
        </p:nvSpPr>
        <p:spPr>
          <a:xfrm>
            <a:off x="877824" y="32381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381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2198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《刑事诉讼法》第五十二条</a:t>
            </a:r>
            <a:endParaRPr lang="en-US" sz="1500" dirty="0"/>
          </a:p>
        </p:txBody>
      </p:sp>
      <p:sp>
        <p:nvSpPr>
          <p:cNvPr id="13" name="Text 11"/>
          <p:cNvSpPr/>
          <p:nvPr/>
        </p:nvSpPr>
        <p:spPr>
          <a:xfrm>
            <a:off x="960120" y="3640455"/>
            <a:ext cx="10271455" cy="9079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审判人员、检察人员、侦查人员必须依照法定程序，收集能够证实犯罪嫌疑人、被告人有罪或者无罪、犯罪情节轻重的各种证据。严禁刑讯逼供和以威胁、引诱、欺骗以及其他非法方法收集证据，不得强迫任何人证实自己有罪。必须保证一切与案件有关或者了解案情的公民，有客观地充分地提供证据的条件，除特殊情况外，可以吸收他们协助调查。</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刑事诉讼法》第五十二条的三层结构：第一句是全面取证义务（有罪无罪、罪重罪轻并列）；第二句是取证方法的禁止性规定与不得强迫自证其罪；第三句是保障证据来源的义务。这一条同时约束审判人员、检察人员、侦查人员，是我国客观义务在诉讼法上的总条款。</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08</a:t>
            </a:r>
            <a:endParaRPr lang="en-US" sz="11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工作规则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《人民检察院刑事诉讼规则》中的具体化</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《检察官法》与《刑事诉讼法》确立原则，《人民检察院刑事诉讼规则》将其落为可操作的办案要求。主要包括：</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人民检察院办理刑事案件，应当全面、客观地审查证据，重证据、重调查研究，不轻信口供。</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审查逮捕、审查起诉时，应当同时审查有罪、无罪、罪重、罪轻的证据，审查是否存在非法取证情形。</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发现侦查活动存在违法情形的，应当依法提出纠正意见；发现以非法方法收集证据的，应当依法排除并可以要求侦查机关另行指派侦查人员重新调查取证。</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讯问犯罪嫌疑人应当听取其辩解；应当听取辩护人的意见，辩护人提出书面意见的应当附卷。</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经审查认为不符合起诉条件的，应当依法作出不起诉决定；不得为规避考核指标而勉强起诉或者久拖不决。</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09</a:t>
            </a:r>
            <a:endParaRPr lang="en-US" sz="11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客观义务的八项具体内容</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把一句原则，拆成八件可以检验的具体事情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10</a:t>
            </a:r>
            <a:endParaRPr lang="en-US" sz="110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内容拆解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客观义务的八项要求</a:t>
            </a:r>
            <a:endParaRPr lang="en-US" sz="2800" dirty="0"/>
          </a:p>
        </p:txBody>
      </p:sp>
      <p:sp>
        <p:nvSpPr>
          <p:cNvPr id="4" name="Shape 2"/>
          <p:cNvSpPr/>
          <p:nvPr/>
        </p:nvSpPr>
        <p:spPr>
          <a:xfrm>
            <a:off x="566928" y="1483170"/>
            <a:ext cx="5382616" cy="981329"/>
          </a:xfrm>
          <a:prstGeom prst="roundRect">
            <a:avLst>
              <a:gd name="adj" fmla="val 7454"/>
            </a:avLst>
          </a:prstGeom>
          <a:solidFill>
            <a:srgbClr val="F2F4F8"/>
          </a:solidFill>
          <a:ln w="12700">
            <a:solidFill>
              <a:srgbClr val="F2F4F8"/>
            </a:solidFill>
            <a:prstDash val="solid"/>
          </a:ln>
        </p:spPr>
      </p:sp>
      <p:sp>
        <p:nvSpPr>
          <p:cNvPr id="5" name="Shape 3"/>
          <p:cNvSpPr/>
          <p:nvPr/>
        </p:nvSpPr>
        <p:spPr>
          <a:xfrm>
            <a:off x="822960" y="17452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17452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620330"/>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一、全面收集与审查证据</a:t>
            </a:r>
            <a:endParaRPr lang="en-US" sz="1350" dirty="0"/>
          </a:p>
        </p:txBody>
      </p:sp>
      <p:sp>
        <p:nvSpPr>
          <p:cNvPr id="8" name="Text 6"/>
          <p:cNvSpPr/>
          <p:nvPr/>
        </p:nvSpPr>
        <p:spPr>
          <a:xfrm>
            <a:off x="1444752" y="1903794"/>
            <a:ext cx="4340200"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既要收集有罪、罪重的证据，也要收集无罪、罪轻的证据；对侦查机关移送的证据材料须实质审查，不得照单全收。</a:t>
            </a:r>
            <a:endParaRPr lang="en-US" sz="1150" dirty="0"/>
          </a:p>
        </p:txBody>
      </p:sp>
      <p:sp>
        <p:nvSpPr>
          <p:cNvPr id="9" name="Shape 7"/>
          <p:cNvSpPr/>
          <p:nvPr/>
        </p:nvSpPr>
        <p:spPr>
          <a:xfrm>
            <a:off x="566928" y="2592515"/>
            <a:ext cx="5382616" cy="1193102"/>
          </a:xfrm>
          <a:prstGeom prst="roundRect">
            <a:avLst>
              <a:gd name="adj" fmla="val 6131"/>
            </a:avLst>
          </a:prstGeom>
          <a:solidFill>
            <a:srgbClr val="FFFFFF"/>
          </a:solidFill>
          <a:ln w="12700">
            <a:solidFill>
              <a:srgbClr val="D5DBE5"/>
            </a:solidFill>
            <a:prstDash val="solid"/>
          </a:ln>
        </p:spPr>
      </p:sp>
      <p:sp>
        <p:nvSpPr>
          <p:cNvPr id="10" name="Shape 8"/>
          <p:cNvSpPr/>
          <p:nvPr/>
        </p:nvSpPr>
        <p:spPr>
          <a:xfrm>
            <a:off x="822960" y="296046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296046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2729675"/>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二、排除非法证据</a:t>
            </a:r>
            <a:endParaRPr lang="en-US" sz="1350" dirty="0"/>
          </a:p>
        </p:txBody>
      </p:sp>
      <p:sp>
        <p:nvSpPr>
          <p:cNvPr id="13" name="Text 11"/>
          <p:cNvSpPr/>
          <p:nvPr/>
        </p:nvSpPr>
        <p:spPr>
          <a:xfrm>
            <a:off x="1444752" y="3013139"/>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发现以刑讯逼供等非法方法收集的言词证据，应当依法排除，不得作为起诉的依据；对物证书证的取得程序瑕疵，应当要求补正或作出合理解释。</a:t>
            </a:r>
            <a:endParaRPr lang="en-US" sz="1150" dirty="0"/>
          </a:p>
        </p:txBody>
      </p:sp>
      <p:sp>
        <p:nvSpPr>
          <p:cNvPr id="14" name="Shape 12"/>
          <p:cNvSpPr/>
          <p:nvPr/>
        </p:nvSpPr>
        <p:spPr>
          <a:xfrm>
            <a:off x="566928" y="3913632"/>
            <a:ext cx="5382616" cy="981329"/>
          </a:xfrm>
          <a:prstGeom prst="roundRect">
            <a:avLst>
              <a:gd name="adj" fmla="val 7454"/>
            </a:avLst>
          </a:prstGeom>
          <a:solidFill>
            <a:srgbClr val="F2F4F8"/>
          </a:solidFill>
          <a:ln w="12700">
            <a:solidFill>
              <a:srgbClr val="F2F4F8"/>
            </a:solidFill>
            <a:prstDash val="solid"/>
          </a:ln>
        </p:spPr>
      </p:sp>
      <p:sp>
        <p:nvSpPr>
          <p:cNvPr id="15" name="Shape 13"/>
          <p:cNvSpPr/>
          <p:nvPr/>
        </p:nvSpPr>
        <p:spPr>
          <a:xfrm>
            <a:off x="822960" y="4175697"/>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17569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050792"/>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三、保障辩护权与阅卷权</a:t>
            </a:r>
            <a:endParaRPr lang="en-US" sz="1350" dirty="0"/>
          </a:p>
        </p:txBody>
      </p:sp>
      <p:sp>
        <p:nvSpPr>
          <p:cNvPr id="18" name="Text 16"/>
          <p:cNvSpPr/>
          <p:nvPr/>
        </p:nvSpPr>
        <p:spPr>
          <a:xfrm>
            <a:off x="1444752" y="4334256"/>
            <a:ext cx="4340200"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依法保障辩护律师的会见、阅卷、调查取证权；不得以任何形式拖延、变相限制阅卷；应当听取并附卷辩护人的书面意见。</a:t>
            </a:r>
            <a:endParaRPr lang="en-US" sz="1150" dirty="0"/>
          </a:p>
        </p:txBody>
      </p:sp>
      <p:sp>
        <p:nvSpPr>
          <p:cNvPr id="19" name="Shape 17"/>
          <p:cNvSpPr/>
          <p:nvPr/>
        </p:nvSpPr>
        <p:spPr>
          <a:xfrm>
            <a:off x="566928" y="5022977"/>
            <a:ext cx="5382616" cy="1193102"/>
          </a:xfrm>
          <a:prstGeom prst="roundRect">
            <a:avLst>
              <a:gd name="adj" fmla="val 6131"/>
            </a:avLst>
          </a:prstGeom>
          <a:solidFill>
            <a:srgbClr val="FFFFFF"/>
          </a:solidFill>
          <a:ln w="12700">
            <a:solidFill>
              <a:srgbClr val="D5DBE5"/>
            </a:solidFill>
            <a:prstDash val="solid"/>
          </a:ln>
        </p:spPr>
      </p:sp>
      <p:sp>
        <p:nvSpPr>
          <p:cNvPr id="20" name="Shape 18"/>
          <p:cNvSpPr/>
          <p:nvPr/>
        </p:nvSpPr>
        <p:spPr>
          <a:xfrm>
            <a:off x="822960" y="5390928"/>
            <a:ext cx="457200" cy="457200"/>
          </a:xfrm>
          <a:prstGeom prst="ellipse">
            <a:avLst/>
          </a:prstGeom>
          <a:solidFill>
            <a:srgbClr val="13233F"/>
          </a:solidFill>
          <a:ln w="12700">
            <a:solidFill>
              <a:srgbClr val="13233F"/>
            </a:solidFill>
            <a:prstDash val="solid"/>
          </a:ln>
        </p:spPr>
      </p:sp>
      <p:sp>
        <p:nvSpPr>
          <p:cNvPr id="21" name="Text 19"/>
          <p:cNvSpPr/>
          <p:nvPr/>
        </p:nvSpPr>
        <p:spPr>
          <a:xfrm>
            <a:off x="822960" y="53909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44752" y="5160137"/>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四、依法不批捕、不起诉</a:t>
            </a:r>
            <a:endParaRPr lang="en-US" sz="1350" dirty="0"/>
          </a:p>
        </p:txBody>
      </p:sp>
      <p:sp>
        <p:nvSpPr>
          <p:cNvPr id="23" name="Text 21"/>
          <p:cNvSpPr/>
          <p:nvPr/>
        </p:nvSpPr>
        <p:spPr>
          <a:xfrm>
            <a:off x="1444752" y="5443601"/>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不符合逮捕条件的坚决不批准逮捕，不符合起诉条件的依法作出不起诉决定。不起诉不是“办案失败”，而是客观义务的正常履行结果。</a:t>
            </a:r>
            <a:endParaRPr lang="en-US" sz="1150" dirty="0"/>
          </a:p>
        </p:txBody>
      </p:sp>
      <p:sp>
        <p:nvSpPr>
          <p:cNvPr id="24" name="Shape 22"/>
          <p:cNvSpPr/>
          <p:nvPr/>
        </p:nvSpPr>
        <p:spPr>
          <a:xfrm>
            <a:off x="6242152" y="1377283"/>
            <a:ext cx="5382616" cy="981329"/>
          </a:xfrm>
          <a:prstGeom prst="roundRect">
            <a:avLst>
              <a:gd name="adj" fmla="val 7454"/>
            </a:avLst>
          </a:prstGeom>
          <a:solidFill>
            <a:srgbClr val="F2F4F8"/>
          </a:solidFill>
          <a:ln w="12700">
            <a:solidFill>
              <a:srgbClr val="F2F4F8"/>
            </a:solidFill>
            <a:prstDash val="solid"/>
          </a:ln>
        </p:spPr>
      </p:sp>
      <p:sp>
        <p:nvSpPr>
          <p:cNvPr id="25" name="Shape 23"/>
          <p:cNvSpPr/>
          <p:nvPr/>
        </p:nvSpPr>
        <p:spPr>
          <a:xfrm>
            <a:off x="6498184" y="1639348"/>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163934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1514443"/>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五、量刑建议的客观性</a:t>
            </a:r>
            <a:endParaRPr lang="en-US" sz="1350" dirty="0"/>
          </a:p>
        </p:txBody>
      </p:sp>
      <p:sp>
        <p:nvSpPr>
          <p:cNvPr id="28" name="Text 26"/>
          <p:cNvSpPr/>
          <p:nvPr/>
        </p:nvSpPr>
        <p:spPr>
          <a:xfrm>
            <a:off x="7119976" y="1797907"/>
            <a:ext cx="4340200"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量刑建议应当依据法定与酌定情节提出，罪责刑相适应；不得为追求认罪率而提出畸轻建议，也不得以从重量刑建议施压迫使认罪。</a:t>
            </a:r>
            <a:endParaRPr lang="en-US" sz="1150" dirty="0"/>
          </a:p>
        </p:txBody>
      </p:sp>
      <p:sp>
        <p:nvSpPr>
          <p:cNvPr id="29" name="Shape 27"/>
          <p:cNvSpPr/>
          <p:nvPr/>
        </p:nvSpPr>
        <p:spPr>
          <a:xfrm>
            <a:off x="6242152" y="2486628"/>
            <a:ext cx="5382616" cy="1193102"/>
          </a:xfrm>
          <a:prstGeom prst="roundRect">
            <a:avLst>
              <a:gd name="adj" fmla="val 6131"/>
            </a:avLst>
          </a:prstGeom>
          <a:solidFill>
            <a:srgbClr val="FFFFFF"/>
          </a:solidFill>
          <a:ln w="12700">
            <a:solidFill>
              <a:srgbClr val="D5DBE5"/>
            </a:solidFill>
            <a:prstDash val="solid"/>
          </a:ln>
        </p:spPr>
      </p:sp>
      <p:sp>
        <p:nvSpPr>
          <p:cNvPr id="30" name="Shape 28"/>
          <p:cNvSpPr/>
          <p:nvPr/>
        </p:nvSpPr>
        <p:spPr>
          <a:xfrm>
            <a:off x="6498184" y="2854579"/>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285457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2623788"/>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六、认罪认罚中的自愿性审查</a:t>
            </a:r>
            <a:endParaRPr lang="en-US" sz="1350" dirty="0"/>
          </a:p>
        </p:txBody>
      </p:sp>
      <p:sp>
        <p:nvSpPr>
          <p:cNvPr id="33" name="Text 31"/>
          <p:cNvSpPr/>
          <p:nvPr/>
        </p:nvSpPr>
        <p:spPr>
          <a:xfrm>
            <a:off x="7119976" y="2907252"/>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必须审查认罪认罚的自愿性、明知性与合法性；确保值班律师或辩护人在场并提供有效帮助；发现非自愿或以非法方法取得认罪的，不得据以从宽。</a:t>
            </a:r>
            <a:endParaRPr lang="en-US" sz="1150" dirty="0"/>
          </a:p>
        </p:txBody>
      </p:sp>
      <p:sp>
        <p:nvSpPr>
          <p:cNvPr id="34" name="Shape 32"/>
          <p:cNvSpPr/>
          <p:nvPr/>
        </p:nvSpPr>
        <p:spPr>
          <a:xfrm>
            <a:off x="6242152" y="3807746"/>
            <a:ext cx="5382616" cy="1193102"/>
          </a:xfrm>
          <a:prstGeom prst="roundRect">
            <a:avLst>
              <a:gd name="adj" fmla="val 6131"/>
            </a:avLst>
          </a:prstGeom>
          <a:solidFill>
            <a:srgbClr val="F2F4F8"/>
          </a:solidFill>
          <a:ln w="12700">
            <a:solidFill>
              <a:srgbClr val="F2F4F8"/>
            </a:solidFill>
            <a:prstDash val="solid"/>
          </a:ln>
        </p:spPr>
      </p:sp>
      <p:sp>
        <p:nvSpPr>
          <p:cNvPr id="35" name="Shape 33"/>
          <p:cNvSpPr/>
          <p:nvPr/>
        </p:nvSpPr>
        <p:spPr>
          <a:xfrm>
            <a:off x="6498184" y="4175697"/>
            <a:ext cx="457200" cy="457200"/>
          </a:xfrm>
          <a:prstGeom prst="ellipse">
            <a:avLst/>
          </a:prstGeom>
          <a:solidFill>
            <a:srgbClr val="13233F"/>
          </a:solidFill>
          <a:ln w="12700">
            <a:solidFill>
              <a:srgbClr val="13233F"/>
            </a:solidFill>
            <a:prstDash val="solid"/>
          </a:ln>
        </p:spPr>
      </p:sp>
      <p:sp>
        <p:nvSpPr>
          <p:cNvPr id="36" name="Text 34"/>
          <p:cNvSpPr/>
          <p:nvPr/>
        </p:nvSpPr>
        <p:spPr>
          <a:xfrm>
            <a:off x="6498184" y="417569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7119976" y="3944906"/>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七、有利于被告人的抗诉与申诉处理</a:t>
            </a:r>
            <a:endParaRPr lang="en-US" sz="1350" dirty="0"/>
          </a:p>
        </p:txBody>
      </p:sp>
      <p:sp>
        <p:nvSpPr>
          <p:cNvPr id="38" name="Text 36"/>
          <p:cNvSpPr/>
          <p:nvPr/>
        </p:nvSpPr>
        <p:spPr>
          <a:xfrm>
            <a:off x="7119976" y="4228370"/>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对确有错误的裁判，无论错误是对被告人不利还是有利，均应依法提出抗诉；对当事人的申诉应当认真审查，不得因涉及本院既往办案而消极处理。</a:t>
            </a:r>
            <a:endParaRPr lang="en-US" sz="1150" dirty="0"/>
          </a:p>
        </p:txBody>
      </p:sp>
      <p:sp>
        <p:nvSpPr>
          <p:cNvPr id="39" name="Shape 37"/>
          <p:cNvSpPr/>
          <p:nvPr/>
        </p:nvSpPr>
        <p:spPr>
          <a:xfrm>
            <a:off x="6242152" y="5128863"/>
            <a:ext cx="5382616" cy="1193102"/>
          </a:xfrm>
          <a:prstGeom prst="roundRect">
            <a:avLst>
              <a:gd name="adj" fmla="val 6131"/>
            </a:avLst>
          </a:prstGeom>
          <a:solidFill>
            <a:srgbClr val="FFFFFF"/>
          </a:solidFill>
          <a:ln w="12700">
            <a:solidFill>
              <a:srgbClr val="D5DBE5"/>
            </a:solidFill>
            <a:prstDash val="solid"/>
          </a:ln>
        </p:spPr>
      </p:sp>
      <p:sp>
        <p:nvSpPr>
          <p:cNvPr id="40" name="Shape 38"/>
          <p:cNvSpPr/>
          <p:nvPr/>
        </p:nvSpPr>
        <p:spPr>
          <a:xfrm>
            <a:off x="6498184" y="5496814"/>
            <a:ext cx="457200" cy="457200"/>
          </a:xfrm>
          <a:prstGeom prst="ellipse">
            <a:avLst/>
          </a:prstGeom>
          <a:solidFill>
            <a:srgbClr val="13233F"/>
          </a:solidFill>
          <a:ln w="12700">
            <a:solidFill>
              <a:srgbClr val="13233F"/>
            </a:solidFill>
            <a:prstDash val="solid"/>
          </a:ln>
        </p:spPr>
      </p:sp>
      <p:sp>
        <p:nvSpPr>
          <p:cNvPr id="41" name="Text 39"/>
          <p:cNvSpPr/>
          <p:nvPr/>
        </p:nvSpPr>
        <p:spPr>
          <a:xfrm>
            <a:off x="6498184" y="54968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7119976" y="5266023"/>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八、发现冤错案件的纠正义务</a:t>
            </a:r>
            <a:endParaRPr lang="en-US" sz="1350" dirty="0"/>
          </a:p>
        </p:txBody>
      </p:sp>
      <p:sp>
        <p:nvSpPr>
          <p:cNvPr id="43" name="Text 41"/>
          <p:cNvSpPr/>
          <p:nvPr/>
        </p:nvSpPr>
        <p:spPr>
          <a:xfrm>
            <a:off x="7119976" y="5549487"/>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办案中发现原判决可能错误的，应当及时报告并依法启动监督程序。及时纠正比掩盖错误更能维护司法公信——这是检察机关“担当”品格最直接的检验。</a:t>
            </a:r>
            <a:endParaRPr lang="en-US" sz="1150" dirty="0"/>
          </a:p>
        </p:txBody>
      </p:sp>
      <p:sp>
        <p:nvSpPr>
          <p:cNvPr id="44" name="Text 4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11</a:t>
            </a:r>
            <a:endParaRPr lang="en-US" sz="11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布雷迪规则与证据开示的比较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控方的证据披露义务：两大法系不同的技术路径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12</a:t>
            </a:r>
            <a:endParaRPr lang="en-US" sz="11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两种制度设计</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美国：布雷迪规则（证据开示）</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Brady v. Maryland (1963)：控方压制对被告人有利且具实质意义的证据，无论是否出于恶意，均违反正当程序。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“实质意义”（materiality）标准：若披露该证据存在使结果不同的合理可能性，即属实质性。</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后续判例扩展至弹劾证据（Giglio）、警方掌握而检方未知的证据（Kyles）。</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救济方式：撤销原判、发回重审；检察官可能面临职业惩戒。</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我国：全面移送与阅卷权保障</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采卷宗移送主义：检察机关提起公诉应当将案卷材料、证据移送人民法院。</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辩护律师自审查起诉之日起可以查阅、摘抄、复制本案的案卷材料。</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控方负有全面取证与全面移送义务，制度上不设“选择性开示”的空间。</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优点：辩方获取信息的路径更直接；难点在于“应当移送而未移送”的隐性遗漏如何发现与救济。</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13</a:t>
            </a:r>
            <a:endParaRPr lang="en-US" sz="11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未随案移送的证据</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实务难题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那份被“遗漏”的证言</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某抢劫案审查起诉阶段，承办检察官在提审时，被告人称案发当晚有一名同事与其在一起。承办人调取侦查卷宗，未见相关证言；询问侦查人员，答复称“当时问过，那人说记不清了，就没做笔录”。</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承办人自行联系该同事，其陈述称当晚确与被告人在一起，但时间点记忆模糊，且承认与被告人关系较好。该陈述若成立，与被害人指认的作案时间存在冲突。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本案其他证据包括被害人辨认、现场提取的部分痕迹物证。若采信该同事陈述，案件可能达不到起诉条件。承办人面临选择：将该陈述制作笔录随案移送，还是以“证言不可靠”为由不予采纳、不予记录。</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承办人应当如何处理？请援引具体规范。</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“证言不可靠”能否作为不予记录的理由？</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若不制作笔录，可能构成哪一项违纪或犯罪？</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这一情形与布雷迪规则所处理的问题是否相同？</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14</a:t>
            </a:r>
            <a:endParaRPr lang="en-US" sz="11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客观义务面临的现实挑战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制度承认人性的弱点，才能设计出有效的防线</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15</a:t>
            </a:r>
            <a:endParaRPr lang="en-US" sz="11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四重挑战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为什么客观义务在实践中难以落实</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一、考核压力与指标导向</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起诉率、有罪判决率、无罪判决率等指标，可能使检察官倾向于“能诉则诉”“诉了必胜”。无罪判决被视为办案质量问题，会抑制依法不起诉的积极性。近年来检察机关持续推进案件质量评价指标体系改革，正是为了消解这一扭曲。</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二、追诉惯性与确认偏误</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一个人在论证某结论半年之后，很难对相反证据保持开放心态。心理学上的“确认偏误”使人倾向于寻找支持既有判断的信息、忽视相反信息。这不是品德问题，而是普遍的认知规律，因此需要制度性的反向检验机制。</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三、侦查中心主义的惯性</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当审查起诉高度依赖侦查卷宗，检察官容易成为侦查结论的确认者而非审查者。以审判为中心的诉讼制度改革，正是要求检察官以庭审的证据标准倒推审查起诉的标准。</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四、舆论与被害人压力</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重大案件中，被害方与公众往往强烈要求追诉。检察官若作出不起诉决定，可能面临巨大压力。此时应当强化说理、公开听证、依法答复，而不是以牺牲客观立场换取压力的缓解。</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16</a:t>
            </a:r>
            <a:endParaRPr lang="en-US" sz="11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制度回应</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如何让客观义务落地</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考核指标改革</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弱化单一的有罪判决率考核，建立以案件质量为核心的综合评价体系；将依法不起诉、依法排除非法证据、依法监督纠正纳入正向评价。</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程序性检验机制</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非法证据排除程序、羁押必要性审查、公开听证、检察官联席会议、案件质量评查等，均为对既有判断的反向检验装置。</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辩方参与的保障</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保障会见、阅卷、调查取证权，听取并附卷辩护意见，认罪认罚案件保障律师有效参与——辩方的实质参与，是对追诉惯性最有效的外部纠偏。</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留痕与说理</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不起诉决定书、量刑建议、非法证据排除决定均应说理充分并依法公开；说理的过程本身就是自我检验的过程。</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17</a:t>
            </a:r>
            <a:endParaRPr lang="en-US" sz="11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冤错案件的镜鉴</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每一起被纠正的冤错案件，都是对客观义务的一次沉痛提醒</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18</a:t>
            </a:r>
            <a:endParaRPr lang="en-US" sz="110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教训</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从已纠正的重大冤错案件中能学到什么</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近年来，呼格吉勒图案（2014年再审改判无罪）、张氏叔侄案（2013年再审改判无罪）、聂树斌案（2016年最高人民法院再审改判无罪）等案件相继得到纠正。这些案件的共同教训值得反复咀嚼。</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共同点一：证据体系存在重大疑点而未被认真对待。疑点在当时的卷宗中往往已经存在，只是被“合理化”解释掉了。客观义务的第一要求，就是对疑点保持敏感而非急于消解。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共同点二：口供中心，重口供轻其他证据。当有罪供述与其他证据存在矛盾时，倾向于相信供述、怀疑物证，这正是客观立场丧失的典型表现。</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共同点三：程序性权利保障不足。辩护权、阅卷权、非法证据排除的申请未能获得实质回应。</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共同点四：纠错阻力来自“维护既有结论”的组织惯性。因此《检察官职业道德基本准则》将“担当”单列——纠错需要的不只是发现能力，更是承认错误的勇气。</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请各位记住：客观义务真正发挥作用的时刻，永远是在你已经形成判断、并且改变判断会让你付出代价的时候。</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19</a:t>
            </a:r>
            <a:endParaRPr lang="en-US" sz="110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有观点认为，客观义务与对抗制存在根本矛盾：既然设置了辩护人为被告人说话，就不必要求检察官也为被告人着想，否则角色重叠、责任模糊。你如何回应？</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认罪认罚从宽制度下，检察官的量刑建议对判决具有较强影响力。这一权力扩张对客观义务提出了哪些新要求？如何防止以量刑差额迫使被告人放弃辩护权？</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假设某案证据“基本够但有疑点”，起诉可能定罪、不起诉则被害人强烈不满。检察官应当如何决策？请写出你的分析路径与说理提纲。</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请设计一套“客观义务履行情况”的自查清单（不少于八项），供承办检察官在案件移送审查起诉前逐项核对。</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20</a:t>
            </a:r>
            <a:endParaRPr lang="en-US" sz="11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第10课时要点回顾</a:t>
            </a:r>
            <a:endParaRPr lang="en-US" sz="3000" dirty="0"/>
          </a:p>
        </p:txBody>
      </p:sp>
      <p:sp>
        <p:nvSpPr>
          <p:cNvPr id="4" name="Shape 2"/>
          <p:cNvSpPr/>
          <p:nvPr/>
        </p:nvSpPr>
        <p:spPr>
          <a:xfrm>
            <a:off x="566928" y="1591056"/>
            <a:ext cx="11057839" cy="718291"/>
          </a:xfrm>
          <a:prstGeom prst="roundRect">
            <a:avLst>
              <a:gd name="adj" fmla="val 10184"/>
            </a:avLst>
          </a:prstGeom>
          <a:solidFill>
            <a:srgbClr val="25395F"/>
          </a:solidFill>
          <a:ln w="12700">
            <a:solidFill>
              <a:srgbClr val="25395F"/>
            </a:solidFill>
            <a:prstDash val="solid"/>
          </a:ln>
        </p:spPr>
      </p:sp>
      <p:sp>
        <p:nvSpPr>
          <p:cNvPr id="5" name="Shape 3"/>
          <p:cNvSpPr/>
          <p:nvPr/>
        </p:nvSpPr>
        <p:spPr>
          <a:xfrm>
            <a:off x="859536" y="174903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69734"/>
            <a:ext cx="160934" cy="160934"/>
          </a:xfrm>
          <a:prstGeom prst="rect">
            <a:avLst/>
          </a:prstGeom>
        </p:spPr>
      </p:pic>
      <p:sp>
        <p:nvSpPr>
          <p:cNvPr id="7" name="Text 4"/>
          <p:cNvSpPr/>
          <p:nvPr/>
        </p:nvSpPr>
        <p:spPr>
          <a:xfrm>
            <a:off x="1444752" y="173112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客观公正义务源于德国检察制度的设计初衷（“最客观的官署”，《德国刑事诉讼法》第160条第2款），并在英美法上通过 Berger、Brady 等判例确立。我国于2019年《检察官法》第五条将其法定化。</a:t>
            </a:r>
            <a:endParaRPr lang="en-US" sz="1150" dirty="0"/>
          </a:p>
        </p:txBody>
      </p:sp>
      <p:sp>
        <p:nvSpPr>
          <p:cNvPr id="8" name="Shape 5"/>
          <p:cNvSpPr/>
          <p:nvPr/>
        </p:nvSpPr>
        <p:spPr>
          <a:xfrm>
            <a:off x="566928" y="2446507"/>
            <a:ext cx="11057839" cy="514202"/>
          </a:xfrm>
          <a:prstGeom prst="roundRect">
            <a:avLst>
              <a:gd name="adj" fmla="val 14226"/>
            </a:avLst>
          </a:prstGeom>
          <a:solidFill>
            <a:srgbClr val="25395F"/>
          </a:solidFill>
          <a:ln w="12700">
            <a:solidFill>
              <a:srgbClr val="25395F"/>
            </a:solidFill>
            <a:prstDash val="solid"/>
          </a:ln>
        </p:spPr>
      </p:sp>
      <p:sp>
        <p:nvSpPr>
          <p:cNvPr id="9" name="Shape 6"/>
          <p:cNvSpPr/>
          <p:nvPr/>
        </p:nvSpPr>
        <p:spPr>
          <a:xfrm>
            <a:off x="859536" y="2528803"/>
            <a:ext cx="349610" cy="349610"/>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64419" y="2633686"/>
            <a:ext cx="139844" cy="139844"/>
          </a:xfrm>
          <a:prstGeom prst="rect">
            <a:avLst/>
          </a:prstGeom>
        </p:spPr>
      </p:pic>
      <p:sp>
        <p:nvSpPr>
          <p:cNvPr id="11" name="Text 7"/>
          <p:cNvSpPr/>
          <p:nvPr/>
        </p:nvSpPr>
        <p:spPr>
          <a:xfrm>
            <a:off x="1444752" y="2594070"/>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其法理基础有四：权力不对等、目的不相同、信息不对称、公信力所系。客观义务不是对对抗制的背离，而是使对抗制得以正当运转的前提。</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规范依据：《检察官法》第五条、《刑事诉讼法》第五十二条（全面取证、禁止非法取证、不得强迫自证其罪）、《人民检察院刑事诉讼规则》的具体要求。</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客观义务的八项内容：全面收集审查证据、排除非法证据、保障辩护权与阅卷权、依法不批捕不起诉、量刑建议客观、认罪认罚自愿性审查、有利于被告人的抗诉与申诉处理、发现冤错的纠正义务。</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现实挑战有四：考核压力与指标导向、追诉惯性与确认偏误、侦查中心主义惯性、舆论与被害人压力。制度回应包括考核改革、程序性检验机制、辩方参与保障、留痕与说理。</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冤错案件的共同教训：疑点被合理化、口供中心、程序权利保障不足、纠错受组织惯性阻碍。客观义务真正发挥作用的时刻，永远是改变判断会让自己付出代价的时候。</a:t>
            </a:r>
            <a:endParaRPr lang="en-US" sz="11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第11课时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检察官职业道德五项准则与检察责任追究</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忠诚、为民、担当、公正、廉洁——从理念到行为规范，再到责任追究</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五项准则的规范内涵与行为要求</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兼职禁止、任职回避与离任回避</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检察官惩戒制度与刑事责任</a:t>
            </a:r>
            <a:endParaRPr lang="en-US" sz="14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从准则到责任</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一、五项准则的逐条展开</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二、检察官的义务与行为规范</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三、兼职禁止、任职回避与离任回避</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四、检察官与律师的交往规范</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五、检察官惩戒制度与刑事责任</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六、案例研讨与第三编总结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02</a:t>
            </a:r>
            <a:endParaRPr lang="en-US" sz="11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五项准则的逐条展开</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2016年修订版《检察官职业道德基本准则》不分章节，仅五条，字字有指向</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03</a:t>
            </a:r>
            <a:endParaRPr lang="en-US" sz="11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准则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五项准则及其规范内涵</a:t>
            </a:r>
            <a:endParaRPr lang="en-US" sz="2800" dirty="0"/>
          </a:p>
        </p:txBody>
      </p:sp>
      <p:sp>
        <p:nvSpPr>
          <p:cNvPr id="4" name="Shape 2"/>
          <p:cNvSpPr/>
          <p:nvPr/>
        </p:nvSpPr>
        <p:spPr>
          <a:xfrm>
            <a:off x="566928" y="1316736"/>
            <a:ext cx="11057839" cy="829818"/>
          </a:xfrm>
          <a:prstGeom prst="roundRect">
            <a:avLst>
              <a:gd name="adj" fmla="val 8815"/>
            </a:avLst>
          </a:prstGeom>
          <a:solidFill>
            <a:srgbClr val="F2F4F8"/>
          </a:solidFill>
          <a:ln w="12700">
            <a:solidFill>
              <a:srgbClr val="F2F4F8"/>
            </a:solidFill>
            <a:prstDash val="solid"/>
          </a:ln>
        </p:spPr>
      </p:sp>
      <p:sp>
        <p:nvSpPr>
          <p:cNvPr id="5" name="Shape 3"/>
          <p:cNvSpPr/>
          <p:nvPr/>
        </p:nvSpPr>
        <p:spPr>
          <a:xfrm>
            <a:off x="841248" y="1475613"/>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29232"/>
            <a:ext cx="204826" cy="204826"/>
          </a:xfrm>
          <a:prstGeom prst="rect">
            <a:avLst/>
          </a:prstGeom>
        </p:spPr>
      </p:pic>
      <p:sp>
        <p:nvSpPr>
          <p:cNvPr id="7" name="Text 4"/>
          <p:cNvSpPr/>
          <p:nvPr/>
        </p:nvSpPr>
        <p:spPr>
          <a:xfrm>
            <a:off x="1536192" y="1522794"/>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一、坚持忠诚品格，永葆政治本色</a:t>
            </a:r>
            <a:endParaRPr lang="en-US" sz="1100" dirty="0"/>
          </a:p>
        </p:txBody>
      </p:sp>
      <p:sp>
        <p:nvSpPr>
          <p:cNvPr id="8" name="Text 5"/>
          <p:cNvSpPr/>
          <p:nvPr/>
        </p:nvSpPr>
        <p:spPr>
          <a:xfrm>
            <a:off x="1536192" y="1774762"/>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忠诚于党、忠诚于国家、忠诚于人民、忠诚于法律。要求检察官坚定理想信念，牢固树立社会主义法治理念，自觉维护宪法法律权威。这是我国检察官职业道德区别于域外准则的首要特征。</a:t>
            </a:r>
            <a:endParaRPr lang="en-US" sz="900" dirty="0"/>
          </a:p>
        </p:txBody>
      </p:sp>
      <p:sp>
        <p:nvSpPr>
          <p:cNvPr id="9" name="Shape 6"/>
          <p:cNvSpPr/>
          <p:nvPr/>
        </p:nvSpPr>
        <p:spPr>
          <a:xfrm>
            <a:off x="566928" y="2292858"/>
            <a:ext cx="11057839" cy="995553"/>
          </a:xfrm>
          <a:prstGeom prst="roundRect">
            <a:avLst>
              <a:gd name="adj" fmla="val 7348"/>
            </a:avLst>
          </a:prstGeom>
          <a:solidFill>
            <a:srgbClr val="FFFFFF"/>
          </a:solidFill>
          <a:ln w="12700">
            <a:solidFill>
              <a:srgbClr val="D5DBE5"/>
            </a:solidFill>
            <a:prstDash val="solid"/>
          </a:ln>
        </p:spPr>
      </p:sp>
      <p:sp>
        <p:nvSpPr>
          <p:cNvPr id="10" name="Shape 7"/>
          <p:cNvSpPr/>
          <p:nvPr/>
        </p:nvSpPr>
        <p:spPr>
          <a:xfrm>
            <a:off x="841248" y="2534603"/>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688222"/>
            <a:ext cx="204826" cy="204826"/>
          </a:xfrm>
          <a:prstGeom prst="rect">
            <a:avLst/>
          </a:prstGeom>
        </p:spPr>
      </p:pic>
      <p:sp>
        <p:nvSpPr>
          <p:cNvPr id="12" name="Text 8"/>
          <p:cNvSpPr/>
          <p:nvPr/>
        </p:nvSpPr>
        <p:spPr>
          <a:xfrm>
            <a:off x="1536192" y="2498916"/>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二、坚持为民宗旨，保障人民权益</a:t>
            </a:r>
            <a:endParaRPr lang="en-US" sz="1100" dirty="0"/>
          </a:p>
        </p:txBody>
      </p:sp>
      <p:sp>
        <p:nvSpPr>
          <p:cNvPr id="13" name="Text 9"/>
          <p:cNvSpPr/>
          <p:nvPr/>
        </p:nvSpPr>
        <p:spPr>
          <a:xfrm>
            <a:off x="1536192" y="2750884"/>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检察权来自人民，必须用于保障人民权益。具体表现为：依法保障当事人与诉讼参与人的权利；认真办理群众来信来访，做到件件有回复；开展司法救助；在未成年人检察、支持起诉等工作中体现司法温度。</a:t>
            </a:r>
            <a:endParaRPr lang="en-US" sz="900" dirty="0"/>
          </a:p>
        </p:txBody>
      </p:sp>
      <p:sp>
        <p:nvSpPr>
          <p:cNvPr id="14" name="Shape 10"/>
          <p:cNvSpPr/>
          <p:nvPr/>
        </p:nvSpPr>
        <p:spPr>
          <a:xfrm>
            <a:off x="566928" y="3434715"/>
            <a:ext cx="11057839" cy="995553"/>
          </a:xfrm>
          <a:prstGeom prst="roundRect">
            <a:avLst>
              <a:gd name="adj" fmla="val 7348"/>
            </a:avLst>
          </a:prstGeom>
          <a:solidFill>
            <a:srgbClr val="F2F4F8"/>
          </a:solidFill>
          <a:ln w="12700">
            <a:solidFill>
              <a:srgbClr val="F2F4F8"/>
            </a:solidFill>
            <a:prstDash val="solid"/>
          </a:ln>
        </p:spPr>
      </p:sp>
      <p:sp>
        <p:nvSpPr>
          <p:cNvPr id="15" name="Shape 11"/>
          <p:cNvSpPr/>
          <p:nvPr/>
        </p:nvSpPr>
        <p:spPr>
          <a:xfrm>
            <a:off x="841248" y="367646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830079"/>
            <a:ext cx="204826" cy="204826"/>
          </a:xfrm>
          <a:prstGeom prst="rect">
            <a:avLst/>
          </a:prstGeom>
        </p:spPr>
      </p:pic>
      <p:sp>
        <p:nvSpPr>
          <p:cNvPr id="17" name="Text 12"/>
          <p:cNvSpPr/>
          <p:nvPr/>
        </p:nvSpPr>
        <p:spPr>
          <a:xfrm>
            <a:off x="1536192" y="3640773"/>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三、坚持担当精神，强化法律监督</a:t>
            </a:r>
            <a:endParaRPr lang="en-US" sz="1100" dirty="0"/>
          </a:p>
        </p:txBody>
      </p:sp>
      <p:sp>
        <p:nvSpPr>
          <p:cNvPr id="18" name="Text 13"/>
          <p:cNvSpPr/>
          <p:nvPr/>
        </p:nvSpPr>
        <p:spPr>
          <a:xfrm>
            <a:off x="1536192" y="3892741"/>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2016年新增的关键词。要求检察官敢于监督、善于监督——包括监督侦查机关的违法取证、监督法院的错误裁判、监督刑事执行活动。担当意味着在必要时站到“自己人”的对立面，这恰恰是最需要勇气的部分。</a:t>
            </a:r>
            <a:endParaRPr lang="en-US" sz="900" dirty="0"/>
          </a:p>
        </p:txBody>
      </p:sp>
      <p:sp>
        <p:nvSpPr>
          <p:cNvPr id="19" name="Shape 14"/>
          <p:cNvSpPr/>
          <p:nvPr/>
        </p:nvSpPr>
        <p:spPr>
          <a:xfrm>
            <a:off x="566928" y="4576572"/>
            <a:ext cx="11057839" cy="829818"/>
          </a:xfrm>
          <a:prstGeom prst="roundRect">
            <a:avLst>
              <a:gd name="adj" fmla="val 8815"/>
            </a:avLst>
          </a:prstGeom>
          <a:solidFill>
            <a:srgbClr val="FFFFFF"/>
          </a:solidFill>
          <a:ln w="12700">
            <a:solidFill>
              <a:srgbClr val="D5DBE5"/>
            </a:solidFill>
            <a:prstDash val="solid"/>
          </a:ln>
        </p:spPr>
      </p:sp>
      <p:sp>
        <p:nvSpPr>
          <p:cNvPr id="20" name="Shape 15"/>
          <p:cNvSpPr/>
          <p:nvPr/>
        </p:nvSpPr>
        <p:spPr>
          <a:xfrm>
            <a:off x="841248" y="4735449"/>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889068"/>
            <a:ext cx="204826" cy="204826"/>
          </a:xfrm>
          <a:prstGeom prst="rect">
            <a:avLst/>
          </a:prstGeom>
        </p:spPr>
      </p:pic>
      <p:sp>
        <p:nvSpPr>
          <p:cNvPr id="22" name="Text 16"/>
          <p:cNvSpPr/>
          <p:nvPr/>
        </p:nvSpPr>
        <p:spPr>
          <a:xfrm>
            <a:off x="1536192" y="478263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四、坚持公正理念，维护法制统一</a:t>
            </a:r>
            <a:endParaRPr lang="en-US" sz="1100" dirty="0"/>
          </a:p>
        </p:txBody>
      </p:sp>
      <p:sp>
        <p:nvSpPr>
          <p:cNvPr id="23" name="Text 17"/>
          <p:cNvSpPr/>
          <p:nvPr/>
        </p:nvSpPr>
        <p:spPr>
          <a:xfrm>
            <a:off x="1536192" y="5034598"/>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秉持客观公正立场，严格依法办案，不因当事人身份、地位、财富而区别对待；确保同案同处理，避免因地区、时期不同而标准不一。“维护法制统一”是法律监督机关定位的直接要求。</a:t>
            </a:r>
            <a:endParaRPr lang="en-US" sz="900" dirty="0"/>
          </a:p>
        </p:txBody>
      </p:sp>
      <p:sp>
        <p:nvSpPr>
          <p:cNvPr id="24" name="Shape 18"/>
          <p:cNvSpPr/>
          <p:nvPr/>
        </p:nvSpPr>
        <p:spPr>
          <a:xfrm>
            <a:off x="566928" y="5552694"/>
            <a:ext cx="11057839" cy="829818"/>
          </a:xfrm>
          <a:prstGeom prst="roundRect">
            <a:avLst>
              <a:gd name="adj" fmla="val 8815"/>
            </a:avLst>
          </a:prstGeom>
          <a:solidFill>
            <a:srgbClr val="F2F4F8"/>
          </a:solidFill>
          <a:ln w="12700">
            <a:solidFill>
              <a:srgbClr val="F2F4F8"/>
            </a:solidFill>
            <a:prstDash val="solid"/>
          </a:ln>
        </p:spPr>
      </p:sp>
      <p:sp>
        <p:nvSpPr>
          <p:cNvPr id="25" name="Shape 19"/>
          <p:cNvSpPr/>
          <p:nvPr/>
        </p:nvSpPr>
        <p:spPr>
          <a:xfrm>
            <a:off x="841248" y="5711571"/>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65190"/>
            <a:ext cx="204826" cy="204826"/>
          </a:xfrm>
          <a:prstGeom prst="rect">
            <a:avLst/>
          </a:prstGeom>
        </p:spPr>
      </p:pic>
      <p:sp>
        <p:nvSpPr>
          <p:cNvPr id="27" name="Text 20"/>
          <p:cNvSpPr/>
          <p:nvPr/>
        </p:nvSpPr>
        <p:spPr>
          <a:xfrm>
            <a:off x="1536192" y="5758752"/>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五、坚持廉洁操守，自觉接受监督</a:t>
            </a:r>
            <a:endParaRPr lang="en-US" sz="1100" dirty="0"/>
          </a:p>
        </p:txBody>
      </p:sp>
      <p:sp>
        <p:nvSpPr>
          <p:cNvPr id="28" name="Text 21"/>
          <p:cNvSpPr/>
          <p:nvPr/>
        </p:nvSpPr>
        <p:spPr>
          <a:xfrm>
            <a:off x="1536192" y="6010720"/>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不接受当事人及其委托人的请客送礼；不利用职务便利谋取私利；不违规过问、干预案件；约束近亲属与身边工作人员；依法接受人大监督、监察监督、社会监督与内部监督。</a:t>
            </a:r>
            <a:endParaRPr lang="en-US" sz="9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04</a:t>
            </a:r>
            <a:endParaRPr lang="en-US" sz="11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对照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2009年试行版与2016年修订版的差异</a:t>
            </a:r>
            <a:endParaRPr lang="en-US" sz="2800" dirty="0"/>
          </a:p>
        </p:txBody>
      </p:sp>
      <p:sp>
        <p:nvSpPr>
          <p:cNvPr id="4" name="Shape 2"/>
          <p:cNvSpPr/>
          <p:nvPr/>
        </p:nvSpPr>
        <p:spPr>
          <a:xfrm>
            <a:off x="566928" y="2214245"/>
            <a:ext cx="5410048" cy="3270758"/>
          </a:xfrm>
          <a:prstGeom prst="roundRect">
            <a:avLst>
              <a:gd name="adj" fmla="val 2796"/>
            </a:avLst>
          </a:prstGeom>
          <a:solidFill>
            <a:srgbClr val="F2F4F8"/>
          </a:solidFill>
          <a:ln w="12700">
            <a:solidFill>
              <a:srgbClr val="F2F4F8"/>
            </a:solidFill>
            <a:prstDash val="solid"/>
          </a:ln>
        </p:spPr>
      </p:sp>
      <p:sp>
        <p:nvSpPr>
          <p:cNvPr id="5" name="Shape 3"/>
          <p:cNvSpPr/>
          <p:nvPr/>
        </p:nvSpPr>
        <p:spPr>
          <a:xfrm>
            <a:off x="841248" y="247027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2009年试行版</a:t>
            </a:r>
            <a:endParaRPr lang="en-US" sz="1600" dirty="0"/>
          </a:p>
        </p:txBody>
      </p:sp>
      <p:sp>
        <p:nvSpPr>
          <p:cNvPr id="7" name="Text 5"/>
          <p:cNvSpPr/>
          <p:nvPr/>
        </p:nvSpPr>
        <p:spPr>
          <a:xfrm>
            <a:off x="932688"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关键词：忠诚、公正、清廉、文明。</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体例：分六章四十八条（总则、忠诚、公正、清廉、文明、附则）。</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特点：条文较多，内容详尽，兼具行为规范功能。</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2016年12月修订版印发时，试行版同时废止。</a:t>
            </a:r>
            <a:endParaRPr lang="en-US" sz="1450" dirty="0"/>
          </a:p>
        </p:txBody>
      </p:sp>
      <p:sp>
        <p:nvSpPr>
          <p:cNvPr id="8" name="Shape 6"/>
          <p:cNvSpPr/>
          <p:nvPr/>
        </p:nvSpPr>
        <p:spPr>
          <a:xfrm>
            <a:off x="6214720" y="2214245"/>
            <a:ext cx="5410048" cy="3270758"/>
          </a:xfrm>
          <a:prstGeom prst="roundRect">
            <a:avLst>
              <a:gd name="adj" fmla="val 2796"/>
            </a:avLst>
          </a:prstGeom>
          <a:solidFill>
            <a:srgbClr val="F6F1E8"/>
          </a:solidFill>
          <a:ln w="12700">
            <a:solidFill>
              <a:srgbClr val="F6F1E8"/>
            </a:solidFill>
            <a:prstDash val="solid"/>
          </a:ln>
        </p:spPr>
      </p:sp>
      <p:sp>
        <p:nvSpPr>
          <p:cNvPr id="9" name="Shape 7"/>
          <p:cNvSpPr/>
          <p:nvPr/>
        </p:nvSpPr>
        <p:spPr>
          <a:xfrm>
            <a:off x="6489040" y="247027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2016年修订版</a:t>
            </a:r>
            <a:endParaRPr lang="en-US" sz="1600" dirty="0"/>
          </a:p>
        </p:txBody>
      </p:sp>
      <p:sp>
        <p:nvSpPr>
          <p:cNvPr id="11" name="Text 9"/>
          <p:cNvSpPr/>
          <p:nvPr/>
        </p:nvSpPr>
        <p:spPr>
          <a:xfrm>
            <a:off x="6580480"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关键词：忠诚、为民、担当、公正、廉洁。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体例：不分章节，仅五条，高度凝练。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变化：新增“为民”与“担当”，删去“文明”（融入其他各项）。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意义：“担当”的加入直接呼应法律监督职能的强化，包括公益诉讼等新职能的拓展。</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05</a:t>
            </a:r>
            <a:endParaRPr lang="en-US" sz="11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检察官的义务与行为规范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从《检察官法》的义务条款到具体的办案行为要求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06</a:t>
            </a:r>
            <a:endParaRPr lang="en-US" sz="11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基本义务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《检察官法》第十条：检察官的义务</a:t>
            </a:r>
            <a:endParaRPr lang="en-US" sz="2800" dirty="0"/>
          </a:p>
        </p:txBody>
      </p:sp>
      <p:sp>
        <p:nvSpPr>
          <p:cNvPr id="4" name="Shape 2"/>
          <p:cNvSpPr/>
          <p:nvPr/>
        </p:nvSpPr>
        <p:spPr>
          <a:xfrm>
            <a:off x="566928" y="1316736"/>
            <a:ext cx="11057839" cy="3451098"/>
          </a:xfrm>
          <a:prstGeom prst="roundRect">
            <a:avLst>
              <a:gd name="adj" fmla="val 265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《中华人民共和国检察官法》第十条</a:t>
            </a:r>
            <a:endParaRPr lang="en-US" sz="1500" dirty="0"/>
          </a:p>
        </p:txBody>
      </p:sp>
      <p:sp>
        <p:nvSpPr>
          <p:cNvPr id="8" name="Text 6"/>
          <p:cNvSpPr/>
          <p:nvPr/>
        </p:nvSpPr>
        <p:spPr>
          <a:xfrm>
            <a:off x="960120" y="1956816"/>
            <a:ext cx="10271455" cy="2591562"/>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检察官应当履行下列义务：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（一）严格遵守宪法和法律；</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（二）秉公办案，不得徇私枉法；</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（三）依法保障诉讼参与人的诉讼权利；</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（四）维护国家利益、社会公共利益，维护个人和组织的合法权益；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（五）保守国家秘密和检察工作秘密，对履行职责中知悉的商业秘密和个人隐私予以保密；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（六）依法接受法律监督和人民群众监督；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（七）法律规定的其他义务。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与《法官法》第十条对照：两条结构完全平行，仅第（二）项表述略有不同（法官法为“依法履行审判职责，秉公办案，不得徇私枉法”）。这种平行结构说明：法官与检察官虽角色不同，但作为司法人员的基本义务是共通的——守法、公正、保障权利、维护公益、保密、接受监督。</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07</a:t>
            </a:r>
            <a:endParaRPr lang="en-US" sz="11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办案行为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四个关键办案环节的伦理要求</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审查逮捕</a:t>
            </a:r>
            <a:endParaRPr lang="en-US" sz="1600" dirty="0"/>
          </a:p>
        </p:txBody>
      </p:sp>
      <p:sp>
        <p:nvSpPr>
          <p:cNvPr id="8" name="Text 5"/>
          <p:cNvSpPr/>
          <p:nvPr/>
        </p:nvSpPr>
        <p:spPr>
          <a:xfrm>
            <a:off x="886968"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严格把握逮捕的社会危险性条件，能不捕的不捕；开展羁押必要性审查，对不需要继续羁押的建议释放或变更强制措施；不得以捕促供、以捕代侦。</a:t>
            </a:r>
            <a:endParaRPr lang="en-US" sz="13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审查起诉</a:t>
            </a:r>
            <a:endParaRPr lang="en-US" sz="1600" dirty="0"/>
          </a:p>
        </p:txBody>
      </p:sp>
      <p:sp>
        <p:nvSpPr>
          <p:cNvPr id="13" name="Text 9"/>
          <p:cNvSpPr/>
          <p:nvPr/>
        </p:nvSpPr>
        <p:spPr>
          <a:xfrm>
            <a:off x="6534760"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全面客观审查证据，讯问犯罪嫌疑人并听取辩解；听取辩护人、被害人及其代理人意见并附卷；不符合起诉条件的依法不起诉；不得久拖不决或反复退回补充侦查。</a:t>
            </a:r>
            <a:endParaRPr lang="en-US" sz="13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出庭公诉</a:t>
            </a:r>
            <a:endParaRPr lang="en-US" sz="1600" dirty="0"/>
          </a:p>
        </p:txBody>
      </p:sp>
      <p:sp>
        <p:nvSpPr>
          <p:cNvPr id="18" name="Text 13"/>
          <p:cNvSpPr/>
          <p:nvPr/>
        </p:nvSpPr>
        <p:spPr>
          <a:xfrm>
            <a:off x="886968"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客观全面地举证质证，不得隐瞒有利于被告人的证据；发表公诉意见应当依据事实和法律，不得进行人身攻击或情绪化表达；发现指控证据不足的，应当依法变更或者撤回起诉。</a:t>
            </a:r>
            <a:endParaRPr lang="en-US" sz="13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诉讼监督</a:t>
            </a:r>
            <a:endParaRPr lang="en-US" sz="1600" dirty="0"/>
          </a:p>
        </p:txBody>
      </p:sp>
      <p:sp>
        <p:nvSpPr>
          <p:cNvPr id="23" name="Text 17"/>
          <p:cNvSpPr/>
          <p:nvPr/>
        </p:nvSpPr>
        <p:spPr>
          <a:xfrm>
            <a:off x="6534760"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对侦查活动、审判活动的违法情形依法提出纠正意见；对确有错误的生效裁判依法抗诉；对刑事执行中的违法情形提出检察建议。监督应当依法定方式进行，不得以监督之名不当干预。</a:t>
            </a:r>
            <a:endParaRPr lang="en-US" sz="13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08</a:t>
            </a:r>
            <a:endParaRPr lang="en-US" sz="11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兼职禁止、任职回避与离任回避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与《法官法》平行的三道防线，但条号相应顺延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09</a:t>
            </a:r>
            <a:endParaRPr lang="en-US" sz="11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兼职与回避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《检察官法》的三条禁止性规定</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《检察官法》第二十三条（兼职禁止）</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检察官不得兼任人民代表大会常务委员会的组成人员，不得兼任行政机关、监察机关、审判机关的职务，不得兼任企业或者其他营利性组织、事业单位的职务，不得兼任律师、仲裁员和公证员。</a:t>
            </a:r>
            <a:endParaRPr lang="en-US" sz="850" dirty="0"/>
          </a:p>
        </p:txBody>
      </p:sp>
      <p:sp>
        <p:nvSpPr>
          <p:cNvPr id="9" name="Shape 7"/>
          <p:cNvSpPr/>
          <p:nvPr/>
        </p:nvSpPr>
        <p:spPr>
          <a:xfrm>
            <a:off x="566928" y="2622042"/>
            <a:ext cx="11057839" cy="1465326"/>
          </a:xfrm>
          <a:prstGeom prst="roundRect">
            <a:avLst>
              <a:gd name="adj" fmla="val 6240"/>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《检察官法》第二十五条（近亲属从事律师职业的任职回避）</a:t>
            </a:r>
            <a:endParaRPr lang="en-US" sz="1500" dirty="0"/>
          </a:p>
        </p:txBody>
      </p:sp>
      <p:sp>
        <p:nvSpPr>
          <p:cNvPr id="13" name="Text 11"/>
          <p:cNvSpPr/>
          <p:nvPr/>
        </p:nvSpPr>
        <p:spPr>
          <a:xfrm>
            <a:off x="960120" y="3262122"/>
            <a:ext cx="10271455" cy="6057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检察官的配偶、父母、子女有下列情形之一的，检察官应当实行任职回避：</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（一）担任该检察官所任职人民检察院辖区内律师事务所的合伙人或者设立人的；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（二）在该检察官所任职人民检察院辖区内以律师身份担任诉讼代理人、辩护人，或者为诉讼案件当事人提供其他有偿法律服务的。</a:t>
            </a:r>
            <a:endParaRPr lang="en-US" sz="850" dirty="0"/>
          </a:p>
        </p:txBody>
      </p:sp>
      <p:sp>
        <p:nvSpPr>
          <p:cNvPr id="14" name="Shape 12"/>
          <p:cNvSpPr/>
          <p:nvPr/>
        </p:nvSpPr>
        <p:spPr>
          <a:xfrm>
            <a:off x="566928" y="4270248"/>
            <a:ext cx="11057839" cy="1465326"/>
          </a:xfrm>
          <a:prstGeom prst="roundRect">
            <a:avLst>
              <a:gd name="adj" fmla="val 6240"/>
            </a:avLst>
          </a:prstGeom>
          <a:solidFill>
            <a:srgbClr val="F6F1E8"/>
          </a:solidFill>
          <a:ln w="12700">
            <a:solidFill>
              <a:srgbClr val="F6F1E8"/>
            </a:solidFill>
            <a:prstDash val="solid"/>
          </a:ln>
        </p:spPr>
      </p:sp>
      <p:sp>
        <p:nvSpPr>
          <p:cNvPr id="15" name="Shape 13"/>
          <p:cNvSpPr/>
          <p:nvPr/>
        </p:nvSpPr>
        <p:spPr>
          <a:xfrm>
            <a:off x="877824" y="45079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5079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4897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《检察官法》第三十七条（离任回避）</a:t>
            </a:r>
            <a:endParaRPr lang="en-US" sz="1500" dirty="0"/>
          </a:p>
        </p:txBody>
      </p:sp>
      <p:sp>
        <p:nvSpPr>
          <p:cNvPr id="18" name="Text 16"/>
          <p:cNvSpPr/>
          <p:nvPr/>
        </p:nvSpPr>
        <p:spPr>
          <a:xfrm>
            <a:off x="960120" y="4910328"/>
            <a:ext cx="10271455" cy="6057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检察官从人民检察院离任后二年内，不得以律师身份担任诉讼代理人或者辩护人。</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检察官从人民检察院离任后，不得担任原任职检察院办理案件的诉讼代理人或者辩护人，但是作为当事人的监护人或者近亲属代理诉讼或者进行辩护的除外。</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检察官的配偶、父母、子女不得担任该检察官所任职检察院办理案件的诉讼代理人或者辩护人。</a:t>
            </a:r>
            <a:endParaRPr lang="en-US" sz="850" dirty="0"/>
          </a:p>
        </p:txBody>
      </p:sp>
      <p:sp>
        <p:nvSpPr>
          <p:cNvPr id="19" name="Shape 1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20" name="Text 1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条号对照记忆法：《检察官法》相关条文较《法官法》后移一条——兼职禁止（法官法22 / 检察官法23）、亲属关系任职回避（23 / 24）、近亲属律师任职回避（24 / 25）、离任回避（36 / 37）、处分事由（46 / 47）、惩戒委员会（48 / 49）。差异源于《检察官法》在相应位置多出一条奖励规定。这是法考的高频陷阱。</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10</a:t>
            </a:r>
            <a:endParaRPr lang="en-US" sz="11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检察官与律师的交往规范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既要保障律师执业权利，又要防止不正当交往</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11</a:t>
            </a:r>
            <a:endParaRPr lang="en-US" sz="11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两个方向</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保障与防范的双重要求</a:t>
            </a:r>
            <a:endParaRPr lang="en-US" sz="2800" dirty="0"/>
          </a:p>
        </p:txBody>
      </p:sp>
      <p:sp>
        <p:nvSpPr>
          <p:cNvPr id="4" name="Shape 2"/>
          <p:cNvSpPr/>
          <p:nvPr/>
        </p:nvSpPr>
        <p:spPr>
          <a:xfrm>
            <a:off x="566928" y="1610995"/>
            <a:ext cx="5410048" cy="4477258"/>
          </a:xfrm>
          <a:prstGeom prst="roundRect">
            <a:avLst>
              <a:gd name="adj" fmla="val 2042"/>
            </a:avLst>
          </a:prstGeom>
          <a:solidFill>
            <a:srgbClr val="F2F4F8"/>
          </a:solidFill>
          <a:ln w="12700">
            <a:solidFill>
              <a:srgbClr val="F2F4F8"/>
            </a:solidFill>
            <a:prstDash val="solid"/>
          </a:ln>
        </p:spPr>
      </p:sp>
      <p:sp>
        <p:nvSpPr>
          <p:cNvPr id="5" name="Shape 3"/>
          <p:cNvSpPr/>
          <p:nvPr/>
        </p:nvSpPr>
        <p:spPr>
          <a:xfrm>
            <a:off x="841248" y="186702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应当保障：律师执业权利</a:t>
            </a:r>
            <a:endParaRPr lang="en-US" sz="1600" dirty="0"/>
          </a:p>
        </p:txBody>
      </p:sp>
      <p:sp>
        <p:nvSpPr>
          <p:cNvPr id="7" name="Text 5"/>
          <p:cNvSpPr/>
          <p:nvPr/>
        </p:nvSpPr>
        <p:spPr>
          <a:xfrm>
            <a:off x="932688"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依法保障辩护律师的会见权、阅卷权、调查取证权。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听取辩护人、诉讼代理人的意见；辩护人提出书面意见的应当附卷。</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对律师提出的排除非法证据申请，应当依法审查并作出回应。</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建立便捷的沟通渠道，不得以任何形式刁难、拖延。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依据：《关于律师作用的基本原则》、《刑事诉讼法》相关规定、保障律师执业权利的专门文件。</a:t>
            </a:r>
            <a:endParaRPr lang="en-US" sz="1450" dirty="0"/>
          </a:p>
        </p:txBody>
      </p:sp>
      <p:sp>
        <p:nvSpPr>
          <p:cNvPr id="8" name="Shape 6"/>
          <p:cNvSpPr/>
          <p:nvPr/>
        </p:nvSpPr>
        <p:spPr>
          <a:xfrm>
            <a:off x="6214720" y="1610995"/>
            <a:ext cx="5410048" cy="4477258"/>
          </a:xfrm>
          <a:prstGeom prst="roundRect">
            <a:avLst>
              <a:gd name="adj" fmla="val 2042"/>
            </a:avLst>
          </a:prstGeom>
          <a:solidFill>
            <a:srgbClr val="F6F1E8"/>
          </a:solidFill>
          <a:ln w="12700">
            <a:solidFill>
              <a:srgbClr val="F6F1E8"/>
            </a:solidFill>
            <a:prstDash val="solid"/>
          </a:ln>
        </p:spPr>
      </p:sp>
      <p:sp>
        <p:nvSpPr>
          <p:cNvPr id="9" name="Shape 7"/>
          <p:cNvSpPr/>
          <p:nvPr/>
        </p:nvSpPr>
        <p:spPr>
          <a:xfrm>
            <a:off x="6489040" y="186702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应当防范：不正当交往</a:t>
            </a:r>
            <a:endParaRPr lang="en-US" sz="1600" dirty="0"/>
          </a:p>
        </p:txBody>
      </p:sp>
      <p:sp>
        <p:nvSpPr>
          <p:cNvPr id="11" name="Text 9"/>
          <p:cNvSpPr/>
          <p:nvPr/>
        </p:nvSpPr>
        <p:spPr>
          <a:xfrm>
            <a:off x="6580480"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不得违反规定会见律师及其当事人；不得接受宴请、礼品、礼金。</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不得为当事人介绍律师，不得暗示或者要求当事人更换律师。</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不得与律师合伙经营或者存在利益输送关系。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不得泄露办案秘密或者向律师透露不应知悉的信息。</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依据：2021年最高人民法院、最高人民检察院、司法部《关于进一步规范法院、检察院离任人员从事律师职业的意见》及“两高一部”关于禁止法官检察官与律师不正当交往的相关规定。</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12</a:t>
            </a:r>
            <a:endParaRPr lang="en-US" sz="11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正当交流与不正当交往的界分</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律师与检察官同属法律职业共同体，正常的业务交流与学术往来不仅允许，而且必要。关键在于划清界限。</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标准一（场合）：是否在办公场所、依法定程序进行？私下场合的案件沟通高度可疑。</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标准二（内容）：是否限于案件的法律适用与程序事项？涉及“结果安排”“关系疏通”的即属不正当。</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标准三（留痕）：是否作了记录并附卷？无痕的沟通无法自证清白。</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标准四（对等）：同类情形下对另一方当事人的代理人是否同等对待？只对一方开放的渠道即为偏袒。</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仍可使用“对方在场测试”：这次交流的内容与方式，能否坦然地让对方当事人及其代理人知道？</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13</a:t>
            </a:r>
            <a:endParaRPr lang="en-US" sz="11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检察官惩戒制度与刑事责任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从行政处分到刑事追究的完整责任链条</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14</a:t>
            </a:r>
            <a:endParaRPr lang="en-US" sz="11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处分事由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《检察官法》第四十七条</a:t>
            </a:r>
            <a:endParaRPr lang="en-US" sz="2800" dirty="0"/>
          </a:p>
        </p:txBody>
      </p:sp>
      <p:sp>
        <p:nvSpPr>
          <p:cNvPr id="4" name="Shape 2"/>
          <p:cNvSpPr/>
          <p:nvPr/>
        </p:nvSpPr>
        <p:spPr>
          <a:xfrm>
            <a:off x="566928" y="1316736"/>
            <a:ext cx="11057839" cy="3708908"/>
          </a:xfrm>
          <a:prstGeom prst="roundRect">
            <a:avLst>
              <a:gd name="adj" fmla="val 2465"/>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《中华人民共和国检察官法》第四十七条</a:t>
            </a:r>
            <a:endParaRPr lang="en-US" sz="1500" dirty="0"/>
          </a:p>
        </p:txBody>
      </p:sp>
      <p:sp>
        <p:nvSpPr>
          <p:cNvPr id="8" name="Text 6"/>
          <p:cNvSpPr/>
          <p:nvPr/>
        </p:nvSpPr>
        <p:spPr>
          <a:xfrm>
            <a:off x="960120" y="1956816"/>
            <a:ext cx="10271455" cy="2849372"/>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检察官有下列行为之一的，应当给予处分；构成犯罪的，依法追究刑事责任：</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（一）贪污受贿、徇私舞弊、枉法办案的；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（二）隐瞒、伪造、变造、故意损毁证据、案件材料的；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（三）泄露国家秘密、检察工作秘密、商业秘密或者个人隐私的；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（四）故意违反法律法规办理案件的；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（五）因重大过失导致案件错误并造成严重后果的；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（六）拖延办案，贻误工作的；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（七）利用职权为自己或者他人谋取私利的；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（八）接受当事人及其代理人利益输送，或者违反有关规定会见当事人及其代理人的；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（九）违反有关规定从事或者参与营利性活动，在企业或者其他营利性组织中兼任职务的；</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（十）有其他违纪违法行为的。</a:t>
            </a:r>
            <a:endParaRPr lang="en-US" sz="130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与《法官法》第四十六条对照：结构完全平行，仅第（一）项由“枉法裁判”改为“枉法办案”、第（五）项由“裁判结果错误”改为“案件错误”——因为检察官的产出不限于裁判。第（四）（五）项同样是司法责任的核心归责标准：故意与重大过失。</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15</a:t>
            </a:r>
            <a:endParaRPr lang="en-US" sz="11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惩戒主体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《检察官法》第四十九条：检察官惩戒委员会</a:t>
            </a:r>
            <a:endParaRPr lang="en-US" sz="2800" dirty="0"/>
          </a:p>
        </p:txBody>
      </p:sp>
      <p:sp>
        <p:nvSpPr>
          <p:cNvPr id="4" name="Shape 2"/>
          <p:cNvSpPr/>
          <p:nvPr/>
        </p:nvSpPr>
        <p:spPr>
          <a:xfrm>
            <a:off x="566928" y="1668590"/>
            <a:ext cx="11057839" cy="2747391"/>
          </a:xfrm>
          <a:prstGeom prst="roundRect">
            <a:avLst>
              <a:gd name="adj" fmla="val 3328"/>
            </a:avLst>
          </a:prstGeom>
          <a:solidFill>
            <a:srgbClr val="F6F1E8"/>
          </a:solidFill>
          <a:ln w="12700">
            <a:solidFill>
              <a:srgbClr val="F6F1E8"/>
            </a:solidFill>
            <a:prstDash val="solid"/>
          </a:ln>
        </p:spPr>
      </p:sp>
      <p:sp>
        <p:nvSpPr>
          <p:cNvPr id="5" name="Shape 3"/>
          <p:cNvSpPr/>
          <p:nvPr/>
        </p:nvSpPr>
        <p:spPr>
          <a:xfrm>
            <a:off x="877824" y="190633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90633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8804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《中华人民共和国检察官法》第四十九条</a:t>
            </a:r>
            <a:endParaRPr lang="en-US" sz="1500" dirty="0"/>
          </a:p>
        </p:txBody>
      </p:sp>
      <p:sp>
        <p:nvSpPr>
          <p:cNvPr id="8" name="Text 6"/>
          <p:cNvSpPr/>
          <p:nvPr/>
        </p:nvSpPr>
        <p:spPr>
          <a:xfrm>
            <a:off x="960120" y="2308670"/>
            <a:ext cx="10271455" cy="18878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最高人民检察院和省、自治区、直辖市设立检察官惩戒委员会，负责从专业角度审查认定检察官是否存在本法第四十七条第四项、第五项规定的违反检察职责的行为，提出构成故意违反职责、存在重大过失、存在一般过失或者没有违反职责等审查意见。检察官惩戒委员会提出审查意见后，人民检察院依照有关规定作出是否予以惩戒的决定，并给予相应处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检察官惩戒委员会由检察官代表、其他从事法律职业的人员和有关方面代表组成，其中检察官代表不少于半数。</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与法官惩戒制度完全同构：“专业审查+组织决定”两分模式；审查范围仅限第（四）（五）项；四档审查意见（故意、重大过失、一般过失、没有违反职责）；检察官代表不少于半数。当事检察官同样享有申请回避、陈述、举证辩解的程序权利，并可对审查意见提出异议。</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16</a:t>
            </a:r>
            <a:endParaRPr lang="en-US" sz="11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刑事责任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检察官可能涉及的主要渎职犯罪</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徇私枉法罪（《刑法》第三百九十九条第一款）</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司法工作人员徇私枉法、徇情枉法，对明知是无罪的人而使他受追诉、对明知是有罪的人而故意包庇不使他受追诉，或者在刑事审判活动中故意违背事实和法律作枉法裁判的，依法追究刑事责任。检察官作出的起诉或不起诉决定，均可能落入本罪的规制范围。</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滥用职权罪与玩忽职守罪（《刑法》第三百九十七条）</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国家机关工作人员滥用职权或者玩忽职守，致使公共财产、国家和人民利益遭受重大损失的，依法追究刑事责任。检察官违规采取强制措施、违法处置涉案财物等，可能构成本罪。</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受贿罪与贪污罪</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利用职务便利索取或者收受他人财物，为他人谋取利益的，构成受贿罪。检察官办案中收受当事人财物是最常见的形态；侵吞、挪用涉案财物的，可能构成贪污罪或挪用公款罪。</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泄露不应公开的案件信息罪等</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司法工作人员泄露依法不公开审理的案件中不应当公开的信息，情节严重的，依法追究刑事责任。另有帮助犯罪分子逃避处罚罪、私放在押人员罪等与检察职务相关的罪名。</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17</a:t>
            </a:r>
            <a:endParaRPr lang="en-US" sz="11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从违纪到犯罪的分界</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责任分层</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四种情形的责任认定</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情形一：某检察官对一起证据存在疑点的案件，未认真核实即提起公诉，法院判决无罪。经查该检察官无徇私情节，系工作疏忽。</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情形二：某检察官明知关键证人证言系刑讯逼供所得，仍未予排除并据以起诉，被告人被判处有期徒刑，后经再审改判无罪。</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情形三：某检察官接受案件当事人亲属安排的宴请与旅游，此后对该案作出相对不起诉决定。经查该案客观上确实符合相对不起诉条件。</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情形四：某检察官明知被告人无罪，因收受他人财物而故意隐匿关键无罪证据并提起公诉，致被告人被错误定罪。</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四种情形分别适用《检察官法》第四十七条哪一项？</a:t>
            </a:r>
            <a:endParaRPr lang="en-US" sz="1400" dirty="0"/>
          </a:p>
        </p:txBody>
      </p:sp>
      <p:sp>
        <p:nvSpPr>
          <p:cNvPr id="14" name="Shape 12"/>
          <p:cNvSpPr/>
          <p:nvPr/>
        </p:nvSpPr>
        <p:spPr>
          <a:xfrm>
            <a:off x="7958023" y="322313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22313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694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哪些可能构成犯罪？罪名是什么？</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情形三中“结果正确”能否阻却违纪责任？</a:t>
            </a:r>
            <a:endParaRPr lang="en-US" sz="1400" dirty="0"/>
          </a:p>
        </p:txBody>
      </p:sp>
      <p:sp>
        <p:nvSpPr>
          <p:cNvPr id="20" name="Shape 18"/>
          <p:cNvSpPr/>
          <p:nvPr/>
        </p:nvSpPr>
        <p:spPr>
          <a:xfrm>
            <a:off x="7958023" y="498411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98411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792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情形一是否应当经惩戒委员会审查？</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18</a:t>
            </a:r>
            <a:endParaRPr lang="en-US" sz="11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“担当”要求检察官敢于监督同级法院与侦查机关。但在实际工作关系中，监督者与被监督者往往需要长期协作。请设计一套制度安排，使“担当”不必依赖个人勇气。</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《检察官法》第二十五条要求近亲属在本院辖区内执业时检察官须任职回避。在律师资源集中的大城市，这一规则可能导致大量检察官被迫调离。你认为应当如何平衡规则刚性与实施可行性？</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检察官作出不起诉决定后被发现该案本应起诉，是否一律构成“违反检察职责”？请结合惩戒委员会四档审查意见分析，并说明“起诉裁量权”的空间。</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有观点认为，检察官既受《检察官法》约束，又受党纪、政务处分与刑事责任规制，责任体系过于繁复，可能导致“寒蝉效应”。你如何看待责任体系的合理边界？</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19</a:t>
            </a:r>
            <a:endParaRPr lang="en-US" sz="11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第三编总结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第11课时要点与检察官职业伦理小结</a:t>
            </a:r>
            <a:endParaRPr lang="en-US" sz="3000" dirty="0"/>
          </a:p>
        </p:txBody>
      </p:sp>
      <p:sp>
        <p:nvSpPr>
          <p:cNvPr id="4" name="Shape 2"/>
          <p:cNvSpPr/>
          <p:nvPr/>
        </p:nvSpPr>
        <p:spPr>
          <a:xfrm>
            <a:off x="566928" y="1591056"/>
            <a:ext cx="11057839" cy="752306"/>
          </a:xfrm>
          <a:prstGeom prst="roundRect">
            <a:avLst>
              <a:gd name="adj" fmla="val 9724"/>
            </a:avLst>
          </a:prstGeom>
          <a:solidFill>
            <a:srgbClr val="25395F"/>
          </a:solidFill>
          <a:ln w="12700">
            <a:solidFill>
              <a:srgbClr val="25395F"/>
            </a:solidFill>
            <a:prstDash val="solid"/>
          </a:ln>
        </p:spPr>
      </p:sp>
      <p:sp>
        <p:nvSpPr>
          <p:cNvPr id="5" name="Shape 3"/>
          <p:cNvSpPr/>
          <p:nvPr/>
        </p:nvSpPr>
        <p:spPr>
          <a:xfrm>
            <a:off x="859536" y="176604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6742"/>
            <a:ext cx="160934" cy="160934"/>
          </a:xfrm>
          <a:prstGeom prst="rect">
            <a:avLst/>
          </a:prstGeom>
        </p:spPr>
      </p:pic>
      <p:sp>
        <p:nvSpPr>
          <p:cNvPr id="7" name="Text 4"/>
          <p:cNvSpPr/>
          <p:nvPr/>
        </p:nvSpPr>
        <p:spPr>
          <a:xfrm>
            <a:off x="1444752" y="174813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五项准则：忠诚（政治本色）、为民（保障人民权益）、担当（强化法律监督）、公正（维护法制统一）、廉洁（自觉接受监督）。2016年修订版新增“为民”“担当”，删去“文明”。</a:t>
            </a:r>
            <a:endParaRPr lang="en-US" sz="1150" dirty="0"/>
          </a:p>
        </p:txBody>
      </p:sp>
      <p:sp>
        <p:nvSpPr>
          <p:cNvPr id="8" name="Shape 5"/>
          <p:cNvSpPr/>
          <p:nvPr/>
        </p:nvSpPr>
        <p:spPr>
          <a:xfrm>
            <a:off x="566928" y="2480522"/>
            <a:ext cx="11057839" cy="548217"/>
          </a:xfrm>
          <a:prstGeom prst="roundRect">
            <a:avLst>
              <a:gd name="adj" fmla="val 13344"/>
            </a:avLst>
          </a:prstGeom>
          <a:solidFill>
            <a:srgbClr val="25395F"/>
          </a:solidFill>
          <a:ln w="12700">
            <a:solidFill>
              <a:srgbClr val="25395F"/>
            </a:solidFill>
            <a:prstDash val="solid"/>
          </a:ln>
        </p:spPr>
      </p:sp>
      <p:sp>
        <p:nvSpPr>
          <p:cNvPr id="9" name="Shape 6"/>
          <p:cNvSpPr/>
          <p:nvPr/>
        </p:nvSpPr>
        <p:spPr>
          <a:xfrm>
            <a:off x="859536" y="2562818"/>
            <a:ext cx="383625" cy="383625"/>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4623" y="2677905"/>
            <a:ext cx="153450" cy="153450"/>
          </a:xfrm>
          <a:prstGeom prst="rect">
            <a:avLst/>
          </a:prstGeom>
        </p:spPr>
      </p:pic>
      <p:sp>
        <p:nvSpPr>
          <p:cNvPr id="11" name="Text 7"/>
          <p:cNvSpPr/>
          <p:nvPr/>
        </p:nvSpPr>
        <p:spPr>
          <a:xfrm>
            <a:off x="1444752" y="2645093"/>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《检察官法》第十条规定检察官的七项义务，与《法官法》第十条完全平行；办案行为规范覆盖审查逮捕、审查起诉、出庭公诉、诉讼监督四个关键环节。</a:t>
            </a:r>
            <a:endParaRPr lang="en-US" sz="1150" dirty="0"/>
          </a:p>
        </p:txBody>
      </p:sp>
      <p:sp>
        <p:nvSpPr>
          <p:cNvPr id="12" name="Shape 8"/>
          <p:cNvSpPr/>
          <p:nvPr/>
        </p:nvSpPr>
        <p:spPr>
          <a:xfrm>
            <a:off x="566928" y="3165898"/>
            <a:ext cx="11057839" cy="752306"/>
          </a:xfrm>
          <a:prstGeom prst="roundRect">
            <a:avLst>
              <a:gd name="adj" fmla="val 9724"/>
            </a:avLst>
          </a:prstGeom>
          <a:solidFill>
            <a:srgbClr val="25395F"/>
          </a:solidFill>
          <a:ln w="12700">
            <a:solidFill>
              <a:srgbClr val="25395F"/>
            </a:solidFill>
            <a:prstDash val="solid"/>
          </a:ln>
        </p:spPr>
      </p:sp>
      <p:sp>
        <p:nvSpPr>
          <p:cNvPr id="13" name="Shape 9"/>
          <p:cNvSpPr/>
          <p:nvPr/>
        </p:nvSpPr>
        <p:spPr>
          <a:xfrm>
            <a:off x="859536" y="3340883"/>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61584"/>
            <a:ext cx="160934" cy="160934"/>
          </a:xfrm>
          <a:prstGeom prst="rect">
            <a:avLst/>
          </a:prstGeom>
        </p:spPr>
      </p:pic>
      <p:sp>
        <p:nvSpPr>
          <p:cNvPr id="15" name="Text 10"/>
          <p:cNvSpPr/>
          <p:nvPr/>
        </p:nvSpPr>
        <p:spPr>
          <a:xfrm>
            <a:off x="1444752" y="332297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条号对照记忆：《检察官法》相关条文较《法官法》后移一条——兼职禁止23/22、亲属任职回避24/23、近亲属律师任职回避25/24、离任回避37/36、处分事由47/46、惩戒委员会49/48。</a:t>
            </a:r>
            <a:endParaRPr lang="en-US" sz="1150" dirty="0"/>
          </a:p>
        </p:txBody>
      </p:sp>
      <p:sp>
        <p:nvSpPr>
          <p:cNvPr id="16" name="Shape 11"/>
          <p:cNvSpPr/>
          <p:nvPr/>
        </p:nvSpPr>
        <p:spPr>
          <a:xfrm>
            <a:off x="566928" y="4055364"/>
            <a:ext cx="11057839" cy="548217"/>
          </a:xfrm>
          <a:prstGeom prst="roundRect">
            <a:avLst>
              <a:gd name="adj" fmla="val 13344"/>
            </a:avLst>
          </a:prstGeom>
          <a:solidFill>
            <a:srgbClr val="25395F"/>
          </a:solidFill>
          <a:ln w="12700">
            <a:solidFill>
              <a:srgbClr val="25395F"/>
            </a:solidFill>
            <a:prstDash val="solid"/>
          </a:ln>
        </p:spPr>
      </p:sp>
      <p:sp>
        <p:nvSpPr>
          <p:cNvPr id="17" name="Shape 12"/>
          <p:cNvSpPr/>
          <p:nvPr/>
        </p:nvSpPr>
        <p:spPr>
          <a:xfrm>
            <a:off x="859536" y="4137660"/>
            <a:ext cx="383625" cy="383625"/>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4623" y="4252747"/>
            <a:ext cx="153450" cy="153450"/>
          </a:xfrm>
          <a:prstGeom prst="rect">
            <a:avLst/>
          </a:prstGeom>
        </p:spPr>
      </p:pic>
      <p:sp>
        <p:nvSpPr>
          <p:cNvPr id="19" name="Text 13"/>
          <p:cNvSpPr/>
          <p:nvPr/>
        </p:nvSpPr>
        <p:spPr>
          <a:xfrm>
            <a:off x="1444752" y="4219935"/>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检察官与律师的关系包含保障与防范双重要求；界分标准为场合、内容、留痕、对等四项，并可使用“对方在场测试”。</a:t>
            </a:r>
            <a:endParaRPr lang="en-US" sz="1150" dirty="0"/>
          </a:p>
        </p:txBody>
      </p:sp>
      <p:sp>
        <p:nvSpPr>
          <p:cNvPr id="20" name="Shape 14"/>
          <p:cNvSpPr/>
          <p:nvPr/>
        </p:nvSpPr>
        <p:spPr>
          <a:xfrm>
            <a:off x="566928" y="4740741"/>
            <a:ext cx="11057839" cy="752306"/>
          </a:xfrm>
          <a:prstGeom prst="roundRect">
            <a:avLst>
              <a:gd name="adj" fmla="val 9724"/>
            </a:avLst>
          </a:prstGeom>
          <a:solidFill>
            <a:srgbClr val="25395F"/>
          </a:solidFill>
          <a:ln w="12700">
            <a:solidFill>
              <a:srgbClr val="25395F"/>
            </a:solidFill>
            <a:prstDash val="solid"/>
          </a:ln>
        </p:spPr>
      </p:sp>
      <p:sp>
        <p:nvSpPr>
          <p:cNvPr id="21" name="Shape 15"/>
          <p:cNvSpPr/>
          <p:nvPr/>
        </p:nvSpPr>
        <p:spPr>
          <a:xfrm>
            <a:off x="859536" y="4915726"/>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36426"/>
            <a:ext cx="160934" cy="160934"/>
          </a:xfrm>
          <a:prstGeom prst="rect">
            <a:avLst/>
          </a:prstGeom>
        </p:spPr>
      </p:pic>
      <p:sp>
        <p:nvSpPr>
          <p:cNvPr id="23" name="Text 16"/>
          <p:cNvSpPr/>
          <p:nvPr/>
        </p:nvSpPr>
        <p:spPr>
          <a:xfrm>
            <a:off x="1444752" y="489781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责任体系：《检察官法》第四十七条十项处分事由；第四十九条惩戒委员会采“专业审查+组织决定”两分模式与四档审查意见；刑事责任主要涉及徇私枉法罪、滥用职权罪与玩忽职守罪、受贿罪等。</a:t>
            </a:r>
            <a:endParaRPr lang="en-US" sz="1150" dirty="0"/>
          </a:p>
        </p:txBody>
      </p:sp>
      <p:sp>
        <p:nvSpPr>
          <p:cNvPr id="24" name="Shape 17"/>
          <p:cNvSpPr/>
          <p:nvPr/>
        </p:nvSpPr>
        <p:spPr>
          <a:xfrm>
            <a:off x="566928" y="5630206"/>
            <a:ext cx="11057839" cy="752306"/>
          </a:xfrm>
          <a:prstGeom prst="roundRect">
            <a:avLst>
              <a:gd name="adj" fmla="val 9724"/>
            </a:avLst>
          </a:prstGeom>
          <a:solidFill>
            <a:srgbClr val="25395F"/>
          </a:solidFill>
          <a:ln w="12700">
            <a:solidFill>
              <a:srgbClr val="25395F"/>
            </a:solidFill>
            <a:prstDash val="solid"/>
          </a:ln>
        </p:spPr>
      </p:sp>
      <p:sp>
        <p:nvSpPr>
          <p:cNvPr id="25" name="Shape 18"/>
          <p:cNvSpPr/>
          <p:nvPr/>
        </p:nvSpPr>
        <p:spPr>
          <a:xfrm>
            <a:off x="859536" y="580519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5892"/>
            <a:ext cx="160934" cy="160934"/>
          </a:xfrm>
          <a:prstGeom prst="rect">
            <a:avLst/>
          </a:prstGeom>
        </p:spPr>
      </p:pic>
      <p:sp>
        <p:nvSpPr>
          <p:cNvPr id="27" name="Text 19"/>
          <p:cNvSpPr/>
          <p:nvPr/>
        </p:nvSpPr>
        <p:spPr>
          <a:xfrm>
            <a:off x="1444752" y="578728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第三编总结：检察官的双重身份（追诉者与法律监督者）决定了客观公正义务的核心地位；检察一体化解决“由谁决定”，客观义务解决“依据什么决定”；“担当”是我国检察官伦理最具特色的要求，因为监督往往意味着与“自己人”为难。</a:t>
            </a:r>
            <a:endParaRPr lang="en-US" sz="115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04</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第四编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委托关系、保密、利益冲突、收费、争讼——律师伦理的五大支柱</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a:t>
            </a:r>
            <a:endParaRPr lang="en-US" sz="850" dirty="0"/>
          </a:p>
        </p:txBody>
      </p:sp>
      <p:sp>
        <p:nvSpPr>
          <p:cNvPr id="9" name="Text 7"/>
          <p:cNvSpPr/>
          <p:nvPr/>
        </p:nvSpPr>
        <p:spPr>
          <a:xfrm>
            <a:off x="8823960" y="188366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第12课时　律师制度、律师职业伦理的性质与渊源</a:t>
            </a:r>
            <a:endParaRPr lang="en-US" sz="950" dirty="0"/>
          </a:p>
        </p:txBody>
      </p:sp>
      <p:sp>
        <p:nvSpPr>
          <p:cNvPr id="10" name="Text 8"/>
          <p:cNvSpPr/>
          <p:nvPr/>
        </p:nvSpPr>
        <p:spPr>
          <a:xfrm>
            <a:off x="8476488" y="237070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2</a:t>
            </a:r>
            <a:endParaRPr lang="en-US" sz="850" dirty="0"/>
          </a:p>
        </p:txBody>
      </p:sp>
      <p:sp>
        <p:nvSpPr>
          <p:cNvPr id="11" name="Text 9"/>
          <p:cNvSpPr/>
          <p:nvPr/>
        </p:nvSpPr>
        <p:spPr>
          <a:xfrm>
            <a:off x="8823960" y="2370709"/>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第13课时　律师的使命与基本执业行为规范</a:t>
            </a:r>
            <a:endParaRPr lang="en-US" sz="950" dirty="0"/>
          </a:p>
        </p:txBody>
      </p:sp>
      <p:sp>
        <p:nvSpPr>
          <p:cNvPr id="12" name="Text 10"/>
          <p:cNvSpPr/>
          <p:nvPr/>
        </p:nvSpPr>
        <p:spPr>
          <a:xfrm>
            <a:off x="8476488" y="2682811"/>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3</a:t>
            </a:r>
            <a:endParaRPr lang="en-US" sz="850" dirty="0"/>
          </a:p>
        </p:txBody>
      </p:sp>
      <p:sp>
        <p:nvSpPr>
          <p:cNvPr id="13" name="Text 11"/>
          <p:cNvSpPr/>
          <p:nvPr/>
        </p:nvSpPr>
        <p:spPr>
          <a:xfrm>
            <a:off x="8823960" y="2682811"/>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第14课时　委托人—律师关系（一）：关系的建立与业务推广</a:t>
            </a:r>
            <a:endParaRPr lang="en-US" sz="950" dirty="0"/>
          </a:p>
        </p:txBody>
      </p:sp>
      <p:sp>
        <p:nvSpPr>
          <p:cNvPr id="14" name="Text 12"/>
          <p:cNvSpPr/>
          <p:nvPr/>
        </p:nvSpPr>
        <p:spPr>
          <a:xfrm>
            <a:off x="8476488" y="316985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4</a:t>
            </a:r>
            <a:endParaRPr lang="en-US" sz="850" dirty="0"/>
          </a:p>
        </p:txBody>
      </p:sp>
      <p:sp>
        <p:nvSpPr>
          <p:cNvPr id="15" name="Text 13"/>
          <p:cNvSpPr/>
          <p:nvPr/>
        </p:nvSpPr>
        <p:spPr>
          <a:xfrm>
            <a:off x="8823960" y="316985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第15课时　委托人—律师关系（二）：忠诚、勤勉、告知与关系终止</a:t>
            </a:r>
            <a:endParaRPr lang="en-US" sz="950" dirty="0"/>
          </a:p>
        </p:txBody>
      </p:sp>
      <p:sp>
        <p:nvSpPr>
          <p:cNvPr id="16" name="Text 14"/>
          <p:cNvSpPr/>
          <p:nvPr/>
        </p:nvSpPr>
        <p:spPr>
          <a:xfrm>
            <a:off x="8476488" y="365690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5</a:t>
            </a:r>
            <a:endParaRPr lang="en-US" sz="850" dirty="0"/>
          </a:p>
        </p:txBody>
      </p:sp>
      <p:sp>
        <p:nvSpPr>
          <p:cNvPr id="17" name="Text 15"/>
          <p:cNvSpPr/>
          <p:nvPr/>
        </p:nvSpPr>
        <p:spPr>
          <a:xfrm>
            <a:off x="8823960" y="3656902"/>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第16课时　律师保密义务</a:t>
            </a:r>
            <a:endParaRPr lang="en-US" sz="950" dirty="0"/>
          </a:p>
        </p:txBody>
      </p:sp>
      <p:sp>
        <p:nvSpPr>
          <p:cNvPr id="18" name="Text 16"/>
          <p:cNvSpPr/>
          <p:nvPr/>
        </p:nvSpPr>
        <p:spPr>
          <a:xfrm>
            <a:off x="8476488" y="396900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6</a:t>
            </a:r>
            <a:endParaRPr lang="en-US" sz="850" dirty="0"/>
          </a:p>
        </p:txBody>
      </p:sp>
      <p:sp>
        <p:nvSpPr>
          <p:cNvPr id="19" name="Text 17"/>
          <p:cNvSpPr/>
          <p:nvPr/>
        </p:nvSpPr>
        <p:spPr>
          <a:xfrm>
            <a:off x="8823960" y="396900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第17课时　利益冲突（一）：法理基础、类型与判断标准</a:t>
            </a:r>
            <a:endParaRPr lang="en-US" sz="950" dirty="0"/>
          </a:p>
        </p:txBody>
      </p:sp>
      <p:sp>
        <p:nvSpPr>
          <p:cNvPr id="20" name="Text 18"/>
          <p:cNvSpPr/>
          <p:nvPr/>
        </p:nvSpPr>
        <p:spPr>
          <a:xfrm>
            <a:off x="8476488" y="445604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7</a:t>
            </a:r>
            <a:endParaRPr lang="en-US" sz="850" dirty="0"/>
          </a:p>
        </p:txBody>
      </p:sp>
      <p:sp>
        <p:nvSpPr>
          <p:cNvPr id="21" name="Text 19"/>
          <p:cNvSpPr/>
          <p:nvPr/>
        </p:nvSpPr>
        <p:spPr>
          <a:xfrm>
            <a:off x="8823960" y="4456049"/>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第18课时　利益冲突（二）：特殊情形、冲突审查与豁免</a:t>
            </a:r>
            <a:endParaRPr lang="en-US" sz="950" dirty="0"/>
          </a:p>
        </p:txBody>
      </p:sp>
      <p:sp>
        <p:nvSpPr>
          <p:cNvPr id="22" name="Text 20"/>
          <p:cNvSpPr/>
          <p:nvPr/>
        </p:nvSpPr>
        <p:spPr>
          <a:xfrm>
            <a:off x="8476488" y="494309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8</a:t>
            </a:r>
            <a:endParaRPr lang="en-US" sz="850" dirty="0"/>
          </a:p>
        </p:txBody>
      </p:sp>
      <p:sp>
        <p:nvSpPr>
          <p:cNvPr id="23" name="Text 21"/>
          <p:cNvSpPr/>
          <p:nvPr/>
        </p:nvSpPr>
        <p:spPr>
          <a:xfrm>
            <a:off x="8823960" y="4943094"/>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第19课时　律师服务收费与财物保管</a:t>
            </a:r>
            <a:endParaRPr lang="en-US" sz="950" dirty="0"/>
          </a:p>
        </p:txBody>
      </p:sp>
      <p:sp>
        <p:nvSpPr>
          <p:cNvPr id="24" name="Text 22"/>
          <p:cNvSpPr/>
          <p:nvPr/>
        </p:nvSpPr>
        <p:spPr>
          <a:xfrm>
            <a:off x="8476488" y="525519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9</a:t>
            </a:r>
            <a:endParaRPr lang="en-US" sz="850" dirty="0"/>
          </a:p>
        </p:txBody>
      </p:sp>
      <p:sp>
        <p:nvSpPr>
          <p:cNvPr id="25" name="Text 23"/>
          <p:cNvSpPr/>
          <p:nvPr/>
        </p:nvSpPr>
        <p:spPr>
          <a:xfrm>
            <a:off x="8823960" y="525519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第20课时　争讼业务伦理：对法庭、对方、证人与媒体的义务</a:t>
            </a:r>
            <a:endParaRPr lang="en-US" sz="950" dirty="0"/>
          </a:p>
        </p:txBody>
      </p:sp>
      <p:sp>
        <p:nvSpPr>
          <p:cNvPr id="26" name="Text 24"/>
          <p:cNvSpPr/>
          <p:nvPr/>
        </p:nvSpPr>
        <p:spPr>
          <a:xfrm>
            <a:off x="8476488" y="574224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10</a:t>
            </a:r>
            <a:endParaRPr lang="en-US" sz="850" dirty="0"/>
          </a:p>
        </p:txBody>
      </p:sp>
      <p:sp>
        <p:nvSpPr>
          <p:cNvPr id="27" name="Text 25"/>
          <p:cNvSpPr/>
          <p:nvPr/>
        </p:nvSpPr>
        <p:spPr>
          <a:xfrm>
            <a:off x="8823960" y="5742242"/>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第21课时　律师事务所治理、律师协会与司法行政管理</a:t>
            </a:r>
            <a:endParaRPr lang="en-US" sz="95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263">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第12课时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律师制度、律师职业伦理的性质与渊源</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律师忠诚于委托人，法官忠诚于法律，检察官忠诚于真相——三种忠诚为何能并存？</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我国律师制度的四十余年演进与定位转变</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律师职业伦理的自律性、双重性与非道德性</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律师执业权利的保障：为什么它是伦理问题</a:t>
            </a:r>
            <a:endParaRPr lang="en-US" sz="14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进入律师伦理之前必须搞清的四件事</a:t>
            </a:r>
            <a:endParaRPr lang="en-US" sz="2800" dirty="0"/>
          </a:p>
        </p:txBody>
      </p:sp>
      <p:sp>
        <p:nvSpPr>
          <p:cNvPr id="4" name="Shape 2"/>
          <p:cNvSpPr/>
          <p:nvPr/>
        </p:nvSpPr>
        <p:spPr>
          <a:xfrm>
            <a:off x="566928" y="2550700"/>
            <a:ext cx="5300320" cy="676339"/>
          </a:xfrm>
          <a:prstGeom prst="roundRect">
            <a:avLst>
              <a:gd name="adj" fmla="val 10816"/>
            </a:avLst>
          </a:prstGeom>
          <a:solidFill>
            <a:srgbClr val="F2F4F8"/>
          </a:solidFill>
          <a:ln w="12700">
            <a:solidFill>
              <a:srgbClr val="F2F4F8"/>
            </a:solidFill>
            <a:prstDash val="solid"/>
          </a:ln>
        </p:spPr>
      </p:sp>
      <p:sp>
        <p:nvSpPr>
          <p:cNvPr id="5" name="Shape 3"/>
          <p:cNvSpPr/>
          <p:nvPr/>
        </p:nvSpPr>
        <p:spPr>
          <a:xfrm>
            <a:off x="731520" y="2705989"/>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05989"/>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750757"/>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一、我国律师制度的发展历程</a:t>
            </a:r>
            <a:endParaRPr lang="en-US" sz="1500" dirty="0"/>
          </a:p>
        </p:txBody>
      </p:sp>
      <p:sp>
        <p:nvSpPr>
          <p:cNvPr id="8" name="Shape 6"/>
          <p:cNvSpPr/>
          <p:nvPr/>
        </p:nvSpPr>
        <p:spPr>
          <a:xfrm>
            <a:off x="566928" y="3373342"/>
            <a:ext cx="5300320" cy="676339"/>
          </a:xfrm>
          <a:prstGeom prst="roundRect">
            <a:avLst>
              <a:gd name="adj" fmla="val 10816"/>
            </a:avLst>
          </a:prstGeom>
          <a:solidFill>
            <a:srgbClr val="F2F4F8"/>
          </a:solidFill>
          <a:ln w="12700">
            <a:solidFill>
              <a:srgbClr val="F2F4F8"/>
            </a:solidFill>
            <a:prstDash val="solid"/>
          </a:ln>
        </p:spPr>
      </p:sp>
      <p:sp>
        <p:nvSpPr>
          <p:cNvPr id="9" name="Shape 7"/>
          <p:cNvSpPr/>
          <p:nvPr/>
        </p:nvSpPr>
        <p:spPr>
          <a:xfrm>
            <a:off x="731520" y="3528632"/>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528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二、律师的法律定位与律师事务所的组织形式</a:t>
            </a:r>
            <a:endParaRPr lang="en-US" sz="1500" dirty="0"/>
          </a:p>
        </p:txBody>
      </p:sp>
      <p:sp>
        <p:nvSpPr>
          <p:cNvPr id="12" name="Shape 10"/>
          <p:cNvSpPr/>
          <p:nvPr/>
        </p:nvSpPr>
        <p:spPr>
          <a:xfrm>
            <a:off x="566928" y="4195985"/>
            <a:ext cx="5300320" cy="952564"/>
          </a:xfrm>
          <a:prstGeom prst="roundRect">
            <a:avLst>
              <a:gd name="adj" fmla="val 7679"/>
            </a:avLst>
          </a:prstGeom>
          <a:solidFill>
            <a:srgbClr val="F2F4F8"/>
          </a:solidFill>
          <a:ln w="12700">
            <a:solidFill>
              <a:srgbClr val="F2F4F8"/>
            </a:solidFill>
            <a:prstDash val="solid"/>
          </a:ln>
        </p:spPr>
      </p:sp>
      <p:sp>
        <p:nvSpPr>
          <p:cNvPr id="13" name="Shape 11"/>
          <p:cNvSpPr/>
          <p:nvPr/>
        </p:nvSpPr>
        <p:spPr>
          <a:xfrm>
            <a:off x="731520" y="4489387"/>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489387"/>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396042"/>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三、律师职业伦理的性质：自律性、双重性与非道德性</a:t>
            </a:r>
            <a:endParaRPr lang="en-US" sz="1500" dirty="0"/>
          </a:p>
        </p:txBody>
      </p:sp>
      <p:sp>
        <p:nvSpPr>
          <p:cNvPr id="16" name="Shape 14"/>
          <p:cNvSpPr/>
          <p:nvPr/>
        </p:nvSpPr>
        <p:spPr>
          <a:xfrm>
            <a:off x="6324448" y="2688812"/>
            <a:ext cx="5300320" cy="676339"/>
          </a:xfrm>
          <a:prstGeom prst="roundRect">
            <a:avLst>
              <a:gd name="adj" fmla="val 10816"/>
            </a:avLst>
          </a:prstGeom>
          <a:solidFill>
            <a:srgbClr val="F2F4F8"/>
          </a:solidFill>
          <a:ln w="12700">
            <a:solidFill>
              <a:srgbClr val="F2F4F8"/>
            </a:solidFill>
            <a:prstDash val="solid"/>
          </a:ln>
        </p:spPr>
      </p:sp>
      <p:sp>
        <p:nvSpPr>
          <p:cNvPr id="17" name="Shape 15"/>
          <p:cNvSpPr/>
          <p:nvPr/>
        </p:nvSpPr>
        <p:spPr>
          <a:xfrm>
            <a:off x="6489040" y="2844102"/>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84410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88869"/>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四、律师职业伦理的渊源体系</a:t>
            </a:r>
            <a:endParaRPr lang="en-US" sz="1500" dirty="0"/>
          </a:p>
        </p:txBody>
      </p:sp>
      <p:sp>
        <p:nvSpPr>
          <p:cNvPr id="20" name="Shape 18"/>
          <p:cNvSpPr/>
          <p:nvPr/>
        </p:nvSpPr>
        <p:spPr>
          <a:xfrm>
            <a:off x="6324448" y="3511455"/>
            <a:ext cx="5300320" cy="676339"/>
          </a:xfrm>
          <a:prstGeom prst="roundRect">
            <a:avLst>
              <a:gd name="adj" fmla="val 10816"/>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五、律师执业权利保障</a:t>
            </a:r>
            <a:endParaRPr lang="en-US" sz="1500" dirty="0"/>
          </a:p>
        </p:txBody>
      </p:sp>
      <p:sp>
        <p:nvSpPr>
          <p:cNvPr id="24" name="Shape 22"/>
          <p:cNvSpPr/>
          <p:nvPr/>
        </p:nvSpPr>
        <p:spPr>
          <a:xfrm>
            <a:off x="6324448" y="4334097"/>
            <a:ext cx="5300320" cy="676339"/>
          </a:xfrm>
          <a:prstGeom prst="roundRect">
            <a:avLst>
              <a:gd name="adj" fmla="val 10816"/>
            </a:avLst>
          </a:prstGeom>
          <a:solidFill>
            <a:srgbClr val="F2F4F8"/>
          </a:solidFill>
          <a:ln w="12700">
            <a:solidFill>
              <a:srgbClr val="F2F4F8"/>
            </a:solidFill>
            <a:prstDash val="solid"/>
          </a:ln>
        </p:spPr>
      </p:sp>
      <p:sp>
        <p:nvSpPr>
          <p:cNvPr id="25" name="Shape 23"/>
          <p:cNvSpPr/>
          <p:nvPr/>
        </p:nvSpPr>
        <p:spPr>
          <a:xfrm>
            <a:off x="6489040" y="4489387"/>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489387"/>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34154"/>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六、律师的义务概览与本课小结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02</a:t>
            </a:r>
            <a:endParaRPr lang="en-US" sz="11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26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我国律师制度的发展历程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制度的每一次转变，都带来职业伦理内容的重构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03</a:t>
            </a:r>
            <a:endParaRPr lang="en-US" sz="11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2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历史脉络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四个阶段</a:t>
            </a:r>
            <a:endParaRPr lang="en-US" sz="2800" dirty="0"/>
          </a:p>
        </p:txBody>
      </p:sp>
      <p:sp>
        <p:nvSpPr>
          <p:cNvPr id="4" name="Shape 2"/>
          <p:cNvSpPr/>
          <p:nvPr/>
        </p:nvSpPr>
        <p:spPr>
          <a:xfrm>
            <a:off x="566928" y="2209038"/>
            <a:ext cx="5382616" cy="1576578"/>
          </a:xfrm>
          <a:prstGeom prst="roundRect">
            <a:avLst>
              <a:gd name="adj" fmla="val 4640"/>
            </a:avLst>
          </a:prstGeom>
          <a:solidFill>
            <a:srgbClr val="F2F4F8"/>
          </a:solidFill>
          <a:ln w="12700">
            <a:solidFill>
              <a:srgbClr val="F2F4F8"/>
            </a:solidFill>
            <a:prstDash val="solid"/>
          </a:ln>
        </p:spPr>
      </p:sp>
      <p:sp>
        <p:nvSpPr>
          <p:cNvPr id="5" name="Shape 3"/>
          <p:cNvSpPr/>
          <p:nvPr/>
        </p:nvSpPr>
        <p:spPr>
          <a:xfrm>
            <a:off x="822960" y="2768727"/>
            <a:ext cx="457200" cy="457200"/>
          </a:xfrm>
          <a:prstGeom prst="ellipse">
            <a:avLst/>
          </a:prstGeom>
          <a:solidFill>
            <a:srgbClr val="13233F"/>
          </a:solidFill>
          <a:ln w="12700">
            <a:solidFill>
              <a:srgbClr val="13233F"/>
            </a:solidFill>
            <a:prstDash val="solid"/>
          </a:ln>
        </p:spPr>
      </p:sp>
      <p:sp>
        <p:nvSpPr>
          <p:cNvPr id="6" name="Text 4"/>
          <p:cNvSpPr/>
          <p:nvPr/>
        </p:nvSpPr>
        <p:spPr>
          <a:xfrm>
            <a:off x="822960" y="276872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3461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初创与中断（1950年代）</a:t>
            </a:r>
            <a:endParaRPr lang="en-US" sz="1500" dirty="0"/>
          </a:p>
        </p:txBody>
      </p:sp>
      <p:sp>
        <p:nvSpPr>
          <p:cNvPr id="8" name="Text 6"/>
          <p:cNvSpPr/>
          <p:nvPr/>
        </p:nvSpPr>
        <p:spPr>
          <a:xfrm>
            <a:off x="1444752" y="2654046"/>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1954年《人民法院组织法》确认被告人有权获得辩护；1956年国务院批准司法部关于建立律师工作的请示报告，律师制度初步建立，设立法律顾问处。1957年后律师制度被迫中断二十余年。</a:t>
            </a:r>
            <a:endParaRPr lang="en-US" sz="1350" dirty="0"/>
          </a:p>
        </p:txBody>
      </p:sp>
      <p:sp>
        <p:nvSpPr>
          <p:cNvPr id="9" name="Shape 7"/>
          <p:cNvSpPr/>
          <p:nvPr/>
        </p:nvSpPr>
        <p:spPr>
          <a:xfrm>
            <a:off x="566928" y="3913632"/>
            <a:ext cx="5382616" cy="1576578"/>
          </a:xfrm>
          <a:prstGeom prst="roundRect">
            <a:avLst>
              <a:gd name="adj" fmla="val 4640"/>
            </a:avLst>
          </a:prstGeom>
          <a:solidFill>
            <a:srgbClr val="FFFFFF"/>
          </a:solidFill>
          <a:ln w="12700">
            <a:solidFill>
              <a:srgbClr val="D5DBE5"/>
            </a:solidFill>
            <a:prstDash val="solid"/>
          </a:ln>
        </p:spPr>
      </p:sp>
      <p:sp>
        <p:nvSpPr>
          <p:cNvPr id="10" name="Shape 8"/>
          <p:cNvSpPr/>
          <p:nvPr/>
        </p:nvSpPr>
        <p:spPr>
          <a:xfrm>
            <a:off x="822960" y="4473321"/>
            <a:ext cx="457200" cy="457200"/>
          </a:xfrm>
          <a:prstGeom prst="ellipse">
            <a:avLst/>
          </a:prstGeom>
          <a:solidFill>
            <a:srgbClr val="13233F"/>
          </a:solidFill>
          <a:ln w="12700">
            <a:solidFill>
              <a:srgbClr val="13233F"/>
            </a:solidFill>
            <a:prstDash val="solid"/>
          </a:ln>
        </p:spPr>
      </p:sp>
      <p:sp>
        <p:nvSpPr>
          <p:cNvPr id="11" name="Text 9"/>
          <p:cNvSpPr/>
          <p:nvPr/>
        </p:nvSpPr>
        <p:spPr>
          <a:xfrm>
            <a:off x="822960" y="447332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恢复重建（1979—1980）</a:t>
            </a:r>
            <a:endParaRPr lang="en-US" sz="1500" dirty="0"/>
          </a:p>
        </p:txBody>
      </p:sp>
      <p:sp>
        <p:nvSpPr>
          <p:cNvPr id="13" name="Text 11"/>
          <p:cNvSpPr/>
          <p:nvPr/>
        </p:nvSpPr>
        <p:spPr>
          <a:xfrm>
            <a:off x="1444752" y="4358640"/>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1979年《刑事诉讼法》恢复辩护制度。1980年《律师暂行条例》颁布，律师被定位为“国家法律工作者”，在具有国家机关性质的法律顾问处工作，拿国家工资。此阶段职业伦理主要表现为纪律要求。</a:t>
            </a:r>
            <a:endParaRPr lang="en-US" sz="1350" dirty="0"/>
          </a:p>
        </p:txBody>
      </p:sp>
      <p:sp>
        <p:nvSpPr>
          <p:cNvPr id="14" name="Shape 12"/>
          <p:cNvSpPr/>
          <p:nvPr/>
        </p:nvSpPr>
        <p:spPr>
          <a:xfrm>
            <a:off x="6242152" y="2209038"/>
            <a:ext cx="5382616" cy="1576578"/>
          </a:xfrm>
          <a:prstGeom prst="roundRect">
            <a:avLst>
              <a:gd name="adj" fmla="val 4640"/>
            </a:avLst>
          </a:prstGeom>
          <a:solidFill>
            <a:srgbClr val="F2F4F8"/>
          </a:solidFill>
          <a:ln w="12700">
            <a:solidFill>
              <a:srgbClr val="F2F4F8"/>
            </a:solidFill>
            <a:prstDash val="solid"/>
          </a:ln>
        </p:spPr>
      </p:sp>
      <p:sp>
        <p:nvSpPr>
          <p:cNvPr id="15" name="Shape 13"/>
          <p:cNvSpPr/>
          <p:nvPr/>
        </p:nvSpPr>
        <p:spPr>
          <a:xfrm>
            <a:off x="6498184" y="2768727"/>
            <a:ext cx="457200" cy="457200"/>
          </a:xfrm>
          <a:prstGeom prst="ellipse">
            <a:avLst/>
          </a:prstGeom>
          <a:solidFill>
            <a:srgbClr val="13233F"/>
          </a:solidFill>
          <a:ln w="12700">
            <a:solidFill>
              <a:srgbClr val="13233F"/>
            </a:solidFill>
            <a:prstDash val="solid"/>
          </a:ln>
        </p:spPr>
      </p:sp>
      <p:sp>
        <p:nvSpPr>
          <p:cNvPr id="16" name="Text 14"/>
          <p:cNvSpPr/>
          <p:nvPr/>
        </p:nvSpPr>
        <p:spPr>
          <a:xfrm>
            <a:off x="6498184" y="276872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7119976" y="23461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职业化转型（1996—2007）</a:t>
            </a:r>
            <a:endParaRPr lang="en-US" sz="1500" dirty="0"/>
          </a:p>
        </p:txBody>
      </p:sp>
      <p:sp>
        <p:nvSpPr>
          <p:cNvPr id="18" name="Text 16"/>
          <p:cNvSpPr/>
          <p:nvPr/>
        </p:nvSpPr>
        <p:spPr>
          <a:xfrm>
            <a:off x="7119976" y="2654046"/>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1996年《律师法》颁布，律师定位转变为“为社会提供法律服务的执业人员”。历经2001年修正、2007年修订、2012年与2017年修正，形成现行文本。定位的转变使独立的职业伦理成为必需。</a:t>
            </a:r>
            <a:endParaRPr lang="en-US" sz="1350" dirty="0"/>
          </a:p>
        </p:txBody>
      </p:sp>
      <p:sp>
        <p:nvSpPr>
          <p:cNvPr id="19" name="Shape 17"/>
          <p:cNvSpPr/>
          <p:nvPr/>
        </p:nvSpPr>
        <p:spPr>
          <a:xfrm>
            <a:off x="6242152" y="3913632"/>
            <a:ext cx="5382616" cy="1576578"/>
          </a:xfrm>
          <a:prstGeom prst="roundRect">
            <a:avLst>
              <a:gd name="adj" fmla="val 4640"/>
            </a:avLst>
          </a:prstGeom>
          <a:solidFill>
            <a:srgbClr val="FFFFFF"/>
          </a:solidFill>
          <a:ln w="12700">
            <a:solidFill>
              <a:srgbClr val="D5DBE5"/>
            </a:solidFill>
            <a:prstDash val="solid"/>
          </a:ln>
        </p:spPr>
      </p:sp>
      <p:sp>
        <p:nvSpPr>
          <p:cNvPr id="20" name="Shape 18"/>
          <p:cNvSpPr/>
          <p:nvPr/>
        </p:nvSpPr>
        <p:spPr>
          <a:xfrm>
            <a:off x="6498184" y="4473321"/>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447332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规范化发展（2007年至今）</a:t>
            </a:r>
            <a:endParaRPr lang="en-US" sz="1500" dirty="0"/>
          </a:p>
        </p:txBody>
      </p:sp>
      <p:sp>
        <p:nvSpPr>
          <p:cNvPr id="23" name="Text 21"/>
          <p:cNvSpPr/>
          <p:nvPr/>
        </p:nvSpPr>
        <p:spPr>
          <a:xfrm>
            <a:off x="7119976" y="4358640"/>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2007年修订大幅强化律师执业权利（会见、阅卷、调查取证）；《律师执业行为规范》等行业规范体系逐步完善；2022年《法律援助法》施行；司法部将修订《律师法》列为重点工作，各位应关注立法动态。</a:t>
            </a:r>
            <a:endParaRPr lang="en-US" sz="135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04</a:t>
            </a:r>
            <a:endParaRPr lang="en-US" sz="11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2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定位转变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从“国家法律工作者”到“执业人员”</a:t>
            </a:r>
            <a:endParaRPr lang="en-US" sz="2800" dirty="0"/>
          </a:p>
        </p:txBody>
      </p:sp>
      <p:sp>
        <p:nvSpPr>
          <p:cNvPr id="4" name="Shape 2"/>
          <p:cNvSpPr/>
          <p:nvPr/>
        </p:nvSpPr>
        <p:spPr>
          <a:xfrm>
            <a:off x="566928" y="2025333"/>
            <a:ext cx="5410048" cy="3648583"/>
          </a:xfrm>
          <a:prstGeom prst="roundRect">
            <a:avLst>
              <a:gd name="adj" fmla="val 2506"/>
            </a:avLst>
          </a:prstGeom>
          <a:solidFill>
            <a:srgbClr val="F2F4F8"/>
          </a:solidFill>
          <a:ln w="12700">
            <a:solidFill>
              <a:srgbClr val="F2F4F8"/>
            </a:solidFill>
            <a:prstDash val="solid"/>
          </a:ln>
        </p:spPr>
      </p:sp>
      <p:sp>
        <p:nvSpPr>
          <p:cNvPr id="5" name="Shape 3"/>
          <p:cNvSpPr/>
          <p:nvPr/>
        </p:nvSpPr>
        <p:spPr>
          <a:xfrm>
            <a:off x="841248" y="22813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1980年《律师暂行条例》</a:t>
            </a:r>
            <a:endParaRPr lang="en-US" sz="1600" dirty="0"/>
          </a:p>
        </p:txBody>
      </p:sp>
      <p:sp>
        <p:nvSpPr>
          <p:cNvPr id="7" name="Text 5"/>
          <p:cNvSpPr/>
          <p:nvPr/>
        </p:nvSpPr>
        <p:spPr>
          <a:xfrm>
            <a:off x="932688"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定位：国家法律工作者。</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身份：国家干部，拿国家工资。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机构：法律顾问处，具有国家机关性质。</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伦理性质：以纪律要求为主，缺乏独立的职业伦理体系。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内在张力：既受雇于国家，又要为被追诉人辩护，角色难以自洽。</a:t>
            </a:r>
            <a:endParaRPr lang="en-US" sz="1450" dirty="0"/>
          </a:p>
        </p:txBody>
      </p:sp>
      <p:sp>
        <p:nvSpPr>
          <p:cNvPr id="8" name="Shape 6"/>
          <p:cNvSpPr/>
          <p:nvPr/>
        </p:nvSpPr>
        <p:spPr>
          <a:xfrm>
            <a:off x="6214720" y="2025333"/>
            <a:ext cx="5410048" cy="3648583"/>
          </a:xfrm>
          <a:prstGeom prst="roundRect">
            <a:avLst>
              <a:gd name="adj" fmla="val 2506"/>
            </a:avLst>
          </a:prstGeom>
          <a:solidFill>
            <a:srgbClr val="F6F1E8"/>
          </a:solidFill>
          <a:ln w="12700">
            <a:solidFill>
              <a:srgbClr val="F6F1E8"/>
            </a:solidFill>
            <a:prstDash val="solid"/>
          </a:ln>
        </p:spPr>
      </p:sp>
      <p:sp>
        <p:nvSpPr>
          <p:cNvPr id="9" name="Shape 7"/>
          <p:cNvSpPr/>
          <p:nvPr/>
        </p:nvSpPr>
        <p:spPr>
          <a:xfrm>
            <a:off x="6489040" y="22813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现行《律师法》第二条</a:t>
            </a:r>
            <a:endParaRPr lang="en-US" sz="1600" dirty="0"/>
          </a:p>
        </p:txBody>
      </p:sp>
      <p:sp>
        <p:nvSpPr>
          <p:cNvPr id="11" name="Text 9"/>
          <p:cNvSpPr/>
          <p:nvPr/>
        </p:nvSpPr>
        <p:spPr>
          <a:xfrm>
            <a:off x="6580480"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定位：依法取得律师执业证书，接受委托或者指定，为当事人提供法律服务的执业人员。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身份：自由职业者或律师事务所成员，自负盈亏。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机构：合伙律师事务所、个人律师事务所、国家出资设立的律师事务所。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伦理性质：以行业自律规范为主，与国家管理相结合。</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新的张力：市场逻辑与职业逻辑之间的冲突。</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05</a:t>
            </a:r>
            <a:endParaRPr lang="en-US" sz="11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2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核心定位</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《律师法》第二条与第三条</a:t>
            </a:r>
            <a:endParaRPr lang="en-US" sz="2800" dirty="0"/>
          </a:p>
        </p:txBody>
      </p:sp>
      <p:sp>
        <p:nvSpPr>
          <p:cNvPr id="4" name="Shape 2"/>
          <p:cNvSpPr/>
          <p:nvPr/>
        </p:nvSpPr>
        <p:spPr>
          <a:xfrm>
            <a:off x="566928" y="1316736"/>
            <a:ext cx="11057839" cy="1415034"/>
          </a:xfrm>
          <a:prstGeom prst="roundRect">
            <a:avLst>
              <a:gd name="adj" fmla="val 6462"/>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《中华人民共和国律师法》第二条</a:t>
            </a:r>
            <a:endParaRPr lang="en-US" sz="1500" dirty="0"/>
          </a:p>
        </p:txBody>
      </p:sp>
      <p:sp>
        <p:nvSpPr>
          <p:cNvPr id="8" name="Text 6"/>
          <p:cNvSpPr/>
          <p:nvPr/>
        </p:nvSpPr>
        <p:spPr>
          <a:xfrm>
            <a:off x="960120" y="1956816"/>
            <a:ext cx="10271455" cy="55549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本法所称律师，是指依法取得律师执业证书，接受委托或者指定，为当事人提供法律服务的执业人员。</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律师应当维护当事人合法权益，维护法律正确实施，维护社会公平和正义。</a:t>
            </a:r>
            <a:endParaRPr lang="en-US" sz="1150" dirty="0"/>
          </a:p>
        </p:txBody>
      </p:sp>
      <p:sp>
        <p:nvSpPr>
          <p:cNvPr id="9" name="Shape 7"/>
          <p:cNvSpPr/>
          <p:nvPr/>
        </p:nvSpPr>
        <p:spPr>
          <a:xfrm>
            <a:off x="566928" y="2914650"/>
            <a:ext cx="11057839" cy="1853184"/>
          </a:xfrm>
          <a:prstGeom prst="roundRect">
            <a:avLst>
              <a:gd name="adj" fmla="val 4934"/>
            </a:avLst>
          </a:prstGeom>
          <a:solidFill>
            <a:srgbClr val="F6F1E8"/>
          </a:solidFill>
          <a:ln w="12700">
            <a:solidFill>
              <a:srgbClr val="F6F1E8"/>
            </a:solidFill>
            <a:prstDash val="solid"/>
          </a:ln>
        </p:spPr>
      </p:sp>
      <p:sp>
        <p:nvSpPr>
          <p:cNvPr id="10" name="Shape 8"/>
          <p:cNvSpPr/>
          <p:nvPr/>
        </p:nvSpPr>
        <p:spPr>
          <a:xfrm>
            <a:off x="877824" y="3152394"/>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15239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13410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《中华人民共和国律师法》第三条</a:t>
            </a:r>
            <a:endParaRPr lang="en-US" sz="1500" dirty="0"/>
          </a:p>
        </p:txBody>
      </p:sp>
      <p:sp>
        <p:nvSpPr>
          <p:cNvPr id="13" name="Text 11"/>
          <p:cNvSpPr/>
          <p:nvPr/>
        </p:nvSpPr>
        <p:spPr>
          <a:xfrm>
            <a:off x="960120" y="3554730"/>
            <a:ext cx="10271455" cy="99364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律师执业必须遵守宪法和法律，恪守律师职业道德和执业纪律。</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律师执业必须以事实为根据，以法律为准绳。</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律师执业应当接受国家、社会和当事人的监督。</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律师依法执业受法律保护，任何组织和个人不得侵害律师的合法权益。</a:t>
            </a:r>
            <a:endParaRPr lang="en-US" sz="11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二条第二款的“三个维护”是律师职业伦理的总纲。请注意其中的限定词“合法权益”——这四个字划定了忠诚义务的边界：律师维护的是当事人的合法权益，不包括非法利益。当事人要求造假，那个诉求不是“合法权益”，拒绝它并不违反第一个“维护”。第三条则呈现“义务—标准—监督—保障”的四段式结构。</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06</a:t>
            </a:r>
            <a:endParaRPr lang="en-US" sz="11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26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律师事务所的组织形式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组织形式决定责任承担方式，也决定利益冲突审查的范围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07</a:t>
            </a:r>
            <a:endParaRPr lang="en-US" sz="11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2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三种形式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律师事务所的组织形式与责任</a:t>
            </a:r>
            <a:endParaRPr lang="en-US" sz="2800" dirty="0"/>
          </a:p>
        </p:txBody>
      </p:sp>
      <p:sp>
        <p:nvSpPr>
          <p:cNvPr id="4" name="Shape 2"/>
          <p:cNvSpPr/>
          <p:nvPr/>
        </p:nvSpPr>
        <p:spPr>
          <a:xfrm>
            <a:off x="566928" y="1905699"/>
            <a:ext cx="3527450" cy="38878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19830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335467"/>
            <a:ext cx="182880" cy="182880"/>
          </a:xfrm>
          <a:prstGeom prst="rect">
            <a:avLst/>
          </a:prstGeom>
        </p:spPr>
      </p:pic>
      <p:sp>
        <p:nvSpPr>
          <p:cNvPr id="7" name="Text 4"/>
          <p:cNvSpPr/>
          <p:nvPr/>
        </p:nvSpPr>
        <p:spPr>
          <a:xfrm>
            <a:off x="886968"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合伙律师事务所</a:t>
            </a:r>
            <a:endParaRPr lang="en-US" sz="1700" dirty="0"/>
          </a:p>
        </p:txBody>
      </p:sp>
      <p:sp>
        <p:nvSpPr>
          <p:cNvPr id="8" name="Text 5"/>
          <p:cNvSpPr/>
          <p:nvPr/>
        </p:nvSpPr>
        <p:spPr>
          <a:xfrm>
            <a:off x="886968"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分为普通合伙与特殊的普通合伙。普通合伙人对律所债务承担无限连带责任；特殊的普通合伙中，一名或者数名合伙人在执业活动中因故意或者重大过失造成的债务，由其承担无限责任或者无限连带责任，其他合伙人以其在律所中的财产份额为限承担责任。</a:t>
            </a:r>
            <a:endParaRPr lang="en-US" sz="1450" dirty="0"/>
          </a:p>
        </p:txBody>
      </p:sp>
      <p:sp>
        <p:nvSpPr>
          <p:cNvPr id="9" name="Shape 6"/>
          <p:cNvSpPr/>
          <p:nvPr/>
        </p:nvSpPr>
        <p:spPr>
          <a:xfrm>
            <a:off x="4332122" y="1905699"/>
            <a:ext cx="3527450" cy="38878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219830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335467"/>
            <a:ext cx="182880" cy="182880"/>
          </a:xfrm>
          <a:prstGeom prst="rect">
            <a:avLst/>
          </a:prstGeom>
        </p:spPr>
      </p:pic>
      <p:sp>
        <p:nvSpPr>
          <p:cNvPr id="12" name="Text 8"/>
          <p:cNvSpPr/>
          <p:nvPr/>
        </p:nvSpPr>
        <p:spPr>
          <a:xfrm>
            <a:off x="4652162"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个人律师事务所</a:t>
            </a:r>
            <a:endParaRPr lang="en-US" sz="1700" dirty="0"/>
          </a:p>
        </p:txBody>
      </p:sp>
      <p:sp>
        <p:nvSpPr>
          <p:cNvPr id="13" name="Text 9"/>
          <p:cNvSpPr/>
          <p:nvPr/>
        </p:nvSpPr>
        <p:spPr>
          <a:xfrm>
            <a:off x="4652162"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由一名符合条件的律师设立，设立人对律所债务承担无限责任。设立人须具有一定年限的执业经历。规模小、决策快，但抗风险能力弱，且利益冲突审查的技术条件相对薄弱。</a:t>
            </a:r>
            <a:endParaRPr lang="en-US" sz="1450" dirty="0"/>
          </a:p>
        </p:txBody>
      </p:sp>
      <p:sp>
        <p:nvSpPr>
          <p:cNvPr id="14" name="Shape 10"/>
          <p:cNvSpPr/>
          <p:nvPr/>
        </p:nvSpPr>
        <p:spPr>
          <a:xfrm>
            <a:off x="8097317" y="1905699"/>
            <a:ext cx="3527450" cy="38878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219830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335467"/>
            <a:ext cx="182880" cy="182880"/>
          </a:xfrm>
          <a:prstGeom prst="rect">
            <a:avLst/>
          </a:prstGeom>
        </p:spPr>
      </p:pic>
      <p:sp>
        <p:nvSpPr>
          <p:cNvPr id="17" name="Text 12"/>
          <p:cNvSpPr/>
          <p:nvPr/>
        </p:nvSpPr>
        <p:spPr>
          <a:xfrm>
            <a:off x="8417357"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国家出资设立的律师事务所</a:t>
            </a:r>
            <a:endParaRPr lang="en-US" sz="1700" dirty="0"/>
          </a:p>
        </p:txBody>
      </p:sp>
      <p:sp>
        <p:nvSpPr>
          <p:cNvPr id="18" name="Text 13"/>
          <p:cNvSpPr/>
          <p:nvPr/>
        </p:nvSpPr>
        <p:spPr>
          <a:xfrm>
            <a:off x="8417357"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依法自主开展律师业务，以其全部资产对其债务承担责任。此外还有公职律师办公室、公司律师办公室等特殊形式，其人员兼具单位职员与律师的双重身份。</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08</a:t>
            </a:r>
            <a:endParaRPr lang="en-US" sz="11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2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为什么组织形式是伦理问题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律所形式与职业伦理的三重关联</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组织形式看似是商法问题，实则与职业伦理密切相关。</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第一，利益冲突的审查范围。原则上，同一律师事务所的不同律师不得在同一案件中代理双方当事人——冲突的判断单位是“所”而非“人”。因此律所规模越大、分所越多，冲突审查的技术难度越高。</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第二，责任承担的方式。委托人因律师过错受损时，向谁主张？合伙律所与个人律所的责任基础不同，这直接影响委托人的救济可能性，也影响律师的执业风险防范。</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管理责任的落实。《律师法》与《律师事务所管理办法》要求律所对律师执业行为承担管理责任——包括利益冲突审查、收费管理、档案管理、投诉处理。律所不是律师的“挂靠单位”，而是负有实质管理义务的主体。</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第21课时我们将专门讨论律师事务所的治理与管理责任。此处先建立一个观念：律师的执业行为，同时也是律所的行为。</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09</a:t>
            </a:r>
            <a:endParaRPr lang="en-US" sz="11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27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律师职业伦理的性质</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自律性、双重性与非道德性——三个必须辨析清楚的命题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10</a:t>
            </a:r>
            <a:endParaRPr lang="en-US" sz="11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2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性质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律师职业伦理的三重性质</a:t>
            </a:r>
            <a:endParaRPr lang="en-US" sz="2800" dirty="0"/>
          </a:p>
        </p:txBody>
      </p:sp>
      <p:sp>
        <p:nvSpPr>
          <p:cNvPr id="4" name="Shape 2"/>
          <p:cNvSpPr/>
          <p:nvPr/>
        </p:nvSpPr>
        <p:spPr>
          <a:xfrm>
            <a:off x="566928" y="1316736"/>
            <a:ext cx="11057839" cy="1591056"/>
          </a:xfrm>
          <a:prstGeom prst="roundRect">
            <a:avLst>
              <a:gd name="adj" fmla="val 4598"/>
            </a:avLst>
          </a:prstGeom>
          <a:solidFill>
            <a:srgbClr val="F2F4F8"/>
          </a:solidFill>
          <a:ln w="12700">
            <a:solidFill>
              <a:srgbClr val="F2F4F8"/>
            </a:solidFill>
            <a:prstDash val="solid"/>
          </a:ln>
        </p:spPr>
      </p:sp>
      <p:sp>
        <p:nvSpPr>
          <p:cNvPr id="5" name="Shape 3"/>
          <p:cNvSpPr/>
          <p:nvPr/>
        </p:nvSpPr>
        <p:spPr>
          <a:xfrm>
            <a:off x="841248" y="185623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09851"/>
            <a:ext cx="204826" cy="204826"/>
          </a:xfrm>
          <a:prstGeom prst="rect">
            <a:avLst/>
          </a:prstGeom>
        </p:spPr>
      </p:pic>
      <p:sp>
        <p:nvSpPr>
          <p:cNvPr id="7" name="Text 4"/>
          <p:cNvSpPr/>
          <p:nvPr/>
        </p:nvSpPr>
        <p:spPr>
          <a:xfrm>
            <a:off x="1536192" y="152723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一、鲜明的自律性</a:t>
            </a:r>
            <a:endParaRPr lang="en-US" sz="1650" dirty="0"/>
          </a:p>
        </p:txBody>
      </p:sp>
      <p:sp>
        <p:nvSpPr>
          <p:cNvPr id="8" name="Text 5"/>
          <p:cNvSpPr/>
          <p:nvPr/>
        </p:nvSpPr>
        <p:spPr>
          <a:xfrm>
            <a:off x="1536192" y="186861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的职业道德具有鲜明的自律性特点。与法官、检察官不同，律师不行使公权力，其行为主要依靠行业规范与自我约束调整。我国实行司法行政机关行政管理与律师协会行业自律相结合的“两结合”体制，但行业规范仍是律师伦理最细密、最贴近实践的部分。</a:t>
            </a:r>
            <a:endParaRPr lang="en-US" sz="1500" dirty="0"/>
          </a:p>
        </p:txBody>
      </p:sp>
      <p:sp>
        <p:nvSpPr>
          <p:cNvPr id="9" name="Shape 6"/>
          <p:cNvSpPr/>
          <p:nvPr/>
        </p:nvSpPr>
        <p:spPr>
          <a:xfrm>
            <a:off x="566928" y="3054096"/>
            <a:ext cx="11057839" cy="1591056"/>
          </a:xfrm>
          <a:prstGeom prst="roundRect">
            <a:avLst>
              <a:gd name="adj" fmla="val 4598"/>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二、内在的双重性</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法》第二条第二款要求律师同时“维护当事人合法权益、维护法律正确实施、维护社会公平和正义”。前者指向私人受托人角色，后两者指向公共职责。这一双重性使律师区别于纯粹的商业代理人，也是我国律师定位接近大陆法系“司法机关组成部分”的体现。</a:t>
            </a:r>
            <a:endParaRPr lang="en-US" sz="1500" dirty="0"/>
          </a:p>
        </p:txBody>
      </p:sp>
      <p:sp>
        <p:nvSpPr>
          <p:cNvPr id="14" name="Shape 10"/>
          <p:cNvSpPr/>
          <p:nvPr/>
        </p:nvSpPr>
        <p:spPr>
          <a:xfrm>
            <a:off x="566928" y="4791456"/>
            <a:ext cx="11057839" cy="1591056"/>
          </a:xfrm>
          <a:prstGeom prst="roundRect">
            <a:avLst>
              <a:gd name="adj" fmla="val 4598"/>
            </a:avLst>
          </a:prstGeom>
          <a:solidFill>
            <a:srgbClr val="F2F4F8"/>
          </a:solidFill>
          <a:ln w="12700">
            <a:solidFill>
              <a:srgbClr val="F2F4F8"/>
            </a:solidFill>
            <a:prstDash val="solid"/>
          </a:ln>
        </p:spPr>
      </p:sp>
      <p:sp>
        <p:nvSpPr>
          <p:cNvPr id="15" name="Shape 11"/>
          <p:cNvSpPr/>
          <p:nvPr/>
        </p:nvSpPr>
        <p:spPr>
          <a:xfrm>
            <a:off x="841248" y="533095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84571"/>
            <a:ext cx="204826" cy="204826"/>
          </a:xfrm>
          <a:prstGeom prst="rect">
            <a:avLst/>
          </a:prstGeom>
        </p:spPr>
      </p:pic>
      <p:sp>
        <p:nvSpPr>
          <p:cNvPr id="17" name="Text 12"/>
          <p:cNvSpPr/>
          <p:nvPr/>
        </p:nvSpPr>
        <p:spPr>
          <a:xfrm>
            <a:off x="1536192" y="500195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三、争议中的非道德性</a:t>
            </a:r>
            <a:endParaRPr lang="en-US" sz="1650" dirty="0"/>
          </a:p>
        </p:txBody>
      </p:sp>
      <p:sp>
        <p:nvSpPr>
          <p:cNvPr id="18" name="Text 13"/>
          <p:cNvSpPr/>
          <p:nvPr/>
        </p:nvSpPr>
        <p:spPr>
          <a:xfrm>
            <a:off x="1536192" y="534333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有学者认为律师职业具有非道德性（amoral）的特点：律师不因当事人的目的或品行而受道德归责，道德评价交由法庭依法作出。这一命题保护的是“任何人都有权获得辩护”这一原则，但其边界在于《律师法》第四十条的禁止性规定，越界即失去保护。</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11</a:t>
            </a:r>
            <a:endParaRPr lang="en-US" sz="11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2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张力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三个“维护”发生冲突时怎么办</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规范适用</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当事人要求作虚假陈述</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某民间借贷纠纷中，被告委托律师应诉。会见中被告告知律师：借条上的签名确系本人所签，但其打算在法庭上主张签名系伪造，要求律师配合作此抗辩，并称“这是我的诉讼策略，你只需照办”。</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被告进一步表示：如果律师不配合，就解除委托并向律协投诉律师“不尽职”。</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相关规范包括：《律师法》第二条第二款“三个维护”；第四十条第（六）项禁止故意提供虚假证据或者威胁、利诱他人提供虚假证据；《律师执业行为规范》关于不得帮助委托人实施违法行为的规定；以及《刑法》第三百零六条辩护人、诉讼代理人妨害作证罪（限于刑事诉讼）。</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律师应否配合？请指出规范依据。</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“维护当事人合法权益”是否要求律师照办？</a:t>
            </a:r>
            <a:endParaRPr lang="en-US" sz="1400" dirty="0"/>
          </a:p>
        </p:txBody>
      </p:sp>
      <p:sp>
        <p:nvSpPr>
          <p:cNvPr id="17" name="Shape 15"/>
          <p:cNvSpPr/>
          <p:nvPr/>
        </p:nvSpPr>
        <p:spPr>
          <a:xfrm>
            <a:off x="7958023" y="397471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397471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852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律师可以采取哪些正当的应对方式？</a:t>
            </a:r>
            <a:endParaRPr lang="en-US" sz="1400" dirty="0"/>
          </a:p>
        </p:txBody>
      </p:sp>
      <p:sp>
        <p:nvSpPr>
          <p:cNvPr id="20" name="Shape 18"/>
          <p:cNvSpPr/>
          <p:nvPr/>
        </p:nvSpPr>
        <p:spPr>
          <a:xfrm>
            <a:off x="7958023" y="472630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72630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73011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若律师照办，可能承担什么责任？</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12</a:t>
            </a:r>
            <a:endParaRPr lang="en-US" sz="11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27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律师职业伦理的渊源体系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四部核心规范加配套规则，构成我国最细密的职业伦理规范群</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13</a:t>
            </a:r>
            <a:endParaRPr lang="en-US" sz="1100" dirty="0"/>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四部核心规范及其分工（复习并深化）</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《律师法》：基本法与法律责任</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第三章“律师的权利和义务”（第二十八条至第四十二条）是伦理规范的法律层核心，规定业务范围、执业权利、保密义务、利益冲突禁止、禁止行为清单、法律援助义务等；第七章“法律责任”规定行政处罚的种类与适用。</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《律师执业管理办法》：行政监管</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司法部规章。第四章“律师执业行为规范”对执业行为提出明确要求，第五章规定司法行政机关的监督管理与行政处罚权限及程序。侧重管理与处罚，是行政责任的直接依据。</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《律师执业行为规范》：行业核心规范</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中华全国律师协会制定，是我国律师职业最重要的职业伦理规范。第二章“律师执业基本行为规范”规定基本价值取向与理想追求；其后各章分别规范律师与委托人的关系、业务推广、参与诉讼与仲裁、律师之间的关系、与司法机关的关系等。</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《律师职业道德基本准则》：理念宣示</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中华全国律师协会依据司法部关于加强律师职业道德建设的意见制定。概括性、抽象性强，主要发挥价值引领功能。因缺乏具体构成要件，一般不宜单独作为惩戒依据。</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14</a:t>
            </a:r>
            <a:endParaRPr lang="en-US" sz="11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2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配套规范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必须知道的配套规则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除四部核心规范外，还有一批配套规则在实务中频繁适用。</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《律师协会会员违规行为处分规则》——行业惩戒的程序与处分种类依据，包括训诫、通报批评、公开谴责、中止会员权利、取消会员资格等。</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《律师办理刑事案件规范》——刑事辩护的操作指引，涉及接受委托、会见、阅卷、调查取证、质证、辩论等各环节的行为界限。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《律师执业推广行为规则》——规范广告宣传、媒体发言、案件推介、网络自媒体等行为。</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《律师承办民事诉讼案件业务操作指引》等业务指引——虽以“操作”为名，实含大量伦理要求。</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各省市律师协会的实施细则——注意地方规范可能对全国规范作出更严格的规定，从严不从宽。</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实务提示：律协规范体系庞杂且更新频繁。援引前务必核对现行有效文本与修订日期。</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15</a:t>
            </a:r>
            <a:endParaRPr lang="en-US" sz="11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27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律师执业权利保障</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保障律师执业权利，不只是律师的利益，更是当事人权利与法治的需要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16</a:t>
            </a:r>
            <a:endParaRPr lang="en-US" sz="11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2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核心权利</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《律师法》上的三项核心执业权利</a:t>
            </a:r>
            <a:endParaRPr lang="en-US" sz="2800" dirty="0"/>
          </a:p>
        </p:txBody>
      </p:sp>
      <p:sp>
        <p:nvSpPr>
          <p:cNvPr id="4" name="Shape 2"/>
          <p:cNvSpPr/>
          <p:nvPr/>
        </p:nvSpPr>
        <p:spPr>
          <a:xfrm>
            <a:off x="566928" y="1316736"/>
            <a:ext cx="11057839" cy="1615377"/>
          </a:xfrm>
          <a:prstGeom prst="roundRect">
            <a:avLst>
              <a:gd name="adj" fmla="val 5661"/>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《律师法》第三十三条（会见权）</a:t>
            </a:r>
            <a:endParaRPr lang="en-US" sz="1500" dirty="0"/>
          </a:p>
        </p:txBody>
      </p:sp>
      <p:sp>
        <p:nvSpPr>
          <p:cNvPr id="8" name="Text 6"/>
          <p:cNvSpPr/>
          <p:nvPr/>
        </p:nvSpPr>
        <p:spPr>
          <a:xfrm>
            <a:off x="960120" y="1956816"/>
            <a:ext cx="10271455" cy="755841"/>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犯罪嫌疑人被侦查机关第一次讯问或者采取强制措施之日起，受委托的律师凭律师执业证书、律师事务所证明和委托书或者法律援助公函，有权会见犯罪嫌疑人、被告人并了解有关情况。律师会见犯罪嫌疑人、被告人，不被监听。</a:t>
            </a:r>
            <a:endParaRPr lang="en-US" sz="1550" dirty="0"/>
          </a:p>
        </p:txBody>
      </p:sp>
      <p:sp>
        <p:nvSpPr>
          <p:cNvPr id="9" name="Shape 7"/>
          <p:cNvSpPr/>
          <p:nvPr/>
        </p:nvSpPr>
        <p:spPr>
          <a:xfrm>
            <a:off x="566928" y="3114993"/>
            <a:ext cx="11057839" cy="1910652"/>
          </a:xfrm>
          <a:prstGeom prst="roundRect">
            <a:avLst>
              <a:gd name="adj" fmla="val 4786"/>
            </a:avLst>
          </a:prstGeom>
          <a:solidFill>
            <a:srgbClr val="F6F1E8"/>
          </a:solidFill>
          <a:ln w="12700">
            <a:solidFill>
              <a:srgbClr val="F6F1E8"/>
            </a:solidFill>
            <a:prstDash val="solid"/>
          </a:ln>
        </p:spPr>
      </p:sp>
      <p:sp>
        <p:nvSpPr>
          <p:cNvPr id="10" name="Shape 8"/>
          <p:cNvSpPr/>
          <p:nvPr/>
        </p:nvSpPr>
        <p:spPr>
          <a:xfrm>
            <a:off x="877824" y="3352737"/>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52737"/>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34449"/>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《律师法》第三十七条（言论豁免）</a:t>
            </a:r>
            <a:endParaRPr lang="en-US" sz="1500" dirty="0"/>
          </a:p>
        </p:txBody>
      </p:sp>
      <p:sp>
        <p:nvSpPr>
          <p:cNvPr id="13" name="Text 11"/>
          <p:cNvSpPr/>
          <p:nvPr/>
        </p:nvSpPr>
        <p:spPr>
          <a:xfrm>
            <a:off x="960120" y="3755073"/>
            <a:ext cx="10271455" cy="1051116"/>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律师在执业活动中的人身权利不受侵犯。</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律师在法庭上发表的代理、辩护意见不受法律追究。但是，发表危害国家安全、恶意诽谤他人、严重扰乱法庭秩序的言论除外。</a:t>
            </a:r>
            <a:endParaRPr lang="en-US" sz="15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言论豁免与法官的职业特权在法理上同构：如果发言者随时可能因发言被追究，他就不敢畅所欲言，而诉讼所需要的恰恰是充分表达。请注意豁免有三项除外情形，且限于“在法庭上发表的代理、辩护意见”——庭外言论、自媒体发言不在豁免范围内。</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17</a:t>
            </a:r>
            <a:endParaRPr lang="en-US" sz="11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2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会见难、阅卷难、调查取证难</a:t>
            </a:r>
            <a:endParaRPr lang="en-US" sz="2800" dirty="0"/>
          </a:p>
        </p:txBody>
      </p:sp>
      <p:sp>
        <p:nvSpPr>
          <p:cNvPr id="4" name="Shape 2"/>
          <p:cNvSpPr/>
          <p:nvPr/>
        </p:nvSpPr>
        <p:spPr>
          <a:xfrm>
            <a:off x="566928" y="1384491"/>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7709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14259"/>
            <a:ext cx="182880" cy="182880"/>
          </a:xfrm>
          <a:prstGeom prst="rect">
            <a:avLst/>
          </a:prstGeom>
        </p:spPr>
      </p:pic>
      <p:sp>
        <p:nvSpPr>
          <p:cNvPr id="7" name="Text 4"/>
          <p:cNvSpPr/>
          <p:nvPr/>
        </p:nvSpPr>
        <p:spPr>
          <a:xfrm>
            <a:off x="886968"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会见权</a:t>
            </a:r>
            <a:endParaRPr lang="en-US" sz="1400" dirty="0"/>
          </a:p>
        </p:txBody>
      </p:sp>
      <p:sp>
        <p:nvSpPr>
          <p:cNvPr id="8" name="Text 5"/>
          <p:cNvSpPr/>
          <p:nvPr/>
        </p:nvSpPr>
        <p:spPr>
          <a:xfrm>
            <a:off x="886968"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辩护律师持律师执业证书、律师事务所证明和委托书或者法律援助公函，要求会见在押的犯罪嫌疑人、被告人的，看守所应当及时安排会见，至迟不得超过四十八小时。会见不被监听。三类特殊案件在侦查期间会见须经侦查机关许可。</a:t>
            </a:r>
            <a:endParaRPr lang="en-US" sz="1150" dirty="0"/>
          </a:p>
        </p:txBody>
      </p:sp>
      <p:sp>
        <p:nvSpPr>
          <p:cNvPr id="9" name="Shape 6"/>
          <p:cNvSpPr/>
          <p:nvPr/>
        </p:nvSpPr>
        <p:spPr>
          <a:xfrm>
            <a:off x="6214720" y="1384491"/>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77099"/>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14259"/>
            <a:ext cx="182880" cy="182880"/>
          </a:xfrm>
          <a:prstGeom prst="rect">
            <a:avLst/>
          </a:prstGeom>
        </p:spPr>
      </p:pic>
      <p:sp>
        <p:nvSpPr>
          <p:cNvPr id="12" name="Text 8"/>
          <p:cNvSpPr/>
          <p:nvPr/>
        </p:nvSpPr>
        <p:spPr>
          <a:xfrm>
            <a:off x="6534760"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阅卷权</a:t>
            </a:r>
            <a:endParaRPr lang="en-US" sz="1400" dirty="0"/>
          </a:p>
        </p:txBody>
      </p:sp>
      <p:sp>
        <p:nvSpPr>
          <p:cNvPr id="13" name="Text 9"/>
          <p:cNvSpPr/>
          <p:nvPr/>
        </p:nvSpPr>
        <p:spPr>
          <a:xfrm>
            <a:off x="6534760"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辩护律师自人民检察院对案件审查起诉之日起，可以查阅、摘抄、复制本案的案卷材料。其他辩护人经许可，也可以查阅、摘抄、复制上述材料。实务中的问题多为变相拖延而非明确拒绝。</a:t>
            </a:r>
            <a:endParaRPr lang="en-US" sz="1150" dirty="0"/>
          </a:p>
        </p:txBody>
      </p:sp>
      <p:sp>
        <p:nvSpPr>
          <p:cNvPr id="14" name="Shape 10"/>
          <p:cNvSpPr/>
          <p:nvPr/>
        </p:nvSpPr>
        <p:spPr>
          <a:xfrm>
            <a:off x="566928" y="4027107"/>
            <a:ext cx="5410048" cy="2287651"/>
          </a:xfrm>
          <a:prstGeom prst="roundRect">
            <a:avLst>
              <a:gd name="adj" fmla="val 3997"/>
            </a:avLst>
          </a:prstGeom>
          <a:solidFill>
            <a:srgbClr val="ECF3F2"/>
          </a:solidFill>
          <a:ln w="12700">
            <a:solidFill>
              <a:srgbClr val="ECF3F2"/>
            </a:solidFill>
            <a:prstDash val="solid"/>
          </a:ln>
        </p:spPr>
      </p:sp>
      <p:sp>
        <p:nvSpPr>
          <p:cNvPr id="15" name="Shape 11"/>
          <p:cNvSpPr/>
          <p:nvPr/>
        </p:nvSpPr>
        <p:spPr>
          <a:xfrm>
            <a:off x="886968" y="4319715"/>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456875"/>
            <a:ext cx="182880" cy="182880"/>
          </a:xfrm>
          <a:prstGeom prst="rect">
            <a:avLst/>
          </a:prstGeom>
        </p:spPr>
      </p:pic>
      <p:sp>
        <p:nvSpPr>
          <p:cNvPr id="17" name="Text 12"/>
          <p:cNvSpPr/>
          <p:nvPr/>
        </p:nvSpPr>
        <p:spPr>
          <a:xfrm>
            <a:off x="886968"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调查取证权</a:t>
            </a:r>
            <a:endParaRPr lang="en-US" sz="1400" dirty="0"/>
          </a:p>
        </p:txBody>
      </p:sp>
      <p:sp>
        <p:nvSpPr>
          <p:cNvPr id="18" name="Text 13"/>
          <p:cNvSpPr/>
          <p:nvPr/>
        </p:nvSpPr>
        <p:spPr>
          <a:xfrm>
            <a:off x="886968"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可以向有关单位或者个人调查、核实证据，但需其同意；向被害人及其近亲属、被害人提供的证人收集材料，须经检察院或法院许可并经本人同意。取证权受限较多，这也是《刑法》第三百零六条备受争议的背景。</a:t>
            </a:r>
            <a:endParaRPr lang="en-US" sz="1150" dirty="0"/>
          </a:p>
        </p:txBody>
      </p:sp>
      <p:sp>
        <p:nvSpPr>
          <p:cNvPr id="19" name="Shape 14"/>
          <p:cNvSpPr/>
          <p:nvPr/>
        </p:nvSpPr>
        <p:spPr>
          <a:xfrm>
            <a:off x="6214720" y="4027107"/>
            <a:ext cx="5410048" cy="2287651"/>
          </a:xfrm>
          <a:prstGeom prst="roundRect">
            <a:avLst>
              <a:gd name="adj" fmla="val 3997"/>
            </a:avLst>
          </a:prstGeom>
          <a:solidFill>
            <a:srgbClr val="F8EFF0"/>
          </a:solidFill>
          <a:ln w="12700">
            <a:solidFill>
              <a:srgbClr val="F8EFF0"/>
            </a:solidFill>
            <a:prstDash val="solid"/>
          </a:ln>
        </p:spPr>
      </p:sp>
      <p:sp>
        <p:nvSpPr>
          <p:cNvPr id="20" name="Shape 15"/>
          <p:cNvSpPr/>
          <p:nvPr/>
        </p:nvSpPr>
        <p:spPr>
          <a:xfrm>
            <a:off x="6534760" y="4319715"/>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456875"/>
            <a:ext cx="182880" cy="182880"/>
          </a:xfrm>
          <a:prstGeom prst="rect">
            <a:avLst/>
          </a:prstGeom>
        </p:spPr>
      </p:pic>
      <p:sp>
        <p:nvSpPr>
          <p:cNvPr id="22" name="Text 16"/>
          <p:cNvSpPr/>
          <p:nvPr/>
        </p:nvSpPr>
        <p:spPr>
          <a:xfrm>
            <a:off x="6534760"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权利救济</a:t>
            </a:r>
            <a:endParaRPr lang="en-US" sz="1400" dirty="0"/>
          </a:p>
        </p:txBody>
      </p:sp>
      <p:sp>
        <p:nvSpPr>
          <p:cNvPr id="23" name="Text 17"/>
          <p:cNvSpPr/>
          <p:nvPr/>
        </p:nvSpPr>
        <p:spPr>
          <a:xfrm>
            <a:off x="6534760"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律师执业权利受到阻碍的，可以向同级或者上一级人民检察院申诉、控告；检察机关应当及时审查并通知有关机关予以纠正。这是2015年建立的律师执业权利救济机制的核心渠道。</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18</a:t>
            </a:r>
            <a:endParaRPr lang="en-US" sz="11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2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伦理视角</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为什么执业权利保障是伦理问题</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有同学会问：律师权利保障是律师的利益问题，为什么放在职业伦理课里讲？</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第一，权利是履行义务的条件。律师负有勤勉尽责的义务，但如果见不到当事人、看不到卷宗、取不到证据，勤勉义务就无从履行。权利受限，义务也就失去了归责的基础。</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第二，权利属于当事人而非律师。会见权、阅卷权在性质上是当事人辩护权的延伸——律师只是行使者，不是所有者。因此律师不得放弃或者怠于行使这些权利，这本身就是伦理要求。</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权利保障是共同体的共同责任。《关于律师作用的基本原则》要求：律师不应因履行职责而受到威胁、妨碍、恐吓或不适当干涉。保障律师执业权利，是法官、检察官职业伦理的组成部分，而非仅仅是律师的诉求。</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请记住这一转换视角：讨论律师权利时，问的不应是“律师能得到什么”，而是“当事人能否获得有效的法律帮助”。</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19</a:t>
            </a:r>
            <a:endParaRPr lang="en-US" sz="11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2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1980年《律师暂行条例》将律师定位为“国家法律工作者”。这一定位在为被追诉人辩护时会产生什么内在矛盾？现行“执业人员”的定位是否完全消解了这一矛盾？</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《律师法》第二条第二款要求律师同时维护当事人合法权益、维护法律正确实施、维护社会公平和正义。当三者发生冲突时，是否存在固定的位阶？请举例说明。</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律师的言论豁免限于“在法庭上发表的代理、辩护意见”。在自媒体高度发达的今天，律师庭外就承办案件发表评论应受何种约束？请提出一个判断框架。</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《刑法》第三百零六条设立了辩护人、诉讼代理人妨害作证罪。有观点认为该条对律师取证形成“寒蝉效应”。请从执业权利保障与防止伪证的双重目标出发，评价该条的合理性。</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第12课时 · 20</a:t>
            </a:r>
            <a:endParaRPr lang="en-US" sz="11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283">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第12课时要点回顾</a:t>
            </a:r>
            <a:endParaRPr lang="en-US" sz="3000" dirty="0"/>
          </a:p>
        </p:txBody>
      </p:sp>
      <p:sp>
        <p:nvSpPr>
          <p:cNvPr id="4" name="Shape 2"/>
          <p:cNvSpPr/>
          <p:nvPr/>
        </p:nvSpPr>
        <p:spPr>
          <a:xfrm>
            <a:off x="566928" y="1591056"/>
            <a:ext cx="11057839" cy="799370"/>
          </a:xfrm>
          <a:prstGeom prst="roundRect">
            <a:avLst>
              <a:gd name="adj" fmla="val 9151"/>
            </a:avLst>
          </a:prstGeom>
          <a:solidFill>
            <a:srgbClr val="25395F"/>
          </a:solidFill>
          <a:ln w="12700">
            <a:solidFill>
              <a:srgbClr val="25395F"/>
            </a:solidFill>
            <a:prstDash val="solid"/>
          </a:ln>
        </p:spPr>
      </p:sp>
      <p:sp>
        <p:nvSpPr>
          <p:cNvPr id="5" name="Shape 3"/>
          <p:cNvSpPr/>
          <p:nvPr/>
        </p:nvSpPr>
        <p:spPr>
          <a:xfrm>
            <a:off x="859536" y="178957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10274"/>
            <a:ext cx="160934" cy="160934"/>
          </a:xfrm>
          <a:prstGeom prst="rect">
            <a:avLst/>
          </a:prstGeom>
        </p:spPr>
      </p:pic>
      <p:sp>
        <p:nvSpPr>
          <p:cNvPr id="7" name="Text 4"/>
          <p:cNvSpPr/>
          <p:nvPr/>
        </p:nvSpPr>
        <p:spPr>
          <a:xfrm>
            <a:off x="1444752" y="175261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我国律师制度历经初创与中断（1950年代）、恢复重建（1979—1980）、职业化转型（1996—2007）、规范化发展（2007年至今）四个阶段；定位由“国家法律工作者”转变为“为社会提供法律服务的执业人员”。</a:t>
            </a:r>
            <a:endParaRPr lang="en-US" sz="1250" dirty="0"/>
          </a:p>
        </p:txBody>
      </p:sp>
      <p:sp>
        <p:nvSpPr>
          <p:cNvPr id="8" name="Shape 5"/>
          <p:cNvSpPr/>
          <p:nvPr/>
        </p:nvSpPr>
        <p:spPr>
          <a:xfrm>
            <a:off x="566928" y="2527586"/>
            <a:ext cx="11057839" cy="799370"/>
          </a:xfrm>
          <a:prstGeom prst="roundRect">
            <a:avLst>
              <a:gd name="adj" fmla="val 9151"/>
            </a:avLst>
          </a:prstGeom>
          <a:solidFill>
            <a:srgbClr val="25395F"/>
          </a:solidFill>
          <a:ln w="12700">
            <a:solidFill>
              <a:srgbClr val="25395F"/>
            </a:solidFill>
            <a:prstDash val="solid"/>
          </a:ln>
        </p:spPr>
      </p:sp>
      <p:sp>
        <p:nvSpPr>
          <p:cNvPr id="9" name="Shape 6"/>
          <p:cNvSpPr/>
          <p:nvPr/>
        </p:nvSpPr>
        <p:spPr>
          <a:xfrm>
            <a:off x="859536" y="2726103"/>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846803"/>
            <a:ext cx="160934" cy="160934"/>
          </a:xfrm>
          <a:prstGeom prst="rect">
            <a:avLst/>
          </a:prstGeom>
        </p:spPr>
      </p:pic>
      <p:sp>
        <p:nvSpPr>
          <p:cNvPr id="11" name="Text 7"/>
          <p:cNvSpPr/>
          <p:nvPr/>
        </p:nvSpPr>
        <p:spPr>
          <a:xfrm>
            <a:off x="1444752" y="268914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《律师法》第二条第二款的“三个维护”是律师伦理总纲；“合法权益”四字划定忠诚义务边界。第三条呈现“义务—标准—监督—保障”四段式结构。</a:t>
            </a:r>
            <a:endParaRPr lang="en-US" sz="1250" dirty="0"/>
          </a:p>
        </p:txBody>
      </p:sp>
      <p:sp>
        <p:nvSpPr>
          <p:cNvPr id="12" name="Shape 8"/>
          <p:cNvSpPr/>
          <p:nvPr/>
        </p:nvSpPr>
        <p:spPr>
          <a:xfrm>
            <a:off x="566928" y="3464116"/>
            <a:ext cx="11057839" cy="569182"/>
          </a:xfrm>
          <a:prstGeom prst="roundRect">
            <a:avLst>
              <a:gd name="adj" fmla="val 12852"/>
            </a:avLst>
          </a:prstGeom>
          <a:solidFill>
            <a:srgbClr val="25395F"/>
          </a:solidFill>
          <a:ln w="12700">
            <a:solidFill>
              <a:srgbClr val="25395F"/>
            </a:solidFill>
            <a:prstDash val="solid"/>
          </a:ln>
        </p:spPr>
      </p:sp>
      <p:sp>
        <p:nvSpPr>
          <p:cNvPr id="13" name="Shape 9"/>
          <p:cNvSpPr/>
          <p:nvPr/>
        </p:nvSpPr>
        <p:spPr>
          <a:xfrm>
            <a:off x="859536" y="3547539"/>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68239"/>
            <a:ext cx="160934" cy="160934"/>
          </a:xfrm>
          <a:prstGeom prst="rect">
            <a:avLst/>
          </a:prstGeom>
        </p:spPr>
      </p:pic>
      <p:sp>
        <p:nvSpPr>
          <p:cNvPr id="15" name="Text 10"/>
          <p:cNvSpPr/>
          <p:nvPr/>
        </p:nvSpPr>
        <p:spPr>
          <a:xfrm>
            <a:off x="1444752" y="3629644"/>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律师事务所有合伙、个人、国家出资三种组织形式；组织形式关系到利益冲突的审查范围、责任承担方式与律所管理责任的落实。</a:t>
            </a:r>
            <a:endParaRPr lang="en-US" sz="1250" dirty="0"/>
          </a:p>
        </p:txBody>
      </p:sp>
      <p:sp>
        <p:nvSpPr>
          <p:cNvPr id="16" name="Shape 11"/>
          <p:cNvSpPr/>
          <p:nvPr/>
        </p:nvSpPr>
        <p:spPr>
          <a:xfrm>
            <a:off x="566928" y="4170458"/>
            <a:ext cx="11057839" cy="569182"/>
          </a:xfrm>
          <a:prstGeom prst="roundRect">
            <a:avLst>
              <a:gd name="adj" fmla="val 12852"/>
            </a:avLst>
          </a:prstGeom>
          <a:solidFill>
            <a:srgbClr val="25395F"/>
          </a:solidFill>
          <a:ln w="12700">
            <a:solidFill>
              <a:srgbClr val="25395F"/>
            </a:solidFill>
            <a:prstDash val="solid"/>
          </a:ln>
        </p:spPr>
      </p:sp>
      <p:sp>
        <p:nvSpPr>
          <p:cNvPr id="17" name="Shape 12"/>
          <p:cNvSpPr/>
          <p:nvPr/>
        </p:nvSpPr>
        <p:spPr>
          <a:xfrm>
            <a:off x="859536" y="4253881"/>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74582"/>
            <a:ext cx="160934" cy="160934"/>
          </a:xfrm>
          <a:prstGeom prst="rect">
            <a:avLst/>
          </a:prstGeom>
        </p:spPr>
      </p:pic>
      <p:sp>
        <p:nvSpPr>
          <p:cNvPr id="19" name="Text 13"/>
          <p:cNvSpPr/>
          <p:nvPr/>
        </p:nvSpPr>
        <p:spPr>
          <a:xfrm>
            <a:off x="1444752" y="433598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律师职业伦理具有鲜明的自律性、内在的双重性（私人受托人与公共职责）与争议中的非道德性；非道德性以《律师法》第四十条为硬边界。</a:t>
            </a:r>
            <a:endParaRPr lang="en-US" sz="1250" dirty="0"/>
          </a:p>
        </p:txBody>
      </p:sp>
      <p:sp>
        <p:nvSpPr>
          <p:cNvPr id="20" name="Shape 14"/>
          <p:cNvSpPr/>
          <p:nvPr/>
        </p:nvSpPr>
        <p:spPr>
          <a:xfrm>
            <a:off x="566928" y="4876800"/>
            <a:ext cx="11057839" cy="799370"/>
          </a:xfrm>
          <a:prstGeom prst="roundRect">
            <a:avLst>
              <a:gd name="adj" fmla="val 9151"/>
            </a:avLst>
          </a:prstGeom>
          <a:solidFill>
            <a:srgbClr val="25395F"/>
          </a:solidFill>
          <a:ln w="12700">
            <a:solidFill>
              <a:srgbClr val="25395F"/>
            </a:solidFill>
            <a:prstDash val="solid"/>
          </a:ln>
        </p:spPr>
      </p:sp>
      <p:sp>
        <p:nvSpPr>
          <p:cNvPr id="21" name="Shape 15"/>
          <p:cNvSpPr/>
          <p:nvPr/>
        </p:nvSpPr>
        <p:spPr>
          <a:xfrm>
            <a:off x="859536" y="5075317"/>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196018"/>
            <a:ext cx="160934" cy="160934"/>
          </a:xfrm>
          <a:prstGeom prst="rect">
            <a:avLst/>
          </a:prstGeom>
        </p:spPr>
      </p:pic>
      <p:sp>
        <p:nvSpPr>
          <p:cNvPr id="23" name="Text 16"/>
          <p:cNvSpPr/>
          <p:nvPr/>
        </p:nvSpPr>
        <p:spPr>
          <a:xfrm>
            <a:off x="1444752" y="5038360"/>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渊源体系：《律师法》（基本法与法律责任）、《律师执业管理办法》（行政监管）、《律师执业行为规范》（行业核心规范）、《律师职业道德基本准则》（理念宣示），另有处分规则、刑事业务规范、推广规则等配套。</a:t>
            </a:r>
            <a:endParaRPr lang="en-US" sz="1250" dirty="0"/>
          </a:p>
        </p:txBody>
      </p:sp>
      <p:sp>
        <p:nvSpPr>
          <p:cNvPr id="24" name="Shape 17"/>
          <p:cNvSpPr/>
          <p:nvPr/>
        </p:nvSpPr>
        <p:spPr>
          <a:xfrm>
            <a:off x="566928" y="5813330"/>
            <a:ext cx="11057839" cy="569182"/>
          </a:xfrm>
          <a:prstGeom prst="roundRect">
            <a:avLst>
              <a:gd name="adj" fmla="val 12852"/>
            </a:avLst>
          </a:prstGeom>
          <a:solidFill>
            <a:srgbClr val="25395F"/>
          </a:solidFill>
          <a:ln w="12700">
            <a:solidFill>
              <a:srgbClr val="25395F"/>
            </a:solidFill>
            <a:prstDash val="solid"/>
          </a:ln>
        </p:spPr>
      </p:sp>
      <p:sp>
        <p:nvSpPr>
          <p:cNvPr id="25" name="Shape 18"/>
          <p:cNvSpPr/>
          <p:nvPr/>
        </p:nvSpPr>
        <p:spPr>
          <a:xfrm>
            <a:off x="859536" y="5896753"/>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6017454"/>
            <a:ext cx="160934" cy="160934"/>
          </a:xfrm>
          <a:prstGeom prst="rect">
            <a:avLst/>
          </a:prstGeom>
        </p:spPr>
      </p:pic>
      <p:sp>
        <p:nvSpPr>
          <p:cNvPr id="27" name="Text 19"/>
          <p:cNvSpPr/>
          <p:nvPr/>
        </p:nvSpPr>
        <p:spPr>
          <a:xfrm>
            <a:off x="1444752" y="597885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执业权利保障是伦理问题：权利是履行义务的条件，权利在性质上属于当事人，保障律师执业权利是法律职业共同体的共同责任。</a:t>
            </a:r>
            <a:endParaRPr lang="en-US" sz="125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28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第13课时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律师的使命与基本执业行为规范</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在讨论具体规则之前，先确立律师这个职业“为什么存在”</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律师在法治中的四项不可替代的功能</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《律师执业行为规范》第二章的基本行为要求</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律师之间的关系：同业竞争的伦理边界</a:t>
            </a:r>
            <a:endParaRPr lang="en-US" sz="140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2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从使命到日常行为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一、律师的使命：这个职业为什么存在</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二、依法执业与独立执业</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三、诚信义务：律师职业的第一伦理</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四、勤勉尽责与专业胜任</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五、律师之间的关系与公平竞争</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六、职业形象、业外行为与本课小结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02</a:t>
            </a:r>
            <a:endParaRPr lang="en-US" sz="110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28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律师的使命：这个职业为什么存在</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一个社会为什么要花钱养一群专门替人打官司的人？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03</a:t>
            </a:r>
            <a:endParaRPr lang="en-US" sz="1100"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name="Slide 2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四项功能</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律师在法治中不可替代的功能</a:t>
            </a:r>
            <a:endParaRPr lang="en-US" sz="2800" dirty="0"/>
          </a:p>
        </p:txBody>
      </p:sp>
      <p:sp>
        <p:nvSpPr>
          <p:cNvPr id="4" name="Shape 2"/>
          <p:cNvSpPr/>
          <p:nvPr/>
        </p:nvSpPr>
        <p:spPr>
          <a:xfrm>
            <a:off x="566928" y="1379220"/>
            <a:ext cx="5410048" cy="2360676"/>
          </a:xfrm>
          <a:prstGeom prst="roundRect">
            <a:avLst>
              <a:gd name="adj" fmla="val 3873"/>
            </a:avLst>
          </a:prstGeom>
          <a:solidFill>
            <a:srgbClr val="F2F4F8"/>
          </a:solidFill>
          <a:ln w="12700">
            <a:solidFill>
              <a:srgbClr val="F2F4F8"/>
            </a:solidFill>
            <a:prstDash val="solid"/>
          </a:ln>
        </p:spPr>
      </p:sp>
      <p:sp>
        <p:nvSpPr>
          <p:cNvPr id="5" name="Shape 3"/>
          <p:cNvSpPr/>
          <p:nvPr/>
        </p:nvSpPr>
        <p:spPr>
          <a:xfrm>
            <a:off x="886968" y="1671828"/>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08988"/>
            <a:ext cx="182880" cy="182880"/>
          </a:xfrm>
          <a:prstGeom prst="rect">
            <a:avLst/>
          </a:prstGeom>
        </p:spPr>
      </p:pic>
      <p:sp>
        <p:nvSpPr>
          <p:cNvPr id="7" name="Text 4"/>
          <p:cNvSpPr/>
          <p:nvPr/>
        </p:nvSpPr>
        <p:spPr>
          <a:xfrm>
            <a:off x="886968"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制约公权力</a:t>
            </a:r>
            <a:endParaRPr lang="en-US" sz="1500" dirty="0"/>
          </a:p>
        </p:txBody>
      </p:sp>
      <p:sp>
        <p:nvSpPr>
          <p:cNvPr id="8" name="Text 5"/>
          <p:cNvSpPr/>
          <p:nvPr/>
        </p:nvSpPr>
        <p:spPr>
          <a:xfrm>
            <a:off x="886968"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在刑事诉讼中，被追诉人独自面对国家追诉机器。律师是唯一站在他一边的专业力量。没有辩护，侦查权与公诉权将失去对抗性检验，冤错案件的概率会显著上升。这是律师最核心、最不可替代的功能。</a:t>
            </a:r>
            <a:endParaRPr lang="en-US" sz="1250" dirty="0"/>
          </a:p>
        </p:txBody>
      </p:sp>
      <p:sp>
        <p:nvSpPr>
          <p:cNvPr id="9" name="Shape 6"/>
          <p:cNvSpPr/>
          <p:nvPr/>
        </p:nvSpPr>
        <p:spPr>
          <a:xfrm>
            <a:off x="6214720" y="1379220"/>
            <a:ext cx="5410048" cy="2360676"/>
          </a:xfrm>
          <a:prstGeom prst="roundRect">
            <a:avLst>
              <a:gd name="adj" fmla="val 3873"/>
            </a:avLst>
          </a:prstGeom>
          <a:solidFill>
            <a:srgbClr val="F6F1E8"/>
          </a:solidFill>
          <a:ln w="12700">
            <a:solidFill>
              <a:srgbClr val="F6F1E8"/>
            </a:solidFill>
            <a:prstDash val="solid"/>
          </a:ln>
        </p:spPr>
      </p:sp>
      <p:sp>
        <p:nvSpPr>
          <p:cNvPr id="10" name="Shape 7"/>
          <p:cNvSpPr/>
          <p:nvPr/>
        </p:nvSpPr>
        <p:spPr>
          <a:xfrm>
            <a:off x="6534760" y="1671828"/>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08988"/>
            <a:ext cx="182880" cy="182880"/>
          </a:xfrm>
          <a:prstGeom prst="rect">
            <a:avLst/>
          </a:prstGeom>
        </p:spPr>
      </p:pic>
      <p:sp>
        <p:nvSpPr>
          <p:cNvPr id="12" name="Text 8"/>
          <p:cNvSpPr/>
          <p:nvPr/>
        </p:nvSpPr>
        <p:spPr>
          <a:xfrm>
            <a:off x="6534760"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保障权利可及</a:t>
            </a:r>
            <a:endParaRPr lang="en-US" sz="1500" dirty="0"/>
          </a:p>
        </p:txBody>
      </p:sp>
      <p:sp>
        <p:nvSpPr>
          <p:cNvPr id="13" name="Text 9"/>
          <p:cNvSpPr/>
          <p:nvPr/>
        </p:nvSpPr>
        <p:spPr>
          <a:xfrm>
            <a:off x="6534760"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法律再完善，若当事人不知如何主张，权利仍是纸面上的。律师把抽象的法律转化为具体可用的主张，使“接近正义”（access to justice）成为现实。法律援助制度正是这一功能的公共化。</a:t>
            </a:r>
            <a:endParaRPr lang="en-US" sz="1250" dirty="0"/>
          </a:p>
        </p:txBody>
      </p:sp>
      <p:sp>
        <p:nvSpPr>
          <p:cNvPr id="14" name="Shape 10"/>
          <p:cNvSpPr/>
          <p:nvPr/>
        </p:nvSpPr>
        <p:spPr>
          <a:xfrm>
            <a:off x="566928" y="3959352"/>
            <a:ext cx="5410048" cy="2360676"/>
          </a:xfrm>
          <a:prstGeom prst="roundRect">
            <a:avLst>
              <a:gd name="adj" fmla="val 3873"/>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促进交易与预防纠纷</a:t>
            </a:r>
            <a:endParaRPr lang="en-US" sz="1500" dirty="0"/>
          </a:p>
        </p:txBody>
      </p:sp>
      <p:sp>
        <p:nvSpPr>
          <p:cNvPr id="18" name="Text 13"/>
          <p:cNvSpPr/>
          <p:nvPr/>
        </p:nvSpPr>
        <p:spPr>
          <a:xfrm>
            <a:off x="886968"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非诉法律服务通过合同设计、合规审查、尽职调查，把可能的争议消解在发生之前。相比事后的诉讼，事前的预防成本更低、效果更好。这部分业务量在现代律师业务中占比越来越高。</a:t>
            </a:r>
            <a:endParaRPr lang="en-US" sz="1250" dirty="0"/>
          </a:p>
        </p:txBody>
      </p:sp>
      <p:sp>
        <p:nvSpPr>
          <p:cNvPr id="19" name="Shape 14"/>
          <p:cNvSpPr/>
          <p:nvPr/>
        </p:nvSpPr>
        <p:spPr>
          <a:xfrm>
            <a:off x="6214720" y="3959352"/>
            <a:ext cx="5410048" cy="2360676"/>
          </a:xfrm>
          <a:prstGeom prst="roundRect">
            <a:avLst>
              <a:gd name="adj" fmla="val 3873"/>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参与规则形成</a:t>
            </a:r>
            <a:endParaRPr lang="en-US" sz="1500" dirty="0"/>
          </a:p>
        </p:txBody>
      </p:sp>
      <p:sp>
        <p:nvSpPr>
          <p:cNvPr id="23" name="Text 17"/>
          <p:cNvSpPr/>
          <p:nvPr/>
        </p:nvSpPr>
        <p:spPr>
          <a:xfrm>
            <a:off x="6534760"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律师通过诉讼推动法律解释的发展，通过参与立法论证、公共讨论影响规则形成。许多重要的法律进步，起点是某个律师在某个案件中提出的一个新主张。</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04</a:t>
            </a:r>
            <a:endParaRPr lang="en-US" sz="1100" dirty="0"/>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name="Slide 288">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律师的存在，不是因为社会喜欢诉讼，而是因为社会承认：在国家权力与个人之间，必须有人替个人说话。</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律师职业的正当性基础</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这也解释了为什么“为坏人辩护”不是律师的道德污点，而是其职能的必然组成部分</a:t>
            </a:r>
            <a:endParaRPr lang="en-US" sz="1300" dirty="0"/>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name="Slide 2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规范表达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使命的规范化：三个维护与两项基本原则</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《律师法》第一条（立法目的）</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为了完善律师制度，保障律师依法执业，规范律师行为，发挥律师在社会主义法制建设中的作用，制定本法。</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《律师法》第二条第二款</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律师应当维护当事人合法权益，维护法律正确实施，维护社会公平和正义。</a:t>
            </a:r>
            <a:endParaRPr lang="en-US" sz="850" dirty="0"/>
          </a:p>
        </p:txBody>
      </p:sp>
      <p:sp>
        <p:nvSpPr>
          <p:cNvPr id="14" name="Shape 12"/>
          <p:cNvSpPr/>
          <p:nvPr/>
        </p:nvSpPr>
        <p:spPr>
          <a:xfrm>
            <a:off x="566928" y="3927348"/>
            <a:ext cx="11057839" cy="1293876"/>
          </a:xfrm>
          <a:prstGeom prst="roundRect">
            <a:avLst>
              <a:gd name="adj" fmla="val 706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《律师法》第三条第一款、第二款</a:t>
            </a:r>
            <a:endParaRPr lang="en-US" sz="1500" dirty="0"/>
          </a:p>
        </p:txBody>
      </p:sp>
      <p:sp>
        <p:nvSpPr>
          <p:cNvPr id="18" name="Text 16"/>
          <p:cNvSpPr/>
          <p:nvPr/>
        </p:nvSpPr>
        <p:spPr>
          <a:xfrm>
            <a:off x="960120" y="4567428"/>
            <a:ext cx="10271455" cy="43434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律师执业必须遵守宪法和法律，恪守律师职业道德和执业纪律。</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律师执业必须以事实为根据，以法律为准绳。</a:t>
            </a:r>
            <a:endParaRPr lang="en-US" sz="850" dirty="0"/>
          </a:p>
        </p:txBody>
      </p:sp>
      <p:sp>
        <p:nvSpPr>
          <p:cNvPr id="19" name="Shape 1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20" name="Text 1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三个维护”的排序：当事人合法权益在先，法律正确实施与社会公平正义在后。这个排序不是价值高低的排序，而是律师工作方式的写照——律师正是通过尽力维护当事人的合法权益，参与到法律正确实施与公平正义实现的整体机制中去。</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06</a:t>
            </a:r>
            <a:endParaRPr lang="en-US" sz="1100" dirty="0"/>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name="Slide 29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依法执业与独立执业</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律师既不是当事人的传声筒，也不是法律的旁观者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07</a:t>
            </a:r>
            <a:endParaRPr lang="en-US" sz="1100" dirty="0"/>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name="Slide 2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基本行为规范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《律师执业行为规范》第二章的核心要求</a:t>
            </a:r>
            <a:endParaRPr lang="en-US" sz="2800" dirty="0"/>
          </a:p>
        </p:txBody>
      </p:sp>
      <p:sp>
        <p:nvSpPr>
          <p:cNvPr id="4" name="Shape 2"/>
          <p:cNvSpPr/>
          <p:nvPr/>
        </p:nvSpPr>
        <p:spPr>
          <a:xfrm>
            <a:off x="566928" y="1316736"/>
            <a:ext cx="11057839" cy="962406"/>
          </a:xfrm>
          <a:prstGeom prst="roundRect">
            <a:avLst>
              <a:gd name="adj" fmla="val 7601"/>
            </a:avLst>
          </a:prstGeom>
          <a:solidFill>
            <a:srgbClr val="F2F4F8"/>
          </a:solidFill>
          <a:ln w="12700">
            <a:solidFill>
              <a:srgbClr val="F2F4F8"/>
            </a:solidFill>
            <a:prstDash val="solid"/>
          </a:ln>
        </p:spPr>
      </p:sp>
      <p:sp>
        <p:nvSpPr>
          <p:cNvPr id="5" name="Shape 3"/>
          <p:cNvSpPr/>
          <p:nvPr/>
        </p:nvSpPr>
        <p:spPr>
          <a:xfrm>
            <a:off x="841248" y="15419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95526"/>
            <a:ext cx="204826" cy="204826"/>
          </a:xfrm>
          <a:prstGeom prst="rect">
            <a:avLst/>
          </a:prstGeom>
        </p:spPr>
      </p:pic>
      <p:sp>
        <p:nvSpPr>
          <p:cNvPr id="7" name="Text 4"/>
          <p:cNvSpPr/>
          <p:nvPr/>
        </p:nvSpPr>
        <p:spPr>
          <a:xfrm>
            <a:off x="1536192" y="150622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依法执业</a:t>
            </a:r>
            <a:endParaRPr lang="en-US" sz="1100" dirty="0"/>
          </a:p>
        </p:txBody>
      </p:sp>
      <p:sp>
        <p:nvSpPr>
          <p:cNvPr id="8" name="Text 5"/>
          <p:cNvSpPr/>
          <p:nvPr/>
        </p:nvSpPr>
        <p:spPr>
          <a:xfrm>
            <a:off x="1536192" y="1758188"/>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律师执业必须遵守宪法和法律，恪守职业道德和执业纪律；不得帮助委托人实施违法行为；不得以违法或者不正当手段承揽业务、影响案件处理。依法执业是一切执业行为的前提，任何“为当事人着想”的理由都不能突破。</a:t>
            </a:r>
            <a:endParaRPr lang="en-US" sz="900" dirty="0"/>
          </a:p>
        </p:txBody>
      </p:sp>
      <p:sp>
        <p:nvSpPr>
          <p:cNvPr id="9" name="Shape 6"/>
          <p:cNvSpPr/>
          <p:nvPr/>
        </p:nvSpPr>
        <p:spPr>
          <a:xfrm>
            <a:off x="566928" y="2425446"/>
            <a:ext cx="11057839" cy="962406"/>
          </a:xfrm>
          <a:prstGeom prst="roundRect">
            <a:avLst>
              <a:gd name="adj" fmla="val 7601"/>
            </a:avLst>
          </a:prstGeom>
          <a:solidFill>
            <a:srgbClr val="FFFFFF"/>
          </a:solidFill>
          <a:ln w="12700">
            <a:solidFill>
              <a:srgbClr val="D5DBE5"/>
            </a:solidFill>
            <a:prstDash val="solid"/>
          </a:ln>
        </p:spPr>
      </p:sp>
      <p:sp>
        <p:nvSpPr>
          <p:cNvPr id="10" name="Shape 7"/>
          <p:cNvSpPr/>
          <p:nvPr/>
        </p:nvSpPr>
        <p:spPr>
          <a:xfrm>
            <a:off x="841248" y="2650617"/>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804236"/>
            <a:ext cx="204826" cy="204826"/>
          </a:xfrm>
          <a:prstGeom prst="rect">
            <a:avLst/>
          </a:prstGeom>
        </p:spPr>
      </p:pic>
      <p:sp>
        <p:nvSpPr>
          <p:cNvPr id="12" name="Text 8"/>
          <p:cNvSpPr/>
          <p:nvPr/>
        </p:nvSpPr>
        <p:spPr>
          <a:xfrm>
            <a:off x="1536192" y="261493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独立执业</a:t>
            </a:r>
            <a:endParaRPr lang="en-US" sz="1100" dirty="0"/>
          </a:p>
        </p:txBody>
      </p:sp>
      <p:sp>
        <p:nvSpPr>
          <p:cNvPr id="13" name="Text 9"/>
          <p:cNvSpPr/>
          <p:nvPr/>
        </p:nvSpPr>
        <p:spPr>
          <a:xfrm>
            <a:off x="1536192" y="2866898"/>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律师是独立的执业人员，依据事实与法律独立提供专业意见，不是当事人意志的简单传达者。委托人有权决定委托事项与实体权利的处分，但律师对专业判断与执业方式保有独立性；对委托人的不当要求有权也有义务拒绝。</a:t>
            </a:r>
            <a:endParaRPr lang="en-US" sz="900" dirty="0"/>
          </a:p>
        </p:txBody>
      </p:sp>
      <p:sp>
        <p:nvSpPr>
          <p:cNvPr id="14" name="Shape 10"/>
          <p:cNvSpPr/>
          <p:nvPr/>
        </p:nvSpPr>
        <p:spPr>
          <a:xfrm>
            <a:off x="566928" y="3534156"/>
            <a:ext cx="11057839" cy="796671"/>
          </a:xfrm>
          <a:prstGeom prst="roundRect">
            <a:avLst>
              <a:gd name="adj" fmla="val 9182"/>
            </a:avLst>
          </a:prstGeom>
          <a:solidFill>
            <a:srgbClr val="F2F4F8"/>
          </a:solidFill>
          <a:ln w="12700">
            <a:solidFill>
              <a:srgbClr val="F2F4F8"/>
            </a:solidFill>
            <a:prstDash val="solid"/>
          </a:ln>
        </p:spPr>
      </p:sp>
      <p:sp>
        <p:nvSpPr>
          <p:cNvPr id="15" name="Shape 11"/>
          <p:cNvSpPr/>
          <p:nvPr/>
        </p:nvSpPr>
        <p:spPr>
          <a:xfrm>
            <a:off x="841248" y="367646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830079"/>
            <a:ext cx="204826" cy="204826"/>
          </a:xfrm>
          <a:prstGeom prst="rect">
            <a:avLst/>
          </a:prstGeom>
        </p:spPr>
      </p:pic>
      <p:sp>
        <p:nvSpPr>
          <p:cNvPr id="17" name="Text 12"/>
          <p:cNvSpPr/>
          <p:nvPr/>
        </p:nvSpPr>
        <p:spPr>
          <a:xfrm>
            <a:off x="1536192" y="372364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诚实信用</a:t>
            </a:r>
            <a:endParaRPr lang="en-US" sz="1100" dirty="0"/>
          </a:p>
        </p:txBody>
      </p:sp>
      <p:sp>
        <p:nvSpPr>
          <p:cNvPr id="18" name="Text 13"/>
          <p:cNvSpPr/>
          <p:nvPr/>
        </p:nvSpPr>
        <p:spPr>
          <a:xfrm>
            <a:off x="1536192" y="3975608"/>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对委托人诚实告知，不作虚假承诺；对法庭与仲裁庭如实陈述，不提供虚假证据；对同行与对方当事人守信，不作误导性表示。诚信是律师职业赖以存在的信用基础。</a:t>
            </a:r>
            <a:endParaRPr lang="en-US" sz="900" dirty="0"/>
          </a:p>
        </p:txBody>
      </p:sp>
      <p:sp>
        <p:nvSpPr>
          <p:cNvPr id="19" name="Shape 14"/>
          <p:cNvSpPr/>
          <p:nvPr/>
        </p:nvSpPr>
        <p:spPr>
          <a:xfrm>
            <a:off x="566928" y="4477131"/>
            <a:ext cx="11057839" cy="962406"/>
          </a:xfrm>
          <a:prstGeom prst="roundRect">
            <a:avLst>
              <a:gd name="adj" fmla="val 7601"/>
            </a:avLst>
          </a:prstGeom>
          <a:solidFill>
            <a:srgbClr val="FFFFFF"/>
          </a:solidFill>
          <a:ln w="12700">
            <a:solidFill>
              <a:srgbClr val="D5DBE5"/>
            </a:solidFill>
            <a:prstDash val="solid"/>
          </a:ln>
        </p:spPr>
      </p:sp>
      <p:sp>
        <p:nvSpPr>
          <p:cNvPr id="20" name="Shape 15"/>
          <p:cNvSpPr/>
          <p:nvPr/>
        </p:nvSpPr>
        <p:spPr>
          <a:xfrm>
            <a:off x="841248" y="470230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855921"/>
            <a:ext cx="204826" cy="204826"/>
          </a:xfrm>
          <a:prstGeom prst="rect">
            <a:avLst/>
          </a:prstGeom>
        </p:spPr>
      </p:pic>
      <p:sp>
        <p:nvSpPr>
          <p:cNvPr id="22" name="Text 16"/>
          <p:cNvSpPr/>
          <p:nvPr/>
        </p:nvSpPr>
        <p:spPr>
          <a:xfrm>
            <a:off x="1536192" y="4666615"/>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勤勉尽责</a:t>
            </a:r>
            <a:endParaRPr lang="en-US" sz="1100" dirty="0"/>
          </a:p>
        </p:txBody>
      </p:sp>
      <p:sp>
        <p:nvSpPr>
          <p:cNvPr id="23" name="Text 17"/>
          <p:cNvSpPr/>
          <p:nvPr/>
        </p:nvSpPr>
        <p:spPr>
          <a:xfrm>
            <a:off x="1536192" y="4918583"/>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接受委托后应当认真负责地履行受托义务，在法定或者约定的期限内完成工作，及时告知重要进展，不得无故拖延、懈怠或者擅自终止。勤勉不以胜诉为标准，而以是否尽到应有的专业努力为标准。</a:t>
            </a:r>
            <a:endParaRPr lang="en-US" sz="900" dirty="0"/>
          </a:p>
        </p:txBody>
      </p:sp>
      <p:sp>
        <p:nvSpPr>
          <p:cNvPr id="24" name="Shape 18"/>
          <p:cNvSpPr/>
          <p:nvPr/>
        </p:nvSpPr>
        <p:spPr>
          <a:xfrm>
            <a:off x="566928" y="5585841"/>
            <a:ext cx="11057839" cy="796671"/>
          </a:xfrm>
          <a:prstGeom prst="roundRect">
            <a:avLst>
              <a:gd name="adj" fmla="val 9182"/>
            </a:avLst>
          </a:prstGeom>
          <a:solidFill>
            <a:srgbClr val="F2F4F8"/>
          </a:solidFill>
          <a:ln w="12700">
            <a:solidFill>
              <a:srgbClr val="F2F4F8"/>
            </a:solidFill>
            <a:prstDash val="solid"/>
          </a:ln>
        </p:spPr>
      </p:sp>
      <p:sp>
        <p:nvSpPr>
          <p:cNvPr id="25" name="Shape 19"/>
          <p:cNvSpPr/>
          <p:nvPr/>
        </p:nvSpPr>
        <p:spPr>
          <a:xfrm>
            <a:off x="841248" y="5728145"/>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81764"/>
            <a:ext cx="204826" cy="204826"/>
          </a:xfrm>
          <a:prstGeom prst="rect">
            <a:avLst/>
          </a:prstGeom>
        </p:spPr>
      </p:pic>
      <p:sp>
        <p:nvSpPr>
          <p:cNvPr id="27" name="Text 20"/>
          <p:cNvSpPr/>
          <p:nvPr/>
        </p:nvSpPr>
        <p:spPr>
          <a:xfrm>
            <a:off x="1536192" y="5775325"/>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保守秘密</a:t>
            </a:r>
            <a:endParaRPr lang="en-US" sz="1100" dirty="0"/>
          </a:p>
        </p:txBody>
      </p:sp>
      <p:sp>
        <p:nvSpPr>
          <p:cNvPr id="28" name="Text 21"/>
          <p:cNvSpPr/>
          <p:nvPr/>
        </p:nvSpPr>
        <p:spPr>
          <a:xfrm>
            <a:off x="1536192" y="6027293"/>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保守在执业活动中知悉的国家秘密、商业秘密，不得泄露当事人隐私；对委托人不愿泄露的情况与信息予以保密。保密义务不因委托关系终止而消灭，第16课时专门展开。</a:t>
            </a:r>
            <a:endParaRPr lang="en-US" sz="9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08</a:t>
            </a:r>
            <a:endParaRPr lang="en-US" sz="1100" dirty="0"/>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name="Slide 2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关键区分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独立执业：律师听谁的？</a:t>
            </a:r>
            <a:endParaRPr lang="en-US" sz="2800" dirty="0"/>
          </a:p>
        </p:txBody>
      </p:sp>
      <p:sp>
        <p:nvSpPr>
          <p:cNvPr id="4" name="Shape 2"/>
          <p:cNvSpPr/>
          <p:nvPr/>
        </p:nvSpPr>
        <p:spPr>
          <a:xfrm>
            <a:off x="566928" y="1887220"/>
            <a:ext cx="5410048" cy="3924808"/>
          </a:xfrm>
          <a:prstGeom prst="roundRect">
            <a:avLst>
              <a:gd name="adj" fmla="val 2330"/>
            </a:avLst>
          </a:prstGeom>
          <a:solidFill>
            <a:srgbClr val="F2F4F8"/>
          </a:solidFill>
          <a:ln w="12700">
            <a:solidFill>
              <a:srgbClr val="F2F4F8"/>
            </a:solidFill>
            <a:prstDash val="solid"/>
          </a:ln>
        </p:spPr>
      </p:sp>
      <p:sp>
        <p:nvSpPr>
          <p:cNvPr id="5" name="Shape 3"/>
          <p:cNvSpPr/>
          <p:nvPr/>
        </p:nvSpPr>
        <p:spPr>
          <a:xfrm>
            <a:off x="841248" y="21432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432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委托人有权决定的事项</a:t>
            </a:r>
            <a:endParaRPr lang="en-US" sz="1600" dirty="0"/>
          </a:p>
        </p:txBody>
      </p:sp>
      <p:sp>
        <p:nvSpPr>
          <p:cNvPr id="7" name="Text 5"/>
          <p:cNvSpPr/>
          <p:nvPr/>
        </p:nvSpPr>
        <p:spPr>
          <a:xfrm>
            <a:off x="932688" y="2801620"/>
            <a:ext cx="4678528" cy="27726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是否起诉、是否应诉、是否上诉、是否申请再审。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诉讼请求的范围与实体权利的处分（撤诉、和解、放弃部分请求）。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是否接受调解及调解方案的内容。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刑事案件中是否认罪认罚（须由被追诉人本人自愿决定）。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共同点：涉及实体权利的处分与重大程序选择，属于委托人自治的核心。</a:t>
            </a:r>
            <a:endParaRPr lang="en-US" sz="1450" dirty="0"/>
          </a:p>
        </p:txBody>
      </p:sp>
      <p:sp>
        <p:nvSpPr>
          <p:cNvPr id="8" name="Shape 6"/>
          <p:cNvSpPr/>
          <p:nvPr/>
        </p:nvSpPr>
        <p:spPr>
          <a:xfrm>
            <a:off x="6214720" y="1887220"/>
            <a:ext cx="5410048" cy="3924808"/>
          </a:xfrm>
          <a:prstGeom prst="roundRect">
            <a:avLst>
              <a:gd name="adj" fmla="val 2330"/>
            </a:avLst>
          </a:prstGeom>
          <a:solidFill>
            <a:srgbClr val="F6F1E8"/>
          </a:solidFill>
          <a:ln w="12700">
            <a:solidFill>
              <a:srgbClr val="F6F1E8"/>
            </a:solidFill>
            <a:prstDash val="solid"/>
          </a:ln>
        </p:spPr>
      </p:sp>
      <p:sp>
        <p:nvSpPr>
          <p:cNvPr id="9" name="Shape 7"/>
          <p:cNvSpPr/>
          <p:nvPr/>
        </p:nvSpPr>
        <p:spPr>
          <a:xfrm>
            <a:off x="6489040" y="21432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432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律师保有独立判断的事项</a:t>
            </a:r>
            <a:endParaRPr lang="en-US" sz="1600" dirty="0"/>
          </a:p>
        </p:txBody>
      </p:sp>
      <p:sp>
        <p:nvSpPr>
          <p:cNvPr id="11" name="Text 9"/>
          <p:cNvSpPr/>
          <p:nvPr/>
        </p:nvSpPr>
        <p:spPr>
          <a:xfrm>
            <a:off x="6580480" y="2801620"/>
            <a:ext cx="4678528" cy="27726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法律意见的内容与专业结论——不得因委托人不喜欢而作违心陈述。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举证、质证、辩论的具体方式与技术路径。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是否提出某项主张——不得提出明知虚假的主张。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对违法要求的拒绝——不得因委托人施压而突破规范。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共同点：涉及专业判断与合法性底线，属于律师职业责任的核心。</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09</a:t>
            </a:r>
            <a:endParaRPr lang="en-US" sz="1100" dirty="0"/>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name="Slide 2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委托人的意志与律师的判断</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边界辨析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“我要你按我说的写”</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某公司委托律师就一项交易出具法律意见书。经尽职调查，律师发现该交易存在重大合规瑕疵，可能被认定为无效。律师在意见书初稿中如实揭示了这一风险。</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公司负责人要求律师删除该段风险提示，理由是：意见书要提交给投资方，写上风险会影响融资；并称“你是我们请的律师，应当为我们的利益考虑”，且“这只是一种可能性，又不是确定的”。</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公司同时表示，如果律师坚持，将更换律所，并且此前约定的顾问费也将重新协商。</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律师能否删除该段？请指出规范依据。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“为委托人利益考虑”能否成为删除的理由？</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如果风险确实只是“一种可能性”，表述上有无调整空间？</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律师应当如何处理与委托人的分歧？</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10</a:t>
            </a:r>
            <a:endParaRPr lang="en-US" sz="1100" dirty="0"/>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name="Slide 29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诚信义务：律师职业的第一伦理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律师的全部执业能力，最终都建立在“他说的话可以相信”之上</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11</a:t>
            </a:r>
            <a:endParaRPr lang="en-US" sz="1100" dirty="0"/>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name="Slide 2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三个方向</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诚信义务的三个指向</a:t>
            </a:r>
            <a:endParaRPr lang="en-US" sz="2800" dirty="0"/>
          </a:p>
        </p:txBody>
      </p:sp>
      <p:sp>
        <p:nvSpPr>
          <p:cNvPr id="4" name="Shape 2"/>
          <p:cNvSpPr/>
          <p:nvPr/>
        </p:nvSpPr>
        <p:spPr>
          <a:xfrm>
            <a:off x="566928" y="1316736"/>
            <a:ext cx="11057839" cy="1498981"/>
          </a:xfrm>
          <a:prstGeom prst="roundRect">
            <a:avLst>
              <a:gd name="adj" fmla="val 4880"/>
            </a:avLst>
          </a:prstGeom>
          <a:solidFill>
            <a:srgbClr val="F2F4F8"/>
          </a:solidFill>
          <a:ln w="12700">
            <a:solidFill>
              <a:srgbClr val="F2F4F8"/>
            </a:solidFill>
            <a:prstDash val="solid"/>
          </a:ln>
        </p:spPr>
      </p:sp>
      <p:sp>
        <p:nvSpPr>
          <p:cNvPr id="5" name="Shape 3"/>
          <p:cNvSpPr/>
          <p:nvPr/>
        </p:nvSpPr>
        <p:spPr>
          <a:xfrm>
            <a:off x="841248" y="181019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963814"/>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对委托人：如实告知，不作虚假承诺</a:t>
            </a:r>
            <a:endParaRPr lang="en-US" sz="1650" dirty="0"/>
          </a:p>
        </p:txBody>
      </p:sp>
      <p:sp>
        <p:nvSpPr>
          <p:cNvPr id="8" name="Text 5"/>
          <p:cNvSpPr/>
          <p:nvPr/>
        </p:nvSpPr>
        <p:spPr>
          <a:xfrm>
            <a:off x="1536192" y="196069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就案件结果作出承诺或者暗示；不得夸大自身能力、资历或者与司法机关的关系；应当如实告知案件风险、可能的不利后果、费用构成与预期。以“关系”承揽业务是律师职业最严重的失信形态之一，且往往同时构成违法。</a:t>
            </a:r>
            <a:endParaRPr lang="en-US" sz="1500" dirty="0"/>
          </a:p>
        </p:txBody>
      </p:sp>
      <p:sp>
        <p:nvSpPr>
          <p:cNvPr id="9" name="Shape 6"/>
          <p:cNvSpPr/>
          <p:nvPr/>
        </p:nvSpPr>
        <p:spPr>
          <a:xfrm>
            <a:off x="566928" y="2962021"/>
            <a:ext cx="11057839" cy="1775206"/>
          </a:xfrm>
          <a:prstGeom prst="roundRect">
            <a:avLst>
              <a:gd name="adj" fmla="val 4121"/>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26459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对法庭：如实陈述，不提供虚假证据</a:t>
            </a:r>
            <a:endParaRPr lang="en-US" sz="1650" dirty="0"/>
          </a:p>
        </p:txBody>
      </p:sp>
      <p:sp>
        <p:nvSpPr>
          <p:cNvPr id="13" name="Text 9"/>
          <p:cNvSpPr/>
          <p:nvPr/>
        </p:nvSpPr>
        <p:spPr>
          <a:xfrm>
            <a:off x="1536192" y="3605975"/>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故意提供虚假证据或者威胁、利诱他人提供虚假证据；不得作明知虚假的事实陈述；不得歪曲、隐匿对己方不利的法律规定。请注意：律师可以就控方或对方证据不足提出质疑，但不得积极提出虚假事实——这是消极辩护与积极造假的分界。</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对同行与对方：守信不欺</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不得对同行的口头承诺出尔反尔；不得以欺骗方式获取对方当事人或其代理人的信息；在无代理人的对方当事人面前，不得使其误以为律师是中立的第三方或者其顾问，必要时应当明确说明自己的立场。</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12</a:t>
            </a:r>
            <a:endParaRPr lang="en-US" sz="1100" dirty="0"/>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name="Slide 2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硬边界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《律师法》第四十条：禁止行为清单</a:t>
            </a:r>
            <a:endParaRPr lang="en-US" sz="2800" dirty="0"/>
          </a:p>
        </p:txBody>
      </p:sp>
      <p:sp>
        <p:nvSpPr>
          <p:cNvPr id="4" name="Shape 2"/>
          <p:cNvSpPr/>
          <p:nvPr/>
        </p:nvSpPr>
        <p:spPr>
          <a:xfrm>
            <a:off x="566928" y="1316736"/>
            <a:ext cx="11057839" cy="3451098"/>
          </a:xfrm>
          <a:prstGeom prst="roundRect">
            <a:avLst>
              <a:gd name="adj" fmla="val 265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《中华人民共和国律师法》第四十条</a:t>
            </a:r>
            <a:endParaRPr lang="en-US" sz="1500" dirty="0"/>
          </a:p>
        </p:txBody>
      </p:sp>
      <p:sp>
        <p:nvSpPr>
          <p:cNvPr id="8" name="Text 6"/>
          <p:cNvSpPr/>
          <p:nvPr/>
        </p:nvSpPr>
        <p:spPr>
          <a:xfrm>
            <a:off x="960120" y="1956816"/>
            <a:ext cx="10271455" cy="2591562"/>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律师在执业活动中不得有下列行为：</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（一）私自接受委托、收取费用，接受委托人的财物或者其他利益；</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（二）利用提供法律服务的便利牟取当事人争议的权益；</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（三）接受对方当事人的财物或者其他利益，与对方当事人或者第三人恶意串通，侵害委托人的权益；</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（四）违反规定会见法官、检察官、仲裁员以及其他有关工作人员；</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（五）向法官、检察官、仲裁员以及其他有关工作人员行贿，介绍贿赂或者指使、诱导当事人行贿；</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（六）故意提供虚假证据或者威胁、利诱他人提供虚假证据，妨碍对方当事人合法取得证据；</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（七）煽动、教唆当事人采取扰乱公共秩序、危害公共安全等非法手段解决争议；</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（八）扰乱法庭、仲裁庭秩序，干扰诉讼、仲裁活动的正常进行。</a:t>
            </a:r>
            <a:endParaRPr lang="en-US" sz="14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八项是律师执业的硬边界，凡越界者不再受“非道德性”命题的保护。请注意第（一）项“私自接受委托、收取费用”——这不只是财务问题，而是规避律所管理、逃避利益冲突审查的行为，是大量执业事故的起点。第（六）项则是刑事责任的入口，可能触及《刑法》第三百零六条。</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13</a:t>
            </a:r>
            <a:endParaRPr lang="en-US" sz="11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name="Slide 29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勤勉尽责与专业胜任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律师的责任标准，不是结果责任，而是过程责任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14</a:t>
            </a:r>
            <a:endParaRPr lang="en-US" sz="1100" dirty="0"/>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name="Slide 2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勤勉尽责的判断标准</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委托人常常以“官司输了”来指责律师不尽责。这一指责在法律上并不成立——请各位建立正确的判断标准。</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第一，律师承担的是手段债务，而非结果债务。律师义务的内容是“以应有的专业注意提供服务”，而不是“保证胜诉”。因此判断标准是过程，而非结果。</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第二，判断基准是同等条件下一名合格律师的通常注意。是否在期限内提交证据？是否核对了关键事实？是否检索了相关规范与类案？是否告知了重要风险？这些是可检验的行为。</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第三，专业胜任是勤勉的前提。对不熟悉的领域，应当审慎接受委托，或者通过学习、协作、咨询达到胜任要求。明知不能胜任仍接受委托，本身即违反勤勉义务。</a:t>
            </a:r>
            <a:endParaRPr lang="en-US" sz="1550" dirty="0"/>
          </a:p>
          <a:p>
            <a:pPr marL="228600" indent="-228600">
              <a:lnSpc>
                <a:spcPts val="2325"/>
              </a:lnSpc>
              <a:spcAft>
                <a:spcPts val="800"/>
              </a:spcAft>
              <a:buSzPct val="100000"/>
              <a:buChar char="■"/>
            </a:pPr>
            <a:r>
              <a:rPr lang="en-US" sz="1550" dirty="0">
                <a:solidFill>
                  <a:srgbClr val="32404F"/>
                </a:solidFill>
                <a:latin typeface="微软雅黑" pitchFamily="34" charset="0"/>
                <a:ea typeface="微软雅黑" pitchFamily="34" charset="-122"/>
                <a:cs typeface="微软雅黑" pitchFamily="34" charset="-120"/>
              </a:rPr>
              <a:t>第四，及时沟通是勤勉的组成部分。重大进展、不利变化、期限临近，均应当及时告知委托人并说明选项。大量投诉的真正起因不是败诉，而是“律师失联”。</a:t>
            </a:r>
            <a:endParaRPr lang="en-US" sz="1550" dirty="0"/>
          </a:p>
          <a:p>
            <a:pPr marL="228600" indent="-228600">
              <a:lnSpc>
                <a:spcPts val="2325"/>
              </a:lnSpc>
              <a:spcAft>
                <a:spcPts val="800"/>
              </a:spcAft>
              <a:buSzPct val="100000"/>
              <a:buChar char="■"/>
            </a:pPr>
            <a:r>
              <a:rPr lang="en-US" sz="1550" b="1" dirty="0">
                <a:solidFill>
                  <a:srgbClr val="32404F"/>
                </a:solidFill>
                <a:latin typeface="微软雅黑" pitchFamily="34" charset="0"/>
                <a:ea typeface="微软雅黑" pitchFamily="34" charset="-122"/>
                <a:cs typeface="微软雅黑" pitchFamily="34" charset="-120"/>
              </a:rPr>
              <a:t>实务提示：把每一次告知、每一次建议、每一次委托人的决定都书面留痕。留痕既是勤勉的证据，也是执业的护身符。</a:t>
            </a:r>
            <a:endParaRPr lang="en-US" sz="15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15</a:t>
            </a:r>
            <a:endParaRPr lang="en-US" sz="1100" dirty="0"/>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name="Slide 29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律师之间的关系与公平竞争</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同行不是敌人，但同业竞争确实存在伦理边界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16</a:t>
            </a:r>
            <a:endParaRPr lang="en-US" sz="1100" dirty="0"/>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name="Slide 3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同业伦理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律师之间关系的四条规则</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相互尊重，不诋毁同行</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不得诋毁、贬低其他律师或者律师事务所的声誉、能力；不得在当事人面前贬损前任或者对方律师的专业水准以抬高自己。对同行工作的批评应当限于专业层面并有事实根据。</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不得不正当竞争</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不得以承诺办案结果、宣称与司法机关有特殊关系、支付介绍费、恶意低价等不正当手段争揽业务；不得利用与相关机构的关系强行介入他人已代理的业务。</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规范处理业务承接与移转</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当事人已委托其他律师的，接受委托前应当审慎核实其委托关系状况；接办已由他人办理的案件，应当在委托关系依法终止后进行，并妥善做好工作衔接与档案移交。</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共同维护职业权利与形象</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对同行执业权利受到侵害的，应当依规支持与声援；对同行违规行为，通过律协等正当渠道反映，而非在当事人或者媒体面前攻击。行业自治的正当性，来自成员之间既相互约束又相互保护。</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17</a:t>
            </a:r>
            <a:endParaRPr lang="en-US" sz="1100"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name="Slide 3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热点问题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业务推广的边界：可以做什么，不可以做什么</a:t>
            </a:r>
            <a:endParaRPr lang="en-US" sz="2800" dirty="0"/>
          </a:p>
        </p:txBody>
      </p:sp>
      <p:sp>
        <p:nvSpPr>
          <p:cNvPr id="4" name="Shape 2"/>
          <p:cNvSpPr/>
          <p:nvPr/>
        </p:nvSpPr>
        <p:spPr>
          <a:xfrm>
            <a:off x="566928" y="1749108"/>
            <a:ext cx="5410048" cy="4201033"/>
          </a:xfrm>
          <a:prstGeom prst="roundRect">
            <a:avLst>
              <a:gd name="adj" fmla="val 2177"/>
            </a:avLst>
          </a:prstGeom>
          <a:solidFill>
            <a:srgbClr val="F2F4F8"/>
          </a:solidFill>
          <a:ln w="12700">
            <a:solidFill>
              <a:srgbClr val="F2F4F8"/>
            </a:solidFill>
            <a:prstDash val="solid"/>
          </a:ln>
        </p:spPr>
      </p:sp>
      <p:sp>
        <p:nvSpPr>
          <p:cNvPr id="5" name="Shape 3"/>
          <p:cNvSpPr/>
          <p:nvPr/>
        </p:nvSpPr>
        <p:spPr>
          <a:xfrm>
            <a:off x="841248" y="20051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允许的推广</a:t>
            </a:r>
            <a:endParaRPr lang="en-US" sz="1600" dirty="0"/>
          </a:p>
        </p:txBody>
      </p:sp>
      <p:sp>
        <p:nvSpPr>
          <p:cNvPr id="7" name="Text 5"/>
          <p:cNvSpPr/>
          <p:nvPr/>
        </p:nvSpPr>
        <p:spPr>
          <a:xfrm>
            <a:off x="932688"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客观介绍律所与律师的执业领域、执业年限、教育背景、专业成果。</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发表专业文章、举办讲座、参与学术研讨、提供普法内容。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依规发布经当事人同意且已作脱敏处理的典型案例。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通过官方网站、公众号等渠道进行真实、准确的信息展示。</a:t>
            </a:r>
            <a:endParaRPr lang="en-US" sz="1450" dirty="0"/>
          </a:p>
        </p:txBody>
      </p:sp>
      <p:sp>
        <p:nvSpPr>
          <p:cNvPr id="8" name="Shape 6"/>
          <p:cNvSpPr/>
          <p:nvPr/>
        </p:nvSpPr>
        <p:spPr>
          <a:xfrm>
            <a:off x="6214720" y="1749108"/>
            <a:ext cx="5410048" cy="4201033"/>
          </a:xfrm>
          <a:prstGeom prst="roundRect">
            <a:avLst>
              <a:gd name="adj" fmla="val 2177"/>
            </a:avLst>
          </a:prstGeom>
          <a:solidFill>
            <a:srgbClr val="F6F1E8"/>
          </a:solidFill>
          <a:ln w="12700">
            <a:solidFill>
              <a:srgbClr val="F6F1E8"/>
            </a:solidFill>
            <a:prstDash val="solid"/>
          </a:ln>
        </p:spPr>
      </p:sp>
      <p:sp>
        <p:nvSpPr>
          <p:cNvPr id="9" name="Shape 7"/>
          <p:cNvSpPr/>
          <p:nvPr/>
        </p:nvSpPr>
        <p:spPr>
          <a:xfrm>
            <a:off x="6489040" y="20051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禁止的推广</a:t>
            </a:r>
            <a:endParaRPr lang="en-US" sz="1600" dirty="0"/>
          </a:p>
        </p:txBody>
      </p:sp>
      <p:sp>
        <p:nvSpPr>
          <p:cNvPr id="11" name="Text 9"/>
          <p:cNvSpPr/>
          <p:nvPr/>
        </p:nvSpPr>
        <p:spPr>
          <a:xfrm>
            <a:off x="6580480"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对办案结果作出承诺或者暗示（“包胜诉”“不成功不收费”的不当表述）。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宣称与法官、检察官或者其他机关工作人员有特殊关系。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虚构或者夸大执业业绩、头衔、荣誉；使用“最佳”“第一”等无依据的比较性用语。</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未经同意披露委托人信息或者案件细节；在自媒体上直播、剧透正在办理的案件。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向介绍案源者支付回扣、佣金；通过中介“买案源”。</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18</a:t>
            </a:r>
            <a:endParaRPr lang="en-US" sz="1100"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name="Slide 30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职业形象与业外行为</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律师的可信度，是其全部执业能力的基础</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19</a:t>
            </a:r>
            <a:endParaRPr lang="en-US" sz="11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name="Slide 3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形象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律师职业形象的四个方面</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与法官、检察官相比，律师的业外行为受规范约束较少，但并非不受约束。</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出庭形象：按规定着律师袍或者正装出庭，遵守法庭规则，尊重法庭与其他诉讼参与人；不得迟到、不得擅自退庭。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公开言论：就承办案件在媒体或者自媒体发表言论，应当审慎、真实，不得歪曲事实、误导公众、施压办案机关；注意言论豁免不及于庭外发言。</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社会活动：不得从事有损律师职业形象的活动；不得利用律师身份为不当商业行为背书；参与社会公益、法治宣传是值得鼓励的正面形象建设。</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个人品行：律师的执业资格以品行良好为条件，受过刑事处罚等情形依法不得取得执业证书；执业期间的严重失信、违法行为可能导致资格丧失。</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请记住一个朴素的道理：律师出售的是判断与信任。一旦当事人、法官、同行不再相信你说的话，你的专业能力再强也无从施展。</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20</a:t>
            </a:r>
            <a:endParaRPr lang="en-US" sz="1100"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name="Slide 3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“不成功不收费”的收费方式在民事案件中较为常见。这一表述是否构成对办案结果的暗示性承诺？风险代理与结果承诺的界限何在？（提示：本问题与第19课时的收费规则相关联）</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某律师在自媒体上连载自己正在办理的一起刑事案件的辩护手记，内容真实、无捏造，但引发大量公众关注并形成舆论压力。该行为是否违反职业伦理？请从委托人利益、司法公正、职业形象三个角度分析。</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当事人在庭前突然告知律师一项此前隐瞒的关键事实，该事实使律师此前提交的部分主张失去依据。律师应当如何处理？他对法庭负有何种义务？</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律师甲发现同所律师乙在另一起案件中存在明显违规行为。甲应当如何处理？向律协举报同事，与“共同维护职业形象”是否矛盾？</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第13课时 · 21</a:t>
            </a:r>
            <a:endParaRPr lang="en-US" sz="1100" dirty="0"/>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name="Slide 30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第13课时要点回顾</a:t>
            </a:r>
            <a:endParaRPr lang="en-US" sz="3000" dirty="0"/>
          </a:p>
        </p:txBody>
      </p:sp>
      <p:sp>
        <p:nvSpPr>
          <p:cNvPr id="4" name="Shape 2"/>
          <p:cNvSpPr/>
          <p:nvPr/>
        </p:nvSpPr>
        <p:spPr>
          <a:xfrm>
            <a:off x="566928" y="1591056"/>
            <a:ext cx="11057839" cy="718291"/>
          </a:xfrm>
          <a:prstGeom prst="roundRect">
            <a:avLst>
              <a:gd name="adj" fmla="val 10184"/>
            </a:avLst>
          </a:prstGeom>
          <a:solidFill>
            <a:srgbClr val="25395F"/>
          </a:solidFill>
          <a:ln w="12700">
            <a:solidFill>
              <a:srgbClr val="25395F"/>
            </a:solidFill>
            <a:prstDash val="solid"/>
          </a:ln>
        </p:spPr>
      </p:sp>
      <p:sp>
        <p:nvSpPr>
          <p:cNvPr id="5" name="Shape 3"/>
          <p:cNvSpPr/>
          <p:nvPr/>
        </p:nvSpPr>
        <p:spPr>
          <a:xfrm>
            <a:off x="859536" y="174903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69734"/>
            <a:ext cx="160934" cy="160934"/>
          </a:xfrm>
          <a:prstGeom prst="rect">
            <a:avLst/>
          </a:prstGeom>
        </p:spPr>
      </p:pic>
      <p:sp>
        <p:nvSpPr>
          <p:cNvPr id="7" name="Text 4"/>
          <p:cNvSpPr/>
          <p:nvPr/>
        </p:nvSpPr>
        <p:spPr>
          <a:xfrm>
            <a:off x="1444752" y="173112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律师在法治中承担四项不可替代的功能：制约公权力、保障权利可及、促进交易与预防纠纷、参与规则形成。这是“为坏人辩护”不构成道德污点的根本理由。</a:t>
            </a:r>
            <a:endParaRPr lang="en-US" sz="1150" dirty="0"/>
          </a:p>
        </p:txBody>
      </p:sp>
      <p:sp>
        <p:nvSpPr>
          <p:cNvPr id="8" name="Shape 5"/>
          <p:cNvSpPr/>
          <p:nvPr/>
        </p:nvSpPr>
        <p:spPr>
          <a:xfrm>
            <a:off x="566928" y="2446507"/>
            <a:ext cx="11057839" cy="514202"/>
          </a:xfrm>
          <a:prstGeom prst="roundRect">
            <a:avLst>
              <a:gd name="adj" fmla="val 14226"/>
            </a:avLst>
          </a:prstGeom>
          <a:solidFill>
            <a:srgbClr val="25395F"/>
          </a:solidFill>
          <a:ln w="12700">
            <a:solidFill>
              <a:srgbClr val="25395F"/>
            </a:solidFill>
            <a:prstDash val="solid"/>
          </a:ln>
        </p:spPr>
      </p:sp>
      <p:sp>
        <p:nvSpPr>
          <p:cNvPr id="9" name="Shape 6"/>
          <p:cNvSpPr/>
          <p:nvPr/>
        </p:nvSpPr>
        <p:spPr>
          <a:xfrm>
            <a:off x="859536" y="2528803"/>
            <a:ext cx="349610" cy="349610"/>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64419" y="2633686"/>
            <a:ext cx="139844" cy="139844"/>
          </a:xfrm>
          <a:prstGeom prst="rect">
            <a:avLst/>
          </a:prstGeom>
        </p:spPr>
      </p:pic>
      <p:sp>
        <p:nvSpPr>
          <p:cNvPr id="11" name="Text 7"/>
          <p:cNvSpPr/>
          <p:nvPr/>
        </p:nvSpPr>
        <p:spPr>
          <a:xfrm>
            <a:off x="1444752" y="2594070"/>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《律师执业行为规范》第二章的基本要求为：依法执业、独立执业、诚实信用、勤勉尽责、保守秘密。</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独立执业的关键区分：涉及实体权利处分与重大程序选择的事项由委托人决定；涉及专业判断与合法性底线的事项由律师独立判断，不得因委托人施压而突破。</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诚信义务有三个指向：对委托人如实告知不作虚假承诺、对法庭如实陈述不提供虚假证据、对同行与对方守信不欺。《律师法》第四十条八项禁止行为是硬边界。</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勤勉尽责是手段债务而非结果债务；判断基准为同等条件下合格律师的通常注意；专业胜任是勤勉的前提，及时沟通是勤勉的组成部分；书面留痕是执业的护身符。</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同业关系四规则：相互尊重不诋毁、不得不正当竞争、规范处理业务承接与移转、共同维护职业权利与形象。业务推广允许客观真实的信息展示，禁止结果承诺、关系宣称、虚假夸大与案源交易。</a:t>
            </a:r>
            <a:endParaRPr lang="en-US" sz="1150"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name="Slide 306">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第14课时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委托人—律师关系（一）：关系的建立与业务推广</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一切律师伦理问题的起点是：谁是我的委托人？我对他负有什么义务？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委托关系的信义性质与“谁是委托人”的判断</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统一接受委托、书面合同与利益冲突前置审查</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业务推广与案源获取的合规边界</a:t>
            </a:r>
            <a:endParaRPr lang="en-US" sz="1400" dirty="0"/>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name="Slide 3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从关系的性质到关系的建立</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一、委托关系的性质：信义关系</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二、谁是委托人：一个不简单的问题</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三、委托关系的建立：统一接受委托与书面合同</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四、接受委托的限制与拒绝委托</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五、业务推广与案源获取的合规边界</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六、知情同意与案例研讨</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02</a:t>
            </a:r>
            <a:endParaRPr lang="en-US" sz="1100"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name="Slide 30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委托关系的性质：信义关系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它不是普通的服务合同，而是以信任为核心的信义关系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03</a:t>
            </a:r>
            <a:endParaRPr lang="en-US" sz="1100"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name="Slide 3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性质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普通服务合同 vs 信义关系</a:t>
            </a:r>
            <a:endParaRPr lang="en-US" sz="2800" dirty="0"/>
          </a:p>
        </p:txBody>
      </p:sp>
      <p:sp>
        <p:nvSpPr>
          <p:cNvPr id="4" name="Shape 2"/>
          <p:cNvSpPr/>
          <p:nvPr/>
        </p:nvSpPr>
        <p:spPr>
          <a:xfrm>
            <a:off x="566928" y="2214245"/>
            <a:ext cx="5410048" cy="3270758"/>
          </a:xfrm>
          <a:prstGeom prst="roundRect">
            <a:avLst>
              <a:gd name="adj" fmla="val 2796"/>
            </a:avLst>
          </a:prstGeom>
          <a:solidFill>
            <a:srgbClr val="F2F4F8"/>
          </a:solidFill>
          <a:ln w="12700">
            <a:solidFill>
              <a:srgbClr val="F2F4F8"/>
            </a:solidFill>
            <a:prstDash val="solid"/>
          </a:ln>
        </p:spPr>
      </p:sp>
      <p:sp>
        <p:nvSpPr>
          <p:cNvPr id="5" name="Shape 3"/>
          <p:cNvSpPr/>
          <p:nvPr/>
        </p:nvSpPr>
        <p:spPr>
          <a:xfrm>
            <a:off x="841248" y="247027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普通服务合同</a:t>
            </a:r>
            <a:endParaRPr lang="en-US" sz="1600" dirty="0"/>
          </a:p>
        </p:txBody>
      </p:sp>
      <p:sp>
        <p:nvSpPr>
          <p:cNvPr id="7" name="Text 5"/>
          <p:cNvSpPr/>
          <p:nvPr/>
        </p:nvSpPr>
        <p:spPr>
          <a:xfrm>
            <a:off x="932688"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双方地位平等，各自追求自身利益最大化。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义务范围以合同约定为限，未约定即无义务。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一方可以在不违约的前提下追求己方利益。</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典型如买卖、承揽：卖方不必替买方考虑是否划算。</a:t>
            </a:r>
            <a:endParaRPr lang="en-US" sz="1450" dirty="0"/>
          </a:p>
        </p:txBody>
      </p:sp>
      <p:sp>
        <p:nvSpPr>
          <p:cNvPr id="8" name="Shape 6"/>
          <p:cNvSpPr/>
          <p:nvPr/>
        </p:nvSpPr>
        <p:spPr>
          <a:xfrm>
            <a:off x="6214720" y="2214245"/>
            <a:ext cx="5410048" cy="3270758"/>
          </a:xfrm>
          <a:prstGeom prst="roundRect">
            <a:avLst>
              <a:gd name="adj" fmla="val 2796"/>
            </a:avLst>
          </a:prstGeom>
          <a:solidFill>
            <a:srgbClr val="F6F1E8"/>
          </a:solidFill>
          <a:ln w="12700">
            <a:solidFill>
              <a:srgbClr val="F6F1E8"/>
            </a:solidFill>
            <a:prstDash val="solid"/>
          </a:ln>
        </p:spPr>
      </p:sp>
      <p:sp>
        <p:nvSpPr>
          <p:cNvPr id="9" name="Shape 7"/>
          <p:cNvSpPr/>
          <p:nvPr/>
        </p:nvSpPr>
        <p:spPr>
          <a:xfrm>
            <a:off x="6489040" y="247027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信义关系（fiduciary relationship）</a:t>
            </a:r>
            <a:endParaRPr lang="en-US" sz="1600" dirty="0"/>
          </a:p>
        </p:txBody>
      </p:sp>
      <p:sp>
        <p:nvSpPr>
          <p:cNvPr id="11" name="Text 9"/>
          <p:cNvSpPr/>
          <p:nvPr/>
        </p:nvSpPr>
        <p:spPr>
          <a:xfrm>
            <a:off x="6580480"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一方对另一方负有超越合同约定的忠实义务。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受托人必须将委托人的利益置于自身利益之上。</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因信息与能力的不对称，受托人不得利用优势地位牟利。</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典型如律师与委托人、医生与患者、受托人与信托受益人。</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04</a:t>
            </a:r>
            <a:endParaRPr lang="en-US" sz="1100"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name="Slide 3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推论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信义性质推出的四项核心义务</a:t>
            </a:r>
            <a:endParaRPr lang="en-US" sz="2800" dirty="0"/>
          </a:p>
        </p:txBody>
      </p:sp>
      <p:sp>
        <p:nvSpPr>
          <p:cNvPr id="4" name="Shape 2"/>
          <p:cNvSpPr/>
          <p:nvPr/>
        </p:nvSpPr>
        <p:spPr>
          <a:xfrm>
            <a:off x="566928" y="1316736"/>
            <a:ext cx="11057839" cy="1271810"/>
          </a:xfrm>
          <a:prstGeom prst="roundRect">
            <a:avLst>
              <a:gd name="adj" fmla="val 5752"/>
            </a:avLst>
          </a:prstGeom>
          <a:solidFill>
            <a:srgbClr val="F2F4F8"/>
          </a:solidFill>
          <a:ln w="12700">
            <a:solidFill>
              <a:srgbClr val="F2F4F8"/>
            </a:solidFill>
            <a:prstDash val="solid"/>
          </a:ln>
        </p:spPr>
      </p:sp>
      <p:sp>
        <p:nvSpPr>
          <p:cNvPr id="5" name="Shape 3"/>
          <p:cNvSpPr/>
          <p:nvPr/>
        </p:nvSpPr>
        <p:spPr>
          <a:xfrm>
            <a:off x="841248" y="1696609"/>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50228"/>
            <a:ext cx="204826" cy="204826"/>
          </a:xfrm>
          <a:prstGeom prst="rect">
            <a:avLst/>
          </a:prstGeom>
        </p:spPr>
      </p:pic>
      <p:sp>
        <p:nvSpPr>
          <p:cNvPr id="7" name="Text 4"/>
          <p:cNvSpPr/>
          <p:nvPr/>
        </p:nvSpPr>
        <p:spPr>
          <a:xfrm>
            <a:off x="1536192" y="1568021"/>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忠实义务（loyalty）</a:t>
            </a:r>
            <a:endParaRPr lang="en-US" sz="1450" dirty="0"/>
          </a:p>
        </p:txBody>
      </p:sp>
      <p:sp>
        <p:nvSpPr>
          <p:cNvPr id="8" name="Text 5"/>
          <p:cNvSpPr/>
          <p:nvPr/>
        </p:nvSpPr>
        <p:spPr>
          <a:xfrm>
            <a:off x="1536192" y="1876885"/>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不得将自身利益或者第三人利益置于委托人利益之上；不得在同一事项中同时服务于相冲突的利益。利益冲突禁止规则的全部内容，都是忠实义务的展开——第17、18课时专门讨论。</a:t>
            </a:r>
            <a:endParaRPr lang="en-US" sz="1250" dirty="0"/>
          </a:p>
        </p:txBody>
      </p:sp>
      <p:sp>
        <p:nvSpPr>
          <p:cNvPr id="9" name="Shape 6"/>
          <p:cNvSpPr/>
          <p:nvPr/>
        </p:nvSpPr>
        <p:spPr>
          <a:xfrm>
            <a:off x="566928" y="2734850"/>
            <a:ext cx="11057839" cy="1041622"/>
          </a:xfrm>
          <a:prstGeom prst="roundRect">
            <a:avLst>
              <a:gd name="adj" fmla="val 7023"/>
            </a:avLst>
          </a:prstGeom>
          <a:solidFill>
            <a:srgbClr val="FFFFFF"/>
          </a:solidFill>
          <a:ln w="12700">
            <a:solidFill>
              <a:srgbClr val="D5DBE5"/>
            </a:solidFill>
            <a:prstDash val="solid"/>
          </a:ln>
        </p:spPr>
      </p:sp>
      <p:sp>
        <p:nvSpPr>
          <p:cNvPr id="10" name="Shape 7"/>
          <p:cNvSpPr/>
          <p:nvPr/>
        </p:nvSpPr>
        <p:spPr>
          <a:xfrm>
            <a:off x="841248" y="2999629"/>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53248"/>
            <a:ext cx="204826" cy="204826"/>
          </a:xfrm>
          <a:prstGeom prst="rect">
            <a:avLst/>
          </a:prstGeom>
        </p:spPr>
      </p:pic>
      <p:sp>
        <p:nvSpPr>
          <p:cNvPr id="12" name="Text 8"/>
          <p:cNvSpPr/>
          <p:nvPr/>
        </p:nvSpPr>
        <p:spPr>
          <a:xfrm>
            <a:off x="1536192" y="29861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保密义务（confidentiality）</a:t>
            </a:r>
            <a:endParaRPr lang="en-US" sz="1450" dirty="0"/>
          </a:p>
        </p:txBody>
      </p:sp>
      <p:sp>
        <p:nvSpPr>
          <p:cNvPr id="13" name="Text 9"/>
          <p:cNvSpPr/>
          <p:nvPr/>
        </p:nvSpPr>
        <p:spPr>
          <a:xfrm>
            <a:off x="1536192" y="3294999"/>
            <a:ext cx="9832543" cy="23018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因信任而获知的信息不得泄露或者利用。保密义务的强度远超一般合同的保密条款，且不因委托关系终止而消灭——第16课时专门讨论。</a:t>
            </a:r>
            <a:endParaRPr lang="en-US" sz="1250" dirty="0"/>
          </a:p>
        </p:txBody>
      </p:sp>
      <p:sp>
        <p:nvSpPr>
          <p:cNvPr id="14" name="Shape 10"/>
          <p:cNvSpPr/>
          <p:nvPr/>
        </p:nvSpPr>
        <p:spPr>
          <a:xfrm>
            <a:off x="566928" y="3922776"/>
            <a:ext cx="11057839" cy="1271810"/>
          </a:xfrm>
          <a:prstGeom prst="roundRect">
            <a:avLst>
              <a:gd name="adj" fmla="val 5752"/>
            </a:avLst>
          </a:prstGeom>
          <a:solidFill>
            <a:srgbClr val="F2F4F8"/>
          </a:solidFill>
          <a:ln w="12700">
            <a:solidFill>
              <a:srgbClr val="F2F4F8"/>
            </a:solidFill>
            <a:prstDash val="solid"/>
          </a:ln>
        </p:spPr>
      </p:sp>
      <p:sp>
        <p:nvSpPr>
          <p:cNvPr id="15" name="Shape 11"/>
          <p:cNvSpPr/>
          <p:nvPr/>
        </p:nvSpPr>
        <p:spPr>
          <a:xfrm>
            <a:off x="841248" y="4302649"/>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56268"/>
            <a:ext cx="204826" cy="204826"/>
          </a:xfrm>
          <a:prstGeom prst="rect">
            <a:avLst/>
          </a:prstGeom>
        </p:spPr>
      </p:pic>
      <p:sp>
        <p:nvSpPr>
          <p:cNvPr id="17" name="Text 12"/>
          <p:cNvSpPr/>
          <p:nvPr/>
        </p:nvSpPr>
        <p:spPr>
          <a:xfrm>
            <a:off x="1536192" y="4174061"/>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告知义务（disclosure）</a:t>
            </a:r>
            <a:endParaRPr lang="en-US" sz="1450" dirty="0"/>
          </a:p>
        </p:txBody>
      </p:sp>
      <p:sp>
        <p:nvSpPr>
          <p:cNvPr id="18" name="Text 13"/>
          <p:cNvSpPr/>
          <p:nvPr/>
        </p:nvSpPr>
        <p:spPr>
          <a:xfrm>
            <a:off x="1536192" y="4482925"/>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因信息不对称，律师负有主动告知的义务：案件风险、重大进展、不利变化、费用构成、可能的利益冲突。委托人只有在知情的前提下，其授权与决定才有意义。</a:t>
            </a:r>
            <a:endParaRPr lang="en-US" sz="1250" dirty="0"/>
          </a:p>
        </p:txBody>
      </p:sp>
      <p:sp>
        <p:nvSpPr>
          <p:cNvPr id="19" name="Shape 14"/>
          <p:cNvSpPr/>
          <p:nvPr/>
        </p:nvSpPr>
        <p:spPr>
          <a:xfrm>
            <a:off x="566928" y="5340890"/>
            <a:ext cx="11057839" cy="1041622"/>
          </a:xfrm>
          <a:prstGeom prst="roundRect">
            <a:avLst>
              <a:gd name="adj" fmla="val 7023"/>
            </a:avLst>
          </a:prstGeom>
          <a:solidFill>
            <a:srgbClr val="FFFFFF"/>
          </a:solidFill>
          <a:ln w="12700">
            <a:solidFill>
              <a:srgbClr val="D5DBE5"/>
            </a:solidFill>
            <a:prstDash val="solid"/>
          </a:ln>
        </p:spPr>
      </p:sp>
      <p:sp>
        <p:nvSpPr>
          <p:cNvPr id="20" name="Shape 15"/>
          <p:cNvSpPr/>
          <p:nvPr/>
        </p:nvSpPr>
        <p:spPr>
          <a:xfrm>
            <a:off x="841248" y="5605669"/>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59288"/>
            <a:ext cx="204826" cy="204826"/>
          </a:xfrm>
          <a:prstGeom prst="rect">
            <a:avLst/>
          </a:prstGeom>
        </p:spPr>
      </p:pic>
      <p:sp>
        <p:nvSpPr>
          <p:cNvPr id="22" name="Text 16"/>
          <p:cNvSpPr/>
          <p:nvPr/>
        </p:nvSpPr>
        <p:spPr>
          <a:xfrm>
            <a:off x="1536192" y="55921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勤勉义务（diligence）</a:t>
            </a:r>
            <a:endParaRPr lang="en-US" sz="1450" dirty="0"/>
          </a:p>
        </p:txBody>
      </p:sp>
      <p:sp>
        <p:nvSpPr>
          <p:cNvPr id="23" name="Text 17"/>
          <p:cNvSpPr/>
          <p:nvPr/>
        </p:nvSpPr>
        <p:spPr>
          <a:xfrm>
            <a:off x="1536192" y="5901039"/>
            <a:ext cx="9832543" cy="23018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以应有的专业注意履行受托事务，不得懈怠、拖延或者擅自终止。与忠实义务的关系是：忠实解决“为谁做”，勤勉解决“做得如何”。</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05</a:t>
            </a:r>
            <a:endParaRPr lang="en-US" sz="1100" dirty="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name="Slide 31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谁是委托人：一个不简单的问题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弄错了委托人，后面所有的义务判断都会跟着错</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06</a:t>
            </a:r>
            <a:endParaRPr lang="en-US" sz="1100"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name="Slide 3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四类情形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实务中最容易混淆的四种情形</a:t>
            </a:r>
            <a:endParaRPr lang="en-US" sz="2800" dirty="0"/>
          </a:p>
        </p:txBody>
      </p:sp>
      <p:sp>
        <p:nvSpPr>
          <p:cNvPr id="4" name="Shape 2"/>
          <p:cNvSpPr/>
          <p:nvPr/>
        </p:nvSpPr>
        <p:spPr>
          <a:xfrm>
            <a:off x="566928" y="1415733"/>
            <a:ext cx="5410048" cy="2324164"/>
          </a:xfrm>
          <a:prstGeom prst="roundRect">
            <a:avLst>
              <a:gd name="adj" fmla="val 3934"/>
            </a:avLst>
          </a:prstGeom>
          <a:solidFill>
            <a:srgbClr val="F2F4F8"/>
          </a:solidFill>
          <a:ln w="12700">
            <a:solidFill>
              <a:srgbClr val="F2F4F8"/>
            </a:solidFill>
            <a:prstDash val="solid"/>
          </a:ln>
        </p:spPr>
      </p:sp>
      <p:sp>
        <p:nvSpPr>
          <p:cNvPr id="5" name="Shape 3"/>
          <p:cNvSpPr/>
          <p:nvPr/>
        </p:nvSpPr>
        <p:spPr>
          <a:xfrm>
            <a:off x="886968" y="1708341"/>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45501"/>
            <a:ext cx="182880" cy="182880"/>
          </a:xfrm>
          <a:prstGeom prst="rect">
            <a:avLst/>
          </a:prstGeom>
        </p:spPr>
      </p:pic>
      <p:sp>
        <p:nvSpPr>
          <p:cNvPr id="7" name="Text 4"/>
          <p:cNvSpPr/>
          <p:nvPr/>
        </p:nvSpPr>
        <p:spPr>
          <a:xfrm>
            <a:off x="886968" y="2330133"/>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付费人 ≠ 委托人</a:t>
            </a:r>
            <a:endParaRPr lang="en-US" sz="1450" dirty="0"/>
          </a:p>
        </p:txBody>
      </p:sp>
      <p:sp>
        <p:nvSpPr>
          <p:cNvPr id="8" name="Text 5"/>
          <p:cNvSpPr/>
          <p:nvPr/>
        </p:nvSpPr>
        <p:spPr>
          <a:xfrm>
            <a:off x="886968" y="268833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刑事案件中常由被追诉人的亲属付费。付费人不因付费而成为委托人：律师的忠实义务指向被追诉人本人，辩护意见须以其本人意志与利益为准；未经本人同意，不得向付费的亲属披露会见内容。</a:t>
            </a:r>
            <a:endParaRPr lang="en-US" sz="1200" dirty="0"/>
          </a:p>
        </p:txBody>
      </p:sp>
      <p:sp>
        <p:nvSpPr>
          <p:cNvPr id="9" name="Shape 6"/>
          <p:cNvSpPr/>
          <p:nvPr/>
        </p:nvSpPr>
        <p:spPr>
          <a:xfrm>
            <a:off x="6214720" y="1415733"/>
            <a:ext cx="5410048" cy="2324164"/>
          </a:xfrm>
          <a:prstGeom prst="roundRect">
            <a:avLst>
              <a:gd name="adj" fmla="val 3934"/>
            </a:avLst>
          </a:prstGeom>
          <a:solidFill>
            <a:srgbClr val="F6F1E8"/>
          </a:solidFill>
          <a:ln w="12700">
            <a:solidFill>
              <a:srgbClr val="F6F1E8"/>
            </a:solidFill>
            <a:prstDash val="solid"/>
          </a:ln>
        </p:spPr>
      </p:sp>
      <p:sp>
        <p:nvSpPr>
          <p:cNvPr id="10" name="Shape 7"/>
          <p:cNvSpPr/>
          <p:nvPr/>
        </p:nvSpPr>
        <p:spPr>
          <a:xfrm>
            <a:off x="6534760" y="1708341"/>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45501"/>
            <a:ext cx="182880" cy="182880"/>
          </a:xfrm>
          <a:prstGeom prst="rect">
            <a:avLst/>
          </a:prstGeom>
        </p:spPr>
      </p:pic>
      <p:sp>
        <p:nvSpPr>
          <p:cNvPr id="12" name="Text 8"/>
          <p:cNvSpPr/>
          <p:nvPr/>
        </p:nvSpPr>
        <p:spPr>
          <a:xfrm>
            <a:off x="6534760" y="2330133"/>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公司 ≠ 法定代表人</a:t>
            </a:r>
            <a:endParaRPr lang="en-US" sz="1450" dirty="0"/>
          </a:p>
        </p:txBody>
      </p:sp>
      <p:sp>
        <p:nvSpPr>
          <p:cNvPr id="13" name="Text 9"/>
          <p:cNvSpPr/>
          <p:nvPr/>
        </p:nvSpPr>
        <p:spPr>
          <a:xfrm>
            <a:off x="6534760" y="268833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律师担任公司法律顾问的，委托人是公司这一法人，而非法定代表人个人。当法定代表人的个人利益与公司利益冲突时（如涉嫌侵占公司财产），律师应当忠于公司，必要时向董事会、监事会报告并说明立场。</a:t>
            </a:r>
            <a:endParaRPr lang="en-US" sz="1200" dirty="0"/>
          </a:p>
        </p:txBody>
      </p:sp>
      <p:sp>
        <p:nvSpPr>
          <p:cNvPr id="14" name="Shape 10"/>
          <p:cNvSpPr/>
          <p:nvPr/>
        </p:nvSpPr>
        <p:spPr>
          <a:xfrm>
            <a:off x="566928" y="3959352"/>
            <a:ext cx="5410048" cy="2324164"/>
          </a:xfrm>
          <a:prstGeom prst="roundRect">
            <a:avLst>
              <a:gd name="adj" fmla="val 393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共同委托人之间的潜在冲突</a:t>
            </a:r>
            <a:endParaRPr lang="en-US" sz="1450" dirty="0"/>
          </a:p>
        </p:txBody>
      </p:sp>
      <p:sp>
        <p:nvSpPr>
          <p:cNvPr id="18" name="Text 13"/>
          <p:cNvSpPr/>
          <p:nvPr/>
        </p:nvSpPr>
        <p:spPr>
          <a:xfrm>
            <a:off x="886968" y="523195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多名当事人共同委托同一律师的，须审查其利益是否一致。共同被告之间可能存在相互推诿责任的空间；股东之间、合伙人之间的利益也未必一致。一旦出现实质冲突，律师原则上应当退出全部委托。</a:t>
            </a:r>
            <a:endParaRPr lang="en-US" sz="1200" dirty="0"/>
          </a:p>
        </p:txBody>
      </p:sp>
      <p:sp>
        <p:nvSpPr>
          <p:cNvPr id="19" name="Shape 14"/>
          <p:cNvSpPr/>
          <p:nvPr/>
        </p:nvSpPr>
        <p:spPr>
          <a:xfrm>
            <a:off x="6214720" y="3959352"/>
            <a:ext cx="5410048" cy="2324164"/>
          </a:xfrm>
          <a:prstGeom prst="roundRect">
            <a:avLst>
              <a:gd name="adj" fmla="val 393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30188"/>
          </a:xfrm>
          <a:prstGeom prst="rect">
            <a:avLst/>
          </a:prstGeom>
          <a:noFill/>
          <a:ln/>
        </p:spPr>
        <p:txBody>
          <a:bodyPr wrap="square" lIns="0" tIns="0" rIns="0" bIns="0" rtlCol="0" anchor="t"/>
          <a:lstStyle/>
          <a:p>
            <a:pPr indent="0" marL="0">
              <a:lnSpc>
                <a:spcPts val="1813"/>
              </a:lnSpc>
              <a:buNone/>
            </a:pPr>
            <a:r>
              <a:rPr lang="en-US" sz="1450" b="1" dirty="0">
                <a:solidFill>
                  <a:srgbClr val="13233F"/>
                </a:solidFill>
                <a:latin typeface="微软雅黑" pitchFamily="34" charset="0"/>
                <a:ea typeface="微软雅黑" pitchFamily="34" charset="-122"/>
                <a:cs typeface="微软雅黑" pitchFamily="34" charset="-120"/>
              </a:rPr>
              <a:t>咨询者是否已成为委托人</a:t>
            </a:r>
            <a:endParaRPr lang="en-US" sz="1450" dirty="0"/>
          </a:p>
        </p:txBody>
      </p:sp>
      <p:sp>
        <p:nvSpPr>
          <p:cNvPr id="23" name="Text 17"/>
          <p:cNvSpPr/>
          <p:nvPr/>
        </p:nvSpPr>
        <p:spPr>
          <a:xfrm>
            <a:off x="6534760" y="5231956"/>
            <a:ext cx="4769968" cy="832104"/>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即使未签订委托合同，若律师已接受咨询并知悉对方的实质性保密信息，则可能产生保密义务与冲突审查义务。此后不得接受与该咨询者相对立一方的委托——“未成案的咨询”同样产生法律后果。</a:t>
            </a:r>
            <a:endParaRPr lang="en-US" sz="12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07</a:t>
            </a:r>
            <a:endParaRPr lang="en-US" sz="1100" dirty="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name="Slide 3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亲属付费的刑事辩护</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高频难题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“我付的钱，你得听我的”</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某涉嫌职务侵占案，犯罪嫌疑人之妻委托某律师担任辩护人，并支付了全部律师费。委托手续中，犯罪嫌疑人本人后来在看守所签署了确认。</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会见后，犯罪嫌疑人向律师承认了主要事实，并表示希望争取认罪认罚从宽。但其妻坚决要求律师作无罪辩护，理由是“认罪就会被单位开除、影响孩子”，并要求律师详细告知会见的全部内容，包括丈夫是否提到家庭财产的去向。</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其妻同时表示：若律师不听安排，将立即解除委托并要求退还全部费用。</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律师应当听谁的？规范依据是什么？</a:t>
            </a:r>
            <a:endParaRPr lang="en-US" sz="1400" dirty="0"/>
          </a:p>
        </p:txBody>
      </p:sp>
      <p:sp>
        <p:nvSpPr>
          <p:cNvPr id="14" name="Shape 12"/>
          <p:cNvSpPr/>
          <p:nvPr/>
        </p:nvSpPr>
        <p:spPr>
          <a:xfrm>
            <a:off x="7958023" y="296532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296532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913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能否向其妻披露会见内容？</a:t>
            </a:r>
            <a:endParaRPr lang="en-US" sz="1400" dirty="0"/>
          </a:p>
        </p:txBody>
      </p:sp>
      <p:sp>
        <p:nvSpPr>
          <p:cNvPr id="17" name="Shape 15"/>
          <p:cNvSpPr/>
          <p:nvPr/>
        </p:nvSpPr>
        <p:spPr>
          <a:xfrm>
            <a:off x="7958023" y="371690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371690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72071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认罪认罚的决定权在谁？</a:t>
            </a:r>
            <a:endParaRPr lang="en-US" sz="1400" dirty="0"/>
          </a:p>
        </p:txBody>
      </p:sp>
      <p:sp>
        <p:nvSpPr>
          <p:cNvPr id="20" name="Shape 18"/>
          <p:cNvSpPr/>
          <p:nvPr/>
        </p:nvSpPr>
        <p:spPr>
          <a:xfrm>
            <a:off x="7958023" y="446849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46849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47230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律师应当如何与付费人沟通并留痕？</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08</a:t>
            </a:r>
            <a:endParaRPr lang="en-US" sz="1100"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name="Slide 31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委托关系的建立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统一接受委托、书面合同、冲突审查前置——三项必经程序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09</a:t>
            </a:r>
            <a:endParaRPr lang="en-US" sz="1100"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name="Slide 3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强制性规定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《律师法》第二十五条：统一接受委托</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《中华人民共和国律师法》第二十五条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律师承办业务，由律师事务所统一接受委托，与委托人签订书面委托合同，按照国家规定统一收取费用并如实入账。</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律师事务所和律师应当依法纳税。</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包含四项强制要求：统一接受委托、书面合同、统一收费、如实入账。违反的后果是《律师法》第四十条第（一）项“私自接受委托、收取费用”，可被处以停止执业乃至吊销执业证书。请理解其制度功能：统一接受委托使利益冲突审查、质量管理、责任承担成为可能；律所不是律师的“挂靠单位”，而是委托关系的法律主体。</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10</a:t>
            </a:r>
            <a:endParaRPr lang="en-US" sz="1100"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name="Slide 3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建立流程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接受委托的标准流程</a:t>
            </a:r>
            <a:endParaRPr lang="en-US" sz="2800" dirty="0"/>
          </a:p>
        </p:txBody>
      </p:sp>
      <p:sp>
        <p:nvSpPr>
          <p:cNvPr id="4" name="Shape 2"/>
          <p:cNvSpPr/>
          <p:nvPr/>
        </p:nvSpPr>
        <p:spPr>
          <a:xfrm>
            <a:off x="566928" y="1729645"/>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第一步：初步接洽与信息获取</a:t>
            </a:r>
            <a:endParaRPr lang="en-US" sz="1500" dirty="0"/>
          </a:p>
        </p:txBody>
      </p:sp>
      <p:sp>
        <p:nvSpPr>
          <p:cNvPr id="8" name="Text 6"/>
          <p:cNvSpPr/>
          <p:nvPr/>
        </p:nvSpPr>
        <p:spPr>
          <a:xfrm>
            <a:off x="1444752"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了解委托事项的基本情况、当事人身份、对方当事人身份、案件性质。注意：此阶段获知的信息已受保密义务约束，即使最终未成案。</a:t>
            </a:r>
            <a:endParaRPr lang="en-US" sz="1350" dirty="0"/>
          </a:p>
        </p:txBody>
      </p:sp>
      <p:sp>
        <p:nvSpPr>
          <p:cNvPr id="9" name="Shape 7"/>
          <p:cNvSpPr/>
          <p:nvPr/>
        </p:nvSpPr>
        <p:spPr>
          <a:xfrm>
            <a:off x="566928" y="3185636"/>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第二步：利益冲突检索</a:t>
            </a:r>
            <a:endParaRPr lang="en-US" sz="1500" dirty="0"/>
          </a:p>
        </p:txBody>
      </p:sp>
      <p:sp>
        <p:nvSpPr>
          <p:cNvPr id="13" name="Text 11"/>
          <p:cNvSpPr/>
          <p:nvPr/>
        </p:nvSpPr>
        <p:spPr>
          <a:xfrm>
            <a:off x="1444752"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以本人、本所（含分所）为范围，检索是否曾为对方当事人提供服务、是否存在关联关系。检索应当在正式接受委托前完成并留存记录。这是冲突审查前置原则。</a:t>
            </a:r>
            <a:endParaRPr lang="en-US" sz="1350" dirty="0"/>
          </a:p>
        </p:txBody>
      </p:sp>
      <p:sp>
        <p:nvSpPr>
          <p:cNvPr id="14" name="Shape 12"/>
          <p:cNvSpPr/>
          <p:nvPr/>
        </p:nvSpPr>
        <p:spPr>
          <a:xfrm>
            <a:off x="566928" y="4641628"/>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507701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第三步：能力与资源评估</a:t>
            </a:r>
            <a:endParaRPr lang="en-US" sz="1500" dirty="0"/>
          </a:p>
        </p:txBody>
      </p:sp>
      <p:sp>
        <p:nvSpPr>
          <p:cNvPr id="18" name="Text 16"/>
          <p:cNvSpPr/>
          <p:nvPr/>
        </p:nvSpPr>
        <p:spPr>
          <a:xfrm>
            <a:off x="1444752"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评估是否具备专业胜任能力、是否有足够时间与人力、是否存在管辖或者时效等障碍。不能胜任的应当明确告知或者引荐、协作办理。</a:t>
            </a:r>
            <a:endParaRPr lang="en-US" sz="1350" dirty="0"/>
          </a:p>
        </p:txBody>
      </p:sp>
      <p:sp>
        <p:nvSpPr>
          <p:cNvPr id="19" name="Shape 17"/>
          <p:cNvSpPr/>
          <p:nvPr/>
        </p:nvSpPr>
        <p:spPr>
          <a:xfrm>
            <a:off x="6242152" y="1729645"/>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第四步：风险告知与知情同意</a:t>
            </a:r>
            <a:endParaRPr lang="en-US" sz="1500" dirty="0"/>
          </a:p>
        </p:txBody>
      </p:sp>
      <p:sp>
        <p:nvSpPr>
          <p:cNvPr id="23" name="Text 21"/>
          <p:cNvSpPr/>
          <p:nvPr/>
        </p:nvSpPr>
        <p:spPr>
          <a:xfrm>
            <a:off x="7119976"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如实告知案件的可能结果、主要风险、诉讼周期、费用构成与可能的额外支出；不得作出结果承诺。告知内容宜书面化。</a:t>
            </a:r>
            <a:endParaRPr lang="en-US" sz="1350" dirty="0"/>
          </a:p>
        </p:txBody>
      </p:sp>
      <p:sp>
        <p:nvSpPr>
          <p:cNvPr id="24" name="Shape 22"/>
          <p:cNvSpPr/>
          <p:nvPr/>
        </p:nvSpPr>
        <p:spPr>
          <a:xfrm>
            <a:off x="6242152" y="3185636"/>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第五步：签订书面委托合同</a:t>
            </a:r>
            <a:endParaRPr lang="en-US" sz="1500" dirty="0"/>
          </a:p>
        </p:txBody>
      </p:sp>
      <p:sp>
        <p:nvSpPr>
          <p:cNvPr id="28" name="Text 26"/>
          <p:cNvSpPr/>
          <p:nvPr/>
        </p:nvSpPr>
        <p:spPr>
          <a:xfrm>
            <a:off x="7119976"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由律师事务所与委托人签订，载明委托事项、权限范围、收费标准与支付方式、双方权利义务、解除条件、争议解决方式等。授权委托书应当明确一般代理还是特别授权。</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第六步：建档与内部报备</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按律所制度立卷建档，报备承办人、收费与冲突审查结论；费用统一入所账并开具发票。归档的完整性是日后责任认定的基础。</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11</a:t>
            </a:r>
            <a:endParaRPr lang="en-US" sz="1100" dirty="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name="Slide 3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合同要点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委托合同中最容易出问题的五个条款</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委托合同不只是收费凭据，它是界定义务范围、防范纠纷的核心文件。</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委托事项与范围：写清是“一审”还是“一审至二审”，是“代理诉讼”还是“包含执行”。范围不清是费用纠纷最常见的起因。</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授权权限：一般代理与特别授权的差别极大。特别授权涉及承认、放弃、变更诉讼请求、和解、提起反诉或者上诉，必须明确并经委托人确认。</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收费标准与支付方式：明确计费方式（计件、计时、按标的比例、风险代理）、支付节点、以及办案费用（差旅、鉴定、公告费）由谁承担。</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解除条件与费用结算：约定双方解除的条件与已发生费用的结算方式，避免解除时争议不断。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沟通与告知方式：约定联系人、联系方式与告知方式，明确重大事项的确认程序。这一条看似琐碎，实际能减少大量纠纷。</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12</a:t>
            </a:r>
            <a:endParaRPr lang="en-US" sz="1100" dirty="0"/>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name="Slide 31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接受委托的限制与拒绝委托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律师有权选择当事人，但接受之后就不能随意退出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13</a:t>
            </a:r>
            <a:endParaRPr lang="en-US" sz="1100"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name="Slide 3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《律师法》第三十二条：委托的解除与拒绝</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《中华人民共和国律师法》第三十二条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委托人可以拒绝已委托的律师为其辩护或者代理，同时可以另行委托律师担任辩护人或者代理人。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律师接受委托后，无正当理由的，不得拒绝辩护或者代理。但是，委托事项违法、委托人利用律师提供的服务从事违法活动或者委托人故意隐瞒与案件有关的重要事实的，律师有权拒绝辩护或者代理。</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两款的不对称：委托人可以随时解除（第一款无条件），律师原则上不得拒绝（第二款有条件）。这一不对称正是信义关系的体现——委托关系建立在委托人的信任之上，信任消失即可终止；而律师中途退出会使当事人陷入无人代理的困境，因此须有正当理由。第二款列举的三项正当理由，请务必记住。</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14</a:t>
            </a:r>
            <a:endParaRPr lang="en-US" sz="1100" dirty="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name="Slide 3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两类情形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不得接受的委托 vs 可以拒绝的委托</a:t>
            </a:r>
            <a:endParaRPr lang="en-US" sz="2800" dirty="0"/>
          </a:p>
        </p:txBody>
      </p:sp>
      <p:sp>
        <p:nvSpPr>
          <p:cNvPr id="4" name="Shape 2"/>
          <p:cNvSpPr/>
          <p:nvPr/>
        </p:nvSpPr>
        <p:spPr>
          <a:xfrm>
            <a:off x="566928" y="2076133"/>
            <a:ext cx="5410048" cy="3546983"/>
          </a:xfrm>
          <a:prstGeom prst="roundRect">
            <a:avLst>
              <a:gd name="adj" fmla="val 2578"/>
            </a:avLst>
          </a:prstGeom>
          <a:solidFill>
            <a:srgbClr val="F2F4F8"/>
          </a:solidFill>
          <a:ln w="12700">
            <a:solidFill>
              <a:srgbClr val="F2F4F8"/>
            </a:solidFill>
            <a:prstDash val="solid"/>
          </a:ln>
        </p:spPr>
      </p:sp>
      <p:sp>
        <p:nvSpPr>
          <p:cNvPr id="5" name="Shape 3"/>
          <p:cNvSpPr/>
          <p:nvPr/>
        </p:nvSpPr>
        <p:spPr>
          <a:xfrm>
            <a:off x="841248" y="23321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不得接受（接受即违规）</a:t>
            </a:r>
            <a:endParaRPr lang="en-US" sz="1600" dirty="0"/>
          </a:p>
        </p:txBody>
      </p:sp>
      <p:sp>
        <p:nvSpPr>
          <p:cNvPr id="7" name="Text 5"/>
          <p:cNvSpPr/>
          <p:nvPr/>
        </p:nvSpPr>
        <p:spPr>
          <a:xfrm>
            <a:off x="932688"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存在法定利益冲突的：同一案件中为双方当事人担任代理人；代理与本人或者近亲属有利益冲突的法律事务。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委托事项本身违法的：如要求律师协助转移赃款、伪造证据、逃避债务执行。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明显超出专业胜任能力且无法通过协作解决的。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离任法官、检察官在法定期限内担任诉讼代理人或者辩护人的。</a:t>
            </a:r>
            <a:endParaRPr lang="en-US" sz="1450" dirty="0"/>
          </a:p>
        </p:txBody>
      </p:sp>
      <p:sp>
        <p:nvSpPr>
          <p:cNvPr id="8" name="Shape 6"/>
          <p:cNvSpPr/>
          <p:nvPr/>
        </p:nvSpPr>
        <p:spPr>
          <a:xfrm>
            <a:off x="6214720" y="2076133"/>
            <a:ext cx="5410048" cy="3546983"/>
          </a:xfrm>
          <a:prstGeom prst="roundRect">
            <a:avLst>
              <a:gd name="adj" fmla="val 2578"/>
            </a:avLst>
          </a:prstGeom>
          <a:solidFill>
            <a:srgbClr val="F6F1E8"/>
          </a:solidFill>
          <a:ln w="12700">
            <a:solidFill>
              <a:srgbClr val="F6F1E8"/>
            </a:solidFill>
            <a:prstDash val="solid"/>
          </a:ln>
        </p:spPr>
      </p:sp>
      <p:sp>
        <p:nvSpPr>
          <p:cNvPr id="9" name="Shape 7"/>
          <p:cNvSpPr/>
          <p:nvPr/>
        </p:nvSpPr>
        <p:spPr>
          <a:xfrm>
            <a:off x="6489040" y="23321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3321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可以拒绝（接受后有权退出）</a:t>
            </a:r>
            <a:endParaRPr lang="en-US" sz="1600" dirty="0"/>
          </a:p>
        </p:txBody>
      </p:sp>
      <p:sp>
        <p:nvSpPr>
          <p:cNvPr id="11" name="Text 9"/>
          <p:cNvSpPr/>
          <p:nvPr/>
        </p:nvSpPr>
        <p:spPr>
          <a:xfrm>
            <a:off x="6580480" y="2990533"/>
            <a:ext cx="4678528" cy="23948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委托事项违法。</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委托人利用律师提供的服务从事违法活动。</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委托人故意隐瞒与案件有关的重要事实。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注意：以上三项之外，无正当理由不得拒绝；即使有正当理由，也应当妥善处理交接，避免损害委托人利益。</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15</a:t>
            </a:r>
            <a:endParaRPr lang="en-US" sz="1100" dirty="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name="Slide 3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特别情形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法律援助案件的特殊性</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《法律援助法》自2022年1月1日起施行，它把法律援助从“政府的恩惠”提升为“国家的责任”。</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《律师法》第四十二条规定，律师、律师事务所应当按照国家规定履行法律援助义务，为受援人提供符合标准的法律服务，维护受援人的合法权益。</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法律援助是法定义务而非慈善行为。接受指派后，无正当理由不得拒绝、拖延或者终止提供法律援助服务。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援助案件的服务标准与收费案件相同。以“没收费”为由降低服务质量，是严重的执业违规，也是对受援人权利的侵害。</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受援人对法律援助有异议的，可以依法向法律援助机构提出；法律援助机构应当依法处理，必要时更换承办人员。</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请各位建立一个观念：法律援助案件的当事人往往最缺乏辨别服务质量的能力，因而最容易被敷衍。恰恰因为如此，援助案件才是检验一名律师职业操守的最好试金石。</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16</a:t>
            </a:r>
            <a:endParaRPr lang="en-US" sz="1100" dirty="0"/>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name="Slide 32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业务推广与案源获取的合规边界</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案源焦虑是真实的，但突破边界的代价更真实</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17</a:t>
            </a:r>
            <a:endParaRPr lang="en-US" sz="1100" dirty="0"/>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name="Slide 3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四条红线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案源获取中的四条不可逾越的红线</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一、不得承诺办案结果</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不得以明示或者暗示的方式承诺胜诉、承诺不批捕、承诺缓刑等。判断标准是委托人是否会合理地理解为一种保证。“我们办过类似案件，结果不错”与“这个案子我保证给你办成缓刑”，性质完全不同。</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二、不得宣称关系</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不得宣称或者暗示与法官、检察官、仲裁员或者其他有关人员有特殊关系，不得以此招揽业务。以“关系”承揽业务，轻则行业处分，重则构成《律师法》第四十条第（五）项的行贿、介绍贿赂，涉及刑事责任。</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三、不得支付案源介绍费用</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不得向介绍案源者支付回扣、佣金或者其他利益；不得与非律师机构或者个人分享律师费。这类安排会使律师的判断受制于介绍人的利益，并可能诱发虚假诉讼、恶意诉讼。</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四、不得不当接触与骚扰</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不得在事故现场、医院、看守所门口等场所直接向当事人及其亲属兜揽业务；不得利用当事人的困境施加不当影响；不得通过不正当渠道获取当事人信息并进行营销。</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18</a:t>
            </a:r>
            <a:endParaRPr lang="en-US" sz="1100" dirty="0"/>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name="Slide 3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某企业法律顾问在服务过程中发现，法定代表人正利用职务便利将公司资产转移至其个人控制的另一家公司。律师此时的委托人是谁？他应当如何行动？可以向监事会或者股东报告吗？这是否违反保密义务？</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一名当事人就某纠纷向律师作了一小时的免费咨询，详细陈述了案情与己方弱点，最终未签订委托合同。两周后，该纠纷的对方当事人前来委托同一律师。律师能否接受？请说明理由。</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律师在短视频平台发布“我经手的一起离婚财产分割案，女方最终多分了三百万”的内容，未透露当事人姓名。这一行为是否违规？涉及哪些规范？</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《律师法》第三十二条规定律师“无正当理由不得拒绝辩护或者代理”。如果委托人多次辱骂律师、拒不配合、拒付约定费用，律师能否解除委托？这些是否构成“正当理由”？</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第14课时 · 19</a:t>
            </a:r>
            <a:endParaRPr lang="en-US" sz="1100"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name="Slide 32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第14课时要点回顾</a:t>
            </a:r>
            <a:endParaRPr lang="en-US" sz="3000" dirty="0"/>
          </a:p>
        </p:txBody>
      </p:sp>
      <p:sp>
        <p:nvSpPr>
          <p:cNvPr id="4" name="Shape 2"/>
          <p:cNvSpPr/>
          <p:nvPr/>
        </p:nvSpPr>
        <p:spPr>
          <a:xfrm>
            <a:off x="566928" y="1591056"/>
            <a:ext cx="11057839" cy="548217"/>
          </a:xfrm>
          <a:prstGeom prst="roundRect">
            <a:avLst>
              <a:gd name="adj" fmla="val 13344"/>
            </a:avLst>
          </a:prstGeom>
          <a:solidFill>
            <a:srgbClr val="25395F"/>
          </a:solidFill>
          <a:ln w="12700">
            <a:solidFill>
              <a:srgbClr val="25395F"/>
            </a:solidFill>
            <a:prstDash val="solid"/>
          </a:ln>
        </p:spPr>
      </p:sp>
      <p:sp>
        <p:nvSpPr>
          <p:cNvPr id="5" name="Shape 3"/>
          <p:cNvSpPr/>
          <p:nvPr/>
        </p:nvSpPr>
        <p:spPr>
          <a:xfrm>
            <a:off x="859536" y="1673352"/>
            <a:ext cx="383625" cy="383625"/>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74623" y="1788439"/>
            <a:ext cx="153450" cy="153450"/>
          </a:xfrm>
          <a:prstGeom prst="rect">
            <a:avLst/>
          </a:prstGeom>
        </p:spPr>
      </p:pic>
      <p:sp>
        <p:nvSpPr>
          <p:cNvPr id="7" name="Text 4"/>
          <p:cNvSpPr/>
          <p:nvPr/>
        </p:nvSpPr>
        <p:spPr>
          <a:xfrm>
            <a:off x="1444752" y="1755627"/>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委托人—律师关系是信义关系而非普通服务合同，由此推出忠实、保密、告知、勤勉四项核心义务。忠实解决“为谁做”，勤勉解决“做得如何”。</a:t>
            </a:r>
            <a:endParaRPr lang="en-US" sz="1150" dirty="0"/>
          </a:p>
        </p:txBody>
      </p:sp>
      <p:sp>
        <p:nvSpPr>
          <p:cNvPr id="8" name="Shape 5"/>
          <p:cNvSpPr/>
          <p:nvPr/>
        </p:nvSpPr>
        <p:spPr>
          <a:xfrm>
            <a:off x="566928" y="2276433"/>
            <a:ext cx="11057839" cy="752306"/>
          </a:xfrm>
          <a:prstGeom prst="roundRect">
            <a:avLst>
              <a:gd name="adj" fmla="val 9724"/>
            </a:avLst>
          </a:prstGeom>
          <a:solidFill>
            <a:srgbClr val="25395F"/>
          </a:solidFill>
          <a:ln w="12700">
            <a:solidFill>
              <a:srgbClr val="25395F"/>
            </a:solidFill>
            <a:prstDash val="solid"/>
          </a:ln>
        </p:spPr>
      </p:sp>
      <p:sp>
        <p:nvSpPr>
          <p:cNvPr id="9" name="Shape 6"/>
          <p:cNvSpPr/>
          <p:nvPr/>
        </p:nvSpPr>
        <p:spPr>
          <a:xfrm>
            <a:off x="859536" y="2451418"/>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572118"/>
            <a:ext cx="160934" cy="160934"/>
          </a:xfrm>
          <a:prstGeom prst="rect">
            <a:avLst/>
          </a:prstGeom>
        </p:spPr>
      </p:pic>
      <p:sp>
        <p:nvSpPr>
          <p:cNvPr id="11" name="Text 7"/>
          <p:cNvSpPr/>
          <p:nvPr/>
        </p:nvSpPr>
        <p:spPr>
          <a:xfrm>
            <a:off x="1444752" y="243351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“谁是委托人”须辨析四种情形：付费人不等于委托人；公司不等于法定代表人；共同委托人之间可能存在冲突；未成案的咨询同样产生保密与冲突审查义务。</a:t>
            </a:r>
            <a:endParaRPr lang="en-US" sz="1150" dirty="0"/>
          </a:p>
        </p:txBody>
      </p:sp>
      <p:sp>
        <p:nvSpPr>
          <p:cNvPr id="12" name="Shape 8"/>
          <p:cNvSpPr/>
          <p:nvPr/>
        </p:nvSpPr>
        <p:spPr>
          <a:xfrm>
            <a:off x="566928" y="3165898"/>
            <a:ext cx="11057839" cy="752306"/>
          </a:xfrm>
          <a:prstGeom prst="roundRect">
            <a:avLst>
              <a:gd name="adj" fmla="val 9724"/>
            </a:avLst>
          </a:prstGeom>
          <a:solidFill>
            <a:srgbClr val="25395F"/>
          </a:solidFill>
          <a:ln w="12700">
            <a:solidFill>
              <a:srgbClr val="25395F"/>
            </a:solidFill>
            <a:prstDash val="solid"/>
          </a:ln>
        </p:spPr>
      </p:sp>
      <p:sp>
        <p:nvSpPr>
          <p:cNvPr id="13" name="Shape 9"/>
          <p:cNvSpPr/>
          <p:nvPr/>
        </p:nvSpPr>
        <p:spPr>
          <a:xfrm>
            <a:off x="859536" y="3340883"/>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61584"/>
            <a:ext cx="160934" cy="160934"/>
          </a:xfrm>
          <a:prstGeom prst="rect">
            <a:avLst/>
          </a:prstGeom>
        </p:spPr>
      </p:pic>
      <p:sp>
        <p:nvSpPr>
          <p:cNvPr id="15" name="Text 10"/>
          <p:cNvSpPr/>
          <p:nvPr/>
        </p:nvSpPr>
        <p:spPr>
          <a:xfrm>
            <a:off x="1444752" y="332297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《律师法》第二十五条确立四项强制要求：统一接受委托、书面合同、统一收费、如实入账。违反即构成第四十条第（一）项的“私自接受委托、收取费用”。</a:t>
            </a:r>
            <a:endParaRPr lang="en-US" sz="1150" dirty="0"/>
          </a:p>
        </p:txBody>
      </p:sp>
      <p:sp>
        <p:nvSpPr>
          <p:cNvPr id="16" name="Shape 11"/>
          <p:cNvSpPr/>
          <p:nvPr/>
        </p:nvSpPr>
        <p:spPr>
          <a:xfrm>
            <a:off x="566928" y="4055364"/>
            <a:ext cx="11057839" cy="752306"/>
          </a:xfrm>
          <a:prstGeom prst="roundRect">
            <a:avLst>
              <a:gd name="adj" fmla="val 9724"/>
            </a:avLst>
          </a:prstGeom>
          <a:solidFill>
            <a:srgbClr val="25395F"/>
          </a:solidFill>
          <a:ln w="12700">
            <a:solidFill>
              <a:srgbClr val="25395F"/>
            </a:solidFill>
            <a:prstDash val="solid"/>
          </a:ln>
        </p:spPr>
      </p:sp>
      <p:sp>
        <p:nvSpPr>
          <p:cNvPr id="17" name="Shape 12"/>
          <p:cNvSpPr/>
          <p:nvPr/>
        </p:nvSpPr>
        <p:spPr>
          <a:xfrm>
            <a:off x="859536" y="4230349"/>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351050"/>
            <a:ext cx="160934" cy="160934"/>
          </a:xfrm>
          <a:prstGeom prst="rect">
            <a:avLst/>
          </a:prstGeom>
        </p:spPr>
      </p:pic>
      <p:sp>
        <p:nvSpPr>
          <p:cNvPr id="19" name="Text 13"/>
          <p:cNvSpPr/>
          <p:nvPr/>
        </p:nvSpPr>
        <p:spPr>
          <a:xfrm>
            <a:off x="1444752" y="421244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接受委托的标准流程六步：初步接洽 → 利益冲突检索 → 能力与资源评估 → 风险告知与知情同意 → 签订书面委托合同 → 建档与内部报备。冲突审查必须前置。</a:t>
            </a:r>
            <a:endParaRPr lang="en-US" sz="1150" dirty="0"/>
          </a:p>
        </p:txBody>
      </p:sp>
      <p:sp>
        <p:nvSpPr>
          <p:cNvPr id="20" name="Shape 14"/>
          <p:cNvSpPr/>
          <p:nvPr/>
        </p:nvSpPr>
        <p:spPr>
          <a:xfrm>
            <a:off x="566928" y="4944830"/>
            <a:ext cx="11057839" cy="752306"/>
          </a:xfrm>
          <a:prstGeom prst="roundRect">
            <a:avLst>
              <a:gd name="adj" fmla="val 9724"/>
            </a:avLst>
          </a:prstGeom>
          <a:solidFill>
            <a:srgbClr val="25395F"/>
          </a:solidFill>
          <a:ln w="12700">
            <a:solidFill>
              <a:srgbClr val="25395F"/>
            </a:solidFill>
            <a:prstDash val="solid"/>
          </a:ln>
        </p:spPr>
      </p:sp>
      <p:sp>
        <p:nvSpPr>
          <p:cNvPr id="21" name="Shape 15"/>
          <p:cNvSpPr/>
          <p:nvPr/>
        </p:nvSpPr>
        <p:spPr>
          <a:xfrm>
            <a:off x="859536" y="5119815"/>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240515"/>
            <a:ext cx="160934" cy="160934"/>
          </a:xfrm>
          <a:prstGeom prst="rect">
            <a:avLst/>
          </a:prstGeom>
        </p:spPr>
      </p:pic>
      <p:sp>
        <p:nvSpPr>
          <p:cNvPr id="23" name="Text 16"/>
          <p:cNvSpPr/>
          <p:nvPr/>
        </p:nvSpPr>
        <p:spPr>
          <a:xfrm>
            <a:off x="1444752" y="5101908"/>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《律师法》第三十二条：委托人可以随时解除，律师无正当理由不得拒绝；正当理由限于委托事项违法、委托人利用服务从事违法活动、委托人故意隐瞒重要事实三项。</a:t>
            </a:r>
            <a:endParaRPr lang="en-US" sz="1150" dirty="0"/>
          </a:p>
        </p:txBody>
      </p:sp>
      <p:sp>
        <p:nvSpPr>
          <p:cNvPr id="24" name="Shape 17"/>
          <p:cNvSpPr/>
          <p:nvPr/>
        </p:nvSpPr>
        <p:spPr>
          <a:xfrm>
            <a:off x="566928" y="5834295"/>
            <a:ext cx="11057839" cy="548217"/>
          </a:xfrm>
          <a:prstGeom prst="roundRect">
            <a:avLst>
              <a:gd name="adj" fmla="val 13344"/>
            </a:avLst>
          </a:prstGeom>
          <a:solidFill>
            <a:srgbClr val="25395F"/>
          </a:solidFill>
          <a:ln w="12700">
            <a:solidFill>
              <a:srgbClr val="25395F"/>
            </a:solidFill>
            <a:prstDash val="solid"/>
          </a:ln>
        </p:spPr>
      </p:sp>
      <p:sp>
        <p:nvSpPr>
          <p:cNvPr id="25" name="Shape 18"/>
          <p:cNvSpPr/>
          <p:nvPr/>
        </p:nvSpPr>
        <p:spPr>
          <a:xfrm>
            <a:off x="859536" y="5916591"/>
            <a:ext cx="383625" cy="383625"/>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74623" y="6031679"/>
            <a:ext cx="153450" cy="153450"/>
          </a:xfrm>
          <a:prstGeom prst="rect">
            <a:avLst/>
          </a:prstGeom>
        </p:spPr>
      </p:pic>
      <p:sp>
        <p:nvSpPr>
          <p:cNvPr id="27" name="Text 19"/>
          <p:cNvSpPr/>
          <p:nvPr/>
        </p:nvSpPr>
        <p:spPr>
          <a:xfrm>
            <a:off x="1444752" y="5998866"/>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案源获取四条红线：不得承诺办案结果、不得宣称关系、不得支付案源介绍费用、不得不当接触与骚扰。法律援助是法定义务，服务标准与收费案件相同。</a:t>
            </a:r>
            <a:endParaRPr lang="en-US" sz="1150" dirty="0"/>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name="Slide 326">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第15课时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委托人—律师关系（二）：忠诚、勤勉、告知与关系终止</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从义务的具体内容，到关系终止后仍然存续的责任</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忠诚义务：不得让任何利益凌驾于委托人之上</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勤勉义务：期限、尽职与案件管理</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关系终止：如何退出，退出后还欠什么</a:t>
            </a:r>
            <a:endParaRPr lang="en-US" sz="1400" dirty="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name="Slide 3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四项义务与一次退出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一、忠诚义务的具体展开</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二、勤勉尽责与期限管理</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三、告知、报告与授权确认</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四、委托关系的终止与交接</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五、终止后仍然存续的义务</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六、律师执业过错与民事赔偿责任</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02</a:t>
            </a:r>
            <a:endParaRPr lang="en-US" sz="1100" dirty="0"/>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name="Slide 32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忠诚义务的具体展开</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忠诚不是抽象的忠心，而是一组具体的“不得”</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03</a:t>
            </a:r>
            <a:endParaRPr lang="en-US" sz="1100"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name="Slide 3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忠诚义务的三条禁止性规定</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《律师法》第四十条第（二）项</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律师在执业活动中不得利用提供法律服务的便利牟取当事人争议的权益。</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《律师法》第四十条第（三）项</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律师在执业活动中不得接受对方当事人的财物或者其他利益，与对方当事人或者第三人恶意串通，侵害委托人的权益。</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《律师法》第三十九条</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律师不得在同一案件中为双方当事人担任代理人，不得代理与本人或者其近亲属有利益冲突的法律事务。</a:t>
            </a:r>
            <a:endParaRPr lang="en-US" sz="850" dirty="0"/>
          </a:p>
        </p:txBody>
      </p:sp>
      <p:sp>
        <p:nvSpPr>
          <p:cNvPr id="19" name="Shape 1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20" name="Text 1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三条分别对应忠诚义务的三个侧面：不得与委托人争利（第二项）、不得为对方所用（第三项）、不得同时服务于冲突的利益（第三十九条）。请注意第（二）项“牟取当事人争议的权益”的射程：律师不得购买委托人正在争讼的标的物、不得以低价受让争议债权、不得以顾问身份取得客户的商业机会。</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04</a:t>
            </a:r>
            <a:endParaRPr lang="en-US" sz="1100" dirty="0"/>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name="Slide 3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四种典型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忠诚义务的四类高风险情形</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一、与委托人的交易</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与委托人之间的借贷、买卖、投资、股权安排，天然存在利用信息与信任优势的风险。原则上应当避免；确有必要的，须以公平合理的条件、充分书面披露、并建议委托人寻求独立法律意见，且经其书面同意。</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二、利用委托信息牟利</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不得利用因执业知悉的非公开信息为自己或者第三人谋利，如利用尽职调查中获知的并购信息买卖股票、利用客户的商业计划自行经营同类业务。此类行为可能同时构成内幕交易等违法犯罪。</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三、第三人付费的影响</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由第三人支付律师费的（如保险公司为被保险人聘请律师、公司为员工聘请律师），律师的忠诚仍指向委托人本人。不得因付费人的意愿而牺牲委托人利益，不得向付费人披露保密信息。</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四、与对方当事人的不当接触</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不得私下接受对方当事人的财物或其他利益；不得与对方代理人达成损害己方委托人的默契；与对方沟通和解方案应当在授权范围内并及时向委托人报告。</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05</a:t>
            </a:r>
            <a:endParaRPr lang="en-US" sz="1100" dirty="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name="Slide 33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勤勉尽责与期限管理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律师执业最常见的赔偿责任，不是能力不足，而是错过期限</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06</a:t>
            </a:r>
            <a:endParaRPr lang="en-US" sz="1100" dirty="0"/>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name="Slide 3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风险画像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律师执业过错的三大高发领域</a:t>
            </a:r>
            <a:endParaRPr lang="en-US" sz="2800" dirty="0"/>
          </a:p>
        </p:txBody>
      </p:sp>
      <p:sp>
        <p:nvSpPr>
          <p:cNvPr id="4" name="Shape 2"/>
          <p:cNvSpPr/>
          <p:nvPr/>
        </p:nvSpPr>
        <p:spPr>
          <a:xfrm>
            <a:off x="566928" y="1981454"/>
            <a:ext cx="3527450" cy="3233420"/>
          </a:xfrm>
          <a:prstGeom prst="roundRect">
            <a:avLst>
              <a:gd name="adj" fmla="val 2828"/>
            </a:avLst>
          </a:prstGeom>
          <a:solidFill>
            <a:srgbClr val="13233F"/>
          </a:solidFill>
          <a:ln w="12700">
            <a:solidFill>
              <a:srgbClr val="13233F"/>
            </a:solidFill>
            <a:prstDash val="solid"/>
          </a:ln>
        </p:spPr>
      </p:sp>
      <p:sp>
        <p:nvSpPr>
          <p:cNvPr id="5" name="Text 3"/>
          <p:cNvSpPr/>
          <p:nvPr/>
        </p:nvSpPr>
        <p:spPr>
          <a:xfrm>
            <a:off x="749808" y="2310638"/>
            <a:ext cx="3161690"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期限</a:t>
            </a:r>
            <a:endParaRPr lang="en-US" sz="3400" dirty="0"/>
          </a:p>
        </p:txBody>
      </p:sp>
      <p:sp>
        <p:nvSpPr>
          <p:cNvPr id="6" name="Text 4"/>
          <p:cNvSpPr/>
          <p:nvPr/>
        </p:nvSpPr>
        <p:spPr>
          <a:xfrm>
            <a:off x="886968" y="3462782"/>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超过时效与举证期限</a:t>
            </a:r>
            <a:endParaRPr lang="en-US" sz="1600" dirty="0"/>
          </a:p>
        </p:txBody>
      </p:sp>
      <p:sp>
        <p:nvSpPr>
          <p:cNvPr id="7" name="Text 5"/>
          <p:cNvSpPr/>
          <p:nvPr/>
        </p:nvSpPr>
        <p:spPr>
          <a:xfrm>
            <a:off x="886968" y="3928110"/>
            <a:ext cx="2887370" cy="1103884"/>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诉讼时效届满、举证期限逾期、上诉期错过、申请执行期间超期——这类过错后果直接、因果关系清晰，最易被认定为过失</a:t>
            </a:r>
            <a:endParaRPr lang="en-US" sz="1300" dirty="0"/>
          </a:p>
        </p:txBody>
      </p:sp>
      <p:sp>
        <p:nvSpPr>
          <p:cNvPr id="8" name="Shape 6"/>
          <p:cNvSpPr/>
          <p:nvPr/>
        </p:nvSpPr>
        <p:spPr>
          <a:xfrm>
            <a:off x="4332122" y="1981454"/>
            <a:ext cx="3527450" cy="3233420"/>
          </a:xfrm>
          <a:prstGeom prst="roundRect">
            <a:avLst>
              <a:gd name="adj" fmla="val 2828"/>
            </a:avLst>
          </a:prstGeom>
          <a:solidFill>
            <a:srgbClr val="F6F1E8"/>
          </a:solidFill>
          <a:ln w="12700">
            <a:solidFill>
              <a:srgbClr val="F6F1E8"/>
            </a:solidFill>
            <a:prstDash val="solid"/>
          </a:ln>
        </p:spPr>
      </p:sp>
      <p:sp>
        <p:nvSpPr>
          <p:cNvPr id="9" name="Text 7"/>
          <p:cNvSpPr/>
          <p:nvPr/>
        </p:nvSpPr>
        <p:spPr>
          <a:xfrm>
            <a:off x="4515002" y="2310638"/>
            <a:ext cx="3161690"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审查</a:t>
            </a:r>
            <a:endParaRPr lang="en-US" sz="3400" dirty="0"/>
          </a:p>
        </p:txBody>
      </p:sp>
      <p:sp>
        <p:nvSpPr>
          <p:cNvPr id="10" name="Text 8"/>
          <p:cNvSpPr/>
          <p:nvPr/>
        </p:nvSpPr>
        <p:spPr>
          <a:xfrm>
            <a:off x="4652162" y="3462782"/>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尽职调查不充分</a:t>
            </a:r>
            <a:endParaRPr lang="en-US" sz="1600" dirty="0"/>
          </a:p>
        </p:txBody>
      </p:sp>
      <p:sp>
        <p:nvSpPr>
          <p:cNvPr id="11" name="Text 9"/>
          <p:cNvSpPr/>
          <p:nvPr/>
        </p:nvSpPr>
        <p:spPr>
          <a:xfrm>
            <a:off x="4652162" y="3928110"/>
            <a:ext cx="2887370"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未核查主体资格、未查询财产线索与查封状况、未审查关联交易与担保效力，导致胜诉后无法执行或者交易失败</a:t>
            </a:r>
            <a:endParaRPr lang="en-US" sz="1300" dirty="0"/>
          </a:p>
        </p:txBody>
      </p:sp>
      <p:sp>
        <p:nvSpPr>
          <p:cNvPr id="12" name="Shape 10"/>
          <p:cNvSpPr/>
          <p:nvPr/>
        </p:nvSpPr>
        <p:spPr>
          <a:xfrm>
            <a:off x="8097317" y="1981454"/>
            <a:ext cx="3527450" cy="3233420"/>
          </a:xfrm>
          <a:prstGeom prst="roundRect">
            <a:avLst>
              <a:gd name="adj" fmla="val 2828"/>
            </a:avLst>
          </a:prstGeom>
          <a:solidFill>
            <a:srgbClr val="ECF3F2"/>
          </a:solidFill>
          <a:ln w="12700">
            <a:solidFill>
              <a:srgbClr val="ECF3F2"/>
            </a:solidFill>
            <a:prstDash val="solid"/>
          </a:ln>
        </p:spPr>
      </p:sp>
      <p:sp>
        <p:nvSpPr>
          <p:cNvPr id="13" name="Text 11"/>
          <p:cNvSpPr/>
          <p:nvPr/>
        </p:nvSpPr>
        <p:spPr>
          <a:xfrm>
            <a:off x="8280197" y="2310638"/>
            <a:ext cx="3161690" cy="1024128"/>
          </a:xfrm>
          <a:prstGeom prst="rect">
            <a:avLst/>
          </a:prstGeom>
          <a:noFill/>
          <a:ln/>
        </p:spPr>
        <p:txBody>
          <a:bodyPr wrap="square" lIns="0" tIns="0" rIns="0" bIns="0" rtlCol="0" anchor="ctr"/>
          <a:lstStyle/>
          <a:p>
            <a:pPr algn="ctr" indent="0" marL="0">
              <a:buNone/>
            </a:pPr>
            <a:r>
              <a:rPr lang="en-US" sz="3400" b="1" dirty="0">
                <a:solidFill>
                  <a:srgbClr val="2F6E6A"/>
                </a:solidFill>
                <a:latin typeface="微软雅黑" pitchFamily="34" charset="0"/>
                <a:ea typeface="微软雅黑" pitchFamily="34" charset="-122"/>
                <a:cs typeface="微软雅黑" pitchFamily="34" charset="-120"/>
              </a:rPr>
              <a:t>沟通</a:t>
            </a:r>
            <a:endParaRPr lang="en-US" sz="3400" dirty="0"/>
          </a:p>
        </p:txBody>
      </p:sp>
      <p:sp>
        <p:nvSpPr>
          <p:cNvPr id="14" name="Text 12"/>
          <p:cNvSpPr/>
          <p:nvPr/>
        </p:nvSpPr>
        <p:spPr>
          <a:xfrm>
            <a:off x="8417357" y="3462782"/>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未及时告知与确认</a:t>
            </a:r>
            <a:endParaRPr lang="en-US" sz="1600" dirty="0"/>
          </a:p>
        </p:txBody>
      </p:sp>
      <p:sp>
        <p:nvSpPr>
          <p:cNvPr id="15" name="Text 13"/>
          <p:cNvSpPr/>
          <p:nvPr/>
        </p:nvSpPr>
        <p:spPr>
          <a:xfrm>
            <a:off x="8417357" y="3928110"/>
            <a:ext cx="2887370" cy="1103884"/>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重大不利变化未告知、超越授权处分权利、未取得对和解方案的书面确认，是投诉与索赔的主要起因</a:t>
            </a:r>
            <a:endParaRPr lang="en-US" sz="1300" dirty="0"/>
          </a:p>
        </p:txBody>
      </p:sp>
      <p:sp>
        <p:nvSpPr>
          <p:cNvPr id="16" name="Text 14"/>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请注意：这三类过错都与“专业水平高低”关系不大，而与“是否建立了可靠的工作制度”直接相关。</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07</a:t>
            </a:r>
            <a:endParaRPr lang="en-US" sz="1100"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name="Slide 3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制度建设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防范过错的五项工作制度</a:t>
            </a:r>
            <a:endParaRPr lang="en-US" sz="2800" dirty="0"/>
          </a:p>
        </p:txBody>
      </p:sp>
      <p:sp>
        <p:nvSpPr>
          <p:cNvPr id="4" name="Shape 2"/>
          <p:cNvSpPr/>
          <p:nvPr/>
        </p:nvSpPr>
        <p:spPr>
          <a:xfrm>
            <a:off x="566928" y="1978247"/>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413635"/>
            <a:ext cx="457200" cy="457200"/>
          </a:xfrm>
          <a:prstGeom prst="ellipse">
            <a:avLst/>
          </a:prstGeom>
          <a:solidFill>
            <a:srgbClr val="13233F"/>
          </a:solidFill>
          <a:ln w="12700">
            <a:solidFill>
              <a:srgbClr val="13233F"/>
            </a:solidFill>
            <a:prstDash val="solid"/>
          </a:ln>
        </p:spPr>
      </p:sp>
      <p:sp>
        <p:nvSpPr>
          <p:cNvPr id="6" name="Text 4"/>
          <p:cNvSpPr/>
          <p:nvPr/>
        </p:nvSpPr>
        <p:spPr>
          <a:xfrm>
            <a:off x="822960" y="241363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11540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一、期限台账制度</a:t>
            </a:r>
            <a:endParaRPr lang="en-US" sz="1500" dirty="0"/>
          </a:p>
        </p:txBody>
      </p:sp>
      <p:sp>
        <p:nvSpPr>
          <p:cNvPr id="8" name="Text 6"/>
          <p:cNvSpPr/>
          <p:nvPr/>
        </p:nvSpPr>
        <p:spPr>
          <a:xfrm>
            <a:off x="1444752" y="242325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接案第一天即梳理全部法定与约定期限，录入台账并设置多重提醒；期限变更须同步更新。这是律师最基本的自我保护。</a:t>
            </a:r>
            <a:endParaRPr lang="en-US" sz="1350" dirty="0"/>
          </a:p>
        </p:txBody>
      </p:sp>
      <p:sp>
        <p:nvSpPr>
          <p:cNvPr id="9" name="Shape 7"/>
          <p:cNvSpPr/>
          <p:nvPr/>
        </p:nvSpPr>
        <p:spPr>
          <a:xfrm>
            <a:off x="566928" y="3434239"/>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74532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57139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二、双人复核制度</a:t>
            </a:r>
            <a:endParaRPr lang="en-US" sz="1500" dirty="0"/>
          </a:p>
        </p:txBody>
      </p:sp>
      <p:sp>
        <p:nvSpPr>
          <p:cNvPr id="13" name="Text 11"/>
          <p:cNvSpPr/>
          <p:nvPr/>
        </p:nvSpPr>
        <p:spPr>
          <a:xfrm>
            <a:off x="1444752" y="387924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关键文书（起诉状、上诉状、答辩状、和解协议）提交前由另一名律师复核；重大风险判断经团队讨论。</a:t>
            </a:r>
            <a:endParaRPr lang="en-US" sz="1350" dirty="0"/>
          </a:p>
        </p:txBody>
      </p:sp>
      <p:sp>
        <p:nvSpPr>
          <p:cNvPr id="14" name="Shape 12"/>
          <p:cNvSpPr/>
          <p:nvPr/>
        </p:nvSpPr>
        <p:spPr>
          <a:xfrm>
            <a:off x="566928" y="4641628"/>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三、案件进展书面记录</a:t>
            </a:r>
            <a:endParaRPr lang="en-US" sz="1500" dirty="0"/>
          </a:p>
        </p:txBody>
      </p:sp>
      <p:sp>
        <p:nvSpPr>
          <p:cNvPr id="18" name="Text 16"/>
          <p:cNvSpPr/>
          <p:nvPr/>
        </p:nvSpPr>
        <p:spPr>
          <a:xfrm>
            <a:off x="1444752" y="508663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每次会见、每次沟通、每项决定均形成书面记录并归档；重要建议以书面形式发出并保留发送记录。</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四、授权确认制度</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涉及实体权利处分的（撤诉、和解、放弃请求、变更诉讼请求），必须取得委托人的书面确认，不以口头授权为据。</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五、卷宗管理与移交制度</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按律所规范立卷、编目、归档；委托关系终止时按约定移交材料并留存签收凭证。卷宗完整是责任认定时的第一道防线。</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08</a:t>
            </a:r>
            <a:endParaRPr lang="en-US" sz="1100" dirty="0"/>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name="Slide 3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勤勉义务的司法认定要点</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委托人起诉律师索赔时，法院通常从以下几个方面判断律师是否尽到了勤勉义务。</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是否履行了法定与约定的具体行为义务：有无按时提交诉讼文书、有无出庭、有无申请必要的保全或者鉴定。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是否达到了同类律师在同等条件下应有的注意程度：以行业通常标准衡量，而非以最优秀律师的标准衡量。</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是否履行了告知与提示义务：对于风险、不利变化、可选方案是否作了充分说明并留有记录。</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过错与损失之间是否存在因果关系：即使律师有过错，若当事人的败诉另有原因（如本身证据不足），赔偿范围仍应相应限缩。</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请记住这一实务规律：能否证明自己尽责，往往取决于记录是否完整。没有记录的勤勉，在诉讼中等同于没有勤勉。</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09</a:t>
            </a:r>
            <a:endParaRPr lang="en-US" sz="1100" dirty="0"/>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name="Slide 33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告知、报告与授权确认</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信息不对称是信义关系的起点，告知义务是对它的矫正</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10</a:t>
            </a:r>
            <a:endParaRPr lang="en-US" sz="1100" dirty="0"/>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name="Slide 3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四类告知</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必须主动告知的四类事项</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风险与不利变化</a:t>
            </a:r>
            <a:endParaRPr lang="en-US" sz="1600" dirty="0"/>
          </a:p>
        </p:txBody>
      </p:sp>
      <p:sp>
        <p:nvSpPr>
          <p:cNvPr id="8" name="Text 5"/>
          <p:cNvSpPr/>
          <p:nvPr/>
        </p:nvSpPr>
        <p:spPr>
          <a:xfrm>
            <a:off x="886968"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案件的主要风险、败诉可能、对方提出的新证据或新主张、程序上的不利变化（如管辖异议成立、鉴定结论不利）。应当在知悉后合理期限内告知，不得因担心委托人情绪而隐瞒。</a:t>
            </a:r>
            <a:endParaRPr lang="en-US" sz="13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重大进展与程序节点</a:t>
            </a:r>
            <a:endParaRPr lang="en-US" sz="1600" dirty="0"/>
          </a:p>
        </p:txBody>
      </p:sp>
      <p:sp>
        <p:nvSpPr>
          <p:cNvPr id="13" name="Text 9"/>
          <p:cNvSpPr/>
          <p:nvPr/>
        </p:nvSpPr>
        <p:spPr>
          <a:xfrm>
            <a:off x="6534760"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立案、保全、开庭、判决、上诉期限、执行进展等。程序节点的告知尤为重要，因为它直接关系到委托人能否及时作出决定。</a:t>
            </a:r>
            <a:endParaRPr lang="en-US" sz="13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费用与支出</a:t>
            </a:r>
            <a:endParaRPr lang="en-US" sz="1600" dirty="0"/>
          </a:p>
        </p:txBody>
      </p:sp>
      <p:sp>
        <p:nvSpPr>
          <p:cNvPr id="18" name="Text 13"/>
          <p:cNvSpPr/>
          <p:nvPr/>
        </p:nvSpPr>
        <p:spPr>
          <a:xfrm>
            <a:off x="886968"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律师费的计算方式与结算节点；办案费用的预估与实际发生额；可能产生的额外支出（鉴定费、公告费、保全担保费）。超出预估的应当事先说明并取得同意。</a:t>
            </a:r>
            <a:endParaRPr lang="en-US" sz="13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利益冲突与执业变动</a:t>
            </a:r>
            <a:endParaRPr lang="en-US" sz="1600" dirty="0"/>
          </a:p>
        </p:txBody>
      </p:sp>
      <p:sp>
        <p:nvSpPr>
          <p:cNvPr id="23" name="Text 17"/>
          <p:cNvSpPr/>
          <p:nvPr/>
        </p:nvSpPr>
        <p:spPr>
          <a:xfrm>
            <a:off x="6534760"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发现潜在或者现实的利益冲突时应当立即告知；承办律师变更、离所、律所合并分立等影响服务的事项，应当及时告知并征求委托人意见。</a:t>
            </a:r>
            <a:endParaRPr lang="en-US" sz="13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11</a:t>
            </a:r>
            <a:endParaRPr lang="en-US" sz="1100" dirty="0"/>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name="Slide 3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口头告知 vs 书面告知</a:t>
            </a:r>
            <a:endParaRPr lang="en-US" sz="2800" dirty="0"/>
          </a:p>
        </p:txBody>
      </p:sp>
      <p:sp>
        <p:nvSpPr>
          <p:cNvPr id="4" name="Shape 2"/>
          <p:cNvSpPr/>
          <p:nvPr/>
        </p:nvSpPr>
        <p:spPr>
          <a:xfrm>
            <a:off x="566928" y="2025333"/>
            <a:ext cx="5410048" cy="3648583"/>
          </a:xfrm>
          <a:prstGeom prst="roundRect">
            <a:avLst>
              <a:gd name="adj" fmla="val 2506"/>
            </a:avLst>
          </a:prstGeom>
          <a:solidFill>
            <a:srgbClr val="F2F4F8"/>
          </a:solidFill>
          <a:ln w="12700">
            <a:solidFill>
              <a:srgbClr val="F2F4F8"/>
            </a:solidFill>
            <a:prstDash val="solid"/>
          </a:ln>
        </p:spPr>
      </p:sp>
      <p:sp>
        <p:nvSpPr>
          <p:cNvPr id="5" name="Shape 3"/>
          <p:cNvSpPr/>
          <p:nvPr/>
        </p:nvSpPr>
        <p:spPr>
          <a:xfrm>
            <a:off x="841248" y="2281365"/>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可以口头进行的沟通</a:t>
            </a:r>
            <a:endParaRPr lang="en-US" sz="1600" dirty="0"/>
          </a:p>
        </p:txBody>
      </p:sp>
      <p:sp>
        <p:nvSpPr>
          <p:cNvPr id="7" name="Text 5"/>
          <p:cNvSpPr/>
          <p:nvPr/>
        </p:nvSpPr>
        <p:spPr>
          <a:xfrm>
            <a:off x="932688"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日常进展通报、程序性事项的说明。</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初步的策略讨论与方案比较。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对委托人疑问的即时解答。</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要点：口头沟通之后，重要内容宜以微信、邮件等可留痕方式简要复述确认。</a:t>
            </a:r>
            <a:endParaRPr lang="en-US" sz="1450" dirty="0"/>
          </a:p>
        </p:txBody>
      </p:sp>
      <p:sp>
        <p:nvSpPr>
          <p:cNvPr id="8" name="Shape 6"/>
          <p:cNvSpPr/>
          <p:nvPr/>
        </p:nvSpPr>
        <p:spPr>
          <a:xfrm>
            <a:off x="6214720" y="2025333"/>
            <a:ext cx="5410048" cy="3648583"/>
          </a:xfrm>
          <a:prstGeom prst="roundRect">
            <a:avLst>
              <a:gd name="adj" fmla="val 2506"/>
            </a:avLst>
          </a:prstGeom>
          <a:solidFill>
            <a:srgbClr val="F6F1E8"/>
          </a:solidFill>
          <a:ln w="12700">
            <a:solidFill>
              <a:srgbClr val="F6F1E8"/>
            </a:solidFill>
            <a:prstDash val="solid"/>
          </a:ln>
        </p:spPr>
      </p:sp>
      <p:sp>
        <p:nvSpPr>
          <p:cNvPr id="9" name="Shape 7"/>
          <p:cNvSpPr/>
          <p:nvPr/>
        </p:nvSpPr>
        <p:spPr>
          <a:xfrm>
            <a:off x="6489040" y="2281365"/>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281365"/>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必须书面确认的事项</a:t>
            </a:r>
            <a:endParaRPr lang="en-US" sz="1600" dirty="0"/>
          </a:p>
        </p:txBody>
      </p:sp>
      <p:sp>
        <p:nvSpPr>
          <p:cNvPr id="11" name="Text 9"/>
          <p:cNvSpPr/>
          <p:nvPr/>
        </p:nvSpPr>
        <p:spPr>
          <a:xfrm>
            <a:off x="6580480" y="2939733"/>
            <a:ext cx="4678528" cy="24964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委托事项、权限范围与收费标准（委托合同）。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案件重大风险与可能的不利后果（风险告知书）。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实体权利的处分：撤诉、和解、调解方案、放弃或变更诉讼请求。</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利益冲突的披露与委托人的同意（在法律允许豁免的情形下）。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委托关系的解除与材料移交（解除协议与签收单）。</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12</a:t>
            </a:r>
            <a:endParaRPr lang="en-US" sz="1100" dirty="0"/>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name="Slide 33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委托关系的终止与交接</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怎么开始很重要，怎么结束同样重要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13</a:t>
            </a:r>
            <a:endParaRPr lang="en-US" sz="1100" dirty="0"/>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name="Slide 3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终止事由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委托关系终止的五种情形</a:t>
            </a:r>
            <a:endParaRPr lang="en-US" sz="2800" dirty="0"/>
          </a:p>
        </p:txBody>
      </p:sp>
      <p:sp>
        <p:nvSpPr>
          <p:cNvPr id="4" name="Shape 2"/>
          <p:cNvSpPr/>
          <p:nvPr/>
        </p:nvSpPr>
        <p:spPr>
          <a:xfrm>
            <a:off x="566928" y="1316736"/>
            <a:ext cx="11057839" cy="855599"/>
          </a:xfrm>
          <a:prstGeom prst="roundRect">
            <a:avLst>
              <a:gd name="adj" fmla="val 8550"/>
            </a:avLst>
          </a:prstGeom>
          <a:solidFill>
            <a:srgbClr val="F2F4F8"/>
          </a:solidFill>
          <a:ln w="12700">
            <a:solidFill>
              <a:srgbClr val="F2F4F8"/>
            </a:solidFill>
            <a:prstDash val="solid"/>
          </a:ln>
        </p:spPr>
      </p:sp>
      <p:sp>
        <p:nvSpPr>
          <p:cNvPr id="5" name="Shape 3"/>
          <p:cNvSpPr/>
          <p:nvPr/>
        </p:nvSpPr>
        <p:spPr>
          <a:xfrm>
            <a:off x="841248" y="1488504"/>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42123"/>
            <a:ext cx="204826" cy="204826"/>
          </a:xfrm>
          <a:prstGeom prst="rect">
            <a:avLst/>
          </a:prstGeom>
        </p:spPr>
      </p:pic>
      <p:sp>
        <p:nvSpPr>
          <p:cNvPr id="7" name="Text 4"/>
          <p:cNvSpPr/>
          <p:nvPr/>
        </p:nvSpPr>
        <p:spPr>
          <a:xfrm>
            <a:off x="1536192" y="1501013"/>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一、委托事项完成</a:t>
            </a:r>
            <a:endParaRPr lang="en-US" sz="1300" dirty="0"/>
          </a:p>
        </p:txBody>
      </p:sp>
      <p:sp>
        <p:nvSpPr>
          <p:cNvPr id="8" name="Text 5"/>
          <p:cNvSpPr/>
          <p:nvPr/>
        </p:nvSpPr>
        <p:spPr>
          <a:xfrm>
            <a:off x="1536192" y="1785493"/>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约定的委托事项办理完毕，如判决生效且无后续委托。此时应当依约结算费用、移交材料、出具结案报告或者说明。</a:t>
            </a:r>
            <a:endParaRPr lang="en-US" sz="1100" dirty="0"/>
          </a:p>
        </p:txBody>
      </p:sp>
      <p:sp>
        <p:nvSpPr>
          <p:cNvPr id="9" name="Shape 6"/>
          <p:cNvSpPr/>
          <p:nvPr/>
        </p:nvSpPr>
        <p:spPr>
          <a:xfrm>
            <a:off x="566928" y="2318639"/>
            <a:ext cx="11057839" cy="855599"/>
          </a:xfrm>
          <a:prstGeom prst="roundRect">
            <a:avLst>
              <a:gd name="adj" fmla="val 8550"/>
            </a:avLst>
          </a:prstGeom>
          <a:solidFill>
            <a:srgbClr val="FFFFFF"/>
          </a:solidFill>
          <a:ln w="12700">
            <a:solidFill>
              <a:srgbClr val="D5DBE5"/>
            </a:solidFill>
            <a:prstDash val="solid"/>
          </a:ln>
        </p:spPr>
      </p:sp>
      <p:sp>
        <p:nvSpPr>
          <p:cNvPr id="10" name="Shape 7"/>
          <p:cNvSpPr/>
          <p:nvPr/>
        </p:nvSpPr>
        <p:spPr>
          <a:xfrm>
            <a:off x="841248" y="2490407"/>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644026"/>
            <a:ext cx="204826" cy="204826"/>
          </a:xfrm>
          <a:prstGeom prst="rect">
            <a:avLst/>
          </a:prstGeom>
        </p:spPr>
      </p:pic>
      <p:sp>
        <p:nvSpPr>
          <p:cNvPr id="12" name="Text 8"/>
          <p:cNvSpPr/>
          <p:nvPr/>
        </p:nvSpPr>
        <p:spPr>
          <a:xfrm>
            <a:off x="1536192" y="2502916"/>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二、委托期限届满</a:t>
            </a:r>
            <a:endParaRPr lang="en-US" sz="1300" dirty="0"/>
          </a:p>
        </p:txBody>
      </p:sp>
      <p:sp>
        <p:nvSpPr>
          <p:cNvPr id="13" name="Text 9"/>
          <p:cNvSpPr/>
          <p:nvPr/>
        </p:nvSpPr>
        <p:spPr>
          <a:xfrm>
            <a:off x="1536192" y="2787396"/>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合同约定期限届满而未续约。注意：期限届满前应当提示委托人是否续期，避免因期限届满而使当事人误以为律师仍在提供服务。</a:t>
            </a:r>
            <a:endParaRPr lang="en-US" sz="1100" dirty="0"/>
          </a:p>
        </p:txBody>
      </p:sp>
      <p:sp>
        <p:nvSpPr>
          <p:cNvPr id="14" name="Shape 10"/>
          <p:cNvSpPr/>
          <p:nvPr/>
        </p:nvSpPr>
        <p:spPr>
          <a:xfrm>
            <a:off x="566928" y="3320542"/>
            <a:ext cx="11057839" cy="855599"/>
          </a:xfrm>
          <a:prstGeom prst="roundRect">
            <a:avLst>
              <a:gd name="adj" fmla="val 8550"/>
            </a:avLst>
          </a:prstGeom>
          <a:solidFill>
            <a:srgbClr val="F2F4F8"/>
          </a:solidFill>
          <a:ln w="12700">
            <a:solidFill>
              <a:srgbClr val="F2F4F8"/>
            </a:solidFill>
            <a:prstDash val="solid"/>
          </a:ln>
        </p:spPr>
      </p:sp>
      <p:sp>
        <p:nvSpPr>
          <p:cNvPr id="15" name="Shape 11"/>
          <p:cNvSpPr/>
          <p:nvPr/>
        </p:nvSpPr>
        <p:spPr>
          <a:xfrm>
            <a:off x="841248" y="349231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645929"/>
            <a:ext cx="204826" cy="204826"/>
          </a:xfrm>
          <a:prstGeom prst="rect">
            <a:avLst/>
          </a:prstGeom>
        </p:spPr>
      </p:pic>
      <p:sp>
        <p:nvSpPr>
          <p:cNvPr id="17" name="Text 12"/>
          <p:cNvSpPr/>
          <p:nvPr/>
        </p:nvSpPr>
        <p:spPr>
          <a:xfrm>
            <a:off x="1536192" y="3504819"/>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三、委托人解除</a:t>
            </a:r>
            <a:endParaRPr lang="en-US" sz="1300" dirty="0"/>
          </a:p>
        </p:txBody>
      </p:sp>
      <p:sp>
        <p:nvSpPr>
          <p:cNvPr id="18" name="Text 13"/>
          <p:cNvSpPr/>
          <p:nvPr/>
        </p:nvSpPr>
        <p:spPr>
          <a:xfrm>
            <a:off x="1536192" y="3789299"/>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《律师法》第三十二条第一款，委托人可以随时解除。律师应当依法办理手续、移交材料，并依约结算已发生的费用；不得以扣留卷宗相要挟。</a:t>
            </a:r>
            <a:endParaRPr lang="en-US" sz="1100" dirty="0"/>
          </a:p>
        </p:txBody>
      </p:sp>
      <p:sp>
        <p:nvSpPr>
          <p:cNvPr id="19" name="Shape 14"/>
          <p:cNvSpPr/>
          <p:nvPr/>
        </p:nvSpPr>
        <p:spPr>
          <a:xfrm>
            <a:off x="566928" y="4322445"/>
            <a:ext cx="11057839" cy="1058164"/>
          </a:xfrm>
          <a:prstGeom prst="roundRect">
            <a:avLst>
              <a:gd name="adj" fmla="val 6913"/>
            </a:avLst>
          </a:prstGeom>
          <a:solidFill>
            <a:srgbClr val="FFFFFF"/>
          </a:solidFill>
          <a:ln w="12700">
            <a:solidFill>
              <a:srgbClr val="D5DBE5"/>
            </a:solidFill>
            <a:prstDash val="solid"/>
          </a:ln>
        </p:spPr>
      </p:sp>
      <p:sp>
        <p:nvSpPr>
          <p:cNvPr id="20" name="Shape 15"/>
          <p:cNvSpPr/>
          <p:nvPr/>
        </p:nvSpPr>
        <p:spPr>
          <a:xfrm>
            <a:off x="841248" y="4595495"/>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749114"/>
            <a:ext cx="204826" cy="204826"/>
          </a:xfrm>
          <a:prstGeom prst="rect">
            <a:avLst/>
          </a:prstGeom>
        </p:spPr>
      </p:pic>
      <p:sp>
        <p:nvSpPr>
          <p:cNvPr id="22" name="Text 16"/>
          <p:cNvSpPr/>
          <p:nvPr/>
        </p:nvSpPr>
        <p:spPr>
          <a:xfrm>
            <a:off x="1536192" y="4506722"/>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四、律师依法拒绝或者解除</a:t>
            </a:r>
            <a:endParaRPr lang="en-US" sz="1300" dirty="0"/>
          </a:p>
        </p:txBody>
      </p:sp>
      <p:sp>
        <p:nvSpPr>
          <p:cNvPr id="23" name="Text 17"/>
          <p:cNvSpPr/>
          <p:nvPr/>
        </p:nvSpPr>
        <p:spPr>
          <a:xfrm>
            <a:off x="1536192" y="4791202"/>
            <a:ext cx="9832543" cy="405130"/>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限于第三十二条第二款的三项正当理由，或者出现法定利益冲突等不得继续代理的情形。应当合理选择时机，避免使委托人陷入无人代理的困境，必要时协助其另行委托。</a:t>
            </a:r>
            <a:endParaRPr lang="en-US" sz="1100" dirty="0"/>
          </a:p>
        </p:txBody>
      </p:sp>
      <p:sp>
        <p:nvSpPr>
          <p:cNvPr id="24" name="Shape 18"/>
          <p:cNvSpPr/>
          <p:nvPr/>
        </p:nvSpPr>
        <p:spPr>
          <a:xfrm>
            <a:off x="566928" y="5526913"/>
            <a:ext cx="11057839" cy="855599"/>
          </a:xfrm>
          <a:prstGeom prst="roundRect">
            <a:avLst>
              <a:gd name="adj" fmla="val 8550"/>
            </a:avLst>
          </a:prstGeom>
          <a:solidFill>
            <a:srgbClr val="F2F4F8"/>
          </a:solidFill>
          <a:ln w="12700">
            <a:solidFill>
              <a:srgbClr val="F2F4F8"/>
            </a:solidFill>
            <a:prstDash val="solid"/>
          </a:ln>
        </p:spPr>
      </p:sp>
      <p:sp>
        <p:nvSpPr>
          <p:cNvPr id="25" name="Shape 19"/>
          <p:cNvSpPr/>
          <p:nvPr/>
        </p:nvSpPr>
        <p:spPr>
          <a:xfrm>
            <a:off x="841248" y="5698681"/>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52300"/>
            <a:ext cx="204826" cy="204826"/>
          </a:xfrm>
          <a:prstGeom prst="rect">
            <a:avLst/>
          </a:prstGeom>
        </p:spPr>
      </p:pic>
      <p:sp>
        <p:nvSpPr>
          <p:cNvPr id="27" name="Text 20"/>
          <p:cNvSpPr/>
          <p:nvPr/>
        </p:nvSpPr>
        <p:spPr>
          <a:xfrm>
            <a:off x="1536192" y="5711190"/>
            <a:ext cx="9832543" cy="211328"/>
          </a:xfrm>
          <a:prstGeom prst="rect">
            <a:avLst/>
          </a:prstGeom>
          <a:noFill/>
          <a:ln/>
        </p:spPr>
        <p:txBody>
          <a:bodyPr wrap="square" lIns="0" tIns="0" rIns="0" bIns="0" rtlCol="0" anchor="t"/>
          <a:lstStyle/>
          <a:p>
            <a:pPr indent="0" marL="0">
              <a:lnSpc>
                <a:spcPts val="1664"/>
              </a:lnSpc>
              <a:buNone/>
            </a:pPr>
            <a:r>
              <a:rPr lang="en-US" sz="1300" b="1" dirty="0">
                <a:solidFill>
                  <a:srgbClr val="13233F"/>
                </a:solidFill>
                <a:latin typeface="微软雅黑" pitchFamily="34" charset="0"/>
                <a:ea typeface="微软雅黑" pitchFamily="34" charset="-122"/>
                <a:cs typeface="微软雅黑" pitchFamily="34" charset="-120"/>
              </a:rPr>
              <a:t>五、客观情形导致不能继续</a:t>
            </a:r>
            <a:endParaRPr lang="en-US" sz="1300" dirty="0"/>
          </a:p>
        </p:txBody>
      </p:sp>
      <p:sp>
        <p:nvSpPr>
          <p:cNvPr id="28" name="Text 21"/>
          <p:cNvSpPr/>
          <p:nvPr/>
        </p:nvSpPr>
        <p:spPr>
          <a:xfrm>
            <a:off x="1536192" y="5995670"/>
            <a:ext cx="9832543" cy="202565"/>
          </a:xfrm>
          <a:prstGeom prst="rect">
            <a:avLst/>
          </a:prstGeom>
          <a:noFill/>
          <a:ln/>
        </p:spPr>
        <p:txBody>
          <a:bodyPr wrap="square" lIns="0" tIns="0" rIns="0" bIns="0" rtlCol="0" anchor="t"/>
          <a:lstStyle/>
          <a:p>
            <a:pPr indent="0" marL="0">
              <a:lnSpc>
                <a:spcPts val="1595"/>
              </a:lnSpc>
              <a:buNone/>
            </a:pPr>
            <a:r>
              <a:rPr lang="en-US" sz="1100" dirty="0">
                <a:solidFill>
                  <a:srgbClr val="32404F"/>
                </a:solidFill>
                <a:latin typeface="微软雅黑" pitchFamily="34" charset="0"/>
                <a:ea typeface="微软雅黑" pitchFamily="34" charset="-122"/>
                <a:cs typeface="微软雅黑" pitchFamily="34" charset="-120"/>
              </a:rPr>
              <a:t>律师执业证被注销或者中止、律所被处以停业、承办律师丧失执业能力或者死亡、委托人主体资格消灭等。律所应当及时安排接替或者妥善处理。</a:t>
            </a:r>
            <a:endParaRPr lang="en-US" sz="11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14</a:t>
            </a:r>
            <a:endParaRPr lang="en-US" sz="1100" dirty="0"/>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name="Slide 3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交接清单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关系终止时必须完成的六件事</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退出不是一走了之。请把以下六项作为标准动作。</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第一，书面确认终止：签署解除协议或者出具书面通知，载明终止时间、原因与后续安排。</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第二，费用结算：依约计算已履行部分的费用，多退少补；有争议的部分单独列明，不得以留置材料的方式施压。</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第三，材料移交：将委托人提供的原始材料、代为保管的证据与财物一并返还，制作移交清单并取得签收。</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第四，工作说明：书面说明案件当前所处阶段、已完成的工作、尚待处理的事项以及紧迫的期限。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第五，程序手续：向法院、仲裁机构等办理解除委托的备案或者告知手续，避免程序上的空档。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第六，档案留存：律所保留完整的案卷副本与工作记录，保存期限依律所与行业规定执行。</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15</a:t>
            </a:r>
            <a:endParaRPr lang="en-US" sz="1100" dirty="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name="Slide 34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终止后仍然存续的义务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委托关系结束了，义务并没有全部结束</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16</a:t>
            </a:r>
            <a:endParaRPr lang="en-US" sz="1100" dirty="0"/>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name="Slide 3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四项后合同义务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关系终止后仍须遵守的规则</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保密义务：永久存续</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律师对在执业活动中知悉的委托人信息负有的保密义务，不因委托关系终止而消灭，且原则上不因委托人死亡或者法人终止而消灭。这是与一般合同保密条款最大的差别。</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冲突禁止：延伸至前委托人</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不得就同一或者实质相关的事项，接受与前委托人利益相冲突的新委托；不得利用因前委托而知悉的信息损害前委托人。第18课时将展开“前委托人冲突”规则。</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卷宗与信息的妥善保管</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留存的案卷、电子数据应当妥善保管、限于必要范围使用，不得擅自公开、出售或者用于业务宣传；销毁应当依规定程序进行。</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不得作出不利评价</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不得在公开场合、自媒体或者其他案件中，就前委托人作出不当评价或者披露其不利信息；对已办结案件的宣传须脱敏并取得同意。</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17</a:t>
            </a:r>
            <a:endParaRPr lang="en-US" sz="1100" dirty="0"/>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name="Slide 34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律师执业过错与民事赔偿责任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谁承担赔偿？如何追偿？</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18</a:t>
            </a:r>
            <a:endParaRPr lang="en-US" sz="1100" dirty="0"/>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name="Slide 3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责任主体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《律师法》第五十四条：律所先赔、内部追偿</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《中华人民共和国律师法》第五十四条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律师违法执业或者因过错给当事人造成损失的，由其所在的律师事务所承担赔偿责任。律师事务所赔偿后，可以向有故意或者重大过失行为的律师追偿。</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确立了“律所对外承担、内部追偿”的双层结构。其制度意义有三：其一，保障当事人能够获得实际赔偿（律所偿付能力强于个人）；其二，倒逼律所履行管理责任——律所必须对律师执业进行实质管理，否则自担风险；其三，追偿限于“故意或者重大过失”，一般过失由律所承担，为律师保留了必要的执业空间。</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19</a:t>
            </a:r>
            <a:endParaRPr lang="en-US" sz="1100" dirty="0"/>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name="Slide 3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错过上诉期之后</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责任认定</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一份没有寄出的上诉状</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某买卖合同纠纷一审判决驳回原告全部诉讼请求。承办律师收到判决书后，电话告知委托人“一审输了，可以上诉，你考虑一下”。此后律师因办理其他案件未再联系委托人。</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委托人在上诉期最后一日致电律师表示要上诉，律师称“来不及了，明天就过期”。上诉期届满，判决生效。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委托人起诉律师事务所，主张：律师未书面告知上诉期限的准确届满日、未主动催促、未准备上诉状，导致丧失上诉权，请求赔偿一审诉讼请求金额的损失。</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律所抗辩：已经口头告知可以上诉；委托合同约定的委托事项为“一审代理”，不包含二审；且即便上诉，也未必能够改判。</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律师是否违反了告知与勤勉义务？</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“委托事项为一审代理”能否免除告知上诉期的义务？</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损失如何认定？“未必改判”的抗辩是否成立？</a:t>
            </a:r>
            <a:endParaRPr lang="en-US" sz="1400" dirty="0"/>
          </a:p>
        </p:txBody>
      </p:sp>
      <p:sp>
        <p:nvSpPr>
          <p:cNvPr id="20" name="Shape 18"/>
          <p:cNvSpPr/>
          <p:nvPr/>
        </p:nvSpPr>
        <p:spPr>
          <a:xfrm>
            <a:off x="7958023" y="498411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98411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792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若认定赔偿，律所可否向律师追偿？</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20</a:t>
            </a:r>
            <a:endParaRPr lang="en-US" sz="1100" dirty="0"/>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name="Slide 3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律师能否受让委托人正在争讼的债权？若委托人主动提出以争议标的物抵付律师费，律师能否接受？请援引《律师法》第四十条第（二）项分析。</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保险公司为被保险人指定并支付费用的律师，在诉讼策略上与保险公司发生分歧时（保险公司主张尽快调解以控制成本，被保险人希望坚持诉讼），律师应当如何处理？</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委托人拒不支付已到期的律师费，律师能否以留置案卷材料的方式促其付款？请从信义义务与《民法典》留置权规则两个角度分析。</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律师执业过错的赔偿范围应当如何确定？在“错过上诉期”这类案件中，损失是“一审判决金额”还是“改判的可能性乘以金额”？请提出你的方案。</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第15课时 · 21</a:t>
            </a:r>
            <a:endParaRPr lang="en-US" sz="1100" dirty="0"/>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name="Slide 347">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第15课时要点回顾</a:t>
            </a:r>
            <a:endParaRPr lang="en-US" sz="3000" dirty="0"/>
          </a:p>
        </p:txBody>
      </p:sp>
      <p:sp>
        <p:nvSpPr>
          <p:cNvPr id="4" name="Shape 2"/>
          <p:cNvSpPr/>
          <p:nvPr/>
        </p:nvSpPr>
        <p:spPr>
          <a:xfrm>
            <a:off x="566928" y="1591056"/>
            <a:ext cx="11057839" cy="803974"/>
          </a:xfrm>
          <a:prstGeom prst="roundRect">
            <a:avLst>
              <a:gd name="adj" fmla="val 9099"/>
            </a:avLst>
          </a:prstGeom>
          <a:solidFill>
            <a:srgbClr val="25395F"/>
          </a:solidFill>
          <a:ln w="12700">
            <a:solidFill>
              <a:srgbClr val="25395F"/>
            </a:solidFill>
            <a:prstDash val="solid"/>
          </a:ln>
        </p:spPr>
      </p:sp>
      <p:sp>
        <p:nvSpPr>
          <p:cNvPr id="5" name="Shape 3"/>
          <p:cNvSpPr/>
          <p:nvPr/>
        </p:nvSpPr>
        <p:spPr>
          <a:xfrm>
            <a:off x="859536" y="1791875"/>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12576"/>
            <a:ext cx="160934" cy="160934"/>
          </a:xfrm>
          <a:prstGeom prst="rect">
            <a:avLst/>
          </a:prstGeom>
        </p:spPr>
      </p:pic>
      <p:sp>
        <p:nvSpPr>
          <p:cNvPr id="7" name="Text 4"/>
          <p:cNvSpPr/>
          <p:nvPr/>
        </p:nvSpPr>
        <p:spPr>
          <a:xfrm>
            <a:off x="1444752" y="1745393"/>
            <a:ext cx="9997135" cy="49530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忠诚义务由三条禁止性规定支撑：不得利用便利牟取当事人争议的权益（第四十条第二项）、不得接受对方财物恶意串通（第三项）、不得同时代理双方或代理有利益冲突的事务（第三十九条）。</a:t>
            </a:r>
            <a:endParaRPr lang="en-US" sz="1300" dirty="0"/>
          </a:p>
        </p:txBody>
      </p:sp>
      <p:sp>
        <p:nvSpPr>
          <p:cNvPr id="8" name="Shape 5"/>
          <p:cNvSpPr/>
          <p:nvPr/>
        </p:nvSpPr>
        <p:spPr>
          <a:xfrm>
            <a:off x="566928" y="2532190"/>
            <a:ext cx="11057839" cy="564579"/>
          </a:xfrm>
          <a:prstGeom prst="roundRect">
            <a:avLst>
              <a:gd name="adj" fmla="val 12957"/>
            </a:avLst>
          </a:prstGeom>
          <a:solidFill>
            <a:srgbClr val="25395F"/>
          </a:solidFill>
          <a:ln w="12700">
            <a:solidFill>
              <a:srgbClr val="25395F"/>
            </a:solidFill>
            <a:prstDash val="solid"/>
          </a:ln>
        </p:spPr>
      </p:sp>
      <p:sp>
        <p:nvSpPr>
          <p:cNvPr id="9" name="Shape 6"/>
          <p:cNvSpPr/>
          <p:nvPr/>
        </p:nvSpPr>
        <p:spPr>
          <a:xfrm>
            <a:off x="859536" y="2614486"/>
            <a:ext cx="399987" cy="399987"/>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9532" y="2734481"/>
            <a:ext cx="159995" cy="159995"/>
          </a:xfrm>
          <a:prstGeom prst="rect">
            <a:avLst/>
          </a:prstGeom>
        </p:spPr>
      </p:pic>
      <p:sp>
        <p:nvSpPr>
          <p:cNvPr id="11" name="Text 7"/>
          <p:cNvSpPr/>
          <p:nvPr/>
        </p:nvSpPr>
        <p:spPr>
          <a:xfrm>
            <a:off x="1444752" y="2690654"/>
            <a:ext cx="9997135" cy="24765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四类高风险情形：与委托人的交易、利用委托信息牟利、第三人付费的影响、与对方当事人的不当接触。</a:t>
            </a:r>
            <a:endParaRPr lang="en-US" sz="1300" dirty="0"/>
          </a:p>
        </p:txBody>
      </p:sp>
      <p:sp>
        <p:nvSpPr>
          <p:cNvPr id="12" name="Shape 8"/>
          <p:cNvSpPr/>
          <p:nvPr/>
        </p:nvSpPr>
        <p:spPr>
          <a:xfrm>
            <a:off x="566928" y="3233928"/>
            <a:ext cx="11057839" cy="564579"/>
          </a:xfrm>
          <a:prstGeom prst="roundRect">
            <a:avLst>
              <a:gd name="adj" fmla="val 12957"/>
            </a:avLst>
          </a:prstGeom>
          <a:solidFill>
            <a:srgbClr val="25395F"/>
          </a:solidFill>
          <a:ln w="12700">
            <a:solidFill>
              <a:srgbClr val="25395F"/>
            </a:solidFill>
            <a:prstDash val="solid"/>
          </a:ln>
        </p:spPr>
      </p:sp>
      <p:sp>
        <p:nvSpPr>
          <p:cNvPr id="13" name="Shape 9"/>
          <p:cNvSpPr/>
          <p:nvPr/>
        </p:nvSpPr>
        <p:spPr>
          <a:xfrm>
            <a:off x="859536" y="3316224"/>
            <a:ext cx="399987" cy="399987"/>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9532" y="3436220"/>
            <a:ext cx="159995" cy="159995"/>
          </a:xfrm>
          <a:prstGeom prst="rect">
            <a:avLst/>
          </a:prstGeom>
        </p:spPr>
      </p:pic>
      <p:sp>
        <p:nvSpPr>
          <p:cNvPr id="15" name="Text 10"/>
          <p:cNvSpPr/>
          <p:nvPr/>
        </p:nvSpPr>
        <p:spPr>
          <a:xfrm>
            <a:off x="1444752" y="3392392"/>
            <a:ext cx="9997135" cy="24765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勤勉义务的三大过错高发领域为期限、审查与沟通；防范依靠五项工作制度：期限台账、双人复核、书面记录、授权确认、卷宗管理。</a:t>
            </a:r>
            <a:endParaRPr lang="en-US" sz="1300" dirty="0"/>
          </a:p>
        </p:txBody>
      </p:sp>
      <p:sp>
        <p:nvSpPr>
          <p:cNvPr id="16" name="Shape 11"/>
          <p:cNvSpPr/>
          <p:nvPr/>
        </p:nvSpPr>
        <p:spPr>
          <a:xfrm>
            <a:off x="566928" y="3935667"/>
            <a:ext cx="11057839" cy="564579"/>
          </a:xfrm>
          <a:prstGeom prst="roundRect">
            <a:avLst>
              <a:gd name="adj" fmla="val 12957"/>
            </a:avLst>
          </a:prstGeom>
          <a:solidFill>
            <a:srgbClr val="25395F"/>
          </a:solidFill>
          <a:ln w="12700">
            <a:solidFill>
              <a:srgbClr val="25395F"/>
            </a:solidFill>
            <a:prstDash val="solid"/>
          </a:ln>
        </p:spPr>
      </p:sp>
      <p:sp>
        <p:nvSpPr>
          <p:cNvPr id="17" name="Shape 12"/>
          <p:cNvSpPr/>
          <p:nvPr/>
        </p:nvSpPr>
        <p:spPr>
          <a:xfrm>
            <a:off x="859536" y="4017963"/>
            <a:ext cx="399987" cy="399987"/>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9532" y="4137958"/>
            <a:ext cx="159995" cy="159995"/>
          </a:xfrm>
          <a:prstGeom prst="rect">
            <a:avLst/>
          </a:prstGeom>
        </p:spPr>
      </p:pic>
      <p:sp>
        <p:nvSpPr>
          <p:cNvPr id="19" name="Text 13"/>
          <p:cNvSpPr/>
          <p:nvPr/>
        </p:nvSpPr>
        <p:spPr>
          <a:xfrm>
            <a:off x="1444752" y="4094131"/>
            <a:ext cx="9997135" cy="24765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必须主动告知的四类事项：风险与不利变化、重大进展与程序节点、费用与支出、利益冲突与执业变动；实体权利处分必须书面确认。</a:t>
            </a:r>
            <a:endParaRPr lang="en-US" sz="1300" dirty="0"/>
          </a:p>
        </p:txBody>
      </p:sp>
      <p:sp>
        <p:nvSpPr>
          <p:cNvPr id="20" name="Shape 14"/>
          <p:cNvSpPr/>
          <p:nvPr/>
        </p:nvSpPr>
        <p:spPr>
          <a:xfrm>
            <a:off x="566928" y="4637405"/>
            <a:ext cx="11057839" cy="803974"/>
          </a:xfrm>
          <a:prstGeom prst="roundRect">
            <a:avLst>
              <a:gd name="adj" fmla="val 9099"/>
            </a:avLst>
          </a:prstGeom>
          <a:solidFill>
            <a:srgbClr val="25395F"/>
          </a:solidFill>
          <a:ln w="12700">
            <a:solidFill>
              <a:srgbClr val="25395F"/>
            </a:solidFill>
            <a:prstDash val="solid"/>
          </a:ln>
        </p:spPr>
      </p:sp>
      <p:sp>
        <p:nvSpPr>
          <p:cNvPr id="21" name="Shape 15"/>
          <p:cNvSpPr/>
          <p:nvPr/>
        </p:nvSpPr>
        <p:spPr>
          <a:xfrm>
            <a:off x="859536" y="4838224"/>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4958925"/>
            <a:ext cx="160934" cy="160934"/>
          </a:xfrm>
          <a:prstGeom prst="rect">
            <a:avLst/>
          </a:prstGeom>
        </p:spPr>
      </p:pic>
      <p:sp>
        <p:nvSpPr>
          <p:cNvPr id="23" name="Text 16"/>
          <p:cNvSpPr/>
          <p:nvPr/>
        </p:nvSpPr>
        <p:spPr>
          <a:xfrm>
            <a:off x="1444752" y="4791742"/>
            <a:ext cx="9997135" cy="49530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委托关系终止有五种情形；终止时须完成六件事：书面确认、费用结算、材料移交、工作说明、程序手续、档案留存。不得以扣留卷宗相要挟。</a:t>
            </a:r>
            <a:endParaRPr lang="en-US" sz="1300" dirty="0"/>
          </a:p>
        </p:txBody>
      </p:sp>
      <p:sp>
        <p:nvSpPr>
          <p:cNvPr id="24" name="Shape 17"/>
          <p:cNvSpPr/>
          <p:nvPr/>
        </p:nvSpPr>
        <p:spPr>
          <a:xfrm>
            <a:off x="566928" y="5578539"/>
            <a:ext cx="11057839" cy="803974"/>
          </a:xfrm>
          <a:prstGeom prst="roundRect">
            <a:avLst>
              <a:gd name="adj" fmla="val 9099"/>
            </a:avLst>
          </a:prstGeom>
          <a:solidFill>
            <a:srgbClr val="25395F"/>
          </a:solidFill>
          <a:ln w="12700">
            <a:solidFill>
              <a:srgbClr val="25395F"/>
            </a:solidFill>
            <a:prstDash val="solid"/>
          </a:ln>
        </p:spPr>
      </p:sp>
      <p:sp>
        <p:nvSpPr>
          <p:cNvPr id="25" name="Shape 18"/>
          <p:cNvSpPr/>
          <p:nvPr/>
        </p:nvSpPr>
        <p:spPr>
          <a:xfrm>
            <a:off x="859536" y="5779357"/>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00058"/>
            <a:ext cx="160934" cy="160934"/>
          </a:xfrm>
          <a:prstGeom prst="rect">
            <a:avLst/>
          </a:prstGeom>
        </p:spPr>
      </p:pic>
      <p:sp>
        <p:nvSpPr>
          <p:cNvPr id="27" name="Text 19"/>
          <p:cNvSpPr/>
          <p:nvPr/>
        </p:nvSpPr>
        <p:spPr>
          <a:xfrm>
            <a:off x="1444752" y="5732875"/>
            <a:ext cx="9997135" cy="495300"/>
          </a:xfrm>
          <a:prstGeom prst="rect">
            <a:avLst/>
          </a:prstGeom>
          <a:noFill/>
          <a:ln/>
        </p:spPr>
        <p:txBody>
          <a:bodyPr wrap="square" lIns="0" tIns="0" rIns="0" bIns="0" rtlCol="0" anchor="t"/>
          <a:lstStyle/>
          <a:p>
            <a:pPr indent="0" marL="0">
              <a:lnSpc>
                <a:spcPts val="1950"/>
              </a:lnSpc>
              <a:buNone/>
            </a:pPr>
            <a:r>
              <a:rPr lang="en-US" sz="1300" dirty="0">
                <a:solidFill>
                  <a:srgbClr val="E4E9F1"/>
                </a:solidFill>
                <a:latin typeface="微软雅黑" pitchFamily="34" charset="0"/>
                <a:ea typeface="微软雅黑" pitchFamily="34" charset="-122"/>
                <a:cs typeface="微软雅黑" pitchFamily="34" charset="-120"/>
              </a:rPr>
              <a:t>终止后仍存续四项义务：保密义务永久存续、冲突禁止延伸至前委托人、卷宗妥善保管、不得作出不利评价。《律师法》第五十四条确立律所对外赔偿、对故意或重大过失的律师内部追偿的双层结构。</a:t>
            </a:r>
            <a:endParaRPr lang="en-US" sz="1300" dirty="0"/>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name="Slide 348">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第16课时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律师保密义务</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律师最古老、最刚性、也最容易被人情压垮的一项义务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保密义务的范围、期限与对象：几乎没有边界</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例外的三种类型及其严格解释</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新《反洗钱法》带来的当代挑战</a:t>
            </a:r>
            <a:endParaRPr lang="en-US" sz="1400" dirty="0"/>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name="Slide 3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保密义务的完整地图</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一、为什么必须保密：三重法理</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二、我国法上的规范依据</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三、保密义务的四个构成要素</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四、例外情形及其严格解释</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五、保密与其他义务的冲突</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六、当代挑战：反洗钱、数据合规与人工智能</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02</a:t>
            </a:r>
            <a:endParaRPr lang="en-US" sz="1100" dirty="0"/>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name="Slide 35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为什么必须保密：三重法理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保密不是为了保护某一个当事人，而是为了保护整个法律服务制度</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03</a:t>
            </a:r>
            <a:endParaRPr lang="en-US" sz="1100" dirty="0"/>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name="Slide 3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保密义务的三重正当性</a:t>
            </a:r>
            <a:endParaRPr lang="en-US" sz="2800" dirty="0"/>
          </a:p>
        </p:txBody>
      </p:sp>
      <p:sp>
        <p:nvSpPr>
          <p:cNvPr id="4" name="Shape 2"/>
          <p:cNvSpPr/>
          <p:nvPr/>
        </p:nvSpPr>
        <p:spPr>
          <a:xfrm>
            <a:off x="566928" y="1316736"/>
            <a:ext cx="11057839" cy="1775206"/>
          </a:xfrm>
          <a:prstGeom prst="roundRect">
            <a:avLst>
              <a:gd name="adj" fmla="val 4121"/>
            </a:avLst>
          </a:prstGeom>
          <a:solidFill>
            <a:srgbClr val="F2F4F8"/>
          </a:solidFill>
          <a:ln w="12700">
            <a:solidFill>
              <a:srgbClr val="F2F4F8"/>
            </a:solidFill>
            <a:prstDash val="solid"/>
          </a:ln>
        </p:spPr>
      </p:sp>
      <p:sp>
        <p:nvSpPr>
          <p:cNvPr id="5" name="Shape 3"/>
          <p:cNvSpPr/>
          <p:nvPr/>
        </p:nvSpPr>
        <p:spPr>
          <a:xfrm>
            <a:off x="841248" y="19483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01926"/>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一、制度性信任：使当事人敢于说真话</a:t>
            </a:r>
            <a:endParaRPr lang="en-US" sz="1650" dirty="0"/>
          </a:p>
        </p:txBody>
      </p:sp>
      <p:sp>
        <p:nvSpPr>
          <p:cNvPr id="8" name="Text 5"/>
          <p:cNvSpPr/>
          <p:nvPr/>
        </p:nvSpPr>
        <p:spPr>
          <a:xfrm>
            <a:off x="1536192" y="196069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只有掌握全部事实才能提供正确的法律帮助，而当事人只有确信自己的陈述不会被外泄，才会毫无保留。若保密可以因个案的良知冲击而突破，此后没有任何被追诉人敢对律师说实话，辩护制度将从根基上瓦解。保护的是制度，不是某个恶人。</a:t>
            </a:r>
            <a:endParaRPr lang="en-US" sz="1500" dirty="0"/>
          </a:p>
        </p:txBody>
      </p:sp>
      <p:sp>
        <p:nvSpPr>
          <p:cNvPr id="9" name="Shape 6"/>
          <p:cNvSpPr/>
          <p:nvPr/>
        </p:nvSpPr>
        <p:spPr>
          <a:xfrm>
            <a:off x="566928" y="3238246"/>
            <a:ext cx="11057839" cy="1498981"/>
          </a:xfrm>
          <a:prstGeom prst="roundRect">
            <a:avLst>
              <a:gd name="adj" fmla="val 4880"/>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二、防御性功能：对抗强制取证</a:t>
            </a:r>
            <a:endParaRPr lang="en-US" sz="1650" dirty="0"/>
          </a:p>
        </p:txBody>
      </p:sp>
      <p:sp>
        <p:nvSpPr>
          <p:cNvPr id="13" name="Text 9"/>
          <p:cNvSpPr/>
          <p:nvPr/>
        </p:nvSpPr>
        <p:spPr>
          <a:xfrm>
            <a:off x="1536192" y="388220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若律师可以被强制作证，则国家只需传唤律师即可获得被追诉人的全部供述，辩护权与不得强迫自证其罪原则将被架空。保密义务在此发挥“信息防火墙”的作用，使律师不致成为侦查的延伸。</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三、信义关系的必然要求</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委托人基于信任向律师披露信息，律师因此取得信息优势。信义关系要求受托人不得利用该优势，也不得使委托人因信任而受损。保密义务是忠诚义务在信息维度上的表达。</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04</a:t>
            </a:r>
            <a:endParaRPr lang="en-US" sz="1100" dirty="0"/>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name="Slide 3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概念辨析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 vs 律师—委托人特免权</a:t>
            </a:r>
            <a:endParaRPr lang="en-US" sz="2800" dirty="0"/>
          </a:p>
        </p:txBody>
      </p:sp>
      <p:sp>
        <p:nvSpPr>
          <p:cNvPr id="4" name="Shape 2"/>
          <p:cNvSpPr/>
          <p:nvPr/>
        </p:nvSpPr>
        <p:spPr>
          <a:xfrm>
            <a:off x="566928" y="2214245"/>
            <a:ext cx="5410048" cy="3270758"/>
          </a:xfrm>
          <a:prstGeom prst="roundRect">
            <a:avLst>
              <a:gd name="adj" fmla="val 2796"/>
            </a:avLst>
          </a:prstGeom>
          <a:solidFill>
            <a:srgbClr val="F2F4F8"/>
          </a:solidFill>
          <a:ln w="12700">
            <a:solidFill>
              <a:srgbClr val="F2F4F8"/>
            </a:solidFill>
            <a:prstDash val="solid"/>
          </a:ln>
        </p:spPr>
      </p:sp>
      <p:sp>
        <p:nvSpPr>
          <p:cNvPr id="5" name="Shape 3"/>
          <p:cNvSpPr/>
          <p:nvPr/>
        </p:nvSpPr>
        <p:spPr>
          <a:xfrm>
            <a:off x="841248" y="247027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保密义务（duty of confidentiality）</a:t>
            </a:r>
            <a:endParaRPr lang="en-US" sz="1600" dirty="0"/>
          </a:p>
        </p:txBody>
      </p:sp>
      <p:sp>
        <p:nvSpPr>
          <p:cNvPr id="7" name="Text 5"/>
          <p:cNvSpPr/>
          <p:nvPr/>
        </p:nvSpPr>
        <p:spPr>
          <a:xfrm>
            <a:off x="932688"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性质：律师对委托人负担的职业义务。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范围广：一切因执业知悉的、委托人不愿泄露的信息，不问来源。</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对象：对一切人，包括委托人的亲属、媒体、同行。</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违反后果：行业处分、行政处罚、民事赔偿，甚至刑事责任。</a:t>
            </a:r>
            <a:endParaRPr lang="en-US" sz="1450" dirty="0"/>
          </a:p>
        </p:txBody>
      </p:sp>
      <p:sp>
        <p:nvSpPr>
          <p:cNvPr id="8" name="Shape 6"/>
          <p:cNvSpPr/>
          <p:nvPr/>
        </p:nvSpPr>
        <p:spPr>
          <a:xfrm>
            <a:off x="6214720" y="2214245"/>
            <a:ext cx="5410048" cy="3270758"/>
          </a:xfrm>
          <a:prstGeom prst="roundRect">
            <a:avLst>
              <a:gd name="adj" fmla="val 2796"/>
            </a:avLst>
          </a:prstGeom>
          <a:solidFill>
            <a:srgbClr val="F6F1E8"/>
          </a:solidFill>
          <a:ln w="12700">
            <a:solidFill>
              <a:srgbClr val="F6F1E8"/>
            </a:solidFill>
            <a:prstDash val="solid"/>
          </a:ln>
        </p:spPr>
      </p:sp>
      <p:sp>
        <p:nvSpPr>
          <p:cNvPr id="9" name="Shape 7"/>
          <p:cNvSpPr/>
          <p:nvPr/>
        </p:nvSpPr>
        <p:spPr>
          <a:xfrm>
            <a:off x="6489040" y="247027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特免权 / 拒证权（privilege）</a:t>
            </a:r>
            <a:endParaRPr lang="en-US" sz="1600" dirty="0"/>
          </a:p>
        </p:txBody>
      </p:sp>
      <p:sp>
        <p:nvSpPr>
          <p:cNvPr id="11" name="Text 9"/>
          <p:cNvSpPr/>
          <p:nvPr/>
        </p:nvSpPr>
        <p:spPr>
          <a:xfrm>
            <a:off x="6580480"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性质：在诉讼程序中对抗强制作证的权利。</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范围窄：通常限于为获取法律意见而进行的秘密交流。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对象：主要对抗法庭、侦查机关的取证。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我国法上的体现：《刑事诉讼法》第四十八条赋予辩护律师保密的“权利”，是有限的拒证权，但尚未建立英美法那样完整的特免权制度。</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05</a:t>
            </a:r>
            <a:endParaRPr lang="en-US" sz="1100" dirty="0"/>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name="Slide 35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我国法上的规范依据</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两条核心条文，三处必须辨析的差异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06</a:t>
            </a:r>
            <a:endParaRPr lang="en-US" sz="1100" dirty="0"/>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name="Slide 3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《律师法》第三十八条与《刑事诉讼法》第四十八条</a:t>
            </a:r>
            <a:endParaRPr lang="en-US" sz="2800" dirty="0"/>
          </a:p>
        </p:txBody>
      </p:sp>
      <p:sp>
        <p:nvSpPr>
          <p:cNvPr id="4" name="Shape 2"/>
          <p:cNvSpPr/>
          <p:nvPr/>
        </p:nvSpPr>
        <p:spPr>
          <a:xfrm>
            <a:off x="566928" y="1316736"/>
            <a:ext cx="11057839" cy="1767459"/>
          </a:xfrm>
          <a:prstGeom prst="roundRect">
            <a:avLst>
              <a:gd name="adj" fmla="val 5174"/>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《中华人民共和国律师法》第三十八条</a:t>
            </a:r>
            <a:endParaRPr lang="en-US" sz="1500" dirty="0"/>
          </a:p>
        </p:txBody>
      </p:sp>
      <p:sp>
        <p:nvSpPr>
          <p:cNvPr id="8" name="Text 6"/>
          <p:cNvSpPr/>
          <p:nvPr/>
        </p:nvSpPr>
        <p:spPr>
          <a:xfrm>
            <a:off x="960120" y="1956816"/>
            <a:ext cx="10271455" cy="9079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律师应当保守在执业活动中知悉的国家秘密、商业秘密，不得泄露当事人的隐私。</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律师对在执业活动中知悉的委托人和其他人不愿泄露的有关情况和信息，应当予以保密。但是，委托人或者其他人准备或者正在实施危害国家安全、公共安全以及其他严重危害他人人身、财产安全的犯罪事实和信息除外。</a:t>
            </a:r>
            <a:endParaRPr lang="en-US" sz="1400" dirty="0"/>
          </a:p>
        </p:txBody>
      </p:sp>
      <p:sp>
        <p:nvSpPr>
          <p:cNvPr id="9" name="Shape 7"/>
          <p:cNvSpPr/>
          <p:nvPr/>
        </p:nvSpPr>
        <p:spPr>
          <a:xfrm>
            <a:off x="566928" y="3267075"/>
            <a:ext cx="11057839" cy="1500759"/>
          </a:xfrm>
          <a:prstGeom prst="roundRect">
            <a:avLst>
              <a:gd name="adj" fmla="val 6093"/>
            </a:avLst>
          </a:prstGeom>
          <a:solidFill>
            <a:srgbClr val="F6F1E8"/>
          </a:solidFill>
          <a:ln w="12700">
            <a:solidFill>
              <a:srgbClr val="F6F1E8"/>
            </a:solidFill>
            <a:prstDash val="solid"/>
          </a:ln>
        </p:spPr>
      </p:sp>
      <p:sp>
        <p:nvSpPr>
          <p:cNvPr id="10" name="Shape 8"/>
          <p:cNvSpPr/>
          <p:nvPr/>
        </p:nvSpPr>
        <p:spPr>
          <a:xfrm>
            <a:off x="877824" y="35048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5048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4865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《中华人民共和国刑事诉讼法》第四十八条</a:t>
            </a:r>
            <a:endParaRPr lang="en-US" sz="1500" dirty="0"/>
          </a:p>
        </p:txBody>
      </p:sp>
      <p:sp>
        <p:nvSpPr>
          <p:cNvPr id="13" name="Text 11"/>
          <p:cNvSpPr/>
          <p:nvPr/>
        </p:nvSpPr>
        <p:spPr>
          <a:xfrm>
            <a:off x="960120" y="3907155"/>
            <a:ext cx="10271455" cy="6412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辩护律师对在执业活动中知悉的委托人的有关情况和信息，有权予以保密。但是，辩护律师在执业活动中知悉委托人或者其他人，准备或者正在实施危害国家安全、公共安全以及严重危害他人人身安全的犯罪的，应当及时告知司法机关。</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三处差异必须辨析：其一，适用主体——《律师法》适用于全体律师与全部业务，《刑事诉讼法》仅适用于辩护律师；其二，例外范围——《律师法》多出“财产安全”；其三，义务形态——《律师法》表述为“除外”（不受保密义务约束，可以说但不必须说），《刑事诉讼法》表述为“应当及时告知”（负有主动告知的强制义务）。</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07</a:t>
            </a:r>
            <a:endParaRPr lang="en-US" sz="1100" dirty="0"/>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name="Slide 3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辨析要点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“可以说”与“必须说”：区分义务形态</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读保密例外条款时，请务必看清动词。四种规范状态的后果完全不同。</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应当保密（不得说）——违反即为违规。这是原则状态。</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不受保密义务约束（可以说，但不必须说）——《律师法》第三十八条但书的效果。律师披露不构成违规，但不披露也不违规。</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应当告知（必须说）——《刑事诉讼法》第四十八条但书的效果。不告知即违反法定义务。</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不得告知（禁止说）——如涉及国家秘密而无法定披露渠道的情形。</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实务判断路径：先定性（是否属于保密信息）→ 再定场景（是否为刑事辩护）→ 再看例外（是否落入但书）→ 最后定形态（可以说还是必须说）。</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08</a:t>
            </a:r>
            <a:endParaRPr lang="en-US" sz="1100" dirty="0"/>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name="Slide 35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保密义务的四个构成要素</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主体、客体、期限、对象——每一项都比想象中宽</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09</a:t>
            </a:r>
            <a:endParaRPr lang="en-US" sz="1100" dirty="0"/>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name="Slide 3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要素</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四要素展开</a:t>
            </a:r>
            <a:endParaRPr lang="en-US" sz="2800" dirty="0"/>
          </a:p>
        </p:txBody>
      </p:sp>
      <p:sp>
        <p:nvSpPr>
          <p:cNvPr id="4" name="Shape 2"/>
          <p:cNvSpPr/>
          <p:nvPr/>
        </p:nvSpPr>
        <p:spPr>
          <a:xfrm>
            <a:off x="566928" y="1384491"/>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77099"/>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14259"/>
            <a:ext cx="182880" cy="182880"/>
          </a:xfrm>
          <a:prstGeom prst="rect">
            <a:avLst/>
          </a:prstGeom>
        </p:spPr>
      </p:pic>
      <p:sp>
        <p:nvSpPr>
          <p:cNvPr id="7" name="Text 4"/>
          <p:cNvSpPr/>
          <p:nvPr/>
        </p:nvSpPr>
        <p:spPr>
          <a:xfrm>
            <a:off x="886968"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主体：不止承办律师</a:t>
            </a:r>
            <a:endParaRPr lang="en-US" sz="1400" dirty="0"/>
          </a:p>
        </p:txBody>
      </p:sp>
      <p:sp>
        <p:nvSpPr>
          <p:cNvPr id="8" name="Text 5"/>
          <p:cNvSpPr/>
          <p:nvPr/>
        </p:nvSpPr>
        <p:spPr>
          <a:xfrm>
            <a:off x="886968"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包括承办律师、律师事务所、其他知悉信息的律师与辅助人员（实习律师、助理、行政人员、翻译、专家顾问）。律所负有建立保密制度、培训人员、控制信息接触范围的管理责任。转委托或者聘请第三方服务时，应当签署保密协议。</a:t>
            </a:r>
            <a:endParaRPr lang="en-US" sz="1150" dirty="0"/>
          </a:p>
        </p:txBody>
      </p:sp>
      <p:sp>
        <p:nvSpPr>
          <p:cNvPr id="9" name="Shape 6"/>
          <p:cNvSpPr/>
          <p:nvPr/>
        </p:nvSpPr>
        <p:spPr>
          <a:xfrm>
            <a:off x="6214720" y="1384491"/>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77099"/>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14259"/>
            <a:ext cx="182880" cy="182880"/>
          </a:xfrm>
          <a:prstGeom prst="rect">
            <a:avLst/>
          </a:prstGeom>
        </p:spPr>
      </p:pic>
      <p:sp>
        <p:nvSpPr>
          <p:cNvPr id="12" name="Text 8"/>
          <p:cNvSpPr/>
          <p:nvPr/>
        </p:nvSpPr>
        <p:spPr>
          <a:xfrm>
            <a:off x="6534760" y="2298891"/>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客体：四类信息</a:t>
            </a:r>
            <a:endParaRPr lang="en-US" sz="1400" dirty="0"/>
          </a:p>
        </p:txBody>
      </p:sp>
      <p:sp>
        <p:nvSpPr>
          <p:cNvPr id="13" name="Text 9"/>
          <p:cNvSpPr/>
          <p:nvPr/>
        </p:nvSpPr>
        <p:spPr>
          <a:xfrm>
            <a:off x="6534760" y="2649157"/>
            <a:ext cx="4769968" cy="939038"/>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国家秘密；商业秘密；当事人隐私；以及委托人和其他人不愿泄露的有关情况和信息。第四类是兜底且最宽的一类——不以信息本身是否敏感为标准，而以“委托人是否不愿泄露”为标准。</a:t>
            </a:r>
            <a:endParaRPr lang="en-US" sz="1150" dirty="0"/>
          </a:p>
        </p:txBody>
      </p:sp>
      <p:sp>
        <p:nvSpPr>
          <p:cNvPr id="14" name="Shape 10"/>
          <p:cNvSpPr/>
          <p:nvPr/>
        </p:nvSpPr>
        <p:spPr>
          <a:xfrm>
            <a:off x="566928" y="4027107"/>
            <a:ext cx="5410048" cy="2287651"/>
          </a:xfrm>
          <a:prstGeom prst="roundRect">
            <a:avLst>
              <a:gd name="adj" fmla="val 3997"/>
            </a:avLst>
          </a:prstGeom>
          <a:solidFill>
            <a:srgbClr val="ECF3F2"/>
          </a:solidFill>
          <a:ln w="12700">
            <a:solidFill>
              <a:srgbClr val="ECF3F2"/>
            </a:solidFill>
            <a:prstDash val="solid"/>
          </a:ln>
        </p:spPr>
      </p:sp>
      <p:sp>
        <p:nvSpPr>
          <p:cNvPr id="15" name="Shape 11"/>
          <p:cNvSpPr/>
          <p:nvPr/>
        </p:nvSpPr>
        <p:spPr>
          <a:xfrm>
            <a:off x="886968" y="4319715"/>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456875"/>
            <a:ext cx="182880" cy="182880"/>
          </a:xfrm>
          <a:prstGeom prst="rect">
            <a:avLst/>
          </a:prstGeom>
        </p:spPr>
      </p:pic>
      <p:sp>
        <p:nvSpPr>
          <p:cNvPr id="17" name="Text 12"/>
          <p:cNvSpPr/>
          <p:nvPr/>
        </p:nvSpPr>
        <p:spPr>
          <a:xfrm>
            <a:off x="886968"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期限：永久</a:t>
            </a:r>
            <a:endParaRPr lang="en-US" sz="1400" dirty="0"/>
          </a:p>
        </p:txBody>
      </p:sp>
      <p:sp>
        <p:nvSpPr>
          <p:cNvPr id="18" name="Text 13"/>
          <p:cNvSpPr/>
          <p:nvPr/>
        </p:nvSpPr>
        <p:spPr>
          <a:xfrm>
            <a:off x="886968"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保密义务自接触信息时产生（即使未成案），不因委托关系终止而消灭，原则上也不因委托人死亡或者法人终止而消灭。这是律师义务体系中期限最长的一项。</a:t>
            </a:r>
            <a:endParaRPr lang="en-US" sz="1150" dirty="0"/>
          </a:p>
        </p:txBody>
      </p:sp>
      <p:sp>
        <p:nvSpPr>
          <p:cNvPr id="19" name="Shape 14"/>
          <p:cNvSpPr/>
          <p:nvPr/>
        </p:nvSpPr>
        <p:spPr>
          <a:xfrm>
            <a:off x="6214720" y="4027107"/>
            <a:ext cx="5410048" cy="2287651"/>
          </a:xfrm>
          <a:prstGeom prst="roundRect">
            <a:avLst>
              <a:gd name="adj" fmla="val 3997"/>
            </a:avLst>
          </a:prstGeom>
          <a:solidFill>
            <a:srgbClr val="F8EFF0"/>
          </a:solidFill>
          <a:ln w="12700">
            <a:solidFill>
              <a:srgbClr val="F8EFF0"/>
            </a:solidFill>
            <a:prstDash val="solid"/>
          </a:ln>
        </p:spPr>
      </p:sp>
      <p:sp>
        <p:nvSpPr>
          <p:cNvPr id="20" name="Shape 15"/>
          <p:cNvSpPr/>
          <p:nvPr/>
        </p:nvSpPr>
        <p:spPr>
          <a:xfrm>
            <a:off x="6534760" y="4319715"/>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456875"/>
            <a:ext cx="182880" cy="182880"/>
          </a:xfrm>
          <a:prstGeom prst="rect">
            <a:avLst/>
          </a:prstGeom>
        </p:spPr>
      </p:pic>
      <p:sp>
        <p:nvSpPr>
          <p:cNvPr id="22" name="Text 16"/>
          <p:cNvSpPr/>
          <p:nvPr/>
        </p:nvSpPr>
        <p:spPr>
          <a:xfrm>
            <a:off x="6534760" y="4941507"/>
            <a:ext cx="4769968" cy="222250"/>
          </a:xfrm>
          <a:prstGeom prst="rect">
            <a:avLst/>
          </a:prstGeom>
          <a:noFill/>
          <a:ln/>
        </p:spPr>
        <p:txBody>
          <a:bodyPr wrap="square" lIns="0" tIns="0" rIns="0" bIns="0" rtlCol="0" anchor="t"/>
          <a:lstStyle/>
          <a:p>
            <a:pPr indent="0" marL="0">
              <a:lnSpc>
                <a:spcPts val="1750"/>
              </a:lnSpc>
              <a:buNone/>
            </a:pPr>
            <a:r>
              <a:rPr lang="en-US" sz="1400" b="1" dirty="0">
                <a:solidFill>
                  <a:srgbClr val="13233F"/>
                </a:solidFill>
                <a:latin typeface="微软雅黑" pitchFamily="34" charset="0"/>
                <a:ea typeface="微软雅黑" pitchFamily="34" charset="-122"/>
                <a:cs typeface="微软雅黑" pitchFamily="34" charset="-120"/>
              </a:rPr>
              <a:t>对象：对一切人</a:t>
            </a:r>
            <a:endParaRPr lang="en-US" sz="1400" dirty="0"/>
          </a:p>
        </p:txBody>
      </p:sp>
      <p:sp>
        <p:nvSpPr>
          <p:cNvPr id="23" name="Text 17"/>
          <p:cNvSpPr/>
          <p:nvPr/>
        </p:nvSpPr>
        <p:spPr>
          <a:xfrm>
            <a:off x="6534760" y="5291773"/>
            <a:ext cx="4769968" cy="803529"/>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包括委托人的配偶、父母、子女等近亲属；包括付费的第三人；包括媒体与公众；包括同所的其他律师（除办案必要外）；也包括司法机关（除法定例外）。</a:t>
            </a:r>
            <a:endParaRPr lang="en-US" sz="11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10</a:t>
            </a:r>
            <a:endParaRPr lang="en-US" sz="1100" dirty="0"/>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name="Slide 3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易错点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实务中最容易失守的六个场景</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保密义务在纸面上很清楚，在生活中很脆弱。以下六个场景请各位牢记。</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场景一：向家属转述会见内容。付费的家属“有权知道”是一种错觉——未经被追诉人同意，不得转述。</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场景二：与同所同事闲聊案情。除办案必要外，同所律师亦属“他人”；开放式办公区、电梯、餐厅的随口议论是泄密高发地。</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场景三：自媒体与朋友圈。发布办案照片、开庭现场、当事人材料截图，即使打码，也可能因细节被识别。</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场景四：授课与写作。以真实案例作教学素材，必须彻底脱敏并取得同意；不得使用可被反向识别的细节组合。</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场景五：电子数据管理。使用公共网盘、未加密邮箱、私人设备存储卷宗；离所时未删除客户数据。</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场景六：招投标与业绩材料。为承接新业务而在标书中列明既往客户名称与案件情况，须事先取得客户同意。</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11</a:t>
            </a:r>
            <a:endParaRPr lang="en-US" sz="1100" dirty="0"/>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name="Slide 35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例外情形及其严格解释</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例外是刀锋，必须窄窄地握</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12</a:t>
            </a:r>
            <a:endParaRPr lang="en-US" sz="1100" dirty="0"/>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name="Slide 3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三类例外</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保密义务的例外类型</a:t>
            </a:r>
            <a:endParaRPr lang="en-US" sz="2800" dirty="0"/>
          </a:p>
        </p:txBody>
      </p:sp>
      <p:sp>
        <p:nvSpPr>
          <p:cNvPr id="4" name="Shape 2"/>
          <p:cNvSpPr/>
          <p:nvPr/>
        </p:nvSpPr>
        <p:spPr>
          <a:xfrm>
            <a:off x="566928" y="1316736"/>
            <a:ext cx="11057839" cy="1775206"/>
          </a:xfrm>
          <a:prstGeom prst="roundRect">
            <a:avLst>
              <a:gd name="adj" fmla="val 4121"/>
            </a:avLst>
          </a:prstGeom>
          <a:solidFill>
            <a:srgbClr val="F2F4F8"/>
          </a:solidFill>
          <a:ln w="12700">
            <a:solidFill>
              <a:srgbClr val="F2F4F8"/>
            </a:solidFill>
            <a:prstDash val="solid"/>
          </a:ln>
        </p:spPr>
      </p:sp>
      <p:sp>
        <p:nvSpPr>
          <p:cNvPr id="5" name="Shape 3"/>
          <p:cNvSpPr/>
          <p:nvPr/>
        </p:nvSpPr>
        <p:spPr>
          <a:xfrm>
            <a:off x="841248" y="19483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01926"/>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一、防止未来重大危害（法定例外）</a:t>
            </a:r>
            <a:endParaRPr lang="en-US" sz="1650" dirty="0"/>
          </a:p>
        </p:txBody>
      </p:sp>
      <p:sp>
        <p:nvSpPr>
          <p:cNvPr id="8" name="Text 5"/>
          <p:cNvSpPr/>
          <p:nvPr/>
        </p:nvSpPr>
        <p:spPr>
          <a:xfrm>
            <a:off x="1536192" y="196069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法》第三十八条与《刑事诉讼法》第四十八条的但书。请把握两个严格限定：时间上限于“准备或者正在实施”，即面向未来与现在的危险，不包括已经完成的既往犯罪；类型上限于危害国家安全、公共安全以及严重危害他人人身（《律师法》另加财产）安全的犯罪。</a:t>
            </a:r>
            <a:endParaRPr lang="en-US" sz="1500" dirty="0"/>
          </a:p>
        </p:txBody>
      </p:sp>
      <p:sp>
        <p:nvSpPr>
          <p:cNvPr id="9" name="Shape 6"/>
          <p:cNvSpPr/>
          <p:nvPr/>
        </p:nvSpPr>
        <p:spPr>
          <a:xfrm>
            <a:off x="566928" y="3238246"/>
            <a:ext cx="11057839" cy="1498981"/>
          </a:xfrm>
          <a:prstGeom prst="roundRect">
            <a:avLst>
              <a:gd name="adj" fmla="val 4880"/>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二、委托人同意（意定例外）</a:t>
            </a:r>
            <a:endParaRPr lang="en-US" sz="1650" dirty="0"/>
          </a:p>
        </p:txBody>
      </p:sp>
      <p:sp>
        <p:nvSpPr>
          <p:cNvPr id="13" name="Text 9"/>
          <p:cNvSpPr/>
          <p:nvPr/>
        </p:nvSpPr>
        <p:spPr>
          <a:xfrm>
            <a:off x="1536192" y="388220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保密义务的受益人是委托人，故其有权放弃。同意应当是明示的、特定的、在充分知情基础上作出的；概括性的、事先的、格式化的同意效力存疑。委托人为法人的，同意须由有权机关作出，而非任何一名员工。</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三、律师自我维护（抗辩例外）</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因执业行为被投诉、被起诉、被追究责任时，为进行必要的申辩与举证，可以在必要范围内披露相关信息；律师追索律师费时，亦可在必要限度内披露。核心限制是“必要范围”——只能披露与抗辩直接相关的部分。</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13</a:t>
            </a:r>
            <a:endParaRPr lang="en-US" sz="1100" dirty="0"/>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name="Slide 3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解释规则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例外条款的三条解释规则</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规则一：严格解释，不得类推</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保密是原则，披露是例外。对但书条款应当作严格解释，不得以“情节严重”“社会影响恶劣”等理由类推扩张。条文没有列举的犯罪类型，不属于例外。</a:t>
            </a:r>
            <a:endParaRPr lang="en-US" sz="850" dirty="0"/>
          </a:p>
        </p:txBody>
      </p:sp>
      <p:sp>
        <p:nvSpPr>
          <p:cNvPr id="9" name="Shape 7"/>
          <p:cNvSpPr/>
          <p:nvPr/>
        </p:nvSpPr>
        <p:spPr>
          <a:xfrm>
            <a:off x="566928" y="2622042"/>
            <a:ext cx="11057839" cy="1122426"/>
          </a:xfrm>
          <a:prstGeom prst="roundRect">
            <a:avLst>
              <a:gd name="adj" fmla="val 814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规则二：最小披露原则</a:t>
            </a:r>
            <a:endParaRPr lang="en-US" sz="1500" dirty="0"/>
          </a:p>
        </p:txBody>
      </p:sp>
      <p:sp>
        <p:nvSpPr>
          <p:cNvPr id="13" name="Text 11"/>
          <p:cNvSpPr/>
          <p:nvPr/>
        </p:nvSpPr>
        <p:spPr>
          <a:xfrm>
            <a:off x="960120" y="3262122"/>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即使落入例外，也只能披露为达到该目的所必需的最少信息，向必要的对象披露；不得借例外之名进行超范围的公开。</a:t>
            </a:r>
            <a:endParaRPr lang="en-US" sz="850" dirty="0"/>
          </a:p>
        </p:txBody>
      </p:sp>
      <p:sp>
        <p:nvSpPr>
          <p:cNvPr id="14" name="Shape 12"/>
          <p:cNvSpPr/>
          <p:nvPr/>
        </p:nvSpPr>
        <p:spPr>
          <a:xfrm>
            <a:off x="566928" y="3927348"/>
            <a:ext cx="11057839" cy="1122426"/>
          </a:xfrm>
          <a:prstGeom prst="roundRect">
            <a:avLst>
              <a:gd name="adj" fmla="val 8147"/>
            </a:avLst>
          </a:prstGeom>
          <a:solidFill>
            <a:srgbClr val="F6F1E8"/>
          </a:solidFill>
          <a:ln w="12700">
            <a:solidFill>
              <a:srgbClr val="F6F1E8"/>
            </a:solidFill>
            <a:prstDash val="solid"/>
          </a:ln>
        </p:spPr>
      </p:sp>
      <p:sp>
        <p:nvSpPr>
          <p:cNvPr id="15" name="Shape 13"/>
          <p:cNvSpPr/>
          <p:nvPr/>
        </p:nvSpPr>
        <p:spPr>
          <a:xfrm>
            <a:off x="877824" y="416509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16509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14680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规则三：优先选择替代手段</a:t>
            </a:r>
            <a:endParaRPr lang="en-US" sz="1500" dirty="0"/>
          </a:p>
        </p:txBody>
      </p:sp>
      <p:sp>
        <p:nvSpPr>
          <p:cNvPr id="18" name="Text 16"/>
          <p:cNvSpPr/>
          <p:nvPr/>
        </p:nvSpPr>
        <p:spPr>
          <a:xfrm>
            <a:off x="960120" y="4567428"/>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在披露之外，应当优先考虑劝阻委托人、拒绝提供服务、解除委托关系等对保密损害更小的手段。只有在替代手段不足以避免危害时，才诉诸披露。</a:t>
            </a:r>
            <a:endParaRPr lang="en-US" sz="850" dirty="0"/>
          </a:p>
        </p:txBody>
      </p:sp>
      <p:sp>
        <p:nvSpPr>
          <p:cNvPr id="19" name="Shape 1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20" name="Text 1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这三条规则实际上就是比例原则在保密义务中的运用：目的正当（防止重大危害）、手段必要（无替代手段）、损害最小（最小披露）。请各位将其作为处理一切例外情形的分析框架。</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14</a:t>
            </a:r>
            <a:endParaRPr lang="en-US" sz="1100" dirty="0"/>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name="Slide 3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四个情境，四种答案</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规范适用</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例外条款的适用练习</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情境一：刑事辩护中，委托人告诉律师他三年前还实施过一起盗窃，尚未被发现。</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情境二：刑事辩护中，委托人向律师流露出出狱后“要弄死举报人”的强烈意图，并已了解对方住址。</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情境三：非诉业务中，律师得知客户正在策划一起数额特别巨大的合同诈骗，仅涉财产，不危及人身。</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情境四：委托人去世后，其继承人要求律师提供当年遗嘱起草过程中的全部沟通记录，以证明遗嘱系被胁迫所立。</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四个情境分别适用哪一条？</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情境二是“可以说”还是“必须说”？</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情境三在刑辩与非诉场景下结论是否不同？</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情境四中，委托人死亡后保密义务是否消灭？</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15</a:t>
            </a:r>
            <a:endParaRPr lang="en-US" sz="1100" dirty="0"/>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name="Slide 36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保密与其他义务的冲突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当两项义务同时指向相反方向</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16</a:t>
            </a:r>
            <a:endParaRPr lang="en-US" sz="1100" dirty="0"/>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name="Slide 3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冲突一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保密义务 vs 对法庭的真实义务</a:t>
            </a:r>
            <a:endParaRPr lang="en-US" sz="2800" dirty="0"/>
          </a:p>
        </p:txBody>
      </p:sp>
      <p:sp>
        <p:nvSpPr>
          <p:cNvPr id="4" name="Shape 2"/>
          <p:cNvSpPr/>
          <p:nvPr/>
        </p:nvSpPr>
        <p:spPr>
          <a:xfrm>
            <a:off x="566928" y="1661795"/>
            <a:ext cx="5410048" cy="4375658"/>
          </a:xfrm>
          <a:prstGeom prst="roundRect">
            <a:avLst>
              <a:gd name="adj" fmla="val 2090"/>
            </a:avLst>
          </a:prstGeom>
          <a:solidFill>
            <a:srgbClr val="F2F4F8"/>
          </a:solidFill>
          <a:ln w="12700">
            <a:solidFill>
              <a:srgbClr val="F2F4F8"/>
            </a:solidFill>
            <a:prstDash val="solid"/>
          </a:ln>
        </p:spPr>
      </p:sp>
      <p:sp>
        <p:nvSpPr>
          <p:cNvPr id="5" name="Shape 3"/>
          <p:cNvSpPr/>
          <p:nvPr/>
        </p:nvSpPr>
        <p:spPr>
          <a:xfrm>
            <a:off x="841248" y="191782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9178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冲突的场景</a:t>
            </a:r>
            <a:endParaRPr lang="en-US" sz="1600" dirty="0"/>
          </a:p>
        </p:txBody>
      </p:sp>
      <p:sp>
        <p:nvSpPr>
          <p:cNvPr id="7" name="Text 5"/>
          <p:cNvSpPr/>
          <p:nvPr/>
        </p:nvSpPr>
        <p:spPr>
          <a:xfrm>
            <a:off x="932688" y="2576195"/>
            <a:ext cx="4678528" cy="32235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委托人私下告知律师其陈述不实，但坚持在法庭上如此陈述。</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律师此前基于委托人提供的信息，已向法庭作出某项事实陈述，事后发现该信息虚假。</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委托人提交的书证，律师有理由怀疑系伪造。</a:t>
            </a:r>
            <a:endParaRPr lang="en-US" sz="1450" dirty="0"/>
          </a:p>
        </p:txBody>
      </p:sp>
      <p:sp>
        <p:nvSpPr>
          <p:cNvPr id="8" name="Shape 6"/>
          <p:cNvSpPr/>
          <p:nvPr/>
        </p:nvSpPr>
        <p:spPr>
          <a:xfrm>
            <a:off x="6214720" y="1661795"/>
            <a:ext cx="5410048" cy="4375658"/>
          </a:xfrm>
          <a:prstGeom prst="roundRect">
            <a:avLst>
              <a:gd name="adj" fmla="val 2090"/>
            </a:avLst>
          </a:prstGeom>
          <a:solidFill>
            <a:srgbClr val="F6F1E8"/>
          </a:solidFill>
          <a:ln w="12700">
            <a:solidFill>
              <a:srgbClr val="F6F1E8"/>
            </a:solidFill>
            <a:prstDash val="solid"/>
          </a:ln>
        </p:spPr>
      </p:sp>
      <p:sp>
        <p:nvSpPr>
          <p:cNvPr id="9" name="Shape 7"/>
          <p:cNvSpPr/>
          <p:nvPr/>
        </p:nvSpPr>
        <p:spPr>
          <a:xfrm>
            <a:off x="6489040" y="191782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9178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处理规则</a:t>
            </a:r>
            <a:endParaRPr lang="en-US" sz="1600" dirty="0"/>
          </a:p>
        </p:txBody>
      </p:sp>
      <p:sp>
        <p:nvSpPr>
          <p:cNvPr id="11" name="Text 9"/>
          <p:cNvSpPr/>
          <p:nvPr/>
        </p:nvSpPr>
        <p:spPr>
          <a:xfrm>
            <a:off x="6580480" y="2576195"/>
            <a:ext cx="4678528" cy="32235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消极不作为：律师不得主动向法庭披露委托人的秘密，但也不得积极提出明知虚假的事实或者证据。</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劝阻优先：应当劝阻委托人，说明伪证的法律后果；对已提交的虚假材料，应当要求委托人自行更正或者撤回。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拒绝与退出：委托人坚持的，律师应当拒绝就该虚假事实进行陈述与举证；必要时依《律师法》第三十二条第二款解除委托。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更正的限度：解除委托时，原则上仅说明“因客观原因不再代理”，不得披露具体原因，除非落入法定例外。</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17</a:t>
            </a:r>
            <a:endParaRPr lang="en-US" sz="1100" dirty="0"/>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name="Slide 3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其他冲突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三种常见的义务冲突及处理</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保密 vs 对第三人的告知（法律意见书场景）</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出具的法律意见书将提交第三人（投资方、监管机构）时，不得明知重大不利事实而作不完整披露。处理路径：说服委托人如实披露；委托人拒绝的，律师应当拒绝出具意见书，而不是既保密又出具“半真的”意见书。</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保密 vs 律所内部管理</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利益冲突检索、质量复核、财务审计等需要接触案件信息。处理路径：以“必要知悉”为限，建立内部信息隔离墙（Chinese wall），对敏感案件实行限制访问，并对全体接触人员施加同等保密义务。</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保密 vs 司法机关的调查要求</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侦查机关要求律师提供委托人信息或者作证时，律师应当审查其是否具有法定依据，是否落入法定例外；不属例外的，应当依法说明保密义务并拒绝提供，同时可以向律师协会申请维权支持。</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18</a:t>
            </a:r>
            <a:endParaRPr lang="en-US" sz="1100" dirty="0"/>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name="Slide 36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当代挑战：反洗钱、数据合规与人工智能</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技术与监管的变化，正在重新划定保密义务的边界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19</a:t>
            </a:r>
            <a:endParaRPr lang="en-US" sz="1100" dirty="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name="Slide 3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新发展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新《反洗钱法》将律师事务所纳入义务主体</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《中华人民共和国反洗钱法》（2024年修订，自2025年1月1日起施行）</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该法采用“列举+兜底”的模式界定特定非金融机构的范围，将房地产开发企业与中介机构、会计师事务所、律师事务所、公证机构，以及贵金属、宝石等现货交易的交易商纳入反洗钱义务主体。</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上述机构在从事特定业务时，与金融机构共同承担客户身份识别与尽职调查、大额与可疑交易报告、开展反洗钱合作、接受反洗钱调查与监督等义务。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修订对律师保密义务构成了当代最重要的挑战：一方面，客户身份识别与可疑交易报告要求律师主动向监管机构提供信息；另一方面，保密义务要求律师守口如瓶。域外的通行做法是设置“法律职业特权豁免”——律师在为客户提供诉讼代理或者判断其法律地位时所获知的信息，不在报告义务范围内。我国相关配套规则仍在完善之中，请各位密切关注后续立法与实施办法。</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20</a:t>
            </a:r>
            <a:endParaRPr lang="en-US" sz="1100" dirty="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name="Slide 3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新问题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三项需要建立新习惯的挑战</a:t>
            </a:r>
            <a:endParaRPr lang="en-US" sz="2800" dirty="0"/>
          </a:p>
        </p:txBody>
      </p:sp>
      <p:sp>
        <p:nvSpPr>
          <p:cNvPr id="4" name="Shape 2"/>
          <p:cNvSpPr/>
          <p:nvPr/>
        </p:nvSpPr>
        <p:spPr>
          <a:xfrm>
            <a:off x="566928" y="1905699"/>
            <a:ext cx="3527450" cy="38878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19830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335467"/>
            <a:ext cx="182880" cy="182880"/>
          </a:xfrm>
          <a:prstGeom prst="rect">
            <a:avLst/>
          </a:prstGeom>
        </p:spPr>
      </p:pic>
      <p:sp>
        <p:nvSpPr>
          <p:cNvPr id="7" name="Text 4"/>
          <p:cNvSpPr/>
          <p:nvPr/>
        </p:nvSpPr>
        <p:spPr>
          <a:xfrm>
            <a:off x="886968"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数据安全与个人信息保护</a:t>
            </a:r>
            <a:endParaRPr lang="en-US" sz="1700" dirty="0"/>
          </a:p>
        </p:txBody>
      </p:sp>
      <p:sp>
        <p:nvSpPr>
          <p:cNvPr id="8" name="Text 5"/>
          <p:cNvSpPr/>
          <p:nvPr/>
        </p:nvSpPr>
        <p:spPr>
          <a:xfrm>
            <a:off x="886968"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《数据安全法》《个人信息保护法》对律所处理客户数据提出了新要求：合法、正当、必要，最小必要收集，安全存储，跨境传输受限。律所应当建立数据分级、访问控制、加密存储、留痕审计与泄露应急机制。</a:t>
            </a:r>
            <a:endParaRPr lang="en-US" sz="1450" dirty="0"/>
          </a:p>
        </p:txBody>
      </p:sp>
      <p:sp>
        <p:nvSpPr>
          <p:cNvPr id="9" name="Shape 6"/>
          <p:cNvSpPr/>
          <p:nvPr/>
        </p:nvSpPr>
        <p:spPr>
          <a:xfrm>
            <a:off x="4332122" y="1905699"/>
            <a:ext cx="3527450" cy="38878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219830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335467"/>
            <a:ext cx="182880" cy="182880"/>
          </a:xfrm>
          <a:prstGeom prst="rect">
            <a:avLst/>
          </a:prstGeom>
        </p:spPr>
      </p:pic>
      <p:sp>
        <p:nvSpPr>
          <p:cNvPr id="12" name="Text 8"/>
          <p:cNvSpPr/>
          <p:nvPr/>
        </p:nvSpPr>
        <p:spPr>
          <a:xfrm>
            <a:off x="4652162"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人工智能工具的使用</a:t>
            </a:r>
            <a:endParaRPr lang="en-US" sz="1700" dirty="0"/>
          </a:p>
        </p:txBody>
      </p:sp>
      <p:sp>
        <p:nvSpPr>
          <p:cNvPr id="13" name="Text 9"/>
          <p:cNvSpPr/>
          <p:nvPr/>
        </p:nvSpPr>
        <p:spPr>
          <a:xfrm>
            <a:off x="4652162"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将案情、卷宗、合同文本输入公共大模型进行分析或者润色，可能构成向第三方披露。使用前应当评估服务条款中的数据使用与训练政策，优先采用本地部署或者企业级、明确不用于训练的服务，并对内容作脱敏处理。这是当前最容易被忽视的泄密渠道。</a:t>
            </a:r>
            <a:endParaRPr lang="en-US" sz="1450" dirty="0"/>
          </a:p>
        </p:txBody>
      </p:sp>
      <p:sp>
        <p:nvSpPr>
          <p:cNvPr id="14" name="Shape 10"/>
          <p:cNvSpPr/>
          <p:nvPr/>
        </p:nvSpPr>
        <p:spPr>
          <a:xfrm>
            <a:off x="8097317" y="1905699"/>
            <a:ext cx="3527450" cy="38878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219830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335467"/>
            <a:ext cx="182880" cy="182880"/>
          </a:xfrm>
          <a:prstGeom prst="rect">
            <a:avLst/>
          </a:prstGeom>
        </p:spPr>
      </p:pic>
      <p:sp>
        <p:nvSpPr>
          <p:cNvPr id="17" name="Text 12"/>
          <p:cNvSpPr/>
          <p:nvPr/>
        </p:nvSpPr>
        <p:spPr>
          <a:xfrm>
            <a:off x="8417357"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涉外业务中的规则冲突</a:t>
            </a:r>
            <a:endParaRPr lang="en-US" sz="1700" dirty="0"/>
          </a:p>
        </p:txBody>
      </p:sp>
      <p:sp>
        <p:nvSpPr>
          <p:cNvPr id="18" name="Text 13"/>
          <p:cNvSpPr/>
          <p:nvPr/>
        </p:nvSpPr>
        <p:spPr>
          <a:xfrm>
            <a:off x="8417357"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同法域的保密与披露规则不同：某些法域要求律师报告可疑交易，某些要求配合外国机构的证据开示。涉外业务中应当同时审查中国法与相关外国法的要求，并注意《国际刑事司法协助法》《数据安全法》关于向境外提供数据须经批准的规定。</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21</a:t>
            </a:r>
            <a:endParaRPr lang="en-US" sz="1100" dirty="0"/>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name="Slide 3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377696"/>
          </a:xfrm>
          <a:prstGeom prst="roundRect">
            <a:avLst>
              <a:gd name="adj" fmla="val 5973"/>
            </a:avLst>
          </a:prstGeom>
          <a:solidFill>
            <a:srgbClr val="ECF3F2"/>
          </a:solidFill>
          <a:ln w="12700">
            <a:solidFill>
              <a:srgbClr val="ECF3F2"/>
            </a:solidFill>
            <a:prstDash val="solid"/>
          </a:ln>
        </p:spPr>
      </p:sp>
      <p:sp>
        <p:nvSpPr>
          <p:cNvPr id="5" name="Shape 3"/>
          <p:cNvSpPr/>
          <p:nvPr/>
        </p:nvSpPr>
        <p:spPr>
          <a:xfrm>
            <a:off x="859536" y="177698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769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4838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回到第1课时的“平静湖藏尸案”：现在你已经掌握了完整的规范体系。请重新回答——若该案发生在我国，律师应当如何处理？请分别就《律师法》第三十八条与《刑事诉讼法》第四十八条作出分析，并指出“劝说当事人自首”这一替代手段的意义。</a:t>
            </a:r>
            <a:endParaRPr lang="en-US" sz="1600" dirty="0"/>
          </a:p>
        </p:txBody>
      </p:sp>
      <p:sp>
        <p:nvSpPr>
          <p:cNvPr id="8" name="Shape 6"/>
          <p:cNvSpPr/>
          <p:nvPr/>
        </p:nvSpPr>
        <p:spPr>
          <a:xfrm>
            <a:off x="566928" y="2840736"/>
            <a:ext cx="11057839" cy="1083056"/>
          </a:xfrm>
          <a:prstGeom prst="roundRect">
            <a:avLst>
              <a:gd name="adj" fmla="val 7598"/>
            </a:avLst>
          </a:prstGeom>
          <a:solidFill>
            <a:srgbClr val="ECF3F2"/>
          </a:solidFill>
          <a:ln w="12700">
            <a:solidFill>
              <a:srgbClr val="ECF3F2"/>
            </a:solidFill>
            <a:prstDash val="solid"/>
          </a:ln>
        </p:spPr>
      </p:sp>
      <p:sp>
        <p:nvSpPr>
          <p:cNvPr id="9" name="Shape 7"/>
          <p:cNvSpPr/>
          <p:nvPr/>
        </p:nvSpPr>
        <p:spPr>
          <a:xfrm>
            <a:off x="859536" y="315366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536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7746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《律师法》第三十八条的例外包含“财产安全”，《刑事诉讼法》第四十八条则不包含。这一差异是立法疏漏还是有意为之？请从刑事辩护的特殊性角度论证。</a:t>
            </a:r>
            <a:endParaRPr lang="en-US" sz="1600" dirty="0"/>
          </a:p>
        </p:txBody>
      </p:sp>
      <p:sp>
        <p:nvSpPr>
          <p:cNvPr id="12" name="Shape 10"/>
          <p:cNvSpPr/>
          <p:nvPr/>
        </p:nvSpPr>
        <p:spPr>
          <a:xfrm>
            <a:off x="566928" y="4070096"/>
            <a:ext cx="11057839" cy="1083056"/>
          </a:xfrm>
          <a:prstGeom prst="roundRect">
            <a:avLst>
              <a:gd name="adj" fmla="val 7598"/>
            </a:avLst>
          </a:prstGeom>
          <a:solidFill>
            <a:srgbClr val="ECF3F2"/>
          </a:solidFill>
          <a:ln w="12700">
            <a:solidFill>
              <a:srgbClr val="ECF3F2"/>
            </a:solidFill>
            <a:prstDash val="solid"/>
          </a:ln>
        </p:spPr>
      </p:sp>
      <p:sp>
        <p:nvSpPr>
          <p:cNvPr id="13" name="Shape 11"/>
          <p:cNvSpPr/>
          <p:nvPr/>
        </p:nvSpPr>
        <p:spPr>
          <a:xfrm>
            <a:off x="859536" y="43830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83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0682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律师将客户合同输入公共人工智能工具进行审查，是否构成泄密？如果该工具承诺不使用用户数据训练模型呢？请提出一套律所可操作的人工智能使用规则。</a:t>
            </a:r>
            <a:endParaRPr lang="en-US" sz="1600" dirty="0"/>
          </a:p>
        </p:txBody>
      </p:sp>
      <p:sp>
        <p:nvSpPr>
          <p:cNvPr id="16" name="Shape 14"/>
          <p:cNvSpPr/>
          <p:nvPr/>
        </p:nvSpPr>
        <p:spPr>
          <a:xfrm>
            <a:off x="566928" y="5299456"/>
            <a:ext cx="11057839" cy="1083056"/>
          </a:xfrm>
          <a:prstGeom prst="roundRect">
            <a:avLst>
              <a:gd name="adj" fmla="val 7598"/>
            </a:avLst>
          </a:prstGeom>
          <a:solidFill>
            <a:srgbClr val="ECF3F2"/>
          </a:solidFill>
          <a:ln w="12700">
            <a:solidFill>
              <a:srgbClr val="ECF3F2"/>
            </a:solidFill>
            <a:prstDash val="solid"/>
          </a:ln>
        </p:spPr>
      </p:sp>
      <p:sp>
        <p:nvSpPr>
          <p:cNvPr id="17" name="Shape 15"/>
          <p:cNvSpPr/>
          <p:nvPr/>
        </p:nvSpPr>
        <p:spPr>
          <a:xfrm>
            <a:off x="859536" y="561238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123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3618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新《反洗钱法》要求律师事务所履行客户身份识别与可疑交易报告义务。请设计一个区分标准，界定哪些业务中的信息应当报告、哪些应当继续保密。</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第16课时 · 22</a:t>
            </a:r>
            <a:endParaRPr lang="en-US" sz="1100" dirty="0"/>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name="Slide 370">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第16课时要点回顾</a:t>
            </a:r>
            <a:endParaRPr lang="en-US" sz="3000" dirty="0"/>
          </a:p>
        </p:txBody>
      </p:sp>
      <p:sp>
        <p:nvSpPr>
          <p:cNvPr id="4" name="Shape 2"/>
          <p:cNvSpPr/>
          <p:nvPr/>
        </p:nvSpPr>
        <p:spPr>
          <a:xfrm>
            <a:off x="566928" y="1591056"/>
            <a:ext cx="11057839" cy="514202"/>
          </a:xfrm>
          <a:prstGeom prst="roundRect">
            <a:avLst>
              <a:gd name="adj" fmla="val 14226"/>
            </a:avLst>
          </a:prstGeom>
          <a:solidFill>
            <a:srgbClr val="25395F"/>
          </a:solidFill>
          <a:ln w="12700">
            <a:solidFill>
              <a:srgbClr val="25395F"/>
            </a:solidFill>
            <a:prstDash val="solid"/>
          </a:ln>
        </p:spPr>
      </p:sp>
      <p:sp>
        <p:nvSpPr>
          <p:cNvPr id="5" name="Shape 3"/>
          <p:cNvSpPr/>
          <p:nvPr/>
        </p:nvSpPr>
        <p:spPr>
          <a:xfrm>
            <a:off x="859536" y="1673352"/>
            <a:ext cx="349610" cy="349610"/>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64419" y="1778235"/>
            <a:ext cx="139844" cy="139844"/>
          </a:xfrm>
          <a:prstGeom prst="rect">
            <a:avLst/>
          </a:prstGeom>
        </p:spPr>
      </p:pic>
      <p:sp>
        <p:nvSpPr>
          <p:cNvPr id="7" name="Text 4"/>
          <p:cNvSpPr/>
          <p:nvPr/>
        </p:nvSpPr>
        <p:spPr>
          <a:xfrm>
            <a:off x="1444752" y="1738619"/>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保密义务的三重法理：制度性信任（使当事人敢说真话）、防御性功能（对抗强制取证）、信义关系的必然要求。保护的是制度，不是某个当事人。</a:t>
            </a:r>
            <a:endParaRPr lang="en-US" sz="1150" dirty="0"/>
          </a:p>
        </p:txBody>
      </p:sp>
      <p:sp>
        <p:nvSpPr>
          <p:cNvPr id="8" name="Shape 5"/>
          <p:cNvSpPr/>
          <p:nvPr/>
        </p:nvSpPr>
        <p:spPr>
          <a:xfrm>
            <a:off x="566928" y="2242418"/>
            <a:ext cx="11057839" cy="718291"/>
          </a:xfrm>
          <a:prstGeom prst="roundRect">
            <a:avLst>
              <a:gd name="adj" fmla="val 10184"/>
            </a:avLst>
          </a:prstGeom>
          <a:solidFill>
            <a:srgbClr val="25395F"/>
          </a:solidFill>
          <a:ln w="12700">
            <a:solidFill>
              <a:srgbClr val="25395F"/>
            </a:solidFill>
            <a:prstDash val="solid"/>
          </a:ln>
        </p:spPr>
      </p:sp>
      <p:sp>
        <p:nvSpPr>
          <p:cNvPr id="9" name="Shape 6"/>
          <p:cNvSpPr/>
          <p:nvPr/>
        </p:nvSpPr>
        <p:spPr>
          <a:xfrm>
            <a:off x="859536" y="2400395"/>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521096"/>
            <a:ext cx="160934" cy="160934"/>
          </a:xfrm>
          <a:prstGeom prst="rect">
            <a:avLst/>
          </a:prstGeom>
        </p:spPr>
      </p:pic>
      <p:sp>
        <p:nvSpPr>
          <p:cNvPr id="11" name="Text 7"/>
          <p:cNvSpPr/>
          <p:nvPr/>
        </p:nvSpPr>
        <p:spPr>
          <a:xfrm>
            <a:off x="1444752" y="2382488"/>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保密义务与特免权不同：前者是对一切人的职业义务，范围广；后者是诉讼中对抗强制作证的权利，范围窄。我国《刑事诉讼法》第四十八条是有限的拒证权。</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《律师法》第三十八条与《刑事诉讼法》第四十八条有三处差异：适用主体（全体律师 / 辩护律师）、例外范围（含 / 不含财产安全）、义务形态（“除外”可以说 / “应当告知”必须说）。</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四个构成要素：主体包括律所与全部辅助人员；客体包括国家秘密、商业秘密、当事人隐私与一切不愿泄露的信息；期限为永久；对象为一切人，包括近亲属与付费人。</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例外有三类：防止未来重大危害（法定）、委托人同意（意定）、律师自我维护（抗辩）。解释规则三条：严格解释不得类推、最小披露、优先选择替代手段——实为比例原则的运用。</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当代挑战：新《反洗钱法》（2025年1月1日施行）将律师事务所纳入反洗钱义务主体；数据安全与个人信息保护提出新要求；使用公共人工智能工具可能构成向第三方披露，是当前最易忽视的泄密渠道。</a:t>
            </a:r>
            <a:endParaRPr lang="en-US" sz="1150" dirty="0"/>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name="Slide 37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第17课时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利益冲突（一）：法理基础、类型与判断标准</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一个人不能同时为两个方向奔跑——利益冲突规则是忠诚义务最具技术性的展开</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什么是利益冲突：三种利益的角力</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四大类型：同时代理、前后委托、自身利益、第三人影响</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绝对禁止与相对禁止：可否经同意豁免</a:t>
            </a:r>
            <a:endParaRPr lang="en-US" sz="1400" dirty="0"/>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name="Slide 3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冲突规则的原理与地图</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一、什么是利益冲突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二、法理基础：忠诚与保密的双重支撑</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三、我国的规范体系</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四、类型一：同时代理型冲突</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五、类型二至四：前后委托、自身利益、第三人影响</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六、判断标准与案例研讨</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02</a:t>
            </a:r>
            <a:endParaRPr lang="en-US" sz="1100" dirty="0"/>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name="Slide 37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什么是利益冲突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冲突指向的是“风险”，而不是“已经发生的损害”</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03</a:t>
            </a:r>
            <a:endParaRPr lang="en-US" sz="1100" dirty="0"/>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name="Slide 3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利益冲突的定义与三个要素</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利益冲突，是指律师对某一委托人的忠诚义务，因存在其他利益而面临被实质性削弱的风险。</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要素一：存在一项忠诚义务。 前提是律师与某人之间已经或者曾经存在委托关系（含未成案的实质性咨询）。</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要素二：存在另一项相竞争的利益。 可能来自另一委托人、律师自身，或者第三人。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要素三：该竞争利益足以对忠诚义务的履行产生实质影响的风险。</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请特别注意“风险”二字：冲突规则规制的是可能性，而不要求已经发生实际损害。这与外观中立原理完全一致——因为“是否已经被影响”无法查证，只能以客观情形推定。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因此，“我保证会公平对待双方”“我不会偏心”这类承诺，在冲突规则面前没有任何意义。规则不问你的主观意愿，只问客观处境。</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04</a:t>
            </a:r>
            <a:endParaRPr lang="en-US" sz="1100" dirty="0"/>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name="Slide 3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三种利益</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与委托人利益相竞争的三类利益</a:t>
            </a:r>
            <a:endParaRPr lang="en-US" sz="2800" dirty="0"/>
          </a:p>
        </p:txBody>
      </p:sp>
      <p:sp>
        <p:nvSpPr>
          <p:cNvPr id="4" name="Shape 2"/>
          <p:cNvSpPr/>
          <p:nvPr/>
        </p:nvSpPr>
        <p:spPr>
          <a:xfrm>
            <a:off x="566928" y="2320036"/>
            <a:ext cx="3527450" cy="3059176"/>
          </a:xfrm>
          <a:prstGeom prst="roundRect">
            <a:avLst>
              <a:gd name="adj" fmla="val 2989"/>
            </a:avLst>
          </a:prstGeom>
          <a:solidFill>
            <a:srgbClr val="F2F4F8"/>
          </a:solidFill>
          <a:ln w="12700">
            <a:solidFill>
              <a:srgbClr val="F2F4F8"/>
            </a:solidFill>
            <a:prstDash val="solid"/>
          </a:ln>
        </p:spPr>
      </p:sp>
      <p:sp>
        <p:nvSpPr>
          <p:cNvPr id="5" name="Shape 3"/>
          <p:cNvSpPr/>
          <p:nvPr/>
        </p:nvSpPr>
        <p:spPr>
          <a:xfrm>
            <a:off x="886968" y="26126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749804"/>
            <a:ext cx="182880" cy="182880"/>
          </a:xfrm>
          <a:prstGeom prst="rect">
            <a:avLst/>
          </a:prstGeom>
        </p:spPr>
      </p:pic>
      <p:sp>
        <p:nvSpPr>
          <p:cNvPr id="7" name="Text 4"/>
          <p:cNvSpPr/>
          <p:nvPr/>
        </p:nvSpPr>
        <p:spPr>
          <a:xfrm>
            <a:off x="886968"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其他委托人的利益</a:t>
            </a:r>
            <a:endParaRPr lang="en-US" sz="1700" dirty="0"/>
          </a:p>
        </p:txBody>
      </p:sp>
      <p:sp>
        <p:nvSpPr>
          <p:cNvPr id="8" name="Text 5"/>
          <p:cNvSpPr/>
          <p:nvPr/>
        </p:nvSpPr>
        <p:spPr>
          <a:xfrm>
            <a:off x="886968"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同时或者先后代理利益相互对立的当事人。这是最典型、也最容易识别的一类，包括同案双方、关联案件的对立方、以及内部存在分歧的共同委托人。</a:t>
            </a:r>
            <a:endParaRPr lang="en-US" sz="1450" dirty="0"/>
          </a:p>
        </p:txBody>
      </p:sp>
      <p:sp>
        <p:nvSpPr>
          <p:cNvPr id="9" name="Shape 6"/>
          <p:cNvSpPr/>
          <p:nvPr/>
        </p:nvSpPr>
        <p:spPr>
          <a:xfrm>
            <a:off x="4332122" y="2320036"/>
            <a:ext cx="3527450" cy="3059176"/>
          </a:xfrm>
          <a:prstGeom prst="roundRect">
            <a:avLst>
              <a:gd name="adj" fmla="val 2989"/>
            </a:avLst>
          </a:prstGeom>
          <a:solidFill>
            <a:srgbClr val="F6F1E8"/>
          </a:solidFill>
          <a:ln w="12700">
            <a:solidFill>
              <a:srgbClr val="F6F1E8"/>
            </a:solidFill>
            <a:prstDash val="solid"/>
          </a:ln>
        </p:spPr>
      </p:sp>
      <p:sp>
        <p:nvSpPr>
          <p:cNvPr id="10" name="Shape 7"/>
          <p:cNvSpPr/>
          <p:nvPr/>
        </p:nvSpPr>
        <p:spPr>
          <a:xfrm>
            <a:off x="4652162" y="26126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749804"/>
            <a:ext cx="182880" cy="182880"/>
          </a:xfrm>
          <a:prstGeom prst="rect">
            <a:avLst/>
          </a:prstGeom>
        </p:spPr>
      </p:pic>
      <p:sp>
        <p:nvSpPr>
          <p:cNvPr id="12" name="Text 8"/>
          <p:cNvSpPr/>
          <p:nvPr/>
        </p:nvSpPr>
        <p:spPr>
          <a:xfrm>
            <a:off x="4652162"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律师自身的利益</a:t>
            </a:r>
            <a:endParaRPr lang="en-US" sz="1700" dirty="0"/>
          </a:p>
        </p:txBody>
      </p:sp>
      <p:sp>
        <p:nvSpPr>
          <p:cNvPr id="13" name="Text 9"/>
          <p:cNvSpPr/>
          <p:nvPr/>
        </p:nvSpPr>
        <p:spPr>
          <a:xfrm>
            <a:off x="4652162"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律师与委托人存在交易、借贷、投资关系；律师或者其近亲属与案件结果有经济上的利害关系；律师在对方当事人处任职或者持股；律师有承揽后续业务的期待。</a:t>
            </a:r>
            <a:endParaRPr lang="en-US" sz="1450" dirty="0"/>
          </a:p>
        </p:txBody>
      </p:sp>
      <p:sp>
        <p:nvSpPr>
          <p:cNvPr id="14" name="Shape 10"/>
          <p:cNvSpPr/>
          <p:nvPr/>
        </p:nvSpPr>
        <p:spPr>
          <a:xfrm>
            <a:off x="8097317" y="2320036"/>
            <a:ext cx="3527450" cy="3059176"/>
          </a:xfrm>
          <a:prstGeom prst="roundRect">
            <a:avLst>
              <a:gd name="adj" fmla="val 2989"/>
            </a:avLst>
          </a:prstGeom>
          <a:solidFill>
            <a:srgbClr val="ECF3F2"/>
          </a:solidFill>
          <a:ln w="12700">
            <a:solidFill>
              <a:srgbClr val="ECF3F2"/>
            </a:solidFill>
            <a:prstDash val="solid"/>
          </a:ln>
        </p:spPr>
      </p:sp>
      <p:sp>
        <p:nvSpPr>
          <p:cNvPr id="15" name="Shape 11"/>
          <p:cNvSpPr/>
          <p:nvPr/>
        </p:nvSpPr>
        <p:spPr>
          <a:xfrm>
            <a:off x="8417357" y="2612644"/>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749804"/>
            <a:ext cx="182880" cy="182880"/>
          </a:xfrm>
          <a:prstGeom prst="rect">
            <a:avLst/>
          </a:prstGeom>
        </p:spPr>
      </p:pic>
      <p:sp>
        <p:nvSpPr>
          <p:cNvPr id="17" name="Text 12"/>
          <p:cNvSpPr/>
          <p:nvPr/>
        </p:nvSpPr>
        <p:spPr>
          <a:xfrm>
            <a:off x="8417357"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第三人的利益</a:t>
            </a:r>
            <a:endParaRPr lang="en-US" sz="1700" dirty="0"/>
          </a:p>
        </p:txBody>
      </p:sp>
      <p:sp>
        <p:nvSpPr>
          <p:cNvPr id="18" name="Text 13"/>
          <p:cNvSpPr/>
          <p:nvPr/>
        </p:nvSpPr>
        <p:spPr>
          <a:xfrm>
            <a:off x="8417357"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第三方付费者的意愿；律师担任常年法律顾问的其他单位；律师的介绍人、合作方；以及律师在其他社会职务中承担的义务。</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05</a:t>
            </a:r>
            <a:endParaRPr lang="en-US" sz="1100" dirty="0"/>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name="Slide 37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法理基础：忠诚与保密的双重支撑</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为什么冲突规则如此刚性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06</a:t>
            </a:r>
            <a:endParaRPr lang="en-US" sz="1100" dirty="0"/>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name="Slide 3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两条根据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冲突规则的两个法理支点</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忠诚义务：一心不能二用</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信义关系要求律师将委托人利益置于自身与他人利益之上。</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同时服务于对立的两方，意味着无论如何行动都会损害其中一方。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即使律师主观上想公平，客观上也无法为双方各自争取最大利益——因为二者是此消彼长的。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推论：这类冲突原则上不能通过“更努力”来克服，只能通过退出来解决。</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保密义务：信息不能反向使用</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律师因代理甲而知悉甲的弱点、底线与策略。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若其后代理乙对抗甲，即使律师不主动使用该信息，也无法保证判断不受影响。</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而且，律师无法向乙充分说明自己的处境（说明本身即泄密），乙的“同意”因此不可能是充分知情的。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推论：前后委托型冲突的核心不是忠诚，而是保密——这是第18课时的重点。</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07</a:t>
            </a:r>
            <a:endParaRPr lang="en-US" sz="1100" dirty="0"/>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name="Slide 378">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冲突规则保护的不是律师的清白，而是委托人的信赖，以及公众对法律职业整体可托付性的信心。</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利益冲突规则的价值归属</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正因为如此，当事人的个别谅解不足以正当化一切冲突——有些冲突损害的是制度，而不只是当事人</a:t>
            </a:r>
            <a:endParaRPr lang="en-US" sz="1300" dirty="0"/>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name="Slide 37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我国的规范体系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从《律师法》的原则规定到行业规范的类型化列举</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09</a:t>
            </a:r>
            <a:endParaRPr lang="en-US" sz="1100" dirty="0"/>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name="Slide 3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法律层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《律师法》第三十九条：原则性禁止</a:t>
            </a:r>
            <a:endParaRPr lang="en-US" sz="2800" dirty="0"/>
          </a:p>
        </p:txBody>
      </p:sp>
      <p:sp>
        <p:nvSpPr>
          <p:cNvPr id="4" name="Shape 2"/>
          <p:cNvSpPr/>
          <p:nvPr/>
        </p:nvSpPr>
        <p:spPr>
          <a:xfrm>
            <a:off x="566928" y="2259140"/>
            <a:ext cx="11057839" cy="1566291"/>
          </a:xfrm>
          <a:prstGeom prst="roundRect">
            <a:avLst>
              <a:gd name="adj" fmla="val 5838"/>
            </a:avLst>
          </a:prstGeom>
          <a:solidFill>
            <a:srgbClr val="F6F1E8"/>
          </a:solidFill>
          <a:ln w="12700">
            <a:solidFill>
              <a:srgbClr val="F6F1E8"/>
            </a:solidFill>
            <a:prstDash val="solid"/>
          </a:ln>
        </p:spPr>
      </p:sp>
      <p:sp>
        <p:nvSpPr>
          <p:cNvPr id="5" name="Shape 3"/>
          <p:cNvSpPr/>
          <p:nvPr/>
        </p:nvSpPr>
        <p:spPr>
          <a:xfrm>
            <a:off x="877824" y="249688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49688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47859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《中华人民共和国律师法》第三十九条</a:t>
            </a:r>
            <a:endParaRPr lang="en-US" sz="1500" dirty="0"/>
          </a:p>
        </p:txBody>
      </p:sp>
      <p:sp>
        <p:nvSpPr>
          <p:cNvPr id="8" name="Text 6"/>
          <p:cNvSpPr/>
          <p:nvPr/>
        </p:nvSpPr>
        <p:spPr>
          <a:xfrm>
            <a:off x="960120" y="2899220"/>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律师不得在同一案件中为双方当事人担任代理人，不得代理与本人或者其近亲属有利益冲突的法律事务。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只规定了两种最核心的情形：同案双方代理（双向代理）、与本人或近亲属有利益冲突的事务。它是原则性规定，具体的类型化列举由行业规范完成。请注意“同一案件”这一限定——在实务中，什么算“同一案件”往往是争议焦点：关联案件、后续案件、同一交易衍生的多个纠纷，是否属于“同一案件”？答案需要借助行业规范与实质关联性标准来确定。</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10</a:t>
            </a:r>
            <a:endParaRPr lang="en-US" sz="1100" dirty="0"/>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name="Slide 3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行业规范层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《律师执业行为规范》的双层结构</a:t>
            </a:r>
            <a:endParaRPr lang="en-US" sz="2800" dirty="0"/>
          </a:p>
        </p:txBody>
      </p:sp>
      <p:sp>
        <p:nvSpPr>
          <p:cNvPr id="4" name="Shape 2"/>
          <p:cNvSpPr/>
          <p:nvPr/>
        </p:nvSpPr>
        <p:spPr>
          <a:xfrm>
            <a:off x="566928" y="1316736"/>
            <a:ext cx="11057839" cy="1234059"/>
          </a:xfrm>
          <a:prstGeom prst="roundRect">
            <a:avLst>
              <a:gd name="adj" fmla="val 741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《律师执业行为规范》第五十条（回避）</a:t>
            </a:r>
            <a:endParaRPr lang="en-US" sz="1500" dirty="0"/>
          </a:p>
        </p:txBody>
      </p:sp>
      <p:sp>
        <p:nvSpPr>
          <p:cNvPr id="8" name="Text 6"/>
          <p:cNvSpPr/>
          <p:nvPr/>
        </p:nvSpPr>
        <p:spPr>
          <a:xfrm>
            <a:off x="960120" y="1956816"/>
            <a:ext cx="10271455" cy="374523"/>
          </a:xfrm>
          <a:prstGeom prst="rect">
            <a:avLst/>
          </a:prstGeom>
          <a:noFill/>
          <a:ln/>
        </p:spPr>
        <p:txBody>
          <a:bodyPr wrap="square" lIns="0" tIns="0" rIns="0" bIns="0" rtlCol="0" anchor="t"/>
          <a:lstStyle/>
          <a:p>
            <a:pPr indent="0" marL="0">
              <a:lnSpc>
                <a:spcPts val="1575"/>
              </a:lnSpc>
              <a:buNone/>
            </a:pPr>
            <a:r>
              <a:rPr lang="en-US" sz="1050" dirty="0">
                <a:solidFill>
                  <a:srgbClr val="32404F"/>
                </a:solidFill>
                <a:latin typeface="微软雅黑" pitchFamily="34" charset="0"/>
                <a:ea typeface="微软雅黑" pitchFamily="34" charset="-122"/>
                <a:cs typeface="微软雅黑" pitchFamily="34" charset="-120"/>
              </a:rPr>
              <a:t>办理委托事务的律师与委托人之间存在利害关系或者利益冲突的，不得承办该业务并应当主动提出回避。</a:t>
            </a:r>
            <a:endParaRPr lang="en-US" sz="1050" dirty="0"/>
          </a:p>
        </p:txBody>
      </p:sp>
      <p:sp>
        <p:nvSpPr>
          <p:cNvPr id="9" name="Shape 7"/>
          <p:cNvSpPr/>
          <p:nvPr/>
        </p:nvSpPr>
        <p:spPr>
          <a:xfrm>
            <a:off x="566928" y="2733675"/>
            <a:ext cx="11057839" cy="2034159"/>
          </a:xfrm>
          <a:prstGeom prst="roundRect">
            <a:avLst>
              <a:gd name="adj" fmla="val 4495"/>
            </a:avLst>
          </a:prstGeom>
          <a:solidFill>
            <a:srgbClr val="F6F1E8"/>
          </a:solidFill>
          <a:ln w="12700">
            <a:solidFill>
              <a:srgbClr val="F6F1E8"/>
            </a:solidFill>
            <a:prstDash val="solid"/>
          </a:ln>
        </p:spPr>
      </p:sp>
      <p:sp>
        <p:nvSpPr>
          <p:cNvPr id="10" name="Shape 8"/>
          <p:cNvSpPr/>
          <p:nvPr/>
        </p:nvSpPr>
        <p:spPr>
          <a:xfrm>
            <a:off x="877824" y="29714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9714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9531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《律师执业行为规范》第五十一条（绝对禁止，不得建立或者继续保持委托关系）</a:t>
            </a:r>
            <a:endParaRPr lang="en-US" sz="1500" dirty="0"/>
          </a:p>
        </p:txBody>
      </p:sp>
      <p:sp>
        <p:nvSpPr>
          <p:cNvPr id="13" name="Text 11"/>
          <p:cNvSpPr/>
          <p:nvPr/>
        </p:nvSpPr>
        <p:spPr>
          <a:xfrm>
            <a:off x="960120" y="3373755"/>
            <a:ext cx="10271455" cy="1174623"/>
          </a:xfrm>
          <a:prstGeom prst="rect">
            <a:avLst/>
          </a:prstGeom>
          <a:noFill/>
          <a:ln/>
        </p:spPr>
        <p:txBody>
          <a:bodyPr wrap="square" lIns="0" tIns="0" rIns="0" bIns="0" rtlCol="0" anchor="t"/>
          <a:lstStyle/>
          <a:p>
            <a:pPr indent="0" marL="0">
              <a:lnSpc>
                <a:spcPts val="1575"/>
              </a:lnSpc>
              <a:buNone/>
            </a:pPr>
            <a:r>
              <a:rPr lang="en-US" sz="1050" dirty="0">
                <a:solidFill>
                  <a:srgbClr val="32404F"/>
                </a:solidFill>
                <a:latin typeface="微软雅黑" pitchFamily="34" charset="0"/>
                <a:ea typeface="微软雅黑" pitchFamily="34" charset="-122"/>
                <a:cs typeface="微软雅黑" pitchFamily="34" charset="-120"/>
              </a:rPr>
              <a:t>（一）律师在同一案件中为双方当事人担任代理人，或者代理与本人或者其近亲属有利益冲突的法律事务的；</a:t>
            </a:r>
            <a:endParaRPr lang="en-US" sz="1050" dirty="0"/>
          </a:p>
          <a:p>
            <a:pPr indent="0" marL="0">
              <a:lnSpc>
                <a:spcPts val="1575"/>
              </a:lnSpc>
              <a:buNone/>
            </a:pPr>
            <a:r>
              <a:rPr lang="en-US" sz="1050" dirty="0">
                <a:solidFill>
                  <a:srgbClr val="32404F"/>
                </a:solidFill>
                <a:latin typeface="微软雅黑" pitchFamily="34" charset="0"/>
                <a:ea typeface="微软雅黑" pitchFamily="34" charset="-122"/>
                <a:cs typeface="微软雅黑" pitchFamily="34" charset="-120"/>
              </a:rPr>
              <a:t>（二）律师办理诉讼或者非诉讼业务，其近亲属是对方当事人的法定代表人或者代理人的；</a:t>
            </a:r>
            <a:endParaRPr lang="en-US" sz="1050" dirty="0"/>
          </a:p>
          <a:p>
            <a:pPr indent="0" marL="0">
              <a:lnSpc>
                <a:spcPts val="1575"/>
              </a:lnSpc>
              <a:buNone/>
            </a:pPr>
            <a:r>
              <a:rPr lang="en-US" sz="1050" dirty="0">
                <a:solidFill>
                  <a:srgbClr val="32404F"/>
                </a:solidFill>
                <a:latin typeface="微软雅黑" pitchFamily="34" charset="0"/>
                <a:ea typeface="微软雅黑" pitchFamily="34" charset="-122"/>
                <a:cs typeface="微软雅黑" pitchFamily="34" charset="-120"/>
              </a:rPr>
              <a:t>（三）曾经亲自处理或者审理过某一事项或者案件的行政机关工作人员、审判人员、检察人员、仲裁员，成为律师后又办理该事项或者案件的；</a:t>
            </a:r>
            <a:endParaRPr lang="en-US" sz="1050" dirty="0"/>
          </a:p>
          <a:p>
            <a:pPr indent="0" marL="0">
              <a:lnSpc>
                <a:spcPts val="1575"/>
              </a:lnSpc>
              <a:buNone/>
            </a:pPr>
            <a:r>
              <a:rPr lang="en-US" sz="1050" dirty="0">
                <a:solidFill>
                  <a:srgbClr val="32404F"/>
                </a:solidFill>
                <a:latin typeface="微软雅黑" pitchFamily="34" charset="0"/>
                <a:ea typeface="微软雅黑" pitchFamily="34" charset="-122"/>
                <a:cs typeface="微软雅黑" pitchFamily="34" charset="-120"/>
              </a:rPr>
              <a:t>（四）同一律师事务所的不同律师同时在同一刑事案件中担任被害人的代理人和犯罪嫌疑人、被告人的辩护人的（县域内仅有一家律师事务所且当事人事先同意的除外）；</a:t>
            </a:r>
            <a:endParaRPr lang="en-US" sz="1050" dirty="0"/>
          </a:p>
          <a:p>
            <a:pPr indent="0" marL="0">
              <a:lnSpc>
                <a:spcPts val="1575"/>
              </a:lnSpc>
              <a:buNone/>
            </a:pPr>
            <a:r>
              <a:rPr lang="en-US" sz="1050" dirty="0">
                <a:solidFill>
                  <a:srgbClr val="32404F"/>
                </a:solidFill>
                <a:latin typeface="微软雅黑" pitchFamily="34" charset="0"/>
                <a:ea typeface="微软雅黑" pitchFamily="34" charset="-122"/>
                <a:cs typeface="微软雅黑" pitchFamily="34" charset="-120"/>
              </a:rPr>
              <a:t>（五）同一律师事务所的不同律师同时担任民事诉讼、行政诉讼或者仲裁案件双方当事人的代理人的。</a:t>
            </a:r>
            <a:endParaRPr lang="en-US" sz="10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五十一条属于绝对禁止情形——不得建立，已建立的必须终止，且原则上不因当事人同意而正当化（第四项的县域独家例外除外）。与之相对，第五十二条规定了一类相对禁止情形：律师应当告知委托人并主动提出回避，但委托人同意继续代理的除外。绝对禁止与相对禁止的分野，是我国冲突规则最重要的结构，第18课时将详细展开。</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11</a:t>
            </a:r>
            <a:endParaRPr lang="en-US" sz="1100" dirty="0"/>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name="Slide 38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类型一：同时代理型冲突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最典型、最刚性、最不容妥协的一类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12</a:t>
            </a:r>
            <a:endParaRPr lang="en-US" sz="1100" dirty="0"/>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name="Slide 3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同时代理型冲突的具体形态</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一、同案双方代理（双向代理）</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在同一案件中同时为原告与被告、控方与辩方担任代理人。这是最严重的形态，为《律师法》第三十九条明文禁止，且构成《律师法》第四十七条规定的应予行政处罚的行为。请注意：即使双方均同意，亦不得为之。</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二、同所不同律师代理双方</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冲突的判断单位是“所”而不是“人”。同一律所的不同律师同时代理民事、行政或者仲裁案件的双方当事人，或者在同一刑事案件中分别担任被害人代理人与被告人辩护人，均属禁止（后者有县域独家例外）。</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三、关联案件中的对立</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两个案件形式上不同，但事实基础、法律争点或者交易背景实质关联，且代理一方将实质性损害另一方的，同样构成冲突。判断的关键是“实质关联性”，而非案号是否相同。</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四、共同委托人之间的内部冲突</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多名当事人共同委托同一律师，其后出现相互推诿、责任分担、和解意愿不一致等实质分歧的。此时律师原则上应当退出全部委托，不得保留其中一方——因为已经知悉另一方的保密信息。</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13</a:t>
            </a:r>
            <a:endParaRPr lang="en-US" sz="1100" dirty="0"/>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name="Slide 3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什么算“同一案件”</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类型辨析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实质关联性的四种情境</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情境一：律师为甲公司代理与乙公司的买卖合同纠纷。诉讼期间，乙公司请求该律师代理其与丙公司的另一起完全无关的劳动争议。</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情境二：律师为甲公司出具了某项股权转让的法律意见书。半年后，受让方丁公司因该次股权转让起诉甲公司，请求该律师代理丁公司。</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情境三：律师同时代理某交通事故中的车主与驾驶员。此后保险公司主张驾驶员系无证驾驶，车主与驾驶员之间就赔偿责任产生分歧。</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情境四：律所A的北京总所代理甲公司，上海分所在完全不知情的情况下接受了乙公司针对甲公司的委托。</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四种情境是否构成利益冲突？</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情境一为何通常不构成？边界在哪里？</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情境三应当如何处理？可否保留一方？</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情境四中“不知情”能否成为抗辩理由？</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14</a:t>
            </a:r>
            <a:endParaRPr lang="en-US" sz="1100" dirty="0"/>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name="Slide 38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627757"/>
            <a:ext cx="8726119" cy="109728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类型二至四：前后委托、自身利益、第三人影响</a:t>
            </a:r>
            <a:endParaRPr lang="en-US" sz="3600" dirty="0"/>
          </a:p>
        </p:txBody>
      </p:sp>
      <p:sp>
        <p:nvSpPr>
          <p:cNvPr id="5" name="Text 3"/>
          <p:cNvSpPr/>
          <p:nvPr/>
        </p:nvSpPr>
        <p:spPr>
          <a:xfrm>
            <a:off x="2916936" y="390791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比同时代理更隐蔽，也更容易被忽略</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15</a:t>
            </a:r>
            <a:endParaRPr lang="en-US" sz="1100" dirty="0"/>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name="Slide 3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类型二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前后委托型冲突（继续性冲突）</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基本规则</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律师不得就同一事项或者与之实质相关的事项，接受与前委托人利益相冲突的新委托。委托关系虽已终止，因该关系产生的保密义务与忠诚残余仍然存续。</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判断核心：是否知悉相关保密信息</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关键不在于时间间隔长短，而在于律师是否因前次代理而知悉了对现在这个案件具有实质意义的保密信息。若前次代理仅涉及无关事务且未获知敏感信息，通常不构成冲突。</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“实质相关”的判断要素</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两次事务是否基于同一交易或者同一事实基础；是否涉及同一法律关系或者同一争议焦点；前次知悉的信息是否可能在本次中被使用；一个理性的前委托人是否会合理地感到被背叛。</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16</a:t>
            </a:r>
            <a:endParaRPr lang="en-US" sz="1100" dirty="0"/>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name="Slide 3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类型三与类型四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自身利益型与第三人影响型冲突</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类型三：律师自身利益型</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与委托人存在借贷、买卖、投资、股权安排；律师或近亲属与案件结果有经济利害关系；律师在对方当事人处任职、持股或者担任顾问；律师的近亲属是对方当事人的法定代表人或者代理人（《律师执业行为规范》第五十一条第二项明文禁止）。</a:t>
            </a:r>
            <a:endParaRPr lang="en-US" sz="1500" dirty="0"/>
          </a:p>
        </p:txBody>
      </p:sp>
      <p:sp>
        <p:nvSpPr>
          <p:cNvPr id="9" name="Shape 6"/>
          <p:cNvSpPr/>
          <p:nvPr/>
        </p:nvSpPr>
        <p:spPr>
          <a:xfrm>
            <a:off x="566928" y="3146171"/>
            <a:ext cx="11057839" cy="1406906"/>
          </a:xfrm>
          <a:prstGeom prst="roundRect">
            <a:avLst>
              <a:gd name="adj" fmla="val 519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类型四：第三人影响型</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方付费者试图影响代理策略；律师担任常年法律顾问的其他单位与本案委托人存在利益对立；介绍人、合作方对案件处理有自身诉求；律师的其他社会职务（如担任某协会理事、政府法律顾问）与本案立场相冲突。</a:t>
            </a:r>
            <a:endParaRPr lang="en-US" sz="1500" dirty="0"/>
          </a:p>
        </p:txBody>
      </p:sp>
      <p:sp>
        <p:nvSpPr>
          <p:cNvPr id="14" name="Shape 10"/>
          <p:cNvSpPr/>
          <p:nvPr/>
        </p:nvSpPr>
        <p:spPr>
          <a:xfrm>
            <a:off x="566928" y="4699381"/>
            <a:ext cx="11057839" cy="1683131"/>
          </a:xfrm>
          <a:prstGeom prst="roundRect">
            <a:avLst>
              <a:gd name="adj" fmla="val 4346"/>
            </a:avLst>
          </a:prstGeom>
          <a:solidFill>
            <a:srgbClr val="F2F4F8"/>
          </a:solidFill>
          <a:ln w="12700">
            <a:solidFill>
              <a:srgbClr val="F2F4F8"/>
            </a:solidFill>
            <a:prstDash val="solid"/>
          </a:ln>
        </p:spPr>
      </p:sp>
      <p:sp>
        <p:nvSpPr>
          <p:cNvPr id="15" name="Shape 11"/>
          <p:cNvSpPr/>
          <p:nvPr/>
        </p:nvSpPr>
        <p:spPr>
          <a:xfrm>
            <a:off x="841248" y="528491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38534"/>
            <a:ext cx="204826" cy="204826"/>
          </a:xfrm>
          <a:prstGeom prst="rect">
            <a:avLst/>
          </a:prstGeom>
        </p:spPr>
      </p:pic>
      <p:sp>
        <p:nvSpPr>
          <p:cNvPr id="17" name="Text 12"/>
          <p:cNvSpPr/>
          <p:nvPr/>
        </p:nvSpPr>
        <p:spPr>
          <a:xfrm>
            <a:off x="1536192" y="4955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特殊情形：曾任公职人员的冲突</a:t>
            </a:r>
            <a:endParaRPr lang="en-US" sz="1650" dirty="0"/>
          </a:p>
        </p:txBody>
      </p:sp>
      <p:sp>
        <p:nvSpPr>
          <p:cNvPr id="18" name="Text 13"/>
          <p:cNvSpPr/>
          <p:nvPr/>
        </p:nvSpPr>
        <p:spPr>
          <a:xfrm>
            <a:off x="1536192" y="529729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执业行为规范》第五十一条第三项：曾经亲自处理或者审理过某一事项或者案件的行政机关工作人员、审判人员、检察人员、仲裁员，成为律师后又办理该事项或者案件的，属绝对禁止。这与《法官法》第三十六条、《检察官法》第三十七条的离任回避共同构成“旋转门”的防线。</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17</a:t>
            </a:r>
            <a:endParaRPr lang="en-US" sz="1100" dirty="0"/>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name="Slide 38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判断标准与操作路径</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把类型学转化为可执行的判断步骤</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18</a:t>
            </a:r>
            <a:endParaRPr lang="en-US" sz="1100" dirty="0"/>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name="Slide 3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判断路径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利益冲突审查的五步法</a:t>
            </a:r>
            <a:endParaRPr lang="en-US" sz="2800" dirty="0"/>
          </a:p>
        </p:txBody>
      </p:sp>
      <p:sp>
        <p:nvSpPr>
          <p:cNvPr id="4" name="Shape 2"/>
          <p:cNvSpPr/>
          <p:nvPr/>
        </p:nvSpPr>
        <p:spPr>
          <a:xfrm>
            <a:off x="566928" y="1853946"/>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第一步：识别全部相关主体</a:t>
            </a:r>
            <a:endParaRPr lang="en-US" sz="1500" dirty="0"/>
          </a:p>
        </p:txBody>
      </p:sp>
      <p:sp>
        <p:nvSpPr>
          <p:cNvPr id="8" name="Text 6"/>
          <p:cNvSpPr/>
          <p:nvPr/>
        </p:nvSpPr>
        <p:spPr>
          <a:xfrm>
            <a:off x="1444752" y="229895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本案委托人、对方当事人、第三人、关联公司、实际控制人、担保人、共同被告；以及本所曾经服务过的与上述主体相关的客户。名称检索之外，还要注意关联关系检索。</a:t>
            </a:r>
            <a:endParaRPr lang="en-US" sz="1350" dirty="0"/>
          </a:p>
        </p:txBody>
      </p:sp>
      <p:sp>
        <p:nvSpPr>
          <p:cNvPr id="9" name="Shape 7"/>
          <p:cNvSpPr/>
          <p:nvPr/>
        </p:nvSpPr>
        <p:spPr>
          <a:xfrm>
            <a:off x="566928" y="3309938"/>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74532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第二步：检索本所全部业务记录</a:t>
            </a:r>
            <a:endParaRPr lang="en-US" sz="1500" dirty="0"/>
          </a:p>
        </p:txBody>
      </p:sp>
      <p:sp>
        <p:nvSpPr>
          <p:cNvPr id="13" name="Text 11"/>
          <p:cNvSpPr/>
          <p:nvPr/>
        </p:nvSpPr>
        <p:spPr>
          <a:xfrm>
            <a:off x="1444752" y="375494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以“所”为单位（含分所、联营所）检索现有与历史客户；未成案的实质性咨询同样纳入检索范围。检索结果应当留存书面记录。</a:t>
            </a:r>
            <a:endParaRPr lang="en-US" sz="1350" dirty="0"/>
          </a:p>
        </p:txBody>
      </p:sp>
      <p:sp>
        <p:nvSpPr>
          <p:cNvPr id="14" name="Shape 12"/>
          <p:cNvSpPr/>
          <p:nvPr/>
        </p:nvSpPr>
        <p:spPr>
          <a:xfrm>
            <a:off x="566928" y="4765929"/>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507701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90308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第三步：判断是否存在实质关联</a:t>
            </a:r>
            <a:endParaRPr lang="en-US" sz="1500" dirty="0"/>
          </a:p>
        </p:txBody>
      </p:sp>
      <p:sp>
        <p:nvSpPr>
          <p:cNvPr id="18" name="Text 16"/>
          <p:cNvSpPr/>
          <p:nvPr/>
        </p:nvSpPr>
        <p:spPr>
          <a:xfrm>
            <a:off x="1444752" y="521093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两项事务是否基于同一交易或事实基础？是否涉及同一法律关系或争议焦点？前次知悉的信息是否可能被使用？</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第四步：定性——绝对禁止还是相对禁止</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落入《律师执业行为规范》第五十一条列举情形的，属绝对禁止，不得接受；属于第五十二条情形的，须履行告知义务并取得委托人同意后方可继续。</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第五步：作出处理并留痕</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不接受、附条件接受（告知+同意+隔离）、或者退出既有委托。无论结论如何，审查过程与结论均应当书面记录并归档，由律所指定部门复核。</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19</a:t>
            </a:r>
            <a:endParaRPr lang="en-US" sz="1100" dirty="0"/>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name="Slide 3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实务提示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四条容易被忽略的实务规则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冲突审查失败的原因，往往不是不懂规则，而是流程上的疏漏。</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第一，审查必须前置。 应当在正式接受委托之前完成，而不是签完合同、收完钱之后才想起来检索。事后发现冲突而退出，损害的是双方。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第二，检索单位是“所”而非“人”。 你个人从未接触过对方当事人，不等于本所没有。这正是《律师法》第二十五条要求“由律师事务所统一接受委托”的深层理由。</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第三，动态审查。 冲突可能在代理过程中产生——追加当事人、客户被并购、共同委托人内部分歧。应当在案件重大节点重新审查。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第四，咨询也要登记。 未成案的实质性咨询同样产生保密义务与冲突审查义务。请把每一次深度咨询登记进系统。</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一句话：冲突审查不是一次性动作，而是贯穿委托关系全程的持续义务。</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20</a:t>
            </a:r>
            <a:endParaRPr lang="en-US" sz="1100" dirty="0"/>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name="Slide 3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377696"/>
          </a:xfrm>
          <a:prstGeom prst="roundRect">
            <a:avLst>
              <a:gd name="adj" fmla="val 5973"/>
            </a:avLst>
          </a:prstGeom>
          <a:solidFill>
            <a:srgbClr val="ECF3F2"/>
          </a:solidFill>
          <a:ln w="12700">
            <a:solidFill>
              <a:srgbClr val="ECF3F2"/>
            </a:solidFill>
            <a:prstDash val="solid"/>
          </a:ln>
        </p:spPr>
      </p:sp>
      <p:sp>
        <p:nvSpPr>
          <p:cNvPr id="5" name="Shape 3"/>
          <p:cNvSpPr/>
          <p:nvPr/>
        </p:nvSpPr>
        <p:spPr>
          <a:xfrm>
            <a:off x="859536" y="177698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769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4838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三十九条禁止“在同一案件中为双方当事人担任代理人”。请论证：在非诉业务中（如为交易双方共同起草合同、为公司与其股东同时提供服务），“同一案件”应当如何理解？共同法律服务是否一概禁止？</a:t>
            </a:r>
            <a:endParaRPr lang="en-US" sz="1600" dirty="0"/>
          </a:p>
        </p:txBody>
      </p:sp>
      <p:sp>
        <p:nvSpPr>
          <p:cNvPr id="8" name="Shape 6"/>
          <p:cNvSpPr/>
          <p:nvPr/>
        </p:nvSpPr>
        <p:spPr>
          <a:xfrm>
            <a:off x="566928" y="2840736"/>
            <a:ext cx="11057839" cy="1083056"/>
          </a:xfrm>
          <a:prstGeom prst="roundRect">
            <a:avLst>
              <a:gd name="adj" fmla="val 7598"/>
            </a:avLst>
          </a:prstGeom>
          <a:solidFill>
            <a:srgbClr val="ECF3F2"/>
          </a:solidFill>
          <a:ln w="12700">
            <a:solidFill>
              <a:srgbClr val="ECF3F2"/>
            </a:solidFill>
            <a:prstDash val="solid"/>
          </a:ln>
        </p:spPr>
      </p:sp>
      <p:sp>
        <p:nvSpPr>
          <p:cNvPr id="9" name="Shape 7"/>
          <p:cNvSpPr/>
          <p:nvPr/>
        </p:nvSpPr>
        <p:spPr>
          <a:xfrm>
            <a:off x="859536" y="315366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536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7746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利益冲突规则以“风险”而非“实际损害”为规制对象。有人认为这过于严苛，使律师丧失大量业务机会。请从委托人信赖与举证难度两个角度回应这一批评。</a:t>
            </a:r>
            <a:endParaRPr lang="en-US" sz="1600" dirty="0"/>
          </a:p>
        </p:txBody>
      </p:sp>
      <p:sp>
        <p:nvSpPr>
          <p:cNvPr id="12" name="Shape 10"/>
          <p:cNvSpPr/>
          <p:nvPr/>
        </p:nvSpPr>
        <p:spPr>
          <a:xfrm>
            <a:off x="566928" y="4070096"/>
            <a:ext cx="11057839" cy="1083056"/>
          </a:xfrm>
          <a:prstGeom prst="roundRect">
            <a:avLst>
              <a:gd name="adj" fmla="val 7598"/>
            </a:avLst>
          </a:prstGeom>
          <a:solidFill>
            <a:srgbClr val="ECF3F2"/>
          </a:solidFill>
          <a:ln w="12700">
            <a:solidFill>
              <a:srgbClr val="ECF3F2"/>
            </a:solidFill>
            <a:prstDash val="solid"/>
          </a:ln>
        </p:spPr>
      </p:sp>
      <p:sp>
        <p:nvSpPr>
          <p:cNvPr id="13" name="Shape 11"/>
          <p:cNvSpPr/>
          <p:nvPr/>
        </p:nvSpPr>
        <p:spPr>
          <a:xfrm>
            <a:off x="859536" y="43830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83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0682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甲律师曾为A公司提供三年常年法律顾问服务，服务内容主要为劳动合同审查。顾问关系终止两年后，B公司就一起与A公司的专利侵权纠纷委托甲律师。是否构成前后委托型冲突？请运用“实质相关”的判断要素分析。</a:t>
            </a:r>
            <a:endParaRPr lang="en-US" sz="1600" dirty="0"/>
          </a:p>
        </p:txBody>
      </p:sp>
      <p:sp>
        <p:nvSpPr>
          <p:cNvPr id="16" name="Shape 14"/>
          <p:cNvSpPr/>
          <p:nvPr/>
        </p:nvSpPr>
        <p:spPr>
          <a:xfrm>
            <a:off x="566928" y="5299456"/>
            <a:ext cx="11057839" cy="1083056"/>
          </a:xfrm>
          <a:prstGeom prst="roundRect">
            <a:avLst>
              <a:gd name="adj" fmla="val 7598"/>
            </a:avLst>
          </a:prstGeom>
          <a:solidFill>
            <a:srgbClr val="ECF3F2"/>
          </a:solidFill>
          <a:ln w="12700">
            <a:solidFill>
              <a:srgbClr val="ECF3F2"/>
            </a:solidFill>
            <a:prstDash val="solid"/>
          </a:ln>
        </p:spPr>
      </p:sp>
      <p:sp>
        <p:nvSpPr>
          <p:cNvPr id="17" name="Shape 15"/>
          <p:cNvSpPr/>
          <p:nvPr/>
        </p:nvSpPr>
        <p:spPr>
          <a:xfrm>
            <a:off x="859536" y="561238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123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3618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《律师执业行为规范》第五十一条第四项为“县域内仅有一家律师事务所”设置了例外。这一例外的正当性基础是什么？它揭示了冲突规则背后的什么考量？</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21</a:t>
            </a:r>
            <a:endParaRPr lang="en-US" sz="1100" dirty="0"/>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name="Slide 392">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第17课时要点回顾</a:t>
            </a:r>
            <a:endParaRPr lang="en-US" sz="3000" dirty="0"/>
          </a:p>
        </p:txBody>
      </p:sp>
      <p:sp>
        <p:nvSpPr>
          <p:cNvPr id="4" name="Shape 2"/>
          <p:cNvSpPr/>
          <p:nvPr/>
        </p:nvSpPr>
        <p:spPr>
          <a:xfrm>
            <a:off x="566928" y="1591056"/>
            <a:ext cx="11057839" cy="761005"/>
          </a:xfrm>
          <a:prstGeom prst="roundRect">
            <a:avLst>
              <a:gd name="adj" fmla="val 9613"/>
            </a:avLst>
          </a:prstGeom>
          <a:solidFill>
            <a:srgbClr val="25395F"/>
          </a:solidFill>
          <a:ln w="12700">
            <a:solidFill>
              <a:srgbClr val="25395F"/>
            </a:solidFill>
            <a:prstDash val="solid"/>
          </a:ln>
        </p:spPr>
      </p:sp>
      <p:sp>
        <p:nvSpPr>
          <p:cNvPr id="5" name="Shape 3"/>
          <p:cNvSpPr/>
          <p:nvPr/>
        </p:nvSpPr>
        <p:spPr>
          <a:xfrm>
            <a:off x="859536" y="177039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91091"/>
            <a:ext cx="160934" cy="160934"/>
          </a:xfrm>
          <a:prstGeom prst="rect">
            <a:avLst/>
          </a:prstGeom>
        </p:spPr>
      </p:pic>
      <p:sp>
        <p:nvSpPr>
          <p:cNvPr id="7" name="Text 4"/>
          <p:cNvSpPr/>
          <p:nvPr/>
        </p:nvSpPr>
        <p:spPr>
          <a:xfrm>
            <a:off x="1444752" y="173343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利益冲突是指律师对某一委托人的忠诚义务因存在其他利益而面临被实质削弱的风险；三要素为：存在忠诚义务、存在竞争利益、该利益足以产生实质影响的风险。规制对象是风险而非实际损害。</a:t>
            </a:r>
            <a:endParaRPr lang="en-US" sz="1250" dirty="0"/>
          </a:p>
        </p:txBody>
      </p:sp>
      <p:sp>
        <p:nvSpPr>
          <p:cNvPr id="8" name="Shape 5"/>
          <p:cNvSpPr/>
          <p:nvPr/>
        </p:nvSpPr>
        <p:spPr>
          <a:xfrm>
            <a:off x="566928" y="2489221"/>
            <a:ext cx="11057839" cy="761005"/>
          </a:xfrm>
          <a:prstGeom prst="roundRect">
            <a:avLst>
              <a:gd name="adj" fmla="val 9613"/>
            </a:avLst>
          </a:prstGeom>
          <a:solidFill>
            <a:srgbClr val="25395F"/>
          </a:solidFill>
          <a:ln w="12700">
            <a:solidFill>
              <a:srgbClr val="25395F"/>
            </a:solidFill>
            <a:prstDash val="solid"/>
          </a:ln>
        </p:spPr>
      </p:sp>
      <p:sp>
        <p:nvSpPr>
          <p:cNvPr id="9" name="Shape 6"/>
          <p:cNvSpPr/>
          <p:nvPr/>
        </p:nvSpPr>
        <p:spPr>
          <a:xfrm>
            <a:off x="859536" y="2668556"/>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89257"/>
            <a:ext cx="160934" cy="160934"/>
          </a:xfrm>
          <a:prstGeom prst="rect">
            <a:avLst/>
          </a:prstGeom>
        </p:spPr>
      </p:pic>
      <p:sp>
        <p:nvSpPr>
          <p:cNvPr id="11" name="Text 7"/>
          <p:cNvSpPr/>
          <p:nvPr/>
        </p:nvSpPr>
        <p:spPr>
          <a:xfrm>
            <a:off x="1444752" y="2631599"/>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法理支点有二：忠诚义务（一心不能二用，无法通过“更努力”克服，只能退出）与保密义务（信息不能反向使用，且说明处境本身即泄密，故同意难以充分知情）。</a:t>
            </a:r>
            <a:endParaRPr lang="en-US" sz="1250" dirty="0"/>
          </a:p>
        </p:txBody>
      </p:sp>
      <p:sp>
        <p:nvSpPr>
          <p:cNvPr id="12" name="Shape 8"/>
          <p:cNvSpPr/>
          <p:nvPr/>
        </p:nvSpPr>
        <p:spPr>
          <a:xfrm>
            <a:off x="566928" y="3387386"/>
            <a:ext cx="11057839" cy="761005"/>
          </a:xfrm>
          <a:prstGeom prst="roundRect">
            <a:avLst>
              <a:gd name="adj" fmla="val 9613"/>
            </a:avLst>
          </a:prstGeom>
          <a:solidFill>
            <a:srgbClr val="25395F"/>
          </a:solidFill>
          <a:ln w="12700">
            <a:solidFill>
              <a:srgbClr val="25395F"/>
            </a:solidFill>
            <a:prstDash val="solid"/>
          </a:ln>
        </p:spPr>
      </p:sp>
      <p:sp>
        <p:nvSpPr>
          <p:cNvPr id="13" name="Shape 9"/>
          <p:cNvSpPr/>
          <p:nvPr/>
        </p:nvSpPr>
        <p:spPr>
          <a:xfrm>
            <a:off x="859536" y="3566721"/>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87422"/>
            <a:ext cx="160934" cy="160934"/>
          </a:xfrm>
          <a:prstGeom prst="rect">
            <a:avLst/>
          </a:prstGeom>
        </p:spPr>
      </p:pic>
      <p:sp>
        <p:nvSpPr>
          <p:cNvPr id="15" name="Text 10"/>
          <p:cNvSpPr/>
          <p:nvPr/>
        </p:nvSpPr>
        <p:spPr>
          <a:xfrm>
            <a:off x="1444752" y="352976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规范体系：《律师法》第三十九条为原则性禁止；《律师执业行为规范》第五十条规定回避，第五十一条列举绝对禁止情形，第五十二条规定可经告知与同意豁免的相对禁止情形。</a:t>
            </a:r>
            <a:endParaRPr lang="en-US" sz="1250" dirty="0"/>
          </a:p>
        </p:txBody>
      </p:sp>
      <p:sp>
        <p:nvSpPr>
          <p:cNvPr id="16" name="Shape 11"/>
          <p:cNvSpPr/>
          <p:nvPr/>
        </p:nvSpPr>
        <p:spPr>
          <a:xfrm>
            <a:off x="566928" y="4285552"/>
            <a:ext cx="11057839" cy="530818"/>
          </a:xfrm>
          <a:prstGeom prst="roundRect">
            <a:avLst>
              <a:gd name="adj" fmla="val 13781"/>
            </a:avLst>
          </a:prstGeom>
          <a:solidFill>
            <a:srgbClr val="25395F"/>
          </a:solidFill>
          <a:ln w="12700">
            <a:solidFill>
              <a:srgbClr val="25395F"/>
            </a:solidFill>
            <a:prstDash val="solid"/>
          </a:ln>
        </p:spPr>
      </p:sp>
      <p:sp>
        <p:nvSpPr>
          <p:cNvPr id="17" name="Shape 12"/>
          <p:cNvSpPr/>
          <p:nvPr/>
        </p:nvSpPr>
        <p:spPr>
          <a:xfrm>
            <a:off x="859536" y="4367848"/>
            <a:ext cx="366226" cy="36622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69404" y="4477715"/>
            <a:ext cx="146490" cy="146490"/>
          </a:xfrm>
          <a:prstGeom prst="rect">
            <a:avLst/>
          </a:prstGeom>
        </p:spPr>
      </p:pic>
      <p:sp>
        <p:nvSpPr>
          <p:cNvPr id="19" name="Text 13"/>
          <p:cNvSpPr/>
          <p:nvPr/>
        </p:nvSpPr>
        <p:spPr>
          <a:xfrm>
            <a:off x="1444752" y="443189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四大类型：同时代理型（同案双方、同所不同律师、关联案件、共同委托人内部冲突）、前后委托型、律师自身利益型、第三人影响型。</a:t>
            </a:r>
            <a:endParaRPr lang="en-US" sz="1250" dirty="0"/>
          </a:p>
        </p:txBody>
      </p:sp>
      <p:sp>
        <p:nvSpPr>
          <p:cNvPr id="20" name="Shape 14"/>
          <p:cNvSpPr/>
          <p:nvPr/>
        </p:nvSpPr>
        <p:spPr>
          <a:xfrm>
            <a:off x="566928" y="4953529"/>
            <a:ext cx="11057839" cy="530818"/>
          </a:xfrm>
          <a:prstGeom prst="roundRect">
            <a:avLst>
              <a:gd name="adj" fmla="val 13781"/>
            </a:avLst>
          </a:prstGeom>
          <a:solidFill>
            <a:srgbClr val="25395F"/>
          </a:solidFill>
          <a:ln w="12700">
            <a:solidFill>
              <a:srgbClr val="25395F"/>
            </a:solidFill>
            <a:prstDash val="solid"/>
          </a:ln>
        </p:spPr>
      </p:sp>
      <p:sp>
        <p:nvSpPr>
          <p:cNvPr id="21" name="Shape 15"/>
          <p:cNvSpPr/>
          <p:nvPr/>
        </p:nvSpPr>
        <p:spPr>
          <a:xfrm>
            <a:off x="859536" y="5035825"/>
            <a:ext cx="366226" cy="36622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69404" y="5145693"/>
            <a:ext cx="146490" cy="146490"/>
          </a:xfrm>
          <a:prstGeom prst="rect">
            <a:avLst/>
          </a:prstGeom>
        </p:spPr>
      </p:pic>
      <p:sp>
        <p:nvSpPr>
          <p:cNvPr id="23" name="Text 16"/>
          <p:cNvSpPr/>
          <p:nvPr/>
        </p:nvSpPr>
        <p:spPr>
          <a:xfrm>
            <a:off x="1444752" y="50998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冲突的判断单位是“所”而非“人”；前后委托型冲突的判断核心是“是否知悉对本案具有实质意义的保密信息”，而非时间间隔。</a:t>
            </a:r>
            <a:endParaRPr lang="en-US" sz="1250" dirty="0"/>
          </a:p>
        </p:txBody>
      </p:sp>
      <p:sp>
        <p:nvSpPr>
          <p:cNvPr id="24" name="Shape 17"/>
          <p:cNvSpPr/>
          <p:nvPr/>
        </p:nvSpPr>
        <p:spPr>
          <a:xfrm>
            <a:off x="566928" y="5621507"/>
            <a:ext cx="11057839" cy="761005"/>
          </a:xfrm>
          <a:prstGeom prst="roundRect">
            <a:avLst>
              <a:gd name="adj" fmla="val 9613"/>
            </a:avLst>
          </a:prstGeom>
          <a:solidFill>
            <a:srgbClr val="25395F"/>
          </a:solidFill>
          <a:ln w="12700">
            <a:solidFill>
              <a:srgbClr val="25395F"/>
            </a:solidFill>
            <a:prstDash val="solid"/>
          </a:ln>
        </p:spPr>
      </p:sp>
      <p:sp>
        <p:nvSpPr>
          <p:cNvPr id="25" name="Shape 18"/>
          <p:cNvSpPr/>
          <p:nvPr/>
        </p:nvSpPr>
        <p:spPr>
          <a:xfrm>
            <a:off x="859536" y="580084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1542"/>
            <a:ext cx="160934" cy="160934"/>
          </a:xfrm>
          <a:prstGeom prst="rect">
            <a:avLst/>
          </a:prstGeom>
        </p:spPr>
      </p:pic>
      <p:sp>
        <p:nvSpPr>
          <p:cNvPr id="27" name="Text 19"/>
          <p:cNvSpPr/>
          <p:nvPr/>
        </p:nvSpPr>
        <p:spPr>
          <a:xfrm>
            <a:off x="1444752" y="576388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审查五步法：识别主体 → 检索本所全部业务 → 判断实质关联 → 定性（绝对/相对禁止）→ 处理并留痕。四条实务规则：审查前置、以所为单位、动态审查、咨询登记。</a:t>
            </a:r>
            <a:endParaRPr lang="en-US" sz="1250" dirty="0"/>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name="Slide 393">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第18课时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利益冲突（二）：特殊情形、冲突审查与豁免</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哪些冲突可以经同意化解？哪些无论如何都不行？发现之后又该如何收场？</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绝对禁止与相对禁止：可豁免性的分界线</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归入规则与信息隔离墙</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律所合并、律师流动与特殊主体的冲突</a:t>
            </a:r>
            <a:endParaRPr lang="en-US" sz="1400" dirty="0"/>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name="Slide 3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从豁免到收场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一、可豁免性的分界线：为什么有些冲突不能同意</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二、告知与同意的有效要件</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三、归入规则与信息隔离墙</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四、特殊场景：合并、流动、分所与特殊主体</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五、发现冲突后的处理规则</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六、律所冲突审查制度的建设</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02</a:t>
            </a:r>
            <a:endParaRPr lang="en-US" sz="1100" dirty="0"/>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name="Slide 39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可豁免性的分界线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当事人的同意能化解一部分冲突，但不能化解全部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03</a:t>
            </a:r>
            <a:endParaRPr lang="en-US" sz="1100" dirty="0"/>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name="Slide 3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两类冲突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绝对禁止与相对禁止</a:t>
            </a:r>
            <a:endParaRPr lang="en-US" sz="2800" dirty="0"/>
          </a:p>
        </p:txBody>
      </p:sp>
      <p:sp>
        <p:nvSpPr>
          <p:cNvPr id="4" name="Shape 2"/>
          <p:cNvSpPr/>
          <p:nvPr/>
        </p:nvSpPr>
        <p:spPr>
          <a:xfrm>
            <a:off x="566928" y="1749108"/>
            <a:ext cx="5410048" cy="4201033"/>
          </a:xfrm>
          <a:prstGeom prst="roundRect">
            <a:avLst>
              <a:gd name="adj" fmla="val 2177"/>
            </a:avLst>
          </a:prstGeom>
          <a:solidFill>
            <a:srgbClr val="F2F4F8"/>
          </a:solidFill>
          <a:ln w="12700">
            <a:solidFill>
              <a:srgbClr val="F2F4F8"/>
            </a:solidFill>
            <a:prstDash val="solid"/>
          </a:ln>
        </p:spPr>
      </p:sp>
      <p:sp>
        <p:nvSpPr>
          <p:cNvPr id="5" name="Shape 3"/>
          <p:cNvSpPr/>
          <p:nvPr/>
        </p:nvSpPr>
        <p:spPr>
          <a:xfrm>
            <a:off x="841248" y="20051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绝对禁止（第五十一条）：同意亦不可</a:t>
            </a:r>
            <a:endParaRPr lang="en-US" sz="1600" dirty="0"/>
          </a:p>
        </p:txBody>
      </p:sp>
      <p:sp>
        <p:nvSpPr>
          <p:cNvPr id="7" name="Text 5"/>
          <p:cNvSpPr/>
          <p:nvPr/>
        </p:nvSpPr>
        <p:spPr>
          <a:xfrm>
            <a:off x="932688"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同一案件中为双方当事人担任代理人；代理与本人或近亲属有利益冲突的事务。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近亲属是对方当事人的法定代表人或者代理人。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曾亲自处理或审理该事项的公职人员，成为律师后办理该事项。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同所不同律师在同一刑事案件中分任被害人代理人与被告人辩护人（县域独家且事先同意者除外）。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同所不同律师同时担任民诉、行诉或仲裁双方当事人的代理人。</a:t>
            </a:r>
            <a:endParaRPr lang="en-US" sz="1450" dirty="0"/>
          </a:p>
        </p:txBody>
      </p:sp>
      <p:sp>
        <p:nvSpPr>
          <p:cNvPr id="8" name="Shape 6"/>
          <p:cNvSpPr/>
          <p:nvPr/>
        </p:nvSpPr>
        <p:spPr>
          <a:xfrm>
            <a:off x="6214720" y="1749108"/>
            <a:ext cx="5410048" cy="4201033"/>
          </a:xfrm>
          <a:prstGeom prst="roundRect">
            <a:avLst>
              <a:gd name="adj" fmla="val 2177"/>
            </a:avLst>
          </a:prstGeom>
          <a:solidFill>
            <a:srgbClr val="F6F1E8"/>
          </a:solidFill>
          <a:ln w="12700">
            <a:solidFill>
              <a:srgbClr val="F6F1E8"/>
            </a:solidFill>
            <a:prstDash val="solid"/>
          </a:ln>
        </p:spPr>
      </p:sp>
      <p:sp>
        <p:nvSpPr>
          <p:cNvPr id="9" name="Shape 7"/>
          <p:cNvSpPr/>
          <p:nvPr/>
        </p:nvSpPr>
        <p:spPr>
          <a:xfrm>
            <a:off x="6489040" y="20051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相对禁止（第五十二条）：告知+同意可继续</a:t>
            </a:r>
            <a:endParaRPr lang="en-US" sz="1600" dirty="0"/>
          </a:p>
        </p:txBody>
      </p:sp>
      <p:sp>
        <p:nvSpPr>
          <p:cNvPr id="11" name="Text 9"/>
          <p:cNvSpPr/>
          <p:nvPr/>
        </p:nvSpPr>
        <p:spPr>
          <a:xfrm>
            <a:off x="6580480"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应当告知委托人并主动提出回避，但委托人同意委托或者同意继续办理的除外。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典型如：接受民事诉讼或仲裁一方当事人的委托，而同所另一律师是对方当事人的近亲属。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典型如：担任刑事案件辩护人，而同所另一律师是被害人的近亲属。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共同点：冲突主要损害的是特定当事人的个人利益，而非制度本身，故当事人有权处分。</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04</a:t>
            </a:r>
            <a:endParaRPr lang="en-US" sz="1100" dirty="0"/>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name="Slide 3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原理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为什么有些冲突不能通过同意化解</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分界线不在冲突的“严重程度”，而在于“受损的是谁的利益”。</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第一，凡损害制度本身的，不可豁免。 双向代理动摇的是对抗制的结构——即使双方都同意，法庭也无从获得真正的对抗性检验。当事人无权处分制度利益。</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第二，凡同意不可能充分知情的，不可豁免。 要让委托人真正理解冲突的严重性，往往需要披露另一方的保密信息；而披露本身即违规。同意的前提无法成就，同意即无效。</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第三，凡涉及公职廉洁性的，不可豁免。 曾亲自办理该事项的公职人员转任律师后办理同一事项，损害的是公众对公权力的信赖，与当事人是否同意无关。</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第四，凡当事人处于结构性弱势的，慎用豁免。 刑事被追诉人、消费者、劳动者在与律师的关系中议价能力薄弱，其“同意”的自愿性存疑，应当从严把握。</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一句话：当事人可以放弃自己的利益，不能放弃别人的利益，更不能放弃制度的利益。</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05</a:t>
            </a:r>
            <a:endParaRPr lang="en-US" sz="1100" dirty="0"/>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name="Slide 39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告知与同意的有效要件</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一份无效的同意书，比没有同意书更危险</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06</a:t>
            </a:r>
            <a:endParaRPr lang="en-US" sz="1100" dirty="0"/>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name="Slide 3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五要件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有效同意的五项要件</a:t>
            </a:r>
            <a:endParaRPr lang="en-US" sz="2800" dirty="0"/>
          </a:p>
        </p:txBody>
      </p:sp>
      <p:sp>
        <p:nvSpPr>
          <p:cNvPr id="4" name="Shape 2"/>
          <p:cNvSpPr/>
          <p:nvPr/>
        </p:nvSpPr>
        <p:spPr>
          <a:xfrm>
            <a:off x="566928" y="1853946"/>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一、充分披露（informed）</a:t>
            </a:r>
            <a:endParaRPr lang="en-US" sz="1500" dirty="0"/>
          </a:p>
        </p:txBody>
      </p:sp>
      <p:sp>
        <p:nvSpPr>
          <p:cNvPr id="8" name="Text 6"/>
          <p:cNvSpPr/>
          <p:nvPr/>
        </p:nvSpPr>
        <p:spPr>
          <a:xfrm>
            <a:off x="1444752" y="229895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必须说明冲突的具体性质、可能对本人产生的不利影响、以及可以选择另行委托其他律师。仅说“存在潜在冲突，请签字确认”不构成充分披露。</a:t>
            </a:r>
            <a:endParaRPr lang="en-US" sz="1350" dirty="0"/>
          </a:p>
        </p:txBody>
      </p:sp>
      <p:sp>
        <p:nvSpPr>
          <p:cNvPr id="9" name="Shape 7"/>
          <p:cNvSpPr/>
          <p:nvPr/>
        </p:nvSpPr>
        <p:spPr>
          <a:xfrm>
            <a:off x="566928" y="3309938"/>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二、书面形式（written）</a:t>
            </a:r>
            <a:endParaRPr lang="en-US" sz="1500" dirty="0"/>
          </a:p>
        </p:txBody>
      </p:sp>
      <p:sp>
        <p:nvSpPr>
          <p:cNvPr id="13" name="Text 11"/>
          <p:cNvSpPr/>
          <p:nvPr/>
        </p:nvSpPr>
        <p:spPr>
          <a:xfrm>
            <a:off x="1444752" y="375494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披露内容与同意意思均应当书面化，由委托人签署并归档。口头同意在争议中几乎无法证明，等同于没有同意。</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三、具体特定（specific）</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针对具体的冲突情形、具体的相对方、具体的事项。委托合同中概括性的“委托人同意律所可能存在的一切利益冲突”条款，不产生豁免效力。</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四、自愿作出（voluntary）</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不得以拒绝提供服务、拖延办理或者其他不利后果相要挟；不得在委托人已支付大额费用、更换律师成本极高时才提出，使其实际上别无选择。</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五、律师的合理确信（reasonable belief）</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即使当事人同意，律师仍须自行判断：在该冲突之下，本人能否对各方均提供称职、勤勉的代理？若答案为否，即使有同意也不得接受。同意不能替代律师的独立判断。</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07</a:t>
            </a:r>
            <a:endParaRPr lang="en-US" sz="1100" dirty="0"/>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name="Slide 4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规范依据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《律师执业行为规范》第五十二条的结构</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《律师执业行为规范》第五十二条（相对禁止情形的处理）</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存在下列情形之一的，律师应当告知委托人，并主动提出回避；但委托人同意委托或者同意继续办理的除外：</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——接受民事诉讼、仲裁案件一方当事人的委托，而同一律师事务所的其他律师是对方当事人的近亲属的；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——在刑事案件中担任犯罪嫌疑人、被告人的辩护人，而同一律师事务所的其他律师是被害人的近亲属的；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——以及其他可能影响独立、公正履行职责的情形。</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请注意条文的规范结构：“应当告知 + 主动提出回避”是原则，“委托人同意”是例外。也就是说：律师不能因为觉得“当事人大概不介意”就不告知，告知是强制性的第一步；只有在告知之后，当事人明确表示同意，才可以继续办理。另请注意：告知义务针对的是本方委托人，而不是对方当事人。</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08</a:t>
            </a:r>
            <a:endParaRPr lang="en-US" sz="1100" dirty="0"/>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name="Slide 40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归入规则与信息隔离墙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一人冲突，全所冲突——这个规则能不能被打破？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09</a:t>
            </a:r>
            <a:endParaRPr lang="en-US" sz="1100" dirty="0"/>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name="Slide 4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归入规则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为什么冲突要“归入”整个律所</a:t>
            </a:r>
            <a:endParaRPr lang="en-US" sz="2800" dirty="0"/>
          </a:p>
        </p:txBody>
      </p:sp>
      <p:sp>
        <p:nvSpPr>
          <p:cNvPr id="4" name="Shape 2"/>
          <p:cNvSpPr/>
          <p:nvPr/>
        </p:nvSpPr>
        <p:spPr>
          <a:xfrm>
            <a:off x="566928" y="1316736"/>
            <a:ext cx="11057839" cy="1221169"/>
          </a:xfrm>
          <a:prstGeom prst="roundRect">
            <a:avLst>
              <a:gd name="adj" fmla="val 5990"/>
            </a:avLst>
          </a:prstGeom>
          <a:solidFill>
            <a:srgbClr val="F2F4F8"/>
          </a:solidFill>
          <a:ln w="12700">
            <a:solidFill>
              <a:srgbClr val="F2F4F8"/>
            </a:solidFill>
            <a:prstDash val="solid"/>
          </a:ln>
        </p:spPr>
      </p:sp>
      <p:sp>
        <p:nvSpPr>
          <p:cNvPr id="5" name="Shape 3"/>
          <p:cNvSpPr/>
          <p:nvPr/>
        </p:nvSpPr>
        <p:spPr>
          <a:xfrm>
            <a:off x="841248" y="1671288"/>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4907"/>
            <a:ext cx="204826" cy="204826"/>
          </a:xfrm>
          <a:prstGeom prst="rect">
            <a:avLst/>
          </a:prstGeom>
        </p:spPr>
      </p:pic>
      <p:sp>
        <p:nvSpPr>
          <p:cNvPr id="7" name="Text 4"/>
          <p:cNvSpPr/>
          <p:nvPr/>
        </p:nvSpPr>
        <p:spPr>
          <a:xfrm>
            <a:off x="1536192" y="1502886"/>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规则内容</a:t>
            </a:r>
            <a:endParaRPr lang="en-US" sz="1600" dirty="0"/>
          </a:p>
        </p:txBody>
      </p:sp>
      <p:sp>
        <p:nvSpPr>
          <p:cNvPr id="8" name="Text 5"/>
          <p:cNvSpPr/>
          <p:nvPr/>
        </p:nvSpPr>
        <p:spPr>
          <a:xfrm>
            <a:off x="1536192" y="1836134"/>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一名律师存在的利益冲突，原则上归属于其所在的整个律师事务所，同所其他律师亦不得承办。《律师执业行为规范》第五十一条第四、五项即为归入规则的明文体现。</a:t>
            </a:r>
            <a:endParaRPr lang="en-US" sz="1400" dirty="0"/>
          </a:p>
        </p:txBody>
      </p:sp>
      <p:sp>
        <p:nvSpPr>
          <p:cNvPr id="9" name="Shape 6"/>
          <p:cNvSpPr/>
          <p:nvPr/>
        </p:nvSpPr>
        <p:spPr>
          <a:xfrm>
            <a:off x="566928" y="2684209"/>
            <a:ext cx="11057839" cy="1221169"/>
          </a:xfrm>
          <a:prstGeom prst="roundRect">
            <a:avLst>
              <a:gd name="adj" fmla="val 5990"/>
            </a:avLst>
          </a:prstGeom>
          <a:solidFill>
            <a:srgbClr val="FFFFFF"/>
          </a:solidFill>
          <a:ln w="12700">
            <a:solidFill>
              <a:srgbClr val="D5DBE5"/>
            </a:solidFill>
            <a:prstDash val="solid"/>
          </a:ln>
        </p:spPr>
      </p:sp>
      <p:sp>
        <p:nvSpPr>
          <p:cNvPr id="10" name="Shape 7"/>
          <p:cNvSpPr/>
          <p:nvPr/>
        </p:nvSpPr>
        <p:spPr>
          <a:xfrm>
            <a:off x="841248" y="303876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92380"/>
            <a:ext cx="204826" cy="204826"/>
          </a:xfrm>
          <a:prstGeom prst="rect">
            <a:avLst/>
          </a:prstGeom>
        </p:spPr>
      </p:pic>
      <p:sp>
        <p:nvSpPr>
          <p:cNvPr id="12" name="Text 8"/>
          <p:cNvSpPr/>
          <p:nvPr/>
        </p:nvSpPr>
        <p:spPr>
          <a:xfrm>
            <a:off x="1536192" y="2870359"/>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理由一：信息在律所内部自然流动</a:t>
            </a:r>
            <a:endParaRPr lang="en-US" sz="1600" dirty="0"/>
          </a:p>
        </p:txBody>
      </p:sp>
      <p:sp>
        <p:nvSpPr>
          <p:cNvPr id="13" name="Text 9"/>
          <p:cNvSpPr/>
          <p:nvPr/>
        </p:nvSpPr>
        <p:spPr>
          <a:xfrm>
            <a:off x="1536192" y="3203607"/>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同事之间讨论案件、共享数据库、使用同一套档案系统是常态。要求同所律师之间完全不交流某个案件，在多数律所的实际运作中难以做到。</a:t>
            </a:r>
            <a:endParaRPr lang="en-US" sz="1400" dirty="0"/>
          </a:p>
        </p:txBody>
      </p:sp>
      <p:sp>
        <p:nvSpPr>
          <p:cNvPr id="14" name="Shape 10"/>
          <p:cNvSpPr/>
          <p:nvPr/>
        </p:nvSpPr>
        <p:spPr>
          <a:xfrm>
            <a:off x="566928" y="4051681"/>
            <a:ext cx="11057839" cy="963359"/>
          </a:xfrm>
          <a:prstGeom prst="roundRect">
            <a:avLst>
              <a:gd name="adj" fmla="val 7593"/>
            </a:avLst>
          </a:prstGeom>
          <a:solidFill>
            <a:srgbClr val="F2F4F8"/>
          </a:solidFill>
          <a:ln w="12700">
            <a:solidFill>
              <a:srgbClr val="F2F4F8"/>
            </a:solidFill>
            <a:prstDash val="solid"/>
          </a:ln>
        </p:spPr>
      </p:sp>
      <p:sp>
        <p:nvSpPr>
          <p:cNvPr id="15" name="Shape 11"/>
          <p:cNvSpPr/>
          <p:nvPr/>
        </p:nvSpPr>
        <p:spPr>
          <a:xfrm>
            <a:off x="841248" y="4277328"/>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30947"/>
            <a:ext cx="204826" cy="204826"/>
          </a:xfrm>
          <a:prstGeom prst="rect">
            <a:avLst/>
          </a:prstGeom>
        </p:spPr>
      </p:pic>
      <p:sp>
        <p:nvSpPr>
          <p:cNvPr id="17" name="Text 12"/>
          <p:cNvSpPr/>
          <p:nvPr/>
        </p:nvSpPr>
        <p:spPr>
          <a:xfrm>
            <a:off x="1536192" y="4237831"/>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理由二：经济利益的共同性</a:t>
            </a:r>
            <a:endParaRPr lang="en-US" sz="1600" dirty="0"/>
          </a:p>
        </p:txBody>
      </p:sp>
      <p:sp>
        <p:nvSpPr>
          <p:cNvPr id="18" name="Text 13"/>
          <p:cNvSpPr/>
          <p:nvPr/>
        </p:nvSpPr>
        <p:spPr>
          <a:xfrm>
            <a:off x="1536192" y="4571079"/>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律所的收入与声誉是共同的。一方胜诉对律所整体有利，这种共同利益本身就构成对独立判断的潜在影响。</a:t>
            </a:r>
            <a:endParaRPr lang="en-US" sz="1400" dirty="0"/>
          </a:p>
        </p:txBody>
      </p:sp>
      <p:sp>
        <p:nvSpPr>
          <p:cNvPr id="19" name="Shape 14"/>
          <p:cNvSpPr/>
          <p:nvPr/>
        </p:nvSpPr>
        <p:spPr>
          <a:xfrm>
            <a:off x="566928" y="5161344"/>
            <a:ext cx="11057839" cy="1221169"/>
          </a:xfrm>
          <a:prstGeom prst="roundRect">
            <a:avLst>
              <a:gd name="adj" fmla="val 5990"/>
            </a:avLst>
          </a:prstGeom>
          <a:solidFill>
            <a:srgbClr val="FFFFFF"/>
          </a:solidFill>
          <a:ln w="12700">
            <a:solidFill>
              <a:srgbClr val="D5DBE5"/>
            </a:solidFill>
            <a:prstDash val="solid"/>
          </a:ln>
        </p:spPr>
      </p:sp>
      <p:sp>
        <p:nvSpPr>
          <p:cNvPr id="20" name="Shape 15"/>
          <p:cNvSpPr/>
          <p:nvPr/>
        </p:nvSpPr>
        <p:spPr>
          <a:xfrm>
            <a:off x="841248" y="5515896"/>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669515"/>
            <a:ext cx="204826" cy="204826"/>
          </a:xfrm>
          <a:prstGeom prst="rect">
            <a:avLst/>
          </a:prstGeom>
        </p:spPr>
      </p:pic>
      <p:sp>
        <p:nvSpPr>
          <p:cNvPr id="22" name="Text 16"/>
          <p:cNvSpPr/>
          <p:nvPr/>
        </p:nvSpPr>
        <p:spPr>
          <a:xfrm>
            <a:off x="1536192" y="5347494"/>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理由三：外观上难以取信</a:t>
            </a:r>
            <a:endParaRPr lang="en-US" sz="1600" dirty="0"/>
          </a:p>
        </p:txBody>
      </p:sp>
      <p:sp>
        <p:nvSpPr>
          <p:cNvPr id="23" name="Text 17"/>
          <p:cNvSpPr/>
          <p:nvPr/>
        </p:nvSpPr>
        <p:spPr>
          <a:xfrm>
            <a:off x="1536192" y="5680742"/>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当事人无法相信“同一家律所的两个人真的会拼命互相攻击”。即使实际上做到了，也无法消除合理怀疑——这又回到了外观标准。</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10</a:t>
            </a:r>
            <a:endParaRPr lang="en-US" sz="1100" dirty="0"/>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name="Slide 4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隔离墙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信息隔离墙：域外经验与我国态度</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域外的“隔离墙”（ethical screen）</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做法：将存在冲突的律师与承办团队物理与信息隔离——不参与讨论、不接触卷宗、系统权限屏蔽、书面承诺、及时通知前委托人。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效果：在部分法域，有效的隔离墙可以阻断归入，使律所其他律师得以承办。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典型适用场景：律师跳槽带来的冲突（因个人流动而使新所被“污染”）。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前提：律所须有可验证的合规制度与记录，且通常须及时书面通知受影响的前委托人。</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我国的谨慎态度</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现行行业规范对隔离墙未作普遍性的阻断规定，第五十一条的绝对禁止情形不因隔离而解除。</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部分地方律协规则（如上海市律师协会的利益冲突认定与处理规则）对特定情形的处理作了细化，实务中亦有律所建立内部隔离制度。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实务立场：隔离墙可以作为风险控制与自证勤勉的手段，但不宜作为突破绝对禁止的依据。</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建议路径：能不接受的坚决不接受；确需处理的，同时采取告知、同意、隔离三重措施，并完整留痕。</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11</a:t>
            </a:r>
            <a:endParaRPr lang="en-US" sz="1100" dirty="0"/>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name="Slide 40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特殊场景：合并、流动、分所与特殊主体</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现代律所的组织形态，让冲突问题变得越来越复杂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12</a:t>
            </a:r>
            <a:endParaRPr lang="en-US" sz="1100" dirty="0"/>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name="Slide 4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四种场景</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组织变动带来的冲突</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一、律所合并与分立</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合并后，两所原有的客户群合并计算，可能立刻产生大量新冲突。应当在合并的尽职调查阶段即进行冲突比对，制定处理方案（退出、告知同意、隔离），并在合并前与受影响的客户沟通。</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二、律师流动（跳槽）</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携带其在原所知悉的保密信息进入新所，可能使新所对其原所客户产生冲突。处理要点：以该律师本人是否实际知悉相关保密信息为核心判断；对确有信息的，采取隔离与限制访问；不得将原所客户信息带入新所使用。</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三、分所、联营与联盟</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分所与总所属同一法律主体，冲突当然归入。律师事务所之间的联营、联盟、网络成员所，是否归入需依其组织紧密程度、是否共享客户信息与收益分配而定；对外以统一品牌执业的，应当从严把握。</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四、公司律师、公职律师与法律顾问</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公司律师的委托人是所在企业，不得为其他主体提供与本企业相冲突的服务；公职律师服务于所在机关，应当避免与本机关职责相冲突的兼职；常年法律顾问单位众多的律师，须建立顾问单位清单并定期比对。</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13</a:t>
            </a:r>
            <a:endParaRPr lang="en-US" sz="1100" dirty="0"/>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name="Slide 4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跳槽带来的冲突</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实务难题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一名律师的两段职业经历</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张律师在A所工作期间，作为团队成员参与甲公司与乙公司的股权纠纷案，代理甲公司，接触了甲公司的全部内部文件与谈判底线。</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一年后张律师跳槽至B所。此时B所正在代理乙公司与甲公司的另一起关联纠纷——争议标的与前案基于同一次股权交易。张律师本人并未参与该案。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B所提出：张律师不参与该案，不接触卷宗，系统权限屏蔽，并签署书面承诺，可否继续代理乙公司？</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甲公司得知后提出异议，要求B所退出，理由是张律师掌握甲公司的核心信息。</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B所是否因张律师的加入而产生冲突？</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隔离措施能否阻断归入？我国规范的态度如何？</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若B所已代理该案两年、临近开庭，处理方案是否不同？</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张律师本人应当承担哪些义务？</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14</a:t>
            </a:r>
            <a:endParaRPr lang="en-US" sz="1100" dirty="0"/>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name="Slide 40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发现冲突后的处理规则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发现得早是幸运，发现得晚是考验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15</a:t>
            </a:r>
            <a:endParaRPr lang="en-US" sz="1100" dirty="0"/>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name="Slide 4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处理流程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发现冲突后的六个步骤</a:t>
            </a:r>
            <a:endParaRPr lang="en-US" sz="2800" dirty="0"/>
          </a:p>
        </p:txBody>
      </p:sp>
      <p:sp>
        <p:nvSpPr>
          <p:cNvPr id="4" name="Shape 2"/>
          <p:cNvSpPr/>
          <p:nvPr/>
        </p:nvSpPr>
        <p:spPr>
          <a:xfrm>
            <a:off x="566928" y="1853946"/>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第一步：立即停止相关工作</a:t>
            </a:r>
            <a:endParaRPr lang="en-US" sz="1500" dirty="0"/>
          </a:p>
        </p:txBody>
      </p:sp>
      <p:sp>
        <p:nvSpPr>
          <p:cNvPr id="8" name="Text 6"/>
          <p:cNvSpPr/>
          <p:nvPr/>
        </p:nvSpPr>
        <p:spPr>
          <a:xfrm>
            <a:off x="1444752" y="229895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暂停可能损害任一方利益的行为，特别是不得再接触、使用或者传递相关信息。</a:t>
            </a:r>
            <a:endParaRPr lang="en-US" sz="1350" dirty="0"/>
          </a:p>
        </p:txBody>
      </p:sp>
      <p:sp>
        <p:nvSpPr>
          <p:cNvPr id="9" name="Shape 7"/>
          <p:cNvSpPr/>
          <p:nvPr/>
        </p:nvSpPr>
        <p:spPr>
          <a:xfrm>
            <a:off x="566928" y="3061335"/>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19849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第二步：确定冲突类型与性质</a:t>
            </a:r>
            <a:endParaRPr lang="en-US" sz="1500" dirty="0"/>
          </a:p>
        </p:txBody>
      </p:sp>
      <p:sp>
        <p:nvSpPr>
          <p:cNvPr id="13" name="Text 11"/>
          <p:cNvSpPr/>
          <p:nvPr/>
        </p:nvSpPr>
        <p:spPr>
          <a:xfrm>
            <a:off x="1444752" y="350634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属绝对禁止还是相对禁止？涉及现委托人之间，还是现委托人与前委托人之间？据此确定是否存在同意豁免的空间。</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第三步：确定退出主体</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一般规则是“后接受者退出”；若两案均已深度进行，或者退出将严重损害某一方，可能需要双方均退出。判断标准是使损害最小化。</a:t>
            </a:r>
            <a:endParaRPr lang="en-US" sz="1350" dirty="0"/>
          </a:p>
        </p:txBody>
      </p:sp>
      <p:sp>
        <p:nvSpPr>
          <p:cNvPr id="19" name="Shape 17"/>
          <p:cNvSpPr/>
          <p:nvPr/>
        </p:nvSpPr>
        <p:spPr>
          <a:xfrm>
            <a:off x="6242152" y="1729645"/>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第四步：履行告知义务</a:t>
            </a:r>
            <a:endParaRPr lang="en-US" sz="1500" dirty="0"/>
          </a:p>
        </p:txBody>
      </p:sp>
      <p:sp>
        <p:nvSpPr>
          <p:cNvPr id="23" name="Text 21"/>
          <p:cNvSpPr/>
          <p:nvPr/>
        </p:nvSpPr>
        <p:spPr>
          <a:xfrm>
            <a:off x="7119976"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向受影响的委托人告知冲突的存在与处理方案。注意告知的限度——不得因此披露另一方的保密信息，通常只需说明“因利益冲突不能继续代理”。</a:t>
            </a:r>
            <a:endParaRPr lang="en-US" sz="1350" dirty="0"/>
          </a:p>
        </p:txBody>
      </p:sp>
      <p:sp>
        <p:nvSpPr>
          <p:cNvPr id="24" name="Shape 22"/>
          <p:cNvSpPr/>
          <p:nvPr/>
        </p:nvSpPr>
        <p:spPr>
          <a:xfrm>
            <a:off x="6242152" y="3185636"/>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第五步：妥善交接与费用结算</a:t>
            </a:r>
            <a:endParaRPr lang="en-US" sz="1500" dirty="0"/>
          </a:p>
        </p:txBody>
      </p:sp>
      <p:sp>
        <p:nvSpPr>
          <p:cNvPr id="28" name="Text 26"/>
          <p:cNvSpPr/>
          <p:nvPr/>
        </p:nvSpPr>
        <p:spPr>
          <a:xfrm>
            <a:off x="7119976"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移交材料、说明案件进展与紧迫期限、协助另行委托；依约结算费用。因律所过错导致退出的，通常应当退还相应费用并赔偿由此产生的额外损失。</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第六步：内部复盘与制度修补</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查明检索为何失效，修补制度漏洞，记录归档。冲突事故的价值在于暴露制度缺口，一次疏漏若不修补，必然重演。</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16</a:t>
            </a:r>
            <a:endParaRPr lang="en-US" sz="1100" dirty="0"/>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name="Slide 4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退出的限度</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退出时不得做的三件事</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退出本身也是执业行为，同样受伦理规范约束。</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第一，不得披露冲突的具体内容。 向甲说明“我们不能继续代理您了”是必要的；说明“因为乙来找我们了、乙的情况是这样的”则构成对乙的泄密。</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第二，不得选择性地损害一方。 不得为了保住大客户而在退出小客户时草率交接、拖延移交材料或者不予退费。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第三，不得利用已知悉的信息。 退出之后，因该委托关系知悉的一切信息仍受保密义务约束，且不得用于其后的任何案件。</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请记住第15课时的结论：委托关系结束了，义务并没有全部结束。</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17</a:t>
            </a:r>
            <a:endParaRPr lang="en-US" sz="1100" dirty="0"/>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name="Slide 41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律所冲突审查制度的建设</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把个人的谨慎，变成组织的能力</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18</a:t>
            </a:r>
            <a:endParaRPr lang="en-US" sz="1100" dirty="0"/>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name="Slide 4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制度要素</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一套可运行的冲突审查制度包含什么</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责任分工</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明确审查的责任部门与责任人（通常为风控部门或者指定合伙人）；明确承办律师的申报义务与风控部门的复核权限；重大或者疑难冲突提交管理委员会决定。</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检索数据库</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建立涵盖全所（含分所）现有客户、历史客户、对方当事人、关联方、以及实质性咨询记录的数据库；支持名称、统一社会信用代码、关联关系等多维检索；数据须及时更新。</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流程与节点</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接案前强制检索；重大节点（追加当事人、客户并购、案件合并）重新检索；每年对常年法律顾问单位清单进行更新比对。检索未通过的，不得立案建档、不得收费。</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记录与留痕</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检索请求、检索结果、判断意见、处理决定、告知与同意文件，全部归档保存。发生争议时，完整的审查记录是律所已尽管理义务的最有力证明。</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19</a:t>
            </a:r>
            <a:endParaRPr lang="en-US" sz="1100" dirty="0"/>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name="Slide 412">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冲突审查制度的价值，不在于它能拦下多少案子，而在于它把“要不要接这个案子”从一个人情判断，变成了一道制度程序。</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制度化的意义</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个人可以被说服、被为难、被利益打动；一道必须签字、必须留痕、必须复核的程序不会</a:t>
            </a:r>
            <a:endParaRPr lang="en-US" sz="1300" dirty="0"/>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name="Slide 4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009396"/>
          </a:xfrm>
          <a:prstGeom prst="roundRect">
            <a:avLst>
              <a:gd name="adj" fmla="val 8153"/>
            </a:avLst>
          </a:prstGeom>
          <a:solidFill>
            <a:srgbClr val="ECF3F2"/>
          </a:solidFill>
          <a:ln w="12700">
            <a:solidFill>
              <a:srgbClr val="ECF3F2"/>
            </a:solidFill>
            <a:prstDash val="solid"/>
          </a:ln>
        </p:spPr>
      </p:sp>
      <p:sp>
        <p:nvSpPr>
          <p:cNvPr id="5" name="Shape 3"/>
          <p:cNvSpPr/>
          <p:nvPr/>
        </p:nvSpPr>
        <p:spPr>
          <a:xfrm>
            <a:off x="859536" y="159283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5928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166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委托合同中约定“委托人同意本所及其分所可为其他客户提供服务，即使该服务与委托人存在潜在利益冲突”。这一预先概括同意条款是否有效？请从有效同意的五项要件逐一分析。</a:t>
            </a:r>
            <a:endParaRPr lang="en-US" sz="1600" dirty="0"/>
          </a:p>
        </p:txBody>
      </p:sp>
      <p:sp>
        <p:nvSpPr>
          <p:cNvPr id="8" name="Shape 6"/>
          <p:cNvSpPr/>
          <p:nvPr/>
        </p:nvSpPr>
        <p:spPr>
          <a:xfrm>
            <a:off x="566928" y="2472436"/>
            <a:ext cx="11057839" cy="1304036"/>
          </a:xfrm>
          <a:prstGeom prst="roundRect">
            <a:avLst>
              <a:gd name="adj" fmla="val 6311"/>
            </a:avLst>
          </a:prstGeom>
          <a:solidFill>
            <a:srgbClr val="ECF3F2"/>
          </a:solidFill>
          <a:ln w="12700">
            <a:solidFill>
              <a:srgbClr val="ECF3F2"/>
            </a:solidFill>
            <a:prstDash val="solid"/>
          </a:ln>
        </p:spPr>
      </p:sp>
      <p:sp>
        <p:nvSpPr>
          <p:cNvPr id="9" name="Shape 7"/>
          <p:cNvSpPr/>
          <p:nvPr/>
        </p:nvSpPr>
        <p:spPr>
          <a:xfrm>
            <a:off x="859536" y="289585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8958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66725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我国现行规范对信息隔离墙未作普遍性的阻断规定。有观点认为，在大型律所与律师频繁流动的今天，坚持严格的归入规则会造成大量业务无法承接，损害当事人选择律师的自由。你是否赞同引入隔离墙制度？请设计其适用条件与程序保障。</a:t>
            </a:r>
            <a:endParaRPr lang="en-US" sz="1600" dirty="0"/>
          </a:p>
        </p:txBody>
      </p:sp>
      <p:sp>
        <p:nvSpPr>
          <p:cNvPr id="12" name="Shape 10"/>
          <p:cNvSpPr/>
          <p:nvPr/>
        </p:nvSpPr>
        <p:spPr>
          <a:xfrm>
            <a:off x="566928" y="3922776"/>
            <a:ext cx="11057839" cy="1304036"/>
          </a:xfrm>
          <a:prstGeom prst="roundRect">
            <a:avLst>
              <a:gd name="adj" fmla="val 6311"/>
            </a:avLst>
          </a:prstGeom>
          <a:solidFill>
            <a:srgbClr val="ECF3F2"/>
          </a:solidFill>
          <a:ln w="12700">
            <a:solidFill>
              <a:srgbClr val="ECF3F2"/>
            </a:solidFill>
            <a:prstDash val="solid"/>
          </a:ln>
        </p:spPr>
      </p:sp>
      <p:sp>
        <p:nvSpPr>
          <p:cNvPr id="13" name="Shape 11"/>
          <p:cNvSpPr/>
          <p:nvPr/>
        </p:nvSpPr>
        <p:spPr>
          <a:xfrm>
            <a:off x="859536" y="434619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461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1759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所同时担任A、B两家公司的常年法律顾问。此后A、B之间发生合同纠纷，双方均要求该所代理。律所提出由两个完全独立的团队分别代理。这一方案是否可行？若不可行，律所应当如何处理与两家顾问单位的关系？</a:t>
            </a:r>
            <a:endParaRPr lang="en-US" sz="1600" dirty="0"/>
          </a:p>
        </p:txBody>
      </p:sp>
      <p:sp>
        <p:nvSpPr>
          <p:cNvPr id="16" name="Shape 14"/>
          <p:cNvSpPr/>
          <p:nvPr/>
        </p:nvSpPr>
        <p:spPr>
          <a:xfrm>
            <a:off x="566928" y="5373116"/>
            <a:ext cx="11057839" cy="1009396"/>
          </a:xfrm>
          <a:prstGeom prst="roundRect">
            <a:avLst>
              <a:gd name="adj" fmla="val 8153"/>
            </a:avLst>
          </a:prstGeom>
          <a:solidFill>
            <a:srgbClr val="ECF3F2"/>
          </a:solidFill>
          <a:ln w="12700">
            <a:solidFill>
              <a:srgbClr val="ECF3F2"/>
            </a:solidFill>
            <a:prstDash val="solid"/>
          </a:ln>
        </p:spPr>
      </p:sp>
      <p:sp>
        <p:nvSpPr>
          <p:cNvPr id="17" name="Shape 15"/>
          <p:cNvSpPr/>
          <p:nvPr/>
        </p:nvSpPr>
        <p:spPr>
          <a:xfrm>
            <a:off x="859536" y="564921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492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730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在非诉交易中，为节省成本，交易双方共同聘请一名律师起草合同。这种“共同法律服务”是否违反《律师法》第三十九条？如果允许，应当设置哪些条件？（提示：注意交易性事务与争讼性事务的区别）</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21</a:t>
            </a:r>
            <a:endParaRPr lang="en-US" sz="1100" dirty="0"/>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name="Slide 414">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第18课时要点回顾</a:t>
            </a:r>
            <a:endParaRPr lang="en-US" sz="3000" dirty="0"/>
          </a:p>
        </p:txBody>
      </p:sp>
      <p:sp>
        <p:nvSpPr>
          <p:cNvPr id="4" name="Shape 2"/>
          <p:cNvSpPr/>
          <p:nvPr/>
        </p:nvSpPr>
        <p:spPr>
          <a:xfrm>
            <a:off x="566928" y="1591056"/>
            <a:ext cx="11057839" cy="746167"/>
          </a:xfrm>
          <a:prstGeom prst="roundRect">
            <a:avLst>
              <a:gd name="adj" fmla="val 9804"/>
            </a:avLst>
          </a:prstGeom>
          <a:solidFill>
            <a:srgbClr val="25395F"/>
          </a:solidFill>
          <a:ln w="12700">
            <a:solidFill>
              <a:srgbClr val="25395F"/>
            </a:solidFill>
            <a:prstDash val="solid"/>
          </a:ln>
        </p:spPr>
      </p:sp>
      <p:sp>
        <p:nvSpPr>
          <p:cNvPr id="5" name="Shape 3"/>
          <p:cNvSpPr/>
          <p:nvPr/>
        </p:nvSpPr>
        <p:spPr>
          <a:xfrm>
            <a:off x="859536" y="1762972"/>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3672"/>
            <a:ext cx="160934" cy="160934"/>
          </a:xfrm>
          <a:prstGeom prst="rect">
            <a:avLst/>
          </a:prstGeom>
        </p:spPr>
      </p:pic>
      <p:sp>
        <p:nvSpPr>
          <p:cNvPr id="7" name="Text 4"/>
          <p:cNvSpPr/>
          <p:nvPr/>
        </p:nvSpPr>
        <p:spPr>
          <a:xfrm>
            <a:off x="1444752" y="1754590"/>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可豁免性的分界线不在冲突的严重程度，而在受损的是谁的利益：损害制度本身的、同意不可能充分知情的、涉及公职廉洁性的，不可豁免；当事人处于结构性弱势的，慎用豁免。</a:t>
            </a:r>
            <a:endParaRPr lang="en-US" sz="1100" dirty="0"/>
          </a:p>
        </p:txBody>
      </p:sp>
      <p:sp>
        <p:nvSpPr>
          <p:cNvPr id="8" name="Shape 5"/>
          <p:cNvSpPr/>
          <p:nvPr/>
        </p:nvSpPr>
        <p:spPr>
          <a:xfrm>
            <a:off x="566928" y="2474383"/>
            <a:ext cx="11057839" cy="560493"/>
          </a:xfrm>
          <a:prstGeom prst="roundRect">
            <a:avLst>
              <a:gd name="adj" fmla="val 13051"/>
            </a:avLst>
          </a:prstGeom>
          <a:solidFill>
            <a:srgbClr val="25395F"/>
          </a:solidFill>
          <a:ln w="12700">
            <a:solidFill>
              <a:srgbClr val="25395F"/>
            </a:solidFill>
            <a:prstDash val="solid"/>
          </a:ln>
        </p:spPr>
      </p:sp>
      <p:sp>
        <p:nvSpPr>
          <p:cNvPr id="9" name="Shape 6"/>
          <p:cNvSpPr/>
          <p:nvPr/>
        </p:nvSpPr>
        <p:spPr>
          <a:xfrm>
            <a:off x="859536" y="2556679"/>
            <a:ext cx="395901" cy="395901"/>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8306" y="2675450"/>
            <a:ext cx="158361" cy="158361"/>
          </a:xfrm>
          <a:prstGeom prst="rect">
            <a:avLst/>
          </a:prstGeom>
        </p:spPr>
      </p:pic>
      <p:sp>
        <p:nvSpPr>
          <p:cNvPr id="11" name="Text 7"/>
          <p:cNvSpPr/>
          <p:nvPr/>
        </p:nvSpPr>
        <p:spPr>
          <a:xfrm>
            <a:off x="1444752" y="2649855"/>
            <a:ext cx="9997135" cy="20955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有效同意的五项要件：充分披露、书面形式、具体特定、自愿作出、律师的合理确信。概括性的预先同意条款不产生豁免效力；同意不能替代律师的独立判断。</a:t>
            </a:r>
            <a:endParaRPr lang="en-US" sz="1100" dirty="0"/>
          </a:p>
        </p:txBody>
      </p:sp>
      <p:sp>
        <p:nvSpPr>
          <p:cNvPr id="12" name="Shape 8"/>
          <p:cNvSpPr/>
          <p:nvPr/>
        </p:nvSpPr>
        <p:spPr>
          <a:xfrm>
            <a:off x="566928" y="3172037"/>
            <a:ext cx="11057839" cy="560493"/>
          </a:xfrm>
          <a:prstGeom prst="roundRect">
            <a:avLst>
              <a:gd name="adj" fmla="val 13051"/>
            </a:avLst>
          </a:prstGeom>
          <a:solidFill>
            <a:srgbClr val="25395F"/>
          </a:solidFill>
          <a:ln w="12700">
            <a:solidFill>
              <a:srgbClr val="25395F"/>
            </a:solidFill>
            <a:prstDash val="solid"/>
          </a:ln>
        </p:spPr>
      </p:sp>
      <p:sp>
        <p:nvSpPr>
          <p:cNvPr id="13" name="Shape 9"/>
          <p:cNvSpPr/>
          <p:nvPr/>
        </p:nvSpPr>
        <p:spPr>
          <a:xfrm>
            <a:off x="859536" y="3254333"/>
            <a:ext cx="395901" cy="395901"/>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8306" y="3373103"/>
            <a:ext cx="158361" cy="158361"/>
          </a:xfrm>
          <a:prstGeom prst="rect">
            <a:avLst/>
          </a:prstGeom>
        </p:spPr>
      </p:pic>
      <p:sp>
        <p:nvSpPr>
          <p:cNvPr id="15" name="Text 10"/>
          <p:cNvSpPr/>
          <p:nvPr/>
        </p:nvSpPr>
        <p:spPr>
          <a:xfrm>
            <a:off x="1444752" y="3347508"/>
            <a:ext cx="9997135" cy="20955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《律师执业行为规范》第五十二条的结构是“应当告知+主动回避”为原则，“委托人同意”为例外；告知是强制性的第一步，不得以推测当事人不介意而省略。</a:t>
            </a:r>
            <a:endParaRPr lang="en-US" sz="1100" dirty="0"/>
          </a:p>
        </p:txBody>
      </p:sp>
      <p:sp>
        <p:nvSpPr>
          <p:cNvPr id="16" name="Shape 11"/>
          <p:cNvSpPr/>
          <p:nvPr/>
        </p:nvSpPr>
        <p:spPr>
          <a:xfrm>
            <a:off x="566928" y="3869690"/>
            <a:ext cx="11057839" cy="746167"/>
          </a:xfrm>
          <a:prstGeom prst="roundRect">
            <a:avLst>
              <a:gd name="adj" fmla="val 9804"/>
            </a:avLst>
          </a:prstGeom>
          <a:solidFill>
            <a:srgbClr val="25395F"/>
          </a:solidFill>
          <a:ln w="12700">
            <a:solidFill>
              <a:srgbClr val="25395F"/>
            </a:solidFill>
            <a:prstDash val="solid"/>
          </a:ln>
        </p:spPr>
      </p:sp>
      <p:sp>
        <p:nvSpPr>
          <p:cNvPr id="17" name="Shape 12"/>
          <p:cNvSpPr/>
          <p:nvPr/>
        </p:nvSpPr>
        <p:spPr>
          <a:xfrm>
            <a:off x="859536" y="4041606"/>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162306"/>
            <a:ext cx="160934" cy="160934"/>
          </a:xfrm>
          <a:prstGeom prst="rect">
            <a:avLst/>
          </a:prstGeom>
        </p:spPr>
      </p:pic>
      <p:sp>
        <p:nvSpPr>
          <p:cNvPr id="19" name="Text 13"/>
          <p:cNvSpPr/>
          <p:nvPr/>
        </p:nvSpPr>
        <p:spPr>
          <a:xfrm>
            <a:off x="1444752" y="4033224"/>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归入规则：一名律师的冲突归属于整个律所，理由为信息流动、经济利益共同与外观难以取信。域外的信息隔离墙在我国宜作为风险控制手段，不宜作为突破绝对禁止的依据。</a:t>
            </a:r>
            <a:endParaRPr lang="en-US" sz="1100" dirty="0"/>
          </a:p>
        </p:txBody>
      </p:sp>
      <p:sp>
        <p:nvSpPr>
          <p:cNvPr id="20" name="Shape 14"/>
          <p:cNvSpPr/>
          <p:nvPr/>
        </p:nvSpPr>
        <p:spPr>
          <a:xfrm>
            <a:off x="566928" y="4753017"/>
            <a:ext cx="11057839" cy="746167"/>
          </a:xfrm>
          <a:prstGeom prst="roundRect">
            <a:avLst>
              <a:gd name="adj" fmla="val 9804"/>
            </a:avLst>
          </a:prstGeom>
          <a:solidFill>
            <a:srgbClr val="25395F"/>
          </a:solidFill>
          <a:ln w="12700">
            <a:solidFill>
              <a:srgbClr val="25395F"/>
            </a:solidFill>
            <a:prstDash val="solid"/>
          </a:ln>
        </p:spPr>
      </p:sp>
      <p:sp>
        <p:nvSpPr>
          <p:cNvPr id="21" name="Shape 15"/>
          <p:cNvSpPr/>
          <p:nvPr/>
        </p:nvSpPr>
        <p:spPr>
          <a:xfrm>
            <a:off x="859536" y="4924933"/>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45634"/>
            <a:ext cx="160934" cy="160934"/>
          </a:xfrm>
          <a:prstGeom prst="rect">
            <a:avLst/>
          </a:prstGeom>
        </p:spPr>
      </p:pic>
      <p:sp>
        <p:nvSpPr>
          <p:cNvPr id="23" name="Text 16"/>
          <p:cNvSpPr/>
          <p:nvPr/>
        </p:nvSpPr>
        <p:spPr>
          <a:xfrm>
            <a:off x="1444752" y="4916551"/>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特殊场景：律所合并须在尽职调查阶段作冲突比对；律师流动以本人是否实际知悉保密信息为核心判断；分所当然归入，联营联盟依紧密程度判断；公司律师、公职律师与顾问单位众多者须建立清单定期比对。</a:t>
            </a:r>
            <a:endParaRPr lang="en-US" sz="1100" dirty="0"/>
          </a:p>
        </p:txBody>
      </p:sp>
      <p:sp>
        <p:nvSpPr>
          <p:cNvPr id="24" name="Shape 17"/>
          <p:cNvSpPr/>
          <p:nvPr/>
        </p:nvSpPr>
        <p:spPr>
          <a:xfrm>
            <a:off x="566928" y="5636345"/>
            <a:ext cx="11057839" cy="746167"/>
          </a:xfrm>
          <a:prstGeom prst="roundRect">
            <a:avLst>
              <a:gd name="adj" fmla="val 9804"/>
            </a:avLst>
          </a:prstGeom>
          <a:solidFill>
            <a:srgbClr val="25395F"/>
          </a:solidFill>
          <a:ln w="12700">
            <a:solidFill>
              <a:srgbClr val="25395F"/>
            </a:solidFill>
            <a:prstDash val="solid"/>
          </a:ln>
        </p:spPr>
      </p:sp>
      <p:sp>
        <p:nvSpPr>
          <p:cNvPr id="25" name="Shape 18"/>
          <p:cNvSpPr/>
          <p:nvPr/>
        </p:nvSpPr>
        <p:spPr>
          <a:xfrm>
            <a:off x="859536" y="5808260"/>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8961"/>
            <a:ext cx="160934" cy="160934"/>
          </a:xfrm>
          <a:prstGeom prst="rect">
            <a:avLst/>
          </a:prstGeom>
        </p:spPr>
      </p:pic>
      <p:sp>
        <p:nvSpPr>
          <p:cNvPr id="27" name="Text 19"/>
          <p:cNvSpPr/>
          <p:nvPr/>
        </p:nvSpPr>
        <p:spPr>
          <a:xfrm>
            <a:off x="1444752" y="5799878"/>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发现冲突后六步：停止工作 → 定性 → 确定退出主体（一般为后接受者，标准是损害最小化）→ 告知（有限度）→ 交接与结算 → 复盘修补。退出时不得披露冲突内容、不得选择性损害一方、不得利用已知信息。</a:t>
            </a:r>
            <a:endParaRPr lang="en-US" sz="1100" dirty="0"/>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name="Slide 415">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第19课时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律师服务收费与财物保管</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钱的问题看似最俗，却是律师被处分、被起诉、被追究刑事责任最集中的领域</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收费方式、政府指导价与风险代理的新规则</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禁止风险代理的四类案件与收费上限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代管财物：分账、不得挪用、及时交付</a:t>
            </a:r>
            <a:endParaRPr lang="en-US" sz="1400" dirty="0"/>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name="Slide 4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从收费到保管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一、律师收费的法律框架</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二、四种收费方式</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三、风险代理：范围与上限的新规则</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四、收费的伦理要求与常见违规</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五、代管财物与案款的规则</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02</a:t>
            </a:r>
            <a:endParaRPr lang="en-US" sz="1100" dirty="0"/>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name="Slide 41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律师收费的法律框架</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律师费不是纯粹的市场价格，它受制于一套公共规制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03</a:t>
            </a:r>
            <a:endParaRPr lang="en-US" sz="1100" dirty="0"/>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name="Slide 4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收费规制的三个层次</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法律层：《律师法》第二十五条</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律师承办业务，由律师事务所统一接受委托，与委托人签订书面委托合同，按照国家规定统一收取费用并如实入账。律师事务所和律师应当依法纳税。四项要求：统一接受委托、书面合同、统一收费、如实入账。</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规章层：《律师服务收费管理办法》（2006年）</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由国家发展改革委与司法部联合制定。确立了政府指导价与市场调节价并行的定价机制，规定了收费方式、收费程序、明码标价与监督管理，并对风险代理的适用范围与上限作了规定。</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政策层：《关于进一步规范律师服务收费的意见》（司发通〔2021〕87号）</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由司法部、国家发展改革委、国家市场监督管理总局联合印发。重申禁止风险代理的案件范围，并将风险代理收费上限由原来的合同标的额30%调整为分段累进、合计最高不超过18%。这是近年来最重要的收费规则变动。</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04</a:t>
            </a:r>
            <a:endParaRPr lang="en-US" sz="1100" dirty="0"/>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name="Slide 4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定价机制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政府指导价与市场调节价</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政府指导价</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适用范围：一般由各省、自治区、直辖市价格主管部门会同司法行政部门确定，通常覆盖与公民基本权益密切相关的部分诉讼业务。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典型如：涉及财产关系的民事诉讼、刑事案件辩护与代理、行政诉讼、国家赔偿等基础性诉讼服务。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效果：在政府规定的基准价与浮动幅度内协商确定，不得突破上限。</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目的：保障基本法律服务的可及性，防止过高收费损害公民诉权。</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市场调节价</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适用范围：政府指导价范围之外的法律服务。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典型如：非诉讼法律事务、常年法律顾问、公司并购、涉外业务、专项合规。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效果：由律师事务所与委托人协商确定，但仍须明码标价、书面约定、如实入账。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注意：市场调节价不等于可以随意收费——虚高收费、诱导收费、二次收费同样构成违规。</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05</a:t>
            </a:r>
            <a:endParaRPr lang="en-US" sz="1100" dirty="0"/>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name="Slide 42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四种收费方式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选择哪一种，本身就是一个伦理判断</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06</a:t>
            </a:r>
            <a:endParaRPr lang="en-US" sz="1100" dirty="0"/>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name="Slide 4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四种收费方式及其适用</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计件收费</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按案件件数收取固定费用。适用于争议标的额较小、工作量相对可预期的案件，以及不涉及财产关系的案件（如离婚、名誉权、刑事辩护）。优点是确定性强，委托人容易预期。</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按标的额比例收费</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按争议标的额分段累进计算。适用于涉及财产关系的民事案件。优点是与案件难度大致匹配；缺点是标的额与工作量并不总是正相关，须防止畸高。</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计时收费</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按实际工作小时数乘以小时费率计算。适用于非诉业务、常年顾问、复杂商事争议。要求律师如实记录工时并向委托人提供工时清单；虚报工时是严重的诚信违规。</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风险代理收费</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约定基础费用较低甚至为零，视办案结果按约定比例收取。适用于委托人一时无力支付、且案件有胜诉可能的财产类案件。受严格限制，详见下节。</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07</a:t>
            </a:r>
            <a:endParaRPr lang="en-US" sz="1100" dirty="0"/>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name="Slide 4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选择的伦理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收费方式的选择也受伦理约束</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律师在建议收费方式时，仍然负有忠实义务——不得为自身收益最大化而损害委托人利益。</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不得在明显可以简单计件的案件中，诱导委托人选择按标的额比例收费或者风险代理，以获取畸高报酬。</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不得在胜诉几乎确定的案件中采用高比例风险代理——此时“风险”是虚假的，实质是变相高收费。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采用计时收费的，应当事先说明预估工时区间与上限，避免委托人对总额毫无预期；工时清单应当可核查。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应当向委托人说明各种方式的利弊与大致费用区间，由其选择；重大差异应当书面提示。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判断标准仍是那个老问题：这个建议，我是为了委托人的利益提出的，还是为了自己的收入提出的？</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08</a:t>
            </a:r>
            <a:endParaRPr lang="en-US" sz="1100" dirty="0"/>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name="Slide 42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风险代理：范围与上限的新规则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2021年的调整，是近年来最重要的收费规则变动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09</a:t>
            </a:r>
            <a:endParaRPr lang="en-US" sz="1100" dirty="0"/>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name="Slide 4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禁止范围</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四类案件绝对禁止风险代理</a:t>
            </a:r>
            <a:endParaRPr lang="en-US" sz="2800" dirty="0"/>
          </a:p>
        </p:txBody>
      </p:sp>
      <p:sp>
        <p:nvSpPr>
          <p:cNvPr id="4" name="Shape 2"/>
          <p:cNvSpPr/>
          <p:nvPr/>
        </p:nvSpPr>
        <p:spPr>
          <a:xfrm>
            <a:off x="566928" y="1373315"/>
            <a:ext cx="11057839" cy="3337941"/>
          </a:xfrm>
          <a:prstGeom prst="roundRect">
            <a:avLst>
              <a:gd name="adj" fmla="val 2739"/>
            </a:avLst>
          </a:prstGeom>
          <a:solidFill>
            <a:srgbClr val="F6F1E8"/>
          </a:solidFill>
          <a:ln w="12700">
            <a:solidFill>
              <a:srgbClr val="F6F1E8"/>
            </a:solidFill>
            <a:prstDash val="solid"/>
          </a:ln>
        </p:spPr>
      </p:sp>
      <p:sp>
        <p:nvSpPr>
          <p:cNvPr id="5" name="Shape 3"/>
          <p:cNvSpPr/>
          <p:nvPr/>
        </p:nvSpPr>
        <p:spPr>
          <a:xfrm>
            <a:off x="877824" y="161105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61105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9277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《关于进一步规范律师服务收费的意见》（司发通〔2021〕87号）要旨</a:t>
            </a:r>
            <a:endParaRPr lang="en-US" sz="1500" dirty="0"/>
          </a:p>
        </p:txBody>
      </p:sp>
      <p:sp>
        <p:nvSpPr>
          <p:cNvPr id="8" name="Text 6"/>
          <p:cNvSpPr/>
          <p:nvPr/>
        </p:nvSpPr>
        <p:spPr>
          <a:xfrm>
            <a:off x="960120" y="2013395"/>
            <a:ext cx="10271455" cy="24784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下列案件绝对禁止实行风险代理收费：</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（一）刑事诉讼案件；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（二）行政诉讼案件；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（三）国家赔偿案件；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（四）群体性诉讼案件。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此外，依《律师服务收费管理办法》，办理请求给付赡养费、抚养费、扶养费、抚恤金、救济金、社会保险待遇或者最低生活保障待遇，以及请求支付劳动报酬等案件，不得实行风险代理收费。</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禁止的理由各不相同：刑事、行政、国家赔偿案件涉及公权力与人身自由，若与胜负挂钩，可能诱发违法取证、干扰司法；群体性案件涉及众多当事人，风险代理容易诱发恶意诉讼与不当动员；赡养费、劳动报酬等案件的当事人本就处于弱势，从其救命钱中抽成有违公平。请各位注意：这些禁止是绝对的，当事人同意也不能变通。</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10</a:t>
            </a:r>
            <a:endParaRPr lang="en-US" sz="1100" dirty="0"/>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name="Slide 4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收费上限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风险代理收费上限：由30%降至分段累进最高18%</a:t>
            </a:r>
            <a:endParaRPr lang="en-US" sz="2800" dirty="0"/>
          </a:p>
        </p:txBody>
      </p:sp>
      <p:graphicFrame>
        <p:nvGraphicFramePr>
          <p:cNvPr id="426" name="Table 0"/>
          <p:cNvGraphicFramePr>
            <a:graphicFrameLocks noGrp="1"/>
          </p:cNvGraphicFramePr>
          <p:nvPr>
            <p:extLst>
              <p:ext uri="{D42A27DB-BD31-4B8C-83A1-F6EECF244321}">
                <p14:modId xmlns:p14="http://schemas.microsoft.com/office/powerpoint/2010/main" val="1579011935"/>
              </p:ext>
            </p:extLst>
          </p:nvPr>
        </p:nvGraphicFramePr>
        <p:xfrm>
          <a:off x="566928" y="2319084"/>
          <a:ext cx="11057839" cy="914400"/>
        </p:xfrm>
        <a:graphic>
          <a:graphicData uri="http://schemas.openxmlformats.org/drawingml/2006/table">
            <a:tbl>
              <a:tblPr/>
              <a:tblGrid>
                <a:gridCol w="3291840"/>
                <a:gridCol w="2377440"/>
                <a:gridCol w="5394960"/>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标的额区间</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该部分最高比例</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说明</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不足 100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2006年办法规定统一上限为合同标的额的30%</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100 万元以上不足 500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15%</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2021年意见改为分段累进计算</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500 万元以上不足 1000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12%</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标的额越大，边际比例越低</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1000 万元以上不足 5000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9%</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防止大标的案件产生畸高律师费</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5000 万元以上的部分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6%</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律师服务费合计最高不得超过标的额的18%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087557"/>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说明：请以本地现行有效的收费规定与省级实施标准为准；各省可能在此框架内作进一步细化。</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11</a:t>
            </a:r>
            <a:endParaRPr lang="en-US" sz="1100" dirty="0"/>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name="Slide 4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风险代理的六项操作要求</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风险代理不是“不成功不收费”这么简单，它有一整套形式与实质要求。</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第一，必须单独签订风险代理收费合同，明确约定风险责任、收费方式、收费数额或者比例、支付条件与时间。</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第二，必须事先告知委托人可以选择政府指导价的收费方式，并说明两种方式的费用差异，由其自主选择。</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第三，“风险”必须真实存在。 对胜诉已无实质悬念的案件采用高比例风险代理，属于变相突破收费上限。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第四，办案费用应当与律师费分开约定。 不得以“办案费用”名义变相突破风险代理的收费上限。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第五，不得以风险代理为名要求当事人预先支付高额费用，或者约定败诉亦须支付高额“基础费”。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第六，宣传用语须谨慎。 “不成功不收费”的表述容易被理解为对结果的承诺，应当准确表述为“风险代理，按约定条件收费”。</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12</a:t>
            </a:r>
            <a:endParaRPr lang="en-US" sz="1100" dirty="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name="Slide 42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收费的伦理要求与常见违规</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收费违规是律师被行政处罚最集中的事由</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13</a:t>
            </a:r>
            <a:endParaRPr lang="en-US" sz="1100" dirty="0"/>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name="Slide 4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四项要求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收费必须遵守的四项刚性要求</a:t>
            </a:r>
            <a:endParaRPr lang="en-US" sz="2800" dirty="0"/>
          </a:p>
        </p:txBody>
      </p:sp>
      <p:sp>
        <p:nvSpPr>
          <p:cNvPr id="4" name="Shape 2"/>
          <p:cNvSpPr/>
          <p:nvPr/>
        </p:nvSpPr>
        <p:spPr>
          <a:xfrm>
            <a:off x="566928" y="1316736"/>
            <a:ext cx="11057839" cy="1214263"/>
          </a:xfrm>
          <a:prstGeom prst="roundRect">
            <a:avLst>
              <a:gd name="adj" fmla="val 6024"/>
            </a:avLst>
          </a:prstGeom>
          <a:solidFill>
            <a:srgbClr val="F2F4F8"/>
          </a:solidFill>
          <a:ln w="12700">
            <a:solidFill>
              <a:srgbClr val="F2F4F8"/>
            </a:solidFill>
            <a:prstDash val="solid"/>
          </a:ln>
        </p:spPr>
      </p:sp>
      <p:sp>
        <p:nvSpPr>
          <p:cNvPr id="5" name="Shape 3"/>
          <p:cNvSpPr/>
          <p:nvPr/>
        </p:nvSpPr>
        <p:spPr>
          <a:xfrm>
            <a:off x="841248" y="166783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1455"/>
            <a:ext cx="204826" cy="204826"/>
          </a:xfrm>
          <a:prstGeom prst="rect">
            <a:avLst/>
          </a:prstGeom>
        </p:spPr>
      </p:pic>
      <p:sp>
        <p:nvSpPr>
          <p:cNvPr id="7" name="Text 4"/>
          <p:cNvSpPr/>
          <p:nvPr/>
        </p:nvSpPr>
        <p:spPr>
          <a:xfrm>
            <a:off x="1536192" y="1539248"/>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一、统一收取，如实入账</a:t>
            </a:r>
            <a:endParaRPr lang="en-US" sz="1450" dirty="0"/>
          </a:p>
        </p:txBody>
      </p:sp>
      <p:sp>
        <p:nvSpPr>
          <p:cNvPr id="8" name="Text 5"/>
          <p:cNvSpPr/>
          <p:nvPr/>
        </p:nvSpPr>
        <p:spPr>
          <a:xfrm>
            <a:off x="1536192" y="1848112"/>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费用必须由律师事务所收取、进入律所对公账户、开具合法票据。律师个人收款、收现金不入账、要求打入私人账户，均构成《律师法》第四十条第（一）项的“私自收取费用”，可处停止执业乃至吊销执业证书。</a:t>
            </a:r>
            <a:endParaRPr lang="en-US" sz="1250" dirty="0"/>
          </a:p>
        </p:txBody>
      </p:sp>
      <p:sp>
        <p:nvSpPr>
          <p:cNvPr id="9" name="Shape 6"/>
          <p:cNvSpPr/>
          <p:nvPr/>
        </p:nvSpPr>
        <p:spPr>
          <a:xfrm>
            <a:off x="566928" y="2677303"/>
            <a:ext cx="11057839" cy="1214263"/>
          </a:xfrm>
          <a:prstGeom prst="roundRect">
            <a:avLst>
              <a:gd name="adj" fmla="val 6024"/>
            </a:avLst>
          </a:prstGeom>
          <a:solidFill>
            <a:srgbClr val="FFFFFF"/>
          </a:solidFill>
          <a:ln w="12700">
            <a:solidFill>
              <a:srgbClr val="D5DBE5"/>
            </a:solidFill>
            <a:prstDash val="solid"/>
          </a:ln>
        </p:spPr>
      </p:sp>
      <p:sp>
        <p:nvSpPr>
          <p:cNvPr id="10" name="Shape 7"/>
          <p:cNvSpPr/>
          <p:nvPr/>
        </p:nvSpPr>
        <p:spPr>
          <a:xfrm>
            <a:off x="841248" y="302840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82022"/>
            <a:ext cx="204826" cy="204826"/>
          </a:xfrm>
          <a:prstGeom prst="rect">
            <a:avLst/>
          </a:prstGeom>
        </p:spPr>
      </p:pic>
      <p:sp>
        <p:nvSpPr>
          <p:cNvPr id="12" name="Text 8"/>
          <p:cNvSpPr/>
          <p:nvPr/>
        </p:nvSpPr>
        <p:spPr>
          <a:xfrm>
            <a:off x="1536192" y="28998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二、书面约定，明码标价</a:t>
            </a:r>
            <a:endParaRPr lang="en-US" sz="1450" dirty="0"/>
          </a:p>
        </p:txBody>
      </p:sp>
      <p:sp>
        <p:nvSpPr>
          <p:cNvPr id="13" name="Text 9"/>
          <p:cNvSpPr/>
          <p:nvPr/>
        </p:nvSpPr>
        <p:spPr>
          <a:xfrm>
            <a:off x="1536192" y="32086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收费标准、方式、数额、支付时间应当在书面委托合同中明确约定；律所应当在办公场所公示收费标准。未书面约定而事后主张高额费用的，难以获得支持。</a:t>
            </a:r>
            <a:endParaRPr lang="en-US" sz="1250" dirty="0"/>
          </a:p>
        </p:txBody>
      </p:sp>
      <p:sp>
        <p:nvSpPr>
          <p:cNvPr id="14" name="Shape 10"/>
          <p:cNvSpPr/>
          <p:nvPr/>
        </p:nvSpPr>
        <p:spPr>
          <a:xfrm>
            <a:off x="566928" y="4037870"/>
            <a:ext cx="11057839" cy="984075"/>
          </a:xfrm>
          <a:prstGeom prst="roundRect">
            <a:avLst>
              <a:gd name="adj" fmla="val 7434"/>
            </a:avLst>
          </a:prstGeom>
          <a:solidFill>
            <a:srgbClr val="F2F4F8"/>
          </a:solidFill>
          <a:ln w="12700">
            <a:solidFill>
              <a:srgbClr val="F2F4F8"/>
            </a:solidFill>
            <a:prstDash val="solid"/>
          </a:ln>
        </p:spPr>
      </p:sp>
      <p:sp>
        <p:nvSpPr>
          <p:cNvPr id="15" name="Shape 11"/>
          <p:cNvSpPr/>
          <p:nvPr/>
        </p:nvSpPr>
        <p:spPr>
          <a:xfrm>
            <a:off x="841248" y="427387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27495"/>
            <a:ext cx="204826" cy="204826"/>
          </a:xfrm>
          <a:prstGeom prst="rect">
            <a:avLst/>
          </a:prstGeom>
        </p:spPr>
      </p:pic>
      <p:sp>
        <p:nvSpPr>
          <p:cNvPr id="17" name="Text 12"/>
          <p:cNvSpPr/>
          <p:nvPr/>
        </p:nvSpPr>
        <p:spPr>
          <a:xfrm>
            <a:off x="1536192" y="4260382"/>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三、办案费用与律师费分离</a:t>
            </a:r>
            <a:endParaRPr lang="en-US" sz="1450" dirty="0"/>
          </a:p>
        </p:txBody>
      </p:sp>
      <p:sp>
        <p:nvSpPr>
          <p:cNvPr id="18" name="Text 13"/>
          <p:cNvSpPr/>
          <p:nvPr/>
        </p:nvSpPr>
        <p:spPr>
          <a:xfrm>
            <a:off x="1536192" y="4569246"/>
            <a:ext cx="9832543" cy="23018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差旅费、鉴定费、公证费、公告费、查档费等应当单独列明、据实结算、凭票报销，不得混入律师费，也不得以办案费用名义变相加价。</a:t>
            </a:r>
            <a:endParaRPr lang="en-US" sz="1250" dirty="0"/>
          </a:p>
        </p:txBody>
      </p:sp>
      <p:sp>
        <p:nvSpPr>
          <p:cNvPr id="19" name="Shape 14"/>
          <p:cNvSpPr/>
          <p:nvPr/>
        </p:nvSpPr>
        <p:spPr>
          <a:xfrm>
            <a:off x="566928" y="5168249"/>
            <a:ext cx="11057839" cy="1214263"/>
          </a:xfrm>
          <a:prstGeom prst="roundRect">
            <a:avLst>
              <a:gd name="adj" fmla="val 6024"/>
            </a:avLst>
          </a:prstGeom>
          <a:solidFill>
            <a:srgbClr val="FFFFFF"/>
          </a:solidFill>
          <a:ln w="12700">
            <a:solidFill>
              <a:srgbClr val="D5DBE5"/>
            </a:solidFill>
            <a:prstDash val="solid"/>
          </a:ln>
        </p:spPr>
      </p:sp>
      <p:sp>
        <p:nvSpPr>
          <p:cNvPr id="20" name="Shape 15"/>
          <p:cNvSpPr/>
          <p:nvPr/>
        </p:nvSpPr>
        <p:spPr>
          <a:xfrm>
            <a:off x="841248" y="5519349"/>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672968"/>
            <a:ext cx="204826" cy="204826"/>
          </a:xfrm>
          <a:prstGeom prst="rect">
            <a:avLst/>
          </a:prstGeom>
        </p:spPr>
      </p:pic>
      <p:sp>
        <p:nvSpPr>
          <p:cNvPr id="22" name="Text 16"/>
          <p:cNvSpPr/>
          <p:nvPr/>
        </p:nvSpPr>
        <p:spPr>
          <a:xfrm>
            <a:off x="1536192" y="5390761"/>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四、不得二次收费与额外索取</a:t>
            </a:r>
            <a:endParaRPr lang="en-US" sz="1450" dirty="0"/>
          </a:p>
        </p:txBody>
      </p:sp>
      <p:sp>
        <p:nvSpPr>
          <p:cNvPr id="23" name="Text 17"/>
          <p:cNvSpPr/>
          <p:nvPr/>
        </p:nvSpPr>
        <p:spPr>
          <a:xfrm>
            <a:off x="1536192" y="5699625"/>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不得在合同约定之外，以“活动费”“关系费”“办事费”“疏通费”等名义额外收取；此类行为不仅违规，且可能构成行贿、诈骗等犯罪。</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14</a:t>
            </a:r>
            <a:endParaRPr lang="en-US" sz="1100" dirty="0"/>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name="Slide 4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高发违规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收费领域的四类高发违规</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私自收费</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绕开律所直接收取，或者只将部分费用入所账。这是最常见、也是后果最严重的违规：它同时构成规避律所管理、逃避利益冲突审查与偷逃税款。</a:t>
            </a:r>
            <a:endParaRPr lang="en-US" sz="1450" dirty="0"/>
          </a:p>
        </p:txBody>
      </p:sp>
      <p:sp>
        <p:nvSpPr>
          <p:cNvPr id="9" name="Shape 6"/>
          <p:cNvSpPr/>
          <p:nvPr/>
        </p:nvSpPr>
        <p:spPr>
          <a:xfrm>
            <a:off x="6214720" y="1316736"/>
            <a:ext cx="5410048" cy="2423160"/>
          </a:xfrm>
          <a:prstGeom prst="roundRect">
            <a:avLst>
              <a:gd name="adj" fmla="val 3774"/>
            </a:avLst>
          </a:prstGeom>
          <a:solidFill>
            <a:srgbClr val="F2F4F8"/>
          </a:solidFill>
          <a:ln w="12700">
            <a:solidFill>
              <a:srgbClr val="F2F4F8"/>
            </a:solidFill>
            <a:prstDash val="solid"/>
          </a:ln>
        </p:spPr>
      </p:sp>
      <p:sp>
        <p:nvSpPr>
          <p:cNvPr id="10" name="Shape 7"/>
          <p:cNvSpPr/>
          <p:nvPr/>
        </p:nvSpPr>
        <p:spPr>
          <a:xfrm>
            <a:off x="6534760" y="1609344"/>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超标准收费</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突破政府指导价上限、突破风险代理比例上限；或者以“另行签订咨询协议”的方式拆分收费以规避上限。</a:t>
            </a:r>
            <a:endParaRPr lang="en-US" sz="1450" dirty="0"/>
          </a:p>
        </p:txBody>
      </p:sp>
      <p:sp>
        <p:nvSpPr>
          <p:cNvPr id="14" name="Shape 10"/>
          <p:cNvSpPr/>
          <p:nvPr/>
        </p:nvSpPr>
        <p:spPr>
          <a:xfrm>
            <a:off x="566928" y="3959352"/>
            <a:ext cx="5410048" cy="2423160"/>
          </a:xfrm>
          <a:prstGeom prst="roundRect">
            <a:avLst>
              <a:gd name="adj" fmla="val 3774"/>
            </a:avLst>
          </a:prstGeom>
          <a:solidFill>
            <a:srgbClr val="F2F4F8"/>
          </a:solidFill>
          <a:ln w="12700">
            <a:solidFill>
              <a:srgbClr val="F2F4F8"/>
            </a:solidFill>
            <a:prstDash val="solid"/>
          </a:ln>
        </p:spPr>
      </p:sp>
      <p:sp>
        <p:nvSpPr>
          <p:cNvPr id="15" name="Shape 11"/>
          <p:cNvSpPr/>
          <p:nvPr/>
        </p:nvSpPr>
        <p:spPr>
          <a:xfrm>
            <a:off x="886968" y="4251960"/>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以“关系”名义收费</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以打点、疏通、活动为名收取费用。无论是否实际用于行贿，该行为本身即构成严重违规；若确有行贿，则涉及《律师法》第四十条第（五）项与刑事责任。</a:t>
            </a:r>
            <a:endParaRPr lang="en-US" sz="1450" dirty="0"/>
          </a:p>
        </p:txBody>
      </p:sp>
      <p:sp>
        <p:nvSpPr>
          <p:cNvPr id="19" name="Shape 14"/>
          <p:cNvSpPr/>
          <p:nvPr/>
        </p:nvSpPr>
        <p:spPr>
          <a:xfrm>
            <a:off x="6214720" y="3959352"/>
            <a:ext cx="5410048" cy="2423160"/>
          </a:xfrm>
          <a:prstGeom prst="roundRect">
            <a:avLst>
              <a:gd name="adj" fmla="val 3774"/>
            </a:avLst>
          </a:prstGeom>
          <a:solidFill>
            <a:srgbClr val="F2F4F8"/>
          </a:solidFill>
          <a:ln w="12700">
            <a:solidFill>
              <a:srgbClr val="F2F4F8"/>
            </a:solidFill>
            <a:prstDash val="solid"/>
          </a:ln>
        </p:spPr>
      </p:sp>
      <p:sp>
        <p:nvSpPr>
          <p:cNvPr id="20" name="Shape 15"/>
          <p:cNvSpPr/>
          <p:nvPr/>
        </p:nvSpPr>
        <p:spPr>
          <a:xfrm>
            <a:off x="6534760" y="4251960"/>
            <a:ext cx="457200" cy="457200"/>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虚报工时与重复计费</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计时收费中虚增工作小时、将同一项工作向多个客户重复计费、将行政性事务按律师费率计费。这类行为在大所非诉业务中尤须警惕。</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15</a:t>
            </a:r>
            <a:endParaRPr lang="en-US" sz="1100" dirty="0"/>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name="Slide 43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代管财物与案款的规则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替当事人保管的钱，一分一厘都不能碰</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16</a:t>
            </a:r>
            <a:endParaRPr lang="en-US" sz="1100" dirty="0"/>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name="Slide 4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代管财物的禁止性规定</a:t>
            </a:r>
            <a:endParaRPr lang="en-US" sz="2800" dirty="0"/>
          </a:p>
        </p:txBody>
      </p:sp>
      <p:sp>
        <p:nvSpPr>
          <p:cNvPr id="4" name="Shape 2"/>
          <p:cNvSpPr/>
          <p:nvPr/>
        </p:nvSpPr>
        <p:spPr>
          <a:xfrm>
            <a:off x="566928" y="1316736"/>
            <a:ext cx="11057839" cy="1465326"/>
          </a:xfrm>
          <a:prstGeom prst="roundRect">
            <a:avLst>
              <a:gd name="adj" fmla="val 624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《律师法》第四十条第（一）（二）项</a:t>
            </a:r>
            <a:endParaRPr lang="en-US" sz="1500" dirty="0"/>
          </a:p>
        </p:txBody>
      </p:sp>
      <p:sp>
        <p:nvSpPr>
          <p:cNvPr id="8" name="Text 6"/>
          <p:cNvSpPr/>
          <p:nvPr/>
        </p:nvSpPr>
        <p:spPr>
          <a:xfrm>
            <a:off x="960120" y="1956816"/>
            <a:ext cx="10271455" cy="6057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律师在执业活动中不得有下列行为：</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（一）私自接受委托、收取费用，接受委托人的财物或者其他利益；</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（二）利用提供法律服务的便利牟取当事人争议的权益。</a:t>
            </a:r>
            <a:endParaRPr lang="en-US" sz="850" dirty="0"/>
          </a:p>
        </p:txBody>
      </p:sp>
      <p:sp>
        <p:nvSpPr>
          <p:cNvPr id="9" name="Shape 7"/>
          <p:cNvSpPr/>
          <p:nvPr/>
        </p:nvSpPr>
        <p:spPr>
          <a:xfrm>
            <a:off x="566928" y="2964942"/>
            <a:ext cx="11057839" cy="1808226"/>
          </a:xfrm>
          <a:prstGeom prst="roundRect">
            <a:avLst>
              <a:gd name="adj" fmla="val 5057"/>
            </a:avLst>
          </a:prstGeom>
          <a:solidFill>
            <a:srgbClr val="F6F1E8"/>
          </a:solidFill>
          <a:ln w="12700">
            <a:solidFill>
              <a:srgbClr val="F6F1E8"/>
            </a:solidFill>
            <a:prstDash val="solid"/>
          </a:ln>
        </p:spPr>
      </p:sp>
      <p:sp>
        <p:nvSpPr>
          <p:cNvPr id="10" name="Shape 8"/>
          <p:cNvSpPr/>
          <p:nvPr/>
        </p:nvSpPr>
        <p:spPr>
          <a:xfrm>
            <a:off x="877824" y="32026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026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1843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《律师法》第四十八条（节录）</a:t>
            </a:r>
            <a:endParaRPr lang="en-US" sz="1500" dirty="0"/>
          </a:p>
        </p:txBody>
      </p:sp>
      <p:sp>
        <p:nvSpPr>
          <p:cNvPr id="13" name="Text 11"/>
          <p:cNvSpPr/>
          <p:nvPr/>
        </p:nvSpPr>
        <p:spPr>
          <a:xfrm>
            <a:off x="960120" y="3605022"/>
            <a:ext cx="10271455" cy="9486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律师有下列行为之一的，由设区的市级或者直辖市的区人民政府司法行政部门给予警告，可以处一万元以下的罚款；有违法所得的，没收违法所得；情节严重的，给予停止执业的处罚：</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（一）私自接受委托、收取费用，接受委托人财物或者其他利益的；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（二）接受委托后，无正当理由，拒绝辩护或者代理，不按时出庭参加诉讼或者仲裁的；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（三）利用提供法律服务的便利牟取当事人争议的权益的；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（四）泄露商业秘密或者个人隐私的。</a:t>
            </a:r>
            <a:endParaRPr lang="en-US" sz="850" dirty="0"/>
          </a:p>
        </p:txBody>
      </p:sp>
      <p:sp>
        <p:nvSpPr>
          <p:cNvPr id="14" name="Shape 12"/>
          <p:cNvSpPr/>
          <p:nvPr/>
        </p:nvSpPr>
        <p:spPr>
          <a:xfrm>
            <a:off x="566928" y="4877054"/>
            <a:ext cx="11057839" cy="1505458"/>
          </a:xfrm>
          <a:prstGeom prst="roundRect">
            <a:avLst>
              <a:gd name="adj" fmla="val 6074"/>
            </a:avLst>
          </a:prstGeom>
          <a:solidFill>
            <a:srgbClr val="F2F4F8"/>
          </a:solidFill>
          <a:ln w="12700">
            <a:solidFill>
              <a:srgbClr val="F2F4F8"/>
            </a:solidFill>
            <a:prstDash val="solid"/>
          </a:ln>
        </p:spPr>
      </p:sp>
      <p:sp>
        <p:nvSpPr>
          <p:cNvPr id="15" name="Text 13"/>
          <p:cNvSpPr/>
          <p:nvPr/>
        </p:nvSpPr>
        <p:spPr>
          <a:xfrm>
            <a:off x="896112" y="504164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15966"/>
            <a:ext cx="10271455" cy="938530"/>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请把握《律师法》行政处罚的三级阶梯：第四十七条为最轻一级（警告、五千元以下罚款、没收违法所得），第四十八条为中间一级（警告、一万元以下罚款、没收违法所得，情节严重的停止执业），第四十九条为最重一级（停止执业六个月以上一年以下、五万元以下罚款，情节严重的吊销执业证书，构成犯罪的追究刑事责任）。私自收费属第四十八条第（一）项。而挪用当事人款项若构成职务侵占、挪用资金、侵占或者诈骗，则直接进入刑事责任层面——这才是最严重的后果。</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17</a:t>
            </a:r>
            <a:endParaRPr lang="en-US" sz="1100" dirty="0"/>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name="Slide 4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操作规则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代管财物的五项规则</a:t>
            </a:r>
            <a:endParaRPr lang="en-US" sz="2800" dirty="0"/>
          </a:p>
        </p:txBody>
      </p:sp>
      <p:sp>
        <p:nvSpPr>
          <p:cNvPr id="4" name="Shape 2"/>
          <p:cNvSpPr/>
          <p:nvPr/>
        </p:nvSpPr>
        <p:spPr>
          <a:xfrm>
            <a:off x="566928" y="1978247"/>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11540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一、能不代管的尽量不代管</a:t>
            </a:r>
            <a:endParaRPr lang="en-US" sz="1500" dirty="0"/>
          </a:p>
        </p:txBody>
      </p:sp>
      <p:sp>
        <p:nvSpPr>
          <p:cNvPr id="8" name="Text 6"/>
          <p:cNvSpPr/>
          <p:nvPr/>
        </p:nvSpPr>
        <p:spPr>
          <a:xfrm>
            <a:off x="1444752" y="2423255"/>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首选方案是由对方当事人或者法院直接向委托人支付。代管本身即是风险，不必要的代管应当避免。</a:t>
            </a:r>
            <a:endParaRPr lang="en-US" sz="1350" dirty="0"/>
          </a:p>
        </p:txBody>
      </p:sp>
      <p:sp>
        <p:nvSpPr>
          <p:cNvPr id="9" name="Shape 7"/>
          <p:cNvSpPr/>
          <p:nvPr/>
        </p:nvSpPr>
        <p:spPr>
          <a:xfrm>
            <a:off x="566928" y="3185636"/>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二、必须代管的，实行专户分账管理</a:t>
            </a:r>
            <a:endParaRPr lang="en-US" sz="1500" dirty="0"/>
          </a:p>
        </p:txBody>
      </p:sp>
      <p:sp>
        <p:nvSpPr>
          <p:cNvPr id="13" name="Text 11"/>
          <p:cNvSpPr/>
          <p:nvPr/>
        </p:nvSpPr>
        <p:spPr>
          <a:xfrm>
            <a:off x="1444752" y="363064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代管财物不得与律所自有资金、律师个人资金混同；应当设立专门账户或者专项科目，独立记账、专款专用。</a:t>
            </a:r>
            <a:endParaRPr lang="en-US" sz="1350" dirty="0"/>
          </a:p>
        </p:txBody>
      </p:sp>
      <p:sp>
        <p:nvSpPr>
          <p:cNvPr id="14" name="Shape 12"/>
          <p:cNvSpPr/>
          <p:nvPr/>
        </p:nvSpPr>
        <p:spPr>
          <a:xfrm>
            <a:off x="566928" y="4393025"/>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828413"/>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82841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53018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三、绝对禁止挪用与占用</a:t>
            </a:r>
            <a:endParaRPr lang="en-US" sz="1500" dirty="0"/>
          </a:p>
        </p:txBody>
      </p:sp>
      <p:sp>
        <p:nvSpPr>
          <p:cNvPr id="18" name="Text 16"/>
          <p:cNvSpPr/>
          <p:nvPr/>
        </p:nvSpPr>
        <p:spPr>
          <a:xfrm>
            <a:off x="1444752" y="483803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不得以任何理由、任何期限动用代管款项，包括“暂时周转”“先扣律师费”。以代管款抵扣律师费必须经委托人书面同意，且应当单独结算。</a:t>
            </a:r>
            <a:endParaRPr lang="en-US" sz="1350" dirty="0"/>
          </a:p>
        </p:txBody>
      </p:sp>
      <p:sp>
        <p:nvSpPr>
          <p:cNvPr id="19" name="Shape 17"/>
          <p:cNvSpPr/>
          <p:nvPr/>
        </p:nvSpPr>
        <p:spPr>
          <a:xfrm>
            <a:off x="6242152" y="2706243"/>
            <a:ext cx="5382616" cy="1079373"/>
          </a:xfrm>
          <a:prstGeom prst="roundRect">
            <a:avLst>
              <a:gd name="adj" fmla="val 6777"/>
            </a:avLst>
          </a:prstGeom>
          <a:solidFill>
            <a:srgbClr val="FFFFFF"/>
          </a:solidFill>
          <a:ln w="12700">
            <a:solidFill>
              <a:srgbClr val="D5DBE5"/>
            </a:solidFill>
            <a:prstDash val="solid"/>
          </a:ln>
        </p:spPr>
      </p:sp>
      <p:sp>
        <p:nvSpPr>
          <p:cNvPr id="20" name="Shape 18"/>
          <p:cNvSpPr/>
          <p:nvPr/>
        </p:nvSpPr>
        <p:spPr>
          <a:xfrm>
            <a:off x="6498184" y="3017330"/>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301733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843403"/>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四、及时通知与交付</a:t>
            </a:r>
            <a:endParaRPr lang="en-US" sz="1500" dirty="0"/>
          </a:p>
        </p:txBody>
      </p:sp>
      <p:sp>
        <p:nvSpPr>
          <p:cNvPr id="23" name="Text 21"/>
          <p:cNvSpPr/>
          <p:nvPr/>
        </p:nvSpPr>
        <p:spPr>
          <a:xfrm>
            <a:off x="7119976" y="3151251"/>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收到款项后应当及时通知委托人，并在约定或者合理期限内交付；不得无故拖延、不得以其他争议为由扣留。</a:t>
            </a:r>
            <a:endParaRPr lang="en-US" sz="1350" dirty="0"/>
          </a:p>
        </p:txBody>
      </p:sp>
      <p:sp>
        <p:nvSpPr>
          <p:cNvPr id="24" name="Shape 22"/>
          <p:cNvSpPr/>
          <p:nvPr/>
        </p:nvSpPr>
        <p:spPr>
          <a:xfrm>
            <a:off x="6242152" y="3913632"/>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4224719"/>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22471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五、完整记录与对账</a:t>
            </a:r>
            <a:endParaRPr lang="en-US" sz="1500" dirty="0"/>
          </a:p>
        </p:txBody>
      </p:sp>
      <p:sp>
        <p:nvSpPr>
          <p:cNvPr id="28" name="Text 26"/>
          <p:cNvSpPr/>
          <p:nvPr/>
        </p:nvSpPr>
        <p:spPr>
          <a:xfrm>
            <a:off x="7119976" y="4358640"/>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建立代管财物台账，逐笔登记来源、金额、时间、去向；定期与委托人对账并取得书面确认；保管凭证归档。</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18</a:t>
            </a:r>
            <a:endParaRPr lang="en-US" sz="1100" dirty="0"/>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name="Slide 4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那笔“暂时周转”的执行款</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警示案例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从违规到犯罪的一步之遥</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某律师代理一起买卖合同纠纷案，胜诉后代委托人向法院申请执行。法院将执行款八十万元划至该律师个人账户（律师在执行申请书中填写了本人账户）。</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律师收到款项后未告知委托人，先行扣除了合同约定的律师费十万元，又因个人资金周转困难，挪用了三十万元用于偿还个人债务，计划一个月后归还。</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两个月后委托人查询得知款项已到账，多次催要。律师归还了四十万元，其余部分因资金未能回笼而拖延。委托人向律师协会投诉并报案。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经查，该律师此前还有两起类似情形，均在被催要后归还。</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本案中律师有哪些违规行为？请逐项指出规范依据。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“事后归还”能否阻却违规或者犯罪的成立？</a:t>
            </a:r>
            <a:endParaRPr lang="en-US" sz="1400" dirty="0"/>
          </a:p>
        </p:txBody>
      </p:sp>
      <p:sp>
        <p:nvSpPr>
          <p:cNvPr id="17" name="Shape 15"/>
          <p:cNvSpPr/>
          <p:nvPr/>
        </p:nvSpPr>
        <p:spPr>
          <a:xfrm>
            <a:off x="7958023" y="423252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23252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633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扣除律师费的行为是否合法？</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律所应当承担什么责任？制度上如何防范？</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19</a:t>
            </a:r>
            <a:endParaRPr lang="en-US" sz="1100" dirty="0"/>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name="Slide 4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2021年将风险代理收费上限由30%调整为分段累进最高18%。有观点认为，这会降低律师承接疑难案件的积极性，反而不利于当事人。请从当事人保护与激励相容两个角度评价这一调整。</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刑事案件绝对禁止风险代理。但实践中存在“取保候审后支付一笔、判决缓刑后再支付一笔”的分期收费安排。这是否构成变相风险代理？如何判断？</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委托人拖欠律师费，而律师手中恰有代为保管的当事人款项。律师能否直接扣除？请从代管财物规则、抵销规则与信义义务三个角度分析，并提出正确的处理方案。</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计时收费的律师如何证明自己的工时真实？请设计一套工时记录与核查机制，使委托人能够合理信赖工时清单。</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20</a:t>
            </a:r>
            <a:endParaRPr lang="en-US" sz="1100" dirty="0"/>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name="Slide 43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第19课时要点回顾</a:t>
            </a:r>
            <a:endParaRPr lang="en-US" sz="3000" dirty="0"/>
          </a:p>
        </p:txBody>
      </p:sp>
      <p:sp>
        <p:nvSpPr>
          <p:cNvPr id="4" name="Shape 2"/>
          <p:cNvSpPr/>
          <p:nvPr/>
        </p:nvSpPr>
        <p:spPr>
          <a:xfrm>
            <a:off x="566928" y="1591056"/>
            <a:ext cx="11057839" cy="718291"/>
          </a:xfrm>
          <a:prstGeom prst="roundRect">
            <a:avLst>
              <a:gd name="adj" fmla="val 10184"/>
            </a:avLst>
          </a:prstGeom>
          <a:solidFill>
            <a:srgbClr val="25395F"/>
          </a:solidFill>
          <a:ln w="12700">
            <a:solidFill>
              <a:srgbClr val="25395F"/>
            </a:solidFill>
            <a:prstDash val="solid"/>
          </a:ln>
        </p:spPr>
      </p:sp>
      <p:sp>
        <p:nvSpPr>
          <p:cNvPr id="5" name="Shape 3"/>
          <p:cNvSpPr/>
          <p:nvPr/>
        </p:nvSpPr>
        <p:spPr>
          <a:xfrm>
            <a:off x="859536" y="174903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69734"/>
            <a:ext cx="160934" cy="160934"/>
          </a:xfrm>
          <a:prstGeom prst="rect">
            <a:avLst/>
          </a:prstGeom>
        </p:spPr>
      </p:pic>
      <p:sp>
        <p:nvSpPr>
          <p:cNvPr id="7" name="Text 4"/>
          <p:cNvSpPr/>
          <p:nvPr/>
        </p:nvSpPr>
        <p:spPr>
          <a:xfrm>
            <a:off x="1444752" y="173112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收费规制分三层：《律师法》第二十五条（统一接受委托、书面合同、统一收费、如实入账）；《律师服务收费管理办法》（2006年，政府指导价与市场调节价并行）；《关于进一步规范律师服务收费的意见》（司发通〔2021〕87号）。</a:t>
            </a:r>
            <a:endParaRPr lang="en-US" sz="1150" dirty="0"/>
          </a:p>
        </p:txBody>
      </p:sp>
      <p:sp>
        <p:nvSpPr>
          <p:cNvPr id="8" name="Shape 5"/>
          <p:cNvSpPr/>
          <p:nvPr/>
        </p:nvSpPr>
        <p:spPr>
          <a:xfrm>
            <a:off x="566928" y="2446507"/>
            <a:ext cx="11057839" cy="514202"/>
          </a:xfrm>
          <a:prstGeom prst="roundRect">
            <a:avLst>
              <a:gd name="adj" fmla="val 14226"/>
            </a:avLst>
          </a:prstGeom>
          <a:solidFill>
            <a:srgbClr val="25395F"/>
          </a:solidFill>
          <a:ln w="12700">
            <a:solidFill>
              <a:srgbClr val="25395F"/>
            </a:solidFill>
            <a:prstDash val="solid"/>
          </a:ln>
        </p:spPr>
      </p:sp>
      <p:sp>
        <p:nvSpPr>
          <p:cNvPr id="9" name="Shape 6"/>
          <p:cNvSpPr/>
          <p:nvPr/>
        </p:nvSpPr>
        <p:spPr>
          <a:xfrm>
            <a:off x="859536" y="2528803"/>
            <a:ext cx="349610" cy="349610"/>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64419" y="2633686"/>
            <a:ext cx="139844" cy="139844"/>
          </a:xfrm>
          <a:prstGeom prst="rect">
            <a:avLst/>
          </a:prstGeom>
        </p:spPr>
      </p:pic>
      <p:sp>
        <p:nvSpPr>
          <p:cNvPr id="11" name="Text 7"/>
          <p:cNvSpPr/>
          <p:nvPr/>
        </p:nvSpPr>
        <p:spPr>
          <a:xfrm>
            <a:off x="1444752" y="2594070"/>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四种收费方式：计件、按标的额比例、计时、风险代理。收费方式的选择本身受忠实义务约束，不得为自身收益最大化而诱导委托人。</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风险代理绝对禁止的案件：刑事诉讼、行政诉讼、国家赔偿、群体性诉讼；此外赡养费、抚养费、抚恤金、社会保险待遇、最低生活保障、劳动报酬等案件亦不得风险代理。</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风险代理收费上限由2006年的合同标的额30%，调整为2021年的分段累进、合计最高不超过标的额18%（100万以下18%、100—500万15%、500—1000万12%、1000—5000万9%、5000万以上6%）。</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收费四项刚性要求：统一收取如实入账、书面约定明码标价、办案费用与律师费分离、不得二次收费与额外索取。四类高发违规：私自收费、超标准收费、以“关系”名义收费、虚报工时与重复计费。</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代管财物五项规则：能不代管的不代管、专户分账管理、绝对禁止挪用、及时通知与交付、完整记录与对账。挪用当事人款项可能构成犯罪，事后归还不阻却责任成立。</a:t>
            </a:r>
            <a:endParaRPr lang="en-US" sz="1150" dirty="0"/>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name="Slide 436">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第20课时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争讼业务伦理：对法庭、对方、证人与媒体的义务</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律师的忠诚指向委托人，但他同时对法庭、对方、证人与公众负有义务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对法庭的真实义务：消极不欺骗与积极不造假</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对方当事人、对方律师与证人的界限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庭外言论、媒体与舆论的伦理边界</a:t>
            </a:r>
            <a:endParaRPr lang="en-US" sz="1400" dirty="0"/>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name="Slide 4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律师的四组外部义务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一、对法庭的义务：真实、尊重与不当接触之禁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二、《刑法》第三百零六条：辩护人的刑事风险</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三、对对方当事人与对方律师的义务</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四、对证人的义务：调查取证的界限</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五、对媒体与公众的义务</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六、刑事辩护的特殊难题</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02</a:t>
            </a:r>
            <a:endParaRPr lang="en-US" sz="1100" dirty="0"/>
          </a:p>
        </p:txBody>
      </p:sp>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name="Slide 43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对法庭的义务：真实、尊重与不当接触之禁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律师是当事人的代理人，同时也是司法程序的参与者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03</a:t>
            </a:r>
            <a:endParaRPr lang="en-US" sz="1100" dirty="0"/>
          </a:p>
        </p:txBody>
      </p:sp>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name="Slide 4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核心区分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消极的真实义务与积极的真实义务</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消极真实义务（我国的基本立场）</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内容：不得主动欺骗法庭——不得提供虚假证据、不得作明知虚假的事实陈述、不得歪曲引用法律。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不包含：主动揭发委托人的不利事实、主动提交对己方不利的证据、主动纠正对方的错误。</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理由：对抗制下发现真相的责任分配给双方与法庭，律师的片面性是制度设定的角色。</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边界：可以就对方举证不足提出质疑（正当），不得积极提出明知虚假的事实（禁止）。</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积极真实义务（部分法域的加重要求）</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内容：在特定情形下负有主动披露的义务，如披露对己方不利但法庭可能未发现的法律权威（adverse authority）。</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英美法系部分规则要求律师主动向法庭指出对本方不利的、控制性的先例。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大陆法系将律师视为司法机关组成部分，对真实义务的要求相对更强。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我国：以消极真实义务为基本立场；但对已提交的虚假材料，负有要求委托人更正或者撤回的义务。</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04</a:t>
            </a:r>
            <a:endParaRPr lang="en-US" sz="1100" dirty="0"/>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name="Slide 4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四项具体义务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律师对法庭的具体义务</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一、不得提供虚假证据、不作虚假陈述</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法》第四十条第（六）项：不得故意提供虚假证据或者威胁、利诱他人提供虚假证据，妨碍对方当事人合法取得证据。发现已提交的材料虚假的，应当要求委托人自行更正或者撤回；委托人拒绝的，律师应当拒绝就该内容举证质证，必要时解除委托。</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二、如实引用法律与判例</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不得歪曲法条文义、不得断章取义地引用司法解释与指导性案例、不得虚构不存在的裁判观点。以人工智能工具生成检索结果的，必须逐一核实来源与现行有效性——虚构判例已在多国造成律师被处分的实例。</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三、尊重法庭、遵守法庭规则</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按时出庭、着装规范、听从审判长指挥；不得扰乱法庭秩序、不得擅自退庭。对法庭的不当处置，应当申请记录在案、申请复议、庭后依程序反映，而非当庭对抗——程序内的抗争优先于程序外的对抗。</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四、不得违规接触与影响</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法》第四十条第（四）（五）项：不得违反规定会见法官、检察官、仲裁员及其他有关工作人员；不得行贿、介绍贿赂或者指使、诱导当事人行贿。判断标准仍是“对方在场测试”：这次接触能否坦然地让对方当事人知道？</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05</a:t>
            </a:r>
            <a:endParaRPr lang="en-US" sz="1100" dirty="0"/>
          </a:p>
        </p:txBody>
      </p:sp>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name="Slide 44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《刑法》第三百零六条：辩护人的刑事风险</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一条争议极大、但每一名刑辩律师都必须精确掌握的罪名</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06</a:t>
            </a:r>
            <a:endParaRPr lang="en-US" sz="1100" dirty="0"/>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name="Slide 4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罪状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辩护人、诉讼代理人毁灭证据、伪造证据、妨害作证罪</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《中华人民共和国刑法》第三百零六条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在刑事诉讼中，辩护人、诉讼代理人毁灭、伪造证据，帮助当事人毁灭、伪造证据，威胁、引诱证人违背事实改变证言或者作伪证的，处三年以下有期徒刑或者拘役；情节严重的，处三年以上七年以下有期徒刑。</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辩护人、诉讼代理人提供、出示、引用的证人证言或者其他证据失实，不是有意伪造的，不属于伪造证据。</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特别注意第二款：这是一条重要的出罪条款。证据失实与伪造证据是两回事——律师提交的证人证言后来被证明不真实，只要不是有意伪造，就不构成本罪。这一款正是为了防止本罪被滥用而设。实践中的核心争点通常是：律师的行为属于“依法调查取证”还是“引诱证人改变证言”。</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07</a:t>
            </a:r>
            <a:endParaRPr lang="en-US" sz="1100" dirty="0"/>
          </a:p>
        </p:txBody>
      </p:sp>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name="Slide 4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风险防范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刑辩律师调查取证的六条自我保护规则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《刑法》第三百零六条的存在，使刑事辩护中的调查取证成为高风险动作。以下六条是行业公认的自我保护做法。</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第一，两人同行。 调查取证应当由两名律师或者一名律师加一名律师助理共同进行，避免孤证与“说不清”。</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第二，全程记录。 在征得同意的前提下同步录音录像；制作调查笔录并由证人逐页签名、捺印、注明“以上笔录我已看过，与我说的相符”。</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第三，先程序后实体。 向被害人及其近亲属、被害人提供的证人取证，须经人民检察院或者人民法院许可并经本人同意——程序前置，不可省略。</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第四，不作引导性发问。 提问应当开放，避免“是不是……”“当时他是不是没在场”这类暗示答案的问法；忠实记录证人的原话。</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第五，不涉利益。 不得向证人支付超出合理误工与交通费用的款项；一切支付均应当有据可查。</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第六，优先申请司法机关取证。 依《律师法》与《刑事诉讼法》，律师可以申请人民检察院、人民法院收集调取证据或者通知证人出庭——把风险交给公权力程序，是最稳妥的路径。</a:t>
            </a:r>
            <a:endParaRPr lang="en-US" sz="14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08</a:t>
            </a:r>
            <a:endParaRPr lang="en-US" sz="1100" dirty="0"/>
          </a:p>
        </p:txBody>
      </p:sp>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name="Slide 44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对对方当事人与对方律师的义务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对抗是角色，不是敌意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09</a:t>
            </a:r>
            <a:endParaRPr lang="en-US" sz="1100" dirty="0"/>
          </a:p>
        </p:txBody>
      </p:sp>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name="Slide 4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三条规则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与对方打交道的三条规则</a:t>
            </a:r>
            <a:endParaRPr lang="en-US" sz="2800" dirty="0"/>
          </a:p>
        </p:txBody>
      </p:sp>
      <p:sp>
        <p:nvSpPr>
          <p:cNvPr id="4" name="Shape 2"/>
          <p:cNvSpPr/>
          <p:nvPr/>
        </p:nvSpPr>
        <p:spPr>
          <a:xfrm>
            <a:off x="566928" y="2181924"/>
            <a:ext cx="3527450" cy="3335401"/>
          </a:xfrm>
          <a:prstGeom prst="roundRect">
            <a:avLst>
              <a:gd name="adj" fmla="val 2741"/>
            </a:avLst>
          </a:prstGeom>
          <a:solidFill>
            <a:srgbClr val="F2F4F8"/>
          </a:solidFill>
          <a:ln w="12700">
            <a:solidFill>
              <a:srgbClr val="F2F4F8"/>
            </a:solidFill>
            <a:prstDash val="solid"/>
          </a:ln>
        </p:spPr>
      </p:sp>
      <p:sp>
        <p:nvSpPr>
          <p:cNvPr id="5" name="Shape 3"/>
          <p:cNvSpPr/>
          <p:nvPr/>
        </p:nvSpPr>
        <p:spPr>
          <a:xfrm>
            <a:off x="886968" y="2474532"/>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611692"/>
            <a:ext cx="182880" cy="182880"/>
          </a:xfrm>
          <a:prstGeom prst="rect">
            <a:avLst/>
          </a:prstGeom>
        </p:spPr>
      </p:pic>
      <p:sp>
        <p:nvSpPr>
          <p:cNvPr id="7" name="Text 4"/>
          <p:cNvSpPr/>
          <p:nvPr/>
        </p:nvSpPr>
        <p:spPr>
          <a:xfrm>
            <a:off x="886968"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不得绕过对方代理人直接接触</a:t>
            </a:r>
            <a:endParaRPr lang="en-US" sz="1700" dirty="0"/>
          </a:p>
        </p:txBody>
      </p:sp>
      <p:sp>
        <p:nvSpPr>
          <p:cNvPr id="8" name="Text 5"/>
          <p:cNvSpPr/>
          <p:nvPr/>
        </p:nvSpPr>
        <p:spPr>
          <a:xfrm>
            <a:off x="886968"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对方已委托代理人的，就争议事项的实质性沟通应当通过其代理人进行，不得绕过代理人直接与对方当事人谈判或者施加影响。经对方代理人同意，或者法律另有规定的除外。</a:t>
            </a:r>
            <a:endParaRPr lang="en-US" sz="1450" dirty="0"/>
          </a:p>
        </p:txBody>
      </p:sp>
      <p:sp>
        <p:nvSpPr>
          <p:cNvPr id="9" name="Shape 6"/>
          <p:cNvSpPr/>
          <p:nvPr/>
        </p:nvSpPr>
        <p:spPr>
          <a:xfrm>
            <a:off x="4332122" y="2181924"/>
            <a:ext cx="3527450" cy="3335401"/>
          </a:xfrm>
          <a:prstGeom prst="roundRect">
            <a:avLst>
              <a:gd name="adj" fmla="val 2741"/>
            </a:avLst>
          </a:prstGeom>
          <a:solidFill>
            <a:srgbClr val="F6F1E8"/>
          </a:solidFill>
          <a:ln w="12700">
            <a:solidFill>
              <a:srgbClr val="F6F1E8"/>
            </a:solidFill>
            <a:prstDash val="solid"/>
          </a:ln>
        </p:spPr>
      </p:sp>
      <p:sp>
        <p:nvSpPr>
          <p:cNvPr id="10" name="Shape 7"/>
          <p:cNvSpPr/>
          <p:nvPr/>
        </p:nvSpPr>
        <p:spPr>
          <a:xfrm>
            <a:off x="4652162" y="2474532"/>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611692"/>
            <a:ext cx="182880" cy="182880"/>
          </a:xfrm>
          <a:prstGeom prst="rect">
            <a:avLst/>
          </a:prstGeom>
        </p:spPr>
      </p:pic>
      <p:sp>
        <p:nvSpPr>
          <p:cNvPr id="12" name="Text 8"/>
          <p:cNvSpPr/>
          <p:nvPr/>
        </p:nvSpPr>
        <p:spPr>
          <a:xfrm>
            <a:off x="4652162"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对无代理人的对方须表明立场</a:t>
            </a:r>
            <a:endParaRPr lang="en-US" sz="1700" dirty="0"/>
          </a:p>
        </p:txBody>
      </p:sp>
      <p:sp>
        <p:nvSpPr>
          <p:cNvPr id="13" name="Text 9"/>
          <p:cNvSpPr/>
          <p:nvPr/>
        </p:nvSpPr>
        <p:spPr>
          <a:xfrm>
            <a:off x="4652162"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对方未委托代理人的，律师不得使其误以为自己是中立第三方或者可以为其提供帮助。应当明确说明“我是对方的代理人”，并建议其自行寻求法律帮助；不得为其提供法律意见。</a:t>
            </a:r>
            <a:endParaRPr lang="en-US" sz="1450" dirty="0"/>
          </a:p>
        </p:txBody>
      </p:sp>
      <p:sp>
        <p:nvSpPr>
          <p:cNvPr id="14" name="Shape 10"/>
          <p:cNvSpPr/>
          <p:nvPr/>
        </p:nvSpPr>
        <p:spPr>
          <a:xfrm>
            <a:off x="8097317" y="2181924"/>
            <a:ext cx="3527450" cy="3335401"/>
          </a:xfrm>
          <a:prstGeom prst="roundRect">
            <a:avLst>
              <a:gd name="adj" fmla="val 2741"/>
            </a:avLst>
          </a:prstGeom>
          <a:solidFill>
            <a:srgbClr val="ECF3F2"/>
          </a:solidFill>
          <a:ln w="12700">
            <a:solidFill>
              <a:srgbClr val="ECF3F2"/>
            </a:solidFill>
            <a:prstDash val="solid"/>
          </a:ln>
        </p:spPr>
      </p:sp>
      <p:sp>
        <p:nvSpPr>
          <p:cNvPr id="15" name="Shape 11"/>
          <p:cNvSpPr/>
          <p:nvPr/>
        </p:nvSpPr>
        <p:spPr>
          <a:xfrm>
            <a:off x="8417357" y="2474532"/>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611692"/>
            <a:ext cx="182880" cy="182880"/>
          </a:xfrm>
          <a:prstGeom prst="rect">
            <a:avLst/>
          </a:prstGeom>
        </p:spPr>
      </p:pic>
      <p:sp>
        <p:nvSpPr>
          <p:cNvPr id="17" name="Text 12"/>
          <p:cNvSpPr/>
          <p:nvPr/>
        </p:nvSpPr>
        <p:spPr>
          <a:xfrm>
            <a:off x="8417357"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不得欺骗与不当施压</a:t>
            </a:r>
            <a:endParaRPr lang="en-US" sz="1700" dirty="0"/>
          </a:p>
        </p:txBody>
      </p:sp>
      <p:sp>
        <p:nvSpPr>
          <p:cNvPr id="18" name="Text 13"/>
          <p:cNvSpPr/>
          <p:nvPr/>
        </p:nvSpPr>
        <p:spPr>
          <a:xfrm>
            <a:off x="8417357"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不得以虚假陈述诱使对方作出让步；不得以举报、曝光、影响其家人工作等与本案无关的事项相要挟；不得利用对方的年老、疾病、语言障碍等弱势状态取得不当利益。</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10</a:t>
            </a:r>
            <a:endParaRPr lang="en-US" sz="1100" dirty="0"/>
          </a:p>
        </p:txBody>
      </p:sp>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name="Slide 446">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对抗制要求律师全力为委托人主张，但从未要求律师把对方当作敌人。前者是职业角色，后者是个人情绪。</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争讼伦理的基本态度</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把对抗理解为敌意，是律师庭审失态、同行相攻、乃至越过规范红线的心理起点</a:t>
            </a:r>
            <a:endParaRPr lang="en-US" sz="1300" dirty="0"/>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name="Slide 44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对证人的义务：调查取证的界限</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律师有权取证，但取证的方式决定了它是证据还是罪证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12</a:t>
            </a:r>
            <a:endParaRPr lang="en-US" sz="1100" dirty="0"/>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name="Slide 4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取证权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《律师法》第三十五条：调查取证权及其限制</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《中华人民共和国律师法》第三十五条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受委托的律师根据案情的需要，可以申请人民检察院、人民法院收集、调取证据或者申请人民法院通知证人出庭作证。</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律师自行调查取证的，凭律师执业证书和律师事务所证明，可以向有关单位或者个人调查与承办法律事务有关的情况。</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律师取证权的三重限制：其一，向单位或个人调查须其配合，律师无强制取证权；其二，依《刑事诉讼法》，向被害人及其近亲属、被害人提供的证人收集材料，须经检察院或法院许可并经本人同意；其三，取证方式受《刑法》第三百零六条的约束。正因如此，“申请司法机关调取”往往是比“自行调查”更安全的路径。</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13</a:t>
            </a:r>
            <a:endParaRPr lang="en-US" sz="1100" dirty="0"/>
          </a:p>
        </p:txBody>
      </p:sp>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name="Slide 4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界限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合法取证与违法取证的分界</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合法：如实记录已有的记忆</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向证人说明来意与身份，询问其所知情况，如实记录其陈述，由其确认签字。证人陈述与此前证言不一致的，如实记录不一致的内容与原因，不得选择性记录。</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灰色：提示与唤起记忆</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向证人出示相关材料以唤起记忆，本身并不违法，但极易滑向暗示。稳妥做法是：先让证人自由陈述并记录，再出示材料，并将出示行为与前后陈述的变化如实记入笔录。</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违法：威胁、引诱、指使</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以举报、曝光、诉讼相威胁；许诺金钱、就业、撤诉等利益；直接告知“你就说他当时不在场”。此类行为构成《刑法》第三百零六条的“威胁、引诱证人违背事实改变证言”，且不以证言实际改变为要件。</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14</a:t>
            </a:r>
            <a:endParaRPr lang="en-US" sz="1100" dirty="0"/>
          </a:p>
        </p:txBody>
      </p:sp>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name="Slide 45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对媒体与公众的义务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自媒体时代最需要建立的新习惯</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15</a:t>
            </a:r>
            <a:endParaRPr lang="en-US" sz="1100" dirty="0"/>
          </a:p>
        </p:txBody>
      </p:sp>
    </p:spTree>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name="Slide 4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庭外言论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可以说什么，不可以说什么</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通常允许</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陈述已经公开的程序性信息：立案、开庭时间、判决结果。</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就已生效裁判发表专业评论，或者就抽象法律问题进行普法。</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在委托人授权的范围内，代其发表声明澄清不实报道。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前提：真实、准确、必要，且不损害委托人利益与司法公正。</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应当避免或者禁止</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披露保密信息、当事人隐私、未公开的证据材料与卷宗内容。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对未决案件发表结论性评论，或者以舆论向办案机关施压。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发表可能影响证人、鉴定人作证的言论；渲染对立情绪。</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注意：《律师法》第三十七条的言论豁免仅限于“在法庭上发表的代理、辩护意见”，庭外言论不在豁免范围。</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16</a:t>
            </a:r>
            <a:endParaRPr lang="en-US" sz="1100" dirty="0"/>
          </a:p>
        </p:txBody>
      </p:sp>
    </p:spTree>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name="Slide 4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判断框架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庭外言论的四问框架</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遇到“要不要发声”的问题时，请依次问自己四个问题。</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一问目的：我发声是为了维护委托人的合法权益，还是为了扩大个人影响、承揽业务？后者应当止步。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二问必要：不发声是否会使委托人受到实质损害？若诉讼程序内的救济足以解决，应当优先使用程序内手段。</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三问授权：委托人是否知情并同意？涉及其隐私、商业秘密或者可能影响其社会评价的，必须取得明确授权。</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四问后果：这段言论会不会影响证人、影响裁判者、影响未来的执行？会不会在案件反转时使委托人陷入更不利的境地？</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请记住一个反直觉的经验：在多数案件中，律师保持沉默对委托人更有利。发声的冲动，往往来自律师自己而非当事人。</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17</a:t>
            </a:r>
            <a:endParaRPr lang="en-US" sz="1100" dirty="0"/>
          </a:p>
        </p:txBody>
      </p:sp>
    </p:spTree>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name="Slide 45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刑事辩护的特殊难题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三个没有标准答案、但必须有立场的问题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18</a:t>
            </a:r>
            <a:endParaRPr lang="en-US" sz="1100" dirty="0"/>
          </a:p>
        </p:txBody>
      </p:sp>
    </p:spTree>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name="Slide 4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三个难题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刑辩伦理中最经典的三个争议</a:t>
            </a:r>
            <a:endParaRPr lang="en-US" sz="2800" dirty="0"/>
          </a:p>
        </p:txBody>
      </p:sp>
      <p:sp>
        <p:nvSpPr>
          <p:cNvPr id="4" name="Shape 2"/>
          <p:cNvSpPr/>
          <p:nvPr/>
        </p:nvSpPr>
        <p:spPr>
          <a:xfrm>
            <a:off x="566928" y="1316736"/>
            <a:ext cx="11057839" cy="1775206"/>
          </a:xfrm>
          <a:prstGeom prst="roundRect">
            <a:avLst>
              <a:gd name="adj" fmla="val 4121"/>
            </a:avLst>
          </a:prstGeom>
          <a:solidFill>
            <a:srgbClr val="F2F4F8"/>
          </a:solidFill>
          <a:ln w="12700">
            <a:solidFill>
              <a:srgbClr val="F2F4F8"/>
            </a:solidFill>
            <a:prstDash val="solid"/>
          </a:ln>
        </p:spPr>
      </p:sp>
      <p:sp>
        <p:nvSpPr>
          <p:cNvPr id="5" name="Shape 3"/>
          <p:cNvSpPr/>
          <p:nvPr/>
        </p:nvSpPr>
        <p:spPr>
          <a:xfrm>
            <a:off x="841248" y="19483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01926"/>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一、被告人认罪，律师能否作无罪辩护？</a:t>
            </a:r>
            <a:endParaRPr lang="en-US" sz="1650" dirty="0"/>
          </a:p>
        </p:txBody>
      </p:sp>
      <p:sp>
        <p:nvSpPr>
          <p:cNvPr id="8" name="Text 5"/>
          <p:cNvSpPr/>
          <p:nvPr/>
        </p:nvSpPr>
        <p:spPr>
          <a:xfrm>
            <a:off x="1536192" y="196069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这是“独立辩护权”之争。一种观点认为辩护人依据事实与法律独立发表意见，可以作无罪辩护；另一种观点认为辩护权源于被追诉人，重大辩护方向应当尊重其本人意愿。折中且较为稳妥的做法是：充分沟通并说明利弊；分歧无法弥合的，可以就证据不足提出质疑而不作与被告人陈述直接矛盾的事实主张，或者依法解除委托。</a:t>
            </a:r>
            <a:endParaRPr lang="en-US" sz="1500" dirty="0"/>
          </a:p>
        </p:txBody>
      </p:sp>
      <p:sp>
        <p:nvSpPr>
          <p:cNvPr id="9" name="Shape 6"/>
          <p:cNvSpPr/>
          <p:nvPr/>
        </p:nvSpPr>
        <p:spPr>
          <a:xfrm>
            <a:off x="566928" y="3238246"/>
            <a:ext cx="11057839" cy="1498981"/>
          </a:xfrm>
          <a:prstGeom prst="roundRect">
            <a:avLst>
              <a:gd name="adj" fmla="val 4880"/>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二、当事人当庭翻供，律师怎么办？</a:t>
            </a:r>
            <a:endParaRPr lang="en-US" sz="1650" dirty="0"/>
          </a:p>
        </p:txBody>
      </p:sp>
      <p:sp>
        <p:nvSpPr>
          <p:cNvPr id="13" name="Text 9"/>
          <p:cNvSpPr/>
          <p:nvPr/>
        </p:nvSpPr>
        <p:spPr>
          <a:xfrm>
            <a:off x="1536192" y="388220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不得就自己明知虚假的事实进行论证，但也不得当庭揭发委托人。可行路径：请求休庭与当事人核实；转而围绕控方证据是否达到证明标准展开辩护；情节严重且无法调和的，依《律师法》第三十二条第二款处理。</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三、会见中的告知边界</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律师可以告知案件进展、法律规定、量刑幅度、认罪认罚的后果，帮助其理解处境并作出选择；不得传递串供信息、不得转达同案犯的口供内容、不得帮助其编造辩解。核心区分：提供法律帮助与妨害刑事诉讼。</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19</a:t>
            </a:r>
            <a:endParaRPr lang="en-US" sz="1100" dirty="0"/>
          </a:p>
        </p:txBody>
      </p:sp>
    </p:spTree>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name="Slide 4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四种情形，四条界线</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边界辨析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消极辩护与积极造假的分界</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情形一：被告人向律师承认作案，律师在法庭上主张“控方提供的现场指纹鉴定程序违法，不能作为定案依据”。</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情形二：同上，律师在法庭上主张“我的当事人案发当晚在外地，有人可以证明”，而律师明知这不是事实。</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情形三：律师会见时告知被告人“同案的另一人已经供述你参与了策划”，被告人随即改变了此前的供述。</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情形四：律师发现委托人提交的一份合同复印件系伪造，此前已随起诉状提交法院。</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四种情形分别如何定性？</a:t>
            </a:r>
            <a:endParaRPr lang="en-US" sz="1400" dirty="0"/>
          </a:p>
        </p:txBody>
      </p:sp>
      <p:sp>
        <p:nvSpPr>
          <p:cNvPr id="14" name="Shape 12"/>
          <p:cNvSpPr/>
          <p:nvPr/>
        </p:nvSpPr>
        <p:spPr>
          <a:xfrm>
            <a:off x="7958023" y="296532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296532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913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情形一与情形二的分界线是什么？</a:t>
            </a:r>
            <a:endParaRPr lang="en-US" sz="1400" dirty="0"/>
          </a:p>
        </p:txBody>
      </p:sp>
      <p:sp>
        <p:nvSpPr>
          <p:cNvPr id="17" name="Shape 15"/>
          <p:cNvSpPr/>
          <p:nvPr/>
        </p:nvSpPr>
        <p:spPr>
          <a:xfrm>
            <a:off x="7958023" y="371690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371690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72071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情形三是否构成妨害作证？</a:t>
            </a:r>
            <a:endParaRPr lang="en-US" sz="1400" dirty="0"/>
          </a:p>
        </p:txBody>
      </p:sp>
      <p:sp>
        <p:nvSpPr>
          <p:cNvPr id="20" name="Shape 18"/>
          <p:cNvSpPr/>
          <p:nvPr/>
        </p:nvSpPr>
        <p:spPr>
          <a:xfrm>
            <a:off x="7958023" y="446849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46849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47230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情形四中律师应当采取哪些步骤？</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20</a:t>
            </a:r>
            <a:endParaRPr lang="en-US" sz="1100" dirty="0"/>
          </a:p>
        </p:txBody>
      </p:sp>
    </p:spTree>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name="Slide 4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英美法系部分规则要求律师主动向法庭披露对本方不利的控制性先例（adverse authority）。我国是否应当引入这一“积极真实义务”？请从对抗制的运作逻辑与法官检索能力两个角度论证。</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《刑法》第三百零六条被称为悬在刑辩律师头上的剑。请评价该条第二款出罪条款的实际效果，并提出既能防止伪证又能保障辩护的制度改进方案。</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某律师使用人工智能工具检索判例，将生成的三个“判例”写入代理词，庭审时被对方指出其中两个并不存在。该律师是否违反对法庭的义务？应当承担何种责任？</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被告人坚持认罪，律师根据卷宗确信其无罪。此时律师作无罪辩护，是尊重了被告人的最佳利益，还是侵犯了他的自主决定权？请给出你的立场与理由。</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21</a:t>
            </a:r>
            <a:endParaRPr lang="en-US" sz="1100" dirty="0"/>
          </a:p>
        </p:txBody>
      </p:sp>
    </p:spTree>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name="Slide 457">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第20课时要点回顾</a:t>
            </a:r>
            <a:endParaRPr lang="en-US" sz="3000" dirty="0"/>
          </a:p>
        </p:txBody>
      </p:sp>
      <p:sp>
        <p:nvSpPr>
          <p:cNvPr id="4" name="Shape 2"/>
          <p:cNvSpPr/>
          <p:nvPr/>
        </p:nvSpPr>
        <p:spPr>
          <a:xfrm>
            <a:off x="566928" y="1591056"/>
            <a:ext cx="11057839" cy="761005"/>
          </a:xfrm>
          <a:prstGeom prst="roundRect">
            <a:avLst>
              <a:gd name="adj" fmla="val 9613"/>
            </a:avLst>
          </a:prstGeom>
          <a:solidFill>
            <a:srgbClr val="25395F"/>
          </a:solidFill>
          <a:ln w="12700">
            <a:solidFill>
              <a:srgbClr val="25395F"/>
            </a:solidFill>
            <a:prstDash val="solid"/>
          </a:ln>
        </p:spPr>
      </p:sp>
      <p:sp>
        <p:nvSpPr>
          <p:cNvPr id="5" name="Shape 3"/>
          <p:cNvSpPr/>
          <p:nvPr/>
        </p:nvSpPr>
        <p:spPr>
          <a:xfrm>
            <a:off x="859536" y="177039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91091"/>
            <a:ext cx="160934" cy="160934"/>
          </a:xfrm>
          <a:prstGeom prst="rect">
            <a:avLst/>
          </a:prstGeom>
        </p:spPr>
      </p:pic>
      <p:sp>
        <p:nvSpPr>
          <p:cNvPr id="7" name="Text 4"/>
          <p:cNvSpPr/>
          <p:nvPr/>
        </p:nvSpPr>
        <p:spPr>
          <a:xfrm>
            <a:off x="1444752" y="173343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我国以消极真实义务为基本立场：不得主动欺骗法庭，但不负有主动揭发委托人不利事实的义务。核心分界是——就对方举证不足提出质疑（正当）与积极提出明知虚假的事实（禁止）。</a:t>
            </a:r>
            <a:endParaRPr lang="en-US" sz="1250" dirty="0"/>
          </a:p>
        </p:txBody>
      </p:sp>
      <p:sp>
        <p:nvSpPr>
          <p:cNvPr id="8" name="Shape 5"/>
          <p:cNvSpPr/>
          <p:nvPr/>
        </p:nvSpPr>
        <p:spPr>
          <a:xfrm>
            <a:off x="566928" y="2489221"/>
            <a:ext cx="11057839" cy="761005"/>
          </a:xfrm>
          <a:prstGeom prst="roundRect">
            <a:avLst>
              <a:gd name="adj" fmla="val 9613"/>
            </a:avLst>
          </a:prstGeom>
          <a:solidFill>
            <a:srgbClr val="25395F"/>
          </a:solidFill>
          <a:ln w="12700">
            <a:solidFill>
              <a:srgbClr val="25395F"/>
            </a:solidFill>
            <a:prstDash val="solid"/>
          </a:ln>
        </p:spPr>
      </p:sp>
      <p:sp>
        <p:nvSpPr>
          <p:cNvPr id="9" name="Shape 6"/>
          <p:cNvSpPr/>
          <p:nvPr/>
        </p:nvSpPr>
        <p:spPr>
          <a:xfrm>
            <a:off x="859536" y="2668556"/>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89257"/>
            <a:ext cx="160934" cy="160934"/>
          </a:xfrm>
          <a:prstGeom prst="rect">
            <a:avLst/>
          </a:prstGeom>
        </p:spPr>
      </p:pic>
      <p:sp>
        <p:nvSpPr>
          <p:cNvPr id="11" name="Text 7"/>
          <p:cNvSpPr/>
          <p:nvPr/>
        </p:nvSpPr>
        <p:spPr>
          <a:xfrm>
            <a:off x="1444752" y="2631599"/>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对法庭的四项义务：不提供虚假证据与不作虚假陈述、如实引用法律与判例（含核实人工智能生成的检索结果）、尊重法庭与遵守规则、不得违规接触与影响。</a:t>
            </a:r>
            <a:endParaRPr lang="en-US" sz="1250" dirty="0"/>
          </a:p>
        </p:txBody>
      </p:sp>
      <p:sp>
        <p:nvSpPr>
          <p:cNvPr id="12" name="Shape 8"/>
          <p:cNvSpPr/>
          <p:nvPr/>
        </p:nvSpPr>
        <p:spPr>
          <a:xfrm>
            <a:off x="566928" y="3387386"/>
            <a:ext cx="11057839" cy="761005"/>
          </a:xfrm>
          <a:prstGeom prst="roundRect">
            <a:avLst>
              <a:gd name="adj" fmla="val 9613"/>
            </a:avLst>
          </a:prstGeom>
          <a:solidFill>
            <a:srgbClr val="25395F"/>
          </a:solidFill>
          <a:ln w="12700">
            <a:solidFill>
              <a:srgbClr val="25395F"/>
            </a:solidFill>
            <a:prstDash val="solid"/>
          </a:ln>
        </p:spPr>
      </p:sp>
      <p:sp>
        <p:nvSpPr>
          <p:cNvPr id="13" name="Shape 9"/>
          <p:cNvSpPr/>
          <p:nvPr/>
        </p:nvSpPr>
        <p:spPr>
          <a:xfrm>
            <a:off x="859536" y="3566721"/>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87422"/>
            <a:ext cx="160934" cy="160934"/>
          </a:xfrm>
          <a:prstGeom prst="rect">
            <a:avLst/>
          </a:prstGeom>
        </p:spPr>
      </p:pic>
      <p:sp>
        <p:nvSpPr>
          <p:cNvPr id="15" name="Text 10"/>
          <p:cNvSpPr/>
          <p:nvPr/>
        </p:nvSpPr>
        <p:spPr>
          <a:xfrm>
            <a:off x="1444752" y="352976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《刑法》第三百零六条第二款是重要的出罪条款：证据失实而非有意伪造的，不构成犯罪。取证六条自我保护规则：两人同行、全程记录、先程序后实体、不作引导性发问、不涉利益、优先申请司法机关取证。</a:t>
            </a:r>
            <a:endParaRPr lang="en-US" sz="1250" dirty="0"/>
          </a:p>
        </p:txBody>
      </p:sp>
      <p:sp>
        <p:nvSpPr>
          <p:cNvPr id="16" name="Shape 11"/>
          <p:cNvSpPr/>
          <p:nvPr/>
        </p:nvSpPr>
        <p:spPr>
          <a:xfrm>
            <a:off x="566928" y="4285552"/>
            <a:ext cx="11057839" cy="530818"/>
          </a:xfrm>
          <a:prstGeom prst="roundRect">
            <a:avLst>
              <a:gd name="adj" fmla="val 13781"/>
            </a:avLst>
          </a:prstGeom>
          <a:solidFill>
            <a:srgbClr val="25395F"/>
          </a:solidFill>
          <a:ln w="12700">
            <a:solidFill>
              <a:srgbClr val="25395F"/>
            </a:solidFill>
            <a:prstDash val="solid"/>
          </a:ln>
        </p:spPr>
      </p:sp>
      <p:sp>
        <p:nvSpPr>
          <p:cNvPr id="17" name="Shape 12"/>
          <p:cNvSpPr/>
          <p:nvPr/>
        </p:nvSpPr>
        <p:spPr>
          <a:xfrm>
            <a:off x="859536" y="4367848"/>
            <a:ext cx="366226" cy="36622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69404" y="4477715"/>
            <a:ext cx="146490" cy="146490"/>
          </a:xfrm>
          <a:prstGeom prst="rect">
            <a:avLst/>
          </a:prstGeom>
        </p:spPr>
      </p:pic>
      <p:sp>
        <p:nvSpPr>
          <p:cNvPr id="19" name="Text 13"/>
          <p:cNvSpPr/>
          <p:nvPr/>
        </p:nvSpPr>
        <p:spPr>
          <a:xfrm>
            <a:off x="1444752" y="443189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对对方三条规则：不得绕过对方代理人直接接触、对无代理人的对方须表明立场、不得欺骗与不当施压。对抗是角色，不是敌意。</a:t>
            </a:r>
            <a:endParaRPr lang="en-US" sz="1250" dirty="0"/>
          </a:p>
        </p:txBody>
      </p:sp>
      <p:sp>
        <p:nvSpPr>
          <p:cNvPr id="20" name="Shape 14"/>
          <p:cNvSpPr/>
          <p:nvPr/>
        </p:nvSpPr>
        <p:spPr>
          <a:xfrm>
            <a:off x="566928" y="4953529"/>
            <a:ext cx="11057839" cy="530818"/>
          </a:xfrm>
          <a:prstGeom prst="roundRect">
            <a:avLst>
              <a:gd name="adj" fmla="val 13781"/>
            </a:avLst>
          </a:prstGeom>
          <a:solidFill>
            <a:srgbClr val="25395F"/>
          </a:solidFill>
          <a:ln w="12700">
            <a:solidFill>
              <a:srgbClr val="25395F"/>
            </a:solidFill>
            <a:prstDash val="solid"/>
          </a:ln>
        </p:spPr>
      </p:sp>
      <p:sp>
        <p:nvSpPr>
          <p:cNvPr id="21" name="Shape 15"/>
          <p:cNvSpPr/>
          <p:nvPr/>
        </p:nvSpPr>
        <p:spPr>
          <a:xfrm>
            <a:off x="859536" y="5035825"/>
            <a:ext cx="366226" cy="36622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69404" y="5145693"/>
            <a:ext cx="146490" cy="146490"/>
          </a:xfrm>
          <a:prstGeom prst="rect">
            <a:avLst/>
          </a:prstGeom>
        </p:spPr>
      </p:pic>
      <p:sp>
        <p:nvSpPr>
          <p:cNvPr id="23" name="Text 16"/>
          <p:cNvSpPr/>
          <p:nvPr/>
        </p:nvSpPr>
        <p:spPr>
          <a:xfrm>
            <a:off x="1444752" y="50998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取证界限：如实记录已有记忆（合法）—提示与唤起记忆（灰色，须全程留痕）—威胁引诱指使（违法且不以证言实际改变为要件）。</a:t>
            </a:r>
            <a:endParaRPr lang="en-US" sz="1250" dirty="0"/>
          </a:p>
        </p:txBody>
      </p:sp>
      <p:sp>
        <p:nvSpPr>
          <p:cNvPr id="24" name="Shape 17"/>
          <p:cNvSpPr/>
          <p:nvPr/>
        </p:nvSpPr>
        <p:spPr>
          <a:xfrm>
            <a:off x="566928" y="5621507"/>
            <a:ext cx="11057839" cy="761005"/>
          </a:xfrm>
          <a:prstGeom prst="roundRect">
            <a:avLst>
              <a:gd name="adj" fmla="val 9613"/>
            </a:avLst>
          </a:prstGeom>
          <a:solidFill>
            <a:srgbClr val="25395F"/>
          </a:solidFill>
          <a:ln w="12700">
            <a:solidFill>
              <a:srgbClr val="25395F"/>
            </a:solidFill>
            <a:prstDash val="solid"/>
          </a:ln>
        </p:spPr>
      </p:sp>
      <p:sp>
        <p:nvSpPr>
          <p:cNvPr id="25" name="Shape 18"/>
          <p:cNvSpPr/>
          <p:nvPr/>
        </p:nvSpPr>
        <p:spPr>
          <a:xfrm>
            <a:off x="859536" y="580084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1542"/>
            <a:ext cx="160934" cy="160934"/>
          </a:xfrm>
          <a:prstGeom prst="rect">
            <a:avLst/>
          </a:prstGeom>
        </p:spPr>
      </p:pic>
      <p:sp>
        <p:nvSpPr>
          <p:cNvPr id="27" name="Text 19"/>
          <p:cNvSpPr/>
          <p:nvPr/>
        </p:nvSpPr>
        <p:spPr>
          <a:xfrm>
            <a:off x="1444752" y="576388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庭外言论四问框架：问目的、问必要、问授权、问后果。《律师法》第三十七条的言论豁免仅限于法庭上的代理、辩护意见，庭外发言不在豁免范围。</a:t>
            </a:r>
            <a:endParaRPr lang="en-US" sz="1250" dirty="0"/>
          </a:p>
        </p:txBody>
      </p:sp>
    </p:spTree>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name="Slide 458">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第21课时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律师事务所治理、律师协会与司法行政管理</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个体的自律之外，还有组织的管理、行业的自治与国家的监管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律所不是挂靠单位：八项管理责任</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律师协会的职责与行业惩戒</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司法行政机关的处罚三级阶梯</a:t>
            </a:r>
            <a:endParaRPr lang="en-US" sz="1400" dirty="0"/>
          </a:p>
        </p:txBody>
      </p:sp>
    </p:spTree>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name="Slide 4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三层管理结构</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一、律师事务所的性质与内部治理</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二、律所的八项管理责任</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三、律师协会：性质、职责与会员管理</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四、行业惩戒：处分种类与程序</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五、司法行政机关的监督管理与行政处罚</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六、“两结合”体制的评价与第四编总结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02</a:t>
            </a:r>
            <a:endParaRPr lang="en-US" sz="1100" dirty="0"/>
          </a:p>
        </p:txBody>
      </p:sp>
    </p:spTree>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name="Slide 46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律师事务所的性质与内部治理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律所是律师的执业机构，也是承担法律责任的独立主体</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03</a:t>
            </a:r>
            <a:endParaRPr lang="en-US" sz="1100" dirty="0"/>
          </a:p>
        </p:txBody>
      </p:sp>
    </p:spTree>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name="Slide 4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性质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理解律所性质的三个命题</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一、律所是委托关系的法律主体</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法》第二十五条要求由律师事务所统一接受委托、签订书面合同、统一收费。这意味着委托合同的当事人是律所而非律师个人；委托人主张权利的对象也是律所。第五十四条进一步确立律所对外承担赔偿责任、对故意或者重大过失的律师内部追偿的双层结构。</a:t>
            </a:r>
            <a:endParaRPr lang="en-US" sz="1500" dirty="0"/>
          </a:p>
        </p:txBody>
      </p:sp>
      <p:sp>
        <p:nvSpPr>
          <p:cNvPr id="9" name="Shape 6"/>
          <p:cNvSpPr/>
          <p:nvPr/>
        </p:nvSpPr>
        <p:spPr>
          <a:xfrm>
            <a:off x="566928" y="3146171"/>
            <a:ext cx="11057839" cy="1406906"/>
          </a:xfrm>
          <a:prstGeom prst="roundRect">
            <a:avLst>
              <a:gd name="adj" fmla="val 519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二、律所负有独立的管理义务</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律所不是律师的“挂靠单位”，而是负有实质管理义务的主体。管理失职本身即构成违规，可被独立处罚，而不以承办律师被处罚为前提。这是我国律师管理制度的一项重要设计。</a:t>
            </a:r>
            <a:endParaRPr lang="en-US" sz="1500" dirty="0"/>
          </a:p>
        </p:txBody>
      </p:sp>
      <p:sp>
        <p:nvSpPr>
          <p:cNvPr id="14" name="Shape 10"/>
          <p:cNvSpPr/>
          <p:nvPr/>
        </p:nvSpPr>
        <p:spPr>
          <a:xfrm>
            <a:off x="566928" y="4699381"/>
            <a:ext cx="11057839" cy="1683131"/>
          </a:xfrm>
          <a:prstGeom prst="roundRect">
            <a:avLst>
              <a:gd name="adj" fmla="val 4346"/>
            </a:avLst>
          </a:prstGeom>
          <a:solidFill>
            <a:srgbClr val="F2F4F8"/>
          </a:solidFill>
          <a:ln w="12700">
            <a:solidFill>
              <a:srgbClr val="F2F4F8"/>
            </a:solidFill>
            <a:prstDash val="solid"/>
          </a:ln>
        </p:spPr>
      </p:sp>
      <p:sp>
        <p:nvSpPr>
          <p:cNvPr id="15" name="Shape 11"/>
          <p:cNvSpPr/>
          <p:nvPr/>
        </p:nvSpPr>
        <p:spPr>
          <a:xfrm>
            <a:off x="841248" y="528491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38534"/>
            <a:ext cx="204826" cy="204826"/>
          </a:xfrm>
          <a:prstGeom prst="rect">
            <a:avLst/>
          </a:prstGeom>
        </p:spPr>
      </p:pic>
      <p:sp>
        <p:nvSpPr>
          <p:cNvPr id="17" name="Text 12"/>
          <p:cNvSpPr/>
          <p:nvPr/>
        </p:nvSpPr>
        <p:spPr>
          <a:xfrm>
            <a:off x="1536192" y="4955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三、律所的组织形式决定责任承担</a:t>
            </a:r>
            <a:endParaRPr lang="en-US" sz="1650" dirty="0"/>
          </a:p>
        </p:txBody>
      </p:sp>
      <p:sp>
        <p:nvSpPr>
          <p:cNvPr id="18" name="Text 13"/>
          <p:cNvSpPr/>
          <p:nvPr/>
        </p:nvSpPr>
        <p:spPr>
          <a:xfrm>
            <a:off x="1536192" y="529729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普通合伙、特殊的普通合伙、个人律师事务所、国家出资设立的律师事务所，其债务承担方式不同。特殊的普通合伙中，因故意或者重大过失产生的债务由行为人承担无限责任，其他合伙人以财产份额为限——这使大型律所成为可能。</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04</a:t>
            </a:r>
            <a:endParaRPr lang="en-US" sz="1100" dirty="0"/>
          </a:p>
        </p:txBody>
      </p:sp>
    </p:spTree>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name="Slide 4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内部治理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律所内部治理的四个层面</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决策机构</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合伙人会议是合伙律所的最高决策机构，决定重大事项；设主任负责日常管理与对外代表；规模较大的律所设管理委员会、执行委员会等常设机构。</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风险控制</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设立风险控制部门或者指定合伙人负责利益冲突审查、案件质量复核、重大案件评估、执业风险预警；建立执业责任保险制度。</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业务管理</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统一收案、统一收费、统一开票、统一归档；建立案件质量评查与文书复核制度；建立专业委员会或者业务部门以保障专业胜任。</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人员管理</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实习人员的指导与考核；律师的年度考核与继续教育；执业纪律教育与培训；对违规行为的内部处理与报告。</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05</a:t>
            </a:r>
            <a:endParaRPr lang="en-US" sz="1100" dirty="0"/>
          </a:p>
        </p:txBody>
      </p:sp>
    </p:spTree>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name="Slide 46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律所的八项管理责任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这些义务写在《律师法》与《律师事务所管理办法》里，不是内部规章</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06</a:t>
            </a:r>
            <a:endParaRPr lang="en-US" sz="1100" dirty="0"/>
          </a:p>
        </p:txBody>
      </p:sp>
    </p:spTree>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name="Slide 4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责任清单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律师事务所的八项法定管理责任</a:t>
            </a:r>
            <a:endParaRPr lang="en-US" sz="2800" dirty="0"/>
          </a:p>
        </p:txBody>
      </p:sp>
      <p:sp>
        <p:nvSpPr>
          <p:cNvPr id="4" name="Shape 2"/>
          <p:cNvSpPr/>
          <p:nvPr/>
        </p:nvSpPr>
        <p:spPr>
          <a:xfrm>
            <a:off x="566928" y="1498854"/>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1809941"/>
            <a:ext cx="457200" cy="457200"/>
          </a:xfrm>
          <a:prstGeom prst="ellipse">
            <a:avLst/>
          </a:prstGeom>
          <a:solidFill>
            <a:srgbClr val="13233F"/>
          </a:solidFill>
          <a:ln w="12700">
            <a:solidFill>
              <a:srgbClr val="13233F"/>
            </a:solidFill>
            <a:prstDash val="solid"/>
          </a:ln>
        </p:spPr>
      </p:sp>
      <p:sp>
        <p:nvSpPr>
          <p:cNvPr id="6" name="Text 4"/>
          <p:cNvSpPr/>
          <p:nvPr/>
        </p:nvSpPr>
        <p:spPr>
          <a:xfrm>
            <a:off x="822960" y="180994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636014"/>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一、统一接受委托与收费管理</a:t>
            </a:r>
            <a:endParaRPr lang="en-US" sz="1500" dirty="0"/>
          </a:p>
        </p:txBody>
      </p:sp>
      <p:sp>
        <p:nvSpPr>
          <p:cNvPr id="8" name="Text 6"/>
          <p:cNvSpPr/>
          <p:nvPr/>
        </p:nvSpPr>
        <p:spPr>
          <a:xfrm>
            <a:off x="1444752" y="1943862"/>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统一接受委托、签订书面合同、统一收费、如实入账、依法纳税。这一项失守，后面所有管理都无从谈起。</a:t>
            </a:r>
            <a:endParaRPr lang="en-US" sz="1350" dirty="0"/>
          </a:p>
        </p:txBody>
      </p:sp>
      <p:sp>
        <p:nvSpPr>
          <p:cNvPr id="9" name="Shape 7"/>
          <p:cNvSpPr/>
          <p:nvPr/>
        </p:nvSpPr>
        <p:spPr>
          <a:xfrm>
            <a:off x="566928" y="2706243"/>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017330"/>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01733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2843403"/>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二、利益冲突审查</a:t>
            </a:r>
            <a:endParaRPr lang="en-US" sz="1500" dirty="0"/>
          </a:p>
        </p:txBody>
      </p:sp>
      <p:sp>
        <p:nvSpPr>
          <p:cNvPr id="13" name="Text 11"/>
          <p:cNvSpPr/>
          <p:nvPr/>
        </p:nvSpPr>
        <p:spPr>
          <a:xfrm>
            <a:off x="1444752" y="3151251"/>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建立并有效运行冲突审查制度，明确责任部门与程序，接案前强制检索，重大节点复查，全程留痕。</a:t>
            </a:r>
            <a:endParaRPr lang="en-US" sz="1350" dirty="0"/>
          </a:p>
        </p:txBody>
      </p:sp>
      <p:sp>
        <p:nvSpPr>
          <p:cNvPr id="14" name="Shape 12"/>
          <p:cNvSpPr/>
          <p:nvPr/>
        </p:nvSpPr>
        <p:spPr>
          <a:xfrm>
            <a:off x="566928" y="3913632"/>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4224719"/>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22471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三、执业行为监督</a:t>
            </a:r>
            <a:endParaRPr lang="en-US" sz="1500" dirty="0"/>
          </a:p>
        </p:txBody>
      </p:sp>
      <p:sp>
        <p:nvSpPr>
          <p:cNvPr id="18" name="Text 16"/>
          <p:cNvSpPr/>
          <p:nvPr/>
        </p:nvSpPr>
        <p:spPr>
          <a:xfrm>
            <a:off x="1444752" y="4358640"/>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对律师的执业行为进行日常监督；发现违规及时制止、纠正并按规定报告司法行政机关与律师协会。</a:t>
            </a:r>
            <a:endParaRPr lang="en-US" sz="1350" dirty="0"/>
          </a:p>
        </p:txBody>
      </p:sp>
      <p:sp>
        <p:nvSpPr>
          <p:cNvPr id="19" name="Shape 17"/>
          <p:cNvSpPr/>
          <p:nvPr/>
        </p:nvSpPr>
        <p:spPr>
          <a:xfrm>
            <a:off x="566928" y="5121021"/>
            <a:ext cx="5382616" cy="1079373"/>
          </a:xfrm>
          <a:prstGeom prst="roundRect">
            <a:avLst>
              <a:gd name="adj" fmla="val 6777"/>
            </a:avLst>
          </a:prstGeom>
          <a:solidFill>
            <a:srgbClr val="FFFFFF"/>
          </a:solidFill>
          <a:ln w="12700">
            <a:solidFill>
              <a:srgbClr val="D5DBE5"/>
            </a:solidFill>
            <a:prstDash val="solid"/>
          </a:ln>
        </p:spPr>
      </p:sp>
      <p:sp>
        <p:nvSpPr>
          <p:cNvPr id="20" name="Shape 18"/>
          <p:cNvSpPr/>
          <p:nvPr/>
        </p:nvSpPr>
        <p:spPr>
          <a:xfrm>
            <a:off x="822960" y="5432108"/>
            <a:ext cx="457200" cy="457200"/>
          </a:xfrm>
          <a:prstGeom prst="ellipse">
            <a:avLst/>
          </a:prstGeom>
          <a:solidFill>
            <a:srgbClr val="13233F"/>
          </a:solidFill>
          <a:ln w="12700">
            <a:solidFill>
              <a:srgbClr val="13233F"/>
            </a:solidFill>
            <a:prstDash val="solid"/>
          </a:ln>
        </p:spPr>
      </p:sp>
      <p:sp>
        <p:nvSpPr>
          <p:cNvPr id="21" name="Text 19"/>
          <p:cNvSpPr/>
          <p:nvPr/>
        </p:nvSpPr>
        <p:spPr>
          <a:xfrm>
            <a:off x="822960" y="543210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44752" y="525818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四、案卷与档案管理</a:t>
            </a:r>
            <a:endParaRPr lang="en-US" sz="1500" dirty="0"/>
          </a:p>
        </p:txBody>
      </p:sp>
      <p:sp>
        <p:nvSpPr>
          <p:cNvPr id="23" name="Text 21"/>
          <p:cNvSpPr/>
          <p:nvPr/>
        </p:nvSpPr>
        <p:spPr>
          <a:xfrm>
            <a:off x="1444752" y="5566029"/>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建立统一的立卷、归档、保管、查阅、销毁制度；保障案卷完整与信息安全；离所律师不得带走案卷与客户资料。</a:t>
            </a:r>
            <a:endParaRPr lang="en-US" sz="1350" dirty="0"/>
          </a:p>
        </p:txBody>
      </p:sp>
      <p:sp>
        <p:nvSpPr>
          <p:cNvPr id="24" name="Shape 22"/>
          <p:cNvSpPr/>
          <p:nvPr/>
        </p:nvSpPr>
        <p:spPr>
          <a:xfrm>
            <a:off x="6242152" y="1498854"/>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1809941"/>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180994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1636014"/>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五、投诉处理</a:t>
            </a:r>
            <a:endParaRPr lang="en-US" sz="1500" dirty="0"/>
          </a:p>
        </p:txBody>
      </p:sp>
      <p:sp>
        <p:nvSpPr>
          <p:cNvPr id="28" name="Text 26"/>
          <p:cNvSpPr/>
          <p:nvPr/>
        </p:nvSpPr>
        <p:spPr>
          <a:xfrm>
            <a:off x="7119976" y="1943862"/>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建立投诉受理与处理机制，及时回应委托人的投诉；不得压制、拖延或者以要挟方式处理投诉。</a:t>
            </a:r>
            <a:endParaRPr lang="en-US" sz="1350" dirty="0"/>
          </a:p>
        </p:txBody>
      </p:sp>
      <p:sp>
        <p:nvSpPr>
          <p:cNvPr id="29" name="Shape 27"/>
          <p:cNvSpPr/>
          <p:nvPr/>
        </p:nvSpPr>
        <p:spPr>
          <a:xfrm>
            <a:off x="6242152" y="2706243"/>
            <a:ext cx="5382616" cy="1079373"/>
          </a:xfrm>
          <a:prstGeom prst="roundRect">
            <a:avLst>
              <a:gd name="adj" fmla="val 6777"/>
            </a:avLst>
          </a:prstGeom>
          <a:solidFill>
            <a:srgbClr val="FFFFFF"/>
          </a:solidFill>
          <a:ln w="12700">
            <a:solidFill>
              <a:srgbClr val="D5DBE5"/>
            </a:solidFill>
            <a:prstDash val="solid"/>
          </a:ln>
        </p:spPr>
      </p:sp>
      <p:sp>
        <p:nvSpPr>
          <p:cNvPr id="30" name="Shape 28"/>
          <p:cNvSpPr/>
          <p:nvPr/>
        </p:nvSpPr>
        <p:spPr>
          <a:xfrm>
            <a:off x="6498184" y="3017330"/>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301733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2843403"/>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六、教育培训与实习管理</a:t>
            </a:r>
            <a:endParaRPr lang="en-US" sz="1500" dirty="0"/>
          </a:p>
        </p:txBody>
      </p:sp>
      <p:sp>
        <p:nvSpPr>
          <p:cNvPr id="33" name="Text 31"/>
          <p:cNvSpPr/>
          <p:nvPr/>
        </p:nvSpPr>
        <p:spPr>
          <a:xfrm>
            <a:off x="7119976" y="3151251"/>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组织执业纪律与职业道德教育、业务培训；对申请执业人员的实习进行指导与考核，不得挂名实习。</a:t>
            </a:r>
            <a:endParaRPr lang="en-US" sz="1350" dirty="0"/>
          </a:p>
        </p:txBody>
      </p:sp>
      <p:sp>
        <p:nvSpPr>
          <p:cNvPr id="34" name="Shape 32"/>
          <p:cNvSpPr/>
          <p:nvPr/>
        </p:nvSpPr>
        <p:spPr>
          <a:xfrm>
            <a:off x="6242152" y="3913632"/>
            <a:ext cx="5382616" cy="1079373"/>
          </a:xfrm>
          <a:prstGeom prst="roundRect">
            <a:avLst>
              <a:gd name="adj" fmla="val 6777"/>
            </a:avLst>
          </a:prstGeom>
          <a:solidFill>
            <a:srgbClr val="F2F4F8"/>
          </a:solidFill>
          <a:ln w="12700">
            <a:solidFill>
              <a:srgbClr val="F2F4F8"/>
            </a:solidFill>
            <a:prstDash val="solid"/>
          </a:ln>
        </p:spPr>
      </p:sp>
      <p:sp>
        <p:nvSpPr>
          <p:cNvPr id="35" name="Shape 33"/>
          <p:cNvSpPr/>
          <p:nvPr/>
        </p:nvSpPr>
        <p:spPr>
          <a:xfrm>
            <a:off x="6498184" y="4224719"/>
            <a:ext cx="457200" cy="457200"/>
          </a:xfrm>
          <a:prstGeom prst="ellipse">
            <a:avLst/>
          </a:prstGeom>
          <a:solidFill>
            <a:srgbClr val="13233F"/>
          </a:solidFill>
          <a:ln w="12700">
            <a:solidFill>
              <a:srgbClr val="13233F"/>
            </a:solidFill>
            <a:prstDash val="solid"/>
          </a:ln>
        </p:spPr>
      </p:sp>
      <p:sp>
        <p:nvSpPr>
          <p:cNvPr id="36" name="Text 34"/>
          <p:cNvSpPr/>
          <p:nvPr/>
        </p:nvSpPr>
        <p:spPr>
          <a:xfrm>
            <a:off x="6498184" y="422471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七、法律援助义务的落实</a:t>
            </a:r>
            <a:endParaRPr lang="en-US" sz="1500" dirty="0"/>
          </a:p>
        </p:txBody>
      </p:sp>
      <p:sp>
        <p:nvSpPr>
          <p:cNvPr id="38" name="Text 36"/>
          <p:cNvSpPr/>
          <p:nvPr/>
        </p:nvSpPr>
        <p:spPr>
          <a:xfrm>
            <a:off x="7119976" y="4358640"/>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按规定安排律师承办法律援助案件，保障服务质量，不得推诿或者以劣质服务应付。</a:t>
            </a:r>
            <a:endParaRPr lang="en-US" sz="1350" dirty="0"/>
          </a:p>
        </p:txBody>
      </p:sp>
      <p:sp>
        <p:nvSpPr>
          <p:cNvPr id="39" name="Shape 37"/>
          <p:cNvSpPr/>
          <p:nvPr/>
        </p:nvSpPr>
        <p:spPr>
          <a:xfrm>
            <a:off x="6242152" y="5121021"/>
            <a:ext cx="5382616" cy="1079373"/>
          </a:xfrm>
          <a:prstGeom prst="roundRect">
            <a:avLst>
              <a:gd name="adj" fmla="val 6777"/>
            </a:avLst>
          </a:prstGeom>
          <a:solidFill>
            <a:srgbClr val="FFFFFF"/>
          </a:solidFill>
          <a:ln w="12700">
            <a:solidFill>
              <a:srgbClr val="D5DBE5"/>
            </a:solidFill>
            <a:prstDash val="solid"/>
          </a:ln>
        </p:spPr>
      </p:sp>
      <p:sp>
        <p:nvSpPr>
          <p:cNvPr id="40" name="Shape 38"/>
          <p:cNvSpPr/>
          <p:nvPr/>
        </p:nvSpPr>
        <p:spPr>
          <a:xfrm>
            <a:off x="6498184" y="5432108"/>
            <a:ext cx="457200" cy="457200"/>
          </a:xfrm>
          <a:prstGeom prst="ellipse">
            <a:avLst/>
          </a:prstGeom>
          <a:solidFill>
            <a:srgbClr val="13233F"/>
          </a:solidFill>
          <a:ln w="12700">
            <a:solidFill>
              <a:srgbClr val="13233F"/>
            </a:solidFill>
            <a:prstDash val="solid"/>
          </a:ln>
        </p:spPr>
      </p:sp>
      <p:sp>
        <p:nvSpPr>
          <p:cNvPr id="41" name="Text 39"/>
          <p:cNvSpPr/>
          <p:nvPr/>
        </p:nvSpPr>
        <p:spPr>
          <a:xfrm>
            <a:off x="6498184" y="543210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7119976" y="525818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八、信息报送与年度检查考核</a:t>
            </a:r>
            <a:endParaRPr lang="en-US" sz="1500" dirty="0"/>
          </a:p>
        </p:txBody>
      </p:sp>
      <p:sp>
        <p:nvSpPr>
          <p:cNvPr id="43" name="Text 41"/>
          <p:cNvSpPr/>
          <p:nvPr/>
        </p:nvSpPr>
        <p:spPr>
          <a:xfrm>
            <a:off x="7119976" y="5566029"/>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依规向司法行政机关报送执业情况、人员变动、重大事项；参加年度检查考核并如实提供材料。</a:t>
            </a:r>
            <a:endParaRPr lang="en-US" sz="1350" dirty="0"/>
          </a:p>
        </p:txBody>
      </p:sp>
      <p:sp>
        <p:nvSpPr>
          <p:cNvPr id="44" name="Text 4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07</a:t>
            </a:r>
            <a:endParaRPr lang="en-US" sz="1100" dirty="0"/>
          </a:p>
        </p:txBody>
      </p:sp>
    </p:spTree>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name="Slide 4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关键命题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为什么强调律所的管理责任</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把责任压到律所，是我国律师管理制度的一个基本思路。理由有四。</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第一，个人自律有极限。 单个律师面对客户压力、案源焦虑、人情请托时，抵抗力有限。组织化的制度可以替个人挡住相当一部分压力。</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第二，律所有能力也有动机管理。 律所承担对外赔偿责任、面临吊销执业许可的风险，因而有内在动机约束成员——这是激励相容的制度设计。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第三，监管成本更低。 司法行政机关与律师协会难以直接监督数十万名律师的日常行为，通过管住数万家律所间接实现监管，效率高得多。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第四，责任可以追溯。 一旦发生事故，可以追问律所是否建立并有效执行了相应制度。制度存在与否、是否留痕，是客观可查的。</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请各位记住第18课时的那句话：制度化的意义，在于把“要不要这么做”从一个人情判断，变成了一道必须签字、必须留痕、必须复核的程序。</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08</a:t>
            </a:r>
            <a:endParaRPr lang="en-US" sz="1100" dirty="0"/>
          </a:p>
        </p:txBody>
      </p:sp>
    </p:spTree>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name="Slide 46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律师协会：性质、职责与会员管理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行业自治的载体</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09</a:t>
            </a:r>
            <a:endParaRPr lang="en-US" sz="1100" dirty="0"/>
          </a:p>
        </p:txBody>
      </p:sp>
    </p:spTree>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name="Slide 4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法定职责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《律师法》第四十六条：律师协会的八项职责</a:t>
            </a:r>
            <a:endParaRPr lang="en-US" sz="2800" dirty="0"/>
          </a:p>
        </p:txBody>
      </p:sp>
      <p:sp>
        <p:nvSpPr>
          <p:cNvPr id="4" name="Shape 2"/>
          <p:cNvSpPr/>
          <p:nvPr/>
        </p:nvSpPr>
        <p:spPr>
          <a:xfrm>
            <a:off x="566928" y="1316736"/>
            <a:ext cx="11057839" cy="3451098"/>
          </a:xfrm>
          <a:prstGeom prst="roundRect">
            <a:avLst>
              <a:gd name="adj" fmla="val 265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《中华人民共和国律师法》第四十六条</a:t>
            </a:r>
            <a:endParaRPr lang="en-US" sz="1500" dirty="0"/>
          </a:p>
        </p:txBody>
      </p:sp>
      <p:sp>
        <p:nvSpPr>
          <p:cNvPr id="8" name="Text 6"/>
          <p:cNvSpPr/>
          <p:nvPr/>
        </p:nvSpPr>
        <p:spPr>
          <a:xfrm>
            <a:off x="960120" y="1956816"/>
            <a:ext cx="10271455" cy="2591562"/>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律师协会应当履行下列职责：</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（一）保障律师依法执业，维护律师的合法权益；</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（二）总结、交流律师工作经验；</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（三）制定行业规范和惩戒规则；</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（四）组织律师业务培训和职业道德、执业纪律教育，对律师的执业活动进行考核；</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（五）组织管理申请律师执业人员的实习活动，对实习人员进行考核；</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（六）对律师、律师事务所实施奖励和惩戒；</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（七）受理对律师的投诉或者举报，调解律师执业活动中发生的纠纷，受理律师的申诉；</a:t>
            </a:r>
            <a:endParaRPr lang="en-US" sz="1450" dirty="0"/>
          </a:p>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（八）法律、行政法规、规章以及律师协会章程规定的其他职责。</a:t>
            </a:r>
            <a:endParaRPr lang="en-US" sz="14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八项职责的结构：第（一）项是维权，第（三）（六）（七）项是自律与惩戒，第（二）（四）（五）项是服务与培养。维权在先、惩戒在后，二者并非对立——正因为行业能够严格约束成员，它才有资格要求社会尊重其执业权利。这就是我们第2课时讲过的：越是严格自律的行业，越能获得广泛自治。</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10</a:t>
            </a:r>
            <a:endParaRPr lang="en-US" sz="1100" dirty="0"/>
          </a:p>
        </p:txBody>
      </p:sp>
    </p:spTree>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name="Slide 4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两种职能</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维权与惩戒：律协的双重角色</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维权职能</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受理律师执业权利受侵害的投诉，与有关机关沟通协调。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设立律师执业权利保障委员会，对会见难、阅卷难、取证难等问题进行个案协调与制度反映。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对律师因依法执业而受到不当对待的，提供支持与声援。</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注意：维权限于依法执业的权利，不包括为违规行为开脱。</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惩戒职能</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受理对律师、律所的投诉与举报；调查核实违规事实。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依《律师协会会员违规行为处分规则》作出行业处分。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处分决定应当告知被处分人，保障其陈述、申辩与申请复查的权利。</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注意：行业处分与行政处罚性质不同、程序不同、救济途径不同，可以并存。</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11</a:t>
            </a:r>
            <a:endParaRPr lang="en-US" sz="1100" dirty="0"/>
          </a:p>
        </p:txBody>
      </p:sp>
    </p:spTree>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name="Slide 46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行业惩戒：处分种类与程序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行业处分的正当性，来自程序的正当性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12</a:t>
            </a:r>
            <a:endParaRPr lang="en-US" sz="1100" dirty="0"/>
          </a:p>
        </p:txBody>
      </p:sp>
    </p:spTree>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name="Slide 4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处分种类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行业处分的五个梯度</a:t>
            </a:r>
            <a:endParaRPr lang="en-US" sz="2800" dirty="0"/>
          </a:p>
        </p:txBody>
      </p:sp>
      <p:sp>
        <p:nvSpPr>
          <p:cNvPr id="4" name="Shape 2"/>
          <p:cNvSpPr/>
          <p:nvPr/>
        </p:nvSpPr>
        <p:spPr>
          <a:xfrm>
            <a:off x="566928" y="2101152"/>
            <a:ext cx="2586152" cy="2994025"/>
          </a:xfrm>
          <a:prstGeom prst="roundRect">
            <a:avLst>
              <a:gd name="adj" fmla="val 3536"/>
            </a:avLst>
          </a:prstGeom>
          <a:solidFill>
            <a:srgbClr val="13233F"/>
          </a:solidFill>
          <a:ln w="12700">
            <a:solidFill>
              <a:srgbClr val="13233F"/>
            </a:solidFill>
            <a:prstDash val="solid"/>
          </a:ln>
        </p:spPr>
      </p:sp>
      <p:sp>
        <p:nvSpPr>
          <p:cNvPr id="5" name="Text 3"/>
          <p:cNvSpPr/>
          <p:nvPr/>
        </p:nvSpPr>
        <p:spPr>
          <a:xfrm>
            <a:off x="749808" y="2430336"/>
            <a:ext cx="2220392"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训诫</a:t>
            </a:r>
            <a:endParaRPr lang="en-US" sz="3400" dirty="0"/>
          </a:p>
        </p:txBody>
      </p:sp>
      <p:sp>
        <p:nvSpPr>
          <p:cNvPr id="6" name="Text 4"/>
          <p:cNvSpPr/>
          <p:nvPr/>
        </p:nvSpPr>
        <p:spPr>
          <a:xfrm>
            <a:off x="886968"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最轻</a:t>
            </a:r>
            <a:endParaRPr lang="en-US" sz="1600" dirty="0"/>
          </a:p>
        </p:txBody>
      </p:sp>
      <p:sp>
        <p:nvSpPr>
          <p:cNvPr id="7" name="Text 5"/>
          <p:cNvSpPr/>
          <p:nvPr/>
        </p:nvSpPr>
        <p:spPr>
          <a:xfrm>
            <a:off x="886968"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对轻微违规行为的内部告诫，通常不公开</a:t>
            </a:r>
            <a:endParaRPr lang="en-US" sz="1300" dirty="0"/>
          </a:p>
        </p:txBody>
      </p:sp>
      <p:sp>
        <p:nvSpPr>
          <p:cNvPr id="8" name="Shape 6"/>
          <p:cNvSpPr/>
          <p:nvPr/>
        </p:nvSpPr>
        <p:spPr>
          <a:xfrm>
            <a:off x="3390824" y="2101152"/>
            <a:ext cx="2586152" cy="2994025"/>
          </a:xfrm>
          <a:prstGeom prst="roundRect">
            <a:avLst>
              <a:gd name="adj" fmla="val 3536"/>
            </a:avLst>
          </a:prstGeom>
          <a:solidFill>
            <a:srgbClr val="F6F1E8"/>
          </a:solidFill>
          <a:ln w="12700">
            <a:solidFill>
              <a:srgbClr val="F6F1E8"/>
            </a:solidFill>
            <a:prstDash val="solid"/>
          </a:ln>
        </p:spPr>
      </p:sp>
      <p:sp>
        <p:nvSpPr>
          <p:cNvPr id="9" name="Text 7"/>
          <p:cNvSpPr/>
          <p:nvPr/>
        </p:nvSpPr>
        <p:spPr>
          <a:xfrm>
            <a:off x="3573704" y="2430336"/>
            <a:ext cx="2220392"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通报批评</a:t>
            </a:r>
            <a:endParaRPr lang="en-US" sz="3400" dirty="0"/>
          </a:p>
        </p:txBody>
      </p:sp>
      <p:sp>
        <p:nvSpPr>
          <p:cNvPr id="10" name="Text 8"/>
          <p:cNvSpPr/>
          <p:nvPr/>
        </p:nvSpPr>
        <p:spPr>
          <a:xfrm>
            <a:off x="3710864"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中</a:t>
            </a:r>
            <a:endParaRPr lang="en-US" sz="1600" dirty="0"/>
          </a:p>
        </p:txBody>
      </p:sp>
      <p:sp>
        <p:nvSpPr>
          <p:cNvPr id="11" name="Text 9"/>
          <p:cNvSpPr/>
          <p:nvPr/>
        </p:nvSpPr>
        <p:spPr>
          <a:xfrm>
            <a:off x="3710864"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在行业内部通报，产生一定的声誉影响</a:t>
            </a:r>
            <a:endParaRPr lang="en-US" sz="1300" dirty="0"/>
          </a:p>
        </p:txBody>
      </p:sp>
      <p:sp>
        <p:nvSpPr>
          <p:cNvPr id="12" name="Shape 10"/>
          <p:cNvSpPr/>
          <p:nvPr/>
        </p:nvSpPr>
        <p:spPr>
          <a:xfrm>
            <a:off x="6214720" y="2101152"/>
            <a:ext cx="2586152" cy="2994025"/>
          </a:xfrm>
          <a:prstGeom prst="roundRect">
            <a:avLst>
              <a:gd name="adj" fmla="val 3536"/>
            </a:avLst>
          </a:prstGeom>
          <a:solidFill>
            <a:srgbClr val="ECF3F2"/>
          </a:solidFill>
          <a:ln w="12700">
            <a:solidFill>
              <a:srgbClr val="ECF3F2"/>
            </a:solidFill>
            <a:prstDash val="solid"/>
          </a:ln>
        </p:spPr>
      </p:sp>
      <p:sp>
        <p:nvSpPr>
          <p:cNvPr id="13" name="Text 11"/>
          <p:cNvSpPr/>
          <p:nvPr/>
        </p:nvSpPr>
        <p:spPr>
          <a:xfrm>
            <a:off x="6397600" y="2430336"/>
            <a:ext cx="2220392" cy="1024128"/>
          </a:xfrm>
          <a:prstGeom prst="rect">
            <a:avLst/>
          </a:prstGeom>
          <a:noFill/>
          <a:ln/>
        </p:spPr>
        <p:txBody>
          <a:bodyPr wrap="square" lIns="0" tIns="0" rIns="0" bIns="0" rtlCol="0" anchor="ctr"/>
          <a:lstStyle/>
          <a:p>
            <a:pPr algn="ctr" indent="0" marL="0">
              <a:buNone/>
            </a:pPr>
            <a:r>
              <a:rPr lang="en-US" sz="3400" b="1" dirty="0">
                <a:solidFill>
                  <a:srgbClr val="2F6E6A"/>
                </a:solidFill>
                <a:latin typeface="微软雅黑" pitchFamily="34" charset="0"/>
                <a:ea typeface="微软雅黑" pitchFamily="34" charset="-122"/>
                <a:cs typeface="微软雅黑" pitchFamily="34" charset="-120"/>
              </a:rPr>
              <a:t>公开谴责</a:t>
            </a:r>
            <a:endParaRPr lang="en-US" sz="3400" dirty="0"/>
          </a:p>
        </p:txBody>
      </p:sp>
      <p:sp>
        <p:nvSpPr>
          <p:cNvPr id="14" name="Text 12"/>
          <p:cNvSpPr/>
          <p:nvPr/>
        </p:nvSpPr>
        <p:spPr>
          <a:xfrm>
            <a:off x="6534760"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较重</a:t>
            </a:r>
            <a:endParaRPr lang="en-US" sz="1600" dirty="0"/>
          </a:p>
        </p:txBody>
      </p:sp>
      <p:sp>
        <p:nvSpPr>
          <p:cNvPr id="15" name="Text 13"/>
          <p:cNvSpPr/>
          <p:nvPr/>
        </p:nvSpPr>
        <p:spPr>
          <a:xfrm>
            <a:off x="6534760"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向社会公开，声誉影响显著，常与年度考核挂钩</a:t>
            </a:r>
            <a:endParaRPr lang="en-US" sz="1300" dirty="0"/>
          </a:p>
        </p:txBody>
      </p:sp>
      <p:sp>
        <p:nvSpPr>
          <p:cNvPr id="16" name="Shape 14"/>
          <p:cNvSpPr/>
          <p:nvPr/>
        </p:nvSpPr>
        <p:spPr>
          <a:xfrm>
            <a:off x="9038615" y="2101152"/>
            <a:ext cx="2586152" cy="2994025"/>
          </a:xfrm>
          <a:prstGeom prst="roundRect">
            <a:avLst>
              <a:gd name="adj" fmla="val 3536"/>
            </a:avLst>
          </a:prstGeom>
          <a:solidFill>
            <a:srgbClr val="F8EFF0"/>
          </a:solidFill>
          <a:ln w="12700">
            <a:solidFill>
              <a:srgbClr val="F8EFF0"/>
            </a:solidFill>
            <a:prstDash val="solid"/>
          </a:ln>
        </p:spPr>
      </p:sp>
      <p:sp>
        <p:nvSpPr>
          <p:cNvPr id="17" name="Text 15"/>
          <p:cNvSpPr/>
          <p:nvPr/>
        </p:nvSpPr>
        <p:spPr>
          <a:xfrm>
            <a:off x="9221495" y="2430336"/>
            <a:ext cx="2220392" cy="1024128"/>
          </a:xfrm>
          <a:prstGeom prst="rect">
            <a:avLst/>
          </a:prstGeom>
          <a:noFill/>
          <a:ln/>
        </p:spPr>
        <p:txBody>
          <a:bodyPr wrap="square" lIns="0" tIns="0" rIns="0" bIns="0" rtlCol="0" anchor="ctr"/>
          <a:lstStyle/>
          <a:p>
            <a:pPr algn="ctr" indent="0" marL="0">
              <a:buNone/>
            </a:pPr>
            <a:r>
              <a:rPr lang="en-US" sz="3150" b="1" dirty="0">
                <a:solidFill>
                  <a:srgbClr val="8E2C3B"/>
                </a:solidFill>
                <a:latin typeface="微软雅黑" pitchFamily="34" charset="0"/>
                <a:ea typeface="微软雅黑" pitchFamily="34" charset="-122"/>
                <a:cs typeface="微软雅黑" pitchFamily="34" charset="-120"/>
              </a:rPr>
              <a:t>中止会员权利</a:t>
            </a:r>
            <a:endParaRPr lang="en-US" sz="3150" dirty="0"/>
          </a:p>
        </p:txBody>
      </p:sp>
      <p:sp>
        <p:nvSpPr>
          <p:cNvPr id="18" name="Text 16"/>
          <p:cNvSpPr/>
          <p:nvPr/>
        </p:nvSpPr>
        <p:spPr>
          <a:xfrm>
            <a:off x="9358655"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重</a:t>
            </a:r>
            <a:endParaRPr lang="en-US" sz="1600" dirty="0"/>
          </a:p>
        </p:txBody>
      </p:sp>
      <p:sp>
        <p:nvSpPr>
          <p:cNvPr id="19" name="Text 17"/>
          <p:cNvSpPr/>
          <p:nvPr/>
        </p:nvSpPr>
        <p:spPr>
          <a:xfrm>
            <a:off x="9358655"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一定期限内中止会员权利，实际影响执业与业务承接</a:t>
            </a:r>
            <a:endParaRPr lang="en-US" sz="1300" dirty="0"/>
          </a:p>
        </p:txBody>
      </p:sp>
      <p:sp>
        <p:nvSpPr>
          <p:cNvPr id="20" name="Text 18"/>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最重一级为取消会员资格。请注意：律师协会不能吊销律师执业证书——那是司法行政机关的行政处罚权。</a:t>
            </a:r>
            <a:endParaRPr lang="en-US" sz="1150" dirty="0"/>
          </a:p>
        </p:txBody>
      </p:sp>
      <p:sp>
        <p:nvSpPr>
          <p:cNvPr id="21" name="Text 19"/>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13</a:t>
            </a:r>
            <a:endParaRPr lang="en-US" sz="1100" dirty="0"/>
          </a:p>
        </p:txBody>
      </p:sp>
    </p:spTree>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name="Slide 4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行业惩戒的程序保障</a:t>
            </a:r>
            <a:endParaRPr lang="en-US" sz="2800" dirty="0"/>
          </a:p>
        </p:txBody>
      </p:sp>
      <p:sp>
        <p:nvSpPr>
          <p:cNvPr id="4" name="Shape 2"/>
          <p:cNvSpPr/>
          <p:nvPr/>
        </p:nvSpPr>
        <p:spPr>
          <a:xfrm>
            <a:off x="566928" y="2102549"/>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413635"/>
            <a:ext cx="457200" cy="457200"/>
          </a:xfrm>
          <a:prstGeom prst="ellipse">
            <a:avLst/>
          </a:prstGeom>
          <a:solidFill>
            <a:srgbClr val="13233F"/>
          </a:solidFill>
          <a:ln w="12700">
            <a:solidFill>
              <a:srgbClr val="13233F"/>
            </a:solidFill>
            <a:prstDash val="solid"/>
          </a:ln>
        </p:spPr>
      </p:sp>
      <p:sp>
        <p:nvSpPr>
          <p:cNvPr id="6" name="Text 4"/>
          <p:cNvSpPr/>
          <p:nvPr/>
        </p:nvSpPr>
        <p:spPr>
          <a:xfrm>
            <a:off x="822960" y="241363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23970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一、立案与调查</a:t>
            </a:r>
            <a:endParaRPr lang="en-US" sz="1500" dirty="0"/>
          </a:p>
        </p:txBody>
      </p:sp>
      <p:sp>
        <p:nvSpPr>
          <p:cNvPr id="8" name="Text 6"/>
          <p:cNvSpPr/>
          <p:nvPr/>
        </p:nvSpPr>
        <p:spPr>
          <a:xfrm>
            <a:off x="1444752" y="254755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受理投诉、举报或者依职权发现；进行必要的调查核实，收集证据，听取相关人员陈述。</a:t>
            </a:r>
            <a:endParaRPr lang="en-US" sz="1350" dirty="0"/>
          </a:p>
        </p:txBody>
      </p:sp>
      <p:sp>
        <p:nvSpPr>
          <p:cNvPr id="9" name="Shape 7"/>
          <p:cNvSpPr/>
          <p:nvPr/>
        </p:nvSpPr>
        <p:spPr>
          <a:xfrm>
            <a:off x="566928" y="3309938"/>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二、告知与听取申辩</a:t>
            </a:r>
            <a:endParaRPr lang="en-US" sz="1500" dirty="0"/>
          </a:p>
        </p:txBody>
      </p:sp>
      <p:sp>
        <p:nvSpPr>
          <p:cNvPr id="13" name="Text 11"/>
          <p:cNvSpPr/>
          <p:nvPr/>
        </p:nvSpPr>
        <p:spPr>
          <a:xfrm>
            <a:off x="1444752" y="375494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将拟处分的事实、理由、依据告知被调查人；保障其陈述与申辩的权利；重大处分可以组织听证。</a:t>
            </a:r>
            <a:endParaRPr lang="en-US" sz="1350" dirty="0"/>
          </a:p>
        </p:txBody>
      </p:sp>
      <p:sp>
        <p:nvSpPr>
          <p:cNvPr id="14" name="Shape 12"/>
          <p:cNvSpPr/>
          <p:nvPr/>
        </p:nvSpPr>
        <p:spPr>
          <a:xfrm>
            <a:off x="566928" y="4517327"/>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4828413"/>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82841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三、集体审议</a:t>
            </a:r>
            <a:endParaRPr lang="en-US" sz="1500" dirty="0"/>
          </a:p>
        </p:txBody>
      </p:sp>
      <p:sp>
        <p:nvSpPr>
          <p:cNvPr id="18" name="Text 16"/>
          <p:cNvSpPr/>
          <p:nvPr/>
        </p:nvSpPr>
        <p:spPr>
          <a:xfrm>
            <a:off x="1444752" y="4962335"/>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由惩戒委员会集体讨论决定，避免个人决断；委员与案件有利害关系的应当回避。</a:t>
            </a:r>
            <a:endParaRPr lang="en-US" sz="1350" dirty="0"/>
          </a:p>
        </p:txBody>
      </p:sp>
      <p:sp>
        <p:nvSpPr>
          <p:cNvPr id="19" name="Shape 17"/>
          <p:cNvSpPr/>
          <p:nvPr/>
        </p:nvSpPr>
        <p:spPr>
          <a:xfrm>
            <a:off x="6242152" y="2102549"/>
            <a:ext cx="5382616" cy="1079373"/>
          </a:xfrm>
          <a:prstGeom prst="roundRect">
            <a:avLst>
              <a:gd name="adj" fmla="val 6777"/>
            </a:avLst>
          </a:prstGeom>
          <a:solidFill>
            <a:srgbClr val="FFFFFF"/>
          </a:solidFill>
          <a:ln w="12700">
            <a:solidFill>
              <a:srgbClr val="D5DBE5"/>
            </a:solidFill>
            <a:prstDash val="solid"/>
          </a:ln>
        </p:spPr>
      </p:sp>
      <p:sp>
        <p:nvSpPr>
          <p:cNvPr id="20" name="Shape 18"/>
          <p:cNvSpPr/>
          <p:nvPr/>
        </p:nvSpPr>
        <p:spPr>
          <a:xfrm>
            <a:off x="6498184" y="2413635"/>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41363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23970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四、作出决定并送达</a:t>
            </a:r>
            <a:endParaRPr lang="en-US" sz="1500" dirty="0"/>
          </a:p>
        </p:txBody>
      </p:sp>
      <p:sp>
        <p:nvSpPr>
          <p:cNvPr id="23" name="Text 21"/>
          <p:cNvSpPr/>
          <p:nvPr/>
        </p:nvSpPr>
        <p:spPr>
          <a:xfrm>
            <a:off x="7119976" y="254755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处分决定应当载明事实、理由、依据与救济途径，书面送达被处分人及其所在律所。</a:t>
            </a:r>
            <a:endParaRPr lang="en-US" sz="1350" dirty="0"/>
          </a:p>
        </p:txBody>
      </p:sp>
      <p:sp>
        <p:nvSpPr>
          <p:cNvPr id="24" name="Shape 22"/>
          <p:cNvSpPr/>
          <p:nvPr/>
        </p:nvSpPr>
        <p:spPr>
          <a:xfrm>
            <a:off x="6242152" y="3309938"/>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五、复查与救济</a:t>
            </a:r>
            <a:endParaRPr lang="en-US" sz="1500" dirty="0"/>
          </a:p>
        </p:txBody>
      </p:sp>
      <p:sp>
        <p:nvSpPr>
          <p:cNvPr id="28" name="Text 26"/>
          <p:cNvSpPr/>
          <p:nvPr/>
        </p:nvSpPr>
        <p:spPr>
          <a:xfrm>
            <a:off x="7119976" y="375494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被处分人不服的，可以依章程与处分规则申请复查；对涉及重大权益的处分，理论上亦存在寻求司法救济的空间。</a:t>
            </a:r>
            <a:endParaRPr lang="en-US" sz="1350" dirty="0"/>
          </a:p>
        </p:txBody>
      </p:sp>
      <p:sp>
        <p:nvSpPr>
          <p:cNvPr id="29" name="Shape 27"/>
          <p:cNvSpPr/>
          <p:nvPr/>
        </p:nvSpPr>
        <p:spPr>
          <a:xfrm>
            <a:off x="6242152" y="4517327"/>
            <a:ext cx="5382616" cy="1079373"/>
          </a:xfrm>
          <a:prstGeom prst="roundRect">
            <a:avLst>
              <a:gd name="adj" fmla="val 6777"/>
            </a:avLst>
          </a:prstGeom>
          <a:solidFill>
            <a:srgbClr val="FFFFFF"/>
          </a:solidFill>
          <a:ln w="12700">
            <a:solidFill>
              <a:srgbClr val="D5DBE5"/>
            </a:solidFill>
            <a:prstDash val="solid"/>
          </a:ln>
        </p:spPr>
      </p:sp>
      <p:sp>
        <p:nvSpPr>
          <p:cNvPr id="30" name="Shape 28"/>
          <p:cNvSpPr/>
          <p:nvPr/>
        </p:nvSpPr>
        <p:spPr>
          <a:xfrm>
            <a:off x="6498184" y="4828413"/>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482841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六、执行与记录</a:t>
            </a:r>
            <a:endParaRPr lang="en-US" sz="1500" dirty="0"/>
          </a:p>
        </p:txBody>
      </p:sp>
      <p:sp>
        <p:nvSpPr>
          <p:cNvPr id="33" name="Text 31"/>
          <p:cNvSpPr/>
          <p:nvPr/>
        </p:nvSpPr>
        <p:spPr>
          <a:xfrm>
            <a:off x="7119976" y="4962335"/>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处分决定依规执行并记入执业档案，与年度考核、评先评优、职务任职资格等挂钩。</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14</a:t>
            </a:r>
            <a:endParaRPr lang="en-US" sz="1100" dirty="0"/>
          </a:p>
        </p:txBody>
      </p:sp>
    </p:spTree>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name="Slide 47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司法行政机关的监督管理与行政处罚</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国家监管这一侧的完整图景</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15</a:t>
            </a:r>
            <a:endParaRPr lang="en-US" sz="1100" dirty="0"/>
          </a:p>
        </p:txBody>
      </p:sp>
    </p:spTree>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name="Slide 4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监管职责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司法行政机关的四项主要职责</a:t>
            </a:r>
            <a:endParaRPr lang="en-US" sz="2800" dirty="0"/>
          </a:p>
        </p:txBody>
      </p:sp>
      <p:sp>
        <p:nvSpPr>
          <p:cNvPr id="4" name="Shape 2"/>
          <p:cNvSpPr/>
          <p:nvPr/>
        </p:nvSpPr>
        <p:spPr>
          <a:xfrm>
            <a:off x="566928" y="1316736"/>
            <a:ext cx="11057839" cy="1092264"/>
          </a:xfrm>
          <a:prstGeom prst="roundRect">
            <a:avLst>
              <a:gd name="adj" fmla="val 6697"/>
            </a:avLst>
          </a:prstGeom>
          <a:solidFill>
            <a:srgbClr val="F2F4F8"/>
          </a:solidFill>
          <a:ln w="12700">
            <a:solidFill>
              <a:srgbClr val="F2F4F8"/>
            </a:solidFill>
            <a:prstDash val="solid"/>
          </a:ln>
        </p:spPr>
      </p:sp>
      <p:sp>
        <p:nvSpPr>
          <p:cNvPr id="5" name="Shape 3"/>
          <p:cNvSpPr/>
          <p:nvPr/>
        </p:nvSpPr>
        <p:spPr>
          <a:xfrm>
            <a:off x="841248" y="1606836"/>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60455"/>
            <a:ext cx="204826" cy="204826"/>
          </a:xfrm>
          <a:prstGeom prst="rect">
            <a:avLst/>
          </a:prstGeom>
        </p:spPr>
      </p:pic>
      <p:sp>
        <p:nvSpPr>
          <p:cNvPr id="7" name="Text 4"/>
          <p:cNvSpPr/>
          <p:nvPr/>
        </p:nvSpPr>
        <p:spPr>
          <a:xfrm>
            <a:off x="1536192" y="1567339"/>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一、准入与登记管理</a:t>
            </a:r>
            <a:endParaRPr lang="en-US" sz="1600" dirty="0"/>
          </a:p>
        </p:txBody>
      </p:sp>
      <p:sp>
        <p:nvSpPr>
          <p:cNvPr id="8" name="Text 5"/>
          <p:cNvSpPr/>
          <p:nvPr/>
        </p:nvSpPr>
        <p:spPr>
          <a:xfrm>
            <a:off x="1536192" y="1900587"/>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颁发律师执业证书、许可律师事务所设立、办理变更与注销登记；对不符合条件者不予许可。准入环节是监管的第一道关口。</a:t>
            </a:r>
            <a:endParaRPr lang="en-US" sz="1400" dirty="0"/>
          </a:p>
        </p:txBody>
      </p:sp>
      <p:sp>
        <p:nvSpPr>
          <p:cNvPr id="9" name="Shape 6"/>
          <p:cNvSpPr/>
          <p:nvPr/>
        </p:nvSpPr>
        <p:spPr>
          <a:xfrm>
            <a:off x="566928" y="2555304"/>
            <a:ext cx="11057839" cy="1092264"/>
          </a:xfrm>
          <a:prstGeom prst="roundRect">
            <a:avLst>
              <a:gd name="adj" fmla="val 6697"/>
            </a:avLst>
          </a:prstGeom>
          <a:solidFill>
            <a:srgbClr val="FFFFFF"/>
          </a:solidFill>
          <a:ln w="12700">
            <a:solidFill>
              <a:srgbClr val="D5DBE5"/>
            </a:solidFill>
            <a:prstDash val="solid"/>
          </a:ln>
        </p:spPr>
      </p:sp>
      <p:sp>
        <p:nvSpPr>
          <p:cNvPr id="10" name="Shape 7"/>
          <p:cNvSpPr/>
          <p:nvPr/>
        </p:nvSpPr>
        <p:spPr>
          <a:xfrm>
            <a:off x="841248" y="2845403"/>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999022"/>
            <a:ext cx="204826" cy="204826"/>
          </a:xfrm>
          <a:prstGeom prst="rect">
            <a:avLst/>
          </a:prstGeom>
        </p:spPr>
      </p:pic>
      <p:sp>
        <p:nvSpPr>
          <p:cNvPr id="12" name="Text 8"/>
          <p:cNvSpPr/>
          <p:nvPr/>
        </p:nvSpPr>
        <p:spPr>
          <a:xfrm>
            <a:off x="1536192" y="2805906"/>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二、日常监督检查</a:t>
            </a:r>
            <a:endParaRPr lang="en-US" sz="1600" dirty="0"/>
          </a:p>
        </p:txBody>
      </p:sp>
      <p:sp>
        <p:nvSpPr>
          <p:cNvPr id="13" name="Text 9"/>
          <p:cNvSpPr/>
          <p:nvPr/>
        </p:nvSpPr>
        <p:spPr>
          <a:xfrm>
            <a:off x="1536192" y="3139154"/>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对律师、律所的执业活动进行监督检查；组织年度检查考核；查处违法执业行为；受理投诉举报。</a:t>
            </a:r>
            <a:endParaRPr lang="en-US" sz="1400" dirty="0"/>
          </a:p>
        </p:txBody>
      </p:sp>
      <p:sp>
        <p:nvSpPr>
          <p:cNvPr id="14" name="Shape 10"/>
          <p:cNvSpPr/>
          <p:nvPr/>
        </p:nvSpPr>
        <p:spPr>
          <a:xfrm>
            <a:off x="566928" y="3793871"/>
            <a:ext cx="11057839" cy="1350074"/>
          </a:xfrm>
          <a:prstGeom prst="roundRect">
            <a:avLst>
              <a:gd name="adj" fmla="val 5418"/>
            </a:avLst>
          </a:prstGeom>
          <a:solidFill>
            <a:srgbClr val="F2F4F8"/>
          </a:solidFill>
          <a:ln w="12700">
            <a:solidFill>
              <a:srgbClr val="F2F4F8"/>
            </a:solidFill>
            <a:prstDash val="solid"/>
          </a:ln>
        </p:spPr>
      </p:sp>
      <p:sp>
        <p:nvSpPr>
          <p:cNvPr id="15" name="Shape 11"/>
          <p:cNvSpPr/>
          <p:nvPr/>
        </p:nvSpPr>
        <p:spPr>
          <a:xfrm>
            <a:off x="841248" y="4212876"/>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66495"/>
            <a:ext cx="204826" cy="204826"/>
          </a:xfrm>
          <a:prstGeom prst="rect">
            <a:avLst/>
          </a:prstGeom>
        </p:spPr>
      </p:pic>
      <p:sp>
        <p:nvSpPr>
          <p:cNvPr id="17" name="Text 12"/>
          <p:cNvSpPr/>
          <p:nvPr/>
        </p:nvSpPr>
        <p:spPr>
          <a:xfrm>
            <a:off x="1536192" y="4044474"/>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三、行政处罚</a:t>
            </a:r>
            <a:endParaRPr lang="en-US" sz="1600" dirty="0"/>
          </a:p>
        </p:txBody>
      </p:sp>
      <p:sp>
        <p:nvSpPr>
          <p:cNvPr id="18" name="Text 13"/>
          <p:cNvSpPr/>
          <p:nvPr/>
        </p:nvSpPr>
        <p:spPr>
          <a:xfrm>
            <a:off x="1536192" y="4377722"/>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依《律师法》第七章与《律师和律师事务所违法行为处罚办法》，对违法行为给予警告、罚款、没收违法所得、停止执业、吊销执业证书等处罚。</a:t>
            </a:r>
            <a:endParaRPr lang="en-US" sz="1400" dirty="0"/>
          </a:p>
        </p:txBody>
      </p:sp>
      <p:sp>
        <p:nvSpPr>
          <p:cNvPr id="19" name="Shape 14"/>
          <p:cNvSpPr/>
          <p:nvPr/>
        </p:nvSpPr>
        <p:spPr>
          <a:xfrm>
            <a:off x="566928" y="5290249"/>
            <a:ext cx="11057839" cy="1092264"/>
          </a:xfrm>
          <a:prstGeom prst="roundRect">
            <a:avLst>
              <a:gd name="adj" fmla="val 6697"/>
            </a:avLst>
          </a:prstGeom>
          <a:solidFill>
            <a:srgbClr val="FFFFFF"/>
          </a:solidFill>
          <a:ln w="12700">
            <a:solidFill>
              <a:srgbClr val="D5DBE5"/>
            </a:solidFill>
            <a:prstDash val="solid"/>
          </a:ln>
        </p:spPr>
      </p:sp>
      <p:sp>
        <p:nvSpPr>
          <p:cNvPr id="20" name="Shape 15"/>
          <p:cNvSpPr/>
          <p:nvPr/>
        </p:nvSpPr>
        <p:spPr>
          <a:xfrm>
            <a:off x="841248" y="5580348"/>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33967"/>
            <a:ext cx="204826" cy="204826"/>
          </a:xfrm>
          <a:prstGeom prst="rect">
            <a:avLst/>
          </a:prstGeom>
        </p:spPr>
      </p:pic>
      <p:sp>
        <p:nvSpPr>
          <p:cNvPr id="22" name="Text 16"/>
          <p:cNvSpPr/>
          <p:nvPr/>
        </p:nvSpPr>
        <p:spPr>
          <a:xfrm>
            <a:off x="1536192" y="5540851"/>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四、执业保障与行业指导</a:t>
            </a:r>
            <a:endParaRPr lang="en-US" sz="1600" dirty="0"/>
          </a:p>
        </p:txBody>
      </p:sp>
      <p:sp>
        <p:nvSpPr>
          <p:cNvPr id="23" name="Text 17"/>
          <p:cNvSpPr/>
          <p:nvPr/>
        </p:nvSpPr>
        <p:spPr>
          <a:xfrm>
            <a:off x="1536192" y="5874099"/>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保障律师依法执业的权利，会同有关机关处理侵害律师执业权利的问题；指导律师协会开展工作；推动行业发展规划与政策。</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16</a:t>
            </a:r>
            <a:endParaRPr lang="en-US" sz="1100" dirty="0"/>
          </a:p>
        </p:txBody>
      </p:sp>
    </p:spTree>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name="Slide 4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处罚阶梯</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《律师法》对律师的行政处罚三级阶梯</a:t>
            </a:r>
            <a:endParaRPr lang="en-US" sz="2800" dirty="0"/>
          </a:p>
        </p:txBody>
      </p:sp>
      <p:graphicFrame>
        <p:nvGraphicFramePr>
          <p:cNvPr id="475" name="Table 0"/>
          <p:cNvGraphicFramePr>
            <a:graphicFrameLocks noGrp="1"/>
          </p:cNvGraphicFramePr>
          <p:nvPr>
            <p:extLst>
              <p:ext uri="{D42A27DB-BD31-4B8C-83A1-F6EECF244321}">
                <p14:modId xmlns:p14="http://schemas.microsoft.com/office/powerpoint/2010/main" val="1579011935"/>
              </p:ext>
            </p:extLst>
          </p:nvPr>
        </p:nvGraphicFramePr>
        <p:xfrm>
          <a:off x="566928" y="1826832"/>
          <a:ext cx="11057839" cy="914400"/>
        </p:xfrm>
        <a:graphic>
          <a:graphicData uri="http://schemas.openxmlformats.org/drawingml/2006/table">
            <a:tbl>
              <a:tblPr/>
              <a:tblGrid>
                <a:gridCol w="1737360"/>
                <a:gridCol w="4754880"/>
                <a:gridCol w="4572000"/>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条文</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典型行为</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处罚幅度</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89458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第四十七条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同时在两个以上律所执业；以不正当手段承揽业务；在同一案件中为双方担任代理人或代理与本人及近亲属有利益冲突的业务；从对方当事人处收受财物；拒绝履行法律援助义务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警告，可处五千元以下罚款；有违法所得的没收违法所得</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89458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第四十八条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私自接受委托、收取费用，接受委托人财物或其他利益；无正当理由拒绝辩护代理、不按时出庭；利用便利牟取当事人争议的权益；泄露商业秘密或个人隐私</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警告，可处一万元以下罚款；没收违法所得；情节严重的停止执业</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135686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第四十九条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违规会见办案人员或以其他不正当方式影响办案；行贿、介绍贿赂或指使诱导当事人行贿；提供虚假材料；故意提供虚假证据或威胁利诱他人作伪证；与对方恶意串通侵害委托人权益；扰乱法庭秩序；煽动教唆非法手段解决争议；发表危害国家安全等言论；泄露国家秘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停止执业六个月以上一年以下，可处五万元以下罚款；没收违法所得；情节严重的吊销执业证书；构成犯罪的追究刑事责任</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579809"/>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另：律师因故意犯罪受到刑事处罚的，由省级司法行政部门吊销其律师执业证书。对律师事务所的处罚另有专条规定。</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17</a:t>
            </a:r>
            <a:endParaRPr lang="en-US" sz="1100" dirty="0"/>
          </a:p>
        </p:txBody>
      </p:sp>
    </p:spTree>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name="Slide 4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程序保障</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行政处罚中的当事人权利</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行政处罚是国家权力的行使，必须遵守《行政处罚法》的程序要求。被处罚的律师享有以下权利。</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知情权：有权了解拟处罚的事实、理由与依据；行政机关应当在作出决定前予以告知。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陈述申辩权：有权提出意见与证据；行政机关不得因当事人申辩而加重处罚。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听证权：对责令停产停业、吊销许可证件、较大数额罚款等处罚，有权要求听证。停止执业、吊销执业证书属于此列。</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救济权：对处罚决定不服的，可以依法申请行政复议或者提起行政诉讼。</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请注意行业处分与行政处罚在救济上的重要差别：对行政处罚可以提起行政诉讼，对行业处分则主要通过行业内部的复查程序。这也是二者性质不同的一个直观体现。</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18</a:t>
            </a:r>
            <a:endParaRPr lang="en-US" sz="1100" dirty="0"/>
          </a:p>
        </p:txBody>
      </p:sp>
    </p:spTree>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name="Slide 47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“两结合”体制的评价与第四编总结</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国家监管与行业自治如何配合</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19</a:t>
            </a:r>
            <a:endParaRPr lang="en-US" sz="1100" dirty="0"/>
          </a:p>
        </p:txBody>
      </p:sp>
    </p:spTree>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name="Slide 4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评价</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“两结合”体制的优势与挑战</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制度优势</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专业性与权威性结合：专业判断由同行作出，强制力由国家提供。</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双重防线：行业自律失灵时有国家监管兜底，国家监管不便介入时有行业自律填补。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梯度化处理：轻微违规由行业处分，严重违法由行政处罚乃至刑事追究，比例适当。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维权渠道多元：律师执业权利受侵害时，可以同时通过律协与司法行政机关寻求救济。</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仍需完善之处</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边界有待清晰：同一行为可能同时受行业处分与行政处罚，二者的衔接与折抵规则尚不够明确。</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自治能力有待提升：部分地方律协的独立性与惩戒力度不足，“护短”与“不敢管”并存。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程序保障有待加强：行业处分的调查、告知、申辩、复查程序在各地执行标准不一。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救济渠道有待畅通：行业处分的司法审查空间仍有讨论余地。</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20</a:t>
            </a:r>
            <a:endParaRPr lang="en-US" sz="1100" dirty="0"/>
          </a:p>
        </p:txBody>
      </p:sp>
    </p:spTree>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name="Slide 4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律师因同一行为既受律师协会公开谴责，又受司法行政机关停止执业六个月的处罚。这是否构成“一事二罚”？请从行业处分与行政处罚的性质差异角度分析。</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《律师法》第四十六条将“保障律师依法执业，维护律师的合法权益”列为律师协会的第一项职责，同时又赋予其惩戒权。维权与惩戒是否存在角色冲突？律协应当如何平衡？</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律所对律师的执业行为负有管理责任。若某律师私自收案并挪用当事人款项，律所已建立相应制度但未能发现，律所是否应当承担责任？“已建立制度”能否成为免责事由？</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有观点主张扩大律师行业自治的范围，将执业许可与吊销权也交由律师协会行使。你是否赞同？请从自治的正当性基础与我国现实条件两方面论证。</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第21课时 · 21</a:t>
            </a:r>
            <a:endParaRPr lang="en-US" sz="1100" dirty="0"/>
          </a:p>
        </p:txBody>
      </p:sp>
    </p:spTree>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name="Slide 479">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第四编总结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第21课时要点与律师职业伦理小结</a:t>
            </a:r>
            <a:endParaRPr lang="en-US" sz="3000" dirty="0"/>
          </a:p>
        </p:txBody>
      </p:sp>
      <p:sp>
        <p:nvSpPr>
          <p:cNvPr id="4" name="Shape 2"/>
          <p:cNvSpPr/>
          <p:nvPr/>
        </p:nvSpPr>
        <p:spPr>
          <a:xfrm>
            <a:off x="566928" y="1591056"/>
            <a:ext cx="11057839" cy="514202"/>
          </a:xfrm>
          <a:prstGeom prst="roundRect">
            <a:avLst>
              <a:gd name="adj" fmla="val 14226"/>
            </a:avLst>
          </a:prstGeom>
          <a:solidFill>
            <a:srgbClr val="25395F"/>
          </a:solidFill>
          <a:ln w="12700">
            <a:solidFill>
              <a:srgbClr val="25395F"/>
            </a:solidFill>
            <a:prstDash val="solid"/>
          </a:ln>
        </p:spPr>
      </p:sp>
      <p:sp>
        <p:nvSpPr>
          <p:cNvPr id="5" name="Shape 3"/>
          <p:cNvSpPr/>
          <p:nvPr/>
        </p:nvSpPr>
        <p:spPr>
          <a:xfrm>
            <a:off x="859536" y="1673352"/>
            <a:ext cx="349610" cy="349610"/>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64419" y="1778235"/>
            <a:ext cx="139844" cy="139844"/>
          </a:xfrm>
          <a:prstGeom prst="rect">
            <a:avLst/>
          </a:prstGeom>
        </p:spPr>
      </p:pic>
      <p:sp>
        <p:nvSpPr>
          <p:cNvPr id="7" name="Text 4"/>
          <p:cNvSpPr/>
          <p:nvPr/>
        </p:nvSpPr>
        <p:spPr>
          <a:xfrm>
            <a:off x="1444752" y="1738619"/>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律所是委托关系的法律主体、负有独立管理义务、其组织形式决定责任承担；内部治理包括决策机构、风险控制、业务管理与人员管理四个层面。</a:t>
            </a:r>
            <a:endParaRPr lang="en-US" sz="1150" dirty="0"/>
          </a:p>
        </p:txBody>
      </p:sp>
      <p:sp>
        <p:nvSpPr>
          <p:cNvPr id="8" name="Shape 5"/>
          <p:cNvSpPr/>
          <p:nvPr/>
        </p:nvSpPr>
        <p:spPr>
          <a:xfrm>
            <a:off x="566928" y="2242418"/>
            <a:ext cx="11057839" cy="718291"/>
          </a:xfrm>
          <a:prstGeom prst="roundRect">
            <a:avLst>
              <a:gd name="adj" fmla="val 10184"/>
            </a:avLst>
          </a:prstGeom>
          <a:solidFill>
            <a:srgbClr val="25395F"/>
          </a:solidFill>
          <a:ln w="12700">
            <a:solidFill>
              <a:srgbClr val="25395F"/>
            </a:solidFill>
            <a:prstDash val="solid"/>
          </a:ln>
        </p:spPr>
      </p:sp>
      <p:sp>
        <p:nvSpPr>
          <p:cNvPr id="9" name="Shape 6"/>
          <p:cNvSpPr/>
          <p:nvPr/>
        </p:nvSpPr>
        <p:spPr>
          <a:xfrm>
            <a:off x="859536" y="2400395"/>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521096"/>
            <a:ext cx="160934" cy="160934"/>
          </a:xfrm>
          <a:prstGeom prst="rect">
            <a:avLst/>
          </a:prstGeom>
        </p:spPr>
      </p:pic>
      <p:sp>
        <p:nvSpPr>
          <p:cNvPr id="11" name="Text 7"/>
          <p:cNvSpPr/>
          <p:nvPr/>
        </p:nvSpPr>
        <p:spPr>
          <a:xfrm>
            <a:off x="1444752" y="2382488"/>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律所八项法定管理责任：统一接受委托与收费、利益冲突审查、执业行为监督、案卷档案管理、投诉处理、教育培训与实习管理、法律援助落实、信息报送与年检考核。</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《律师法》第四十六条规定律师协会八项职责，结构为维权、自律惩戒与服务培养三类；行业处分梯度为训诫、通报批评、公开谴责、中止会员权利、取消会员资格；律协无权吊销执业证书。</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司法行政机关四项职责：准入与登记、日常监督检查、行政处罚、执业保障与行业指导。《律师法》处罚三级阶梯：第四十七条（警告+五千元以下）、第四十八条（警告+一万元以下，情节严重停止执业）、第四十九条（停止执业六个月至一年+五万元以下，情节严重吊销证书）。</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第四编总结：律师伦理以委托关系的信义性质为原点，展开为忠诚、保密、告知、勤勉四项义务；利益冲突是忠诚义务的技术化展开，收费与财物保管是最易出事的领域，争讼伦理界定律师对外部主体的义务。</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贯穿第四编的三条主线：一是“合法权益”划定忠诚的边界；二是消极不作为与积极造假的分界贯穿保密、真实与辩护；三是把个人判断转化为制度程序——书面、留痕、复核、前置审查。</a:t>
            </a:r>
            <a:endParaRPr lang="en-US" sz="1150" dirty="0"/>
          </a:p>
        </p:txBody>
      </p:sp>
    </p:spTree>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name="Slide 480">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05</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第五编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其他法律职业与伦理责任</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公证员与新兴法律职业，以及贯穿全部职业的责任追究体系</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第22课时　公证员、仲裁员及其他法律职业的伦理</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745808"/>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第23课时　法律职业伦理责任体系：惩戒、行政、民事与刑事责任</a:t>
            </a:r>
            <a:endParaRPr lang="en-US" sz="1350" dirty="0"/>
          </a:p>
        </p:txBody>
      </p:sp>
      <p:sp>
        <p:nvSpPr>
          <p:cNvPr id="12" name="Text 10"/>
          <p:cNvSpPr/>
          <p:nvPr/>
        </p:nvSpPr>
        <p:spPr>
          <a:xfrm>
            <a:off x="8476488" y="3400997"/>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400997"/>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第24课时　前沿与综合研讨：人工智能、法律援助与伦理困境</a:t>
            </a:r>
            <a:endParaRPr lang="en-US" sz="1350" dirty="0"/>
          </a:p>
        </p:txBody>
      </p:sp>
    </p:spTree>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name="Slide 48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第22课时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公证员、仲裁员及其他法律职业的伦理</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法官、检察官、律师之外，还有一批同样取得法律职业资格的执业者</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公证员：预防性证明制度与真实合法审查义务</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仲裁员：新《仲裁法》确立的披露与回避制度</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公司律师、公职律师与其他法律职业</a:t>
            </a:r>
            <a:endParaRPr lang="en-US" sz="1400" dirty="0"/>
          </a:p>
        </p:txBody>
      </p:sp>
    </p:spTree>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name="Slide 4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四类主体，一套原理</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一、公证员职业伦理（一）：制度性质与核心义务</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二、公证员职业伦理（二）：禁止行为与错证责任</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三、仲裁员职业伦理：独立、披露与回避</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四、公司律师、公职律师与法律顾问</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五、其他法律职业与辅助人员</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六、共性与差异：一张对照表</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02</a:t>
            </a:r>
            <a:endParaRPr lang="en-US" sz="1100" dirty="0"/>
          </a:p>
        </p:txBody>
      </p:sp>
    </p:spTree>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name="Slide 48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627757"/>
            <a:ext cx="8726119" cy="109728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公证员职业伦理（一）：制度性质与核心义务</a:t>
            </a:r>
            <a:endParaRPr lang="en-US" sz="3600" dirty="0"/>
          </a:p>
        </p:txBody>
      </p:sp>
      <p:sp>
        <p:nvSpPr>
          <p:cNvPr id="5" name="Text 3"/>
          <p:cNvSpPr/>
          <p:nvPr/>
        </p:nvSpPr>
        <p:spPr>
          <a:xfrm>
            <a:off x="2916936" y="390791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公证是“预防性的司法证明制度”——它的价值在于减少将来的诉讼</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03</a:t>
            </a:r>
            <a:endParaRPr lang="en-US" sz="1100" dirty="0"/>
          </a:p>
        </p:txBody>
      </p:sp>
    </p:spTree>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name="Slide 4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法定定位</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《公证法》第六条、第十六条</a:t>
            </a:r>
            <a:endParaRPr lang="en-US" sz="2800" dirty="0"/>
          </a:p>
        </p:txBody>
      </p:sp>
      <p:sp>
        <p:nvSpPr>
          <p:cNvPr id="4" name="Shape 2"/>
          <p:cNvSpPr/>
          <p:nvPr/>
        </p:nvSpPr>
        <p:spPr>
          <a:xfrm>
            <a:off x="566928" y="1384554"/>
            <a:ext cx="11057839" cy="1566291"/>
          </a:xfrm>
          <a:prstGeom prst="roundRect">
            <a:avLst>
              <a:gd name="adj" fmla="val 5838"/>
            </a:avLst>
          </a:prstGeom>
          <a:solidFill>
            <a:srgbClr val="F6F1E8"/>
          </a:solidFill>
          <a:ln w="12700">
            <a:solidFill>
              <a:srgbClr val="F6F1E8"/>
            </a:solidFill>
            <a:prstDash val="solid"/>
          </a:ln>
        </p:spPr>
      </p:sp>
      <p:sp>
        <p:nvSpPr>
          <p:cNvPr id="5" name="Shape 3"/>
          <p:cNvSpPr/>
          <p:nvPr/>
        </p:nvSpPr>
        <p:spPr>
          <a:xfrm>
            <a:off x="877824" y="1622298"/>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622298"/>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604010"/>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《中华人民共和国公证法》第六条</a:t>
            </a:r>
            <a:endParaRPr lang="en-US" sz="1500" dirty="0"/>
          </a:p>
        </p:txBody>
      </p:sp>
      <p:sp>
        <p:nvSpPr>
          <p:cNvPr id="8" name="Text 6"/>
          <p:cNvSpPr/>
          <p:nvPr/>
        </p:nvSpPr>
        <p:spPr>
          <a:xfrm>
            <a:off x="960120" y="2024634"/>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公证机构是依法设立，不以营利为目的，依法独立行使公证职能、承担民事责任的证明机构。</a:t>
            </a:r>
            <a:endParaRPr lang="en-US" sz="1550" dirty="0"/>
          </a:p>
        </p:txBody>
      </p:sp>
      <p:sp>
        <p:nvSpPr>
          <p:cNvPr id="9" name="Shape 7"/>
          <p:cNvSpPr/>
          <p:nvPr/>
        </p:nvSpPr>
        <p:spPr>
          <a:xfrm>
            <a:off x="566928" y="3133725"/>
            <a:ext cx="11057839" cy="1566291"/>
          </a:xfrm>
          <a:prstGeom prst="roundRect">
            <a:avLst>
              <a:gd name="adj" fmla="val 5838"/>
            </a:avLst>
          </a:prstGeom>
          <a:solidFill>
            <a:srgbClr val="F6F1E8"/>
          </a:solidFill>
          <a:ln w="12700">
            <a:solidFill>
              <a:srgbClr val="F6F1E8"/>
            </a:solidFill>
            <a:prstDash val="solid"/>
          </a:ln>
        </p:spPr>
      </p:sp>
      <p:sp>
        <p:nvSpPr>
          <p:cNvPr id="10" name="Shape 8"/>
          <p:cNvSpPr/>
          <p:nvPr/>
        </p:nvSpPr>
        <p:spPr>
          <a:xfrm>
            <a:off x="877824" y="337146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7146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5318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《中华人民共和国公证法》第十六条</a:t>
            </a:r>
            <a:endParaRPr lang="en-US" sz="1500" dirty="0"/>
          </a:p>
        </p:txBody>
      </p:sp>
      <p:sp>
        <p:nvSpPr>
          <p:cNvPr id="13" name="Text 11"/>
          <p:cNvSpPr/>
          <p:nvPr/>
        </p:nvSpPr>
        <p:spPr>
          <a:xfrm>
            <a:off x="960120" y="3773805"/>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公证员是符合本法规定的条件，在公证机构从事公证业务的执业人员。</a:t>
            </a:r>
            <a:endParaRPr lang="en-US" sz="15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第六条的四个限定：依法设立、不以营利为目的、依法独立行使职能、承担民事责任。“不以营利为目的”这一定位极为关键——它使公证机构区别于一般的市场服务主体，也决定了公证员不得以业务量、创收为导向办理公证。而“承担民事责任”则意味着错证要赔，这是公证公信力的经济担保。</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04</a:t>
            </a:r>
            <a:endParaRPr lang="en-US" sz="1100" dirty="0"/>
          </a:p>
        </p:txBody>
      </p:sp>
    </p:spTree>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name="Slide 4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公证员的四项核心义务</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一、真实性与合法性审查义务</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证员应当对申请公证的事项及其证明材料进行审核，确认其真实、合法。这是公证员最核心、也最容易被忽略的义务——公证不是“照抄当事人所说”，而是独立核实。审查不实而出具公证书，是错证责任的主要来源。</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二、亲历性义务</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需要现场核实、当面询问、见证签署的，公证员应当亲自到场，不得由辅助人员代替，不得凭书面材料想当然。遗嘱公证、现场监督公证尤其如此。这与法官的亲历性、宋慈《洗冤集录》强调的“不可假手他人”是同一原理。</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三、回避义务</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不得为本人及近亲属办理公证，不得办理与本人及近亲属有利害关系的公证。与法官、检察官、律师的回避规则同构——外观中立在公证领域同样适用。</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四、保密义务</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不得泄露在执业活动中知悉的国家秘密、商业秘密或者个人隐私。公证员经手大量遗嘱、财产、身份、家庭关系信息，保密要求不亚于律师。</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05</a:t>
            </a:r>
            <a:endParaRPr lang="en-US" sz="1100" dirty="0"/>
          </a:p>
        </p:txBody>
      </p:sp>
    </p:spTree>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name="Slide 4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制度理解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为什么公证员的伦理要求如此严格</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理解公证员伦理，关键在于理解公证的制度功能。</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第一，公证是预防性的司法证明制度。 它把可能发生的争议消解在事前——经公证的债权文书可以直接申请强制执行，经公证的事实在诉讼中具有较强的证明力。这种效力来自公众对公证真实性的信赖。</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第二，公证书具有法定的证据效力。 依《民事诉讼法》，经过法定程序公证证明的法律事实和文书，人民法院应当作为认定事实的根据，但有相反证据足以推翻的除外。虚假公证直接污染司法认定的基础。</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第三，公证员没有对抗方。 律师有对方律师制衡，法官有上诉审查，而公证员出具公证书时通常只有申请人在场——缺乏对抗性检验，因而更依赖公证员自身的审查与操守。</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第四，错误后果具有扩散性。 一份虚假的房产继承公证，可能导致房屋被处分、善意第三人卷入、多重诉讼。公证的效力越强，虚假公证的破坏力越大。</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一句话：公证员的签字，替代了本应由法庭完成的事实认定。这份权力，要求与之匹配的审慎。</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06</a:t>
            </a:r>
            <a:endParaRPr lang="en-US" sz="1100" dirty="0"/>
          </a:p>
        </p:txBody>
      </p:sp>
    </p:spTree>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name="Slide 48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627757"/>
            <a:ext cx="8726119" cy="109728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公证员职业伦理（二）：禁止行为与错证责任</a:t>
            </a:r>
            <a:endParaRPr lang="en-US" sz="3600" dirty="0"/>
          </a:p>
        </p:txBody>
      </p:sp>
      <p:sp>
        <p:nvSpPr>
          <p:cNvPr id="5" name="Text 3"/>
          <p:cNvSpPr/>
          <p:nvPr/>
        </p:nvSpPr>
        <p:spPr>
          <a:xfrm>
            <a:off x="2916936" y="390791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从行为禁令到赔偿机制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07</a:t>
            </a:r>
            <a:endParaRPr lang="en-US" sz="1100" dirty="0"/>
          </a:p>
        </p:txBody>
      </p:sp>
    </p:spTree>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name="Slide 4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禁止清单</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《公证法》第二十三条：公证员的禁止行为</a:t>
            </a:r>
            <a:endParaRPr lang="en-US" sz="2800" dirty="0"/>
          </a:p>
        </p:txBody>
      </p:sp>
      <p:sp>
        <p:nvSpPr>
          <p:cNvPr id="4" name="Shape 2"/>
          <p:cNvSpPr/>
          <p:nvPr/>
        </p:nvSpPr>
        <p:spPr>
          <a:xfrm>
            <a:off x="566928" y="1316736"/>
            <a:ext cx="11057839" cy="3451098"/>
          </a:xfrm>
          <a:prstGeom prst="roundRect">
            <a:avLst>
              <a:gd name="adj" fmla="val 265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《中华人民共和国公证法》第二十三条</a:t>
            </a:r>
            <a:endParaRPr lang="en-US" sz="1500" dirty="0"/>
          </a:p>
        </p:txBody>
      </p:sp>
      <p:sp>
        <p:nvSpPr>
          <p:cNvPr id="8" name="Text 6"/>
          <p:cNvSpPr/>
          <p:nvPr/>
        </p:nvSpPr>
        <p:spPr>
          <a:xfrm>
            <a:off x="960120" y="1956816"/>
            <a:ext cx="10271455" cy="2591562"/>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公证员不得有下列行为：</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（一）同时在二个以上公证机构执业；</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（二）从事有报酬的其他职业；</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（三）为本人及近亲属办理公证或者办理与本人及近亲属有利害关系的公证；</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（四）私自出具公证书；</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（五）为不真实、不合法的事项出具公证书；</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（六）侵占、挪用公证费或者收取公证费以外的财物；</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（七）毁损、篡改公证文书或者公证档案；</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（八）泄露在执业活动中知悉的国家秘密、商业秘密或者个人隐私；</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（九）法律、法规、国务院司法行政部门规定禁止的其他行为。</a:t>
            </a:r>
            <a:endParaRPr lang="en-US" sz="130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把这九项与《律师法》第四十条对照阅读，你会发现结构高度相似：多头执业之禁、兼职之禁、利害回避、私自出证（对应私自接案）、虚假证明（对应虚假证据）、侵占挪用费用（对应私自收费与挪用案款）、毁损文书、泄密。这印证了一个判断：法律职业伦理的底层结构是共通的，差异只在角色所决定的具体内容。</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08</a:t>
            </a:r>
            <a:endParaRPr lang="en-US" sz="1100" dirty="0"/>
          </a:p>
        </p:txBody>
      </p:sp>
    </p:spTree>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name="Slide 4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错证责任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《公证法》第四十三条：赔偿与追偿</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《中华人民共和国公证法》第四十三条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公证机构及其公证员因过错给当事人、公证事项的利害关系人造成损失的，由公证机构承担相应的赔偿责任；公证机构赔偿后，可以向有故意或者重大过失的公证员追偿。</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当事人、公证事项的利害关系人与公证机构因赔偿发生争议的，可以向人民法院提起民事诉讼。</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这一条与《律师法》第五十四条的高度一致：机构对外赔偿、对故意或者重大过失的个人内部追偿。这一“机构先赔＋内部追偿”的双层结构，在我国法律职业责任体系中反复出现，其功能是：保障受害人能获得实际赔偿、倒逼机构履行管理责任、同时为执业者的一般过失保留空间。</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09</a:t>
            </a:r>
            <a:endParaRPr lang="en-US" sz="1100" dirty="0"/>
          </a:p>
        </p:txBody>
      </p:sp>
    </p:spTree>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name="Slide 4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一份没有见到本人的遗嘱公证</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警示案例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亲历性义务的代价</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公证处受理一起遗嘱公证申请。申请人称其父年迈卧床、行动不便，请求公证员上门办理。公证员因当日事务繁忙，委派公证员助理前往，助理拍摄了老人手持遗嘱的照片并录制了简短视频，返回后由公证员依据材料出具了公证书。</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老人去世后，其他子女提出异议，称老人当时已患阿尔茨海默病，不具备完全民事行为能力，且视频中老人的应答明显系他人提示。经鉴定，老人在立遗嘱时确已丧失相应的民事行为能力。</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法院认定该遗嘱无效，撤销了公证书。其他子女起诉公证处，要求赔偿因遗嘱执行造成的财产损失与诉讼支出。</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公证员违反了哪些义务？请指出条文。</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委派助理前往，能否视为已履行亲历性义务？</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公证处应否承担赔偿责任？可否向公证员追偿？</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本案在制度上应当如何防范？</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10</a:t>
            </a:r>
            <a:endParaRPr lang="en-US" sz="1100" dirty="0"/>
          </a:p>
        </p:txBody>
      </p:sp>
    </p:spTree>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name="Slide 49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仲裁员职业伦理：独立、披露与回避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新修订的《仲裁法》已自2026年3月1日起施行，规则有重要变化</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11</a:t>
            </a:r>
            <a:endParaRPr lang="en-US" sz="1100" dirty="0"/>
          </a:p>
        </p:txBody>
      </p:sp>
    </p:spTree>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name="Slide 4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新法要点一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《仲裁法》（2025年修订）第二十一条、第二十二条</a:t>
            </a:r>
            <a:endParaRPr lang="en-US" sz="2800" dirty="0"/>
          </a:p>
        </p:txBody>
      </p:sp>
      <p:sp>
        <p:nvSpPr>
          <p:cNvPr id="4" name="Shape 2"/>
          <p:cNvSpPr/>
          <p:nvPr/>
        </p:nvSpPr>
        <p:spPr>
          <a:xfrm>
            <a:off x="566928" y="1316736"/>
            <a:ext cx="11057839" cy="1234059"/>
          </a:xfrm>
          <a:prstGeom prst="roundRect">
            <a:avLst>
              <a:gd name="adj" fmla="val 741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《中华人民共和国仲裁法》第二十一条</a:t>
            </a:r>
            <a:endParaRPr lang="en-US" sz="1500" dirty="0"/>
          </a:p>
        </p:txBody>
      </p:sp>
      <p:sp>
        <p:nvSpPr>
          <p:cNvPr id="8" name="Text 6"/>
          <p:cNvSpPr/>
          <p:nvPr/>
        </p:nvSpPr>
        <p:spPr>
          <a:xfrm>
            <a:off x="960120" y="1956816"/>
            <a:ext cx="10271455" cy="3745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仲裁机构聘任的仲裁员应当公道正派，具备良好的专业素质，勤勉尽责，清正廉明，恪守职业道德。</a:t>
            </a:r>
            <a:endParaRPr lang="en-US" sz="1400" dirty="0"/>
          </a:p>
        </p:txBody>
      </p:sp>
      <p:sp>
        <p:nvSpPr>
          <p:cNvPr id="9" name="Shape 7"/>
          <p:cNvSpPr/>
          <p:nvPr/>
        </p:nvSpPr>
        <p:spPr>
          <a:xfrm>
            <a:off x="566928" y="2733675"/>
            <a:ext cx="11057839" cy="2034159"/>
          </a:xfrm>
          <a:prstGeom prst="roundRect">
            <a:avLst>
              <a:gd name="adj" fmla="val 4495"/>
            </a:avLst>
          </a:prstGeom>
          <a:solidFill>
            <a:srgbClr val="F6F1E8"/>
          </a:solidFill>
          <a:ln w="12700">
            <a:solidFill>
              <a:srgbClr val="F6F1E8"/>
            </a:solidFill>
            <a:prstDash val="solid"/>
          </a:ln>
        </p:spPr>
      </p:sp>
      <p:sp>
        <p:nvSpPr>
          <p:cNvPr id="10" name="Shape 8"/>
          <p:cNvSpPr/>
          <p:nvPr/>
        </p:nvSpPr>
        <p:spPr>
          <a:xfrm>
            <a:off x="877824" y="29714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9714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9531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《中华人民共和国仲裁法》第二十二条（节录）</a:t>
            </a:r>
            <a:endParaRPr lang="en-US" sz="1500" dirty="0"/>
          </a:p>
        </p:txBody>
      </p:sp>
      <p:sp>
        <p:nvSpPr>
          <p:cNvPr id="13" name="Text 11"/>
          <p:cNvSpPr/>
          <p:nvPr/>
        </p:nvSpPr>
        <p:spPr>
          <a:xfrm>
            <a:off x="960120" y="3373755"/>
            <a:ext cx="10271455" cy="11746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仲裁员应当符合下列条件之一：</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（一）通过国家统一法律职业资格考试取得法律职业资格，从事仲裁工作满八年的；</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（五）具有法律知识，从事法律、经济贸易、海事海商、科学技术等专业工作，并具有高级职称或者具有同等专业水平的。</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第二十一条的立法技术：它把职业伦理要求直接写入了仲裁员的聘任条件——公道正派、良好的专业素质、勤勉尽责、清正廉明、恪守职业道德。伦理不再只是执业中的约束，而成为进入这一职业的门槛。新修订的《仲裁法》于2025年9月12日通过，自2026年3月1日起施行，共八章九十六条。</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12</a:t>
            </a:r>
            <a:endParaRPr lang="en-US" sz="1100" dirty="0"/>
          </a:p>
        </p:txBody>
      </p:sp>
    </p:spTree>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name="Slide 4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新法要点二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披露与回避：《仲裁法》第四十五条至第四十八条</a:t>
            </a:r>
            <a:endParaRPr lang="en-US" sz="2800" dirty="0"/>
          </a:p>
        </p:txBody>
      </p:sp>
      <p:sp>
        <p:nvSpPr>
          <p:cNvPr id="4" name="Shape 2"/>
          <p:cNvSpPr/>
          <p:nvPr/>
        </p:nvSpPr>
        <p:spPr>
          <a:xfrm>
            <a:off x="566928" y="1316736"/>
            <a:ext cx="11057839" cy="1510284"/>
          </a:xfrm>
          <a:prstGeom prst="roundRect">
            <a:avLst>
              <a:gd name="adj" fmla="val 6054"/>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第四十五条（披露义务）</a:t>
            </a:r>
            <a:endParaRPr lang="en-US" sz="1500" dirty="0"/>
          </a:p>
        </p:txBody>
      </p:sp>
      <p:sp>
        <p:nvSpPr>
          <p:cNvPr id="8" name="Text 6"/>
          <p:cNvSpPr/>
          <p:nvPr/>
        </p:nvSpPr>
        <p:spPr>
          <a:xfrm>
            <a:off x="960120" y="1956816"/>
            <a:ext cx="10271455" cy="650748"/>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仲裁员存在可能导致当事人对其独立性、公正性产生合理怀疑情形的，该仲裁员应当及时向仲裁机构书面披露。仲裁机构应当将仲裁员书面披露情况、仲裁庭的组成情况书面通知当事人。</a:t>
            </a:r>
            <a:endParaRPr lang="en-US" sz="1300" dirty="0"/>
          </a:p>
        </p:txBody>
      </p:sp>
      <p:sp>
        <p:nvSpPr>
          <p:cNvPr id="9" name="Shape 7"/>
          <p:cNvSpPr/>
          <p:nvPr/>
        </p:nvSpPr>
        <p:spPr>
          <a:xfrm>
            <a:off x="566928" y="3009900"/>
            <a:ext cx="11057839" cy="1757934"/>
          </a:xfrm>
          <a:prstGeom prst="roundRect">
            <a:avLst>
              <a:gd name="adj" fmla="val 5202"/>
            </a:avLst>
          </a:prstGeom>
          <a:solidFill>
            <a:srgbClr val="F6F1E8"/>
          </a:solidFill>
          <a:ln w="12700">
            <a:solidFill>
              <a:srgbClr val="F6F1E8"/>
            </a:solidFill>
            <a:prstDash val="solid"/>
          </a:ln>
        </p:spPr>
      </p:sp>
      <p:sp>
        <p:nvSpPr>
          <p:cNvPr id="10" name="Shape 8"/>
          <p:cNvSpPr/>
          <p:nvPr/>
        </p:nvSpPr>
        <p:spPr>
          <a:xfrm>
            <a:off x="877824" y="3247644"/>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4764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22935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第四十六条至第四十八条（回避）</a:t>
            </a:r>
            <a:endParaRPr lang="en-US" sz="1500" dirty="0"/>
          </a:p>
        </p:txBody>
      </p:sp>
      <p:sp>
        <p:nvSpPr>
          <p:cNvPr id="13" name="Text 11"/>
          <p:cNvSpPr/>
          <p:nvPr/>
        </p:nvSpPr>
        <p:spPr>
          <a:xfrm>
            <a:off x="960120" y="3649980"/>
            <a:ext cx="10271455" cy="898398"/>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第四十六条　仲裁员有法定情形之一的，必须回避，当事人也有权提出回避申请。</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第四十七条　当事人提出回避申请，应当说明理由，在首次开庭前提出。回避事由在首次开庭后知道的，可以在最后一次开庭终结前提出。</a:t>
            </a:r>
            <a:endParaRPr lang="en-US" sz="1300" dirty="0"/>
          </a:p>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第四十八条　仲裁员是否回避，由仲裁机构主任决定；仲裁机构主任担任仲裁员时，其是否回避由仲裁机构的其他组成人员集体决定。</a:t>
            </a:r>
            <a:endParaRPr lang="en-US" sz="13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披露制度是仲裁伦理的核心装置，其判断标准是“可能导致当事人对其独立性、公正性产生合理怀疑”——这正是我们第7课时讲的外观中立标准。请注意披露与回避的关系：披露是主动的、持续的、面向机构与当事人的信息义务；回避是披露之后的处理结果。披露不等于回避，当事人知悉后未提出异议的，仲裁员通常可以继续任职。</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13</a:t>
            </a:r>
            <a:endParaRPr lang="en-US" sz="1100" dirty="0"/>
          </a:p>
        </p:txBody>
      </p:sp>
    </p:spTree>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name="Slide 4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仲裁员与法官：相似的中立，不同的产生方式</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相似之处</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均为裁判者，须保持独立与中立，不受任何一方影响。</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均适用回避制度，且以“合理怀疑”为判断标准。</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均不得单方接触当事人、不得接受请客送礼。</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均负有保密义务；仲裁的保密性甚至强于诉讼。</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关键差异</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产生方式：仲裁员由当事人选定或者机构指定，可能与选定方存在既往联系——这正是披露制度存在的原因。</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权力来源：仲裁权源于当事人的合意，法官的审判权源于国家授权。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披露义务：仲裁员负有持续的主动披露义务，其强度高于法官。</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救济方式：仲裁一裁终局，救济限于撤裁与不予执行，故事前的披露与回避尤为重要。</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14</a:t>
            </a:r>
            <a:endParaRPr lang="en-US" sz="1100" dirty="0"/>
          </a:p>
        </p:txBody>
      </p:sp>
    </p:spTree>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name="Slide 4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国际实践</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IBA《国际仲裁利益冲突指引》的红橙绿名单</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涉外仲裁中广泛参照国际律师协会（IBA）的《国际仲裁利益冲突指引》，其类型化方法值得借鉴。</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不可放弃的红色清单：仲裁员与一方当事人同一，或者是当事人的法定代表人；对争议标的有重大经济利益。此类情形当事人同意亦不得任职。</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可放弃的红色清单：仲裁员曾就本争议向一方提供法律意见；与一方存在密切的家庭或者经济关系。经充分披露并经各方明示同意的，可以任职。</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橙色清单：三年内曾担任一方的代理人；与另一名仲裁员或者代理人同属一所律所；曾在其他案件中被同一方多次指定。须披露，当事人未在期限内提出异议的视为接受。</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绿色清单：仅在学术活动中与当事人有过接触；曾发表与争议法律问题相关的学术观点。通常无须披露。</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请注意绿色清单的最后一项与我们第7课时讨论的“法官曾发表学术观点是否需要回避”完全一致：对抽象法律问题的观点不构成偏见，对本案或本案当事人的评价才构成。</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15</a:t>
            </a:r>
            <a:endParaRPr lang="en-US" sz="1100" dirty="0"/>
          </a:p>
        </p:txBody>
      </p:sp>
    </p:spTree>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name="Slide 49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公司律师、公职律师与法律顾问</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身处组织之中的法律人，面临特殊的角色冲突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16</a:t>
            </a:r>
            <a:endParaRPr lang="en-US" sz="1100" dirty="0"/>
          </a:p>
        </p:txBody>
      </p:sp>
    </p:spTree>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name="Slide 4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三类主体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组织内法律人的伦理困境</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公司律师</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在国有企业等单位任职并取得律师执业证书。委托人是所在企业这一法人，而非管理层个人。困境在于：其薪酬、晋升由管理层决定，而其职业义务指向公司整体利益。当管理层的决定可能损害公司时，公司律师应当依内部程序向董事会、监事会报告，必要时留下书面记录。</a:t>
            </a:r>
            <a:endParaRPr lang="en-US" sz="1500" dirty="0"/>
          </a:p>
        </p:txBody>
      </p:sp>
      <p:sp>
        <p:nvSpPr>
          <p:cNvPr id="9" name="Shape 6"/>
          <p:cNvSpPr/>
          <p:nvPr/>
        </p:nvSpPr>
        <p:spPr>
          <a:xfrm>
            <a:off x="566928" y="3146171"/>
            <a:ext cx="11057839" cy="1683131"/>
          </a:xfrm>
          <a:prstGeom prst="roundRect">
            <a:avLst>
              <a:gd name="adj" fmla="val 4346"/>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公职律师</a:t>
            </a:r>
            <a:endParaRPr lang="en-US" sz="1650" dirty="0"/>
          </a:p>
        </p:txBody>
      </p:sp>
      <p:sp>
        <p:nvSpPr>
          <p:cNvPr id="13" name="Text 9"/>
          <p:cNvSpPr/>
          <p:nvPr/>
        </p:nvSpPr>
        <p:spPr>
          <a:xfrm>
            <a:off x="1536192" y="374408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在党政机关任职并取得律师执业证书，为本机关提供法律意见、参与依法行政。困境在于：既受公务员纪律约束，又受律师执业规范约束；既要服务本机关的工作目标，又要坚持合法性判断。核心立场是：公职律师的价值恰恰在于说出“这样做不合法”。</a:t>
            </a:r>
            <a:endParaRPr lang="en-US" sz="1500" dirty="0"/>
          </a:p>
        </p:txBody>
      </p:sp>
      <p:sp>
        <p:nvSpPr>
          <p:cNvPr id="14" name="Shape 10"/>
          <p:cNvSpPr/>
          <p:nvPr/>
        </p:nvSpPr>
        <p:spPr>
          <a:xfrm>
            <a:off x="566928" y="4975606"/>
            <a:ext cx="11057839" cy="1406906"/>
          </a:xfrm>
          <a:prstGeom prst="roundRect">
            <a:avLst>
              <a:gd name="adj" fmla="val 5199"/>
            </a:avLst>
          </a:prstGeom>
          <a:solidFill>
            <a:srgbClr val="F2F4F8"/>
          </a:solidFill>
          <a:ln w="12700">
            <a:solidFill>
              <a:srgbClr val="F2F4F8"/>
            </a:solidFill>
            <a:prstDash val="solid"/>
          </a:ln>
        </p:spPr>
      </p:sp>
      <p:sp>
        <p:nvSpPr>
          <p:cNvPr id="15" name="Shape 11"/>
          <p:cNvSpPr/>
          <p:nvPr/>
        </p:nvSpPr>
        <p:spPr>
          <a:xfrm>
            <a:off x="841248" y="542302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76646"/>
            <a:ext cx="204826" cy="204826"/>
          </a:xfrm>
          <a:prstGeom prst="rect">
            <a:avLst/>
          </a:prstGeom>
        </p:spPr>
      </p:pic>
      <p:sp>
        <p:nvSpPr>
          <p:cNvPr id="17" name="Text 12"/>
          <p:cNvSpPr/>
          <p:nvPr/>
        </p:nvSpPr>
        <p:spPr>
          <a:xfrm>
            <a:off x="1536192" y="523214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常年法律顾问</a:t>
            </a:r>
            <a:endParaRPr lang="en-US" sz="1650" dirty="0"/>
          </a:p>
        </p:txBody>
      </p:sp>
      <p:sp>
        <p:nvSpPr>
          <p:cNvPr id="18" name="Text 13"/>
          <p:cNvSpPr/>
          <p:nvPr/>
        </p:nvSpPr>
        <p:spPr>
          <a:xfrm>
            <a:off x="1536192" y="5573522"/>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以外部律师身份为单位提供持续服务。困境在于：长期合作产生的依赖关系可能削弱独立判断；顾问单位众多时容易产生利益冲突。应对：建立顾问单位清单并定期比对，重大意见书面出具，对不合法的方案明确说“不”。</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17</a:t>
            </a:r>
            <a:endParaRPr lang="en-US" sz="1100" dirty="0"/>
          </a:p>
        </p:txBody>
      </p:sp>
    </p:spTree>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name="Slide 498">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组织内法律人的价值，不在于替组织找到“怎么做都行”的理由，而在于在关键时刻说出那句不受欢迎的话——这件事不能做。</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组织内法律人的角色</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一个从不说“不”的法务，对组织的价值等于零；他不但没有防住风险，还为风险提供了合法性外观</a:t>
            </a:r>
            <a:endParaRPr lang="en-US" sz="1300" dirty="0"/>
          </a:p>
        </p:txBody>
      </p:sp>
    </p:spTree>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name="Slide 49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其他法律职业与辅助人员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外延正在持续扩张的法律职业群体</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19</a:t>
            </a:r>
            <a:endParaRPr lang="en-US" sz="1100" dirty="0"/>
          </a:p>
        </p:txBody>
      </p:sp>
    </p:spTree>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name="Slide 5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其他主体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四类需要了解的主体</a:t>
            </a:r>
            <a:endParaRPr lang="en-US" sz="2800" dirty="0"/>
          </a:p>
        </p:txBody>
      </p:sp>
      <p:sp>
        <p:nvSpPr>
          <p:cNvPr id="4" name="Shape 2"/>
          <p:cNvSpPr/>
          <p:nvPr/>
        </p:nvSpPr>
        <p:spPr>
          <a:xfrm>
            <a:off x="566928" y="1379220"/>
            <a:ext cx="5410048" cy="2360676"/>
          </a:xfrm>
          <a:prstGeom prst="roundRect">
            <a:avLst>
              <a:gd name="adj" fmla="val 3873"/>
            </a:avLst>
          </a:prstGeom>
          <a:solidFill>
            <a:srgbClr val="F2F4F8"/>
          </a:solidFill>
          <a:ln w="12700">
            <a:solidFill>
              <a:srgbClr val="F2F4F8"/>
            </a:solidFill>
            <a:prstDash val="solid"/>
          </a:ln>
        </p:spPr>
      </p:sp>
      <p:sp>
        <p:nvSpPr>
          <p:cNvPr id="5" name="Shape 3"/>
          <p:cNvSpPr/>
          <p:nvPr/>
        </p:nvSpPr>
        <p:spPr>
          <a:xfrm>
            <a:off x="886968" y="1671828"/>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808988"/>
            <a:ext cx="182880" cy="182880"/>
          </a:xfrm>
          <a:prstGeom prst="rect">
            <a:avLst/>
          </a:prstGeom>
        </p:spPr>
      </p:pic>
      <p:sp>
        <p:nvSpPr>
          <p:cNvPr id="7" name="Text 4"/>
          <p:cNvSpPr/>
          <p:nvPr/>
        </p:nvSpPr>
        <p:spPr>
          <a:xfrm>
            <a:off x="886968"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基层法律服务工作者</a:t>
            </a:r>
            <a:endParaRPr lang="en-US" sz="1500" dirty="0"/>
          </a:p>
        </p:txBody>
      </p:sp>
      <p:sp>
        <p:nvSpPr>
          <p:cNvPr id="8" name="Text 5"/>
          <p:cNvSpPr/>
          <p:nvPr/>
        </p:nvSpPr>
        <p:spPr>
          <a:xfrm>
            <a:off x="886968"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在乡镇、街道法律服务所执业，为基层群众提供法律服务。执业范围受限（一般不得从事刑事辩护），但同样负有诚信、勤勉、保密与利益冲突禁止的义务，受《基层法律服务工作者管理办法》规范。</a:t>
            </a:r>
            <a:endParaRPr lang="en-US" sz="1250" dirty="0"/>
          </a:p>
        </p:txBody>
      </p:sp>
      <p:sp>
        <p:nvSpPr>
          <p:cNvPr id="9" name="Shape 6"/>
          <p:cNvSpPr/>
          <p:nvPr/>
        </p:nvSpPr>
        <p:spPr>
          <a:xfrm>
            <a:off x="6214720" y="1379220"/>
            <a:ext cx="5410048" cy="2360676"/>
          </a:xfrm>
          <a:prstGeom prst="roundRect">
            <a:avLst>
              <a:gd name="adj" fmla="val 3873"/>
            </a:avLst>
          </a:prstGeom>
          <a:solidFill>
            <a:srgbClr val="F6F1E8"/>
          </a:solidFill>
          <a:ln w="12700">
            <a:solidFill>
              <a:srgbClr val="F6F1E8"/>
            </a:solidFill>
            <a:prstDash val="solid"/>
          </a:ln>
        </p:spPr>
      </p:sp>
      <p:sp>
        <p:nvSpPr>
          <p:cNvPr id="10" name="Shape 7"/>
          <p:cNvSpPr/>
          <p:nvPr/>
        </p:nvSpPr>
        <p:spPr>
          <a:xfrm>
            <a:off x="6534760" y="1671828"/>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808988"/>
            <a:ext cx="182880" cy="182880"/>
          </a:xfrm>
          <a:prstGeom prst="rect">
            <a:avLst/>
          </a:prstGeom>
        </p:spPr>
      </p:pic>
      <p:sp>
        <p:nvSpPr>
          <p:cNvPr id="12" name="Text 8"/>
          <p:cNvSpPr/>
          <p:nvPr/>
        </p:nvSpPr>
        <p:spPr>
          <a:xfrm>
            <a:off x="6534760" y="2293620"/>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法学教师与研究人员</a:t>
            </a:r>
            <a:endParaRPr lang="en-US" sz="1500" dirty="0"/>
          </a:p>
        </p:txBody>
      </p:sp>
      <p:sp>
        <p:nvSpPr>
          <p:cNvPr id="13" name="Text 9"/>
          <p:cNvSpPr/>
          <p:nvPr/>
        </p:nvSpPr>
        <p:spPr>
          <a:xfrm>
            <a:off x="6534760" y="2659761"/>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狭义法律职业的组成部分。其伦理要求集中于学术诚信（不得抄袭、不得伪造数据）、利益披露（接受资助或者受托研究应当披露）、以及以专家意见书参与个案时的中立性与署名规范。</a:t>
            </a:r>
            <a:endParaRPr lang="en-US" sz="1250" dirty="0"/>
          </a:p>
        </p:txBody>
      </p:sp>
      <p:sp>
        <p:nvSpPr>
          <p:cNvPr id="14" name="Shape 10"/>
          <p:cNvSpPr/>
          <p:nvPr/>
        </p:nvSpPr>
        <p:spPr>
          <a:xfrm>
            <a:off x="566928" y="3959352"/>
            <a:ext cx="5410048" cy="2360676"/>
          </a:xfrm>
          <a:prstGeom prst="roundRect">
            <a:avLst>
              <a:gd name="adj" fmla="val 3873"/>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司法鉴定人</a:t>
            </a:r>
            <a:endParaRPr lang="en-US" sz="1500" dirty="0"/>
          </a:p>
        </p:txBody>
      </p:sp>
      <p:sp>
        <p:nvSpPr>
          <p:cNvPr id="18" name="Text 13"/>
          <p:cNvSpPr/>
          <p:nvPr/>
        </p:nvSpPr>
        <p:spPr>
          <a:xfrm>
            <a:off x="886968"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受《司法鉴定人登记管理办法》等规范约束，核心义务为独立、客观、科学，回避与保密。鉴定意见对裁判影响巨大，虚假鉴定可能构成犯罪。</a:t>
            </a:r>
            <a:endParaRPr lang="en-US" sz="1250" dirty="0"/>
          </a:p>
        </p:txBody>
      </p:sp>
      <p:sp>
        <p:nvSpPr>
          <p:cNvPr id="19" name="Shape 14"/>
          <p:cNvSpPr/>
          <p:nvPr/>
        </p:nvSpPr>
        <p:spPr>
          <a:xfrm>
            <a:off x="6214720" y="3959352"/>
            <a:ext cx="5410048" cy="2360676"/>
          </a:xfrm>
          <a:prstGeom prst="roundRect">
            <a:avLst>
              <a:gd name="adj" fmla="val 3873"/>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38125"/>
          </a:xfrm>
          <a:prstGeom prst="rect">
            <a:avLst/>
          </a:prstGeom>
          <a:noFill/>
          <a:ln/>
        </p:spPr>
        <p:txBody>
          <a:bodyPr wrap="square" lIns="0" tIns="0" rIns="0" bIns="0" rtlCol="0" anchor="t"/>
          <a:lstStyle/>
          <a:p>
            <a:pPr indent="0" marL="0">
              <a:lnSpc>
                <a:spcPts val="1875"/>
              </a:lnSpc>
              <a:buNone/>
            </a:pPr>
            <a:r>
              <a:rPr lang="en-US" sz="1500" b="1" dirty="0">
                <a:solidFill>
                  <a:srgbClr val="13233F"/>
                </a:solidFill>
                <a:latin typeface="微软雅黑" pitchFamily="34" charset="0"/>
                <a:ea typeface="微软雅黑" pitchFamily="34" charset="-122"/>
                <a:cs typeface="微软雅黑" pitchFamily="34" charset="-120"/>
              </a:rPr>
              <a:t>司法辅助人员</a:t>
            </a:r>
            <a:endParaRPr lang="en-US" sz="1500" dirty="0"/>
          </a:p>
        </p:txBody>
      </p:sp>
      <p:sp>
        <p:nvSpPr>
          <p:cNvPr id="23" name="Text 17"/>
          <p:cNvSpPr/>
          <p:nvPr/>
        </p:nvSpPr>
        <p:spPr>
          <a:xfrm>
            <a:off x="6534760" y="5239893"/>
            <a:ext cx="4769968" cy="860679"/>
          </a:xfrm>
          <a:prstGeom prst="rect">
            <a:avLst/>
          </a:prstGeom>
          <a:noFill/>
          <a:ln/>
        </p:spPr>
        <p:txBody>
          <a:bodyPr wrap="square" lIns="0" tIns="0" rIns="0" bIns="0" rtlCol="0" anchor="t"/>
          <a:lstStyle/>
          <a:p>
            <a:pPr indent="0" marL="0">
              <a:lnSpc>
                <a:spcPts val="1875"/>
              </a:lnSpc>
              <a:buNone/>
            </a:pPr>
            <a:r>
              <a:rPr lang="en-US" sz="1250" dirty="0">
                <a:solidFill>
                  <a:srgbClr val="32404F"/>
                </a:solidFill>
                <a:latin typeface="微软雅黑" pitchFamily="34" charset="0"/>
                <a:ea typeface="微软雅黑" pitchFamily="34" charset="-122"/>
                <a:cs typeface="微软雅黑" pitchFamily="34" charset="-120"/>
              </a:rPr>
              <a:t>法官助理、检察官助理、书记员、执行员等。虽不直接行使裁判权，但接触全部案件信息，同样负有保密、回避、不得违规接触当事人等义务；离任后亦受相应从业限制。</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20</a:t>
            </a:r>
            <a:endParaRPr lang="en-US" sz="1100" dirty="0"/>
          </a:p>
        </p:txBody>
      </p:sp>
    </p:spTree>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name="Slide 5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总览</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五类法律职业伦理要求对照表</a:t>
            </a:r>
            <a:endParaRPr lang="en-US" sz="2800" dirty="0"/>
          </a:p>
        </p:txBody>
      </p:sp>
      <p:graphicFrame>
        <p:nvGraphicFramePr>
          <p:cNvPr id="502" name="Table 0"/>
          <p:cNvGraphicFramePr>
            <a:graphicFrameLocks noGrp="1"/>
          </p:cNvGraphicFramePr>
          <p:nvPr>
            <p:extLst>
              <p:ext uri="{D42A27DB-BD31-4B8C-83A1-F6EECF244321}">
                <p14:modId xmlns:p14="http://schemas.microsoft.com/office/powerpoint/2010/main" val="1579011935"/>
              </p:ext>
            </p:extLst>
          </p:nvPr>
        </p:nvGraphicFramePr>
        <p:xfrm>
          <a:off x="566928" y="2319084"/>
          <a:ext cx="11057839" cy="914400"/>
        </p:xfrm>
        <a:graphic>
          <a:graphicData uri="http://schemas.openxmlformats.org/drawingml/2006/table">
            <a:tbl>
              <a:tblPr/>
              <a:tblGrid>
                <a:gridCol w="1554480"/>
                <a:gridCol w="2286000"/>
                <a:gridCol w="2377440"/>
                <a:gridCol w="2194560"/>
                <a:gridCol w="2651760"/>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职业</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核心角色</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首要义务</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中立要求</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责任机制</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法官</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裁判者</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公正裁判</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最高：实质+外观中立</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惩戒委员会+法院决定</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检察官</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追诉者兼监督者</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客观公正义务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高：客观立场</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惩戒委员会+检察院决定</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律师</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当事人受托人</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忠诚于委托人</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不要求中立（片面性）</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律协惩戒+司法行政处罚</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公证员</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证明者</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真实性合法性审查</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高：不得利害关涉</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公证机构赔偿+内部追偿</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仲裁员</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合意裁判者</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独立公正+披露</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高：持续披露义务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机构除名+撤裁风险</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087557"/>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请横向比较“中立要求”一列：唯有律师不要求中立，因为片面性正是其角色的制度设定——这是第2课时“误将一方伦理标准套用于另一方”这一命题的最直观呈现。</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21</a:t>
            </a:r>
            <a:endParaRPr lang="en-US" sz="1100" dirty="0"/>
          </a:p>
        </p:txBody>
      </p:sp>
    </p:spTree>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name="Slide 5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公证员的真实性与合法性审查义务，与律师对委托人陈述的核实义务，在强度上有何不同？为什么？请从有无对抗方、公证书的证据效力两个角度分析。</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新《仲裁法》第四十五条要求仲裁员就“可能导致当事人对其独立性、公正性产生合理怀疑”的情形主动书面披露。请设计一份仲裁员披露清单（不少于八项），并说明哪些属于必须回避、哪些属于披露后可继续任职。</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某公司律师发现公司拟实施的一项交易存在重大合规风险，向管理层报告后未被采纳。他应当如何处理？可以向董事会、监事会或者监管机构报告吗？这与律师的保密义务是否冲突？</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法学教授接受一方当事人委托出具专家意见书，并在意见书中支持委托方的主张。这一行为是否有违学术中立？应当遵守哪些伦理规范？</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第22课时 · 22</a:t>
            </a:r>
            <a:endParaRPr lang="en-US" sz="1100" dirty="0"/>
          </a:p>
        </p:txBody>
      </p:sp>
    </p:spTree>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name="Slide 503">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第22课时要点回顾</a:t>
            </a:r>
            <a:endParaRPr lang="en-US" sz="3000" dirty="0"/>
          </a:p>
        </p:txBody>
      </p:sp>
      <p:sp>
        <p:nvSpPr>
          <p:cNvPr id="4" name="Shape 2"/>
          <p:cNvSpPr/>
          <p:nvPr/>
        </p:nvSpPr>
        <p:spPr>
          <a:xfrm>
            <a:off x="566928" y="1591056"/>
            <a:ext cx="11057839" cy="752306"/>
          </a:xfrm>
          <a:prstGeom prst="roundRect">
            <a:avLst>
              <a:gd name="adj" fmla="val 9724"/>
            </a:avLst>
          </a:prstGeom>
          <a:solidFill>
            <a:srgbClr val="25395F"/>
          </a:solidFill>
          <a:ln w="12700">
            <a:solidFill>
              <a:srgbClr val="25395F"/>
            </a:solidFill>
            <a:prstDash val="solid"/>
          </a:ln>
        </p:spPr>
      </p:sp>
      <p:sp>
        <p:nvSpPr>
          <p:cNvPr id="5" name="Shape 3"/>
          <p:cNvSpPr/>
          <p:nvPr/>
        </p:nvSpPr>
        <p:spPr>
          <a:xfrm>
            <a:off x="859536" y="176604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6742"/>
            <a:ext cx="160934" cy="160934"/>
          </a:xfrm>
          <a:prstGeom prst="rect">
            <a:avLst/>
          </a:prstGeom>
        </p:spPr>
      </p:pic>
      <p:sp>
        <p:nvSpPr>
          <p:cNvPr id="7" name="Text 4"/>
          <p:cNvSpPr/>
          <p:nvPr/>
        </p:nvSpPr>
        <p:spPr>
          <a:xfrm>
            <a:off x="1444752" y="174813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公证是预防性的司法证明制度。《公证法》第六条确立公证机构“依法设立、不以营利为目的、独立行使职能、承担民事责任”四项定位；第十六条界定公证员。</a:t>
            </a:r>
            <a:endParaRPr lang="en-US" sz="1150" dirty="0"/>
          </a:p>
        </p:txBody>
      </p:sp>
      <p:sp>
        <p:nvSpPr>
          <p:cNvPr id="8" name="Shape 5"/>
          <p:cNvSpPr/>
          <p:nvPr/>
        </p:nvSpPr>
        <p:spPr>
          <a:xfrm>
            <a:off x="566928" y="2480522"/>
            <a:ext cx="11057839" cy="548217"/>
          </a:xfrm>
          <a:prstGeom prst="roundRect">
            <a:avLst>
              <a:gd name="adj" fmla="val 13344"/>
            </a:avLst>
          </a:prstGeom>
          <a:solidFill>
            <a:srgbClr val="25395F"/>
          </a:solidFill>
          <a:ln w="12700">
            <a:solidFill>
              <a:srgbClr val="25395F"/>
            </a:solidFill>
            <a:prstDash val="solid"/>
          </a:ln>
        </p:spPr>
      </p:sp>
      <p:sp>
        <p:nvSpPr>
          <p:cNvPr id="9" name="Shape 6"/>
          <p:cNvSpPr/>
          <p:nvPr/>
        </p:nvSpPr>
        <p:spPr>
          <a:xfrm>
            <a:off x="859536" y="2562818"/>
            <a:ext cx="383625" cy="383625"/>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4623" y="2677905"/>
            <a:ext cx="153450" cy="153450"/>
          </a:xfrm>
          <a:prstGeom prst="rect">
            <a:avLst/>
          </a:prstGeom>
        </p:spPr>
      </p:pic>
      <p:sp>
        <p:nvSpPr>
          <p:cNvPr id="11" name="Text 7"/>
          <p:cNvSpPr/>
          <p:nvPr/>
        </p:nvSpPr>
        <p:spPr>
          <a:xfrm>
            <a:off x="1444752" y="2645093"/>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公证员四项核心义务：真实性与合法性审查、亲历性、回避、保密。《公证法》第二十三条列举九项禁止行为，其结构与《律师法》第四十条高度相似。</a:t>
            </a:r>
            <a:endParaRPr lang="en-US" sz="1150" dirty="0"/>
          </a:p>
        </p:txBody>
      </p:sp>
      <p:sp>
        <p:nvSpPr>
          <p:cNvPr id="12" name="Shape 8"/>
          <p:cNvSpPr/>
          <p:nvPr/>
        </p:nvSpPr>
        <p:spPr>
          <a:xfrm>
            <a:off x="566928" y="3165898"/>
            <a:ext cx="11057839" cy="548217"/>
          </a:xfrm>
          <a:prstGeom prst="roundRect">
            <a:avLst>
              <a:gd name="adj" fmla="val 13344"/>
            </a:avLst>
          </a:prstGeom>
          <a:solidFill>
            <a:srgbClr val="25395F"/>
          </a:solidFill>
          <a:ln w="12700">
            <a:solidFill>
              <a:srgbClr val="25395F"/>
            </a:solidFill>
            <a:prstDash val="solid"/>
          </a:ln>
        </p:spPr>
      </p:sp>
      <p:sp>
        <p:nvSpPr>
          <p:cNvPr id="13" name="Shape 9"/>
          <p:cNvSpPr/>
          <p:nvPr/>
        </p:nvSpPr>
        <p:spPr>
          <a:xfrm>
            <a:off x="859536" y="3248194"/>
            <a:ext cx="383625" cy="383625"/>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4623" y="3363282"/>
            <a:ext cx="153450" cy="153450"/>
          </a:xfrm>
          <a:prstGeom prst="rect">
            <a:avLst/>
          </a:prstGeom>
        </p:spPr>
      </p:pic>
      <p:sp>
        <p:nvSpPr>
          <p:cNvPr id="15" name="Text 10"/>
          <p:cNvSpPr/>
          <p:nvPr/>
        </p:nvSpPr>
        <p:spPr>
          <a:xfrm>
            <a:off x="1444752" y="3330469"/>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《公证法》第四十三条确立“公证机构赔偿＋对故意或重大过失的公证员追偿”的双层结构，与《律师法》第五十四条同构。</a:t>
            </a:r>
            <a:endParaRPr lang="en-US" sz="1150" dirty="0"/>
          </a:p>
        </p:txBody>
      </p:sp>
      <p:sp>
        <p:nvSpPr>
          <p:cNvPr id="16" name="Shape 11"/>
          <p:cNvSpPr/>
          <p:nvPr/>
        </p:nvSpPr>
        <p:spPr>
          <a:xfrm>
            <a:off x="566928" y="3851275"/>
            <a:ext cx="11057839" cy="752306"/>
          </a:xfrm>
          <a:prstGeom prst="roundRect">
            <a:avLst>
              <a:gd name="adj" fmla="val 9724"/>
            </a:avLst>
          </a:prstGeom>
          <a:solidFill>
            <a:srgbClr val="25395F"/>
          </a:solidFill>
          <a:ln w="12700">
            <a:solidFill>
              <a:srgbClr val="25395F"/>
            </a:solidFill>
            <a:prstDash val="solid"/>
          </a:ln>
        </p:spPr>
      </p:sp>
      <p:sp>
        <p:nvSpPr>
          <p:cNvPr id="17" name="Shape 12"/>
          <p:cNvSpPr/>
          <p:nvPr/>
        </p:nvSpPr>
        <p:spPr>
          <a:xfrm>
            <a:off x="859536" y="4026260"/>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146961"/>
            <a:ext cx="160934" cy="160934"/>
          </a:xfrm>
          <a:prstGeom prst="rect">
            <a:avLst/>
          </a:prstGeom>
        </p:spPr>
      </p:pic>
      <p:sp>
        <p:nvSpPr>
          <p:cNvPr id="19" name="Text 13"/>
          <p:cNvSpPr/>
          <p:nvPr/>
        </p:nvSpPr>
        <p:spPr>
          <a:xfrm>
            <a:off x="1444752" y="4008353"/>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新修订的《仲裁法》2025年9月12日通过、自2026年3月1日起施行，共八章九十六条。第二十一条将伦理要求写入聘任条件；第四十五条确立主动书面披露义务，判断标准为“可能引起合理怀疑”；第四十六至四十八条规定回避的情形、期限与决定主体。</a:t>
            </a:r>
            <a:endParaRPr lang="en-US" sz="1150" dirty="0"/>
          </a:p>
        </p:txBody>
      </p:sp>
      <p:sp>
        <p:nvSpPr>
          <p:cNvPr id="20" name="Shape 14"/>
          <p:cNvSpPr/>
          <p:nvPr/>
        </p:nvSpPr>
        <p:spPr>
          <a:xfrm>
            <a:off x="566928" y="4740741"/>
            <a:ext cx="11057839" cy="752306"/>
          </a:xfrm>
          <a:prstGeom prst="roundRect">
            <a:avLst>
              <a:gd name="adj" fmla="val 9724"/>
            </a:avLst>
          </a:prstGeom>
          <a:solidFill>
            <a:srgbClr val="25395F"/>
          </a:solidFill>
          <a:ln w="12700">
            <a:solidFill>
              <a:srgbClr val="25395F"/>
            </a:solidFill>
            <a:prstDash val="solid"/>
          </a:ln>
        </p:spPr>
      </p:sp>
      <p:sp>
        <p:nvSpPr>
          <p:cNvPr id="21" name="Shape 15"/>
          <p:cNvSpPr/>
          <p:nvPr/>
        </p:nvSpPr>
        <p:spPr>
          <a:xfrm>
            <a:off x="859536" y="4915726"/>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36426"/>
            <a:ext cx="160934" cy="160934"/>
          </a:xfrm>
          <a:prstGeom prst="rect">
            <a:avLst/>
          </a:prstGeom>
        </p:spPr>
      </p:pic>
      <p:sp>
        <p:nvSpPr>
          <p:cNvPr id="23" name="Text 16"/>
          <p:cNvSpPr/>
          <p:nvPr/>
        </p:nvSpPr>
        <p:spPr>
          <a:xfrm>
            <a:off x="1444752" y="489781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组织内法律人（公司律师、公职律师、常年法律顾问）的共同困境是：职业义务指向组织整体利益，而个人处境受制于管理层。其价值恰在于关键时刻说出“这件事不能做”。</a:t>
            </a:r>
            <a:endParaRPr lang="en-US" sz="1150" dirty="0"/>
          </a:p>
        </p:txBody>
      </p:sp>
      <p:sp>
        <p:nvSpPr>
          <p:cNvPr id="24" name="Shape 17"/>
          <p:cNvSpPr/>
          <p:nvPr/>
        </p:nvSpPr>
        <p:spPr>
          <a:xfrm>
            <a:off x="566928" y="5630206"/>
            <a:ext cx="11057839" cy="752306"/>
          </a:xfrm>
          <a:prstGeom prst="roundRect">
            <a:avLst>
              <a:gd name="adj" fmla="val 9724"/>
            </a:avLst>
          </a:prstGeom>
          <a:solidFill>
            <a:srgbClr val="25395F"/>
          </a:solidFill>
          <a:ln w="12700">
            <a:solidFill>
              <a:srgbClr val="25395F"/>
            </a:solidFill>
            <a:prstDash val="solid"/>
          </a:ln>
        </p:spPr>
      </p:sp>
      <p:sp>
        <p:nvSpPr>
          <p:cNvPr id="25" name="Shape 18"/>
          <p:cNvSpPr/>
          <p:nvPr/>
        </p:nvSpPr>
        <p:spPr>
          <a:xfrm>
            <a:off x="859536" y="580519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5892"/>
            <a:ext cx="160934" cy="160934"/>
          </a:xfrm>
          <a:prstGeom prst="rect">
            <a:avLst/>
          </a:prstGeom>
        </p:spPr>
      </p:pic>
      <p:sp>
        <p:nvSpPr>
          <p:cNvPr id="27" name="Text 19"/>
          <p:cNvSpPr/>
          <p:nvPr/>
        </p:nvSpPr>
        <p:spPr>
          <a:xfrm>
            <a:off x="1444752" y="578728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五类法律职业的横向比较显示：唯有律师不要求中立，片面性是其角色的制度设定；而其余四类均以不同强度的中立性为核心要求。法律职业伦理的底层结构共通，差异源于角色。</a:t>
            </a:r>
            <a:endParaRPr lang="en-US" sz="1150" dirty="0"/>
          </a:p>
        </p:txBody>
      </p:sp>
    </p:spTree>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name="Slide 50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第23课时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法律职业伦理责任体系：惩戒、行政、民事与刑事责任</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违反职业伦理，究竟会承担哪些不同性质的责任？它们之间是什么关系？</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五种责任并存的完整图景</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从行业处分到刑事追究的梯度</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责任竞合、衔接与“一事不再罚”的界限</a:t>
            </a:r>
            <a:endParaRPr lang="en-US" sz="1400" dirty="0"/>
          </a:p>
        </p:txBody>
      </p:sp>
    </p:spTree>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name="Slide 5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责任的五个层次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一、责任体系的全景：五种责任并存</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二、行业惩戒责任</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三、行政责任</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四、民事赔偿责任</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五、刑事责任：法律职业相关罪名图谱</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六、责任竞合与衔接</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02</a:t>
            </a:r>
            <a:endParaRPr lang="en-US" sz="1100" dirty="0"/>
          </a:p>
        </p:txBody>
      </p:sp>
    </p:spTree>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name="Slide 50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责任体系的全景</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同一个行为，可能同时触发五种不同性质的责任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03</a:t>
            </a:r>
            <a:endParaRPr lang="en-US" sz="1100" dirty="0"/>
          </a:p>
        </p:txBody>
      </p:sp>
    </p:spTree>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name="Slide 5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五种责任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法律职业伦理责任的五种形态</a:t>
            </a:r>
            <a:endParaRPr lang="en-US" sz="2800" dirty="0"/>
          </a:p>
        </p:txBody>
      </p:sp>
      <p:sp>
        <p:nvSpPr>
          <p:cNvPr id="4" name="Shape 2"/>
          <p:cNvSpPr/>
          <p:nvPr/>
        </p:nvSpPr>
        <p:spPr>
          <a:xfrm>
            <a:off x="566928" y="1316736"/>
            <a:ext cx="11057839" cy="962406"/>
          </a:xfrm>
          <a:prstGeom prst="roundRect">
            <a:avLst>
              <a:gd name="adj" fmla="val 7601"/>
            </a:avLst>
          </a:prstGeom>
          <a:solidFill>
            <a:srgbClr val="F2F4F8"/>
          </a:solidFill>
          <a:ln w="12700">
            <a:solidFill>
              <a:srgbClr val="F2F4F8"/>
            </a:solidFill>
            <a:prstDash val="solid"/>
          </a:ln>
        </p:spPr>
      </p:sp>
      <p:sp>
        <p:nvSpPr>
          <p:cNvPr id="5" name="Shape 3"/>
          <p:cNvSpPr/>
          <p:nvPr/>
        </p:nvSpPr>
        <p:spPr>
          <a:xfrm>
            <a:off x="841248" y="15419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95526"/>
            <a:ext cx="204826" cy="204826"/>
          </a:xfrm>
          <a:prstGeom prst="rect">
            <a:avLst/>
          </a:prstGeom>
        </p:spPr>
      </p:pic>
      <p:sp>
        <p:nvSpPr>
          <p:cNvPr id="7" name="Text 4"/>
          <p:cNvSpPr/>
          <p:nvPr/>
        </p:nvSpPr>
        <p:spPr>
          <a:xfrm>
            <a:off x="1536192" y="150622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一、行业惩戒责任</a:t>
            </a:r>
            <a:endParaRPr lang="en-US" sz="1100" dirty="0"/>
          </a:p>
        </p:txBody>
      </p:sp>
      <p:sp>
        <p:nvSpPr>
          <p:cNvPr id="8" name="Text 5"/>
          <p:cNvSpPr/>
          <p:nvPr/>
        </p:nvSpPr>
        <p:spPr>
          <a:xfrm>
            <a:off x="1536192" y="1758188"/>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由行业自治组织作出。律师由律师协会依《律师协会会员违规行为处分规则》处分；法官、检察官的违反审判/检察职责行为由惩戒委员会作专业审查。性质为行业内部的资格与声誉制裁，不具有国家强制力的外观，但实际影响极大。</a:t>
            </a:r>
            <a:endParaRPr lang="en-US" sz="900" dirty="0"/>
          </a:p>
        </p:txBody>
      </p:sp>
      <p:sp>
        <p:nvSpPr>
          <p:cNvPr id="9" name="Shape 6"/>
          <p:cNvSpPr/>
          <p:nvPr/>
        </p:nvSpPr>
        <p:spPr>
          <a:xfrm>
            <a:off x="566928" y="2425446"/>
            <a:ext cx="11057839" cy="962406"/>
          </a:xfrm>
          <a:prstGeom prst="roundRect">
            <a:avLst>
              <a:gd name="adj" fmla="val 7601"/>
            </a:avLst>
          </a:prstGeom>
          <a:solidFill>
            <a:srgbClr val="FFFFFF"/>
          </a:solidFill>
          <a:ln w="12700">
            <a:solidFill>
              <a:srgbClr val="D5DBE5"/>
            </a:solidFill>
            <a:prstDash val="solid"/>
          </a:ln>
        </p:spPr>
      </p:sp>
      <p:sp>
        <p:nvSpPr>
          <p:cNvPr id="10" name="Shape 7"/>
          <p:cNvSpPr/>
          <p:nvPr/>
        </p:nvSpPr>
        <p:spPr>
          <a:xfrm>
            <a:off x="841248" y="2650617"/>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804236"/>
            <a:ext cx="204826" cy="204826"/>
          </a:xfrm>
          <a:prstGeom prst="rect">
            <a:avLst/>
          </a:prstGeom>
        </p:spPr>
      </p:pic>
      <p:sp>
        <p:nvSpPr>
          <p:cNvPr id="12" name="Text 8"/>
          <p:cNvSpPr/>
          <p:nvPr/>
        </p:nvSpPr>
        <p:spPr>
          <a:xfrm>
            <a:off x="1536192" y="261493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二、行政责任</a:t>
            </a:r>
            <a:endParaRPr lang="en-US" sz="1100" dirty="0"/>
          </a:p>
        </p:txBody>
      </p:sp>
      <p:sp>
        <p:nvSpPr>
          <p:cNvPr id="13" name="Text 9"/>
          <p:cNvSpPr/>
          <p:nvPr/>
        </p:nvSpPr>
        <p:spPr>
          <a:xfrm>
            <a:off x="1536192" y="2866898"/>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由行政机关作出的行政处罚与行政处分。律师、律所、公证员由司法行政机关处罚（警告、罚款、没收违法所得、停止执业、吊销执业证书）；法官、检察官等公职人员适用《公职人员政务处分法》与各自的处分条例。</a:t>
            </a:r>
            <a:endParaRPr lang="en-US" sz="900" dirty="0"/>
          </a:p>
        </p:txBody>
      </p:sp>
      <p:sp>
        <p:nvSpPr>
          <p:cNvPr id="14" name="Shape 10"/>
          <p:cNvSpPr/>
          <p:nvPr/>
        </p:nvSpPr>
        <p:spPr>
          <a:xfrm>
            <a:off x="566928" y="3534156"/>
            <a:ext cx="11057839" cy="796671"/>
          </a:xfrm>
          <a:prstGeom prst="roundRect">
            <a:avLst>
              <a:gd name="adj" fmla="val 9182"/>
            </a:avLst>
          </a:prstGeom>
          <a:solidFill>
            <a:srgbClr val="F2F4F8"/>
          </a:solidFill>
          <a:ln w="12700">
            <a:solidFill>
              <a:srgbClr val="F2F4F8"/>
            </a:solidFill>
            <a:prstDash val="solid"/>
          </a:ln>
        </p:spPr>
      </p:sp>
      <p:sp>
        <p:nvSpPr>
          <p:cNvPr id="15" name="Shape 11"/>
          <p:cNvSpPr/>
          <p:nvPr/>
        </p:nvSpPr>
        <p:spPr>
          <a:xfrm>
            <a:off x="841248" y="367646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830079"/>
            <a:ext cx="204826" cy="204826"/>
          </a:xfrm>
          <a:prstGeom prst="rect">
            <a:avLst/>
          </a:prstGeom>
        </p:spPr>
      </p:pic>
      <p:sp>
        <p:nvSpPr>
          <p:cNvPr id="17" name="Text 12"/>
          <p:cNvSpPr/>
          <p:nvPr/>
        </p:nvSpPr>
        <p:spPr>
          <a:xfrm>
            <a:off x="1536192" y="372364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三、民事赔偿责任</a:t>
            </a:r>
            <a:endParaRPr lang="en-US" sz="1100" dirty="0"/>
          </a:p>
        </p:txBody>
      </p:sp>
      <p:sp>
        <p:nvSpPr>
          <p:cNvPr id="18" name="Text 13"/>
          <p:cNvSpPr/>
          <p:nvPr/>
        </p:nvSpPr>
        <p:spPr>
          <a:xfrm>
            <a:off x="1536192" y="3975608"/>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因过错给委托人或者利害关系人造成损失的赔偿。《律师法》第五十四条、《公证法》第四十三条均采“机构对外赔偿＋对故意或者重大过失者内部追偿”的双层结构。</a:t>
            </a:r>
            <a:endParaRPr lang="en-US" sz="900" dirty="0"/>
          </a:p>
        </p:txBody>
      </p:sp>
      <p:sp>
        <p:nvSpPr>
          <p:cNvPr id="19" name="Shape 14"/>
          <p:cNvSpPr/>
          <p:nvPr/>
        </p:nvSpPr>
        <p:spPr>
          <a:xfrm>
            <a:off x="566928" y="4477131"/>
            <a:ext cx="11057839" cy="962406"/>
          </a:xfrm>
          <a:prstGeom prst="roundRect">
            <a:avLst>
              <a:gd name="adj" fmla="val 7601"/>
            </a:avLst>
          </a:prstGeom>
          <a:solidFill>
            <a:srgbClr val="FFFFFF"/>
          </a:solidFill>
          <a:ln w="12700">
            <a:solidFill>
              <a:srgbClr val="D5DBE5"/>
            </a:solidFill>
            <a:prstDash val="solid"/>
          </a:ln>
        </p:spPr>
      </p:sp>
      <p:sp>
        <p:nvSpPr>
          <p:cNvPr id="20" name="Shape 15"/>
          <p:cNvSpPr/>
          <p:nvPr/>
        </p:nvSpPr>
        <p:spPr>
          <a:xfrm>
            <a:off x="841248" y="470230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855921"/>
            <a:ext cx="204826" cy="204826"/>
          </a:xfrm>
          <a:prstGeom prst="rect">
            <a:avLst/>
          </a:prstGeom>
        </p:spPr>
      </p:pic>
      <p:sp>
        <p:nvSpPr>
          <p:cNvPr id="22" name="Text 16"/>
          <p:cNvSpPr/>
          <p:nvPr/>
        </p:nvSpPr>
        <p:spPr>
          <a:xfrm>
            <a:off x="1536192" y="4666615"/>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四、刑事责任</a:t>
            </a:r>
            <a:endParaRPr lang="en-US" sz="1100" dirty="0"/>
          </a:p>
        </p:txBody>
      </p:sp>
      <p:sp>
        <p:nvSpPr>
          <p:cNvPr id="23" name="Text 17"/>
          <p:cNvSpPr/>
          <p:nvPr/>
        </p:nvSpPr>
        <p:spPr>
          <a:xfrm>
            <a:off x="1536192" y="4918583"/>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违反伦理规范同时触犯刑法的，依法追究。集中于妨害司法类犯罪（伪证、毁证、虚假诉讼、泄露案件信息）、贪贿渎职类犯罪（受贿、行贿、徇私枉法、滥用职权、玩忽职守）与中介组织人员犯罪。</a:t>
            </a:r>
            <a:endParaRPr lang="en-US" sz="900" dirty="0"/>
          </a:p>
        </p:txBody>
      </p:sp>
      <p:sp>
        <p:nvSpPr>
          <p:cNvPr id="24" name="Shape 18"/>
          <p:cNvSpPr/>
          <p:nvPr/>
        </p:nvSpPr>
        <p:spPr>
          <a:xfrm>
            <a:off x="566928" y="5585841"/>
            <a:ext cx="11057839" cy="796671"/>
          </a:xfrm>
          <a:prstGeom prst="roundRect">
            <a:avLst>
              <a:gd name="adj" fmla="val 9182"/>
            </a:avLst>
          </a:prstGeom>
          <a:solidFill>
            <a:srgbClr val="F2F4F8"/>
          </a:solidFill>
          <a:ln w="12700">
            <a:solidFill>
              <a:srgbClr val="F2F4F8"/>
            </a:solidFill>
            <a:prstDash val="solid"/>
          </a:ln>
        </p:spPr>
      </p:sp>
      <p:sp>
        <p:nvSpPr>
          <p:cNvPr id="25" name="Shape 19"/>
          <p:cNvSpPr/>
          <p:nvPr/>
        </p:nvSpPr>
        <p:spPr>
          <a:xfrm>
            <a:off x="841248" y="5728145"/>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81764"/>
            <a:ext cx="204826" cy="204826"/>
          </a:xfrm>
          <a:prstGeom prst="rect">
            <a:avLst/>
          </a:prstGeom>
        </p:spPr>
      </p:pic>
      <p:sp>
        <p:nvSpPr>
          <p:cNvPr id="27" name="Text 20"/>
          <p:cNvSpPr/>
          <p:nvPr/>
        </p:nvSpPr>
        <p:spPr>
          <a:xfrm>
            <a:off x="1536192" y="5775325"/>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五、党纪责任</a:t>
            </a:r>
            <a:endParaRPr lang="en-US" sz="1100" dirty="0"/>
          </a:p>
        </p:txBody>
      </p:sp>
      <p:sp>
        <p:nvSpPr>
          <p:cNvPr id="28" name="Text 21"/>
          <p:cNvSpPr/>
          <p:nvPr/>
        </p:nvSpPr>
        <p:spPr>
          <a:xfrm>
            <a:off x="1536192" y="6027293"/>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对具有党员身份的法律职业人员，依《中国共产党纪律处分条例》给予党纪处分。与国家法律责任叠加适用，属于另一独立的责任体系。</a:t>
            </a:r>
            <a:endParaRPr lang="en-US" sz="9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04</a:t>
            </a:r>
            <a:endParaRPr lang="en-US" sz="1100" dirty="0"/>
          </a:p>
        </p:txBody>
      </p:sp>
    </p:spTree>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name="Slide 5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关系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五种责任之间的三个基本关系</a:t>
            </a:r>
            <a:endParaRPr lang="en-US" sz="2800" dirty="0"/>
          </a:p>
        </p:txBody>
      </p:sp>
      <p:sp>
        <p:nvSpPr>
          <p:cNvPr id="4" name="Shape 2"/>
          <p:cNvSpPr/>
          <p:nvPr/>
        </p:nvSpPr>
        <p:spPr>
          <a:xfrm>
            <a:off x="566928" y="2101152"/>
            <a:ext cx="3527450" cy="2994025"/>
          </a:xfrm>
          <a:prstGeom prst="roundRect">
            <a:avLst>
              <a:gd name="adj" fmla="val 3054"/>
            </a:avLst>
          </a:prstGeom>
          <a:solidFill>
            <a:srgbClr val="13233F"/>
          </a:solidFill>
          <a:ln w="12700">
            <a:solidFill>
              <a:srgbClr val="13233F"/>
            </a:solidFill>
            <a:prstDash val="solid"/>
          </a:ln>
        </p:spPr>
      </p:sp>
      <p:sp>
        <p:nvSpPr>
          <p:cNvPr id="5" name="Text 3"/>
          <p:cNvSpPr/>
          <p:nvPr/>
        </p:nvSpPr>
        <p:spPr>
          <a:xfrm>
            <a:off x="749808" y="2430336"/>
            <a:ext cx="3161690"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并存</a:t>
            </a:r>
            <a:endParaRPr lang="en-US" sz="3400" dirty="0"/>
          </a:p>
        </p:txBody>
      </p:sp>
      <p:sp>
        <p:nvSpPr>
          <p:cNvPr id="6" name="Text 4"/>
          <p:cNvSpPr/>
          <p:nvPr/>
        </p:nvSpPr>
        <p:spPr>
          <a:xfrm>
            <a:off x="886968"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可以同时适用</a:t>
            </a:r>
            <a:endParaRPr lang="en-US" sz="1600" dirty="0"/>
          </a:p>
        </p:txBody>
      </p:sp>
      <p:sp>
        <p:nvSpPr>
          <p:cNvPr id="7" name="Text 5"/>
          <p:cNvSpPr/>
          <p:nvPr/>
        </p:nvSpPr>
        <p:spPr>
          <a:xfrm>
            <a:off x="886968"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性质不同、依据不同、程序不同、目的不同，因而不构成“一事二罚”</a:t>
            </a:r>
            <a:endParaRPr lang="en-US" sz="1300" dirty="0"/>
          </a:p>
        </p:txBody>
      </p:sp>
      <p:sp>
        <p:nvSpPr>
          <p:cNvPr id="8" name="Shape 6"/>
          <p:cNvSpPr/>
          <p:nvPr/>
        </p:nvSpPr>
        <p:spPr>
          <a:xfrm>
            <a:off x="4332122" y="2101152"/>
            <a:ext cx="3527450" cy="2994025"/>
          </a:xfrm>
          <a:prstGeom prst="roundRect">
            <a:avLst>
              <a:gd name="adj" fmla="val 3054"/>
            </a:avLst>
          </a:prstGeom>
          <a:solidFill>
            <a:srgbClr val="F6F1E8"/>
          </a:solidFill>
          <a:ln w="12700">
            <a:solidFill>
              <a:srgbClr val="F6F1E8"/>
            </a:solidFill>
            <a:prstDash val="solid"/>
          </a:ln>
        </p:spPr>
      </p:sp>
      <p:sp>
        <p:nvSpPr>
          <p:cNvPr id="9" name="Text 7"/>
          <p:cNvSpPr/>
          <p:nvPr/>
        </p:nvSpPr>
        <p:spPr>
          <a:xfrm>
            <a:off x="4515002" y="2430336"/>
            <a:ext cx="3161690" cy="1024128"/>
          </a:xfrm>
          <a:prstGeom prst="rect">
            <a:avLst/>
          </a:prstGeom>
          <a:noFill/>
          <a:ln/>
        </p:spPr>
        <p:txBody>
          <a:bodyPr wrap="square" lIns="0" tIns="0" rIns="0" bIns="0" rtlCol="0" anchor="ctr"/>
          <a:lstStyle/>
          <a:p>
            <a:pPr algn="ctr" indent="0" marL="0">
              <a:buNone/>
            </a:pPr>
            <a:r>
              <a:rPr lang="en-US" sz="3400" b="1" dirty="0">
                <a:solidFill>
                  <a:srgbClr val="B08D57"/>
                </a:solidFill>
                <a:latin typeface="微软雅黑" pitchFamily="34" charset="0"/>
                <a:ea typeface="微软雅黑" pitchFamily="34" charset="-122"/>
                <a:cs typeface="微软雅黑" pitchFamily="34" charset="-120"/>
              </a:rPr>
              <a:t>梯度</a:t>
            </a:r>
            <a:endParaRPr lang="en-US" sz="3400" dirty="0"/>
          </a:p>
        </p:txBody>
      </p:sp>
      <p:sp>
        <p:nvSpPr>
          <p:cNvPr id="10" name="Text 8"/>
          <p:cNvSpPr/>
          <p:nvPr/>
        </p:nvSpPr>
        <p:spPr>
          <a:xfrm>
            <a:off x="4652162"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轻重有序</a:t>
            </a:r>
            <a:endParaRPr lang="en-US" sz="1600" dirty="0"/>
          </a:p>
        </p:txBody>
      </p:sp>
      <p:sp>
        <p:nvSpPr>
          <p:cNvPr id="11" name="Text 9"/>
          <p:cNvSpPr/>
          <p:nvPr/>
        </p:nvSpPr>
        <p:spPr>
          <a:xfrm>
            <a:off x="4652162"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行业处分 → 行政处罚 → 民事赔偿 → 刑事责任，随违规的法益侵害程度递进</a:t>
            </a:r>
            <a:endParaRPr lang="en-US" sz="1300" dirty="0"/>
          </a:p>
        </p:txBody>
      </p:sp>
      <p:sp>
        <p:nvSpPr>
          <p:cNvPr id="12" name="Shape 10"/>
          <p:cNvSpPr/>
          <p:nvPr/>
        </p:nvSpPr>
        <p:spPr>
          <a:xfrm>
            <a:off x="8097317" y="2101152"/>
            <a:ext cx="3527450" cy="2994025"/>
          </a:xfrm>
          <a:prstGeom prst="roundRect">
            <a:avLst>
              <a:gd name="adj" fmla="val 3054"/>
            </a:avLst>
          </a:prstGeom>
          <a:solidFill>
            <a:srgbClr val="ECF3F2"/>
          </a:solidFill>
          <a:ln w="12700">
            <a:solidFill>
              <a:srgbClr val="ECF3F2"/>
            </a:solidFill>
            <a:prstDash val="solid"/>
          </a:ln>
        </p:spPr>
      </p:sp>
      <p:sp>
        <p:nvSpPr>
          <p:cNvPr id="13" name="Text 11"/>
          <p:cNvSpPr/>
          <p:nvPr/>
        </p:nvSpPr>
        <p:spPr>
          <a:xfrm>
            <a:off x="8280197" y="2430336"/>
            <a:ext cx="3161690" cy="1024128"/>
          </a:xfrm>
          <a:prstGeom prst="rect">
            <a:avLst/>
          </a:prstGeom>
          <a:noFill/>
          <a:ln/>
        </p:spPr>
        <p:txBody>
          <a:bodyPr wrap="square" lIns="0" tIns="0" rIns="0" bIns="0" rtlCol="0" anchor="ctr"/>
          <a:lstStyle/>
          <a:p>
            <a:pPr algn="ctr" indent="0" marL="0">
              <a:buNone/>
            </a:pPr>
            <a:r>
              <a:rPr lang="en-US" sz="3400" b="1" dirty="0">
                <a:solidFill>
                  <a:srgbClr val="2F6E6A"/>
                </a:solidFill>
                <a:latin typeface="微软雅黑" pitchFamily="34" charset="0"/>
                <a:ea typeface="微软雅黑" pitchFamily="34" charset="-122"/>
                <a:cs typeface="微软雅黑" pitchFamily="34" charset="-120"/>
              </a:rPr>
              <a:t>衔接</a:t>
            </a:r>
            <a:endParaRPr lang="en-US" sz="3400" dirty="0"/>
          </a:p>
        </p:txBody>
      </p:sp>
      <p:sp>
        <p:nvSpPr>
          <p:cNvPr id="14" name="Text 12"/>
          <p:cNvSpPr/>
          <p:nvPr/>
        </p:nvSpPr>
        <p:spPr>
          <a:xfrm>
            <a:off x="8417357" y="3582480"/>
            <a:ext cx="2887370"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相互移送</a:t>
            </a:r>
            <a:endParaRPr lang="en-US" sz="1600" dirty="0"/>
          </a:p>
        </p:txBody>
      </p:sp>
      <p:sp>
        <p:nvSpPr>
          <p:cNvPr id="15" name="Text 13"/>
          <p:cNvSpPr/>
          <p:nvPr/>
        </p:nvSpPr>
        <p:spPr>
          <a:xfrm>
            <a:off x="8417357" y="4047808"/>
            <a:ext cx="2887370"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行业发现涉嫌违法的移送行政机关，行政机关发现涉嫌犯罪的移送司法机关</a:t>
            </a:r>
            <a:endParaRPr lang="en-US" sz="1300" dirty="0"/>
          </a:p>
        </p:txBody>
      </p:sp>
      <p:sp>
        <p:nvSpPr>
          <p:cNvPr id="16" name="Text 14"/>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例外提示：同一违法行为，行政机关不得给予两次以上罚款的行政处罚——这才是《行政处罚法》上“一事不再罚”的准确含义，它不禁止不同性质责任的并存。</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05</a:t>
            </a:r>
            <a:endParaRPr lang="en-US" sz="1100" dirty="0"/>
          </a:p>
        </p:txBody>
      </p:sp>
    </p:spTree>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name="Slide 50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行业惩戒责任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来自同行的评价与制裁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06</a:t>
            </a:r>
            <a:endParaRPr lang="en-US" sz="1100" dirty="0"/>
          </a:p>
        </p:txBody>
      </p:sp>
    </p:spTree>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name="Slide 5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两套体系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律师行业惩戒与司法人员惩戒</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律师：律师协会惩戒</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依据：《律师法》第四十六条第（六）项、《律师协会会员违规行为处分规则》。</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处分种类：训诫、通报批评、公开谴责、中止会员权利、取消会员资格。</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程序：立案调查 → 告知与申辩 → 惩戒委员会集体审议 → 决定并送达 → 复查。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限制：律协不得吊销律师执业证书，那属于司法行政机关的行政处罚权。</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法官、检察官：惩戒委员会审查</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依据：《法官法》第四十八条、《检察官法》第四十九条。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性质：不是直接作出处分，而是“从专业角度审查认定”是否违反审判/检察职责。</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审查意见四档：构成故意违反职责、存在重大过失、存在一般过失、没有违反职责。</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决定：由人民法院、人民检察院依审查意见作出是否惩戒的决定——“专业审查＋组织决定”。</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07</a:t>
            </a:r>
            <a:endParaRPr lang="en-US" sz="1100" dirty="0"/>
          </a:p>
        </p:txBody>
      </p:sp>
    </p:spTree>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name="Slide 51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行政责任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国家监管机关的处罚权</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08</a:t>
            </a:r>
            <a:endParaRPr lang="en-US" sz="1100" dirty="0"/>
          </a:p>
        </p:txBody>
      </p:sp>
    </p:spTree>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name="Slide 5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律师与律所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《律师法》行政处罚一览</a:t>
            </a:r>
            <a:endParaRPr lang="en-US" sz="2800" dirty="0"/>
          </a:p>
        </p:txBody>
      </p:sp>
      <p:graphicFrame>
        <p:nvGraphicFramePr>
          <p:cNvPr id="513" name="Table 0"/>
          <p:cNvGraphicFramePr>
            <a:graphicFrameLocks noGrp="1"/>
          </p:cNvGraphicFramePr>
          <p:nvPr>
            <p:extLst>
              <p:ext uri="{D42A27DB-BD31-4B8C-83A1-F6EECF244321}">
                <p14:modId xmlns:p14="http://schemas.microsoft.com/office/powerpoint/2010/main" val="1579011935"/>
              </p:ext>
            </p:extLst>
          </p:nvPr>
        </p:nvGraphicFramePr>
        <p:xfrm>
          <a:off x="566928" y="2304098"/>
          <a:ext cx="11057839" cy="914400"/>
        </p:xfrm>
        <a:graphic>
          <a:graphicData uri="http://schemas.openxmlformats.org/drawingml/2006/table">
            <a:tbl>
              <a:tblPr/>
              <a:tblGrid>
                <a:gridCol w="2011680"/>
                <a:gridCol w="2926080"/>
                <a:gridCol w="6126480"/>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对象</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主要条文</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处罚种类</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66344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律师</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第47—49条</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警告；五千元／一万元／五万元以下罚款；没收违法所得；停止执业；吊销执业证书</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66344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律师事务所</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第50条等</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警告；十万元以下罚款；没收违法所得；停业整顿一个月以上六个月以下；吊销执业证书</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公证员</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《公证法》第四十一至四十二条等</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警告；罚款；停止执业；吊销执业证书；构成犯罪的追究刑事责任</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公证机构</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《公证法》相关条文</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警告；罚款；停业整顿；撤销该公证机构</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102543"/>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注意：对律师事务所的处罚不以其律师被处罚为前提——律所的管理失职本身即为独立的违法行为。</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09</a:t>
            </a:r>
            <a:endParaRPr lang="en-US" sz="1100" dirty="0"/>
          </a:p>
        </p:txBody>
      </p:sp>
    </p:spTree>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name="Slide 5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公职人员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法官、检察官的行政（政务）责任</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法官、检察官属于公职人员，其责任适用另一套规范。</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《公职人员政务处分法》：处分种类为警告、记过、记大过、降级、撤职、开除，由任免机关或者监察机关作出。</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《法官法》第四十六条、《检察官法》第四十七条各列举十项应予处分的事由，其中违反审判/检察职责的第（四）（五）项须经惩戒委员会专业审查。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《人民法院工作人员处分条例》《检察人员纪律处分条例》对具体违纪行为与处分幅度作了细化。</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员额退出、职务调整、绩效考核、评先评优等管理措施虽非处分，但同样具有实质的约束效果。</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请注意与律师的差异：律师的最重行政处罚是吊销执业证书（丧失执业资格）；公职人员的最重处分是开除（丧失公职）。二者都指向职业身份的剥夺。</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10</a:t>
            </a:r>
            <a:endParaRPr lang="en-US" sz="1100" dirty="0"/>
          </a:p>
        </p:txBody>
      </p:sp>
    </p:spTree>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name="Slide 51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民事赔偿责任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把损失还给受害人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11</a:t>
            </a:r>
            <a:endParaRPr lang="en-US" sz="1100" dirty="0"/>
          </a:p>
        </p:txBody>
      </p:sp>
    </p:spTree>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name="Slide 5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两条平行规定</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《律师法》第五十四条与《公证法》第四十三条</a:t>
            </a:r>
            <a:endParaRPr lang="en-US" sz="2800" dirty="0"/>
          </a:p>
        </p:txBody>
      </p:sp>
      <p:sp>
        <p:nvSpPr>
          <p:cNvPr id="4" name="Shape 2"/>
          <p:cNvSpPr/>
          <p:nvPr/>
        </p:nvSpPr>
        <p:spPr>
          <a:xfrm>
            <a:off x="566928" y="1610995"/>
            <a:ext cx="5410048" cy="4477258"/>
          </a:xfrm>
          <a:prstGeom prst="roundRect">
            <a:avLst>
              <a:gd name="adj" fmla="val 2042"/>
            </a:avLst>
          </a:prstGeom>
          <a:solidFill>
            <a:srgbClr val="F2F4F8"/>
          </a:solidFill>
          <a:ln w="12700">
            <a:solidFill>
              <a:srgbClr val="F2F4F8"/>
            </a:solidFill>
            <a:prstDash val="solid"/>
          </a:ln>
        </p:spPr>
      </p:sp>
      <p:sp>
        <p:nvSpPr>
          <p:cNvPr id="5" name="Shape 3"/>
          <p:cNvSpPr/>
          <p:nvPr/>
        </p:nvSpPr>
        <p:spPr>
          <a:xfrm>
            <a:off x="841248" y="186702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共同的双层结构</a:t>
            </a:r>
            <a:endParaRPr lang="en-US" sz="1600" dirty="0"/>
          </a:p>
        </p:txBody>
      </p:sp>
      <p:sp>
        <p:nvSpPr>
          <p:cNvPr id="7" name="Text 5"/>
          <p:cNvSpPr/>
          <p:nvPr/>
        </p:nvSpPr>
        <p:spPr>
          <a:xfrm>
            <a:off x="932688"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第一层：机构对外承担赔偿责任（律师事务所、公证机构）。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第二层：机构赔偿后，可以向有故意或者重大过失的执业人员追偿。</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功能一：保障受害人能获得实际赔偿——机构偿付能力强于个人，且通常投保执业责任保险。</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功能二：倒逼机构履行管理责任——管不好，就要替成员赔钱。</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功能三：为一般过失保留空间——只有故意与重大过失才追偿。</a:t>
            </a:r>
            <a:endParaRPr lang="en-US" sz="1450" dirty="0"/>
          </a:p>
        </p:txBody>
      </p:sp>
      <p:sp>
        <p:nvSpPr>
          <p:cNvPr id="8" name="Shape 6"/>
          <p:cNvSpPr/>
          <p:nvPr/>
        </p:nvSpPr>
        <p:spPr>
          <a:xfrm>
            <a:off x="6214720" y="1610995"/>
            <a:ext cx="5410048" cy="4477258"/>
          </a:xfrm>
          <a:prstGeom prst="roundRect">
            <a:avLst>
              <a:gd name="adj" fmla="val 2042"/>
            </a:avLst>
          </a:prstGeom>
          <a:solidFill>
            <a:srgbClr val="F6F1E8"/>
          </a:solidFill>
          <a:ln w="12700">
            <a:solidFill>
              <a:srgbClr val="F6F1E8"/>
            </a:solidFill>
            <a:prstDash val="solid"/>
          </a:ln>
        </p:spPr>
      </p:sp>
      <p:sp>
        <p:nvSpPr>
          <p:cNvPr id="9" name="Shape 7"/>
          <p:cNvSpPr/>
          <p:nvPr/>
        </p:nvSpPr>
        <p:spPr>
          <a:xfrm>
            <a:off x="6489040" y="186702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构成要件与赔偿范围</a:t>
            </a:r>
            <a:endParaRPr lang="en-US" sz="1600" dirty="0"/>
          </a:p>
        </p:txBody>
      </p:sp>
      <p:sp>
        <p:nvSpPr>
          <p:cNvPr id="11" name="Text 9"/>
          <p:cNvSpPr/>
          <p:nvPr/>
        </p:nvSpPr>
        <p:spPr>
          <a:xfrm>
            <a:off x="6580480"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要件：执业行为、过错、损害、因果关系。归责原则为过错责任。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过错的判断基准：同等条件下一名合格执业者的通常注意程度。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因果关系是实务中的主战场：败诉是否因律师过错所致？须区分“必然败诉”与“丧失胜诉机会”。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赔偿范围：直接损失为主；对“机会丧失”型损害，可按改判或者胜诉的可能性酌定比例。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注意：公证责任的索赔主体还包括利害关系人，范围宽于律师责任。</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12</a:t>
            </a:r>
            <a:endParaRPr lang="en-US" sz="1100" dirty="0"/>
          </a:p>
        </p:txBody>
      </p:sp>
    </p:spTree>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name="Slide 51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刑事责任：法律职业相关罪名图谱</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越过这条线，就不再是职业伦理问题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13</a:t>
            </a:r>
            <a:endParaRPr lang="en-US" sz="1100" dirty="0"/>
          </a:p>
        </p:txBody>
      </p:sp>
    </p:spTree>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name="Slide 5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妨害司法类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与诉讼活动直接相关的罪名</a:t>
            </a:r>
            <a:endParaRPr lang="en-US" sz="2800" dirty="0"/>
          </a:p>
        </p:txBody>
      </p:sp>
      <p:sp>
        <p:nvSpPr>
          <p:cNvPr id="4" name="Shape 2"/>
          <p:cNvSpPr/>
          <p:nvPr/>
        </p:nvSpPr>
        <p:spPr>
          <a:xfrm>
            <a:off x="566928" y="1316736"/>
            <a:ext cx="11057839" cy="1653477"/>
          </a:xfrm>
          <a:prstGeom prst="roundRect">
            <a:avLst>
              <a:gd name="adj" fmla="val 5530"/>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《刑法》第三百零六条　辩护人、诉讼代理人毁灭证据、伪造证据、妨害作证罪</a:t>
            </a:r>
            <a:endParaRPr lang="en-US" sz="1500" dirty="0"/>
          </a:p>
        </p:txBody>
      </p:sp>
      <p:sp>
        <p:nvSpPr>
          <p:cNvPr id="8" name="Text 6"/>
          <p:cNvSpPr/>
          <p:nvPr/>
        </p:nvSpPr>
        <p:spPr>
          <a:xfrm>
            <a:off x="960120" y="1956816"/>
            <a:ext cx="10271455" cy="793941"/>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在刑事诉讼中，辩护人、诉讼代理人毁灭、伪造证据，帮助当事人毁灭、伪造证据，威胁、引诱证人违背事实改变证言或者作伪证的，处三年以下有期徒刑或者拘役；情节严重的，处三年以上七年以下有期徒刑。</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辩护人、诉讼代理人提供、出示、引用的证人证言或者其他证据失实，不是有意伪造的，不属于伪造证据。</a:t>
            </a:r>
            <a:endParaRPr lang="en-US" sz="1150" dirty="0"/>
          </a:p>
        </p:txBody>
      </p:sp>
      <p:sp>
        <p:nvSpPr>
          <p:cNvPr id="9" name="Shape 7"/>
          <p:cNvSpPr/>
          <p:nvPr/>
        </p:nvSpPr>
        <p:spPr>
          <a:xfrm>
            <a:off x="566928" y="3153093"/>
            <a:ext cx="11057839" cy="1872552"/>
          </a:xfrm>
          <a:prstGeom prst="roundRect">
            <a:avLst>
              <a:gd name="adj" fmla="val 4883"/>
            </a:avLst>
          </a:prstGeom>
          <a:solidFill>
            <a:srgbClr val="F6F1E8"/>
          </a:solidFill>
          <a:ln w="12700">
            <a:solidFill>
              <a:srgbClr val="F6F1E8"/>
            </a:solidFill>
            <a:prstDash val="solid"/>
          </a:ln>
        </p:spPr>
      </p:sp>
      <p:sp>
        <p:nvSpPr>
          <p:cNvPr id="10" name="Shape 8"/>
          <p:cNvSpPr/>
          <p:nvPr/>
        </p:nvSpPr>
        <p:spPr>
          <a:xfrm>
            <a:off x="877824" y="3390837"/>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90837"/>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72549"/>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《刑法》第三百零七条、第三百零七条之一、第三百零八条之一</a:t>
            </a:r>
            <a:endParaRPr lang="en-US" sz="1500" dirty="0"/>
          </a:p>
        </p:txBody>
      </p:sp>
      <p:sp>
        <p:nvSpPr>
          <p:cNvPr id="13" name="Text 11"/>
          <p:cNvSpPr/>
          <p:nvPr/>
        </p:nvSpPr>
        <p:spPr>
          <a:xfrm>
            <a:off x="960120" y="3793173"/>
            <a:ext cx="10271455" cy="1013016"/>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第三百零七条　妨害作证罪；帮助毁灭、伪造证据罪。</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第三百零七条之一　虚假诉讼罪：以捏造的事实提起民事诉讼，妨害司法秩序或者严重侵害他人合法权益的。诉讼代理人参与其中的，可以构成本罪的共犯。</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第三百零八条之一　泄露不应公开的案件信息罪；披露、报道不应公开的案件信息罪：司法工作人员、辩护人、诉讼代理人或者其他诉讼参与人，泄露依法不公开审理的案件中不应当公开的信息，情节严重的。</a:t>
            </a:r>
            <a:endParaRPr lang="en-US" sz="1150" dirty="0"/>
          </a:p>
        </p:txBody>
      </p:sp>
      <p:sp>
        <p:nvSpPr>
          <p:cNvPr id="14" name="Shape 12"/>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5" name="Text 13"/>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第三百零七条之一虚假诉讼罪对律师的意义：明知系捏造的事实仍代理起诉、协助制造虚假证据链的，可能构成共犯。近年来虚假诉讼治理力度显著加强，代理“套路贷”、虚假民间借贷、虚构劳动关系等案件的律师风险陡增。</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14</a:t>
            </a:r>
            <a:endParaRPr lang="en-US" sz="1100" dirty="0"/>
          </a:p>
        </p:txBody>
      </p:sp>
    </p:spTree>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name="Slide 5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贪贿渎职类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与职务行为相关的罪名</a:t>
            </a:r>
            <a:endParaRPr lang="en-US" sz="2800" dirty="0"/>
          </a:p>
        </p:txBody>
      </p:sp>
      <p:sp>
        <p:nvSpPr>
          <p:cNvPr id="4" name="Shape 2"/>
          <p:cNvSpPr/>
          <p:nvPr/>
        </p:nvSpPr>
        <p:spPr>
          <a:xfrm>
            <a:off x="566928" y="1502220"/>
            <a:ext cx="11057839" cy="3337941"/>
          </a:xfrm>
          <a:prstGeom prst="roundRect">
            <a:avLst>
              <a:gd name="adj" fmla="val 2739"/>
            </a:avLst>
          </a:prstGeom>
          <a:solidFill>
            <a:srgbClr val="F6F1E8"/>
          </a:solidFill>
          <a:ln w="12700">
            <a:solidFill>
              <a:srgbClr val="F6F1E8"/>
            </a:solidFill>
            <a:prstDash val="solid"/>
          </a:ln>
        </p:spPr>
      </p:sp>
      <p:sp>
        <p:nvSpPr>
          <p:cNvPr id="5" name="Shape 3"/>
          <p:cNvSpPr/>
          <p:nvPr/>
        </p:nvSpPr>
        <p:spPr>
          <a:xfrm>
            <a:off x="877824" y="173996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73996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72167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《刑法》第三百九十七条、第三百九十九条、第三百九十九条之一</a:t>
            </a:r>
            <a:endParaRPr lang="en-US" sz="1500" dirty="0"/>
          </a:p>
        </p:txBody>
      </p:sp>
      <p:sp>
        <p:nvSpPr>
          <p:cNvPr id="8" name="Text 6"/>
          <p:cNvSpPr/>
          <p:nvPr/>
        </p:nvSpPr>
        <p:spPr>
          <a:xfrm>
            <a:off x="960120" y="2142300"/>
            <a:ext cx="10271455" cy="24784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第三百九十七条　滥用职权罪；玩忽职守罪：国家机关工作人员滥用职权或者玩忽职守，致使公共财产、国家和人民利益遭受重大损失的。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第三百九十九条　徇私枉法罪：司法工作人员徇私枉法、徇情枉法，对明知是无罪的人而使他受追诉、对明知是有罪的人而故意包庇不使他受追诉，或者在刑事审判活动中故意违背事实和法律作枉法裁判的。同条另规定民事、行政枉法裁判罪，执行判决、裁定失职罪与滥用职权罪。</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第三百九十九条之一　枉法仲裁罪：依法承担仲裁职责的人员，在仲裁活动中故意违背事实和法律作枉法裁决，情节严重的。</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特别注意第三百九十九条之一枉法仲裁罪：它把仲裁员纳入了刑事规制。仲裁虽为民间性纠纷解决方式，但一裁终局、可申请强制执行，其权力实质与司法裁判接近，故立法赋予其相应的刑事约束。这也印证了我们的方法论：权力的性质决定责任的强度。</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15</a:t>
            </a:r>
            <a:endParaRPr lang="en-US" sz="1100" dirty="0"/>
          </a:p>
        </p:txBody>
      </p:sp>
    </p:spTree>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name="Slide 5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其他罪名</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另外三类需要知道的罪名</a:t>
            </a:r>
            <a:endParaRPr lang="en-US" sz="2800" dirty="0"/>
          </a:p>
        </p:txBody>
      </p:sp>
      <p:sp>
        <p:nvSpPr>
          <p:cNvPr id="4" name="Shape 2"/>
          <p:cNvSpPr/>
          <p:nvPr/>
        </p:nvSpPr>
        <p:spPr>
          <a:xfrm>
            <a:off x="566928" y="1632649"/>
            <a:ext cx="3527450" cy="44339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192525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062417"/>
            <a:ext cx="182880" cy="182880"/>
          </a:xfrm>
          <a:prstGeom prst="rect">
            <a:avLst/>
          </a:prstGeom>
        </p:spPr>
      </p:pic>
      <p:sp>
        <p:nvSpPr>
          <p:cNvPr id="7" name="Text 4"/>
          <p:cNvSpPr/>
          <p:nvPr/>
        </p:nvSpPr>
        <p:spPr>
          <a:xfrm>
            <a:off x="886968" y="2547049"/>
            <a:ext cx="2887370" cy="539750"/>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受贿罪、行贿罪、利用影响力受贿罪</a:t>
            </a:r>
            <a:endParaRPr lang="en-US" sz="1700" dirty="0"/>
          </a:p>
        </p:txBody>
      </p:sp>
      <p:sp>
        <p:nvSpPr>
          <p:cNvPr id="8" name="Text 5"/>
          <p:cNvSpPr/>
          <p:nvPr/>
        </p:nvSpPr>
        <p:spPr>
          <a:xfrm>
            <a:off x="886968" y="3214815"/>
            <a:ext cx="2887370" cy="26323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法官、检察官收受财物为他人谋利构成受贿罪；律师向办案人员行贿构成行贿罪，介绍贿赂的构成介绍贿赂罪；离职人员或者其近亲属利用原职权影响力收受财物的，可能构成利用影响力受贿罪。</a:t>
            </a:r>
            <a:endParaRPr lang="en-US" sz="1450" dirty="0"/>
          </a:p>
        </p:txBody>
      </p:sp>
      <p:sp>
        <p:nvSpPr>
          <p:cNvPr id="9" name="Shape 6"/>
          <p:cNvSpPr/>
          <p:nvPr/>
        </p:nvSpPr>
        <p:spPr>
          <a:xfrm>
            <a:off x="4332122" y="1632649"/>
            <a:ext cx="3527450" cy="44339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192525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062417"/>
            <a:ext cx="182880" cy="182880"/>
          </a:xfrm>
          <a:prstGeom prst="rect">
            <a:avLst/>
          </a:prstGeom>
        </p:spPr>
      </p:pic>
      <p:sp>
        <p:nvSpPr>
          <p:cNvPr id="12" name="Text 8"/>
          <p:cNvSpPr/>
          <p:nvPr/>
        </p:nvSpPr>
        <p:spPr>
          <a:xfrm>
            <a:off x="4652162" y="2547049"/>
            <a:ext cx="2887370" cy="539750"/>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提供虚假证明文件罪（第二百二十九条）</a:t>
            </a:r>
            <a:endParaRPr lang="en-US" sz="1700" dirty="0"/>
          </a:p>
        </p:txBody>
      </p:sp>
      <p:sp>
        <p:nvSpPr>
          <p:cNvPr id="13" name="Text 9"/>
          <p:cNvSpPr/>
          <p:nvPr/>
        </p:nvSpPr>
        <p:spPr>
          <a:xfrm>
            <a:off x="4652162" y="3214815"/>
            <a:ext cx="2887370" cy="26323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承担资产评估、验资、验证、会计、审计、法律服务、保荐、安全评价、环境影响评价、环境监测等职责的中介组织人员，故意提供虚假证明文件，情节严重的构成本罪；严重不负责任出具的证明文件有重大失实、造成严重后果的，构成出具证明文件重大失实罪。律师出具虚假法律意见书可能落入本罪。</a:t>
            </a:r>
            <a:endParaRPr lang="en-US" sz="1450" dirty="0"/>
          </a:p>
        </p:txBody>
      </p:sp>
      <p:sp>
        <p:nvSpPr>
          <p:cNvPr id="14" name="Shape 10"/>
          <p:cNvSpPr/>
          <p:nvPr/>
        </p:nvSpPr>
        <p:spPr>
          <a:xfrm>
            <a:off x="8097317" y="1632649"/>
            <a:ext cx="3527450" cy="44339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192525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062417"/>
            <a:ext cx="182880" cy="182880"/>
          </a:xfrm>
          <a:prstGeom prst="rect">
            <a:avLst/>
          </a:prstGeom>
        </p:spPr>
      </p:pic>
      <p:sp>
        <p:nvSpPr>
          <p:cNvPr id="17" name="Text 12"/>
          <p:cNvSpPr/>
          <p:nvPr/>
        </p:nvSpPr>
        <p:spPr>
          <a:xfrm>
            <a:off x="8417357" y="2547049"/>
            <a:ext cx="2887370" cy="539750"/>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侵犯公民个人信息罪、侵犯商业秘密罪</a:t>
            </a:r>
            <a:endParaRPr lang="en-US" sz="1700" dirty="0"/>
          </a:p>
        </p:txBody>
      </p:sp>
      <p:sp>
        <p:nvSpPr>
          <p:cNvPr id="18" name="Text 13"/>
          <p:cNvSpPr/>
          <p:nvPr/>
        </p:nvSpPr>
        <p:spPr>
          <a:xfrm>
            <a:off x="8417357" y="3214815"/>
            <a:ext cx="2887370" cy="26323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违反国家有关规定，向他人出售或者提供公民个人信息，情节严重的构成侵犯公民个人信息罪。律师、公证员经手大量个人信息与商业秘密，泄露或者出售可能构成上述犯罪，且与保密义务的违反相互印证。</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16</a:t>
            </a:r>
            <a:endParaRPr lang="en-US" sz="1100" dirty="0"/>
          </a:p>
        </p:txBody>
      </p:sp>
    </p:spTree>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name="Slide 52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责任竞合与衔接</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把五种责任放到同一个案件中，如何处理</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17</a:t>
            </a:r>
            <a:endParaRPr lang="en-US" sz="1100" dirty="0"/>
          </a:p>
        </p:txBody>
      </p:sp>
    </p:spTree>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name="Slide 5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处理规则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责任竞合的五条处理规则</a:t>
            </a:r>
            <a:endParaRPr lang="en-US" sz="2800" dirty="0"/>
          </a:p>
        </p:txBody>
      </p:sp>
      <p:sp>
        <p:nvSpPr>
          <p:cNvPr id="4" name="Shape 2"/>
          <p:cNvSpPr/>
          <p:nvPr/>
        </p:nvSpPr>
        <p:spPr>
          <a:xfrm>
            <a:off x="566928" y="1729645"/>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一、不同性质的责任可以并存</a:t>
            </a:r>
            <a:endParaRPr lang="en-US" sz="1500" dirty="0"/>
          </a:p>
        </p:txBody>
      </p:sp>
      <p:sp>
        <p:nvSpPr>
          <p:cNvPr id="8" name="Text 6"/>
          <p:cNvSpPr/>
          <p:nvPr/>
        </p:nvSpPr>
        <p:spPr>
          <a:xfrm>
            <a:off x="1444752"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行业处分、行政处罚、民事赔偿、刑事责任、党纪处分的依据不同、目的不同、程序不同，同时适用不构成重复评价。</a:t>
            </a:r>
            <a:endParaRPr lang="en-US" sz="1350" dirty="0"/>
          </a:p>
        </p:txBody>
      </p:sp>
      <p:sp>
        <p:nvSpPr>
          <p:cNvPr id="9" name="Shape 7"/>
          <p:cNvSpPr/>
          <p:nvPr/>
        </p:nvSpPr>
        <p:spPr>
          <a:xfrm>
            <a:off x="566928" y="3185636"/>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二、“一事不再罚”仅限于罚款</a:t>
            </a:r>
            <a:endParaRPr lang="en-US" sz="1500" dirty="0"/>
          </a:p>
        </p:txBody>
      </p:sp>
      <p:sp>
        <p:nvSpPr>
          <p:cNvPr id="13" name="Text 11"/>
          <p:cNvSpPr/>
          <p:nvPr/>
        </p:nvSpPr>
        <p:spPr>
          <a:xfrm>
            <a:off x="1444752"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《行政处罚法》规定，对当事人的同一个违法行为，不得给予两次以上罚款的行政处罚。它限制的是同种类的行政处罚，不禁止不同性质责任的叠加。</a:t>
            </a:r>
            <a:endParaRPr lang="en-US" sz="1350" dirty="0"/>
          </a:p>
        </p:txBody>
      </p:sp>
      <p:sp>
        <p:nvSpPr>
          <p:cNvPr id="14" name="Shape 12"/>
          <p:cNvSpPr/>
          <p:nvPr/>
        </p:nvSpPr>
        <p:spPr>
          <a:xfrm>
            <a:off x="566928" y="4641628"/>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507701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三、刑事优先与程序衔接</a:t>
            </a:r>
            <a:endParaRPr lang="en-US" sz="1500" dirty="0"/>
          </a:p>
        </p:txBody>
      </p:sp>
      <p:sp>
        <p:nvSpPr>
          <p:cNvPr id="18" name="Text 16"/>
          <p:cNvSpPr/>
          <p:nvPr/>
        </p:nvSpPr>
        <p:spPr>
          <a:xfrm>
            <a:off x="1444752"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行政机关、行业组织在查处过程中发现涉嫌犯罪的，应当依法移送司法机关，不得以罚代刑。刑事程序终结后，仍可依法给予行政处罚与行业处分。</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四、折抵规则</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行政拘留与刑事拘役、有期徒刑之间存在折抵；罚款与罚金之间亦有折抵的规定。但行业处分与行政处罚之间无折抵关系。</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五、民事赔偿优先于罚没</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执业者的财产不足以同时支付民事赔偿与罚款、罚金时，依法优先承担民事赔偿责任——受害人的救济优先于国家的处罚收入。</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18</a:t>
            </a:r>
            <a:endParaRPr lang="en-US" sz="1100" dirty="0"/>
          </a:p>
        </p:txBody>
      </p:sp>
    </p:spTree>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name="Slide 5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综合案例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一个行为，五种责任</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责任竞合</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伪造证据的连锁后果</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某律师在代理一起民间借贷纠纷中，明知委托人提供的转账凭证系伪造，仍将其作为证据提交法院，并在庭审中据以质证、论证。同时，该律师私下收取了委托人五万元“办事费”，未入所账。</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法院经调查发现凭证系伪造，判决驳回原告诉讼请求，并对该律师作出罚款决定。委托人的对方当事人因应诉支出律师费、差旅费共计八万元。</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此后，律师协会立案调查，司法行政机关同步介入，公安机关以涉嫌帮助伪造证据罪立案侦查。该律师系中共党员。</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本案可能触发哪几种责任？请逐项列举并指出依据。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这些责任同时适用是否构成“一事二罚”？</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对方当事人的八万元损失应当向谁主张？</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律所是否需要承担责任？</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19</a:t>
            </a:r>
            <a:endParaRPr lang="en-US" sz="1100" dirty="0"/>
          </a:p>
        </p:txBody>
      </p:sp>
    </p:spTree>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name="Slide 5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377696"/>
          </a:xfrm>
          <a:prstGeom prst="roundRect">
            <a:avLst>
              <a:gd name="adj" fmla="val 5973"/>
            </a:avLst>
          </a:prstGeom>
          <a:solidFill>
            <a:srgbClr val="ECF3F2"/>
          </a:solidFill>
          <a:ln w="12700">
            <a:solidFill>
              <a:srgbClr val="ECF3F2"/>
            </a:solidFill>
            <a:prstDash val="solid"/>
          </a:ln>
        </p:spPr>
      </p:sp>
      <p:sp>
        <p:nvSpPr>
          <p:cNvPr id="5" name="Shape 3"/>
          <p:cNvSpPr/>
          <p:nvPr/>
        </p:nvSpPr>
        <p:spPr>
          <a:xfrm>
            <a:off x="859536" y="177698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769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4838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五十四条与《公证法》第四十三条都规定“机构赔偿＋对故意或者重大过失者追偿”。有观点认为，这一结构会削弱执业者的责任意识，因为“反正有机构兜底”。你是否同意？请从激励结构与受害人保护两方面评价。</a:t>
            </a:r>
            <a:endParaRPr lang="en-US" sz="1600" dirty="0"/>
          </a:p>
        </p:txBody>
      </p:sp>
      <p:sp>
        <p:nvSpPr>
          <p:cNvPr id="8" name="Shape 6"/>
          <p:cNvSpPr/>
          <p:nvPr/>
        </p:nvSpPr>
        <p:spPr>
          <a:xfrm>
            <a:off x="566928" y="2840736"/>
            <a:ext cx="11057839" cy="1083056"/>
          </a:xfrm>
          <a:prstGeom prst="roundRect">
            <a:avLst>
              <a:gd name="adj" fmla="val 7598"/>
            </a:avLst>
          </a:prstGeom>
          <a:solidFill>
            <a:srgbClr val="ECF3F2"/>
          </a:solidFill>
          <a:ln w="12700">
            <a:solidFill>
              <a:srgbClr val="ECF3F2"/>
            </a:solidFill>
            <a:prstDash val="solid"/>
          </a:ln>
        </p:spPr>
      </p:sp>
      <p:sp>
        <p:nvSpPr>
          <p:cNvPr id="9" name="Shape 7"/>
          <p:cNvSpPr/>
          <p:nvPr/>
        </p:nvSpPr>
        <p:spPr>
          <a:xfrm>
            <a:off x="859536" y="315366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536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7746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《刑法》第三百零六条只针对辩护人、诉讼代理人，而对检察人员、侦查人员的类似行为适用其他条文。这一区别立法是否合理？有学者主张废除该条并统一适用第三百零七条，你的看法是什么？</a:t>
            </a:r>
            <a:endParaRPr lang="en-US" sz="1600" dirty="0"/>
          </a:p>
        </p:txBody>
      </p:sp>
      <p:sp>
        <p:nvSpPr>
          <p:cNvPr id="12" name="Shape 10"/>
          <p:cNvSpPr/>
          <p:nvPr/>
        </p:nvSpPr>
        <p:spPr>
          <a:xfrm>
            <a:off x="566928" y="4070096"/>
            <a:ext cx="11057839" cy="1083056"/>
          </a:xfrm>
          <a:prstGeom prst="roundRect">
            <a:avLst>
              <a:gd name="adj" fmla="val 7598"/>
            </a:avLst>
          </a:prstGeom>
          <a:solidFill>
            <a:srgbClr val="ECF3F2"/>
          </a:solidFill>
          <a:ln w="12700">
            <a:solidFill>
              <a:srgbClr val="ECF3F2"/>
            </a:solidFill>
            <a:prstDash val="solid"/>
          </a:ln>
        </p:spPr>
      </p:sp>
      <p:sp>
        <p:nvSpPr>
          <p:cNvPr id="13" name="Shape 11"/>
          <p:cNvSpPr/>
          <p:nvPr/>
        </p:nvSpPr>
        <p:spPr>
          <a:xfrm>
            <a:off x="859536" y="43830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83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0682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虚假诉讼治理中，代理律师的注意义务边界在哪里？律师应当审查到什么程度才算尽责？如果委托人提供的证据表面真实、律师无从辨别，律师是否仍需担责？</a:t>
            </a:r>
            <a:endParaRPr lang="en-US" sz="1600" dirty="0"/>
          </a:p>
        </p:txBody>
      </p:sp>
      <p:sp>
        <p:nvSpPr>
          <p:cNvPr id="16" name="Shape 14"/>
          <p:cNvSpPr/>
          <p:nvPr/>
        </p:nvSpPr>
        <p:spPr>
          <a:xfrm>
            <a:off x="566928" y="5299456"/>
            <a:ext cx="11057839" cy="1083056"/>
          </a:xfrm>
          <a:prstGeom prst="roundRect">
            <a:avLst>
              <a:gd name="adj" fmla="val 7598"/>
            </a:avLst>
          </a:prstGeom>
          <a:solidFill>
            <a:srgbClr val="ECF3F2"/>
          </a:solidFill>
          <a:ln w="12700">
            <a:solidFill>
              <a:srgbClr val="ECF3F2"/>
            </a:solidFill>
            <a:prstDash val="solid"/>
          </a:ln>
        </p:spPr>
      </p:sp>
      <p:sp>
        <p:nvSpPr>
          <p:cNvPr id="17" name="Shape 15"/>
          <p:cNvSpPr/>
          <p:nvPr/>
        </p:nvSpPr>
        <p:spPr>
          <a:xfrm>
            <a:off x="859536" y="561238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123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3618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请设计一份“律师执业刑事风险自查清单”（不少于十项），涵盖取证、收费、财物保管、文书出具、信息处理等环节。</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第23课时 · 20</a:t>
            </a:r>
            <a:endParaRPr lang="en-US" sz="1100" dirty="0"/>
          </a:p>
        </p:txBody>
      </p:sp>
    </p:spTree>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name="Slide 524">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第23课时要点回顾</a:t>
            </a:r>
            <a:endParaRPr lang="en-US" sz="3000" dirty="0"/>
          </a:p>
        </p:txBody>
      </p:sp>
      <p:sp>
        <p:nvSpPr>
          <p:cNvPr id="4" name="Shape 2"/>
          <p:cNvSpPr/>
          <p:nvPr/>
        </p:nvSpPr>
        <p:spPr>
          <a:xfrm>
            <a:off x="566928" y="1591056"/>
            <a:ext cx="11057839" cy="514202"/>
          </a:xfrm>
          <a:prstGeom prst="roundRect">
            <a:avLst>
              <a:gd name="adj" fmla="val 14226"/>
            </a:avLst>
          </a:prstGeom>
          <a:solidFill>
            <a:srgbClr val="25395F"/>
          </a:solidFill>
          <a:ln w="12700">
            <a:solidFill>
              <a:srgbClr val="25395F"/>
            </a:solidFill>
            <a:prstDash val="solid"/>
          </a:ln>
        </p:spPr>
      </p:sp>
      <p:sp>
        <p:nvSpPr>
          <p:cNvPr id="5" name="Shape 3"/>
          <p:cNvSpPr/>
          <p:nvPr/>
        </p:nvSpPr>
        <p:spPr>
          <a:xfrm>
            <a:off x="859536" y="1673352"/>
            <a:ext cx="349610" cy="349610"/>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64419" y="1778235"/>
            <a:ext cx="139844" cy="139844"/>
          </a:xfrm>
          <a:prstGeom prst="rect">
            <a:avLst/>
          </a:prstGeom>
        </p:spPr>
      </p:pic>
      <p:sp>
        <p:nvSpPr>
          <p:cNvPr id="7" name="Text 4"/>
          <p:cNvSpPr/>
          <p:nvPr/>
        </p:nvSpPr>
        <p:spPr>
          <a:xfrm>
            <a:off x="1444752" y="1738619"/>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法律职业伦理责任有五种形态：行业惩戒责任、行政责任、民事赔偿责任、刑事责任、党纪责任。三个基本关系是：并存、梯度、衔接。</a:t>
            </a:r>
            <a:endParaRPr lang="en-US" sz="1150" dirty="0"/>
          </a:p>
        </p:txBody>
      </p:sp>
      <p:sp>
        <p:nvSpPr>
          <p:cNvPr id="8" name="Shape 5"/>
          <p:cNvSpPr/>
          <p:nvPr/>
        </p:nvSpPr>
        <p:spPr>
          <a:xfrm>
            <a:off x="566928" y="2242418"/>
            <a:ext cx="11057839" cy="718291"/>
          </a:xfrm>
          <a:prstGeom prst="roundRect">
            <a:avLst>
              <a:gd name="adj" fmla="val 10184"/>
            </a:avLst>
          </a:prstGeom>
          <a:solidFill>
            <a:srgbClr val="25395F"/>
          </a:solidFill>
          <a:ln w="12700">
            <a:solidFill>
              <a:srgbClr val="25395F"/>
            </a:solidFill>
            <a:prstDash val="solid"/>
          </a:ln>
        </p:spPr>
      </p:sp>
      <p:sp>
        <p:nvSpPr>
          <p:cNvPr id="9" name="Shape 6"/>
          <p:cNvSpPr/>
          <p:nvPr/>
        </p:nvSpPr>
        <p:spPr>
          <a:xfrm>
            <a:off x="859536" y="2400395"/>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521096"/>
            <a:ext cx="160934" cy="160934"/>
          </a:xfrm>
          <a:prstGeom prst="rect">
            <a:avLst/>
          </a:prstGeom>
        </p:spPr>
      </p:pic>
      <p:sp>
        <p:nvSpPr>
          <p:cNvPr id="11" name="Text 7"/>
          <p:cNvSpPr/>
          <p:nvPr/>
        </p:nvSpPr>
        <p:spPr>
          <a:xfrm>
            <a:off x="1444752" y="2382488"/>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行业惩戒：律师由律协依处分规则作出五级处分，律协不得吊销执业证书；法官、检察官由惩戒委员会作“专业审查”，四档意见，由法院、检察院作出处理决定。</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行政责任：《律师法》第四十七至四十九条对律师三级处罚，第五十条等对律所处罚（含停业整顿、吊销执业证书）；公职人员适用《公职人员政务处分法》与各自处分条例。对律所的处罚不以其律师被处罚为前提。</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民事责任：《律师法》第五十四条、《公证法》第四十三条均采“机构对外赔偿＋对故意或重大过失者内部追偿”的双层结构。归责为过错责任，因果关系是实务主战场，“机会丧失”型损害可按可能性酌定比例。</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刑事责任图谱：妨害司法类（第306条、第307条、第307条之一虚假诉讼罪、第308条之一泄露案件信息罪）；贪贿渎职类（第397条、第399条徇私枉法罪、第399条之一枉法仲裁罪）；其他（受贿行贿、第229条提供虚假证明文件罪、侵犯公民个人信息罪）。</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责任竞合五规则：不同性质责任可并存；“一事不再罚”仅限于同种类罚款；刑事优先与程序衔接，不得以罚代刑；行政拘留与刑罚可折抵而行业处分与行政处罚无折抵；民事赔偿优先于罚没。</a:t>
            </a:r>
            <a:endParaRPr lang="en-US" sz="1150" dirty="0"/>
          </a:p>
        </p:txBody>
      </p:sp>
    </p:spTree>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name="Slide 525">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第24课时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前沿与综合研讨：人工智能、法律援助与伦理困境</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技术、公益与全球化正在重新定义法律职业——本课程的最后一课</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人工智能：新工具带来的新义务</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法律援助：接近正义与律师的公益责任</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涉外法治：跨境执业中的规则冲突</a:t>
            </a:r>
            <a:endParaRPr lang="en-US" sz="1400" dirty="0"/>
          </a:p>
        </p:txBody>
      </p:sp>
    </p:spTree>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name="Slide 5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三个前沿，一次总结</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一、人工智能与法律职业伦理</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二、法律援助与接近正义</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三、涉外法治与跨境执业</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四、新型执业形态的伦理挑战</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五、综合案例研讨</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六、全课程总结与结语</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02</a:t>
            </a:r>
            <a:endParaRPr lang="en-US" sz="1100" dirty="0"/>
          </a:p>
        </p:txBody>
      </p:sp>
    </p:spTree>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name="Slide 52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人工智能与法律职业伦理</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最古老的职业，遇上了最新的工具</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03</a:t>
            </a:r>
            <a:endParaRPr lang="en-US" sz="1100" dirty="0"/>
          </a:p>
        </p:txBody>
      </p:sp>
    </p:spTree>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name="Slide 5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冲击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人工智能改变了什么，没有改变什么</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正在被改变的</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检索与整理：法条检索、类案检索、卷宗梳理、合同比对的效率成倍提升。</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文书初稿：起诉状、答辩状、法律意见书的初稿生成时间大幅缩短。</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知识的稀缺性下降：过去靠“知道某条规定”建立的专业壁垒正在削弱。</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收费模式承压：以工时计费的非诉业务面临重新定价。</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没有被改变的</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责任的归属：署名的是律师，承担责任的是律师。工具不承担任何责任。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判断的核心：在规范沉默处作出选择、在价值冲突中权衡，仍需人来承担。</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信任关系：当事人把最隐秘的事实托付给一个可问责的人，而不是一个系统。</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伦理义务：保密、忠诚、勤勉、真实——每一项都原样适用于使用工具的过程。</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04</a:t>
            </a:r>
            <a:endParaRPr lang="en-US" sz="1100" dirty="0"/>
          </a:p>
        </p:txBody>
      </p:sp>
    </p:spTree>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name="Slide 5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五项义务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使用人工智能工具的五项伦理义务</a:t>
            </a:r>
            <a:endParaRPr lang="en-US" sz="2800" dirty="0"/>
          </a:p>
        </p:txBody>
      </p:sp>
      <p:sp>
        <p:nvSpPr>
          <p:cNvPr id="4" name="Shape 2"/>
          <p:cNvSpPr/>
          <p:nvPr/>
        </p:nvSpPr>
        <p:spPr>
          <a:xfrm>
            <a:off x="566928" y="1316736"/>
            <a:ext cx="11057839" cy="1006602"/>
          </a:xfrm>
          <a:prstGeom prst="roundRect">
            <a:avLst>
              <a:gd name="adj" fmla="val 7267"/>
            </a:avLst>
          </a:prstGeom>
          <a:solidFill>
            <a:srgbClr val="F2F4F8"/>
          </a:solidFill>
          <a:ln w="12700">
            <a:solidFill>
              <a:srgbClr val="F2F4F8"/>
            </a:solidFill>
            <a:prstDash val="solid"/>
          </a:ln>
        </p:spPr>
      </p:sp>
      <p:sp>
        <p:nvSpPr>
          <p:cNvPr id="5" name="Shape 3"/>
          <p:cNvSpPr/>
          <p:nvPr/>
        </p:nvSpPr>
        <p:spPr>
          <a:xfrm>
            <a:off x="841248" y="156400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17624"/>
            <a:ext cx="204826" cy="204826"/>
          </a:xfrm>
          <a:prstGeom prst="rect">
            <a:avLst/>
          </a:prstGeom>
        </p:spPr>
      </p:pic>
      <p:sp>
        <p:nvSpPr>
          <p:cNvPr id="7" name="Text 4"/>
          <p:cNvSpPr/>
          <p:nvPr/>
        </p:nvSpPr>
        <p:spPr>
          <a:xfrm>
            <a:off x="1536192" y="1501775"/>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一、保密义务：输入即披露</a:t>
            </a:r>
            <a:endParaRPr lang="en-US" sz="1200" dirty="0"/>
          </a:p>
        </p:txBody>
      </p:sp>
      <p:sp>
        <p:nvSpPr>
          <p:cNvPr id="8" name="Text 5"/>
          <p:cNvSpPr/>
          <p:nvPr/>
        </p:nvSpPr>
        <p:spPr>
          <a:xfrm>
            <a:off x="1536192" y="1769999"/>
            <a:ext cx="9832543"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将案情、卷宗、合同文本输入公共大模型，可能构成向第三方披露。使用前应当评估服务条款中的数据使用与训练政策，优先采用本地部署或者企业级、明确不用于训练的服务，并对内容作脱敏处理。这是当前最容易被忽视的泄密渠道。</a:t>
            </a:r>
            <a:endParaRPr lang="en-US" sz="1000" dirty="0"/>
          </a:p>
        </p:txBody>
      </p:sp>
      <p:sp>
        <p:nvSpPr>
          <p:cNvPr id="9" name="Shape 6"/>
          <p:cNvSpPr/>
          <p:nvPr/>
        </p:nvSpPr>
        <p:spPr>
          <a:xfrm>
            <a:off x="566928" y="2469642"/>
            <a:ext cx="11057839" cy="1006602"/>
          </a:xfrm>
          <a:prstGeom prst="roundRect">
            <a:avLst>
              <a:gd name="adj" fmla="val 7267"/>
            </a:avLst>
          </a:prstGeom>
          <a:solidFill>
            <a:srgbClr val="FFFFFF"/>
          </a:solidFill>
          <a:ln w="12700">
            <a:solidFill>
              <a:srgbClr val="D5DBE5"/>
            </a:solidFill>
            <a:prstDash val="solid"/>
          </a:ln>
        </p:spPr>
      </p:sp>
      <p:sp>
        <p:nvSpPr>
          <p:cNvPr id="10" name="Shape 7"/>
          <p:cNvSpPr/>
          <p:nvPr/>
        </p:nvSpPr>
        <p:spPr>
          <a:xfrm>
            <a:off x="841248" y="271691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870530"/>
            <a:ext cx="204826" cy="204826"/>
          </a:xfrm>
          <a:prstGeom prst="rect">
            <a:avLst/>
          </a:prstGeom>
        </p:spPr>
      </p:pic>
      <p:sp>
        <p:nvSpPr>
          <p:cNvPr id="12" name="Text 8"/>
          <p:cNvSpPr/>
          <p:nvPr/>
        </p:nvSpPr>
        <p:spPr>
          <a:xfrm>
            <a:off x="1536192" y="2654681"/>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二、核实义务：幻觉必须被拦截</a:t>
            </a:r>
            <a:endParaRPr lang="en-US" sz="1200" dirty="0"/>
          </a:p>
        </p:txBody>
      </p:sp>
      <p:sp>
        <p:nvSpPr>
          <p:cNvPr id="13" name="Text 9"/>
          <p:cNvSpPr/>
          <p:nvPr/>
        </p:nvSpPr>
        <p:spPr>
          <a:xfrm>
            <a:off x="1536192" y="2922905"/>
            <a:ext cx="9832543" cy="36830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大模型会生成看似真实、实则不存在的法条与判例。凡拟写入文书的法条、判例、数据，必须回到权威数据库逐一核实来源与现行有效性。虚构判例已在多国造成律师被处分、被罚款的实例。</a:t>
            </a:r>
            <a:endParaRPr lang="en-US" sz="1000" dirty="0"/>
          </a:p>
        </p:txBody>
      </p:sp>
      <p:sp>
        <p:nvSpPr>
          <p:cNvPr id="14" name="Shape 10"/>
          <p:cNvSpPr/>
          <p:nvPr/>
        </p:nvSpPr>
        <p:spPr>
          <a:xfrm>
            <a:off x="566928" y="3622548"/>
            <a:ext cx="11057839" cy="822452"/>
          </a:xfrm>
          <a:prstGeom prst="roundRect">
            <a:avLst>
              <a:gd name="adj" fmla="val 8894"/>
            </a:avLst>
          </a:prstGeom>
          <a:solidFill>
            <a:srgbClr val="F2F4F8"/>
          </a:solidFill>
          <a:ln w="12700">
            <a:solidFill>
              <a:srgbClr val="F2F4F8"/>
            </a:solidFill>
            <a:prstDash val="solid"/>
          </a:ln>
        </p:spPr>
      </p:sp>
      <p:sp>
        <p:nvSpPr>
          <p:cNvPr id="15" name="Shape 11"/>
          <p:cNvSpPr/>
          <p:nvPr/>
        </p:nvSpPr>
        <p:spPr>
          <a:xfrm>
            <a:off x="841248" y="377774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931361"/>
            <a:ext cx="204826" cy="204826"/>
          </a:xfrm>
          <a:prstGeom prst="rect">
            <a:avLst/>
          </a:prstGeom>
        </p:spPr>
      </p:pic>
      <p:sp>
        <p:nvSpPr>
          <p:cNvPr id="17" name="Text 12"/>
          <p:cNvSpPr/>
          <p:nvPr/>
        </p:nvSpPr>
        <p:spPr>
          <a:xfrm>
            <a:off x="1536192" y="3807587"/>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三、胜任义务：不懂就不要用</a:t>
            </a:r>
            <a:endParaRPr lang="en-US" sz="1200" dirty="0"/>
          </a:p>
        </p:txBody>
      </p:sp>
      <p:sp>
        <p:nvSpPr>
          <p:cNvPr id="18" name="Text 13"/>
          <p:cNvSpPr/>
          <p:nvPr/>
        </p:nvSpPr>
        <p:spPr>
          <a:xfrm>
            <a:off x="1536192" y="4075811"/>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专业胜任包括对所用工具的理解。不清楚工具的能力边界与失效模式而依赖其输出，本身即违反勤勉义务。使用工具不降低注意义务的标准，反而要求额外的审查能力。</a:t>
            </a:r>
            <a:endParaRPr lang="en-US" sz="1000" dirty="0"/>
          </a:p>
        </p:txBody>
      </p:sp>
      <p:sp>
        <p:nvSpPr>
          <p:cNvPr id="19" name="Shape 14"/>
          <p:cNvSpPr/>
          <p:nvPr/>
        </p:nvSpPr>
        <p:spPr>
          <a:xfrm>
            <a:off x="566928" y="4591304"/>
            <a:ext cx="11057839" cy="822452"/>
          </a:xfrm>
          <a:prstGeom prst="roundRect">
            <a:avLst>
              <a:gd name="adj" fmla="val 8894"/>
            </a:avLst>
          </a:prstGeom>
          <a:solidFill>
            <a:srgbClr val="FFFFFF"/>
          </a:solidFill>
          <a:ln w="12700">
            <a:solidFill>
              <a:srgbClr val="D5DBE5"/>
            </a:solidFill>
            <a:prstDash val="solid"/>
          </a:ln>
        </p:spPr>
      </p:sp>
      <p:sp>
        <p:nvSpPr>
          <p:cNvPr id="20" name="Shape 15"/>
          <p:cNvSpPr/>
          <p:nvPr/>
        </p:nvSpPr>
        <p:spPr>
          <a:xfrm>
            <a:off x="841248" y="4746498"/>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900117"/>
            <a:ext cx="204826" cy="204826"/>
          </a:xfrm>
          <a:prstGeom prst="rect">
            <a:avLst/>
          </a:prstGeom>
        </p:spPr>
      </p:pic>
      <p:sp>
        <p:nvSpPr>
          <p:cNvPr id="22" name="Text 16"/>
          <p:cNvSpPr/>
          <p:nvPr/>
        </p:nvSpPr>
        <p:spPr>
          <a:xfrm>
            <a:off x="1536192" y="4776343"/>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四、告知与收费的诚信</a:t>
            </a:r>
            <a:endParaRPr lang="en-US" sz="1200" dirty="0"/>
          </a:p>
        </p:txBody>
      </p:sp>
      <p:sp>
        <p:nvSpPr>
          <p:cNvPr id="23" name="Text 17"/>
          <p:cNvSpPr/>
          <p:nvPr/>
        </p:nvSpPr>
        <p:spPr>
          <a:xfrm>
            <a:off x="1536192" y="5044567"/>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在委托人合理关切的范围内说明工具的使用情况；以工时计费的，不得就人工智能数秒完成的工作按人工工时计费——这属于第19课时讲的虚报工时。</a:t>
            </a:r>
            <a:endParaRPr lang="en-US" sz="1000" dirty="0"/>
          </a:p>
        </p:txBody>
      </p:sp>
      <p:sp>
        <p:nvSpPr>
          <p:cNvPr id="24" name="Shape 18"/>
          <p:cNvSpPr/>
          <p:nvPr/>
        </p:nvSpPr>
        <p:spPr>
          <a:xfrm>
            <a:off x="566928" y="5560060"/>
            <a:ext cx="11057839" cy="822452"/>
          </a:xfrm>
          <a:prstGeom prst="roundRect">
            <a:avLst>
              <a:gd name="adj" fmla="val 8894"/>
            </a:avLst>
          </a:prstGeom>
          <a:solidFill>
            <a:srgbClr val="F2F4F8"/>
          </a:solidFill>
          <a:ln w="12700">
            <a:solidFill>
              <a:srgbClr val="F2F4F8"/>
            </a:solidFill>
            <a:prstDash val="solid"/>
          </a:ln>
        </p:spPr>
      </p:sp>
      <p:sp>
        <p:nvSpPr>
          <p:cNvPr id="25" name="Shape 19"/>
          <p:cNvSpPr/>
          <p:nvPr/>
        </p:nvSpPr>
        <p:spPr>
          <a:xfrm>
            <a:off x="841248" y="5715254"/>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68873"/>
            <a:ext cx="204826" cy="204826"/>
          </a:xfrm>
          <a:prstGeom prst="rect">
            <a:avLst/>
          </a:prstGeom>
        </p:spPr>
      </p:pic>
      <p:sp>
        <p:nvSpPr>
          <p:cNvPr id="27" name="Text 20"/>
          <p:cNvSpPr/>
          <p:nvPr/>
        </p:nvSpPr>
        <p:spPr>
          <a:xfrm>
            <a:off x="1536192" y="5745099"/>
            <a:ext cx="9832543" cy="195072"/>
          </a:xfrm>
          <a:prstGeom prst="rect">
            <a:avLst/>
          </a:prstGeom>
          <a:noFill/>
          <a:ln/>
        </p:spPr>
        <p:txBody>
          <a:bodyPr wrap="square" lIns="0" tIns="0" rIns="0" bIns="0" rtlCol="0" anchor="t"/>
          <a:lstStyle/>
          <a:p>
            <a:pPr indent="0" marL="0">
              <a:lnSpc>
                <a:spcPts val="1536"/>
              </a:lnSpc>
              <a:buNone/>
            </a:pPr>
            <a:r>
              <a:rPr lang="en-US" sz="1200" b="1" dirty="0">
                <a:solidFill>
                  <a:srgbClr val="13233F"/>
                </a:solidFill>
                <a:latin typeface="微软雅黑" pitchFamily="34" charset="0"/>
                <a:ea typeface="微软雅黑" pitchFamily="34" charset="-122"/>
                <a:cs typeface="微软雅黑" pitchFamily="34" charset="-120"/>
              </a:rPr>
              <a:t>五、责任不可转移</a:t>
            </a:r>
            <a:endParaRPr lang="en-US" sz="1200" dirty="0"/>
          </a:p>
        </p:txBody>
      </p:sp>
      <p:sp>
        <p:nvSpPr>
          <p:cNvPr id="28" name="Text 21"/>
          <p:cNvSpPr/>
          <p:nvPr/>
        </p:nvSpPr>
        <p:spPr>
          <a:xfrm>
            <a:off x="1536192" y="6013323"/>
            <a:ext cx="9832543" cy="184150"/>
          </a:xfrm>
          <a:prstGeom prst="rect">
            <a:avLst/>
          </a:prstGeom>
          <a:noFill/>
          <a:ln/>
        </p:spPr>
        <p:txBody>
          <a:bodyPr wrap="square" lIns="0" tIns="0" rIns="0" bIns="0" rtlCol="0" anchor="t"/>
          <a:lstStyle/>
          <a:p>
            <a:pPr indent="0" marL="0">
              <a:lnSpc>
                <a:spcPts val="1450"/>
              </a:lnSpc>
              <a:buNone/>
            </a:pPr>
            <a:r>
              <a:rPr lang="en-US" sz="1000" dirty="0">
                <a:solidFill>
                  <a:srgbClr val="32404F"/>
                </a:solidFill>
                <a:latin typeface="微软雅黑" pitchFamily="34" charset="0"/>
                <a:ea typeface="微软雅黑" pitchFamily="34" charset="-122"/>
                <a:cs typeface="微软雅黑" pitchFamily="34" charset="-120"/>
              </a:rPr>
              <a:t>不得以“这是人工智能生成的”为由推卸责任。工具的输出经你签名提交，即成为你的专业判断。这一原则在裁判文书、法律意见书、代理词上一体适用。</a:t>
            </a:r>
            <a:endParaRPr lang="en-US" sz="10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05</a:t>
            </a:r>
            <a:endParaRPr lang="en-US" sz="1100" dirty="0"/>
          </a:p>
        </p:txBody>
      </p:sp>
    </p:spTree>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name="Slide 530">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人工智能可以替代法律人的检索、比对与起草，却无法替代那个在法庭上必须站起来、说出自己判断、并为之负责的人。</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职业不可替代性的所在</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法律职业的正当性从来不只建立在“知道得多”之上，而建立在“可被托付、可被问责”之上</a:t>
            </a:r>
            <a:endParaRPr lang="en-US" sz="1300" dirty="0"/>
          </a:p>
        </p:txBody>
      </p:sp>
    </p:spTree>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name="Slide 53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法律援助与接近正义</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一个社会的法治水平，看它如何对待请不起律师的人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07</a:t>
            </a:r>
            <a:endParaRPr lang="en-US" sz="1100" dirty="0"/>
          </a:p>
        </p:txBody>
      </p:sp>
    </p:spTree>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name="Slide 5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制度定位</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《法律援助法》：从政府恩惠到国家责任</a:t>
            </a:r>
            <a:endParaRPr lang="en-US" sz="2800" dirty="0"/>
          </a:p>
        </p:txBody>
      </p:sp>
      <p:sp>
        <p:nvSpPr>
          <p:cNvPr id="4" name="Shape 2"/>
          <p:cNvSpPr/>
          <p:nvPr/>
        </p:nvSpPr>
        <p:spPr>
          <a:xfrm>
            <a:off x="566928" y="1520952"/>
            <a:ext cx="11057839" cy="3042666"/>
          </a:xfrm>
          <a:prstGeom prst="roundRect">
            <a:avLst>
              <a:gd name="adj" fmla="val 3005"/>
            </a:avLst>
          </a:prstGeom>
          <a:solidFill>
            <a:srgbClr val="F6F1E8"/>
          </a:solidFill>
          <a:ln w="12700">
            <a:solidFill>
              <a:srgbClr val="F6F1E8"/>
            </a:solidFill>
            <a:prstDash val="solid"/>
          </a:ln>
        </p:spPr>
      </p:sp>
      <p:sp>
        <p:nvSpPr>
          <p:cNvPr id="5" name="Shape 3"/>
          <p:cNvSpPr/>
          <p:nvPr/>
        </p:nvSpPr>
        <p:spPr>
          <a:xfrm>
            <a:off x="877824" y="175869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75869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74040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《中华人民共和国法律援助法》（2021年8月20日通过，2022年1月1日起施行）要旨</a:t>
            </a:r>
            <a:endParaRPr lang="en-US" sz="1500" dirty="0"/>
          </a:p>
        </p:txBody>
      </p:sp>
      <p:sp>
        <p:nvSpPr>
          <p:cNvPr id="8" name="Text 6"/>
          <p:cNvSpPr/>
          <p:nvPr/>
        </p:nvSpPr>
        <p:spPr>
          <a:xfrm>
            <a:off x="960120" y="2161032"/>
            <a:ext cx="10271455" cy="21831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法律援助，是指国家建立的为经济困难公民和符合法定条件的其他当事人无偿提供法律咨询、代理、刑事辩护等法律服务的制度。</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法律援助是国家的责任。县级以上人民政府应当将法律援助工作纳入国民经济和社会发展规划、基本公共服务体系，所需经费列入本级政府预算。</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律师事务所、律师应当依法履行法律援助义务；国家鼓励和支持企业事业单位、社会组织等社会力量依法提供公益法律服务。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把握这部法律最重要的定位转变：法律援助不再是政府的恩惠或者律师的善举，而是国家的责任与律师的法定义务。这一转变带来两个推论：其一，受援人是权利主体，有权要求符合标准的服务，并可对服务质量提出异议；其二，律师承办援助案件的服务标准与收费案件相同，以“没收费”为由降低质量是严重违规。</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08</a:t>
            </a:r>
            <a:endParaRPr lang="en-US" sz="1100" dirty="0"/>
          </a:p>
        </p:txBody>
      </p:sp>
    </p:spTree>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name="Slide 5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法律援助制度的四个要点</a:t>
            </a:r>
            <a:endParaRPr lang="en-US" sz="2800" dirty="0"/>
          </a:p>
        </p:txBody>
      </p:sp>
      <p:sp>
        <p:nvSpPr>
          <p:cNvPr id="4" name="Shape 2"/>
          <p:cNvSpPr/>
          <p:nvPr/>
        </p:nvSpPr>
        <p:spPr>
          <a:xfrm>
            <a:off x="566928" y="1342708"/>
            <a:ext cx="5410048" cy="2397188"/>
          </a:xfrm>
          <a:prstGeom prst="roundRect">
            <a:avLst>
              <a:gd name="adj" fmla="val 3814"/>
            </a:avLst>
          </a:prstGeom>
          <a:solidFill>
            <a:srgbClr val="F2F4F8"/>
          </a:solidFill>
          <a:ln w="12700">
            <a:solidFill>
              <a:srgbClr val="F2F4F8"/>
            </a:solidFill>
            <a:prstDash val="solid"/>
          </a:ln>
        </p:spPr>
      </p:sp>
      <p:sp>
        <p:nvSpPr>
          <p:cNvPr id="5" name="Shape 3"/>
          <p:cNvSpPr/>
          <p:nvPr/>
        </p:nvSpPr>
        <p:spPr>
          <a:xfrm>
            <a:off x="886968" y="1635316"/>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72476"/>
            <a:ext cx="182880" cy="182880"/>
          </a:xfrm>
          <a:prstGeom prst="rect">
            <a:avLst/>
          </a:prstGeom>
        </p:spPr>
      </p:pic>
      <p:sp>
        <p:nvSpPr>
          <p:cNvPr id="7" name="Text 4"/>
          <p:cNvSpPr/>
          <p:nvPr/>
        </p:nvSpPr>
        <p:spPr>
          <a:xfrm>
            <a:off x="886968" y="2257108"/>
            <a:ext cx="4769968" cy="246063"/>
          </a:xfrm>
          <a:prstGeom prst="rect">
            <a:avLst/>
          </a:prstGeom>
          <a:noFill/>
          <a:ln/>
        </p:spPr>
        <p:txBody>
          <a:bodyPr wrap="square" lIns="0" tIns="0" rIns="0" bIns="0" rtlCol="0" anchor="t"/>
          <a:lstStyle/>
          <a:p>
            <a:pPr indent="0" marL="0">
              <a:lnSpc>
                <a:spcPts val="1938"/>
              </a:lnSpc>
              <a:buNone/>
            </a:pPr>
            <a:r>
              <a:rPr lang="en-US" sz="1550" b="1" dirty="0">
                <a:solidFill>
                  <a:srgbClr val="13233F"/>
                </a:solidFill>
                <a:latin typeface="微软雅黑" pitchFamily="34" charset="0"/>
                <a:ea typeface="微软雅黑" pitchFamily="34" charset="-122"/>
                <a:cs typeface="微软雅黑" pitchFamily="34" charset="-120"/>
              </a:rPr>
              <a:t>刑事法律援助的扩展</a:t>
            </a:r>
            <a:endParaRPr lang="en-US" sz="1550" dirty="0"/>
          </a:p>
        </p:txBody>
      </p:sp>
      <p:sp>
        <p:nvSpPr>
          <p:cNvPr id="8" name="Text 5"/>
          <p:cNvSpPr/>
          <p:nvPr/>
        </p:nvSpPr>
        <p:spPr>
          <a:xfrm>
            <a:off x="886968" y="2631186"/>
            <a:ext cx="4769968" cy="889254"/>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除通知辩护的法定情形外，值班律师制度使所有被追诉人在没有辩护人时都能获得法律帮助，包括提供法律咨询、程序选择建议、申请变更强制措施、对认罪认罚的自愿性与合法性提供意见。</a:t>
            </a:r>
            <a:endParaRPr lang="en-US" sz="1300" dirty="0"/>
          </a:p>
        </p:txBody>
      </p:sp>
      <p:sp>
        <p:nvSpPr>
          <p:cNvPr id="9" name="Shape 6"/>
          <p:cNvSpPr/>
          <p:nvPr/>
        </p:nvSpPr>
        <p:spPr>
          <a:xfrm>
            <a:off x="6214720" y="1342708"/>
            <a:ext cx="5410048" cy="2397188"/>
          </a:xfrm>
          <a:prstGeom prst="roundRect">
            <a:avLst>
              <a:gd name="adj" fmla="val 3814"/>
            </a:avLst>
          </a:prstGeom>
          <a:solidFill>
            <a:srgbClr val="F6F1E8"/>
          </a:solidFill>
          <a:ln w="12700">
            <a:solidFill>
              <a:srgbClr val="F6F1E8"/>
            </a:solidFill>
            <a:prstDash val="solid"/>
          </a:ln>
        </p:spPr>
      </p:sp>
      <p:sp>
        <p:nvSpPr>
          <p:cNvPr id="10" name="Shape 7"/>
          <p:cNvSpPr/>
          <p:nvPr/>
        </p:nvSpPr>
        <p:spPr>
          <a:xfrm>
            <a:off x="6534760" y="1635316"/>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72476"/>
            <a:ext cx="182880" cy="182880"/>
          </a:xfrm>
          <a:prstGeom prst="rect">
            <a:avLst/>
          </a:prstGeom>
        </p:spPr>
      </p:pic>
      <p:sp>
        <p:nvSpPr>
          <p:cNvPr id="12" name="Text 8"/>
          <p:cNvSpPr/>
          <p:nvPr/>
        </p:nvSpPr>
        <p:spPr>
          <a:xfrm>
            <a:off x="6534760" y="2257108"/>
            <a:ext cx="4769968" cy="246063"/>
          </a:xfrm>
          <a:prstGeom prst="rect">
            <a:avLst/>
          </a:prstGeom>
          <a:noFill/>
          <a:ln/>
        </p:spPr>
        <p:txBody>
          <a:bodyPr wrap="square" lIns="0" tIns="0" rIns="0" bIns="0" rtlCol="0" anchor="t"/>
          <a:lstStyle/>
          <a:p>
            <a:pPr indent="0" marL="0">
              <a:lnSpc>
                <a:spcPts val="1938"/>
              </a:lnSpc>
              <a:buNone/>
            </a:pPr>
            <a:r>
              <a:rPr lang="en-US" sz="1550" b="1" dirty="0">
                <a:solidFill>
                  <a:srgbClr val="13233F"/>
                </a:solidFill>
                <a:latin typeface="微软雅黑" pitchFamily="34" charset="0"/>
                <a:ea typeface="微软雅黑" pitchFamily="34" charset="-122"/>
                <a:cs typeface="微软雅黑" pitchFamily="34" charset="-120"/>
              </a:rPr>
              <a:t>受援范围的扩大</a:t>
            </a:r>
            <a:endParaRPr lang="en-US" sz="1550" dirty="0"/>
          </a:p>
        </p:txBody>
      </p:sp>
      <p:sp>
        <p:nvSpPr>
          <p:cNvPr id="13" name="Text 9"/>
          <p:cNvSpPr/>
          <p:nvPr/>
        </p:nvSpPr>
        <p:spPr>
          <a:xfrm>
            <a:off x="6534760" y="2631186"/>
            <a:ext cx="4769968" cy="889254"/>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经济困难标准由省级政府确定并动态调整；部分事项（如请求支付劳动报酬、请求给付赡养费抚养费、见义勇为受害人主张权益、军人军属维权等）依法免予经济困难审查。</a:t>
            </a:r>
            <a:endParaRPr lang="en-US" sz="1300" dirty="0"/>
          </a:p>
        </p:txBody>
      </p:sp>
      <p:sp>
        <p:nvSpPr>
          <p:cNvPr id="14" name="Shape 10"/>
          <p:cNvSpPr/>
          <p:nvPr/>
        </p:nvSpPr>
        <p:spPr>
          <a:xfrm>
            <a:off x="566928" y="3959352"/>
            <a:ext cx="5410048" cy="2397188"/>
          </a:xfrm>
          <a:prstGeom prst="roundRect">
            <a:avLst>
              <a:gd name="adj" fmla="val 381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46063"/>
          </a:xfrm>
          <a:prstGeom prst="rect">
            <a:avLst/>
          </a:prstGeom>
          <a:noFill/>
          <a:ln/>
        </p:spPr>
        <p:txBody>
          <a:bodyPr wrap="square" lIns="0" tIns="0" rIns="0" bIns="0" rtlCol="0" anchor="t"/>
          <a:lstStyle/>
          <a:p>
            <a:pPr indent="0" marL="0">
              <a:lnSpc>
                <a:spcPts val="1938"/>
              </a:lnSpc>
              <a:buNone/>
            </a:pPr>
            <a:r>
              <a:rPr lang="en-US" sz="1550" b="1" dirty="0">
                <a:solidFill>
                  <a:srgbClr val="13233F"/>
                </a:solidFill>
                <a:latin typeface="微软雅黑" pitchFamily="34" charset="0"/>
                <a:ea typeface="微软雅黑" pitchFamily="34" charset="-122"/>
                <a:cs typeface="微软雅黑" pitchFamily="34" charset="-120"/>
              </a:rPr>
              <a:t>质量保障机制</a:t>
            </a:r>
            <a:endParaRPr lang="en-US" sz="1550" dirty="0"/>
          </a:p>
        </p:txBody>
      </p:sp>
      <p:sp>
        <p:nvSpPr>
          <p:cNvPr id="18" name="Text 13"/>
          <p:cNvSpPr/>
          <p:nvPr/>
        </p:nvSpPr>
        <p:spPr>
          <a:xfrm>
            <a:off x="886968" y="5247831"/>
            <a:ext cx="4769968" cy="889254"/>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建立服务质量标准、案件质量评估、受援人回访与投诉处理机制；对服务质量不合格的，法律援助机构可以更换承办人员并依规处理。</a:t>
            </a:r>
            <a:endParaRPr lang="en-US" sz="1300" dirty="0"/>
          </a:p>
        </p:txBody>
      </p:sp>
      <p:sp>
        <p:nvSpPr>
          <p:cNvPr id="19" name="Shape 14"/>
          <p:cNvSpPr/>
          <p:nvPr/>
        </p:nvSpPr>
        <p:spPr>
          <a:xfrm>
            <a:off x="6214720" y="3959352"/>
            <a:ext cx="5410048" cy="2397188"/>
          </a:xfrm>
          <a:prstGeom prst="roundRect">
            <a:avLst>
              <a:gd name="adj" fmla="val 381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46063"/>
          </a:xfrm>
          <a:prstGeom prst="rect">
            <a:avLst/>
          </a:prstGeom>
          <a:noFill/>
          <a:ln/>
        </p:spPr>
        <p:txBody>
          <a:bodyPr wrap="square" lIns="0" tIns="0" rIns="0" bIns="0" rtlCol="0" anchor="t"/>
          <a:lstStyle/>
          <a:p>
            <a:pPr indent="0" marL="0">
              <a:lnSpc>
                <a:spcPts val="1938"/>
              </a:lnSpc>
              <a:buNone/>
            </a:pPr>
            <a:r>
              <a:rPr lang="en-US" sz="1550" b="1" dirty="0">
                <a:solidFill>
                  <a:srgbClr val="13233F"/>
                </a:solidFill>
                <a:latin typeface="微软雅黑" pitchFamily="34" charset="0"/>
                <a:ea typeface="微软雅黑" pitchFamily="34" charset="-122"/>
                <a:cs typeface="微软雅黑" pitchFamily="34" charset="-120"/>
              </a:rPr>
              <a:t>公益法律服务的鼓励</a:t>
            </a:r>
            <a:endParaRPr lang="en-US" sz="1550" dirty="0"/>
          </a:p>
        </p:txBody>
      </p:sp>
      <p:sp>
        <p:nvSpPr>
          <p:cNvPr id="23" name="Text 17"/>
          <p:cNvSpPr/>
          <p:nvPr/>
        </p:nvSpPr>
        <p:spPr>
          <a:xfrm>
            <a:off x="6534760" y="5247831"/>
            <a:ext cx="4769968" cy="889254"/>
          </a:xfrm>
          <a:prstGeom prst="rect">
            <a:avLst/>
          </a:prstGeom>
          <a:noFill/>
          <a:ln/>
        </p:spPr>
        <p:txBody>
          <a:bodyPr wrap="square" lIns="0" tIns="0" rIns="0" bIns="0" rtlCol="0" anchor="t"/>
          <a:lstStyle/>
          <a:p>
            <a:pPr indent="0" marL="0">
              <a:lnSpc>
                <a:spcPts val="1950"/>
              </a:lnSpc>
              <a:buNone/>
            </a:pPr>
            <a:r>
              <a:rPr lang="en-US" sz="1300" dirty="0">
                <a:solidFill>
                  <a:srgbClr val="32404F"/>
                </a:solidFill>
                <a:latin typeface="微软雅黑" pitchFamily="34" charset="0"/>
                <a:ea typeface="微软雅黑" pitchFamily="34" charset="-122"/>
                <a:cs typeface="微软雅黑" pitchFamily="34" charset="-120"/>
              </a:rPr>
              <a:t>国家鼓励社会力量提供公益法律服务。律师的公益服务（pro bono）在许多法域是行业惯例甚至硬性要求，我国亦通过律协倡导与年度考核等方式加以推动。</a:t>
            </a:r>
            <a:endParaRPr lang="en-US" sz="13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09</a:t>
            </a:r>
            <a:endParaRPr lang="en-US" sz="1100" dirty="0"/>
          </a:p>
        </p:txBody>
      </p:sp>
    </p:spTree>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name="Slide 5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伦理反思</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为什么援助案件是职业操守的试金石</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我在第14课时说过这句话，本课再展开一次。</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第一，监督最弱。 付了三十万律师费的企业客户会盯着你每一份文件；被指派的受援人可能连你有没有阅卷都不知道。信息不对称在这里达到极致。</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第二，激励最弱。 补贴远低于市场价，投入越多“损失”越大。此时唯一驱动你尽责的，只有职业操守本身。</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第三，后果最重。 受援人往往是自由、生计、住所处于危险中的人。对他们而言，这可能是一生中唯一一次与法律打交道的机会。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第四，最能检验第1课时的那个命题。 我们说过：律师的核心功能是制约公权力、保障权利可及。援助案件正是这一功能最纯粹的形态——没有商业利益的遮蔽，只剩下“有人替他说话”这一件事。</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你在没有人监督、没有人付费、没有人感谢的情况下做了什么，才真正说明你是什么样的律师。</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10</a:t>
            </a:r>
            <a:endParaRPr lang="en-US" sz="1100" dirty="0"/>
          </a:p>
        </p:txBody>
      </p:sp>
    </p:spTree>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name="Slide 53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涉外法治与跨境执业</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当两套规则同时适用于同一个行为</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11</a:t>
            </a:r>
            <a:endParaRPr lang="en-US" sz="1100" dirty="0"/>
          </a:p>
        </p:txBody>
      </p:sp>
    </p:spTree>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name="Slide 5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四类冲突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跨境执业中的伦理冲突</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一、保密义务与证据开示的冲突</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英美法系的证据开示（discovery）范围广泛，可能要求提供在我国受保密义务保护的材料。应当同时审查中国法与外国法的要求，注意《数据安全法》《国际刑事司法协助法》关于未经批准不得向外国司法机关提供数据与证据的规定。</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二、反洗钱与法律职业特权的冲突</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新《反洗钱法》自2025年1月1日起将律师事务所纳入特定非金融机构。域外通行做法是区分“提供诉讼代理与判断法律地位”（保密优先）与“从事金融、不动产等交易性事务”（报告优先）。我国配套规则仍在完善，须密切关注。</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三、执业资格与业务范围的限制</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各法域对外国律师的执业资格、可从事的业务范围有不同规定。不得在无资格的法域直接提供该法域法律的意见；应当以协作、共同出具意见等合规方式处理，并向客户如实说明能力边界。</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四、制裁合规与利益冲突</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涉及国际制裁、出口管制的业务，须审查客户与交易是否触及相关名单；同时注意我国《反外国制裁法》等规定。这类业务的冲突审查应当扩展至关联主体与最终受益人层面。</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12</a:t>
            </a:r>
            <a:endParaRPr lang="en-US" sz="1100" dirty="0"/>
          </a:p>
        </p:txBody>
      </p:sp>
    </p:spTree>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name="Slide 53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新型执业形态的伦理挑战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规范总是慢于实践，但原理是稳定的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13</a:t>
            </a:r>
            <a:endParaRPr lang="en-US" sz="1100" dirty="0"/>
          </a:p>
        </p:txBody>
      </p:sp>
    </p:spTree>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name="Slide 5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三种形态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三类新型执业形态</a:t>
            </a:r>
            <a:endParaRPr lang="en-US" sz="2800" dirty="0"/>
          </a:p>
        </p:txBody>
      </p:sp>
      <p:sp>
        <p:nvSpPr>
          <p:cNvPr id="4" name="Shape 2"/>
          <p:cNvSpPr/>
          <p:nvPr/>
        </p:nvSpPr>
        <p:spPr>
          <a:xfrm>
            <a:off x="566928" y="1905699"/>
            <a:ext cx="3527450" cy="3887851"/>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86968" y="2198307"/>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335467"/>
            <a:ext cx="182880" cy="182880"/>
          </a:xfrm>
          <a:prstGeom prst="rect">
            <a:avLst/>
          </a:prstGeom>
        </p:spPr>
      </p:pic>
      <p:sp>
        <p:nvSpPr>
          <p:cNvPr id="7" name="Text 4"/>
          <p:cNvSpPr/>
          <p:nvPr/>
        </p:nvSpPr>
        <p:spPr>
          <a:xfrm>
            <a:off x="886968"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自媒体与流量执业</a:t>
            </a:r>
            <a:endParaRPr lang="en-US" sz="1700" dirty="0"/>
          </a:p>
        </p:txBody>
      </p:sp>
      <p:sp>
        <p:nvSpPr>
          <p:cNvPr id="8" name="Text 5"/>
          <p:cNvSpPr/>
          <p:nvPr/>
        </p:nvSpPr>
        <p:spPr>
          <a:xfrm>
            <a:off x="886968"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短视频、直播、公众号获客已成常态。核心风险：正在办理的案件不得作内容；已办结案件须脱敏并取得同意；不得为流量歪曲法律或者渲染对立；不得以“包胜诉”“有关系”暗示结果。回顾第13、20课时的规则，它们完全适用于新媒介。</a:t>
            </a:r>
            <a:endParaRPr lang="en-US" sz="1450" dirty="0"/>
          </a:p>
        </p:txBody>
      </p:sp>
      <p:sp>
        <p:nvSpPr>
          <p:cNvPr id="9" name="Shape 6"/>
          <p:cNvSpPr/>
          <p:nvPr/>
        </p:nvSpPr>
        <p:spPr>
          <a:xfrm>
            <a:off x="4332122" y="1905699"/>
            <a:ext cx="3527450" cy="3887851"/>
          </a:xfrm>
          <a:prstGeom prst="roundRect">
            <a:avLst>
              <a:gd name="adj" fmla="val 2592"/>
            </a:avLst>
          </a:prstGeom>
          <a:solidFill>
            <a:srgbClr val="F6F1E8"/>
          </a:solidFill>
          <a:ln w="12700">
            <a:solidFill>
              <a:srgbClr val="F6F1E8"/>
            </a:solidFill>
            <a:prstDash val="solid"/>
          </a:ln>
        </p:spPr>
      </p:sp>
      <p:sp>
        <p:nvSpPr>
          <p:cNvPr id="10" name="Shape 7"/>
          <p:cNvSpPr/>
          <p:nvPr/>
        </p:nvSpPr>
        <p:spPr>
          <a:xfrm>
            <a:off x="4652162" y="2198307"/>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335467"/>
            <a:ext cx="182880" cy="182880"/>
          </a:xfrm>
          <a:prstGeom prst="rect">
            <a:avLst/>
          </a:prstGeom>
        </p:spPr>
      </p:pic>
      <p:sp>
        <p:nvSpPr>
          <p:cNvPr id="12" name="Text 8"/>
          <p:cNvSpPr/>
          <p:nvPr/>
        </p:nvSpPr>
        <p:spPr>
          <a:xfrm>
            <a:off x="4652162"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互联网法律服务平台</a:t>
            </a:r>
            <a:endParaRPr lang="en-US" sz="1700" dirty="0"/>
          </a:p>
        </p:txBody>
      </p:sp>
      <p:sp>
        <p:nvSpPr>
          <p:cNvPr id="13" name="Text 9"/>
          <p:cNvSpPr/>
          <p:nvPr/>
        </p:nvSpPr>
        <p:spPr>
          <a:xfrm>
            <a:off x="4652162"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平台撮合、按单派案、评价排名等模式带来新问题：平台抽成是否构成变相的案源介绍费？平台的评价机制是否诱导律师作结果承诺？委托关系的当事人是平台还是律所？基本立场：委托必须回到律所统一接受，费用必须入所账，不得与非律师机构分享律师费。</a:t>
            </a:r>
            <a:endParaRPr lang="en-US" sz="1450" dirty="0"/>
          </a:p>
        </p:txBody>
      </p:sp>
      <p:sp>
        <p:nvSpPr>
          <p:cNvPr id="14" name="Shape 10"/>
          <p:cNvSpPr/>
          <p:nvPr/>
        </p:nvSpPr>
        <p:spPr>
          <a:xfrm>
            <a:off x="8097317" y="1905699"/>
            <a:ext cx="3527450" cy="3887851"/>
          </a:xfrm>
          <a:prstGeom prst="roundRect">
            <a:avLst>
              <a:gd name="adj" fmla="val 2592"/>
            </a:avLst>
          </a:prstGeom>
          <a:solidFill>
            <a:srgbClr val="ECF3F2"/>
          </a:solidFill>
          <a:ln w="12700">
            <a:solidFill>
              <a:srgbClr val="ECF3F2"/>
            </a:solidFill>
            <a:prstDash val="solid"/>
          </a:ln>
        </p:spPr>
      </p:sp>
      <p:sp>
        <p:nvSpPr>
          <p:cNvPr id="15" name="Shape 11"/>
          <p:cNvSpPr/>
          <p:nvPr/>
        </p:nvSpPr>
        <p:spPr>
          <a:xfrm>
            <a:off x="8417357" y="2198307"/>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335467"/>
            <a:ext cx="182880" cy="182880"/>
          </a:xfrm>
          <a:prstGeom prst="rect">
            <a:avLst/>
          </a:prstGeom>
        </p:spPr>
      </p:pic>
      <p:sp>
        <p:nvSpPr>
          <p:cNvPr id="17" name="Text 12"/>
          <p:cNvSpPr/>
          <p:nvPr/>
        </p:nvSpPr>
        <p:spPr>
          <a:xfrm>
            <a:off x="8417357" y="2820099"/>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法律科技公司与律师的关系</a:t>
            </a:r>
            <a:endParaRPr lang="en-US" sz="1700" dirty="0"/>
          </a:p>
        </p:txBody>
      </p:sp>
      <p:sp>
        <p:nvSpPr>
          <p:cNvPr id="18" name="Text 13"/>
          <p:cNvSpPr/>
          <p:nvPr/>
        </p:nvSpPr>
        <p:spPr>
          <a:xfrm>
            <a:off x="8417357" y="3217990"/>
            <a:ext cx="2887370" cy="235610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合同审查、合规筛查、诉讼预测等产品日益普及。律师与科技公司合作时须注意：数据处理是否符合保密与个人信息保护要求；产品输出是否被当作法律意见对外提供；是否存在变相由非律师提供法律服务的问题。</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14</a:t>
            </a:r>
            <a:endParaRPr lang="en-US" sz="1100" dirty="0"/>
          </a:p>
        </p:txBody>
      </p:sp>
    </p:spTree>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name="Slide 53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综合案例研讨</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把二十四个课时的知识，用在四个真实情境上</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15</a:t>
            </a:r>
            <a:endParaRPr lang="en-US" sz="1100" dirty="0"/>
          </a:p>
        </p:txBody>
      </p:sp>
    </p:spTree>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name="Slide 5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综合案例一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技术、保密与真实义务的交汇</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综合研讨</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一份由人工智能起草的代理词</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律师承办一起复杂的建设工程合同纠纷。为提高效率，他将委托人提供的合同、结算资料与己方的诉讼思路完整输入某公共大模型，生成代理词初稿，并直接采用了其中援引的三份“最高人民法院指导性案例”。</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开庭时，对方代理人指出：其中两份案例编号不存在，一份案例的裁判要旨与代理词的引述完全相反。审判长当庭要求该律师说明。</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庭后，委托人得知其商业资料曾被输入公共平台，认为律师泄露了商业秘密，要求解除委托并索赔。</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该律师违反了哪些义务？请逐项列举规范依据。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“是人工智能生成的”能否成为免责理由？</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输入公共平台是否构成违反保密义务？</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可能承担哪些责任？律所有无责任？</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16</a:t>
            </a:r>
            <a:endParaRPr lang="en-US" sz="1100" dirty="0"/>
          </a:p>
        </p:txBody>
      </p:sp>
    </p:spTree>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name="Slide 5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综合案例二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援助案件中的两难</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综合研讨</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受援人要求作虚假陈述</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某律师接受法律援助机构指派，为一起盗窃案的被告人辩护。会见中，被告人承认作案，但要求律师帮他主张“是被同案人胁迫的”，并称“反正你是免费的，帮个忙又不会少块肉”。</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律师查阅卷宗后认为，本案在数额认定与自首情节的采纳上确有可争之处，但“受胁迫”缺乏任何证据支撑。</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被告人表示，如果律师不按他说的辩，就向法律援助机构投诉律师“不负责任”，要求更换辩护人。</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律师应当如何处理？请给出完整的行动方案。</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援助案件能否以“未收费”为由降低服务标准？</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被告人投诉与要求更换，律师应当如何应对？</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本案涉及本课程的哪些规则？</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17</a:t>
            </a:r>
            <a:endParaRPr lang="en-US" sz="1100" dirty="0"/>
          </a:p>
        </p:txBody>
      </p:sp>
    </p:spTree>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name="Slide 5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综合案例三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跨越三种角色的冲突</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综合研讨</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从法官到律师，再回到那家法院</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甲在某中级人民法院任法官期间，曾承办一起公司股权纠纷案并作出一审判决。三年后甲辞职，加入乙律师事务所执业。</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入所第二年，该股权纠纷的当事人因同一次股权交易衍生的另一起纠纷，找到乙所要求代理，并指名希望由甲承办，理由是“甲最熟悉这个案子”。该案仍由甲原任职的法院管辖。</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乙所提出：由所内另一名律师承办，甲不参与、不接触卷宗，是否可行？</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甲能否承办？请援引《法官法》与《律师执业行为规范》。</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乙所由他人承办是否可行？归入规则如何适用？</a:t>
            </a:r>
            <a:endParaRPr lang="en-US" sz="1400" dirty="0"/>
          </a:p>
        </p:txBody>
      </p:sp>
      <p:sp>
        <p:nvSpPr>
          <p:cNvPr id="17" name="Shape 15"/>
          <p:cNvSpPr/>
          <p:nvPr/>
        </p:nvSpPr>
        <p:spPr>
          <a:xfrm>
            <a:off x="7958023" y="423252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23252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633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“三年前”的时间间隔有无意义？</a:t>
            </a:r>
            <a:endParaRPr lang="en-US" sz="1400" dirty="0"/>
          </a:p>
        </p:txBody>
      </p:sp>
      <p:sp>
        <p:nvSpPr>
          <p:cNvPr id="20" name="Shape 18"/>
          <p:cNvSpPr/>
          <p:nvPr/>
        </p:nvSpPr>
        <p:spPr>
          <a:xfrm>
            <a:off x="7958023" y="498411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98411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792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本案体现了哪几道制度防线的配合？</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18</a:t>
            </a:r>
            <a:endParaRPr lang="en-US" sz="1100" dirty="0"/>
          </a:p>
        </p:txBody>
      </p:sp>
    </p:spTree>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name="Slide 54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全课程总结与结语</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二十四个课时，五个编，一条主线</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19</a:t>
            </a:r>
            <a:endParaRPr lang="en-US" sz="1100" dirty="0"/>
          </a:p>
        </p:txBody>
      </p:sp>
    </p:spTree>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name="Slide 5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知识地图</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全课程结构回顾</a:t>
            </a:r>
            <a:endParaRPr lang="en-US" sz="2800" dirty="0"/>
          </a:p>
        </p:txBody>
      </p:sp>
      <p:sp>
        <p:nvSpPr>
          <p:cNvPr id="4" name="Shape 2"/>
          <p:cNvSpPr/>
          <p:nvPr/>
        </p:nvSpPr>
        <p:spPr>
          <a:xfrm>
            <a:off x="566928" y="1605344"/>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040731"/>
            <a:ext cx="457200" cy="457200"/>
          </a:xfrm>
          <a:prstGeom prst="ellipse">
            <a:avLst/>
          </a:prstGeom>
          <a:solidFill>
            <a:srgbClr val="13233F"/>
          </a:solidFill>
          <a:ln w="12700">
            <a:solidFill>
              <a:srgbClr val="13233F"/>
            </a:solidFill>
            <a:prstDash val="solid"/>
          </a:ln>
        </p:spPr>
      </p:sp>
      <p:sp>
        <p:nvSpPr>
          <p:cNvPr id="6" name="Text 4"/>
          <p:cNvSpPr/>
          <p:nvPr/>
        </p:nvSpPr>
        <p:spPr>
          <a:xfrm>
            <a:off x="822960" y="2040731"/>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742504"/>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第一编　总论（第1—4课时）</a:t>
            </a:r>
            <a:endParaRPr lang="en-US" sz="1500" dirty="0"/>
          </a:p>
        </p:txBody>
      </p:sp>
      <p:sp>
        <p:nvSpPr>
          <p:cNvPr id="8" name="Text 6"/>
          <p:cNvSpPr/>
          <p:nvPr/>
        </p:nvSpPr>
        <p:spPr>
          <a:xfrm>
            <a:off x="1444752" y="2050352"/>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从三个伦理困境出发，确立角色义务与普通道德的张力；界定法律职业与职业伦理；掌握功利主义、义务论、德性论三种判断框架；梳理五个效力层级的规范渊源。</a:t>
            </a:r>
            <a:endParaRPr lang="en-US" sz="1350" dirty="0"/>
          </a:p>
        </p:txBody>
      </p:sp>
      <p:sp>
        <p:nvSpPr>
          <p:cNvPr id="9" name="Shape 7"/>
          <p:cNvSpPr/>
          <p:nvPr/>
        </p:nvSpPr>
        <p:spPr>
          <a:xfrm>
            <a:off x="566928" y="3061335"/>
            <a:ext cx="5382616" cy="1576578"/>
          </a:xfrm>
          <a:prstGeom prst="roundRect">
            <a:avLst>
              <a:gd name="adj" fmla="val 4640"/>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19849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第二编　法官职业伦理（第5—8课时）</a:t>
            </a:r>
            <a:endParaRPr lang="en-US" sz="1500" dirty="0"/>
          </a:p>
        </p:txBody>
      </p:sp>
      <p:sp>
        <p:nvSpPr>
          <p:cNvPr id="13" name="Text 11"/>
          <p:cNvSpPr/>
          <p:nvPr/>
        </p:nvSpPr>
        <p:spPr>
          <a:xfrm>
            <a:off x="1444752" y="3506343"/>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司法权的六项程序特征与独立性决定法官伦理的内容；五项基本要求为忠诚司法事业、保证司法公正、确保司法廉洁、坚持司法为民、维护司法形象；独立是义务而非特权。</a:t>
            </a:r>
            <a:endParaRPr lang="en-US" sz="1350" dirty="0"/>
          </a:p>
        </p:txBody>
      </p:sp>
      <p:sp>
        <p:nvSpPr>
          <p:cNvPr id="14" name="Shape 12"/>
          <p:cNvSpPr/>
          <p:nvPr/>
        </p:nvSpPr>
        <p:spPr>
          <a:xfrm>
            <a:off x="566928" y="4765929"/>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5201317"/>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20131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90308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第三编　检察官职业伦理（第9—11课时）</a:t>
            </a:r>
            <a:endParaRPr lang="en-US" sz="1500" dirty="0"/>
          </a:p>
        </p:txBody>
      </p:sp>
      <p:sp>
        <p:nvSpPr>
          <p:cNvPr id="18" name="Text 16"/>
          <p:cNvSpPr/>
          <p:nvPr/>
        </p:nvSpPr>
        <p:spPr>
          <a:xfrm>
            <a:off x="1444752" y="5210937"/>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法律监督机关的宪法定位与追诉者兼监督者的双重身份；客观公正义务的八项内容；五项准则为忠诚、为民、担当、公正、廉洁。</a:t>
            </a:r>
            <a:endParaRPr lang="en-US" sz="1350" dirty="0"/>
          </a:p>
        </p:txBody>
      </p:sp>
      <p:sp>
        <p:nvSpPr>
          <p:cNvPr id="19" name="Shape 17"/>
          <p:cNvSpPr/>
          <p:nvPr/>
        </p:nvSpPr>
        <p:spPr>
          <a:xfrm>
            <a:off x="6242152" y="1729645"/>
            <a:ext cx="5382616" cy="1576578"/>
          </a:xfrm>
          <a:prstGeom prst="roundRect">
            <a:avLst>
              <a:gd name="adj" fmla="val 4640"/>
            </a:avLst>
          </a:prstGeom>
          <a:solidFill>
            <a:srgbClr val="FFFFFF"/>
          </a:solidFill>
          <a:ln w="12700">
            <a:solidFill>
              <a:srgbClr val="D5DBE5"/>
            </a:solidFill>
            <a:prstDash val="solid"/>
          </a:ln>
        </p:spPr>
      </p:sp>
      <p:sp>
        <p:nvSpPr>
          <p:cNvPr id="20" name="Shape 18"/>
          <p:cNvSpPr/>
          <p:nvPr/>
        </p:nvSpPr>
        <p:spPr>
          <a:xfrm>
            <a:off x="6498184" y="2289334"/>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第四编　律师职业伦理（第12—21课时）</a:t>
            </a:r>
            <a:endParaRPr lang="en-US" sz="1500" dirty="0"/>
          </a:p>
        </p:txBody>
      </p:sp>
      <p:sp>
        <p:nvSpPr>
          <p:cNvPr id="23" name="Text 21"/>
          <p:cNvSpPr/>
          <p:nvPr/>
        </p:nvSpPr>
        <p:spPr>
          <a:xfrm>
            <a:off x="7119976" y="2174653"/>
            <a:ext cx="4340200" cy="994410"/>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以委托关系的信义性质为原点，展开忠诚、保密、告知、勤勉四项义务；五大支柱为委托关系、保密、利益冲突、收费与财物、争讼伦理；律所治理、行业自律与国家监管相结合。</a:t>
            </a:r>
            <a:endParaRPr lang="en-US" sz="1350" dirty="0"/>
          </a:p>
        </p:txBody>
      </p:sp>
      <p:sp>
        <p:nvSpPr>
          <p:cNvPr id="24" name="Shape 22"/>
          <p:cNvSpPr/>
          <p:nvPr/>
        </p:nvSpPr>
        <p:spPr>
          <a:xfrm>
            <a:off x="6242152" y="3434239"/>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3745325"/>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57139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第五编　其他职业与责任（第22—24课时）</a:t>
            </a:r>
            <a:endParaRPr lang="en-US" sz="1500" dirty="0"/>
          </a:p>
        </p:txBody>
      </p:sp>
      <p:sp>
        <p:nvSpPr>
          <p:cNvPr id="28" name="Text 26"/>
          <p:cNvSpPr/>
          <p:nvPr/>
        </p:nvSpPr>
        <p:spPr>
          <a:xfrm>
            <a:off x="7119976" y="387924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公证员、仲裁员及其他法律职业的伦理；五种责任并存的完整体系；人工智能、法律援助与涉外法治三大前沿。</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贯穿全课程的一条主线</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角色决定义务，义务需要程序来落地。把依赖个人德性的场合，尽量转换为依赖程序的场合——不是不信任人，而是不让人独自面对压力。</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20</a:t>
            </a:r>
            <a:endParaRPr lang="en-US" sz="1100" dirty="0"/>
          </a:p>
        </p:txBody>
      </p:sp>
    </p:spTree>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name="Slide 5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方法论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带走这五件工具，比记住任何一条规则都重要</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如果二十四个课时之后各位只能记住五件事，我希望是这五件。</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一、推导链：权力（角色）的属性 → 行为要求 → 伦理规范。 遇到规范未及的新情形时，回到角色的性质去推导。</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二、三问检查：后果如何？义务为何？有德性的同行会怎么做？ 再加一道“头版测试”——这个决定登上报纸头版，我敢不敢承认？</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三、外观标准：不问“我是否偏袒”，而问“理性的旁观者会不会合理地怀疑我”。 它同时适用于回避、单方接触、利益冲突与仲裁披露。</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四、边界口诀：“合法权益”划定忠诚的边界；消极不作为与积极造假是保密、真实与辩护的共同分界线。</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五、程序思维：书面、留痕、复核、前置审查、对方在场测试。 把个人判断转化为制度程序，是保护当事人，也是保护你自己。</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21</a:t>
            </a:r>
            <a:endParaRPr lang="en-US" sz="1100" dirty="0"/>
          </a:p>
        </p:txBody>
      </p:sp>
    </p:spTree>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name="Slide 546">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法律人的技艺可以习得，法律人的良知必须守护。你们将来所拥有的一切专业能力，最终都要由一个问题来决定其价值——你打算把它用在哪一边。</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本课程结语</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愿各位在往后的每一个两难时刻，都还记得今天课堂上想清楚过的道理</a:t>
            </a:r>
            <a:endParaRPr lang="en-US" sz="1300" dirty="0"/>
          </a:p>
        </p:txBody>
      </p:sp>
    </p:spTree>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name="Slide 5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期末研讨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总结性思考题</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回到第1课时的三个困境（平静湖藏尸案、检察官发现有利证据、法官面对表兄请托）。请用本课程学到的完整规范体系，重新给出你的答案，并与你在第1课时的直觉判断作对比。</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本课程反复出现一个论证模式：“规则规制的是风险而非实际损害”（外观中立、利益冲突、单方接触）。请评价这一模式的正当性与代价，并讨论它是否可能被滥用。</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有人认为，职业伦理规范越细密，法律人的自主判断空间越小，最终会培养出只会查条文的技术官僚。你是否同意？规则与德性应当如何配比？</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假设你毕业后成为一名律师、法官或者检察官。请写下一条你要为自己设定的、比规范要求更高的执业准则，并说明你为什么选择它。</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第24课时 · 23</a:t>
            </a:r>
            <a:endParaRPr lang="en-US" sz="1100" dirty="0"/>
          </a:p>
        </p:txBody>
      </p:sp>
    </p:spTree>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name="Slide 548">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课程结束</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第24课时要点与全课程收束</a:t>
            </a:r>
            <a:endParaRPr lang="en-US" sz="3000" dirty="0"/>
          </a:p>
        </p:txBody>
      </p:sp>
      <p:sp>
        <p:nvSpPr>
          <p:cNvPr id="4" name="Shape 2"/>
          <p:cNvSpPr/>
          <p:nvPr/>
        </p:nvSpPr>
        <p:spPr>
          <a:xfrm>
            <a:off x="566928" y="1591056"/>
            <a:ext cx="11057839" cy="799370"/>
          </a:xfrm>
          <a:prstGeom prst="roundRect">
            <a:avLst>
              <a:gd name="adj" fmla="val 9151"/>
            </a:avLst>
          </a:prstGeom>
          <a:solidFill>
            <a:srgbClr val="25395F"/>
          </a:solidFill>
          <a:ln w="12700">
            <a:solidFill>
              <a:srgbClr val="25395F"/>
            </a:solidFill>
            <a:prstDash val="solid"/>
          </a:ln>
        </p:spPr>
      </p:sp>
      <p:sp>
        <p:nvSpPr>
          <p:cNvPr id="5" name="Shape 3"/>
          <p:cNvSpPr/>
          <p:nvPr/>
        </p:nvSpPr>
        <p:spPr>
          <a:xfrm>
            <a:off x="859536" y="178957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10274"/>
            <a:ext cx="160934" cy="160934"/>
          </a:xfrm>
          <a:prstGeom prst="rect">
            <a:avLst/>
          </a:prstGeom>
        </p:spPr>
      </p:pic>
      <p:sp>
        <p:nvSpPr>
          <p:cNvPr id="7" name="Text 4"/>
          <p:cNvSpPr/>
          <p:nvPr/>
        </p:nvSpPr>
        <p:spPr>
          <a:xfrm>
            <a:off x="1444752" y="175261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人工智能带来五项伦理义务：保密（输入即披露）、核实（拦截幻觉）、胜任（不懂不用）、告知与收费诚信、责任不可转移。工具改变效率，不改变责任归属。</a:t>
            </a:r>
            <a:endParaRPr lang="en-US" sz="1250" dirty="0"/>
          </a:p>
        </p:txBody>
      </p:sp>
      <p:sp>
        <p:nvSpPr>
          <p:cNvPr id="8" name="Shape 5"/>
          <p:cNvSpPr/>
          <p:nvPr/>
        </p:nvSpPr>
        <p:spPr>
          <a:xfrm>
            <a:off x="566928" y="2527586"/>
            <a:ext cx="11057839" cy="799370"/>
          </a:xfrm>
          <a:prstGeom prst="roundRect">
            <a:avLst>
              <a:gd name="adj" fmla="val 9151"/>
            </a:avLst>
          </a:prstGeom>
          <a:solidFill>
            <a:srgbClr val="25395F"/>
          </a:solidFill>
          <a:ln w="12700">
            <a:solidFill>
              <a:srgbClr val="25395F"/>
            </a:solidFill>
            <a:prstDash val="solid"/>
          </a:ln>
        </p:spPr>
      </p:sp>
      <p:sp>
        <p:nvSpPr>
          <p:cNvPr id="9" name="Shape 6"/>
          <p:cNvSpPr/>
          <p:nvPr/>
        </p:nvSpPr>
        <p:spPr>
          <a:xfrm>
            <a:off x="859536" y="2726103"/>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846803"/>
            <a:ext cx="160934" cy="160934"/>
          </a:xfrm>
          <a:prstGeom prst="rect">
            <a:avLst/>
          </a:prstGeom>
        </p:spPr>
      </p:pic>
      <p:sp>
        <p:nvSpPr>
          <p:cNvPr id="11" name="Text 7"/>
          <p:cNvSpPr/>
          <p:nvPr/>
        </p:nvSpPr>
        <p:spPr>
          <a:xfrm>
            <a:off x="1444752" y="2689146"/>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《法律援助法》（2022年1月1日施行）确立法律援助是国家的责任、律师的法定义务；受援人是权利主体；援助案件的服务标准与收费案件相同。</a:t>
            </a:r>
            <a:endParaRPr lang="en-US" sz="1250" dirty="0"/>
          </a:p>
        </p:txBody>
      </p:sp>
      <p:sp>
        <p:nvSpPr>
          <p:cNvPr id="12" name="Shape 8"/>
          <p:cNvSpPr/>
          <p:nvPr/>
        </p:nvSpPr>
        <p:spPr>
          <a:xfrm>
            <a:off x="566928" y="3464116"/>
            <a:ext cx="11057839" cy="569182"/>
          </a:xfrm>
          <a:prstGeom prst="roundRect">
            <a:avLst>
              <a:gd name="adj" fmla="val 12852"/>
            </a:avLst>
          </a:prstGeom>
          <a:solidFill>
            <a:srgbClr val="25395F"/>
          </a:solidFill>
          <a:ln w="12700">
            <a:solidFill>
              <a:srgbClr val="25395F"/>
            </a:solidFill>
            <a:prstDash val="solid"/>
          </a:ln>
        </p:spPr>
      </p:sp>
      <p:sp>
        <p:nvSpPr>
          <p:cNvPr id="13" name="Shape 9"/>
          <p:cNvSpPr/>
          <p:nvPr/>
        </p:nvSpPr>
        <p:spPr>
          <a:xfrm>
            <a:off x="859536" y="3547539"/>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68239"/>
            <a:ext cx="160934" cy="160934"/>
          </a:xfrm>
          <a:prstGeom prst="rect">
            <a:avLst/>
          </a:prstGeom>
        </p:spPr>
      </p:pic>
      <p:sp>
        <p:nvSpPr>
          <p:cNvPr id="15" name="Text 10"/>
          <p:cNvSpPr/>
          <p:nvPr/>
        </p:nvSpPr>
        <p:spPr>
          <a:xfrm>
            <a:off x="1444752" y="3629644"/>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跨境执业的四类冲突：保密与证据开示、反洗钱与法律职业特权、执业资格与业务范围、制裁合规与利益冲突。均须同时审查中外两套规则。</a:t>
            </a:r>
            <a:endParaRPr lang="en-US" sz="1250" dirty="0"/>
          </a:p>
        </p:txBody>
      </p:sp>
      <p:sp>
        <p:nvSpPr>
          <p:cNvPr id="16" name="Shape 11"/>
          <p:cNvSpPr/>
          <p:nvPr/>
        </p:nvSpPr>
        <p:spPr>
          <a:xfrm>
            <a:off x="566928" y="4170458"/>
            <a:ext cx="11057839" cy="799370"/>
          </a:xfrm>
          <a:prstGeom prst="roundRect">
            <a:avLst>
              <a:gd name="adj" fmla="val 9151"/>
            </a:avLst>
          </a:prstGeom>
          <a:solidFill>
            <a:srgbClr val="25395F"/>
          </a:solidFill>
          <a:ln w="12700">
            <a:solidFill>
              <a:srgbClr val="25395F"/>
            </a:solidFill>
            <a:prstDash val="solid"/>
          </a:ln>
        </p:spPr>
      </p:sp>
      <p:sp>
        <p:nvSpPr>
          <p:cNvPr id="17" name="Shape 12"/>
          <p:cNvSpPr/>
          <p:nvPr/>
        </p:nvSpPr>
        <p:spPr>
          <a:xfrm>
            <a:off x="859536" y="4368975"/>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489675"/>
            <a:ext cx="160934" cy="160934"/>
          </a:xfrm>
          <a:prstGeom prst="rect">
            <a:avLst/>
          </a:prstGeom>
        </p:spPr>
      </p:pic>
      <p:sp>
        <p:nvSpPr>
          <p:cNvPr id="19" name="Text 13"/>
          <p:cNvSpPr/>
          <p:nvPr/>
        </p:nvSpPr>
        <p:spPr>
          <a:xfrm>
            <a:off x="1444752" y="4332018"/>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新型执业形态（自媒体、互联网平台、法律科技）带来新问题，但适用的是旧原理：委托须回到律所、费用须入所账、不得与非律师分享律师费、不得承诺结果。</a:t>
            </a:r>
            <a:endParaRPr lang="en-US" sz="1250" dirty="0"/>
          </a:p>
        </p:txBody>
      </p:sp>
      <p:sp>
        <p:nvSpPr>
          <p:cNvPr id="20" name="Shape 14"/>
          <p:cNvSpPr/>
          <p:nvPr/>
        </p:nvSpPr>
        <p:spPr>
          <a:xfrm>
            <a:off x="566928" y="5106988"/>
            <a:ext cx="11057839" cy="569182"/>
          </a:xfrm>
          <a:prstGeom prst="roundRect">
            <a:avLst>
              <a:gd name="adj" fmla="val 12852"/>
            </a:avLst>
          </a:prstGeom>
          <a:solidFill>
            <a:srgbClr val="25395F"/>
          </a:solidFill>
          <a:ln w="12700">
            <a:solidFill>
              <a:srgbClr val="25395F"/>
            </a:solidFill>
            <a:prstDash val="solid"/>
          </a:ln>
        </p:spPr>
      </p:sp>
      <p:sp>
        <p:nvSpPr>
          <p:cNvPr id="21" name="Shape 15"/>
          <p:cNvSpPr/>
          <p:nvPr/>
        </p:nvSpPr>
        <p:spPr>
          <a:xfrm>
            <a:off x="859536" y="5190411"/>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311111"/>
            <a:ext cx="160934" cy="160934"/>
          </a:xfrm>
          <a:prstGeom prst="rect">
            <a:avLst/>
          </a:prstGeom>
        </p:spPr>
      </p:pic>
      <p:sp>
        <p:nvSpPr>
          <p:cNvPr id="23" name="Text 16"/>
          <p:cNvSpPr/>
          <p:nvPr/>
        </p:nvSpPr>
        <p:spPr>
          <a:xfrm>
            <a:off x="1444752" y="527251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全课程五编二十四课时的一条主线：角色决定义务，义务需要程序来落地。把依赖个人德性的场合，尽量转换为依赖程序的场合。</a:t>
            </a:r>
            <a:endParaRPr lang="en-US" sz="1250" dirty="0"/>
          </a:p>
        </p:txBody>
      </p:sp>
      <p:sp>
        <p:nvSpPr>
          <p:cNvPr id="24" name="Shape 17"/>
          <p:cNvSpPr/>
          <p:nvPr/>
        </p:nvSpPr>
        <p:spPr>
          <a:xfrm>
            <a:off x="566928" y="5813330"/>
            <a:ext cx="11057839" cy="569182"/>
          </a:xfrm>
          <a:prstGeom prst="roundRect">
            <a:avLst>
              <a:gd name="adj" fmla="val 12852"/>
            </a:avLst>
          </a:prstGeom>
          <a:solidFill>
            <a:srgbClr val="25395F"/>
          </a:solidFill>
          <a:ln w="12700">
            <a:solidFill>
              <a:srgbClr val="25395F"/>
            </a:solidFill>
            <a:prstDash val="solid"/>
          </a:ln>
        </p:spPr>
      </p:sp>
      <p:sp>
        <p:nvSpPr>
          <p:cNvPr id="25" name="Shape 18"/>
          <p:cNvSpPr/>
          <p:nvPr/>
        </p:nvSpPr>
        <p:spPr>
          <a:xfrm>
            <a:off x="859536" y="5896753"/>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6017454"/>
            <a:ext cx="160934" cy="160934"/>
          </a:xfrm>
          <a:prstGeom prst="rect">
            <a:avLst/>
          </a:prstGeom>
        </p:spPr>
      </p:pic>
      <p:sp>
        <p:nvSpPr>
          <p:cNvPr id="27" name="Text 19"/>
          <p:cNvSpPr/>
          <p:nvPr/>
        </p:nvSpPr>
        <p:spPr>
          <a:xfrm>
            <a:off x="1444752" y="597885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带走五件工具：推导链、三问检查与头版测试、外观标准、边界口诀、程序思维。规则会变，方法长存。</a:t>
            </a:r>
            <a:endParaRPr lang="en-US" sz="1250" dirty="0"/>
          </a:p>
        </p:txBody>
      </p:sp>
    </p:spTree>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name="Slide 549">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3626968" y="640080"/>
            <a:ext cx="4937760" cy="4937760"/>
          </a:xfrm>
          <a:prstGeom prst="ellipse">
            <a:avLst/>
          </a:prstGeom>
          <a:solidFill>
            <a:srgbClr val="13233F"/>
          </a:solidFill>
          <a:ln w="12700">
            <a:solidFill>
              <a:srgbClr val="B08D57">
                <a:alpha val="12000"/>
              </a:srgbClr>
            </a:solidFill>
            <a:prstDash val="solid"/>
          </a:ln>
        </p:spPr>
      </p:sp>
      <p:sp>
        <p:nvSpPr>
          <p:cNvPr id="3" name="Shape 1"/>
          <p:cNvSpPr/>
          <p:nvPr/>
        </p:nvSpPr>
        <p:spPr>
          <a:xfrm>
            <a:off x="4358488" y="1371600"/>
            <a:ext cx="3474720" cy="3474720"/>
          </a:xfrm>
          <a:prstGeom prst="ellipse">
            <a:avLst/>
          </a:prstGeom>
          <a:solidFill>
            <a:srgbClr val="13233F"/>
          </a:solidFill>
          <a:ln w="12700">
            <a:solidFill>
              <a:srgbClr val="B08D57">
                <a:alpha val="20000"/>
              </a:srgbClr>
            </a:solidFill>
            <a:prstDash val="solid"/>
          </a:ln>
        </p:spPr>
      </p:sp>
      <p:pic>
        <p:nvPicPr>
          <p:cNvPr id="4" name="Image 0" descr="preencoded.png">    </p:cNvPr>
          <p:cNvPicPr>
            <a:picLocks noChangeAspect="1"/>
          </p:cNvPicPr>
          <p:nvPr/>
        </p:nvPicPr>
        <p:blipFill>
          <a:blip r:embed="rId1"/>
          <a:stretch>
            <a:fillRect/>
          </a:stretch>
        </p:blipFill>
        <p:spPr>
          <a:xfrm>
            <a:off x="5410048" y="1481328"/>
            <a:ext cx="1371600" cy="1371600"/>
          </a:xfrm>
          <a:prstGeom prst="rect">
            <a:avLst/>
          </a:prstGeom>
        </p:spPr>
      </p:pic>
      <p:sp>
        <p:nvSpPr>
          <p:cNvPr id="5" name="Text 2"/>
          <p:cNvSpPr/>
          <p:nvPr/>
        </p:nvSpPr>
        <p:spPr>
          <a:xfrm>
            <a:off x="566928" y="3163824"/>
            <a:ext cx="11057839" cy="822960"/>
          </a:xfrm>
          <a:prstGeom prst="rect">
            <a:avLst/>
          </a:prstGeom>
          <a:noFill/>
          <a:ln/>
        </p:spPr>
        <p:txBody>
          <a:bodyPr wrap="square" lIns="0" tIns="0" rIns="0" bIns="0" rtlCol="0" anchor="ctr"/>
          <a:lstStyle/>
          <a:p>
            <a:pPr algn="ctr" indent="0" marL="0">
              <a:buNone/>
            </a:pPr>
            <a:r>
              <a:rPr lang="en-US" sz="4000" b="1" spc="200" kern="0" dirty="0">
                <a:solidFill>
                  <a:srgbClr val="FFFFFF"/>
                </a:solidFill>
                <a:latin typeface="微软雅黑" pitchFamily="34" charset="0"/>
                <a:ea typeface="微软雅黑" pitchFamily="34" charset="-122"/>
                <a:cs typeface="微软雅黑" pitchFamily="34" charset="-120"/>
              </a:rPr>
              <a:t>谢谢各位同学！</a:t>
            </a:r>
            <a:endParaRPr lang="en-US" sz="4000" dirty="0"/>
          </a:p>
        </p:txBody>
      </p:sp>
      <p:sp>
        <p:nvSpPr>
          <p:cNvPr id="6" name="Text 3"/>
          <p:cNvSpPr/>
          <p:nvPr/>
        </p:nvSpPr>
        <p:spPr>
          <a:xfrm>
            <a:off x="566928" y="4059936"/>
            <a:ext cx="11057839" cy="457200"/>
          </a:xfrm>
          <a:prstGeom prst="rect">
            <a:avLst/>
          </a:prstGeom>
          <a:noFill/>
          <a:ln/>
        </p:spPr>
        <p:txBody>
          <a:bodyPr wrap="square" lIns="0" tIns="0" rIns="0" bIns="0" rtlCol="0" anchor="ctr"/>
          <a:lstStyle/>
          <a:p>
            <a:pPr algn="ctr" indent="0" marL="0">
              <a:buNone/>
            </a:pPr>
            <a:r>
              <a:rPr lang="en-US" sz="1700" dirty="0">
                <a:solidFill>
                  <a:srgbClr val="D9C29B"/>
                </a:solidFill>
                <a:latin typeface="微软雅黑" pitchFamily="34" charset="0"/>
                <a:ea typeface="微软雅黑" pitchFamily="34" charset="-122"/>
                <a:cs typeface="微软雅黑" pitchFamily="34" charset="-120"/>
              </a:rPr>
              <a:t>法律人的技艺可以习得，法律人的良知必须守护。</a:t>
            </a:r>
            <a:endParaRPr lang="en-US" sz="1700" dirty="0"/>
          </a:p>
        </p:txBody>
      </p:sp>
      <p:sp>
        <p:nvSpPr>
          <p:cNvPr id="7" name="Text 4"/>
          <p:cNvSpPr/>
          <p:nvPr/>
        </p:nvSpPr>
        <p:spPr>
          <a:xfrm>
            <a:off x="566928" y="4846320"/>
            <a:ext cx="11057839" cy="640080"/>
          </a:xfrm>
          <a:prstGeom prst="rect">
            <a:avLst/>
          </a:prstGeom>
          <a:noFill/>
          <a:ln/>
        </p:spPr>
        <p:txBody>
          <a:bodyPr wrap="square" lIns="0" tIns="0" rIns="0" bIns="0" rtlCol="0" anchor="ctr"/>
          <a:lstStyle/>
          <a:p>
            <a:pPr algn="ctr" indent="0" marL="0">
              <a:lnSpc>
                <a:spcPts val="2100"/>
              </a:lnSpc>
              <a:buNone/>
            </a:pPr>
            <a:r>
              <a:rPr lang="en-US" sz="1300" dirty="0">
                <a:solidFill>
                  <a:srgbClr val="6B7684"/>
                </a:solidFill>
                <a:latin typeface="微软雅黑" pitchFamily="34" charset="0"/>
                <a:ea typeface="微软雅黑" pitchFamily="34" charset="-122"/>
                <a:cs typeface="微软雅黑" pitchFamily="34" charset="-120"/>
              </a:rPr>
              <a:t>《法律职业伦理》· 24课时　|　主讲：王晓淑</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549</Slides>
  <Notes>549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549</vt:i4>
      </vt:variant>
    </vt:vector>
  </HeadingPairs>
  <TitlesOfParts>
    <vt:vector size="5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Slide 316</vt:lpstr>
      <vt:lpstr>Slide 317</vt:lpstr>
      <vt:lpstr>Slide 318</vt:lpstr>
      <vt:lpstr>Slide 319</vt:lpstr>
      <vt:lpstr>Slide 320</vt:lpstr>
      <vt:lpstr>Slide 321</vt:lpstr>
      <vt:lpstr>Slide 322</vt:lpstr>
      <vt:lpstr>Slide 323</vt:lpstr>
      <vt:lpstr>Slide 324</vt:lpstr>
      <vt:lpstr>Slide 325</vt:lpstr>
      <vt:lpstr>Slide 326</vt:lpstr>
      <vt:lpstr>Slide 327</vt:lpstr>
      <vt:lpstr>Slide 328</vt:lpstr>
      <vt:lpstr>Slide 329</vt:lpstr>
      <vt:lpstr>Slide 330</vt:lpstr>
      <vt:lpstr>Slide 331</vt:lpstr>
      <vt:lpstr>Slide 332</vt:lpstr>
      <vt:lpstr>Slide 333</vt:lpstr>
      <vt:lpstr>Slide 334</vt:lpstr>
      <vt:lpstr>Slide 335</vt:lpstr>
      <vt:lpstr>Slide 336</vt:lpstr>
      <vt:lpstr>Slide 337</vt:lpstr>
      <vt:lpstr>Slide 338</vt:lpstr>
      <vt:lpstr>Slide 339</vt:lpstr>
      <vt:lpstr>Slide 340</vt:lpstr>
      <vt:lpstr>Slide 341</vt:lpstr>
      <vt:lpstr>Slide 342</vt:lpstr>
      <vt:lpstr>Slide 343</vt:lpstr>
      <vt:lpstr>Slide 344</vt:lpstr>
      <vt:lpstr>Slide 345</vt:lpstr>
      <vt:lpstr>Slide 346</vt:lpstr>
      <vt:lpstr>Slide 347</vt:lpstr>
      <vt:lpstr>Slide 348</vt:lpstr>
      <vt:lpstr>Slide 349</vt:lpstr>
      <vt:lpstr>Slide 350</vt:lpstr>
      <vt:lpstr>Slide 351</vt:lpstr>
      <vt:lpstr>Slide 352</vt:lpstr>
      <vt:lpstr>Slide 353</vt:lpstr>
      <vt:lpstr>Slide 354</vt:lpstr>
      <vt:lpstr>Slide 355</vt:lpstr>
      <vt:lpstr>Slide 356</vt:lpstr>
      <vt:lpstr>Slide 357</vt:lpstr>
      <vt:lpstr>Slide 358</vt:lpstr>
      <vt:lpstr>Slide 359</vt:lpstr>
      <vt:lpstr>Slide 360</vt:lpstr>
      <vt:lpstr>Slide 361</vt:lpstr>
      <vt:lpstr>Slide 362</vt:lpstr>
      <vt:lpstr>Slide 363</vt:lpstr>
      <vt:lpstr>Slide 364</vt:lpstr>
      <vt:lpstr>Slide 365</vt:lpstr>
      <vt:lpstr>Slide 366</vt:lpstr>
      <vt:lpstr>Slide 367</vt:lpstr>
      <vt:lpstr>Slide 368</vt:lpstr>
      <vt:lpstr>Slide 369</vt:lpstr>
      <vt:lpstr>Slide 370</vt:lpstr>
      <vt:lpstr>Slide 371</vt:lpstr>
      <vt:lpstr>Slide 372</vt:lpstr>
      <vt:lpstr>Slide 373</vt:lpstr>
      <vt:lpstr>Slide 374</vt:lpstr>
      <vt:lpstr>Slide 375</vt:lpstr>
      <vt:lpstr>Slide 376</vt:lpstr>
      <vt:lpstr>Slide 377</vt:lpstr>
      <vt:lpstr>Slide 378</vt:lpstr>
      <vt:lpstr>Slide 379</vt:lpstr>
      <vt:lpstr>Slide 380</vt:lpstr>
      <vt:lpstr>Slide 381</vt:lpstr>
      <vt:lpstr>Slide 382</vt:lpstr>
      <vt:lpstr>Slide 383</vt:lpstr>
      <vt:lpstr>Slide 384</vt:lpstr>
      <vt:lpstr>Slide 385</vt:lpstr>
      <vt:lpstr>Slide 386</vt:lpstr>
      <vt:lpstr>Slide 387</vt:lpstr>
      <vt:lpstr>Slide 388</vt:lpstr>
      <vt:lpstr>Slide 389</vt:lpstr>
      <vt:lpstr>Slide 390</vt:lpstr>
      <vt:lpstr>Slide 391</vt:lpstr>
      <vt:lpstr>Slide 392</vt:lpstr>
      <vt:lpstr>Slide 393</vt:lpstr>
      <vt:lpstr>Slide 394</vt:lpstr>
      <vt:lpstr>Slide 395</vt:lpstr>
      <vt:lpstr>Slide 396</vt:lpstr>
      <vt:lpstr>Slide 397</vt:lpstr>
      <vt:lpstr>Slide 398</vt:lpstr>
      <vt:lpstr>Slide 399</vt:lpstr>
      <vt:lpstr>Slide 400</vt:lpstr>
      <vt:lpstr>Slide 401</vt:lpstr>
      <vt:lpstr>Slide 402</vt:lpstr>
      <vt:lpstr>Slide 403</vt:lpstr>
      <vt:lpstr>Slide 404</vt:lpstr>
      <vt:lpstr>Slide 405</vt:lpstr>
      <vt:lpstr>Slide 406</vt:lpstr>
      <vt:lpstr>Slide 407</vt:lpstr>
      <vt:lpstr>Slide 408</vt:lpstr>
      <vt:lpstr>Slide 409</vt:lpstr>
      <vt:lpstr>Slide 410</vt:lpstr>
      <vt:lpstr>Slide 411</vt:lpstr>
      <vt:lpstr>Slide 412</vt:lpstr>
      <vt:lpstr>Slide 413</vt:lpstr>
      <vt:lpstr>Slide 414</vt:lpstr>
      <vt:lpstr>Slide 415</vt:lpstr>
      <vt:lpstr>Slide 416</vt:lpstr>
      <vt:lpstr>Slide 417</vt:lpstr>
      <vt:lpstr>Slide 418</vt:lpstr>
      <vt:lpstr>Slide 419</vt:lpstr>
      <vt:lpstr>Slide 420</vt:lpstr>
      <vt:lpstr>Slide 421</vt:lpstr>
      <vt:lpstr>Slide 422</vt:lpstr>
      <vt:lpstr>Slide 423</vt:lpstr>
      <vt:lpstr>Slide 424</vt:lpstr>
      <vt:lpstr>Slide 425</vt:lpstr>
      <vt:lpstr>Slide 426</vt:lpstr>
      <vt:lpstr>Slide 427</vt:lpstr>
      <vt:lpstr>Slide 428</vt:lpstr>
      <vt:lpstr>Slide 429</vt:lpstr>
      <vt:lpstr>Slide 430</vt:lpstr>
      <vt:lpstr>Slide 431</vt:lpstr>
      <vt:lpstr>Slide 432</vt:lpstr>
      <vt:lpstr>Slide 433</vt:lpstr>
      <vt:lpstr>Slide 434</vt:lpstr>
      <vt:lpstr>Slide 435</vt:lpstr>
      <vt:lpstr>Slide 436</vt:lpstr>
      <vt:lpstr>Slide 437</vt:lpstr>
      <vt:lpstr>Slide 438</vt:lpstr>
      <vt:lpstr>Slide 439</vt:lpstr>
      <vt:lpstr>Slide 440</vt:lpstr>
      <vt:lpstr>Slide 441</vt:lpstr>
      <vt:lpstr>Slide 442</vt:lpstr>
      <vt:lpstr>Slide 443</vt:lpstr>
      <vt:lpstr>Slide 444</vt:lpstr>
      <vt:lpstr>Slide 445</vt:lpstr>
      <vt:lpstr>Slide 446</vt:lpstr>
      <vt:lpstr>Slide 447</vt:lpstr>
      <vt:lpstr>Slide 448</vt:lpstr>
      <vt:lpstr>Slide 449</vt:lpstr>
      <vt:lpstr>Slide 450</vt:lpstr>
      <vt:lpstr>Slide 451</vt:lpstr>
      <vt:lpstr>Slide 452</vt:lpstr>
      <vt:lpstr>Slide 453</vt:lpstr>
      <vt:lpstr>Slide 454</vt:lpstr>
      <vt:lpstr>Slide 455</vt:lpstr>
      <vt:lpstr>Slide 456</vt:lpstr>
      <vt:lpstr>Slide 457</vt:lpstr>
      <vt:lpstr>Slide 458</vt:lpstr>
      <vt:lpstr>Slide 459</vt:lpstr>
      <vt:lpstr>Slide 460</vt:lpstr>
      <vt:lpstr>Slide 461</vt:lpstr>
      <vt:lpstr>Slide 462</vt:lpstr>
      <vt:lpstr>Slide 463</vt:lpstr>
      <vt:lpstr>Slide 464</vt:lpstr>
      <vt:lpstr>Slide 465</vt:lpstr>
      <vt:lpstr>Slide 466</vt:lpstr>
      <vt:lpstr>Slide 467</vt:lpstr>
      <vt:lpstr>Slide 468</vt:lpstr>
      <vt:lpstr>Slide 469</vt:lpstr>
      <vt:lpstr>Slide 470</vt:lpstr>
      <vt:lpstr>Slide 471</vt:lpstr>
      <vt:lpstr>Slide 472</vt:lpstr>
      <vt:lpstr>Slide 473</vt:lpstr>
      <vt:lpstr>Slide 474</vt:lpstr>
      <vt:lpstr>Slide 475</vt:lpstr>
      <vt:lpstr>Slide 476</vt:lpstr>
      <vt:lpstr>Slide 477</vt:lpstr>
      <vt:lpstr>Slide 478</vt:lpstr>
      <vt:lpstr>Slide 479</vt:lpstr>
      <vt:lpstr>Slide 480</vt:lpstr>
      <vt:lpstr>Slide 481</vt:lpstr>
      <vt:lpstr>Slide 482</vt:lpstr>
      <vt:lpstr>Slide 483</vt:lpstr>
      <vt:lpstr>Slide 484</vt:lpstr>
      <vt:lpstr>Slide 485</vt:lpstr>
      <vt:lpstr>Slide 486</vt:lpstr>
      <vt:lpstr>Slide 487</vt:lpstr>
      <vt:lpstr>Slide 488</vt:lpstr>
      <vt:lpstr>Slide 489</vt:lpstr>
      <vt:lpstr>Slide 490</vt:lpstr>
      <vt:lpstr>Slide 491</vt:lpstr>
      <vt:lpstr>Slide 492</vt:lpstr>
      <vt:lpstr>Slide 493</vt:lpstr>
      <vt:lpstr>Slide 494</vt:lpstr>
      <vt:lpstr>Slide 495</vt:lpstr>
      <vt:lpstr>Slide 496</vt:lpstr>
      <vt:lpstr>Slide 497</vt:lpstr>
      <vt:lpstr>Slide 498</vt:lpstr>
      <vt:lpstr>Slide 499</vt:lpstr>
      <vt:lpstr>Slide 500</vt:lpstr>
      <vt:lpstr>Slide 501</vt:lpstr>
      <vt:lpstr>Slide 502</vt:lpstr>
      <vt:lpstr>Slide 503</vt:lpstr>
      <vt:lpstr>Slide 504</vt:lpstr>
      <vt:lpstr>Slide 505</vt:lpstr>
      <vt:lpstr>Slide 506</vt:lpstr>
      <vt:lpstr>Slide 507</vt:lpstr>
      <vt:lpstr>Slide 508</vt:lpstr>
      <vt:lpstr>Slide 509</vt:lpstr>
      <vt:lpstr>Slide 510</vt:lpstr>
      <vt:lpstr>Slide 511</vt:lpstr>
      <vt:lpstr>Slide 512</vt:lpstr>
      <vt:lpstr>Slide 513</vt:lpstr>
      <vt:lpstr>Slide 514</vt:lpstr>
      <vt:lpstr>Slide 515</vt:lpstr>
      <vt:lpstr>Slide 516</vt:lpstr>
      <vt:lpstr>Slide 517</vt:lpstr>
      <vt:lpstr>Slide 518</vt:lpstr>
      <vt:lpstr>Slide 519</vt:lpstr>
      <vt:lpstr>Slide 520</vt:lpstr>
      <vt:lpstr>Slide 521</vt:lpstr>
      <vt:lpstr>Slide 522</vt:lpstr>
      <vt:lpstr>Slide 523</vt:lpstr>
      <vt:lpstr>Slide 524</vt:lpstr>
      <vt:lpstr>Slide 525</vt:lpstr>
      <vt:lpstr>Slide 526</vt:lpstr>
      <vt:lpstr>Slide 527</vt:lpstr>
      <vt:lpstr>Slide 528</vt:lpstr>
      <vt:lpstr>Slide 529</vt:lpstr>
      <vt:lpstr>Slide 530</vt:lpstr>
      <vt:lpstr>Slide 531</vt:lpstr>
      <vt:lpstr>Slide 532</vt:lpstr>
      <vt:lpstr>Slide 533</vt:lpstr>
      <vt:lpstr>Slide 534</vt:lpstr>
      <vt:lpstr>Slide 535</vt:lpstr>
      <vt:lpstr>Slide 536</vt:lpstr>
      <vt:lpstr>Slide 537</vt:lpstr>
      <vt:lpstr>Slide 538</vt:lpstr>
      <vt:lpstr>Slide 539</vt:lpstr>
      <vt:lpstr>Slide 540</vt:lpstr>
      <vt:lpstr>Slide 541</vt:lpstr>
      <vt:lpstr>Slide 542</vt:lpstr>
      <vt:lpstr>Slide 543</vt:lpstr>
      <vt:lpstr>Slide 544</vt:lpstr>
      <vt:lpstr>Slide 545</vt:lpstr>
      <vt:lpstr>Slide 546</vt:lpstr>
      <vt:lpstr>Slide 547</vt:lpstr>
      <vt:lpstr>Slide 548</vt:lpstr>
      <vt:lpstr>Slide 549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2026-08-25T09:54:30Z</dcterms:created>
  <dcterms:modified xsi:type="dcterms:W3CDTF">2026-08-25T09:54:30Z</dcterms:modified>
</cp:coreProperties>
</file>