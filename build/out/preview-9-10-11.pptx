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Lst>
  <p:notesMasterIdLst>
    <p:notesMasterId r:id="rId6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notesMaster" Target="notesMasters/notesMaster1.xml"/><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注意“法律监督机关”这一定位的独特性：在英美法系，检察官主要是政府的公诉代理人；在大陆法系，检察官是“法律的守护人”但主要活动于刑事领域。而我国检察机关的法律监督职能覆盖刑事、民事、行政、公益诉讼四大领域，其广度为世界所少有。这一定位是理解我国检察官职业伦理的起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是我国法上客观公正义务最直接、最集中的表达，也是2019年修订《检察官法》的重要成果。请注意第二款的两个“要”：既要追诉犯罪（追诉职能），也要保障无罪的人不受刑事追究（保障职能）。这两项并列而非主次，正是检察官双重身份的规范表达。第10课时我们将围绕这一条展开整堂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2016年修订版不分章节，仅五条，凝练地点出忠诚、为民、担当、公正、廉洁五项基本要求。相较2009年试行版的“忠诚、公正、清廉、文明”，新增“为民”与“担当”、删去“文明”。“担当”直接对应“强化法律监督”——它要求检察官敢于监督、善于监督，包括监督同为司法机关的法院与侦查机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注意《刑事诉讼法》第五十二条的三层结构：第一句是全面取证义务（有罪无罪、罪重罪轻并列）；第二句是取证方法的禁止性规定与不得强迫自证其罪；第三句是保障证据来源的义务。这一条同时约束审判人员、检察人员、侦查人员，是我国客观义务在诉讼法上的总条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与《法官法》第十条对照：两条结构完全平行，仅第（二）项表述略有不同（法官法为“依法履行审判职责，秉公办案，不得徇私枉法”）。这种平行结构说明：法官与检察官虽角色不同，但作为司法人员的基本义务是共通的——守法、公正、保障权利、维护公益、保密、接受监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条号对照记忆法：《检察官法》相关条文较《法官法》后移一条——兼职禁止（法官法22 / 检察官法23）、亲属关系任职回避（23 / 24）、近亲属律师任职回避（24 / 25）、离任回避（36 / 37）、处分事由（46 / 47）、惩戒委员会（48 / 49）。差异源于《检察官法》在相应位置多出一条奖励规定。这是法考的高频陷阱。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与《法官法》第四十六条对照：结构完全平行，仅第（一）项由“枉法裁判”改为“枉法办案”、第（五）项由“裁判结果错误”改为“案件错误”——因为检察官的产出不限于裁判。第（四）（五）项同样是司法责任的核心归责标准：故意与重大过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与法官惩戒制度完全同构：“专业审查+组织决定”两分模式；审查范围仅限第（四）（五）项；四档审查意见（故意、重大过失、一般过失、没有违反职责）；检察官代表不少于半数。当事检察官同样享有申请回避、陈述、举证辩解的程序权利，并可对审查意见提出异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1.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slideLayout" Target="../slideLayouts/slideLayout1.xml"/><Relationship Id="rId6"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slideLayout" Target="../slideLayouts/slideLayout1.xml"/><Relationship Id="rId6"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image" Target="../media/image-45-5.png"/><Relationship Id="rId6" Type="http://schemas.openxmlformats.org/officeDocument/2006/relationships/image" Target="../media/image-45-6.png"/><Relationship Id="rId7" Type="http://schemas.openxmlformats.org/officeDocument/2006/relationships/slideLayout" Target="../slideLayouts/slideLayout1.xml"/><Relationship Id="rId8"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slideLayout" Target="../slideLayouts/slideLayout1.xml"/><Relationship Id="rId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image" Target="../media/image-49-5.png"/><Relationship Id="rId6" Type="http://schemas.openxmlformats.org/officeDocument/2006/relationships/slideLayout" Target="../slideLayouts/slideLayout1.xml"/><Relationship Id="rId7"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image" Target="../media/image-53-4.png"/><Relationship Id="rId5" Type="http://schemas.openxmlformats.org/officeDocument/2006/relationships/slideLayout" Target="../slideLayouts/slideLayout1.xml"/><Relationship Id="rId6"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image" Target="../media/image-62-3.png"/><Relationship Id="rId4" Type="http://schemas.openxmlformats.org/officeDocument/2006/relationships/image" Target="../media/image-62-4.png"/><Relationship Id="rId5" Type="http://schemas.openxmlformats.org/officeDocument/2006/relationships/slideLayout" Target="../slideLayouts/slideLayout1.xml"/><Relationship Id="rId6"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image" Target="../media/image-65-3.png"/><Relationship Id="rId4" Type="http://schemas.openxmlformats.org/officeDocument/2006/relationships/image" Target="../media/image-65-4.png"/><Relationship Id="rId5" Type="http://schemas.openxmlformats.org/officeDocument/2006/relationships/image" Target="../media/image-65-5.png"/><Relationship Id="rId6" Type="http://schemas.openxmlformats.org/officeDocument/2006/relationships/image" Target="../media/image-65-6.png"/><Relationship Id="rId7" Type="http://schemas.openxmlformats.org/officeDocument/2006/relationships/slideLayout" Target="../slideLayouts/slideLayout1.xml"/><Relationship Id="rId8" Type="http://schemas.openxmlformats.org/officeDocument/2006/relationships/notesSlide" Target="../notesSlides/notesSlide6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7863840" y="-685800"/>
            <a:ext cx="4206240" cy="4206240"/>
          </a:xfrm>
          <a:prstGeom prst="ellipse">
            <a:avLst/>
          </a:prstGeom>
          <a:solidFill>
            <a:srgbClr val="13233F"/>
          </a:solidFill>
          <a:ln w="12700">
            <a:solidFill>
              <a:srgbClr val="B08D57">
                <a:alpha val="12000"/>
              </a:srgbClr>
            </a:solidFill>
            <a:prstDash val="solid"/>
          </a:ln>
        </p:spPr>
      </p:sp>
      <p:sp>
        <p:nvSpPr>
          <p:cNvPr id="3" name="Shape 1"/>
          <p:cNvSpPr/>
          <p:nvPr/>
        </p:nvSpPr>
        <p:spPr>
          <a:xfrm>
            <a:off x="8503920" y="-45720"/>
            <a:ext cx="2926080" cy="2926080"/>
          </a:xfrm>
          <a:prstGeom prst="ellipse">
            <a:avLst/>
          </a:prstGeom>
          <a:solidFill>
            <a:srgbClr val="13233F"/>
          </a:solidFill>
          <a:ln w="12700">
            <a:solidFill>
              <a:srgbClr val="B08D57">
                <a:alpha val="18000"/>
              </a:srgbClr>
            </a:solidFill>
            <a:prstDash val="solid"/>
          </a:ln>
        </p:spPr>
      </p:sp>
      <p:sp>
        <p:nvSpPr>
          <p:cNvPr id="4" name="Shape 2"/>
          <p:cNvSpPr/>
          <p:nvPr/>
        </p:nvSpPr>
        <p:spPr>
          <a:xfrm>
            <a:off x="9098280" y="548640"/>
            <a:ext cx="1737360" cy="1737360"/>
          </a:xfrm>
          <a:prstGeom prst="ellipse">
            <a:avLst/>
          </a:prstGeom>
          <a:solidFill>
            <a:srgbClr val="13233F"/>
          </a:solidFill>
          <a:ln w="12700">
            <a:solidFill>
              <a:srgbClr val="B08D57">
                <a:alpha val="26000"/>
              </a:srgbClr>
            </a:solidFill>
            <a:prstDash val="solid"/>
          </a:ln>
        </p:spPr>
      </p:sp>
      <p:pic>
        <p:nvPicPr>
          <p:cNvPr id="5" name="Image 0" descr="preencoded.png">    </p:cNvPr>
          <p:cNvPicPr>
            <a:picLocks noChangeAspect="1"/>
          </p:cNvPicPr>
          <p:nvPr/>
        </p:nvPicPr>
        <p:blipFill>
          <a:blip r:embed="rId1"/>
          <a:stretch>
            <a:fillRect/>
          </a:stretch>
        </p:blipFill>
        <p:spPr>
          <a:xfrm>
            <a:off x="9006840" y="457200"/>
            <a:ext cx="1920240" cy="1920240"/>
          </a:xfrm>
          <a:prstGeom prst="rect">
            <a:avLst/>
          </a:prstGeom>
        </p:spPr>
      </p:pic>
      <p:sp>
        <p:nvSpPr>
          <p:cNvPr id="6" name="Text 3"/>
          <p:cNvSpPr/>
          <p:nvPr/>
        </p:nvSpPr>
        <p:spPr>
          <a:xfrm>
            <a:off x="612648" y="1691640"/>
            <a:ext cx="7863840" cy="292608"/>
          </a:xfrm>
          <a:prstGeom prst="rect">
            <a:avLst/>
          </a:prstGeom>
          <a:noFill/>
          <a:ln/>
        </p:spPr>
        <p:txBody>
          <a:bodyPr wrap="square" lIns="0" tIns="0" rIns="0" bIns="0" rtlCol="0" anchor="ctr"/>
          <a:lstStyle/>
          <a:p>
            <a:pPr indent="0" marL="0">
              <a:buNone/>
            </a:pPr>
            <a:r>
              <a:rPr lang="en-US" sz="1500" b="1" spc="300" kern="0" dirty="0">
                <a:solidFill>
                  <a:srgbClr val="D9C29B"/>
                </a:solidFill>
                <a:latin typeface="微软雅黑" pitchFamily="34" charset="0"/>
                <a:ea typeface="微软雅黑" pitchFamily="34" charset="-122"/>
                <a:cs typeface="微软雅黑" pitchFamily="34" charset="-120"/>
              </a:rPr>
              <a:t>法学专业核心必修课</a:t>
            </a:r>
            <a:endParaRPr lang="en-US" sz="1500" dirty="0"/>
          </a:p>
        </p:txBody>
      </p:sp>
      <p:sp>
        <p:nvSpPr>
          <p:cNvPr id="7" name="Text 4"/>
          <p:cNvSpPr/>
          <p:nvPr/>
        </p:nvSpPr>
        <p:spPr>
          <a:xfrm>
            <a:off x="566928" y="2084832"/>
            <a:ext cx="8229600" cy="1371600"/>
          </a:xfrm>
          <a:prstGeom prst="rect">
            <a:avLst/>
          </a:prstGeom>
          <a:noFill/>
          <a:ln/>
        </p:spPr>
        <p:txBody>
          <a:bodyPr wrap="square" lIns="0" tIns="0" rIns="0" bIns="0" rtlCol="0" anchor="t"/>
          <a:lstStyle/>
          <a:p>
            <a:pPr indent="0" marL="0">
              <a:buNone/>
            </a:pPr>
            <a:r>
              <a:rPr lang="en-US" sz="6000" b="1" spc="200" kern="0" dirty="0">
                <a:solidFill>
                  <a:srgbClr val="FFFFFF"/>
                </a:solidFill>
                <a:latin typeface="微软雅黑" pitchFamily="34" charset="0"/>
                <a:ea typeface="微软雅黑" pitchFamily="34" charset="-122"/>
                <a:cs typeface="微软雅黑" pitchFamily="34" charset="-120"/>
              </a:rPr>
              <a:t>法律职业伦理</a:t>
            </a:r>
            <a:endParaRPr lang="en-US" sz="6000" dirty="0"/>
          </a:p>
        </p:txBody>
      </p:sp>
      <p:sp>
        <p:nvSpPr>
          <p:cNvPr id="8" name="Text 5"/>
          <p:cNvSpPr/>
          <p:nvPr/>
        </p:nvSpPr>
        <p:spPr>
          <a:xfrm>
            <a:off x="612648" y="3566160"/>
            <a:ext cx="8229600" cy="457200"/>
          </a:xfrm>
          <a:prstGeom prst="rect">
            <a:avLst/>
          </a:prstGeom>
          <a:noFill/>
          <a:ln/>
        </p:spPr>
        <p:txBody>
          <a:bodyPr wrap="square" lIns="0" tIns="0" rIns="0" bIns="0" rtlCol="0" anchor="ctr"/>
          <a:lstStyle/>
          <a:p>
            <a:pPr indent="0" marL="0">
              <a:buNone/>
            </a:pPr>
            <a:r>
              <a:rPr lang="en-US" sz="1800" dirty="0">
                <a:solidFill>
                  <a:srgbClr val="D9C29B"/>
                </a:solidFill>
                <a:latin typeface="微软雅黑" pitchFamily="34" charset="0"/>
                <a:ea typeface="微软雅黑" pitchFamily="34" charset="-122"/>
                <a:cs typeface="微软雅黑" pitchFamily="34" charset="-120"/>
              </a:rPr>
              <a:t>Legal Profession Ethics ——  法治中国的职业良知</a:t>
            </a:r>
            <a:endParaRPr lang="en-US" sz="1800" dirty="0"/>
          </a:p>
        </p:txBody>
      </p:sp>
      <p:sp>
        <p:nvSpPr>
          <p:cNvPr id="9" name="Shape 6"/>
          <p:cNvSpPr/>
          <p:nvPr/>
        </p:nvSpPr>
        <p:spPr>
          <a:xfrm>
            <a:off x="612648" y="4242816"/>
            <a:ext cx="1229868" cy="420624"/>
          </a:xfrm>
          <a:prstGeom prst="roundRect">
            <a:avLst>
              <a:gd name="adj" fmla="val 50000"/>
            </a:avLst>
          </a:prstGeom>
          <a:solidFill>
            <a:srgbClr val="25395F"/>
          </a:solidFill>
          <a:ln w="12700">
            <a:solidFill>
              <a:srgbClr val="25395F"/>
            </a:solidFill>
            <a:prstDash val="solid"/>
          </a:ln>
        </p:spPr>
      </p:sp>
      <p:sp>
        <p:nvSpPr>
          <p:cNvPr id="10" name="Text 7"/>
          <p:cNvSpPr/>
          <p:nvPr/>
        </p:nvSpPr>
        <p:spPr>
          <a:xfrm>
            <a:off x="612648" y="4242816"/>
            <a:ext cx="1229868" cy="420624"/>
          </a:xfrm>
          <a:prstGeom prst="rect">
            <a:avLst/>
          </a:prstGeom>
          <a:noFill/>
          <a:ln/>
        </p:spPr>
        <p:txBody>
          <a:bodyPr wrap="square" lIns="0" tIns="0" rIns="0" bIns="0" rtlCol="0" anchor="ctr"/>
          <a:lstStyle/>
          <a:p>
            <a:pPr algn="ctr" indent="0" marL="0">
              <a:buNone/>
            </a:pPr>
            <a:r>
              <a:rPr lang="en-US" sz="1300" dirty="0">
                <a:solidFill>
                  <a:srgbClr val="D9C29B"/>
                </a:solidFill>
                <a:latin typeface="微软雅黑" pitchFamily="34" charset="0"/>
                <a:ea typeface="微软雅黑" pitchFamily="34" charset="-122"/>
                <a:cs typeface="微软雅黑" pitchFamily="34" charset="-120"/>
              </a:rPr>
              <a:t>24 课时</a:t>
            </a:r>
            <a:endParaRPr lang="en-US" sz="1300" dirty="0"/>
          </a:p>
        </p:txBody>
      </p:sp>
      <p:sp>
        <p:nvSpPr>
          <p:cNvPr id="11" name="Shape 8"/>
          <p:cNvSpPr/>
          <p:nvPr/>
        </p:nvSpPr>
        <p:spPr>
          <a:xfrm>
            <a:off x="2007108" y="4242816"/>
            <a:ext cx="1060704" cy="420624"/>
          </a:xfrm>
          <a:prstGeom prst="roundRect">
            <a:avLst>
              <a:gd name="adj" fmla="val 50000"/>
            </a:avLst>
          </a:prstGeom>
          <a:solidFill>
            <a:srgbClr val="25395F"/>
          </a:solidFill>
          <a:ln w="12700">
            <a:solidFill>
              <a:srgbClr val="25395F"/>
            </a:solidFill>
            <a:prstDash val="solid"/>
          </a:ln>
        </p:spPr>
      </p:sp>
      <p:sp>
        <p:nvSpPr>
          <p:cNvPr id="12" name="Text 9"/>
          <p:cNvSpPr/>
          <p:nvPr/>
        </p:nvSpPr>
        <p:spPr>
          <a:xfrm>
            <a:off x="2007108" y="4242816"/>
            <a:ext cx="1060704" cy="420624"/>
          </a:xfrm>
          <a:prstGeom prst="rect">
            <a:avLst/>
          </a:prstGeom>
          <a:noFill/>
          <a:ln/>
        </p:spPr>
        <p:txBody>
          <a:bodyPr wrap="square" lIns="0" tIns="0" rIns="0" bIns="0" rtlCol="0" anchor="ctr"/>
          <a:lstStyle/>
          <a:p>
            <a:pPr algn="ctr" indent="0" marL="0">
              <a:buNone/>
            </a:pPr>
            <a:r>
              <a:rPr lang="en-US" sz="1300" dirty="0">
                <a:solidFill>
                  <a:srgbClr val="D9C29B"/>
                </a:solidFill>
                <a:latin typeface="微软雅黑" pitchFamily="34" charset="0"/>
                <a:ea typeface="微软雅黑" pitchFamily="34" charset="-122"/>
                <a:cs typeface="微软雅黑" pitchFamily="34" charset="-120"/>
              </a:rPr>
              <a:t>法学本科</a:t>
            </a:r>
            <a:endParaRPr lang="en-US" sz="1300" dirty="0"/>
          </a:p>
        </p:txBody>
      </p:sp>
      <p:sp>
        <p:nvSpPr>
          <p:cNvPr id="13" name="Shape 10"/>
          <p:cNvSpPr/>
          <p:nvPr/>
        </p:nvSpPr>
        <p:spPr>
          <a:xfrm>
            <a:off x="3232404" y="4242816"/>
            <a:ext cx="1060704" cy="420624"/>
          </a:xfrm>
          <a:prstGeom prst="roundRect">
            <a:avLst>
              <a:gd name="adj" fmla="val 50000"/>
            </a:avLst>
          </a:prstGeom>
          <a:solidFill>
            <a:srgbClr val="25395F"/>
          </a:solidFill>
          <a:ln w="12700">
            <a:solidFill>
              <a:srgbClr val="25395F"/>
            </a:solidFill>
            <a:prstDash val="solid"/>
          </a:ln>
        </p:spPr>
      </p:sp>
      <p:sp>
        <p:nvSpPr>
          <p:cNvPr id="14" name="Text 11"/>
          <p:cNvSpPr/>
          <p:nvPr/>
        </p:nvSpPr>
        <p:spPr>
          <a:xfrm>
            <a:off x="3232404" y="4242816"/>
            <a:ext cx="1060704" cy="420624"/>
          </a:xfrm>
          <a:prstGeom prst="rect">
            <a:avLst/>
          </a:prstGeom>
          <a:noFill/>
          <a:ln/>
        </p:spPr>
        <p:txBody>
          <a:bodyPr wrap="square" lIns="0" tIns="0" rIns="0" bIns="0" rtlCol="0" anchor="ctr"/>
          <a:lstStyle/>
          <a:p>
            <a:pPr algn="ctr" indent="0" marL="0">
              <a:buNone/>
            </a:pPr>
            <a:r>
              <a:rPr lang="en-US" sz="1300" dirty="0">
                <a:solidFill>
                  <a:srgbClr val="D9C29B"/>
                </a:solidFill>
                <a:latin typeface="微软雅黑" pitchFamily="34" charset="0"/>
                <a:ea typeface="微软雅黑" pitchFamily="34" charset="-122"/>
                <a:cs typeface="微软雅黑" pitchFamily="34" charset="-120"/>
              </a:rPr>
              <a:t>专业必修</a:t>
            </a:r>
            <a:endParaRPr lang="en-US" sz="1300" dirty="0"/>
          </a:p>
        </p:txBody>
      </p:sp>
      <p:sp>
        <p:nvSpPr>
          <p:cNvPr id="15" name="Shape 12"/>
          <p:cNvSpPr/>
          <p:nvPr/>
        </p:nvSpPr>
        <p:spPr>
          <a:xfrm>
            <a:off x="4457700" y="4242816"/>
            <a:ext cx="1060704" cy="420624"/>
          </a:xfrm>
          <a:prstGeom prst="roundRect">
            <a:avLst>
              <a:gd name="adj" fmla="val 50000"/>
            </a:avLst>
          </a:prstGeom>
          <a:solidFill>
            <a:srgbClr val="25395F"/>
          </a:solidFill>
          <a:ln w="12700">
            <a:solidFill>
              <a:srgbClr val="25395F"/>
            </a:solidFill>
            <a:prstDash val="solid"/>
          </a:ln>
        </p:spPr>
      </p:sp>
      <p:sp>
        <p:nvSpPr>
          <p:cNvPr id="16" name="Text 13"/>
          <p:cNvSpPr/>
          <p:nvPr/>
        </p:nvSpPr>
        <p:spPr>
          <a:xfrm>
            <a:off x="4457700" y="4242816"/>
            <a:ext cx="1060704" cy="420624"/>
          </a:xfrm>
          <a:prstGeom prst="rect">
            <a:avLst/>
          </a:prstGeom>
          <a:noFill/>
          <a:ln/>
        </p:spPr>
        <p:txBody>
          <a:bodyPr wrap="square" lIns="0" tIns="0" rIns="0" bIns="0" rtlCol="0" anchor="ctr"/>
          <a:lstStyle/>
          <a:p>
            <a:pPr algn="ctr" indent="0" marL="0">
              <a:buNone/>
            </a:pPr>
            <a:r>
              <a:rPr lang="en-US" sz="1300" dirty="0">
                <a:solidFill>
                  <a:srgbClr val="D9C29B"/>
                </a:solidFill>
                <a:latin typeface="微软雅黑" pitchFamily="34" charset="0"/>
                <a:ea typeface="微软雅黑" pitchFamily="34" charset="-122"/>
                <a:cs typeface="微软雅黑" pitchFamily="34" charset="-120"/>
              </a:rPr>
              <a:t>2 学分</a:t>
            </a:r>
            <a:endParaRPr lang="en-US" sz="1300" dirty="0"/>
          </a:p>
        </p:txBody>
      </p:sp>
      <p:sp>
        <p:nvSpPr>
          <p:cNvPr id="17" name="Text 14"/>
          <p:cNvSpPr/>
          <p:nvPr/>
        </p:nvSpPr>
        <p:spPr>
          <a:xfrm>
            <a:off x="612648" y="5248656"/>
            <a:ext cx="5486400" cy="402336"/>
          </a:xfrm>
          <a:prstGeom prst="rect">
            <a:avLst/>
          </a:prstGeom>
          <a:noFill/>
          <a:ln/>
        </p:spPr>
        <p:txBody>
          <a:bodyPr wrap="square" lIns="0" tIns="0" rIns="0" bIns="0" rtlCol="0" anchor="ctr"/>
          <a:lstStyle/>
          <a:p>
            <a:pPr indent="0" marL="0">
              <a:buNone/>
            </a:pPr>
            <a:r>
              <a:rPr lang="en-US" sz="2400" b="1" dirty="0">
                <a:solidFill>
                  <a:srgbClr val="FFFFFF"/>
                </a:solidFill>
                <a:latin typeface="微软雅黑" pitchFamily="34" charset="0"/>
                <a:ea typeface="微软雅黑" pitchFamily="34" charset="-122"/>
                <a:cs typeface="微软雅黑" pitchFamily="34" charset="-120"/>
              </a:rPr>
              <a:t>王晓淑</a:t>
            </a:r>
            <a:endParaRPr lang="en-US" sz="2400" dirty="0"/>
          </a:p>
        </p:txBody>
      </p:sp>
      <p:sp>
        <p:nvSpPr>
          <p:cNvPr id="18" name="Text 15"/>
          <p:cNvSpPr/>
          <p:nvPr/>
        </p:nvSpPr>
        <p:spPr>
          <a:xfrm>
            <a:off x="612648" y="5687568"/>
            <a:ext cx="5486400" cy="310896"/>
          </a:xfrm>
          <a:prstGeom prst="rect">
            <a:avLst/>
          </a:prstGeom>
          <a:noFill/>
          <a:ln/>
        </p:spPr>
        <p:txBody>
          <a:bodyPr wrap="square" lIns="0" tIns="0" rIns="0" bIns="0" rtlCol="0" anchor="ctr"/>
          <a:lstStyle/>
          <a:p>
            <a:pPr indent="0" marL="0">
              <a:buNone/>
            </a:pPr>
            <a:r>
              <a:rPr lang="en-US" sz="1400" dirty="0">
                <a:solidFill>
                  <a:srgbClr val="6B7684"/>
                </a:solidFill>
                <a:latin typeface="微软雅黑" pitchFamily="34" charset="0"/>
                <a:ea typeface="微软雅黑" pitchFamily="34" charset="-122"/>
                <a:cs typeface="微软雅黑" pitchFamily="34" charset="-120"/>
              </a:rPr>
              <a:t>法学院 · 法学专业核心必修课</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课程总览 · COURSE MAP</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五编二十四课时</a:t>
            </a:r>
            <a:endParaRPr lang="en-US" sz="2800" dirty="0"/>
          </a:p>
        </p:txBody>
      </p:sp>
      <p:sp>
        <p:nvSpPr>
          <p:cNvPr id="4" name="Shape 2"/>
          <p:cNvSpPr/>
          <p:nvPr/>
        </p:nvSpPr>
        <p:spPr>
          <a:xfrm>
            <a:off x="566928" y="2359152"/>
            <a:ext cx="5300320" cy="896112"/>
          </a:xfrm>
          <a:prstGeom prst="roundRect">
            <a:avLst>
              <a:gd name="adj" fmla="val 8163"/>
            </a:avLst>
          </a:prstGeom>
          <a:solidFill>
            <a:srgbClr val="F2F4F8"/>
          </a:solidFill>
          <a:ln w="12700">
            <a:solidFill>
              <a:srgbClr val="F2F4F8"/>
            </a:solidFill>
            <a:prstDash val="solid"/>
          </a:ln>
        </p:spPr>
      </p:sp>
      <p:sp>
        <p:nvSpPr>
          <p:cNvPr id="5" name="Shape 3"/>
          <p:cNvSpPr/>
          <p:nvPr/>
        </p:nvSpPr>
        <p:spPr>
          <a:xfrm>
            <a:off x="731520" y="2624328"/>
            <a:ext cx="365760" cy="365760"/>
          </a:xfrm>
          <a:prstGeom prst="ellipse">
            <a:avLst/>
          </a:prstGeom>
          <a:solidFill>
            <a:srgbClr val="B08D57"/>
          </a:solidFill>
          <a:ln w="12700">
            <a:solidFill>
              <a:srgbClr val="B08D57"/>
            </a:solidFill>
            <a:prstDash val="solid"/>
          </a:ln>
        </p:spPr>
      </p:sp>
      <p:sp>
        <p:nvSpPr>
          <p:cNvPr id="6" name="Text 4"/>
          <p:cNvSpPr/>
          <p:nvPr/>
        </p:nvSpPr>
        <p:spPr>
          <a:xfrm>
            <a:off x="731520" y="26243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530983"/>
            <a:ext cx="4459072"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第一编　总论：法律职业与职业伦理　（第 1—4 课时，共 4 课时）</a:t>
            </a:r>
            <a:endParaRPr lang="en-US" sz="1500" dirty="0"/>
          </a:p>
        </p:txBody>
      </p:sp>
      <p:sp>
        <p:nvSpPr>
          <p:cNvPr id="8" name="Shape 6"/>
          <p:cNvSpPr/>
          <p:nvPr/>
        </p:nvSpPr>
        <p:spPr>
          <a:xfrm>
            <a:off x="566928" y="3401568"/>
            <a:ext cx="5300320" cy="896112"/>
          </a:xfrm>
          <a:prstGeom prst="roundRect">
            <a:avLst>
              <a:gd name="adj" fmla="val 8163"/>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573399"/>
            <a:ext cx="4459072"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第二编　法官职业伦理　（第 5—8 课时，共 4 课时）</a:t>
            </a:r>
            <a:endParaRPr lang="en-US" sz="1500" dirty="0"/>
          </a:p>
        </p:txBody>
      </p:sp>
      <p:sp>
        <p:nvSpPr>
          <p:cNvPr id="12" name="Shape 10"/>
          <p:cNvSpPr/>
          <p:nvPr/>
        </p:nvSpPr>
        <p:spPr>
          <a:xfrm>
            <a:off x="566928" y="4443984"/>
            <a:ext cx="5300320" cy="896112"/>
          </a:xfrm>
          <a:prstGeom prst="roundRect">
            <a:avLst>
              <a:gd name="adj" fmla="val 8163"/>
            </a:avLst>
          </a:prstGeom>
          <a:solidFill>
            <a:srgbClr val="F2F4F8"/>
          </a:solidFill>
          <a:ln w="12700">
            <a:solidFill>
              <a:srgbClr val="F2F4F8"/>
            </a:solidFill>
            <a:prstDash val="solid"/>
          </a:ln>
        </p:spPr>
      </p:sp>
      <p:sp>
        <p:nvSpPr>
          <p:cNvPr id="13" name="Shape 11"/>
          <p:cNvSpPr/>
          <p:nvPr/>
        </p:nvSpPr>
        <p:spPr>
          <a:xfrm>
            <a:off x="731520" y="4709160"/>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7091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615815"/>
            <a:ext cx="4459072"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第三编　检察官职业伦理　（第 9—11 课时，共 3 课时）</a:t>
            </a:r>
            <a:endParaRPr lang="en-US" sz="1500" dirty="0"/>
          </a:p>
        </p:txBody>
      </p:sp>
      <p:sp>
        <p:nvSpPr>
          <p:cNvPr id="16" name="Shape 14"/>
          <p:cNvSpPr/>
          <p:nvPr/>
        </p:nvSpPr>
        <p:spPr>
          <a:xfrm>
            <a:off x="6324448" y="2880360"/>
            <a:ext cx="5300320" cy="896112"/>
          </a:xfrm>
          <a:prstGeom prst="roundRect">
            <a:avLst>
              <a:gd name="adj" fmla="val 8163"/>
            </a:avLst>
          </a:prstGeom>
          <a:solidFill>
            <a:srgbClr val="F2F4F8"/>
          </a:solidFill>
          <a:ln w="12700">
            <a:solidFill>
              <a:srgbClr val="F2F4F8"/>
            </a:solidFill>
            <a:prstDash val="solid"/>
          </a:ln>
        </p:spPr>
      </p:sp>
      <p:sp>
        <p:nvSpPr>
          <p:cNvPr id="17" name="Shape 15"/>
          <p:cNvSpPr/>
          <p:nvPr/>
        </p:nvSpPr>
        <p:spPr>
          <a:xfrm>
            <a:off x="6489040" y="3145536"/>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31455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3052191"/>
            <a:ext cx="4459072"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第四编　律师职业伦理　（第 12—21 课时，共 10 课时）</a:t>
            </a:r>
            <a:endParaRPr lang="en-US" sz="1500" dirty="0"/>
          </a:p>
        </p:txBody>
      </p:sp>
      <p:sp>
        <p:nvSpPr>
          <p:cNvPr id="20" name="Shape 18"/>
          <p:cNvSpPr/>
          <p:nvPr/>
        </p:nvSpPr>
        <p:spPr>
          <a:xfrm>
            <a:off x="6324448" y="3922776"/>
            <a:ext cx="5300320" cy="896112"/>
          </a:xfrm>
          <a:prstGeom prst="roundRect">
            <a:avLst>
              <a:gd name="adj" fmla="val 8163"/>
            </a:avLst>
          </a:prstGeom>
          <a:solidFill>
            <a:srgbClr val="F2F4F8"/>
          </a:solidFill>
          <a:ln w="12700">
            <a:solidFill>
              <a:srgbClr val="F2F4F8"/>
            </a:solidFill>
            <a:prstDash val="solid"/>
          </a:ln>
        </p:spPr>
      </p:sp>
      <p:sp>
        <p:nvSpPr>
          <p:cNvPr id="21" name="Shape 19"/>
          <p:cNvSpPr/>
          <p:nvPr/>
        </p:nvSpPr>
        <p:spPr>
          <a:xfrm>
            <a:off x="6489040" y="4187952"/>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418795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4094607"/>
            <a:ext cx="4459072"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第五编　其他法律职业与伦理责任　（第 22—24 课时，共 3 课时）</a:t>
            </a:r>
            <a:endParaRPr lang="en-US" sz="1500" dirty="0"/>
          </a:p>
        </p:txBody>
      </p:sp>
      <p:sp>
        <p:nvSpPr>
          <p:cNvPr id="24" name="Text 22"/>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课程总览</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729"/>
        </a:solidFill>
      </p:bgPr>
    </p:bg>
    <p:spTree>
      <p:nvGrpSpPr>
        <p:cNvPr id="1" name=""/>
        <p:cNvGrpSpPr/>
        <p:nvPr/>
      </p:nvGrpSpPr>
      <p:grpSpPr>
        <a:xfrm>
          <a:off x="0" y="0"/>
          <a:ext cx="0" cy="0"/>
          <a:chOff x="0" y="0"/>
          <a:chExt cx="0" cy="0"/>
        </a:xfrm>
      </p:grpSpPr>
      <p:sp>
        <p:nvSpPr>
          <p:cNvPr id="2" name="Text 0"/>
          <p:cNvSpPr/>
          <p:nvPr/>
        </p:nvSpPr>
        <p:spPr>
          <a:xfrm>
            <a:off x="566928" y="685800"/>
            <a:ext cx="2926080" cy="1828800"/>
          </a:xfrm>
          <a:prstGeom prst="rect">
            <a:avLst/>
          </a:prstGeom>
          <a:noFill/>
          <a:ln/>
        </p:spPr>
        <p:txBody>
          <a:bodyPr wrap="square" lIns="0" tIns="0" rIns="0" bIns="0" rtlCol="0" anchor="ctr"/>
          <a:lstStyle/>
          <a:p>
            <a:pPr indent="0" marL="0">
              <a:buNone/>
            </a:pPr>
            <a:r>
              <a:rPr lang="en-US" sz="13000" b="1" dirty="0">
                <a:solidFill>
                  <a:srgbClr val="B08D57">
                    <a:alpha val="75000"/>
                  </a:srgbClr>
                </a:solidFill>
                <a:latin typeface="Arial" pitchFamily="34" charset="0"/>
                <a:ea typeface="Arial" pitchFamily="34" charset="-122"/>
                <a:cs typeface="Arial" pitchFamily="34" charset="-120"/>
              </a:rPr>
              <a:t>03</a:t>
            </a:r>
            <a:endParaRPr lang="en-US" sz="13000" dirty="0"/>
          </a:p>
        </p:txBody>
      </p:sp>
      <p:sp>
        <p:nvSpPr>
          <p:cNvPr id="3" name="Text 1"/>
          <p:cNvSpPr/>
          <p:nvPr/>
        </p:nvSpPr>
        <p:spPr>
          <a:xfrm>
            <a:off x="621792" y="2487168"/>
            <a:ext cx="5486400" cy="310896"/>
          </a:xfrm>
          <a:prstGeom prst="rect">
            <a:avLst/>
          </a:prstGeom>
          <a:noFill/>
          <a:ln/>
        </p:spPr>
        <p:txBody>
          <a:bodyPr wrap="square" lIns="0" tIns="0" rIns="0" bIns="0" rtlCol="0" anchor="ctr"/>
          <a:lstStyle/>
          <a:p>
            <a:pPr indent="0" marL="0">
              <a:buNone/>
            </a:pPr>
            <a:r>
              <a:rPr lang="en-US" sz="1450" b="1" spc="300" kern="0" dirty="0">
                <a:solidFill>
                  <a:srgbClr val="B08D57"/>
                </a:solidFill>
                <a:latin typeface="微软雅黑" pitchFamily="34" charset="0"/>
                <a:ea typeface="微软雅黑" pitchFamily="34" charset="-122"/>
                <a:cs typeface="微软雅黑" pitchFamily="34" charset="-120"/>
              </a:rPr>
              <a:t>第三编</a:t>
            </a:r>
            <a:endParaRPr lang="en-US" sz="1450" dirty="0"/>
          </a:p>
        </p:txBody>
      </p:sp>
      <p:sp>
        <p:nvSpPr>
          <p:cNvPr id="4" name="Text 2"/>
          <p:cNvSpPr/>
          <p:nvPr/>
        </p:nvSpPr>
        <p:spPr>
          <a:xfrm>
            <a:off x="566928" y="2834640"/>
            <a:ext cx="7315200" cy="629412"/>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检察官职业伦理</a:t>
            </a:r>
            <a:endParaRPr lang="en-US" sz="4200" dirty="0"/>
          </a:p>
        </p:txBody>
      </p:sp>
      <p:sp>
        <p:nvSpPr>
          <p:cNvPr id="5" name="Text 3"/>
          <p:cNvSpPr/>
          <p:nvPr/>
        </p:nvSpPr>
        <p:spPr>
          <a:xfrm>
            <a:off x="603504" y="3592068"/>
            <a:ext cx="7315200" cy="822960"/>
          </a:xfrm>
          <a:prstGeom prst="rect">
            <a:avLst/>
          </a:prstGeom>
          <a:noFill/>
          <a:ln/>
        </p:spPr>
        <p:txBody>
          <a:bodyPr wrap="square" lIns="0" tIns="0" rIns="0" bIns="0" rtlCol="0" anchor="ctr"/>
          <a:lstStyle/>
          <a:p>
            <a:pPr indent="0" marL="0">
              <a:lnSpc>
                <a:spcPts val="2400"/>
              </a:lnSpc>
              <a:buNone/>
            </a:pPr>
            <a:r>
              <a:rPr lang="en-US" sz="1500" dirty="0">
                <a:solidFill>
                  <a:srgbClr val="D9C29B"/>
                </a:solidFill>
                <a:latin typeface="微软雅黑" pitchFamily="34" charset="0"/>
                <a:ea typeface="微软雅黑" pitchFamily="34" charset="-122"/>
                <a:cs typeface="微软雅黑" pitchFamily="34" charset="-120"/>
              </a:rPr>
              <a:t>法律监督机关的宪法定位与检察官的客观公正义务</a:t>
            </a:r>
            <a:endParaRPr lang="en-US" sz="1500" dirty="0"/>
          </a:p>
        </p:txBody>
      </p:sp>
      <p:sp>
        <p:nvSpPr>
          <p:cNvPr id="6" name="Shape 4"/>
          <p:cNvSpPr/>
          <p:nvPr/>
        </p:nvSpPr>
        <p:spPr>
          <a:xfrm>
            <a:off x="8183880" y="1188720"/>
            <a:ext cx="3440887" cy="4480560"/>
          </a:xfrm>
          <a:prstGeom prst="roundRect">
            <a:avLst>
              <a:gd name="adj" fmla="val 3189"/>
            </a:avLst>
          </a:prstGeom>
          <a:solidFill>
            <a:srgbClr val="13233F"/>
          </a:solidFill>
          <a:ln w="12700">
            <a:solidFill>
              <a:srgbClr val="13233F"/>
            </a:solidFill>
            <a:prstDash val="solid"/>
          </a:ln>
        </p:spPr>
      </p:sp>
      <p:sp>
        <p:nvSpPr>
          <p:cNvPr id="7" name="Text 5"/>
          <p:cNvSpPr/>
          <p:nvPr/>
        </p:nvSpPr>
        <p:spPr>
          <a:xfrm>
            <a:off x="8494776" y="1481328"/>
            <a:ext cx="2819095"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本编课时</a:t>
            </a:r>
            <a:endParaRPr lang="en-US" sz="1250" dirty="0"/>
          </a:p>
        </p:txBody>
      </p:sp>
      <p:sp>
        <p:nvSpPr>
          <p:cNvPr id="8" name="Text 6"/>
          <p:cNvSpPr/>
          <p:nvPr/>
        </p:nvSpPr>
        <p:spPr>
          <a:xfrm>
            <a:off x="8476488" y="1883664"/>
            <a:ext cx="310896" cy="237744"/>
          </a:xfrm>
          <a:prstGeom prst="rect">
            <a:avLst/>
          </a:prstGeom>
          <a:noFill/>
          <a:ln/>
        </p:spPr>
        <p:txBody>
          <a:bodyPr wrap="square" lIns="0" tIns="0" rIns="0" bIns="0" rtlCol="0" anchor="ctr"/>
          <a:lstStyle/>
          <a:p>
            <a:pPr indent="0" marL="0">
              <a:buNone/>
            </a:pPr>
            <a:r>
              <a:rPr lang="en-US" sz="1250" b="1" dirty="0">
                <a:solidFill>
                  <a:srgbClr val="B08D57"/>
                </a:solidFill>
                <a:latin typeface="Arial" pitchFamily="34" charset="0"/>
                <a:ea typeface="Arial" pitchFamily="34" charset="-122"/>
                <a:cs typeface="Arial" pitchFamily="34" charset="-120"/>
              </a:rPr>
              <a:t>1</a:t>
            </a:r>
            <a:endParaRPr lang="en-US" sz="1250" dirty="0"/>
          </a:p>
        </p:txBody>
      </p:sp>
      <p:sp>
        <p:nvSpPr>
          <p:cNvPr id="9" name="Text 7"/>
          <p:cNvSpPr/>
          <p:nvPr/>
        </p:nvSpPr>
        <p:spPr>
          <a:xfrm>
            <a:off x="8823960" y="1883664"/>
            <a:ext cx="2508199" cy="497205"/>
          </a:xfrm>
          <a:prstGeom prst="rect">
            <a:avLst/>
          </a:prstGeom>
          <a:noFill/>
          <a:ln/>
        </p:spPr>
        <p:txBody>
          <a:bodyPr wrap="square" lIns="0" tIns="0" rIns="0" bIns="0" rtlCol="0" anchor="t"/>
          <a:lstStyle/>
          <a:p>
            <a:pPr indent="0" marL="0">
              <a:lnSpc>
                <a:spcPts val="1958"/>
              </a:lnSpc>
              <a:buNone/>
            </a:pPr>
            <a:r>
              <a:rPr lang="en-US" sz="1350" dirty="0">
                <a:solidFill>
                  <a:srgbClr val="E4E9F1"/>
                </a:solidFill>
                <a:latin typeface="微软雅黑" pitchFamily="34" charset="0"/>
                <a:ea typeface="微软雅黑" pitchFamily="34" charset="-122"/>
                <a:cs typeface="微软雅黑" pitchFamily="34" charset="-120"/>
              </a:rPr>
              <a:t>第9课时　检察权的性质、检察官角色与规范体系</a:t>
            </a:r>
            <a:endParaRPr lang="en-US" sz="1350" dirty="0"/>
          </a:p>
        </p:txBody>
      </p:sp>
      <p:sp>
        <p:nvSpPr>
          <p:cNvPr id="10" name="Text 8"/>
          <p:cNvSpPr/>
          <p:nvPr/>
        </p:nvSpPr>
        <p:spPr>
          <a:xfrm>
            <a:off x="8476488" y="2518029"/>
            <a:ext cx="310896" cy="237744"/>
          </a:xfrm>
          <a:prstGeom prst="rect">
            <a:avLst/>
          </a:prstGeom>
          <a:noFill/>
          <a:ln/>
        </p:spPr>
        <p:txBody>
          <a:bodyPr wrap="square" lIns="0" tIns="0" rIns="0" bIns="0" rtlCol="0" anchor="ctr"/>
          <a:lstStyle/>
          <a:p>
            <a:pPr indent="0" marL="0">
              <a:buNone/>
            </a:pPr>
            <a:r>
              <a:rPr lang="en-US" sz="1250" b="1" dirty="0">
                <a:solidFill>
                  <a:srgbClr val="B08D57"/>
                </a:solidFill>
                <a:latin typeface="Arial" pitchFamily="34" charset="0"/>
                <a:ea typeface="Arial" pitchFamily="34" charset="-122"/>
                <a:cs typeface="Arial" pitchFamily="34" charset="-120"/>
              </a:rPr>
              <a:t>2</a:t>
            </a:r>
            <a:endParaRPr lang="en-US" sz="1250" dirty="0"/>
          </a:p>
        </p:txBody>
      </p:sp>
      <p:sp>
        <p:nvSpPr>
          <p:cNvPr id="11" name="Text 9"/>
          <p:cNvSpPr/>
          <p:nvPr/>
        </p:nvSpPr>
        <p:spPr>
          <a:xfrm>
            <a:off x="8823960" y="2518029"/>
            <a:ext cx="2508199" cy="497205"/>
          </a:xfrm>
          <a:prstGeom prst="rect">
            <a:avLst/>
          </a:prstGeom>
          <a:noFill/>
          <a:ln/>
        </p:spPr>
        <p:txBody>
          <a:bodyPr wrap="square" lIns="0" tIns="0" rIns="0" bIns="0" rtlCol="0" anchor="t"/>
          <a:lstStyle/>
          <a:p>
            <a:pPr indent="0" marL="0">
              <a:lnSpc>
                <a:spcPts val="1958"/>
              </a:lnSpc>
              <a:buNone/>
            </a:pPr>
            <a:r>
              <a:rPr lang="en-US" sz="1350" dirty="0">
                <a:solidFill>
                  <a:srgbClr val="E4E9F1"/>
                </a:solidFill>
                <a:latin typeface="微软雅黑" pitchFamily="34" charset="0"/>
                <a:ea typeface="微软雅黑" pitchFamily="34" charset="-122"/>
                <a:cs typeface="微软雅黑" pitchFamily="34" charset="-120"/>
              </a:rPr>
              <a:t>第10课时　检察官的客观公正义务</a:t>
            </a:r>
            <a:endParaRPr lang="en-US" sz="1350" dirty="0"/>
          </a:p>
        </p:txBody>
      </p:sp>
      <p:sp>
        <p:nvSpPr>
          <p:cNvPr id="12" name="Text 10"/>
          <p:cNvSpPr/>
          <p:nvPr/>
        </p:nvSpPr>
        <p:spPr>
          <a:xfrm>
            <a:off x="8476488" y="3152394"/>
            <a:ext cx="310896" cy="237744"/>
          </a:xfrm>
          <a:prstGeom prst="rect">
            <a:avLst/>
          </a:prstGeom>
          <a:noFill/>
          <a:ln/>
        </p:spPr>
        <p:txBody>
          <a:bodyPr wrap="square" lIns="0" tIns="0" rIns="0" bIns="0" rtlCol="0" anchor="ctr"/>
          <a:lstStyle/>
          <a:p>
            <a:pPr indent="0" marL="0">
              <a:buNone/>
            </a:pPr>
            <a:r>
              <a:rPr lang="en-US" sz="1250" b="1" dirty="0">
                <a:solidFill>
                  <a:srgbClr val="B08D57"/>
                </a:solidFill>
                <a:latin typeface="Arial" pitchFamily="34" charset="0"/>
                <a:ea typeface="Arial" pitchFamily="34" charset="-122"/>
                <a:cs typeface="Arial" pitchFamily="34" charset="-120"/>
              </a:rPr>
              <a:t>3</a:t>
            </a:r>
            <a:endParaRPr lang="en-US" sz="1250" dirty="0"/>
          </a:p>
        </p:txBody>
      </p:sp>
      <p:sp>
        <p:nvSpPr>
          <p:cNvPr id="13" name="Text 11"/>
          <p:cNvSpPr/>
          <p:nvPr/>
        </p:nvSpPr>
        <p:spPr>
          <a:xfrm>
            <a:off x="8823960" y="3152394"/>
            <a:ext cx="2508199" cy="497205"/>
          </a:xfrm>
          <a:prstGeom prst="rect">
            <a:avLst/>
          </a:prstGeom>
          <a:noFill/>
          <a:ln/>
        </p:spPr>
        <p:txBody>
          <a:bodyPr wrap="square" lIns="0" tIns="0" rIns="0" bIns="0" rtlCol="0" anchor="t"/>
          <a:lstStyle/>
          <a:p>
            <a:pPr indent="0" marL="0">
              <a:lnSpc>
                <a:spcPts val="1958"/>
              </a:lnSpc>
              <a:buNone/>
            </a:pPr>
            <a:r>
              <a:rPr lang="en-US" sz="1350" dirty="0">
                <a:solidFill>
                  <a:srgbClr val="E4E9F1"/>
                </a:solidFill>
                <a:latin typeface="微软雅黑" pitchFamily="34" charset="0"/>
                <a:ea typeface="微软雅黑" pitchFamily="34" charset="-122"/>
                <a:cs typeface="微软雅黑" pitchFamily="34" charset="-120"/>
              </a:rPr>
              <a:t>第11课时　检察官职业道德五项准则与检察责任追究</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9509760" y="-1371600"/>
            <a:ext cx="5120640" cy="5120640"/>
          </a:xfrm>
          <a:prstGeom prst="ellipse">
            <a:avLst/>
          </a:prstGeom>
          <a:solidFill>
            <a:srgbClr val="25395F"/>
          </a:solidFill>
          <a:ln w="12700">
            <a:solidFill>
              <a:srgbClr val="25395F"/>
            </a:solidFill>
            <a:prstDash val="solid"/>
          </a:ln>
        </p:spPr>
      </p:sp>
      <p:sp>
        <p:nvSpPr>
          <p:cNvPr id="3" name="Text 1"/>
          <p:cNvSpPr/>
          <p:nvPr/>
        </p:nvSpPr>
        <p:spPr>
          <a:xfrm>
            <a:off x="566928" y="1581341"/>
            <a:ext cx="4572000" cy="310896"/>
          </a:xfrm>
          <a:prstGeom prst="rect">
            <a:avLst/>
          </a:prstGeom>
          <a:noFill/>
          <a:ln/>
        </p:spPr>
        <p:txBody>
          <a:bodyPr wrap="square" lIns="0" tIns="0" rIns="0" bIns="0" rtlCol="0" anchor="ctr"/>
          <a:lstStyle/>
          <a:p>
            <a:pPr indent="0" marL="0">
              <a:buNone/>
            </a:pPr>
            <a:r>
              <a:rPr lang="en-US" sz="1600" b="1" spc="300" kern="0" dirty="0">
                <a:solidFill>
                  <a:srgbClr val="B08D57"/>
                </a:solidFill>
                <a:latin typeface="微软雅黑" pitchFamily="34" charset="0"/>
                <a:ea typeface="微软雅黑" pitchFamily="34" charset="-122"/>
                <a:cs typeface="微软雅黑" pitchFamily="34" charset="-120"/>
              </a:rPr>
              <a:t>第9课时</a:t>
            </a:r>
            <a:endParaRPr lang="en-US" sz="1600" dirty="0"/>
          </a:p>
        </p:txBody>
      </p:sp>
      <p:sp>
        <p:nvSpPr>
          <p:cNvPr id="4" name="Text 2"/>
          <p:cNvSpPr/>
          <p:nvPr/>
        </p:nvSpPr>
        <p:spPr>
          <a:xfrm>
            <a:off x="566928" y="2001965"/>
            <a:ext cx="9326880" cy="629412"/>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检察权的性质、检察官角色与规范体系</a:t>
            </a:r>
            <a:endParaRPr lang="en-US" sz="4200" dirty="0"/>
          </a:p>
        </p:txBody>
      </p:sp>
      <p:sp>
        <p:nvSpPr>
          <p:cNvPr id="5" name="Text 3"/>
          <p:cNvSpPr/>
          <p:nvPr/>
        </p:nvSpPr>
        <p:spPr>
          <a:xfrm>
            <a:off x="603504" y="2887409"/>
            <a:ext cx="9326880" cy="295275"/>
          </a:xfrm>
          <a:prstGeom prst="rect">
            <a:avLst/>
          </a:prstGeom>
          <a:noFill/>
          <a:ln/>
        </p:spPr>
        <p:txBody>
          <a:bodyPr wrap="square" lIns="0" tIns="0" rIns="0" bIns="0" rtlCol="0" anchor="t"/>
          <a:lstStyle/>
          <a:p>
            <a:pPr indent="0" marL="0">
              <a:lnSpc>
                <a:spcPts val="2300"/>
              </a:lnSpc>
              <a:buNone/>
            </a:pPr>
            <a:r>
              <a:rPr lang="en-US" sz="1500" dirty="0">
                <a:solidFill>
                  <a:srgbClr val="D9C29B"/>
                </a:solidFill>
                <a:latin typeface="微软雅黑" pitchFamily="34" charset="0"/>
                <a:ea typeface="微软雅黑" pitchFamily="34" charset="-122"/>
                <a:cs typeface="微软雅黑" pitchFamily="34" charset="-120"/>
              </a:rPr>
              <a:t>检察官既是追诉者，又是法律监督者——这一双重身份是检察伦理全部难题的根源</a:t>
            </a:r>
            <a:endParaRPr lang="en-US" sz="1500" dirty="0"/>
          </a:p>
        </p:txBody>
      </p:sp>
      <p:sp>
        <p:nvSpPr>
          <p:cNvPr id="6" name="Shape 4"/>
          <p:cNvSpPr/>
          <p:nvPr/>
        </p:nvSpPr>
        <p:spPr>
          <a:xfrm>
            <a:off x="566928" y="5056632"/>
            <a:ext cx="3551834" cy="1325880"/>
          </a:xfrm>
          <a:prstGeom prst="roundRect">
            <a:avLst>
              <a:gd name="adj" fmla="val 6897"/>
            </a:avLst>
          </a:prstGeom>
          <a:solidFill>
            <a:srgbClr val="25395F"/>
          </a:solidFill>
          <a:ln w="12700">
            <a:solidFill>
              <a:srgbClr val="25395F"/>
            </a:solidFill>
            <a:prstDash val="solid"/>
          </a:ln>
        </p:spPr>
      </p:sp>
      <p:sp>
        <p:nvSpPr>
          <p:cNvPr id="7" name="Shape 5"/>
          <p:cNvSpPr/>
          <p:nvPr/>
        </p:nvSpPr>
        <p:spPr>
          <a:xfrm>
            <a:off x="841248" y="5518404"/>
            <a:ext cx="402336" cy="402336"/>
          </a:xfrm>
          <a:prstGeom prst="ellipse">
            <a:avLst/>
          </a:prstGeom>
          <a:solidFill>
            <a:srgbClr val="B08D57"/>
          </a:solidFill>
          <a:ln w="12700">
            <a:solidFill>
              <a:srgbClr val="B08D57"/>
            </a:solidFill>
            <a:prstDash val="solid"/>
          </a:ln>
        </p:spPr>
      </p:sp>
      <p:pic>
        <p:nvPicPr>
          <p:cNvPr id="8" name="Image 0" descr="preencoded.png">    </p:cNvPr>
          <p:cNvPicPr>
            <a:picLocks noChangeAspect="1"/>
          </p:cNvPicPr>
          <p:nvPr/>
        </p:nvPicPr>
        <p:blipFill>
          <a:blip r:embed="rId1"/>
          <a:stretch>
            <a:fillRect/>
          </a:stretch>
        </p:blipFill>
        <p:spPr>
          <a:xfrm>
            <a:off x="961949" y="5639105"/>
            <a:ext cx="160934" cy="160934"/>
          </a:xfrm>
          <a:prstGeom prst="rect">
            <a:avLst/>
          </a:prstGeom>
        </p:spPr>
      </p:pic>
      <p:sp>
        <p:nvSpPr>
          <p:cNvPr id="9" name="Text 6"/>
          <p:cNvSpPr/>
          <p:nvPr/>
        </p:nvSpPr>
        <p:spPr>
          <a:xfrm>
            <a:off x="1353312"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法律监督机关的宪法定位与检察权的属性之争</a:t>
            </a:r>
            <a:endParaRPr lang="en-US" sz="1400" dirty="0"/>
          </a:p>
        </p:txBody>
      </p:sp>
      <p:sp>
        <p:nvSpPr>
          <p:cNvPr id="10" name="Shape 7"/>
          <p:cNvSpPr/>
          <p:nvPr/>
        </p:nvSpPr>
        <p:spPr>
          <a:xfrm>
            <a:off x="4319930" y="5056632"/>
            <a:ext cx="3551834" cy="1325880"/>
          </a:xfrm>
          <a:prstGeom prst="roundRect">
            <a:avLst>
              <a:gd name="adj" fmla="val 6897"/>
            </a:avLst>
          </a:prstGeom>
          <a:solidFill>
            <a:srgbClr val="25395F"/>
          </a:solidFill>
          <a:ln w="12700">
            <a:solidFill>
              <a:srgbClr val="25395F"/>
            </a:solidFill>
            <a:prstDash val="solid"/>
          </a:ln>
        </p:spPr>
      </p:sp>
      <p:sp>
        <p:nvSpPr>
          <p:cNvPr id="11" name="Shape 8"/>
          <p:cNvSpPr/>
          <p:nvPr/>
        </p:nvSpPr>
        <p:spPr>
          <a:xfrm>
            <a:off x="4594250" y="5518404"/>
            <a:ext cx="402336" cy="402336"/>
          </a:xfrm>
          <a:prstGeom prst="ellipse">
            <a:avLst/>
          </a:prstGeom>
          <a:solidFill>
            <a:srgbClr val="B08D57"/>
          </a:solidFill>
          <a:ln w="12700">
            <a:solidFill>
              <a:srgbClr val="B08D57"/>
            </a:solidFill>
            <a:prstDash val="solid"/>
          </a:ln>
        </p:spPr>
      </p:sp>
      <p:pic>
        <p:nvPicPr>
          <p:cNvPr id="12" name="Image 1" descr="preencoded.png">    </p:cNvPr>
          <p:cNvPicPr>
            <a:picLocks noChangeAspect="1"/>
          </p:cNvPicPr>
          <p:nvPr/>
        </p:nvPicPr>
        <p:blipFill>
          <a:blip r:embed="rId2"/>
          <a:stretch>
            <a:fillRect/>
          </a:stretch>
        </p:blipFill>
        <p:spPr>
          <a:xfrm>
            <a:off x="4714951" y="5639105"/>
            <a:ext cx="160934" cy="160934"/>
          </a:xfrm>
          <a:prstGeom prst="rect">
            <a:avLst/>
          </a:prstGeom>
        </p:spPr>
      </p:pic>
      <p:sp>
        <p:nvSpPr>
          <p:cNvPr id="13" name="Text 9"/>
          <p:cNvSpPr/>
          <p:nvPr/>
        </p:nvSpPr>
        <p:spPr>
          <a:xfrm>
            <a:off x="5106314"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检察官的多重角色：公诉人、监督者、公益代表</a:t>
            </a:r>
            <a:endParaRPr lang="en-US" sz="1400" dirty="0"/>
          </a:p>
        </p:txBody>
      </p:sp>
      <p:sp>
        <p:nvSpPr>
          <p:cNvPr id="14" name="Shape 10"/>
          <p:cNvSpPr/>
          <p:nvPr/>
        </p:nvSpPr>
        <p:spPr>
          <a:xfrm>
            <a:off x="8072933" y="5056632"/>
            <a:ext cx="3551834" cy="1325880"/>
          </a:xfrm>
          <a:prstGeom prst="roundRect">
            <a:avLst>
              <a:gd name="adj" fmla="val 6897"/>
            </a:avLst>
          </a:prstGeom>
          <a:solidFill>
            <a:srgbClr val="25395F"/>
          </a:solidFill>
          <a:ln w="12700">
            <a:solidFill>
              <a:srgbClr val="25395F"/>
            </a:solidFill>
            <a:prstDash val="solid"/>
          </a:ln>
        </p:spPr>
      </p:sp>
      <p:sp>
        <p:nvSpPr>
          <p:cNvPr id="15" name="Shape 11"/>
          <p:cNvSpPr/>
          <p:nvPr/>
        </p:nvSpPr>
        <p:spPr>
          <a:xfrm>
            <a:off x="8347253" y="5518404"/>
            <a:ext cx="402336" cy="402336"/>
          </a:xfrm>
          <a:prstGeom prst="ellipse">
            <a:avLst/>
          </a:prstGeom>
          <a:solidFill>
            <a:srgbClr val="B08D57"/>
          </a:solidFill>
          <a:ln w="12700">
            <a:solidFill>
              <a:srgbClr val="B08D57"/>
            </a:solidFill>
            <a:prstDash val="solid"/>
          </a:ln>
        </p:spPr>
      </p:sp>
      <p:pic>
        <p:nvPicPr>
          <p:cNvPr id="16" name="Image 2" descr="preencoded.png">    </p:cNvPr>
          <p:cNvPicPr>
            <a:picLocks noChangeAspect="1"/>
          </p:cNvPicPr>
          <p:nvPr/>
        </p:nvPicPr>
        <p:blipFill>
          <a:blip r:embed="rId3"/>
          <a:stretch>
            <a:fillRect/>
          </a:stretch>
        </p:blipFill>
        <p:spPr>
          <a:xfrm>
            <a:off x="8467954" y="5639105"/>
            <a:ext cx="160934" cy="160934"/>
          </a:xfrm>
          <a:prstGeom prst="rect">
            <a:avLst/>
          </a:prstGeom>
        </p:spPr>
      </p:pic>
      <p:sp>
        <p:nvSpPr>
          <p:cNvPr id="17" name="Text 12"/>
          <p:cNvSpPr/>
          <p:nvPr/>
        </p:nvSpPr>
        <p:spPr>
          <a:xfrm>
            <a:off x="8859317"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检察一体化与检察官相对独立之间的张力</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本课时结构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从宪法定位到职业角色</a:t>
            </a:r>
            <a:endParaRPr lang="en-US" sz="2800" dirty="0"/>
          </a:p>
        </p:txBody>
      </p:sp>
      <p:sp>
        <p:nvSpPr>
          <p:cNvPr id="4" name="Shape 2"/>
          <p:cNvSpPr/>
          <p:nvPr/>
        </p:nvSpPr>
        <p:spPr>
          <a:xfrm>
            <a:off x="566928" y="2619756"/>
            <a:ext cx="5300320" cy="722376"/>
          </a:xfrm>
          <a:prstGeom prst="roundRect">
            <a:avLst>
              <a:gd name="adj" fmla="val 10127"/>
            </a:avLst>
          </a:prstGeom>
          <a:solidFill>
            <a:srgbClr val="F2F4F8"/>
          </a:solidFill>
          <a:ln w="12700">
            <a:solidFill>
              <a:srgbClr val="F2F4F8"/>
            </a:solidFill>
            <a:prstDash val="solid"/>
          </a:ln>
        </p:spPr>
      </p:sp>
      <p:sp>
        <p:nvSpPr>
          <p:cNvPr id="5" name="Shape 3"/>
          <p:cNvSpPr/>
          <p:nvPr/>
        </p:nvSpPr>
        <p:spPr>
          <a:xfrm>
            <a:off x="731520" y="2798064"/>
            <a:ext cx="365760" cy="365760"/>
          </a:xfrm>
          <a:prstGeom prst="ellipse">
            <a:avLst/>
          </a:prstGeom>
          <a:solidFill>
            <a:srgbClr val="B08D57"/>
          </a:solidFill>
          <a:ln w="12700">
            <a:solidFill>
              <a:srgbClr val="B08D57"/>
            </a:solidFill>
            <a:prstDash val="solid"/>
          </a:ln>
        </p:spPr>
      </p:sp>
      <p:sp>
        <p:nvSpPr>
          <p:cNvPr id="6" name="Text 4"/>
          <p:cNvSpPr/>
          <p:nvPr/>
        </p:nvSpPr>
        <p:spPr>
          <a:xfrm>
            <a:off x="73152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一、检察机关的宪法定位</a:t>
            </a:r>
            <a:endParaRPr lang="en-US" sz="1500" dirty="0"/>
          </a:p>
        </p:txBody>
      </p:sp>
      <p:sp>
        <p:nvSpPr>
          <p:cNvPr id="8" name="Shape 6"/>
          <p:cNvSpPr/>
          <p:nvPr/>
        </p:nvSpPr>
        <p:spPr>
          <a:xfrm>
            <a:off x="566928" y="3488436"/>
            <a:ext cx="5300320" cy="722376"/>
          </a:xfrm>
          <a:prstGeom prst="roundRect">
            <a:avLst>
              <a:gd name="adj" fmla="val 10127"/>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二、检察权的属性之争</a:t>
            </a:r>
            <a:endParaRPr lang="en-US" sz="1500" dirty="0"/>
          </a:p>
        </p:txBody>
      </p:sp>
      <p:sp>
        <p:nvSpPr>
          <p:cNvPr id="12" name="Shape 10"/>
          <p:cNvSpPr/>
          <p:nvPr/>
        </p:nvSpPr>
        <p:spPr>
          <a:xfrm>
            <a:off x="566928" y="4357116"/>
            <a:ext cx="5300320" cy="722376"/>
          </a:xfrm>
          <a:prstGeom prst="roundRect">
            <a:avLst>
              <a:gd name="adj" fmla="val 10127"/>
            </a:avLst>
          </a:prstGeom>
          <a:solidFill>
            <a:srgbClr val="F2F4F8"/>
          </a:solidFill>
          <a:ln w="12700">
            <a:solidFill>
              <a:srgbClr val="F2F4F8"/>
            </a:solidFill>
            <a:prstDash val="solid"/>
          </a:ln>
        </p:spPr>
      </p:sp>
      <p:sp>
        <p:nvSpPr>
          <p:cNvPr id="13" name="Shape 11"/>
          <p:cNvSpPr/>
          <p:nvPr/>
        </p:nvSpPr>
        <p:spPr>
          <a:xfrm>
            <a:off x="731520" y="4535424"/>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三、检察官的多重角色与“四大检察”</a:t>
            </a:r>
            <a:endParaRPr lang="en-US" sz="1500" dirty="0"/>
          </a:p>
        </p:txBody>
      </p:sp>
      <p:sp>
        <p:nvSpPr>
          <p:cNvPr id="16" name="Shape 14"/>
          <p:cNvSpPr/>
          <p:nvPr/>
        </p:nvSpPr>
        <p:spPr>
          <a:xfrm>
            <a:off x="6324448" y="2619756"/>
            <a:ext cx="5300320" cy="722376"/>
          </a:xfrm>
          <a:prstGeom prst="roundRect">
            <a:avLst>
              <a:gd name="adj" fmla="val 10127"/>
            </a:avLst>
          </a:prstGeom>
          <a:solidFill>
            <a:srgbClr val="F2F4F8"/>
          </a:solidFill>
          <a:ln w="12700">
            <a:solidFill>
              <a:srgbClr val="F2F4F8"/>
            </a:solidFill>
            <a:prstDash val="solid"/>
          </a:ln>
        </p:spPr>
      </p:sp>
      <p:sp>
        <p:nvSpPr>
          <p:cNvPr id="17" name="Shape 15"/>
          <p:cNvSpPr/>
          <p:nvPr/>
        </p:nvSpPr>
        <p:spPr>
          <a:xfrm>
            <a:off x="6489040" y="2798064"/>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四、检察一体化与检察官的相对独立</a:t>
            </a:r>
            <a:endParaRPr lang="en-US" sz="1500" dirty="0"/>
          </a:p>
        </p:txBody>
      </p:sp>
      <p:sp>
        <p:nvSpPr>
          <p:cNvPr id="20" name="Shape 18"/>
          <p:cNvSpPr/>
          <p:nvPr/>
        </p:nvSpPr>
        <p:spPr>
          <a:xfrm>
            <a:off x="6324448" y="3488436"/>
            <a:ext cx="5300320" cy="722376"/>
          </a:xfrm>
          <a:prstGeom prst="roundRect">
            <a:avLst>
              <a:gd name="adj" fmla="val 10127"/>
            </a:avLst>
          </a:prstGeom>
          <a:solidFill>
            <a:srgbClr val="F2F4F8"/>
          </a:solidFill>
          <a:ln w="12700">
            <a:solidFill>
              <a:srgbClr val="F2F4F8"/>
            </a:solidFill>
            <a:prstDash val="solid"/>
          </a:ln>
        </p:spPr>
      </p:sp>
      <p:sp>
        <p:nvSpPr>
          <p:cNvPr id="21" name="Shape 19"/>
          <p:cNvSpPr/>
          <p:nvPr/>
        </p:nvSpPr>
        <p:spPr>
          <a:xfrm>
            <a:off x="6489040" y="3666744"/>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五、检察官职业伦理的规范体系</a:t>
            </a:r>
            <a:endParaRPr lang="en-US" sz="1500" dirty="0"/>
          </a:p>
        </p:txBody>
      </p:sp>
      <p:sp>
        <p:nvSpPr>
          <p:cNvPr id="24" name="Shape 22"/>
          <p:cNvSpPr/>
          <p:nvPr/>
        </p:nvSpPr>
        <p:spPr>
          <a:xfrm>
            <a:off x="6324448" y="4357116"/>
            <a:ext cx="5300320" cy="722376"/>
          </a:xfrm>
          <a:prstGeom prst="roundRect">
            <a:avLst>
              <a:gd name="adj" fmla="val 10127"/>
            </a:avLst>
          </a:prstGeom>
          <a:solidFill>
            <a:srgbClr val="F2F4F8"/>
          </a:solidFill>
          <a:ln w="12700">
            <a:solidFill>
              <a:srgbClr val="F2F4F8"/>
            </a:solidFill>
            <a:prstDash val="solid"/>
          </a:ln>
        </p:spPr>
      </p:sp>
      <p:sp>
        <p:nvSpPr>
          <p:cNvPr id="25" name="Shape 23"/>
          <p:cNvSpPr/>
          <p:nvPr/>
        </p:nvSpPr>
        <p:spPr>
          <a:xfrm>
            <a:off x="6489040" y="4535424"/>
            <a:ext cx="365760" cy="365760"/>
          </a:xfrm>
          <a:prstGeom prst="ellipse">
            <a:avLst/>
          </a:prstGeom>
          <a:solidFill>
            <a:srgbClr val="B08D57"/>
          </a:solidFill>
          <a:ln w="12700">
            <a:solidFill>
              <a:srgbClr val="B08D57"/>
            </a:solidFill>
            <a:prstDash val="solid"/>
          </a:ln>
        </p:spPr>
      </p:sp>
      <p:sp>
        <p:nvSpPr>
          <p:cNvPr id="26" name="Text 24"/>
          <p:cNvSpPr/>
          <p:nvPr/>
        </p:nvSpPr>
        <p:spPr>
          <a:xfrm>
            <a:off x="648904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7" name="Text 25"/>
          <p:cNvSpPr/>
          <p:nvPr/>
        </p:nvSpPr>
        <p:spPr>
          <a:xfrm>
            <a:off x="700110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六、域外比较与本课小结</a:t>
            </a:r>
            <a:endParaRPr lang="en-US" sz="1500" dirty="0"/>
          </a:p>
        </p:txBody>
      </p:sp>
      <p:sp>
        <p:nvSpPr>
          <p:cNvPr id="28"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第9课时 · 02</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1</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检察机关的宪法定位</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我国检察机关的性质，与两大法系的检察机关均有显著不同</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第9课时 · 03</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宪法依据</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两条决定一切的宪法条文</a:t>
            </a:r>
            <a:endParaRPr lang="en-US" sz="2800" dirty="0"/>
          </a:p>
        </p:txBody>
      </p:sp>
      <p:sp>
        <p:nvSpPr>
          <p:cNvPr id="4" name="Shape 2"/>
          <p:cNvSpPr/>
          <p:nvPr/>
        </p:nvSpPr>
        <p:spPr>
          <a:xfrm>
            <a:off x="566928" y="1384554"/>
            <a:ext cx="11057839" cy="1566291"/>
          </a:xfrm>
          <a:prstGeom prst="roundRect">
            <a:avLst>
              <a:gd name="adj" fmla="val 5838"/>
            </a:avLst>
          </a:prstGeom>
          <a:solidFill>
            <a:srgbClr val="F6F1E8"/>
          </a:solidFill>
          <a:ln w="12700">
            <a:solidFill>
              <a:srgbClr val="F6F1E8"/>
            </a:solidFill>
            <a:prstDash val="solid"/>
          </a:ln>
        </p:spPr>
      </p:sp>
      <p:sp>
        <p:nvSpPr>
          <p:cNvPr id="5" name="Shape 3"/>
          <p:cNvSpPr/>
          <p:nvPr/>
        </p:nvSpPr>
        <p:spPr>
          <a:xfrm>
            <a:off x="877824" y="1622298"/>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622298"/>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604010"/>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《中华人民共和国宪法》第一百三十四条</a:t>
            </a:r>
            <a:endParaRPr lang="en-US" sz="1500" dirty="0"/>
          </a:p>
        </p:txBody>
      </p:sp>
      <p:sp>
        <p:nvSpPr>
          <p:cNvPr id="8" name="Text 6"/>
          <p:cNvSpPr/>
          <p:nvPr/>
        </p:nvSpPr>
        <p:spPr>
          <a:xfrm>
            <a:off x="960120" y="2024634"/>
            <a:ext cx="10271455" cy="706755"/>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中华人民共和国人民检察院是国家的法律监督机关。</a:t>
            </a:r>
            <a:endParaRPr lang="en-US" sz="1550" dirty="0"/>
          </a:p>
        </p:txBody>
      </p:sp>
      <p:sp>
        <p:nvSpPr>
          <p:cNvPr id="9" name="Shape 7"/>
          <p:cNvSpPr/>
          <p:nvPr/>
        </p:nvSpPr>
        <p:spPr>
          <a:xfrm>
            <a:off x="566928" y="3133725"/>
            <a:ext cx="11057839" cy="1566291"/>
          </a:xfrm>
          <a:prstGeom prst="roundRect">
            <a:avLst>
              <a:gd name="adj" fmla="val 5838"/>
            </a:avLst>
          </a:prstGeom>
          <a:solidFill>
            <a:srgbClr val="F6F1E8"/>
          </a:solidFill>
          <a:ln w="12700">
            <a:solidFill>
              <a:srgbClr val="F6F1E8"/>
            </a:solidFill>
            <a:prstDash val="solid"/>
          </a:ln>
        </p:spPr>
      </p:sp>
      <p:sp>
        <p:nvSpPr>
          <p:cNvPr id="10" name="Shape 8"/>
          <p:cNvSpPr/>
          <p:nvPr/>
        </p:nvSpPr>
        <p:spPr>
          <a:xfrm>
            <a:off x="877824" y="3371469"/>
            <a:ext cx="566928" cy="274320"/>
          </a:xfrm>
          <a:prstGeom prst="roundRect">
            <a:avLst>
              <a:gd name="adj" fmla="val 50000"/>
            </a:avLst>
          </a:prstGeom>
          <a:solidFill>
            <a:srgbClr val="B08D57"/>
          </a:solidFill>
          <a:ln w="12700">
            <a:solidFill>
              <a:srgbClr val="B08D57"/>
            </a:solidFill>
            <a:prstDash val="solid"/>
          </a:ln>
        </p:spPr>
      </p:sp>
      <p:sp>
        <p:nvSpPr>
          <p:cNvPr id="11" name="Text 9"/>
          <p:cNvSpPr/>
          <p:nvPr/>
        </p:nvSpPr>
        <p:spPr>
          <a:xfrm>
            <a:off x="877824" y="3371469"/>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2" name="Text 10"/>
          <p:cNvSpPr/>
          <p:nvPr/>
        </p:nvSpPr>
        <p:spPr>
          <a:xfrm>
            <a:off x="1554480" y="3353181"/>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《中华人民共和国宪法》第一百三十六条</a:t>
            </a:r>
            <a:endParaRPr lang="en-US" sz="1500" dirty="0"/>
          </a:p>
        </p:txBody>
      </p:sp>
      <p:sp>
        <p:nvSpPr>
          <p:cNvPr id="13" name="Text 11"/>
          <p:cNvSpPr/>
          <p:nvPr/>
        </p:nvSpPr>
        <p:spPr>
          <a:xfrm>
            <a:off x="960120" y="3773805"/>
            <a:ext cx="10271455" cy="706755"/>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人民检察院依照法律规定独立行使检察权，不受行政机关、社会团体和个人的干涉。</a:t>
            </a:r>
            <a:endParaRPr lang="en-US" sz="1550" dirty="0"/>
          </a:p>
        </p:txBody>
      </p:sp>
      <p:sp>
        <p:nvSpPr>
          <p:cNvPr id="14" name="Shape 12"/>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5" name="Text 13"/>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6" name="Text 14"/>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请注意“法律监督机关”这一定位的独特性：在英美法系，检察官主要是政府的公诉代理人；在大陆法系，检察官是“法律的守护人”但主要活动于刑事领域。而我国检察机关的法律监督职能覆盖刑事、民事、行政、公益诉讼四大领域，其广度为世界所少有。这一定位是理解我国检察官职业伦理的起点。</a:t>
            </a:r>
            <a:endParaRPr lang="en-US" sz="1400" dirty="0"/>
          </a:p>
        </p:txBody>
      </p:sp>
      <p:sp>
        <p:nvSpPr>
          <p:cNvPr id="17" name="Text 1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第9课时 · 04</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比较</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三种检察制度模式</a:t>
            </a:r>
            <a:endParaRPr lang="en-US" sz="2800" dirty="0"/>
          </a:p>
        </p:txBody>
      </p:sp>
      <p:sp>
        <p:nvSpPr>
          <p:cNvPr id="4" name="Shape 2"/>
          <p:cNvSpPr/>
          <p:nvPr/>
        </p:nvSpPr>
        <p:spPr>
          <a:xfrm>
            <a:off x="566928" y="1523683"/>
            <a:ext cx="3527450" cy="4651883"/>
          </a:xfrm>
          <a:prstGeom prst="roundRect">
            <a:avLst>
              <a:gd name="adj" fmla="val 2592"/>
            </a:avLst>
          </a:prstGeom>
          <a:solidFill>
            <a:srgbClr val="F2F4F8"/>
          </a:solidFill>
          <a:ln w="12700">
            <a:solidFill>
              <a:srgbClr val="F2F4F8"/>
            </a:solidFill>
            <a:prstDash val="solid"/>
          </a:ln>
        </p:spPr>
      </p:sp>
      <p:sp>
        <p:nvSpPr>
          <p:cNvPr id="5" name="Shape 3"/>
          <p:cNvSpPr/>
          <p:nvPr/>
        </p:nvSpPr>
        <p:spPr>
          <a:xfrm>
            <a:off x="841248" y="1779715"/>
            <a:ext cx="2978810"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1779715"/>
            <a:ext cx="2978810"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英美法系：政府的公诉人</a:t>
            </a:r>
            <a:endParaRPr lang="en-US" sz="1600" dirty="0"/>
          </a:p>
        </p:txBody>
      </p:sp>
      <p:sp>
        <p:nvSpPr>
          <p:cNvPr id="7" name="Text 5"/>
          <p:cNvSpPr/>
          <p:nvPr/>
        </p:nvSpPr>
        <p:spPr>
          <a:xfrm>
            <a:off x="932688" y="2438083"/>
            <a:ext cx="2795930" cy="349973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检察官主要是代表政府提起并维持公诉的一方当事人。</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享有极大的起诉裁量权（不起诉、辩诉交易）。</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部分地区检察长由选举产生，具有政治属性。</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对客观义务的约束主要通过布雷迪规则等判例实现。</a:t>
            </a:r>
            <a:endParaRPr lang="en-US" sz="1450" dirty="0"/>
          </a:p>
        </p:txBody>
      </p:sp>
      <p:sp>
        <p:nvSpPr>
          <p:cNvPr id="8" name="Shape 6"/>
          <p:cNvSpPr/>
          <p:nvPr/>
        </p:nvSpPr>
        <p:spPr>
          <a:xfrm>
            <a:off x="4332122" y="1523683"/>
            <a:ext cx="3527450" cy="4651883"/>
          </a:xfrm>
          <a:prstGeom prst="roundRect">
            <a:avLst>
              <a:gd name="adj" fmla="val 2592"/>
            </a:avLst>
          </a:prstGeom>
          <a:solidFill>
            <a:srgbClr val="F6F1E8"/>
          </a:solidFill>
          <a:ln w="12700">
            <a:solidFill>
              <a:srgbClr val="F6F1E8"/>
            </a:solidFill>
            <a:prstDash val="solid"/>
          </a:ln>
        </p:spPr>
      </p:sp>
      <p:sp>
        <p:nvSpPr>
          <p:cNvPr id="9" name="Shape 7"/>
          <p:cNvSpPr/>
          <p:nvPr/>
        </p:nvSpPr>
        <p:spPr>
          <a:xfrm>
            <a:off x="4606442" y="1779715"/>
            <a:ext cx="2978810"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4606442" y="1779715"/>
            <a:ext cx="2978810"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大陆法系：法律的守护人</a:t>
            </a:r>
            <a:endParaRPr lang="en-US" sz="1600" dirty="0"/>
          </a:p>
        </p:txBody>
      </p:sp>
      <p:sp>
        <p:nvSpPr>
          <p:cNvPr id="11" name="Text 9"/>
          <p:cNvSpPr/>
          <p:nvPr/>
        </p:nvSpPr>
        <p:spPr>
          <a:xfrm>
            <a:off x="4697882" y="2438083"/>
            <a:ext cx="2795930" cy="349973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检察官被视为广义的司法官，负有发现实体真实的义务。</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德国《刑事诉讼法》第160条第2款：检察机关不仅有义务查明不利于被告人的情况，也有义务查明有利于被告人的情况。</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检察官被称为“世界上最客观的官署”。</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实行检察一体，上命下从，但个案中保有职业良知空间。</a:t>
            </a:r>
            <a:endParaRPr lang="en-US" sz="1450" dirty="0"/>
          </a:p>
        </p:txBody>
      </p:sp>
      <p:sp>
        <p:nvSpPr>
          <p:cNvPr id="12" name="Shape 10"/>
          <p:cNvSpPr/>
          <p:nvPr/>
        </p:nvSpPr>
        <p:spPr>
          <a:xfrm>
            <a:off x="8097317" y="1523683"/>
            <a:ext cx="3527450" cy="4651883"/>
          </a:xfrm>
          <a:prstGeom prst="roundRect">
            <a:avLst>
              <a:gd name="adj" fmla="val 2592"/>
            </a:avLst>
          </a:prstGeom>
          <a:solidFill>
            <a:srgbClr val="ECF3F2"/>
          </a:solidFill>
          <a:ln w="12700">
            <a:solidFill>
              <a:srgbClr val="ECF3F2"/>
            </a:solidFill>
            <a:prstDash val="solid"/>
          </a:ln>
        </p:spPr>
      </p:sp>
      <p:sp>
        <p:nvSpPr>
          <p:cNvPr id="13" name="Shape 11"/>
          <p:cNvSpPr/>
          <p:nvPr/>
        </p:nvSpPr>
        <p:spPr>
          <a:xfrm>
            <a:off x="8371637" y="1779715"/>
            <a:ext cx="2978810" cy="512064"/>
          </a:xfrm>
          <a:prstGeom prst="roundRect">
            <a:avLst>
              <a:gd name="adj" fmla="val 17857"/>
            </a:avLst>
          </a:prstGeom>
          <a:solidFill>
            <a:srgbClr val="2F6E6A"/>
          </a:solidFill>
          <a:ln w="12700">
            <a:solidFill>
              <a:srgbClr val="2F6E6A"/>
            </a:solidFill>
            <a:prstDash val="solid"/>
          </a:ln>
        </p:spPr>
      </p:sp>
      <p:sp>
        <p:nvSpPr>
          <p:cNvPr id="14" name="Text 12"/>
          <p:cNvSpPr/>
          <p:nvPr/>
        </p:nvSpPr>
        <p:spPr>
          <a:xfrm>
            <a:off x="8371637" y="1779715"/>
            <a:ext cx="2978810"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我国：国家的法律监督机关</a:t>
            </a:r>
            <a:endParaRPr lang="en-US" sz="1600" dirty="0"/>
          </a:p>
        </p:txBody>
      </p:sp>
      <p:sp>
        <p:nvSpPr>
          <p:cNvPr id="15" name="Text 13"/>
          <p:cNvSpPr/>
          <p:nvPr/>
        </p:nvSpPr>
        <p:spPr>
          <a:xfrm>
            <a:off x="8463077" y="2438083"/>
            <a:ext cx="2795930" cy="349973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宪法定位为法律监督机关，而非单纯的公诉机关。</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职能覆盖刑事、民事、行政、公益诉讼“四大检察”。</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既承担追诉职能，又对侦查、审判、执行进行监督。</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《检察官法》第五条明确规定客观公正立场，将客观义务法定化。</a:t>
            </a:r>
            <a:endParaRPr lang="en-US" sz="1450" dirty="0"/>
          </a:p>
        </p:txBody>
      </p:sp>
      <p:sp>
        <p:nvSpPr>
          <p:cNvPr id="16"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第9课时 · 05</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2</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检察权的属性之争</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属性决定伦理：检察权是行政权、司法权，还是独立的第四种权力？</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第9课时 · 06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四种学说</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检察权属性的主要学说及其伦理后果</a:t>
            </a:r>
            <a:endParaRPr lang="en-US" sz="2800" dirty="0"/>
          </a:p>
        </p:txBody>
      </p:sp>
      <p:sp>
        <p:nvSpPr>
          <p:cNvPr id="4" name="Shape 2"/>
          <p:cNvSpPr/>
          <p:nvPr/>
        </p:nvSpPr>
        <p:spPr>
          <a:xfrm>
            <a:off x="566928" y="1316736"/>
            <a:ext cx="11057839" cy="1156716"/>
          </a:xfrm>
          <a:prstGeom prst="roundRect">
            <a:avLst>
              <a:gd name="adj" fmla="val 6324"/>
            </a:avLst>
          </a:prstGeom>
          <a:solidFill>
            <a:srgbClr val="F2F4F8"/>
          </a:solidFill>
          <a:ln w="12700">
            <a:solidFill>
              <a:srgbClr val="F2F4F8"/>
            </a:solidFill>
            <a:prstDash val="solid"/>
          </a:ln>
        </p:spPr>
      </p:sp>
      <p:sp>
        <p:nvSpPr>
          <p:cNvPr id="5" name="Shape 3"/>
          <p:cNvSpPr/>
          <p:nvPr/>
        </p:nvSpPr>
        <p:spPr>
          <a:xfrm>
            <a:off x="841248" y="163906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792681"/>
            <a:ext cx="204826" cy="204826"/>
          </a:xfrm>
          <a:prstGeom prst="rect">
            <a:avLst/>
          </a:prstGeom>
        </p:spPr>
      </p:pic>
      <p:sp>
        <p:nvSpPr>
          <p:cNvPr id="7" name="Text 4"/>
          <p:cNvSpPr/>
          <p:nvPr/>
        </p:nvSpPr>
        <p:spPr>
          <a:xfrm>
            <a:off x="1536192" y="151047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行政权说</a:t>
            </a:r>
            <a:endParaRPr lang="en-US" sz="1450" dirty="0"/>
          </a:p>
        </p:txBody>
      </p:sp>
      <p:sp>
        <p:nvSpPr>
          <p:cNvPr id="8" name="Text 5"/>
          <p:cNvSpPr/>
          <p:nvPr/>
        </p:nvSpPr>
        <p:spPr>
          <a:xfrm>
            <a:off x="1536192" y="181933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认为检察权在组织上实行上命下从、在功能上具有主动性与目的性，本质上属于行政权。伦理后果：强调检察一体、服从领导、追求追诉效率；但难以解释检察官为何负有客观义务与监督职能。</a:t>
            </a:r>
            <a:endParaRPr lang="en-US" sz="1250" dirty="0"/>
          </a:p>
        </p:txBody>
      </p:sp>
      <p:sp>
        <p:nvSpPr>
          <p:cNvPr id="9" name="Shape 6"/>
          <p:cNvSpPr/>
          <p:nvPr/>
        </p:nvSpPr>
        <p:spPr>
          <a:xfrm>
            <a:off x="566928" y="2619756"/>
            <a:ext cx="11057839" cy="1156716"/>
          </a:xfrm>
          <a:prstGeom prst="roundRect">
            <a:avLst>
              <a:gd name="adj" fmla="val 6324"/>
            </a:avLst>
          </a:prstGeom>
          <a:solidFill>
            <a:srgbClr val="FFFFFF"/>
          </a:solidFill>
          <a:ln w="12700">
            <a:solidFill>
              <a:srgbClr val="D5DBE5"/>
            </a:solidFill>
            <a:prstDash val="solid"/>
          </a:ln>
        </p:spPr>
      </p:sp>
      <p:sp>
        <p:nvSpPr>
          <p:cNvPr id="10" name="Shape 7"/>
          <p:cNvSpPr/>
          <p:nvPr/>
        </p:nvSpPr>
        <p:spPr>
          <a:xfrm>
            <a:off x="841248" y="294208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095701"/>
            <a:ext cx="204826" cy="204826"/>
          </a:xfrm>
          <a:prstGeom prst="rect">
            <a:avLst/>
          </a:prstGeom>
        </p:spPr>
      </p:pic>
      <p:sp>
        <p:nvSpPr>
          <p:cNvPr id="12" name="Text 8"/>
          <p:cNvSpPr/>
          <p:nvPr/>
        </p:nvSpPr>
        <p:spPr>
          <a:xfrm>
            <a:off x="1536192" y="281349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司法权说</a:t>
            </a:r>
            <a:endParaRPr lang="en-US" sz="1450" dirty="0"/>
          </a:p>
        </p:txBody>
      </p:sp>
      <p:sp>
        <p:nvSpPr>
          <p:cNvPr id="13" name="Text 9"/>
          <p:cNvSpPr/>
          <p:nvPr/>
        </p:nvSpPr>
        <p:spPr>
          <a:xfrm>
            <a:off x="1536192" y="312235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认为检察官参与刑事诉讼、作出不起诉等准裁判性决定，且负有客观义务，应属广义的司法权。伦理后果：强调检察官的独立性、中立性与职业良知；但难以解释检察一体与上命下从。</a:t>
            </a:r>
            <a:endParaRPr lang="en-US" sz="1250" dirty="0"/>
          </a:p>
        </p:txBody>
      </p:sp>
      <p:sp>
        <p:nvSpPr>
          <p:cNvPr id="14" name="Shape 10"/>
          <p:cNvSpPr/>
          <p:nvPr/>
        </p:nvSpPr>
        <p:spPr>
          <a:xfrm>
            <a:off x="566928" y="3922776"/>
            <a:ext cx="11057839" cy="1156716"/>
          </a:xfrm>
          <a:prstGeom prst="roundRect">
            <a:avLst>
              <a:gd name="adj" fmla="val 6324"/>
            </a:avLst>
          </a:prstGeom>
          <a:solidFill>
            <a:srgbClr val="F2F4F8"/>
          </a:solidFill>
          <a:ln w="12700">
            <a:solidFill>
              <a:srgbClr val="F2F4F8"/>
            </a:solidFill>
            <a:prstDash val="solid"/>
          </a:ln>
        </p:spPr>
      </p:sp>
      <p:sp>
        <p:nvSpPr>
          <p:cNvPr id="15" name="Shape 11"/>
          <p:cNvSpPr/>
          <p:nvPr/>
        </p:nvSpPr>
        <p:spPr>
          <a:xfrm>
            <a:off x="841248" y="42451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398721"/>
            <a:ext cx="204826" cy="204826"/>
          </a:xfrm>
          <a:prstGeom prst="rect">
            <a:avLst/>
          </a:prstGeom>
        </p:spPr>
      </p:pic>
      <p:sp>
        <p:nvSpPr>
          <p:cNvPr id="17" name="Text 12"/>
          <p:cNvSpPr/>
          <p:nvPr/>
        </p:nvSpPr>
        <p:spPr>
          <a:xfrm>
            <a:off x="1536192" y="411651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双重属性说</a:t>
            </a:r>
            <a:endParaRPr lang="en-US" sz="1450" dirty="0"/>
          </a:p>
        </p:txBody>
      </p:sp>
      <p:sp>
        <p:nvSpPr>
          <p:cNvPr id="18" name="Text 13"/>
          <p:cNvSpPr/>
          <p:nvPr/>
        </p:nvSpPr>
        <p:spPr>
          <a:xfrm>
            <a:off x="1536192" y="442537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认为检察权兼具行政与司法双重属性：在组织管理上呈现行政性，在职权行使上呈现司法性。伦理后果：检察官须同时接受组织领导与坚守客观立场，二者在个案中可能冲突，这正是检察伦理的核心难题。</a:t>
            </a:r>
            <a:endParaRPr lang="en-US" sz="1250" dirty="0"/>
          </a:p>
        </p:txBody>
      </p:sp>
      <p:sp>
        <p:nvSpPr>
          <p:cNvPr id="19" name="Shape 14"/>
          <p:cNvSpPr/>
          <p:nvPr/>
        </p:nvSpPr>
        <p:spPr>
          <a:xfrm>
            <a:off x="566928" y="5225796"/>
            <a:ext cx="11057839" cy="1156716"/>
          </a:xfrm>
          <a:prstGeom prst="roundRect">
            <a:avLst>
              <a:gd name="adj" fmla="val 6324"/>
            </a:avLst>
          </a:prstGeom>
          <a:solidFill>
            <a:srgbClr val="FFFFFF"/>
          </a:solidFill>
          <a:ln w="12700">
            <a:solidFill>
              <a:srgbClr val="D5DBE5"/>
            </a:solidFill>
            <a:prstDash val="solid"/>
          </a:ln>
        </p:spPr>
      </p:sp>
      <p:sp>
        <p:nvSpPr>
          <p:cNvPr id="20" name="Shape 15"/>
          <p:cNvSpPr/>
          <p:nvPr/>
        </p:nvSpPr>
        <p:spPr>
          <a:xfrm>
            <a:off x="841248" y="5548122"/>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01741"/>
            <a:ext cx="204826" cy="204826"/>
          </a:xfrm>
          <a:prstGeom prst="rect">
            <a:avLst/>
          </a:prstGeom>
        </p:spPr>
      </p:pic>
      <p:sp>
        <p:nvSpPr>
          <p:cNvPr id="22" name="Text 16"/>
          <p:cNvSpPr/>
          <p:nvPr/>
        </p:nvSpPr>
        <p:spPr>
          <a:xfrm>
            <a:off x="1536192" y="541953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独立的法律监督权说</a:t>
            </a:r>
            <a:endParaRPr lang="en-US" sz="1450" dirty="0"/>
          </a:p>
        </p:txBody>
      </p:sp>
      <p:sp>
        <p:nvSpPr>
          <p:cNvPr id="23" name="Text 17"/>
          <p:cNvSpPr/>
          <p:nvPr/>
        </p:nvSpPr>
        <p:spPr>
          <a:xfrm>
            <a:off x="1536192" y="572839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我国通说。认为检察权是宪法配置的、独立于行政权与审判权的法律监督权。伦理后果：检察官的首要品格是“担当”——不仅要追诉犯罪，更要监督法律统一正确实施，包括监督侦查机关与审判机关。</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第9课时 · 07</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方法论提示</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属性之争为什么与职业伦理直接相关</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这不是一场抽象的学理争论。你对检察权属性的判断，会直接决定你在具体情境中的选择。</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如果检察权是纯粹行政权：检察官接到检察长的指令时，服从是首要义务，个人的不同意见服从组织决定。</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如果检察权是司法权：检察官应当像法官一样独立判断，检察长不得干预其对个案的法律判断。</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如果采双重属性说或法律监督权说：检察官须在组织领导与职业良知之间寻求平衡——这正是《检察官法》所采取的路径，我们将在第五节看到它的具体制度安排。</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请记住第5课时确立的方法论：权力属性 → 行为要求 → 伦理规范。检察权属性的复杂性，正是检察官伦理比法官伦理更为纠结的原因。</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第9课时 · 08</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3</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检察官的多重角色与“四大检察”</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一个人身上同时装着几个角色，冲突就在所难免</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第9课时 · 09</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角色</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检察官的四重角色</a:t>
            </a:r>
            <a:endParaRPr lang="en-US" sz="2800" dirty="0"/>
          </a:p>
        </p:txBody>
      </p:sp>
      <p:sp>
        <p:nvSpPr>
          <p:cNvPr id="4" name="Shape 2"/>
          <p:cNvSpPr/>
          <p:nvPr/>
        </p:nvSpPr>
        <p:spPr>
          <a:xfrm>
            <a:off x="566928" y="1316736"/>
            <a:ext cx="5410048" cy="2423160"/>
          </a:xfrm>
          <a:prstGeom prst="roundRect">
            <a:avLst>
              <a:gd name="adj" fmla="val 3774"/>
            </a:avLst>
          </a:prstGeom>
          <a:solidFill>
            <a:srgbClr val="F2F4F8"/>
          </a:solidFill>
          <a:ln w="12700">
            <a:solidFill>
              <a:srgbClr val="F2F4F8"/>
            </a:solidFill>
            <a:prstDash val="solid"/>
          </a:ln>
        </p:spPr>
      </p:sp>
      <p:sp>
        <p:nvSpPr>
          <p:cNvPr id="5" name="Shape 3"/>
          <p:cNvSpPr/>
          <p:nvPr/>
        </p:nvSpPr>
        <p:spPr>
          <a:xfrm>
            <a:off x="886968" y="1609344"/>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746504"/>
            <a:ext cx="182880" cy="182880"/>
          </a:xfrm>
          <a:prstGeom prst="rect">
            <a:avLst/>
          </a:prstGeom>
        </p:spPr>
      </p:pic>
      <p:sp>
        <p:nvSpPr>
          <p:cNvPr id="7" name="Text 4"/>
          <p:cNvSpPr/>
          <p:nvPr/>
        </p:nvSpPr>
        <p:spPr>
          <a:xfrm>
            <a:off x="886968" y="2231136"/>
            <a:ext cx="4769968" cy="261937"/>
          </a:xfrm>
          <a:prstGeom prst="rect">
            <a:avLst/>
          </a:prstGeom>
          <a:noFill/>
          <a:ln/>
        </p:spPr>
        <p:txBody>
          <a:bodyPr wrap="square" lIns="0" tIns="0" rIns="0" bIns="0" rtlCol="0" anchor="t"/>
          <a:lstStyle/>
          <a:p>
            <a:pPr indent="0" marL="0">
              <a:lnSpc>
                <a:spcPts val="2063"/>
              </a:lnSpc>
              <a:buNone/>
            </a:pPr>
            <a:r>
              <a:rPr lang="en-US" sz="1650" b="1" dirty="0">
                <a:solidFill>
                  <a:srgbClr val="13233F"/>
                </a:solidFill>
                <a:latin typeface="微软雅黑" pitchFamily="34" charset="0"/>
                <a:ea typeface="微软雅黑" pitchFamily="34" charset="-122"/>
                <a:cs typeface="微软雅黑" pitchFamily="34" charset="-120"/>
              </a:rPr>
              <a:t>追诉者：公诉人</a:t>
            </a:r>
            <a:endParaRPr lang="en-US" sz="1650" dirty="0"/>
          </a:p>
        </p:txBody>
      </p:sp>
      <p:sp>
        <p:nvSpPr>
          <p:cNvPr id="8" name="Text 5"/>
          <p:cNvSpPr/>
          <p:nvPr/>
        </p:nvSpPr>
        <p:spPr>
          <a:xfrm>
            <a:off x="886968" y="2621090"/>
            <a:ext cx="4769968" cy="899350"/>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代表国家提起并支持公诉，承担证明被告人有罪的举证责任。这是检察官最为人熟知的角色，也是“胜诉冲动”的来源。</a:t>
            </a:r>
            <a:endParaRPr lang="en-US" sz="1400" dirty="0"/>
          </a:p>
        </p:txBody>
      </p:sp>
      <p:sp>
        <p:nvSpPr>
          <p:cNvPr id="9" name="Shape 6"/>
          <p:cNvSpPr/>
          <p:nvPr/>
        </p:nvSpPr>
        <p:spPr>
          <a:xfrm>
            <a:off x="6214720" y="1316736"/>
            <a:ext cx="5410048" cy="2423160"/>
          </a:xfrm>
          <a:prstGeom prst="roundRect">
            <a:avLst>
              <a:gd name="adj" fmla="val 3774"/>
            </a:avLst>
          </a:prstGeom>
          <a:solidFill>
            <a:srgbClr val="F6F1E8"/>
          </a:solidFill>
          <a:ln w="12700">
            <a:solidFill>
              <a:srgbClr val="F6F1E8"/>
            </a:solidFill>
            <a:prstDash val="solid"/>
          </a:ln>
        </p:spPr>
      </p:sp>
      <p:sp>
        <p:nvSpPr>
          <p:cNvPr id="10" name="Shape 7"/>
          <p:cNvSpPr/>
          <p:nvPr/>
        </p:nvSpPr>
        <p:spPr>
          <a:xfrm>
            <a:off x="6534760" y="1609344"/>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6671920" y="1746504"/>
            <a:ext cx="182880" cy="182880"/>
          </a:xfrm>
          <a:prstGeom prst="rect">
            <a:avLst/>
          </a:prstGeom>
        </p:spPr>
      </p:pic>
      <p:sp>
        <p:nvSpPr>
          <p:cNvPr id="12" name="Text 8"/>
          <p:cNvSpPr/>
          <p:nvPr/>
        </p:nvSpPr>
        <p:spPr>
          <a:xfrm>
            <a:off x="6534760" y="2231136"/>
            <a:ext cx="4769968" cy="261937"/>
          </a:xfrm>
          <a:prstGeom prst="rect">
            <a:avLst/>
          </a:prstGeom>
          <a:noFill/>
          <a:ln/>
        </p:spPr>
        <p:txBody>
          <a:bodyPr wrap="square" lIns="0" tIns="0" rIns="0" bIns="0" rtlCol="0" anchor="t"/>
          <a:lstStyle/>
          <a:p>
            <a:pPr indent="0" marL="0">
              <a:lnSpc>
                <a:spcPts val="2063"/>
              </a:lnSpc>
              <a:buNone/>
            </a:pPr>
            <a:r>
              <a:rPr lang="en-US" sz="1650" b="1" dirty="0">
                <a:solidFill>
                  <a:srgbClr val="13233F"/>
                </a:solidFill>
                <a:latin typeface="微软雅黑" pitchFamily="34" charset="0"/>
                <a:ea typeface="微软雅黑" pitchFamily="34" charset="-122"/>
                <a:cs typeface="微软雅黑" pitchFamily="34" charset="-120"/>
              </a:rPr>
              <a:t>监督者：法律监督</a:t>
            </a:r>
            <a:endParaRPr lang="en-US" sz="1650" dirty="0"/>
          </a:p>
        </p:txBody>
      </p:sp>
      <p:sp>
        <p:nvSpPr>
          <p:cNvPr id="13" name="Text 9"/>
          <p:cNvSpPr/>
          <p:nvPr/>
        </p:nvSpPr>
        <p:spPr>
          <a:xfrm>
            <a:off x="6534760" y="2621090"/>
            <a:ext cx="4769968" cy="899350"/>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对侦查活动、审判活动、刑事执行进行监督；对确有错误的生效裁判提出抗诉。监督者角色要求检察官在必要时站到“自己人”的对立面——包括为被告人的利益提出抗诉。</a:t>
            </a:r>
            <a:endParaRPr lang="en-US" sz="1400" dirty="0"/>
          </a:p>
        </p:txBody>
      </p:sp>
      <p:sp>
        <p:nvSpPr>
          <p:cNvPr id="14" name="Shape 10"/>
          <p:cNvSpPr/>
          <p:nvPr/>
        </p:nvSpPr>
        <p:spPr>
          <a:xfrm>
            <a:off x="566928" y="3959352"/>
            <a:ext cx="5410048" cy="2423160"/>
          </a:xfrm>
          <a:prstGeom prst="roundRect">
            <a:avLst>
              <a:gd name="adj" fmla="val 3774"/>
            </a:avLst>
          </a:prstGeom>
          <a:solidFill>
            <a:srgbClr val="ECF3F2"/>
          </a:solidFill>
          <a:ln w="12700">
            <a:solidFill>
              <a:srgbClr val="ECF3F2"/>
            </a:solidFill>
            <a:prstDash val="solid"/>
          </a:ln>
        </p:spPr>
      </p:sp>
      <p:sp>
        <p:nvSpPr>
          <p:cNvPr id="15" name="Shape 11"/>
          <p:cNvSpPr/>
          <p:nvPr/>
        </p:nvSpPr>
        <p:spPr>
          <a:xfrm>
            <a:off x="886968" y="4251960"/>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1024128" y="4389120"/>
            <a:ext cx="182880" cy="182880"/>
          </a:xfrm>
          <a:prstGeom prst="rect">
            <a:avLst/>
          </a:prstGeom>
        </p:spPr>
      </p:pic>
      <p:sp>
        <p:nvSpPr>
          <p:cNvPr id="17" name="Text 12"/>
          <p:cNvSpPr/>
          <p:nvPr/>
        </p:nvSpPr>
        <p:spPr>
          <a:xfrm>
            <a:off x="886968" y="4873752"/>
            <a:ext cx="4769968" cy="261937"/>
          </a:xfrm>
          <a:prstGeom prst="rect">
            <a:avLst/>
          </a:prstGeom>
          <a:noFill/>
          <a:ln/>
        </p:spPr>
        <p:txBody>
          <a:bodyPr wrap="square" lIns="0" tIns="0" rIns="0" bIns="0" rtlCol="0" anchor="t"/>
          <a:lstStyle/>
          <a:p>
            <a:pPr indent="0" marL="0">
              <a:lnSpc>
                <a:spcPts val="2063"/>
              </a:lnSpc>
              <a:buNone/>
            </a:pPr>
            <a:r>
              <a:rPr lang="en-US" sz="1650" b="1" dirty="0">
                <a:solidFill>
                  <a:srgbClr val="13233F"/>
                </a:solidFill>
                <a:latin typeface="微软雅黑" pitchFamily="34" charset="0"/>
                <a:ea typeface="微软雅黑" pitchFamily="34" charset="-122"/>
                <a:cs typeface="微软雅黑" pitchFamily="34" charset="-120"/>
              </a:rPr>
              <a:t>公益代表：公益诉讼</a:t>
            </a:r>
            <a:endParaRPr lang="en-US" sz="1650" dirty="0"/>
          </a:p>
        </p:txBody>
      </p:sp>
      <p:sp>
        <p:nvSpPr>
          <p:cNvPr id="18" name="Text 13"/>
          <p:cNvSpPr/>
          <p:nvPr/>
        </p:nvSpPr>
        <p:spPr>
          <a:xfrm>
            <a:off x="886968" y="5263706"/>
            <a:ext cx="4769968" cy="899350"/>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在生态环境、食品药品安全、国有财产保护、国有土地使用权出让、英雄烈士权益等领域提起公益诉讼。这一角色要求检察官超越具体当事人，代表不特定多数人的利益。</a:t>
            </a:r>
            <a:endParaRPr lang="en-US" sz="1400" dirty="0"/>
          </a:p>
        </p:txBody>
      </p:sp>
      <p:sp>
        <p:nvSpPr>
          <p:cNvPr id="19" name="Shape 14"/>
          <p:cNvSpPr/>
          <p:nvPr/>
        </p:nvSpPr>
        <p:spPr>
          <a:xfrm>
            <a:off x="6214720" y="3959352"/>
            <a:ext cx="5410048" cy="2423160"/>
          </a:xfrm>
          <a:prstGeom prst="roundRect">
            <a:avLst>
              <a:gd name="adj" fmla="val 3774"/>
            </a:avLst>
          </a:prstGeom>
          <a:solidFill>
            <a:srgbClr val="F8EFF0"/>
          </a:solidFill>
          <a:ln w="12700">
            <a:solidFill>
              <a:srgbClr val="F8EFF0"/>
            </a:solidFill>
            <a:prstDash val="solid"/>
          </a:ln>
        </p:spPr>
      </p:sp>
      <p:sp>
        <p:nvSpPr>
          <p:cNvPr id="20" name="Shape 15"/>
          <p:cNvSpPr/>
          <p:nvPr/>
        </p:nvSpPr>
        <p:spPr>
          <a:xfrm>
            <a:off x="6534760" y="4251960"/>
            <a:ext cx="457200" cy="457200"/>
          </a:xfrm>
          <a:prstGeom prst="ellipse">
            <a:avLst/>
          </a:prstGeom>
          <a:solidFill>
            <a:srgbClr val="8E2C3B"/>
          </a:solidFill>
          <a:ln w="12700">
            <a:solidFill>
              <a:srgbClr val="8E2C3B"/>
            </a:solidFill>
            <a:prstDash val="solid"/>
          </a:ln>
        </p:spPr>
      </p:sp>
      <p:pic>
        <p:nvPicPr>
          <p:cNvPr id="21" name="Image 3" descr="preencoded.png">    </p:cNvPr>
          <p:cNvPicPr>
            <a:picLocks noChangeAspect="1"/>
          </p:cNvPicPr>
          <p:nvPr/>
        </p:nvPicPr>
        <p:blipFill>
          <a:blip r:embed="rId4"/>
          <a:stretch>
            <a:fillRect/>
          </a:stretch>
        </p:blipFill>
        <p:spPr>
          <a:xfrm>
            <a:off x="6671920" y="4389120"/>
            <a:ext cx="182880" cy="182880"/>
          </a:xfrm>
          <a:prstGeom prst="rect">
            <a:avLst/>
          </a:prstGeom>
        </p:spPr>
      </p:pic>
      <p:sp>
        <p:nvSpPr>
          <p:cNvPr id="22" name="Text 16"/>
          <p:cNvSpPr/>
          <p:nvPr/>
        </p:nvSpPr>
        <p:spPr>
          <a:xfrm>
            <a:off x="6534760" y="4873752"/>
            <a:ext cx="4769968" cy="261937"/>
          </a:xfrm>
          <a:prstGeom prst="rect">
            <a:avLst/>
          </a:prstGeom>
          <a:noFill/>
          <a:ln/>
        </p:spPr>
        <p:txBody>
          <a:bodyPr wrap="square" lIns="0" tIns="0" rIns="0" bIns="0" rtlCol="0" anchor="t"/>
          <a:lstStyle/>
          <a:p>
            <a:pPr indent="0" marL="0">
              <a:lnSpc>
                <a:spcPts val="2063"/>
              </a:lnSpc>
              <a:buNone/>
            </a:pPr>
            <a:r>
              <a:rPr lang="en-US" sz="1650" b="1" dirty="0">
                <a:solidFill>
                  <a:srgbClr val="13233F"/>
                </a:solidFill>
                <a:latin typeface="微软雅黑" pitchFamily="34" charset="0"/>
                <a:ea typeface="微软雅黑" pitchFamily="34" charset="-122"/>
                <a:cs typeface="微软雅黑" pitchFamily="34" charset="-120"/>
              </a:rPr>
              <a:t>保护者：未检与救助</a:t>
            </a:r>
            <a:endParaRPr lang="en-US" sz="1650" dirty="0"/>
          </a:p>
        </p:txBody>
      </p:sp>
      <p:sp>
        <p:nvSpPr>
          <p:cNvPr id="23" name="Text 17"/>
          <p:cNvSpPr/>
          <p:nvPr/>
        </p:nvSpPr>
        <p:spPr>
          <a:xfrm>
            <a:off x="6534760" y="5263706"/>
            <a:ext cx="4769968" cy="899350"/>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未成年人检察实行专门化办理，强调教育、感化、挽救；对因案致困当事人开展司法救助。这一角色要求检察官在追诉之外承担社会修复功能。</a:t>
            </a:r>
            <a:endParaRPr lang="en-US" sz="140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第9课时 · 10</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职能格局</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“四大检察”“十大业务”的新格局</a:t>
            </a:r>
            <a:endParaRPr lang="en-US" sz="2800" dirty="0"/>
          </a:p>
        </p:txBody>
      </p:sp>
      <p:sp>
        <p:nvSpPr>
          <p:cNvPr id="4" name="Shape 2"/>
          <p:cNvSpPr/>
          <p:nvPr/>
        </p:nvSpPr>
        <p:spPr>
          <a:xfrm>
            <a:off x="566928" y="2101152"/>
            <a:ext cx="2586152" cy="2994025"/>
          </a:xfrm>
          <a:prstGeom prst="roundRect">
            <a:avLst>
              <a:gd name="adj" fmla="val 3536"/>
            </a:avLst>
          </a:prstGeom>
          <a:solidFill>
            <a:srgbClr val="13233F"/>
          </a:solidFill>
          <a:ln w="12700">
            <a:solidFill>
              <a:srgbClr val="13233F"/>
            </a:solidFill>
            <a:prstDash val="solid"/>
          </a:ln>
        </p:spPr>
      </p:sp>
      <p:sp>
        <p:nvSpPr>
          <p:cNvPr id="5" name="Text 3"/>
          <p:cNvSpPr/>
          <p:nvPr/>
        </p:nvSpPr>
        <p:spPr>
          <a:xfrm>
            <a:off x="749808" y="2430336"/>
            <a:ext cx="2220392" cy="1024128"/>
          </a:xfrm>
          <a:prstGeom prst="rect">
            <a:avLst/>
          </a:prstGeom>
          <a:noFill/>
          <a:ln/>
        </p:spPr>
        <p:txBody>
          <a:bodyPr wrap="square" lIns="0" tIns="0" rIns="0" bIns="0" rtlCol="0" anchor="ctr"/>
          <a:lstStyle/>
          <a:p>
            <a:pPr algn="ctr" indent="0" marL="0">
              <a:buNone/>
            </a:pPr>
            <a:r>
              <a:rPr lang="en-US" sz="5172" b="1" dirty="0">
                <a:solidFill>
                  <a:srgbClr val="B08D57"/>
                </a:solidFill>
                <a:latin typeface="Arial" pitchFamily="34" charset="0"/>
                <a:ea typeface="Arial" pitchFamily="34" charset="-122"/>
                <a:cs typeface="Arial" pitchFamily="34" charset="-120"/>
              </a:rPr>
              <a:t>刑事检察</a:t>
            </a:r>
            <a:endParaRPr lang="en-US" sz="5172" dirty="0"/>
          </a:p>
        </p:txBody>
      </p:sp>
      <p:sp>
        <p:nvSpPr>
          <p:cNvPr id="6" name="Text 4"/>
          <p:cNvSpPr/>
          <p:nvPr/>
        </p:nvSpPr>
        <p:spPr>
          <a:xfrm>
            <a:off x="886968" y="3582480"/>
            <a:ext cx="1946072" cy="264160"/>
          </a:xfrm>
          <a:prstGeom prst="rect">
            <a:avLst/>
          </a:prstGeom>
          <a:noFill/>
          <a:ln/>
        </p:spPr>
        <p:txBody>
          <a:bodyPr wrap="square" lIns="0" tIns="0" rIns="0" bIns="0" rtlCol="0" anchor="t"/>
          <a:lstStyle/>
          <a:p>
            <a:pPr algn="ctr" indent="0" marL="0">
              <a:lnSpc>
                <a:spcPts val="2080"/>
              </a:lnSpc>
              <a:buNone/>
            </a:pPr>
            <a:r>
              <a:rPr lang="en-US" sz="1600" b="1" dirty="0">
                <a:solidFill>
                  <a:srgbClr val="FFFFFF"/>
                </a:solidFill>
                <a:latin typeface="微软雅黑" pitchFamily="34" charset="0"/>
                <a:ea typeface="微软雅黑" pitchFamily="34" charset="-122"/>
                <a:cs typeface="微软雅黑" pitchFamily="34" charset="-120"/>
              </a:rPr>
              <a:t>传统主责主业</a:t>
            </a:r>
            <a:endParaRPr lang="en-US" sz="1600" dirty="0"/>
          </a:p>
        </p:txBody>
      </p:sp>
      <p:sp>
        <p:nvSpPr>
          <p:cNvPr id="7" name="Text 5"/>
          <p:cNvSpPr/>
          <p:nvPr/>
        </p:nvSpPr>
        <p:spPr>
          <a:xfrm>
            <a:off x="886968" y="4047808"/>
            <a:ext cx="1946072" cy="864489"/>
          </a:xfrm>
          <a:prstGeom prst="rect">
            <a:avLst/>
          </a:prstGeom>
          <a:noFill/>
          <a:ln/>
        </p:spPr>
        <p:txBody>
          <a:bodyPr wrap="square" lIns="0" tIns="0" rIns="0" bIns="0" rtlCol="0" anchor="t"/>
          <a:lstStyle/>
          <a:p>
            <a:pPr algn="ctr" indent="0" marL="0">
              <a:lnSpc>
                <a:spcPts val="1885"/>
              </a:lnSpc>
              <a:buNone/>
            </a:pPr>
            <a:r>
              <a:rPr lang="en-US" sz="1300" dirty="0">
                <a:solidFill>
                  <a:srgbClr val="E4E9F1"/>
                </a:solidFill>
                <a:latin typeface="微软雅黑" pitchFamily="34" charset="0"/>
                <a:ea typeface="微软雅黑" pitchFamily="34" charset="-122"/>
                <a:cs typeface="微软雅黑" pitchFamily="34" charset="-120"/>
              </a:rPr>
              <a:t>审查逮捕、审查起诉、出庭公诉、刑事诉讼监督、刑事执行检察</a:t>
            </a:r>
            <a:endParaRPr lang="en-US" sz="1300" dirty="0"/>
          </a:p>
        </p:txBody>
      </p:sp>
      <p:sp>
        <p:nvSpPr>
          <p:cNvPr id="8" name="Shape 6"/>
          <p:cNvSpPr/>
          <p:nvPr/>
        </p:nvSpPr>
        <p:spPr>
          <a:xfrm>
            <a:off x="3390824" y="2101152"/>
            <a:ext cx="2586152" cy="2994025"/>
          </a:xfrm>
          <a:prstGeom prst="roundRect">
            <a:avLst>
              <a:gd name="adj" fmla="val 3536"/>
            </a:avLst>
          </a:prstGeom>
          <a:solidFill>
            <a:srgbClr val="F6F1E8"/>
          </a:solidFill>
          <a:ln w="12700">
            <a:solidFill>
              <a:srgbClr val="F6F1E8"/>
            </a:solidFill>
            <a:prstDash val="solid"/>
          </a:ln>
        </p:spPr>
      </p:sp>
      <p:sp>
        <p:nvSpPr>
          <p:cNvPr id="9" name="Text 7"/>
          <p:cNvSpPr/>
          <p:nvPr/>
        </p:nvSpPr>
        <p:spPr>
          <a:xfrm>
            <a:off x="3573704" y="2430336"/>
            <a:ext cx="2220392" cy="1024128"/>
          </a:xfrm>
          <a:prstGeom prst="rect">
            <a:avLst/>
          </a:prstGeom>
          <a:noFill/>
          <a:ln/>
        </p:spPr>
        <p:txBody>
          <a:bodyPr wrap="square" lIns="0" tIns="0" rIns="0" bIns="0" rtlCol="0" anchor="ctr"/>
          <a:lstStyle/>
          <a:p>
            <a:pPr algn="ctr" indent="0" marL="0">
              <a:buNone/>
            </a:pPr>
            <a:r>
              <a:rPr lang="en-US" sz="5172" b="1" dirty="0">
                <a:solidFill>
                  <a:srgbClr val="B08D57"/>
                </a:solidFill>
                <a:latin typeface="Arial" pitchFamily="34" charset="0"/>
                <a:ea typeface="Arial" pitchFamily="34" charset="-122"/>
                <a:cs typeface="Arial" pitchFamily="34" charset="-120"/>
              </a:rPr>
              <a:t>民事检察</a:t>
            </a:r>
            <a:endParaRPr lang="en-US" sz="5172" dirty="0"/>
          </a:p>
        </p:txBody>
      </p:sp>
      <p:sp>
        <p:nvSpPr>
          <p:cNvPr id="10" name="Text 8"/>
          <p:cNvSpPr/>
          <p:nvPr/>
        </p:nvSpPr>
        <p:spPr>
          <a:xfrm>
            <a:off x="3710864" y="3582480"/>
            <a:ext cx="1946072" cy="264160"/>
          </a:xfrm>
          <a:prstGeom prst="rect">
            <a:avLst/>
          </a:prstGeom>
          <a:noFill/>
          <a:ln/>
        </p:spPr>
        <p:txBody>
          <a:bodyPr wrap="square" lIns="0" tIns="0" rIns="0" bIns="0" rtlCol="0" anchor="t"/>
          <a:lstStyle/>
          <a:p>
            <a:pPr algn="ctr" indent="0" marL="0">
              <a:lnSpc>
                <a:spcPts val="2080"/>
              </a:lnSpc>
              <a:buNone/>
            </a:pPr>
            <a:r>
              <a:rPr lang="en-US" sz="1600" b="1" dirty="0">
                <a:solidFill>
                  <a:srgbClr val="13233F"/>
                </a:solidFill>
                <a:latin typeface="微软雅黑" pitchFamily="34" charset="0"/>
                <a:ea typeface="微软雅黑" pitchFamily="34" charset="-122"/>
                <a:cs typeface="微软雅黑" pitchFamily="34" charset="-120"/>
              </a:rPr>
              <a:t>生效裁判监督</a:t>
            </a:r>
            <a:endParaRPr lang="en-US" sz="1600" dirty="0"/>
          </a:p>
        </p:txBody>
      </p:sp>
      <p:sp>
        <p:nvSpPr>
          <p:cNvPr id="11" name="Text 9"/>
          <p:cNvSpPr/>
          <p:nvPr/>
        </p:nvSpPr>
        <p:spPr>
          <a:xfrm>
            <a:off x="3710864" y="4047808"/>
            <a:ext cx="1946072" cy="864489"/>
          </a:xfrm>
          <a:prstGeom prst="rect">
            <a:avLst/>
          </a:prstGeom>
          <a:noFill/>
          <a:ln/>
        </p:spPr>
        <p:txBody>
          <a:bodyPr wrap="square" lIns="0" tIns="0" rIns="0" bIns="0" rtlCol="0" anchor="t"/>
          <a:lstStyle/>
          <a:p>
            <a:pPr algn="ctr" indent="0" marL="0">
              <a:lnSpc>
                <a:spcPts val="1885"/>
              </a:lnSpc>
              <a:buNone/>
            </a:pPr>
            <a:r>
              <a:rPr lang="en-US" sz="1300" dirty="0">
                <a:solidFill>
                  <a:srgbClr val="32404F"/>
                </a:solidFill>
                <a:latin typeface="微软雅黑" pitchFamily="34" charset="0"/>
                <a:ea typeface="微软雅黑" pitchFamily="34" charset="-122"/>
                <a:cs typeface="微软雅黑" pitchFamily="34" charset="-120"/>
              </a:rPr>
              <a:t>对民事生效裁判、调解书、审判程序、执行活动进行监督</a:t>
            </a:r>
            <a:endParaRPr lang="en-US" sz="1300" dirty="0"/>
          </a:p>
        </p:txBody>
      </p:sp>
      <p:sp>
        <p:nvSpPr>
          <p:cNvPr id="12" name="Shape 10"/>
          <p:cNvSpPr/>
          <p:nvPr/>
        </p:nvSpPr>
        <p:spPr>
          <a:xfrm>
            <a:off x="6214720" y="2101152"/>
            <a:ext cx="2586152" cy="2994025"/>
          </a:xfrm>
          <a:prstGeom prst="roundRect">
            <a:avLst>
              <a:gd name="adj" fmla="val 3536"/>
            </a:avLst>
          </a:prstGeom>
          <a:solidFill>
            <a:srgbClr val="ECF3F2"/>
          </a:solidFill>
          <a:ln w="12700">
            <a:solidFill>
              <a:srgbClr val="ECF3F2"/>
            </a:solidFill>
            <a:prstDash val="solid"/>
          </a:ln>
        </p:spPr>
      </p:sp>
      <p:sp>
        <p:nvSpPr>
          <p:cNvPr id="13" name="Text 11"/>
          <p:cNvSpPr/>
          <p:nvPr/>
        </p:nvSpPr>
        <p:spPr>
          <a:xfrm>
            <a:off x="6397600" y="2430336"/>
            <a:ext cx="2220392" cy="1024128"/>
          </a:xfrm>
          <a:prstGeom prst="rect">
            <a:avLst/>
          </a:prstGeom>
          <a:noFill/>
          <a:ln/>
        </p:spPr>
        <p:txBody>
          <a:bodyPr wrap="square" lIns="0" tIns="0" rIns="0" bIns="0" rtlCol="0" anchor="ctr"/>
          <a:lstStyle/>
          <a:p>
            <a:pPr algn="ctr" indent="0" marL="0">
              <a:buNone/>
            </a:pPr>
            <a:r>
              <a:rPr lang="en-US" sz="5172" b="1" dirty="0">
                <a:solidFill>
                  <a:srgbClr val="2F6E6A"/>
                </a:solidFill>
                <a:latin typeface="Arial" pitchFamily="34" charset="0"/>
                <a:ea typeface="Arial" pitchFamily="34" charset="-122"/>
                <a:cs typeface="Arial" pitchFamily="34" charset="-120"/>
              </a:rPr>
              <a:t>行政检察</a:t>
            </a:r>
            <a:endParaRPr lang="en-US" sz="5172" dirty="0"/>
          </a:p>
        </p:txBody>
      </p:sp>
      <p:sp>
        <p:nvSpPr>
          <p:cNvPr id="14" name="Text 12"/>
          <p:cNvSpPr/>
          <p:nvPr/>
        </p:nvSpPr>
        <p:spPr>
          <a:xfrm>
            <a:off x="6534760" y="3582480"/>
            <a:ext cx="1946072" cy="264160"/>
          </a:xfrm>
          <a:prstGeom prst="rect">
            <a:avLst/>
          </a:prstGeom>
          <a:noFill/>
          <a:ln/>
        </p:spPr>
        <p:txBody>
          <a:bodyPr wrap="square" lIns="0" tIns="0" rIns="0" bIns="0" rtlCol="0" anchor="t"/>
          <a:lstStyle/>
          <a:p>
            <a:pPr algn="ctr" indent="0" marL="0">
              <a:lnSpc>
                <a:spcPts val="2080"/>
              </a:lnSpc>
              <a:buNone/>
            </a:pPr>
            <a:r>
              <a:rPr lang="en-US" sz="1600" b="1" dirty="0">
                <a:solidFill>
                  <a:srgbClr val="13233F"/>
                </a:solidFill>
                <a:latin typeface="微软雅黑" pitchFamily="34" charset="0"/>
                <a:ea typeface="微软雅黑" pitchFamily="34" charset="-122"/>
                <a:cs typeface="微软雅黑" pitchFamily="34" charset="-120"/>
              </a:rPr>
              <a:t>监督与实质化解</a:t>
            </a:r>
            <a:endParaRPr lang="en-US" sz="1600" dirty="0"/>
          </a:p>
        </p:txBody>
      </p:sp>
      <p:sp>
        <p:nvSpPr>
          <p:cNvPr id="15" name="Text 13"/>
          <p:cNvSpPr/>
          <p:nvPr/>
        </p:nvSpPr>
        <p:spPr>
          <a:xfrm>
            <a:off x="6534760" y="4047808"/>
            <a:ext cx="1946072" cy="864489"/>
          </a:xfrm>
          <a:prstGeom prst="rect">
            <a:avLst/>
          </a:prstGeom>
          <a:noFill/>
          <a:ln/>
        </p:spPr>
        <p:txBody>
          <a:bodyPr wrap="square" lIns="0" tIns="0" rIns="0" bIns="0" rtlCol="0" anchor="t"/>
          <a:lstStyle/>
          <a:p>
            <a:pPr algn="ctr" indent="0" marL="0">
              <a:lnSpc>
                <a:spcPts val="1885"/>
              </a:lnSpc>
              <a:buNone/>
            </a:pPr>
            <a:r>
              <a:rPr lang="en-US" sz="1300" dirty="0">
                <a:solidFill>
                  <a:srgbClr val="32404F"/>
                </a:solidFill>
                <a:latin typeface="微软雅黑" pitchFamily="34" charset="0"/>
                <a:ea typeface="微软雅黑" pitchFamily="34" charset="-122"/>
                <a:cs typeface="微软雅黑" pitchFamily="34" charset="-120"/>
              </a:rPr>
              <a:t>对行政生效裁判与行政违法行为进行监督，推动行政争议实质性化解</a:t>
            </a:r>
            <a:endParaRPr lang="en-US" sz="1300" dirty="0"/>
          </a:p>
        </p:txBody>
      </p:sp>
      <p:sp>
        <p:nvSpPr>
          <p:cNvPr id="16" name="Shape 14"/>
          <p:cNvSpPr/>
          <p:nvPr/>
        </p:nvSpPr>
        <p:spPr>
          <a:xfrm>
            <a:off x="9038615" y="2101152"/>
            <a:ext cx="2586152" cy="2994025"/>
          </a:xfrm>
          <a:prstGeom prst="roundRect">
            <a:avLst>
              <a:gd name="adj" fmla="val 3536"/>
            </a:avLst>
          </a:prstGeom>
          <a:solidFill>
            <a:srgbClr val="F8EFF0"/>
          </a:solidFill>
          <a:ln w="12700">
            <a:solidFill>
              <a:srgbClr val="F8EFF0"/>
            </a:solidFill>
            <a:prstDash val="solid"/>
          </a:ln>
        </p:spPr>
      </p:sp>
      <p:sp>
        <p:nvSpPr>
          <p:cNvPr id="17" name="Text 15"/>
          <p:cNvSpPr/>
          <p:nvPr/>
        </p:nvSpPr>
        <p:spPr>
          <a:xfrm>
            <a:off x="9221495" y="2430336"/>
            <a:ext cx="2220392" cy="1024128"/>
          </a:xfrm>
          <a:prstGeom prst="rect">
            <a:avLst/>
          </a:prstGeom>
          <a:noFill/>
          <a:ln/>
        </p:spPr>
        <p:txBody>
          <a:bodyPr wrap="square" lIns="0" tIns="0" rIns="0" bIns="0" rtlCol="0" anchor="ctr"/>
          <a:lstStyle/>
          <a:p>
            <a:pPr algn="ctr" indent="0" marL="0">
              <a:buNone/>
            </a:pPr>
            <a:r>
              <a:rPr lang="en-US" sz="5172" b="1" dirty="0">
                <a:solidFill>
                  <a:srgbClr val="8E2C3B"/>
                </a:solidFill>
                <a:latin typeface="Arial" pitchFamily="34" charset="0"/>
                <a:ea typeface="Arial" pitchFamily="34" charset="-122"/>
                <a:cs typeface="Arial" pitchFamily="34" charset="-120"/>
              </a:rPr>
              <a:t>公益诉讼</a:t>
            </a:r>
            <a:endParaRPr lang="en-US" sz="5172" dirty="0"/>
          </a:p>
        </p:txBody>
      </p:sp>
      <p:sp>
        <p:nvSpPr>
          <p:cNvPr id="18" name="Text 16"/>
          <p:cNvSpPr/>
          <p:nvPr/>
        </p:nvSpPr>
        <p:spPr>
          <a:xfrm>
            <a:off x="9358655" y="3582480"/>
            <a:ext cx="1946072" cy="264160"/>
          </a:xfrm>
          <a:prstGeom prst="rect">
            <a:avLst/>
          </a:prstGeom>
          <a:noFill/>
          <a:ln/>
        </p:spPr>
        <p:txBody>
          <a:bodyPr wrap="square" lIns="0" tIns="0" rIns="0" bIns="0" rtlCol="0" anchor="t"/>
          <a:lstStyle/>
          <a:p>
            <a:pPr algn="ctr" indent="0" marL="0">
              <a:lnSpc>
                <a:spcPts val="2080"/>
              </a:lnSpc>
              <a:buNone/>
            </a:pPr>
            <a:r>
              <a:rPr lang="en-US" sz="1600" b="1" dirty="0">
                <a:solidFill>
                  <a:srgbClr val="13233F"/>
                </a:solidFill>
                <a:latin typeface="微软雅黑" pitchFamily="34" charset="0"/>
                <a:ea typeface="微软雅黑" pitchFamily="34" charset="-122"/>
                <a:cs typeface="微软雅黑" pitchFamily="34" charset="-120"/>
              </a:rPr>
              <a:t>公共利益代表</a:t>
            </a:r>
            <a:endParaRPr lang="en-US" sz="1600" dirty="0"/>
          </a:p>
        </p:txBody>
      </p:sp>
      <p:sp>
        <p:nvSpPr>
          <p:cNvPr id="19" name="Text 17"/>
          <p:cNvSpPr/>
          <p:nvPr/>
        </p:nvSpPr>
        <p:spPr>
          <a:xfrm>
            <a:off x="9358655" y="4047808"/>
            <a:ext cx="1946072" cy="864489"/>
          </a:xfrm>
          <a:prstGeom prst="rect">
            <a:avLst/>
          </a:prstGeom>
          <a:noFill/>
          <a:ln/>
        </p:spPr>
        <p:txBody>
          <a:bodyPr wrap="square" lIns="0" tIns="0" rIns="0" bIns="0" rtlCol="0" anchor="t"/>
          <a:lstStyle/>
          <a:p>
            <a:pPr algn="ctr" indent="0" marL="0">
              <a:lnSpc>
                <a:spcPts val="1885"/>
              </a:lnSpc>
              <a:buNone/>
            </a:pPr>
            <a:r>
              <a:rPr lang="en-US" sz="1300" dirty="0">
                <a:solidFill>
                  <a:srgbClr val="32404F"/>
                </a:solidFill>
                <a:latin typeface="微软雅黑" pitchFamily="34" charset="0"/>
                <a:ea typeface="微软雅黑" pitchFamily="34" charset="-122"/>
                <a:cs typeface="微软雅黑" pitchFamily="34" charset="-120"/>
              </a:rPr>
              <a:t>办理民事、行政公益诉讼案件，法定领域并有拓展趋势</a:t>
            </a:r>
            <a:endParaRPr lang="en-US" sz="1300" dirty="0"/>
          </a:p>
        </p:txBody>
      </p:sp>
      <p:sp>
        <p:nvSpPr>
          <p:cNvPr id="20" name="Text 18"/>
          <p:cNvSpPr/>
          <p:nvPr/>
        </p:nvSpPr>
        <p:spPr>
          <a:xfrm>
            <a:off x="566928" y="6199632"/>
            <a:ext cx="11057839" cy="310896"/>
          </a:xfrm>
          <a:prstGeom prst="rect">
            <a:avLst/>
          </a:prstGeom>
          <a:noFill/>
          <a:ln/>
        </p:spPr>
        <p:txBody>
          <a:bodyPr wrap="square" lIns="0" tIns="0" rIns="0" bIns="0" rtlCol="0" anchor="ctr"/>
          <a:lstStyle/>
          <a:p>
            <a:pPr indent="0" marL="0">
              <a:buNone/>
            </a:pPr>
            <a:r>
              <a:rPr lang="en-US" sz="1150" dirty="0">
                <a:solidFill>
                  <a:srgbClr val="6B7684"/>
                </a:solidFill>
                <a:latin typeface="微软雅黑" pitchFamily="34" charset="0"/>
                <a:ea typeface="微软雅黑" pitchFamily="34" charset="-122"/>
                <a:cs typeface="微软雅黑" pitchFamily="34" charset="-120"/>
              </a:rPr>
              <a:t>职能扩张带来伦理挑战：角色越多，角色之间冲突的可能性越大，对检察官判断力的要求也越高。</a:t>
            </a:r>
            <a:endParaRPr lang="en-US" sz="1150" dirty="0"/>
          </a:p>
        </p:txBody>
      </p:sp>
      <p:sp>
        <p:nvSpPr>
          <p:cNvPr id="21" name="Text 19"/>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第9课时 · 11</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角色冲突</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当追诉者必须为被告人说话</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典型难题</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检察官应否为被告人的利益提出抗诉？</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某故意伤害案，一审法院判处被告人有期徒刑五年。判决后，承办检察官在复核卷宗时发现：认定被告人系主犯的关键证据存在重大瑕疵，被告人极可能仅系从犯，量刑明显过重。</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本案系该院当年的重点案件，起诉意见由检察长审批，庭审效果获得肯定。若提出抗诉，等于自我否定；若不抗诉，被告人可能多服刑数年。被告人一方并未上诉。</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我国《刑事诉讼法》规定，人民检察院认为同级人民法院第一审的判决、裁定确有错误的时候，应当向上一级人民法院提出抗诉。请注意条文用的是“确有错误”，并未区分错误是对被告人不利还是有利。</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342642"/>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342642"/>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3102"/>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检察官是否应当提出抗诉？规范依据是什么？</a:t>
            </a:r>
            <a:endParaRPr lang="en-US" sz="1400" dirty="0"/>
          </a:p>
        </p:txBody>
      </p:sp>
      <p:sp>
        <p:nvSpPr>
          <p:cNvPr id="14" name="Shape 12"/>
          <p:cNvSpPr/>
          <p:nvPr/>
        </p:nvSpPr>
        <p:spPr>
          <a:xfrm>
            <a:off x="7958023" y="3223133"/>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3223133"/>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3226943"/>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若不抗诉，违反了哪一项义务？</a:t>
            </a:r>
            <a:endParaRPr lang="en-US" sz="1400" dirty="0"/>
          </a:p>
        </p:txBody>
      </p:sp>
      <p:sp>
        <p:nvSpPr>
          <p:cNvPr id="17" name="Shape 15"/>
          <p:cNvSpPr/>
          <p:nvPr/>
        </p:nvSpPr>
        <p:spPr>
          <a:xfrm>
            <a:off x="7958023" y="4103624"/>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4103624"/>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3974084"/>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“自我否定”的组织压力应当如何面对？</a:t>
            </a:r>
            <a:endParaRPr lang="en-US" sz="1400" dirty="0"/>
          </a:p>
        </p:txBody>
      </p:sp>
      <p:sp>
        <p:nvSpPr>
          <p:cNvPr id="20" name="Shape 18"/>
          <p:cNvSpPr/>
          <p:nvPr/>
        </p:nvSpPr>
        <p:spPr>
          <a:xfrm>
            <a:off x="7958023" y="5113020"/>
            <a:ext cx="274320" cy="274320"/>
          </a:xfrm>
          <a:prstGeom prst="ellipse">
            <a:avLst/>
          </a:prstGeom>
          <a:solidFill>
            <a:srgbClr val="B08D57"/>
          </a:solidFill>
          <a:ln w="12700">
            <a:solidFill>
              <a:srgbClr val="B08D57"/>
            </a:solidFill>
            <a:prstDash val="solid"/>
          </a:ln>
        </p:spPr>
      </p:sp>
      <p:sp>
        <p:nvSpPr>
          <p:cNvPr id="21" name="Text 19"/>
          <p:cNvSpPr/>
          <p:nvPr/>
        </p:nvSpPr>
        <p:spPr>
          <a:xfrm>
            <a:off x="7958023" y="5113020"/>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8323783" y="4983480"/>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这一情形体现了哪两个角色之间的冲突？</a:t>
            </a:r>
            <a:endParaRPr lang="en-US" sz="1400" dirty="0"/>
          </a:p>
        </p:txBody>
      </p:sp>
      <p:sp>
        <p:nvSpPr>
          <p:cNvPr id="23" name="Text 21"/>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第9课时 · 12</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4</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检察一体化与检察官的相对独立</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与法官不同，检察官的独立性是“相对”的——但相对到什么程度？</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第9课时 · 13</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两个原则</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检察一体化 vs 检察官相对独立</a:t>
            </a:r>
            <a:endParaRPr lang="en-US" sz="2800" dirty="0"/>
          </a:p>
        </p:txBody>
      </p:sp>
      <p:sp>
        <p:nvSpPr>
          <p:cNvPr id="4" name="Shape 2"/>
          <p:cNvSpPr/>
          <p:nvPr/>
        </p:nvSpPr>
        <p:spPr>
          <a:xfrm>
            <a:off x="566928" y="1938020"/>
            <a:ext cx="5410048" cy="3823208"/>
          </a:xfrm>
          <a:prstGeom prst="roundRect">
            <a:avLst>
              <a:gd name="adj" fmla="val 2392"/>
            </a:avLst>
          </a:prstGeom>
          <a:solidFill>
            <a:srgbClr val="F2F4F8"/>
          </a:solidFill>
          <a:ln w="12700">
            <a:solidFill>
              <a:srgbClr val="F2F4F8"/>
            </a:solidFill>
            <a:prstDash val="solid"/>
          </a:ln>
        </p:spPr>
      </p:sp>
      <p:sp>
        <p:nvSpPr>
          <p:cNvPr id="5" name="Shape 3"/>
          <p:cNvSpPr/>
          <p:nvPr/>
        </p:nvSpPr>
        <p:spPr>
          <a:xfrm>
            <a:off x="841248" y="2194052"/>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194052"/>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检察一体化原则</a:t>
            </a:r>
            <a:endParaRPr lang="en-US" sz="1600" dirty="0"/>
          </a:p>
        </p:txBody>
      </p:sp>
      <p:sp>
        <p:nvSpPr>
          <p:cNvPr id="7" name="Text 5"/>
          <p:cNvSpPr/>
          <p:nvPr/>
        </p:nvSpPr>
        <p:spPr>
          <a:xfrm>
            <a:off x="932688" y="2852420"/>
            <a:ext cx="4678528" cy="267106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含义：全国检察机关是一个整体，上级检察院领导下级检察院，检察长领导本院工作。</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制度表现：职务承继（检察长可将下属承办的案件收归自办）、职务转移（可将案件交由其他检察官办理）、上级指令权。</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理据：法律监督须全国统一；追诉标准须避免因人而异；重大案件须集中力量。</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这是检察制度区别于审判制度的根本特征。</a:t>
            </a:r>
            <a:endParaRPr lang="en-US" sz="1450" dirty="0"/>
          </a:p>
        </p:txBody>
      </p:sp>
      <p:sp>
        <p:nvSpPr>
          <p:cNvPr id="8" name="Shape 6"/>
          <p:cNvSpPr/>
          <p:nvPr/>
        </p:nvSpPr>
        <p:spPr>
          <a:xfrm>
            <a:off x="6214720" y="1938020"/>
            <a:ext cx="5410048" cy="3823208"/>
          </a:xfrm>
          <a:prstGeom prst="roundRect">
            <a:avLst>
              <a:gd name="adj" fmla="val 2392"/>
            </a:avLst>
          </a:prstGeom>
          <a:solidFill>
            <a:srgbClr val="F6F1E8"/>
          </a:solidFill>
          <a:ln w="12700">
            <a:solidFill>
              <a:srgbClr val="F6F1E8"/>
            </a:solidFill>
            <a:prstDash val="solid"/>
          </a:ln>
        </p:spPr>
      </p:sp>
      <p:sp>
        <p:nvSpPr>
          <p:cNvPr id="9" name="Shape 7"/>
          <p:cNvSpPr/>
          <p:nvPr/>
        </p:nvSpPr>
        <p:spPr>
          <a:xfrm>
            <a:off x="6489040" y="2194052"/>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194052"/>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检察官的相对独立</a:t>
            </a:r>
            <a:endParaRPr lang="en-US" sz="1600" dirty="0"/>
          </a:p>
        </p:txBody>
      </p:sp>
      <p:sp>
        <p:nvSpPr>
          <p:cNvPr id="11" name="Text 9"/>
          <p:cNvSpPr/>
          <p:nvPr/>
        </p:nvSpPr>
        <p:spPr>
          <a:xfrm>
            <a:off x="6580480" y="2852420"/>
            <a:ext cx="4678528" cy="267106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含义：检察官在职权范围内对所办案件依法作出决定，并承担相应责任。</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制度表现：检察官办案责任制、权力清单、检察官联席会议、司法责任认定。</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理据：客观公正义务须由具体的人来履行；无独立判断则无责任可言。</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《检察官法》第五条的客观公正立场，正是相对独立的规范支点。</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第9课时 · 14</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冲突的处理</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当检察长的指令与检察官的判断不一致时</a:t>
            </a:r>
            <a:endParaRPr lang="en-US" sz="2800" dirty="0"/>
          </a:p>
        </p:txBody>
      </p:sp>
      <p:sp>
        <p:nvSpPr>
          <p:cNvPr id="4" name="Shape 2"/>
          <p:cNvSpPr/>
          <p:nvPr/>
        </p:nvSpPr>
        <p:spPr>
          <a:xfrm>
            <a:off x="566928" y="1316736"/>
            <a:ext cx="11057839" cy="1156716"/>
          </a:xfrm>
          <a:prstGeom prst="roundRect">
            <a:avLst>
              <a:gd name="adj" fmla="val 6324"/>
            </a:avLst>
          </a:prstGeom>
          <a:solidFill>
            <a:srgbClr val="F2F4F8"/>
          </a:solidFill>
          <a:ln w="12700">
            <a:solidFill>
              <a:srgbClr val="F2F4F8"/>
            </a:solidFill>
            <a:prstDash val="solid"/>
          </a:ln>
        </p:spPr>
      </p:sp>
      <p:sp>
        <p:nvSpPr>
          <p:cNvPr id="5" name="Shape 3"/>
          <p:cNvSpPr/>
          <p:nvPr/>
        </p:nvSpPr>
        <p:spPr>
          <a:xfrm>
            <a:off x="841248" y="163906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792681"/>
            <a:ext cx="204826" cy="204826"/>
          </a:xfrm>
          <a:prstGeom prst="rect">
            <a:avLst/>
          </a:prstGeom>
        </p:spPr>
      </p:pic>
      <p:sp>
        <p:nvSpPr>
          <p:cNvPr id="7" name="Text 4"/>
          <p:cNvSpPr/>
          <p:nvPr/>
        </p:nvSpPr>
        <p:spPr>
          <a:xfrm>
            <a:off x="1536192" y="151047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第一，要求以书面形式提出</a:t>
            </a:r>
            <a:endParaRPr lang="en-US" sz="1450" dirty="0"/>
          </a:p>
        </p:txBody>
      </p:sp>
      <p:sp>
        <p:nvSpPr>
          <p:cNvPr id="8" name="Text 5"/>
          <p:cNvSpPr/>
          <p:nvPr/>
        </p:nvSpPr>
        <p:spPr>
          <a:xfrm>
            <a:off x="1536192" y="181933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口头指令无痕，书面指令使指令者共同承担责任。这与法官面对不当指令时的处理逻辑完全一致：把私下的、无痕的压力，转移到公开的、有记录的程序中去。</a:t>
            </a:r>
            <a:endParaRPr lang="en-US" sz="1250" dirty="0"/>
          </a:p>
        </p:txBody>
      </p:sp>
      <p:sp>
        <p:nvSpPr>
          <p:cNvPr id="9" name="Shape 6"/>
          <p:cNvSpPr/>
          <p:nvPr/>
        </p:nvSpPr>
        <p:spPr>
          <a:xfrm>
            <a:off x="566928" y="2619756"/>
            <a:ext cx="11057839" cy="1156716"/>
          </a:xfrm>
          <a:prstGeom prst="roundRect">
            <a:avLst>
              <a:gd name="adj" fmla="val 6324"/>
            </a:avLst>
          </a:prstGeom>
          <a:solidFill>
            <a:srgbClr val="FFFFFF"/>
          </a:solidFill>
          <a:ln w="12700">
            <a:solidFill>
              <a:srgbClr val="D5DBE5"/>
            </a:solidFill>
            <a:prstDash val="solid"/>
          </a:ln>
        </p:spPr>
      </p:sp>
      <p:sp>
        <p:nvSpPr>
          <p:cNvPr id="10" name="Shape 7"/>
          <p:cNvSpPr/>
          <p:nvPr/>
        </p:nvSpPr>
        <p:spPr>
          <a:xfrm>
            <a:off x="841248" y="294208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095701"/>
            <a:ext cx="204826" cy="204826"/>
          </a:xfrm>
          <a:prstGeom prst="rect">
            <a:avLst/>
          </a:prstGeom>
        </p:spPr>
      </p:pic>
      <p:sp>
        <p:nvSpPr>
          <p:cNvPr id="12" name="Text 8"/>
          <p:cNvSpPr/>
          <p:nvPr/>
        </p:nvSpPr>
        <p:spPr>
          <a:xfrm>
            <a:off x="1536192" y="281349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第二，充分陈述意见并记录在案</a:t>
            </a:r>
            <a:endParaRPr lang="en-US" sz="1450" dirty="0"/>
          </a:p>
        </p:txBody>
      </p:sp>
      <p:sp>
        <p:nvSpPr>
          <p:cNvPr id="13" name="Text 9"/>
          <p:cNvSpPr/>
          <p:nvPr/>
        </p:nvSpPr>
        <p:spPr>
          <a:xfrm>
            <a:off x="1536192" y="312235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检察官有权保留意见，并要求将其意见记入案卷。这既是职业操守的体现，也是日后责任认定的依据——《检察官法》同样规定，依法定程序集体讨论决定而个人已提出正确意见的，不承担责任。</a:t>
            </a:r>
            <a:endParaRPr lang="en-US" sz="1250" dirty="0"/>
          </a:p>
        </p:txBody>
      </p:sp>
      <p:sp>
        <p:nvSpPr>
          <p:cNvPr id="14" name="Shape 10"/>
          <p:cNvSpPr/>
          <p:nvPr/>
        </p:nvSpPr>
        <p:spPr>
          <a:xfrm>
            <a:off x="566928" y="3922776"/>
            <a:ext cx="11057839" cy="1156716"/>
          </a:xfrm>
          <a:prstGeom prst="roundRect">
            <a:avLst>
              <a:gd name="adj" fmla="val 6324"/>
            </a:avLst>
          </a:prstGeom>
          <a:solidFill>
            <a:srgbClr val="F2F4F8"/>
          </a:solidFill>
          <a:ln w="12700">
            <a:solidFill>
              <a:srgbClr val="F2F4F8"/>
            </a:solidFill>
            <a:prstDash val="solid"/>
          </a:ln>
        </p:spPr>
      </p:sp>
      <p:sp>
        <p:nvSpPr>
          <p:cNvPr id="15" name="Shape 11"/>
          <p:cNvSpPr/>
          <p:nvPr/>
        </p:nvSpPr>
        <p:spPr>
          <a:xfrm>
            <a:off x="841248" y="42451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398721"/>
            <a:ext cx="204826" cy="204826"/>
          </a:xfrm>
          <a:prstGeom prst="rect">
            <a:avLst/>
          </a:prstGeom>
        </p:spPr>
      </p:pic>
      <p:sp>
        <p:nvSpPr>
          <p:cNvPr id="17" name="Text 12"/>
          <p:cNvSpPr/>
          <p:nvPr/>
        </p:nvSpPr>
        <p:spPr>
          <a:xfrm>
            <a:off x="1536192" y="411651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第三，通过法定程序寻求救济</a:t>
            </a:r>
            <a:endParaRPr lang="en-US" sz="1450" dirty="0"/>
          </a:p>
        </p:txBody>
      </p:sp>
      <p:sp>
        <p:nvSpPr>
          <p:cNvPr id="18" name="Text 13"/>
          <p:cNvSpPr/>
          <p:nvPr/>
        </p:nvSpPr>
        <p:spPr>
          <a:xfrm>
            <a:off x="1536192" y="442537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提请检察官联席会议讨论、提请检察委员会讨论；对明显违法的指令，有权也有义务拒绝执行并按规定报告。服从违法指令不构成免责事由。</a:t>
            </a:r>
            <a:endParaRPr lang="en-US" sz="1250" dirty="0"/>
          </a:p>
        </p:txBody>
      </p:sp>
      <p:sp>
        <p:nvSpPr>
          <p:cNvPr id="19" name="Shape 14"/>
          <p:cNvSpPr/>
          <p:nvPr/>
        </p:nvSpPr>
        <p:spPr>
          <a:xfrm>
            <a:off x="566928" y="5225796"/>
            <a:ext cx="11057839" cy="1156716"/>
          </a:xfrm>
          <a:prstGeom prst="roundRect">
            <a:avLst>
              <a:gd name="adj" fmla="val 6324"/>
            </a:avLst>
          </a:prstGeom>
          <a:solidFill>
            <a:srgbClr val="FFFFFF"/>
          </a:solidFill>
          <a:ln w="12700">
            <a:solidFill>
              <a:srgbClr val="D5DBE5"/>
            </a:solidFill>
            <a:prstDash val="solid"/>
          </a:ln>
        </p:spPr>
      </p:sp>
      <p:sp>
        <p:nvSpPr>
          <p:cNvPr id="20" name="Shape 15"/>
          <p:cNvSpPr/>
          <p:nvPr/>
        </p:nvSpPr>
        <p:spPr>
          <a:xfrm>
            <a:off x="841248" y="5548122"/>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01741"/>
            <a:ext cx="204826" cy="204826"/>
          </a:xfrm>
          <a:prstGeom prst="rect">
            <a:avLst/>
          </a:prstGeom>
        </p:spPr>
      </p:pic>
      <p:sp>
        <p:nvSpPr>
          <p:cNvPr id="22" name="Text 16"/>
          <p:cNvSpPr/>
          <p:nvPr/>
        </p:nvSpPr>
        <p:spPr>
          <a:xfrm>
            <a:off x="1536192" y="541953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第四，底线：客观公正义务不可让渡</a:t>
            </a:r>
            <a:endParaRPr lang="en-US" sz="1450" dirty="0"/>
          </a:p>
        </p:txBody>
      </p:sp>
      <p:sp>
        <p:nvSpPr>
          <p:cNvPr id="23" name="Text 17"/>
          <p:cNvSpPr/>
          <p:nvPr/>
        </p:nvSpPr>
        <p:spPr>
          <a:xfrm>
            <a:off x="1536192" y="572839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一体化解决的是“由谁决定”的问题，不能解决“依据什么决定”的问题。任何层级的指令都不能要求检察官隐瞒证据、伪造材料或作出违背事实的判断——这是不可逾越的伦理底线。</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第9课时 · 15</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5</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检察官职业伦理的规范体系</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《检察官法》—《检察官职业道德基本准则》—《检察人员纪律处分条例》</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第9课时 · 16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核心条文</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《检察官法》第五条：客观公正立场的法定化</a:t>
            </a:r>
            <a:endParaRPr lang="en-US" sz="2800" dirty="0"/>
          </a:p>
        </p:txBody>
      </p:sp>
      <p:sp>
        <p:nvSpPr>
          <p:cNvPr id="4" name="Shape 2"/>
          <p:cNvSpPr/>
          <p:nvPr/>
        </p:nvSpPr>
        <p:spPr>
          <a:xfrm>
            <a:off x="566928" y="2111502"/>
            <a:ext cx="11057839" cy="1861566"/>
          </a:xfrm>
          <a:prstGeom prst="roundRect">
            <a:avLst>
              <a:gd name="adj" fmla="val 4912"/>
            </a:avLst>
          </a:prstGeom>
          <a:solidFill>
            <a:srgbClr val="F6F1E8"/>
          </a:solidFill>
          <a:ln w="12700">
            <a:solidFill>
              <a:srgbClr val="F6F1E8"/>
            </a:solidFill>
            <a:prstDash val="solid"/>
          </a:ln>
        </p:spPr>
      </p:sp>
      <p:sp>
        <p:nvSpPr>
          <p:cNvPr id="5" name="Shape 3"/>
          <p:cNvSpPr/>
          <p:nvPr/>
        </p:nvSpPr>
        <p:spPr>
          <a:xfrm>
            <a:off x="877824" y="2349246"/>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2349246"/>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2330958"/>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《中华人民共和国检察官法》第五条</a:t>
            </a:r>
            <a:endParaRPr lang="en-US" sz="1500" dirty="0"/>
          </a:p>
        </p:txBody>
      </p:sp>
      <p:sp>
        <p:nvSpPr>
          <p:cNvPr id="8" name="Text 6"/>
          <p:cNvSpPr/>
          <p:nvPr/>
        </p:nvSpPr>
        <p:spPr>
          <a:xfrm>
            <a:off x="960120" y="2751582"/>
            <a:ext cx="10271455" cy="1002030"/>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检察官应当以事实为根据，以法律为准绳，秉持客观公正的立场。</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检察官办理刑事案件，应当严格坚持罪刑法定原则，尊重和保障人权，既要追诉犯罪，也要保障无罪的人不受刑事追究。</a:t>
            </a:r>
            <a:endParaRPr lang="en-US" sz="1550" dirty="0"/>
          </a:p>
        </p:txBody>
      </p:sp>
      <p:sp>
        <p:nvSpPr>
          <p:cNvPr id="9" name="Shape 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0" name="Text 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这是我国法上客观公正义务最直接、最集中的表达，也是2019年修订《检察官法》的重要成果。请注意第二款的两个“要”：既要追诉犯罪（追诉职能），也要保障无罪的人不受刑事追究（保障职能）。这两项并列而非主次，正是检察官双重身份的规范表达。第10课时我们将围绕这一条展开整堂课。</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第9课时 · 17</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职业道德</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《检察官职业道德基本准则》：五条五个关键词</a:t>
            </a:r>
            <a:endParaRPr lang="en-US" sz="2800" dirty="0"/>
          </a:p>
        </p:txBody>
      </p:sp>
      <p:sp>
        <p:nvSpPr>
          <p:cNvPr id="4" name="Shape 2"/>
          <p:cNvSpPr/>
          <p:nvPr/>
        </p:nvSpPr>
        <p:spPr>
          <a:xfrm>
            <a:off x="566928" y="2111502"/>
            <a:ext cx="11057839" cy="1861566"/>
          </a:xfrm>
          <a:prstGeom prst="roundRect">
            <a:avLst>
              <a:gd name="adj" fmla="val 4912"/>
            </a:avLst>
          </a:prstGeom>
          <a:solidFill>
            <a:srgbClr val="F6F1E8"/>
          </a:solidFill>
          <a:ln w="12700">
            <a:solidFill>
              <a:srgbClr val="F6F1E8"/>
            </a:solidFill>
            <a:prstDash val="solid"/>
          </a:ln>
        </p:spPr>
      </p:sp>
      <p:sp>
        <p:nvSpPr>
          <p:cNvPr id="5" name="Shape 3"/>
          <p:cNvSpPr/>
          <p:nvPr/>
        </p:nvSpPr>
        <p:spPr>
          <a:xfrm>
            <a:off x="877824" y="2349246"/>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2349246"/>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2330958"/>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最高人民检察院《中华人民共和国检察官职业道德基本准则》（2016年12月修订印发）</a:t>
            </a:r>
            <a:endParaRPr lang="en-US" sz="1500" dirty="0"/>
          </a:p>
        </p:txBody>
      </p:sp>
      <p:sp>
        <p:nvSpPr>
          <p:cNvPr id="8" name="Text 6"/>
          <p:cNvSpPr/>
          <p:nvPr/>
        </p:nvSpPr>
        <p:spPr>
          <a:xfrm>
            <a:off x="960120" y="2751582"/>
            <a:ext cx="10271455" cy="1002030"/>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第一条　坚持忠诚品格，永葆政治本色。</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第二条　坚持为民宗旨，保障人民权益。</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第三条　坚持担当精神，强化法律监督。</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第四条　坚持公正理念，维护法制统一。</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第五条　坚持廉洁操守，自觉接受监督。</a:t>
            </a:r>
            <a:endParaRPr lang="en-US" sz="1550" dirty="0"/>
          </a:p>
        </p:txBody>
      </p:sp>
      <p:sp>
        <p:nvSpPr>
          <p:cNvPr id="9" name="Shape 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0" name="Text 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2016年修订版不分章节，仅五条，凝练地点出忠诚、为民、担当、公正、廉洁五项基本要求。相较2009年试行版的“忠诚、公正、清廉、文明”，新增“为民”与“担当”、删去“文明”。“担当”直接对应“强化法律监督”——它要求检察官敢于监督、善于监督，包括监督同为司法机关的法院与侦查机关。</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第9课时 · 18</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规范体系</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检察官伦理规范的三个层次</a:t>
            </a:r>
            <a:endParaRPr lang="en-US" sz="2800" dirty="0"/>
          </a:p>
        </p:txBody>
      </p:sp>
      <p:sp>
        <p:nvSpPr>
          <p:cNvPr id="4" name="Shape 2"/>
          <p:cNvSpPr/>
          <p:nvPr/>
        </p:nvSpPr>
        <p:spPr>
          <a:xfrm>
            <a:off x="566928" y="1316736"/>
            <a:ext cx="11057839" cy="1683131"/>
          </a:xfrm>
          <a:prstGeom prst="roundRect">
            <a:avLst>
              <a:gd name="adj" fmla="val 4346"/>
            </a:avLst>
          </a:prstGeom>
          <a:solidFill>
            <a:srgbClr val="F2F4F8"/>
          </a:solidFill>
          <a:ln w="12700">
            <a:solidFill>
              <a:srgbClr val="F2F4F8"/>
            </a:solidFill>
            <a:prstDash val="solid"/>
          </a:ln>
        </p:spPr>
      </p:sp>
      <p:sp>
        <p:nvSpPr>
          <p:cNvPr id="5" name="Shape 3"/>
          <p:cNvSpPr/>
          <p:nvPr/>
        </p:nvSpPr>
        <p:spPr>
          <a:xfrm>
            <a:off x="841248" y="1902270"/>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2055889"/>
            <a:ext cx="204826" cy="204826"/>
          </a:xfrm>
          <a:prstGeom prst="rect">
            <a:avLst/>
          </a:prstGeom>
        </p:spPr>
      </p:pic>
      <p:sp>
        <p:nvSpPr>
          <p:cNvPr id="7" name="Text 4"/>
          <p:cNvSpPr/>
          <p:nvPr/>
        </p:nvSpPr>
        <p:spPr>
          <a:xfrm>
            <a:off x="1536192" y="1573276"/>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法律层：《检察官法》</a:t>
            </a:r>
            <a:endParaRPr lang="en-US" sz="1650" dirty="0"/>
          </a:p>
        </p:txBody>
      </p:sp>
      <p:sp>
        <p:nvSpPr>
          <p:cNvPr id="8" name="Text 5"/>
          <p:cNvSpPr/>
          <p:nvPr/>
        </p:nvSpPr>
        <p:spPr>
          <a:xfrm>
            <a:off x="1536192" y="1914652"/>
            <a:ext cx="9832543" cy="82867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五条客观公正立场；第十条检察官义务（严格遵守宪法法律、秉公办案不得徇私枉法、依法保障诉讼参与人权利、维护国家利益与社会公共利益、保守秘密、接受监督）；第二十一条至第二十四条兼职禁止与任职回避；第四十七条处分事由；第四十九条至第五十二条惩戒委员会与程序。</a:t>
            </a:r>
            <a:endParaRPr lang="en-US" sz="1500" dirty="0"/>
          </a:p>
        </p:txBody>
      </p:sp>
      <p:sp>
        <p:nvSpPr>
          <p:cNvPr id="9" name="Shape 6"/>
          <p:cNvSpPr/>
          <p:nvPr/>
        </p:nvSpPr>
        <p:spPr>
          <a:xfrm>
            <a:off x="566928" y="3146171"/>
            <a:ext cx="11057839" cy="1406906"/>
          </a:xfrm>
          <a:prstGeom prst="roundRect">
            <a:avLst>
              <a:gd name="adj" fmla="val 5199"/>
            </a:avLst>
          </a:prstGeom>
          <a:solidFill>
            <a:srgbClr val="FFFFFF"/>
          </a:solidFill>
          <a:ln w="12700">
            <a:solidFill>
              <a:srgbClr val="D5DBE5"/>
            </a:solidFill>
            <a:prstDash val="solid"/>
          </a:ln>
        </p:spPr>
      </p:sp>
      <p:sp>
        <p:nvSpPr>
          <p:cNvPr id="10" name="Shape 7"/>
          <p:cNvSpPr/>
          <p:nvPr/>
        </p:nvSpPr>
        <p:spPr>
          <a:xfrm>
            <a:off x="841248" y="359359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747211"/>
            <a:ext cx="204826" cy="204826"/>
          </a:xfrm>
          <a:prstGeom prst="rect">
            <a:avLst/>
          </a:prstGeom>
        </p:spPr>
      </p:pic>
      <p:sp>
        <p:nvSpPr>
          <p:cNvPr id="12" name="Text 8"/>
          <p:cNvSpPr/>
          <p:nvPr/>
        </p:nvSpPr>
        <p:spPr>
          <a:xfrm>
            <a:off x="1536192" y="340271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职业道德层：《检察官职业道德基本准则》</a:t>
            </a:r>
            <a:endParaRPr lang="en-US" sz="1650" dirty="0"/>
          </a:p>
        </p:txBody>
      </p:sp>
      <p:sp>
        <p:nvSpPr>
          <p:cNvPr id="13" name="Text 9"/>
          <p:cNvSpPr/>
          <p:nvPr/>
        </p:nvSpPr>
        <p:spPr>
          <a:xfrm>
            <a:off x="1536192" y="374408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2016年修订，五条准则，发挥价值引领与理念统摄功能。因其高度概括，一般不直接作为处分依据，须与具体规范结合适用。</a:t>
            </a:r>
            <a:endParaRPr lang="en-US" sz="1500" dirty="0"/>
          </a:p>
        </p:txBody>
      </p:sp>
      <p:sp>
        <p:nvSpPr>
          <p:cNvPr id="14" name="Shape 10"/>
          <p:cNvSpPr/>
          <p:nvPr/>
        </p:nvSpPr>
        <p:spPr>
          <a:xfrm>
            <a:off x="566928" y="4699381"/>
            <a:ext cx="11057839" cy="1683131"/>
          </a:xfrm>
          <a:prstGeom prst="roundRect">
            <a:avLst>
              <a:gd name="adj" fmla="val 4346"/>
            </a:avLst>
          </a:prstGeom>
          <a:solidFill>
            <a:srgbClr val="F2F4F8"/>
          </a:solidFill>
          <a:ln w="12700">
            <a:solidFill>
              <a:srgbClr val="F2F4F8"/>
            </a:solidFill>
            <a:prstDash val="solid"/>
          </a:ln>
        </p:spPr>
      </p:sp>
      <p:sp>
        <p:nvSpPr>
          <p:cNvPr id="15" name="Shape 11"/>
          <p:cNvSpPr/>
          <p:nvPr/>
        </p:nvSpPr>
        <p:spPr>
          <a:xfrm>
            <a:off x="841248" y="5284915"/>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5438534"/>
            <a:ext cx="204826" cy="204826"/>
          </a:xfrm>
          <a:prstGeom prst="rect">
            <a:avLst/>
          </a:prstGeom>
        </p:spPr>
      </p:pic>
      <p:sp>
        <p:nvSpPr>
          <p:cNvPr id="17" name="Text 12"/>
          <p:cNvSpPr/>
          <p:nvPr/>
        </p:nvSpPr>
        <p:spPr>
          <a:xfrm>
            <a:off x="1536192" y="495592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纪律与程序层</a:t>
            </a:r>
            <a:endParaRPr lang="en-US" sz="1650" dirty="0"/>
          </a:p>
        </p:txBody>
      </p:sp>
      <p:sp>
        <p:nvSpPr>
          <p:cNvPr id="18" name="Text 13"/>
          <p:cNvSpPr/>
          <p:nvPr/>
        </p:nvSpPr>
        <p:spPr>
          <a:xfrm>
            <a:off x="1536192" y="5297297"/>
            <a:ext cx="9832543" cy="82867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检察人员纪律处分条例》规定具体违纪行为与处分种类；《人民检察院刑事诉讼规则》规定办案中的具体行为规范，包括全面客观收集审查证据、非法证据排除、讯问同步录音录像等；另有关于检察人员与律师交往、防止干预司法等专门规定。</a:t>
            </a:r>
            <a:endParaRPr lang="en-US" sz="150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第9课时 · 19</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课堂研讨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思考与讨论</a:t>
            </a:r>
            <a:endParaRPr lang="en-US" sz="2800" dirty="0"/>
          </a:p>
        </p:txBody>
      </p:sp>
      <p:sp>
        <p:nvSpPr>
          <p:cNvPr id="4" name="Shape 2"/>
          <p:cNvSpPr/>
          <p:nvPr/>
        </p:nvSpPr>
        <p:spPr>
          <a:xfrm>
            <a:off x="566928" y="1316736"/>
            <a:ext cx="11057839" cy="1156716"/>
          </a:xfrm>
          <a:prstGeom prst="roundRect">
            <a:avLst>
              <a:gd name="adj" fmla="val 7115"/>
            </a:avLst>
          </a:prstGeom>
          <a:solidFill>
            <a:srgbClr val="ECF3F2"/>
          </a:solidFill>
          <a:ln w="12700">
            <a:solidFill>
              <a:srgbClr val="ECF3F2"/>
            </a:solidFill>
            <a:prstDash val="solid"/>
          </a:ln>
        </p:spPr>
      </p:sp>
      <p:sp>
        <p:nvSpPr>
          <p:cNvPr id="5" name="Shape 3"/>
          <p:cNvSpPr/>
          <p:nvPr/>
        </p:nvSpPr>
        <p:spPr>
          <a:xfrm>
            <a:off x="859536" y="1666494"/>
            <a:ext cx="457200" cy="457200"/>
          </a:xfrm>
          <a:prstGeom prst="ellipse">
            <a:avLst/>
          </a:prstGeom>
          <a:solidFill>
            <a:srgbClr val="2F6E6A"/>
          </a:solidFill>
          <a:ln w="12700">
            <a:solidFill>
              <a:srgbClr val="2F6E6A"/>
            </a:solidFill>
            <a:prstDash val="solid"/>
          </a:ln>
        </p:spPr>
      </p:sp>
      <p:sp>
        <p:nvSpPr>
          <p:cNvPr id="6" name="Text 4"/>
          <p:cNvSpPr/>
          <p:nvPr/>
        </p:nvSpPr>
        <p:spPr>
          <a:xfrm>
            <a:off x="859536" y="166649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99616" y="159029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我国宪法将检察机关定位为“法律监督机关”。有观点认为，让追诉方同时担任监督者，等于“运动员兼裁判员”。你如何回应这一批评？客观公正义务能否化解这一质疑？</a:t>
            </a:r>
            <a:endParaRPr lang="en-US" sz="1600" dirty="0"/>
          </a:p>
        </p:txBody>
      </p:sp>
      <p:sp>
        <p:nvSpPr>
          <p:cNvPr id="8" name="Shape 6"/>
          <p:cNvSpPr/>
          <p:nvPr/>
        </p:nvSpPr>
        <p:spPr>
          <a:xfrm>
            <a:off x="566928" y="2619756"/>
            <a:ext cx="11057839" cy="1156716"/>
          </a:xfrm>
          <a:prstGeom prst="roundRect">
            <a:avLst>
              <a:gd name="adj" fmla="val 7115"/>
            </a:avLst>
          </a:prstGeom>
          <a:solidFill>
            <a:srgbClr val="ECF3F2"/>
          </a:solidFill>
          <a:ln w="12700">
            <a:solidFill>
              <a:srgbClr val="ECF3F2"/>
            </a:solidFill>
            <a:prstDash val="solid"/>
          </a:ln>
        </p:spPr>
      </p:sp>
      <p:sp>
        <p:nvSpPr>
          <p:cNvPr id="9" name="Shape 7"/>
          <p:cNvSpPr/>
          <p:nvPr/>
        </p:nvSpPr>
        <p:spPr>
          <a:xfrm>
            <a:off x="859536" y="2969514"/>
            <a:ext cx="457200" cy="457200"/>
          </a:xfrm>
          <a:prstGeom prst="ellipse">
            <a:avLst/>
          </a:prstGeom>
          <a:solidFill>
            <a:srgbClr val="2F6E6A"/>
          </a:solidFill>
          <a:ln w="12700">
            <a:solidFill>
              <a:srgbClr val="2F6E6A"/>
            </a:solidFill>
            <a:prstDash val="solid"/>
          </a:ln>
        </p:spPr>
      </p:sp>
      <p:sp>
        <p:nvSpPr>
          <p:cNvPr id="10" name="Text 8"/>
          <p:cNvSpPr/>
          <p:nvPr/>
        </p:nvSpPr>
        <p:spPr>
          <a:xfrm>
            <a:off x="859536" y="296951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99616" y="289331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检察一体化要求上命下从，客观公正义务要求独立判断。假设检察长指示对某案作不起诉处理，而承办检察官认为应当起诉，检察官应当如何处理？请给出完整的操作方案。</a:t>
            </a:r>
            <a:endParaRPr lang="en-US" sz="1600" dirty="0"/>
          </a:p>
        </p:txBody>
      </p:sp>
      <p:sp>
        <p:nvSpPr>
          <p:cNvPr id="12" name="Shape 10"/>
          <p:cNvSpPr/>
          <p:nvPr/>
        </p:nvSpPr>
        <p:spPr>
          <a:xfrm>
            <a:off x="566928" y="3922776"/>
            <a:ext cx="11057839" cy="1156716"/>
          </a:xfrm>
          <a:prstGeom prst="roundRect">
            <a:avLst>
              <a:gd name="adj" fmla="val 7115"/>
            </a:avLst>
          </a:prstGeom>
          <a:solidFill>
            <a:srgbClr val="ECF3F2"/>
          </a:solidFill>
          <a:ln w="12700">
            <a:solidFill>
              <a:srgbClr val="ECF3F2"/>
            </a:solidFill>
            <a:prstDash val="solid"/>
          </a:ln>
        </p:spPr>
      </p:sp>
      <p:sp>
        <p:nvSpPr>
          <p:cNvPr id="13" name="Shape 11"/>
          <p:cNvSpPr/>
          <p:nvPr/>
        </p:nvSpPr>
        <p:spPr>
          <a:xfrm>
            <a:off x="859536" y="4272534"/>
            <a:ext cx="457200" cy="457200"/>
          </a:xfrm>
          <a:prstGeom prst="ellipse">
            <a:avLst/>
          </a:prstGeom>
          <a:solidFill>
            <a:srgbClr val="2F6E6A"/>
          </a:solidFill>
          <a:ln w="12700">
            <a:solidFill>
              <a:srgbClr val="2F6E6A"/>
            </a:solidFill>
            <a:prstDash val="solid"/>
          </a:ln>
        </p:spPr>
      </p:sp>
      <p:sp>
        <p:nvSpPr>
          <p:cNvPr id="14" name="Text 12"/>
          <p:cNvSpPr/>
          <p:nvPr/>
        </p:nvSpPr>
        <p:spPr>
          <a:xfrm>
            <a:off x="859536" y="427253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99616" y="419633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检察公益诉讼使检察官成为“公共利益的代表”。在公益诉讼中，检察官与被告（往往是行政机关或企业）的关系，与刑事诉讼中的控辩关系有何不同？其伦理要求是否应当有别？</a:t>
            </a:r>
            <a:endParaRPr lang="en-US" sz="1600" dirty="0"/>
          </a:p>
        </p:txBody>
      </p:sp>
      <p:sp>
        <p:nvSpPr>
          <p:cNvPr id="16" name="Shape 14"/>
          <p:cNvSpPr/>
          <p:nvPr/>
        </p:nvSpPr>
        <p:spPr>
          <a:xfrm>
            <a:off x="566928" y="5225796"/>
            <a:ext cx="11057839" cy="1156716"/>
          </a:xfrm>
          <a:prstGeom prst="roundRect">
            <a:avLst>
              <a:gd name="adj" fmla="val 7115"/>
            </a:avLst>
          </a:prstGeom>
          <a:solidFill>
            <a:srgbClr val="ECF3F2"/>
          </a:solidFill>
          <a:ln w="12700">
            <a:solidFill>
              <a:srgbClr val="ECF3F2"/>
            </a:solidFill>
            <a:prstDash val="solid"/>
          </a:ln>
        </p:spPr>
      </p:sp>
      <p:sp>
        <p:nvSpPr>
          <p:cNvPr id="17" name="Shape 15"/>
          <p:cNvSpPr/>
          <p:nvPr/>
        </p:nvSpPr>
        <p:spPr>
          <a:xfrm>
            <a:off x="859536" y="5575554"/>
            <a:ext cx="457200" cy="457200"/>
          </a:xfrm>
          <a:prstGeom prst="ellipse">
            <a:avLst/>
          </a:prstGeom>
          <a:solidFill>
            <a:srgbClr val="2F6E6A"/>
          </a:solidFill>
          <a:ln w="12700">
            <a:solidFill>
              <a:srgbClr val="2F6E6A"/>
            </a:solidFill>
            <a:prstDash val="solid"/>
          </a:ln>
        </p:spPr>
      </p:sp>
      <p:sp>
        <p:nvSpPr>
          <p:cNvPr id="18" name="Text 16"/>
          <p:cNvSpPr/>
          <p:nvPr/>
        </p:nvSpPr>
        <p:spPr>
          <a:xfrm>
            <a:off x="859536" y="557555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99616" y="549935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《检察官职业道德基本准则》将“担当”列为一项独立要求，指向“强化法律监督”。在实践中，监督同级法院、监督公安机关往往面临现实阻力。“担当”这一伦理要求能否转化为可操作的行为标准？</a:t>
            </a:r>
            <a:endParaRPr lang="en-US" sz="16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第9课时 · 20</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3233F"/>
        </a:solidFill>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本课小结</a:t>
            </a:r>
            <a:endParaRPr lang="en-US" sz="1250" dirty="0"/>
          </a:p>
        </p:txBody>
      </p:sp>
      <p:sp>
        <p:nvSpPr>
          <p:cNvPr id="3" name="Text 1"/>
          <p:cNvSpPr/>
          <p:nvPr/>
        </p:nvSpPr>
        <p:spPr>
          <a:xfrm>
            <a:off x="566928" y="786384"/>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微软雅黑" pitchFamily="34" charset="0"/>
                <a:ea typeface="微软雅黑" pitchFamily="34" charset="-122"/>
                <a:cs typeface="微软雅黑" pitchFamily="34" charset="-120"/>
              </a:rPr>
              <a:t>第9课时要点回顾</a:t>
            </a:r>
            <a:endParaRPr lang="en-US" sz="3000" dirty="0"/>
          </a:p>
        </p:txBody>
      </p:sp>
      <p:sp>
        <p:nvSpPr>
          <p:cNvPr id="4" name="Shape 2"/>
          <p:cNvSpPr/>
          <p:nvPr/>
        </p:nvSpPr>
        <p:spPr>
          <a:xfrm>
            <a:off x="566928" y="1591056"/>
            <a:ext cx="11057839" cy="848563"/>
          </a:xfrm>
          <a:prstGeom prst="roundRect">
            <a:avLst>
              <a:gd name="adj" fmla="val 8621"/>
            </a:avLst>
          </a:prstGeom>
          <a:solidFill>
            <a:srgbClr val="25395F"/>
          </a:solidFill>
          <a:ln w="12700">
            <a:solidFill>
              <a:srgbClr val="25395F"/>
            </a:solidFill>
            <a:prstDash val="solid"/>
          </a:ln>
        </p:spPr>
      </p:sp>
      <p:sp>
        <p:nvSpPr>
          <p:cNvPr id="5" name="Shape 3"/>
          <p:cNvSpPr/>
          <p:nvPr/>
        </p:nvSpPr>
        <p:spPr>
          <a:xfrm>
            <a:off x="859536" y="1814170"/>
            <a:ext cx="402336" cy="402336"/>
          </a:xfrm>
          <a:prstGeom prst="ellipse">
            <a:avLst/>
          </a:prstGeom>
          <a:solidFill>
            <a:srgbClr val="B08D57"/>
          </a:solidFill>
          <a:ln w="12700">
            <a:solidFill>
              <a:srgbClr val="B08D57"/>
            </a:solidFill>
            <a:prstDash val="solid"/>
          </a:ln>
        </p:spPr>
      </p:sp>
      <p:pic>
        <p:nvPicPr>
          <p:cNvPr id="6" name="Image 0" descr="preencoded.png">    </p:cNvPr>
          <p:cNvPicPr>
            <a:picLocks noChangeAspect="1"/>
          </p:cNvPicPr>
          <p:nvPr/>
        </p:nvPicPr>
        <p:blipFill>
          <a:blip r:embed="rId1"/>
          <a:stretch>
            <a:fillRect/>
          </a:stretch>
        </p:blipFill>
        <p:spPr>
          <a:xfrm>
            <a:off x="980237" y="1934870"/>
            <a:ext cx="160934" cy="160934"/>
          </a:xfrm>
          <a:prstGeom prst="rect">
            <a:avLst/>
          </a:prstGeom>
        </p:spPr>
      </p:pic>
      <p:sp>
        <p:nvSpPr>
          <p:cNvPr id="7" name="Text 4"/>
          <p:cNvSpPr/>
          <p:nvPr/>
        </p:nvSpPr>
        <p:spPr>
          <a:xfrm>
            <a:off x="1444752" y="1729588"/>
            <a:ext cx="9997135" cy="571500"/>
          </a:xfrm>
          <a:prstGeom prst="rect">
            <a:avLst/>
          </a:prstGeom>
          <a:noFill/>
          <a:ln/>
        </p:spPr>
        <p:txBody>
          <a:bodyPr wrap="square" lIns="0" tIns="0" rIns="0" bIns="0" rtlCol="0" anchor="t"/>
          <a:lstStyle/>
          <a:p>
            <a:pPr indent="0" marL="0">
              <a:lnSpc>
                <a:spcPts val="2250"/>
              </a:lnSpc>
              <a:buNone/>
            </a:pPr>
            <a:r>
              <a:rPr lang="en-US" sz="1500" dirty="0">
                <a:solidFill>
                  <a:srgbClr val="E4E9F1"/>
                </a:solidFill>
                <a:latin typeface="微软雅黑" pitchFamily="34" charset="0"/>
                <a:ea typeface="微软雅黑" pitchFamily="34" charset="-122"/>
                <a:cs typeface="微软雅黑" pitchFamily="34" charset="-120"/>
              </a:rPr>
              <a:t>我国宪法第一百三十四条将人民检察院定位为国家的法律监督机关，第一百三十六条规定其依法独立行使检察权。这一定位区别于英美法系的政府公诉人与大陆法系的法律守护人。</a:t>
            </a:r>
            <a:endParaRPr lang="en-US" sz="1500" dirty="0"/>
          </a:p>
        </p:txBody>
      </p:sp>
      <p:sp>
        <p:nvSpPr>
          <p:cNvPr id="8" name="Shape 5"/>
          <p:cNvSpPr/>
          <p:nvPr/>
        </p:nvSpPr>
        <p:spPr>
          <a:xfrm>
            <a:off x="566928" y="2576779"/>
            <a:ext cx="11057839" cy="848563"/>
          </a:xfrm>
          <a:prstGeom prst="roundRect">
            <a:avLst>
              <a:gd name="adj" fmla="val 8621"/>
            </a:avLst>
          </a:prstGeom>
          <a:solidFill>
            <a:srgbClr val="25395F"/>
          </a:solidFill>
          <a:ln w="12700">
            <a:solidFill>
              <a:srgbClr val="25395F"/>
            </a:solidFill>
            <a:prstDash val="solid"/>
          </a:ln>
        </p:spPr>
      </p:sp>
      <p:sp>
        <p:nvSpPr>
          <p:cNvPr id="9" name="Shape 6"/>
          <p:cNvSpPr/>
          <p:nvPr/>
        </p:nvSpPr>
        <p:spPr>
          <a:xfrm>
            <a:off x="859536" y="2799893"/>
            <a:ext cx="402336" cy="402336"/>
          </a:xfrm>
          <a:prstGeom prst="ellipse">
            <a:avLst/>
          </a:prstGeom>
          <a:solidFill>
            <a:srgbClr val="B08D57"/>
          </a:solidFill>
          <a:ln w="12700">
            <a:solidFill>
              <a:srgbClr val="B08D57"/>
            </a:solidFill>
            <a:prstDash val="solid"/>
          </a:ln>
        </p:spPr>
      </p:sp>
      <p:pic>
        <p:nvPicPr>
          <p:cNvPr id="10" name="Image 1" descr="preencoded.png">    </p:cNvPr>
          <p:cNvPicPr>
            <a:picLocks noChangeAspect="1"/>
          </p:cNvPicPr>
          <p:nvPr/>
        </p:nvPicPr>
        <p:blipFill>
          <a:blip r:embed="rId2"/>
          <a:stretch>
            <a:fillRect/>
          </a:stretch>
        </p:blipFill>
        <p:spPr>
          <a:xfrm>
            <a:off x="980237" y="2920594"/>
            <a:ext cx="160934" cy="160934"/>
          </a:xfrm>
          <a:prstGeom prst="rect">
            <a:avLst/>
          </a:prstGeom>
        </p:spPr>
      </p:pic>
      <p:sp>
        <p:nvSpPr>
          <p:cNvPr id="11" name="Text 7"/>
          <p:cNvSpPr/>
          <p:nvPr/>
        </p:nvSpPr>
        <p:spPr>
          <a:xfrm>
            <a:off x="1444752" y="2715311"/>
            <a:ext cx="9997135" cy="571500"/>
          </a:xfrm>
          <a:prstGeom prst="rect">
            <a:avLst/>
          </a:prstGeom>
          <a:noFill/>
          <a:ln/>
        </p:spPr>
        <p:txBody>
          <a:bodyPr wrap="square" lIns="0" tIns="0" rIns="0" bIns="0" rtlCol="0" anchor="t"/>
          <a:lstStyle/>
          <a:p>
            <a:pPr indent="0" marL="0">
              <a:lnSpc>
                <a:spcPts val="2250"/>
              </a:lnSpc>
              <a:buNone/>
            </a:pPr>
            <a:r>
              <a:rPr lang="en-US" sz="1500" dirty="0">
                <a:solidFill>
                  <a:srgbClr val="E4E9F1"/>
                </a:solidFill>
                <a:latin typeface="微软雅黑" pitchFamily="34" charset="0"/>
                <a:ea typeface="微软雅黑" pitchFamily="34" charset="-122"/>
                <a:cs typeface="微软雅黑" pitchFamily="34" charset="-120"/>
              </a:rPr>
              <a:t>检察权属性有行政权说、司法权说、双重属性说、独立的法律监督权说四种。属性判断直接决定检察官在组织指令与职业良知之间的取舍，这是检察伦理比法官伦理更纠结的原因。</a:t>
            </a:r>
            <a:endParaRPr lang="en-US" sz="1500" dirty="0"/>
          </a:p>
        </p:txBody>
      </p:sp>
      <p:sp>
        <p:nvSpPr>
          <p:cNvPr id="12" name="Shape 8"/>
          <p:cNvSpPr/>
          <p:nvPr/>
        </p:nvSpPr>
        <p:spPr>
          <a:xfrm>
            <a:off x="566928" y="3562502"/>
            <a:ext cx="11057839" cy="848563"/>
          </a:xfrm>
          <a:prstGeom prst="roundRect">
            <a:avLst>
              <a:gd name="adj" fmla="val 8621"/>
            </a:avLst>
          </a:prstGeom>
          <a:solidFill>
            <a:srgbClr val="25395F"/>
          </a:solidFill>
          <a:ln w="12700">
            <a:solidFill>
              <a:srgbClr val="25395F"/>
            </a:solidFill>
            <a:prstDash val="solid"/>
          </a:ln>
        </p:spPr>
      </p:sp>
      <p:sp>
        <p:nvSpPr>
          <p:cNvPr id="13" name="Shape 9"/>
          <p:cNvSpPr/>
          <p:nvPr/>
        </p:nvSpPr>
        <p:spPr>
          <a:xfrm>
            <a:off x="859536" y="3785616"/>
            <a:ext cx="402336" cy="402336"/>
          </a:xfrm>
          <a:prstGeom prst="ellipse">
            <a:avLst/>
          </a:prstGeom>
          <a:solidFill>
            <a:srgbClr val="B08D57"/>
          </a:solidFill>
          <a:ln w="12700">
            <a:solidFill>
              <a:srgbClr val="B08D57"/>
            </a:solidFill>
            <a:prstDash val="solid"/>
          </a:ln>
        </p:spPr>
      </p:sp>
      <p:pic>
        <p:nvPicPr>
          <p:cNvPr id="14" name="Image 2" descr="preencoded.png">    </p:cNvPr>
          <p:cNvPicPr>
            <a:picLocks noChangeAspect="1"/>
          </p:cNvPicPr>
          <p:nvPr/>
        </p:nvPicPr>
        <p:blipFill>
          <a:blip r:embed="rId3"/>
          <a:stretch>
            <a:fillRect/>
          </a:stretch>
        </p:blipFill>
        <p:spPr>
          <a:xfrm>
            <a:off x="980237" y="3906317"/>
            <a:ext cx="160934" cy="160934"/>
          </a:xfrm>
          <a:prstGeom prst="rect">
            <a:avLst/>
          </a:prstGeom>
        </p:spPr>
      </p:pic>
      <p:sp>
        <p:nvSpPr>
          <p:cNvPr id="15" name="Text 10"/>
          <p:cNvSpPr/>
          <p:nvPr/>
        </p:nvSpPr>
        <p:spPr>
          <a:xfrm>
            <a:off x="1444752" y="3701034"/>
            <a:ext cx="9997135" cy="571500"/>
          </a:xfrm>
          <a:prstGeom prst="rect">
            <a:avLst/>
          </a:prstGeom>
          <a:noFill/>
          <a:ln/>
        </p:spPr>
        <p:txBody>
          <a:bodyPr wrap="square" lIns="0" tIns="0" rIns="0" bIns="0" rtlCol="0" anchor="t"/>
          <a:lstStyle/>
          <a:p>
            <a:pPr indent="0" marL="0">
              <a:lnSpc>
                <a:spcPts val="2250"/>
              </a:lnSpc>
              <a:buNone/>
            </a:pPr>
            <a:r>
              <a:rPr lang="en-US" sz="1500" dirty="0">
                <a:solidFill>
                  <a:srgbClr val="E4E9F1"/>
                </a:solidFill>
                <a:latin typeface="微软雅黑" pitchFamily="34" charset="0"/>
                <a:ea typeface="微软雅黑" pitchFamily="34" charset="-122"/>
                <a:cs typeface="微软雅黑" pitchFamily="34" charset="-120"/>
              </a:rPr>
              <a:t>检察官具有追诉者、监督者、公益代表、保护者四重角色，对应刑事、民事、行政、公益诉讼“四大检察”。角色越多，冲突可能性越大。</a:t>
            </a:r>
            <a:endParaRPr lang="en-US" sz="1500" dirty="0"/>
          </a:p>
        </p:txBody>
      </p:sp>
      <p:sp>
        <p:nvSpPr>
          <p:cNvPr id="16" name="Shape 11"/>
          <p:cNvSpPr/>
          <p:nvPr/>
        </p:nvSpPr>
        <p:spPr>
          <a:xfrm>
            <a:off x="566928" y="4548226"/>
            <a:ext cx="11057839" cy="848563"/>
          </a:xfrm>
          <a:prstGeom prst="roundRect">
            <a:avLst>
              <a:gd name="adj" fmla="val 8621"/>
            </a:avLst>
          </a:prstGeom>
          <a:solidFill>
            <a:srgbClr val="25395F"/>
          </a:solidFill>
          <a:ln w="12700">
            <a:solidFill>
              <a:srgbClr val="25395F"/>
            </a:solidFill>
            <a:prstDash val="solid"/>
          </a:ln>
        </p:spPr>
      </p:sp>
      <p:sp>
        <p:nvSpPr>
          <p:cNvPr id="17" name="Shape 12"/>
          <p:cNvSpPr/>
          <p:nvPr/>
        </p:nvSpPr>
        <p:spPr>
          <a:xfrm>
            <a:off x="859536" y="4771339"/>
            <a:ext cx="402336" cy="402336"/>
          </a:xfrm>
          <a:prstGeom prst="ellipse">
            <a:avLst/>
          </a:prstGeom>
          <a:solidFill>
            <a:srgbClr val="B08D57"/>
          </a:solidFill>
          <a:ln w="12700">
            <a:solidFill>
              <a:srgbClr val="B08D57"/>
            </a:solidFill>
            <a:prstDash val="solid"/>
          </a:ln>
        </p:spPr>
      </p:sp>
      <p:pic>
        <p:nvPicPr>
          <p:cNvPr id="18" name="Image 3" descr="preencoded.png">    </p:cNvPr>
          <p:cNvPicPr>
            <a:picLocks noChangeAspect="1"/>
          </p:cNvPicPr>
          <p:nvPr/>
        </p:nvPicPr>
        <p:blipFill>
          <a:blip r:embed="rId4"/>
          <a:stretch>
            <a:fillRect/>
          </a:stretch>
        </p:blipFill>
        <p:spPr>
          <a:xfrm>
            <a:off x="980237" y="4892040"/>
            <a:ext cx="160934" cy="160934"/>
          </a:xfrm>
          <a:prstGeom prst="rect">
            <a:avLst/>
          </a:prstGeom>
        </p:spPr>
      </p:pic>
      <p:sp>
        <p:nvSpPr>
          <p:cNvPr id="19" name="Text 13"/>
          <p:cNvSpPr/>
          <p:nvPr/>
        </p:nvSpPr>
        <p:spPr>
          <a:xfrm>
            <a:off x="1444752" y="4686757"/>
            <a:ext cx="9997135" cy="571500"/>
          </a:xfrm>
          <a:prstGeom prst="rect">
            <a:avLst/>
          </a:prstGeom>
          <a:noFill/>
          <a:ln/>
        </p:spPr>
        <p:txBody>
          <a:bodyPr wrap="square" lIns="0" tIns="0" rIns="0" bIns="0" rtlCol="0" anchor="t"/>
          <a:lstStyle/>
          <a:p>
            <a:pPr indent="0" marL="0">
              <a:lnSpc>
                <a:spcPts val="2250"/>
              </a:lnSpc>
              <a:buNone/>
            </a:pPr>
            <a:r>
              <a:rPr lang="en-US" sz="1500" dirty="0">
                <a:solidFill>
                  <a:srgbClr val="E4E9F1"/>
                </a:solidFill>
                <a:latin typeface="微软雅黑" pitchFamily="34" charset="0"/>
                <a:ea typeface="微软雅黑" pitchFamily="34" charset="-122"/>
                <a:cs typeface="微软雅黑" pitchFamily="34" charset="-120"/>
              </a:rPr>
              <a:t>检察一体化（职务承继、职务转移、上级指令权）与检察官相对独立（办案责任制、权力清单）并存。冲突处理四步：要求书面、陈述并记录、程序内救济、坚守客观义务底线。</a:t>
            </a:r>
            <a:endParaRPr lang="en-US" sz="1500" dirty="0"/>
          </a:p>
        </p:txBody>
      </p:sp>
      <p:sp>
        <p:nvSpPr>
          <p:cNvPr id="20" name="Shape 14"/>
          <p:cNvSpPr/>
          <p:nvPr/>
        </p:nvSpPr>
        <p:spPr>
          <a:xfrm>
            <a:off x="566928" y="5533949"/>
            <a:ext cx="11057839" cy="848563"/>
          </a:xfrm>
          <a:prstGeom prst="roundRect">
            <a:avLst>
              <a:gd name="adj" fmla="val 8621"/>
            </a:avLst>
          </a:prstGeom>
          <a:solidFill>
            <a:srgbClr val="25395F"/>
          </a:solidFill>
          <a:ln w="12700">
            <a:solidFill>
              <a:srgbClr val="25395F"/>
            </a:solidFill>
            <a:prstDash val="solid"/>
          </a:ln>
        </p:spPr>
      </p:sp>
      <p:sp>
        <p:nvSpPr>
          <p:cNvPr id="21" name="Shape 15"/>
          <p:cNvSpPr/>
          <p:nvPr/>
        </p:nvSpPr>
        <p:spPr>
          <a:xfrm>
            <a:off x="859536" y="5757062"/>
            <a:ext cx="402336" cy="402336"/>
          </a:xfrm>
          <a:prstGeom prst="ellipse">
            <a:avLst/>
          </a:prstGeom>
          <a:solidFill>
            <a:srgbClr val="B08D57"/>
          </a:solidFill>
          <a:ln w="12700">
            <a:solidFill>
              <a:srgbClr val="B08D57"/>
            </a:solidFill>
            <a:prstDash val="solid"/>
          </a:ln>
        </p:spPr>
      </p:sp>
      <p:pic>
        <p:nvPicPr>
          <p:cNvPr id="22" name="Image 4" descr="preencoded.png">    </p:cNvPr>
          <p:cNvPicPr>
            <a:picLocks noChangeAspect="1"/>
          </p:cNvPicPr>
          <p:nvPr/>
        </p:nvPicPr>
        <p:blipFill>
          <a:blip r:embed="rId5"/>
          <a:stretch>
            <a:fillRect/>
          </a:stretch>
        </p:blipFill>
        <p:spPr>
          <a:xfrm>
            <a:off x="980237" y="5877763"/>
            <a:ext cx="160934" cy="160934"/>
          </a:xfrm>
          <a:prstGeom prst="rect">
            <a:avLst/>
          </a:prstGeom>
        </p:spPr>
      </p:pic>
      <p:sp>
        <p:nvSpPr>
          <p:cNvPr id="23" name="Text 16"/>
          <p:cNvSpPr/>
          <p:nvPr/>
        </p:nvSpPr>
        <p:spPr>
          <a:xfrm>
            <a:off x="1444752" y="5672480"/>
            <a:ext cx="9997135" cy="571500"/>
          </a:xfrm>
          <a:prstGeom prst="rect">
            <a:avLst/>
          </a:prstGeom>
          <a:noFill/>
          <a:ln/>
        </p:spPr>
        <p:txBody>
          <a:bodyPr wrap="square" lIns="0" tIns="0" rIns="0" bIns="0" rtlCol="0" anchor="t"/>
          <a:lstStyle/>
          <a:p>
            <a:pPr indent="0" marL="0">
              <a:lnSpc>
                <a:spcPts val="2250"/>
              </a:lnSpc>
              <a:buNone/>
            </a:pPr>
            <a:r>
              <a:rPr lang="en-US" sz="1500" dirty="0">
                <a:solidFill>
                  <a:srgbClr val="E4E9F1"/>
                </a:solidFill>
                <a:latin typeface="微软雅黑" pitchFamily="34" charset="0"/>
                <a:ea typeface="微软雅黑" pitchFamily="34" charset="-122"/>
                <a:cs typeface="微软雅黑" pitchFamily="34" charset="-120"/>
              </a:rPr>
              <a:t>规范体系分三层：《检察官法》（第五条客观公正立场、第十条义务、第四十七条处分事由、第四十九条惩戒委员会）、《检察官职业道德基本准则》五条、《检察人员纪律处分条例》与《人民检察院刑事诉讼规则》。</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9509760" y="-1371600"/>
            <a:ext cx="5120640" cy="5120640"/>
          </a:xfrm>
          <a:prstGeom prst="ellipse">
            <a:avLst/>
          </a:prstGeom>
          <a:solidFill>
            <a:srgbClr val="25395F"/>
          </a:solidFill>
          <a:ln w="12700">
            <a:solidFill>
              <a:srgbClr val="25395F"/>
            </a:solidFill>
            <a:prstDash val="solid"/>
          </a:ln>
        </p:spPr>
      </p:sp>
      <p:sp>
        <p:nvSpPr>
          <p:cNvPr id="3" name="Text 1"/>
          <p:cNvSpPr/>
          <p:nvPr/>
        </p:nvSpPr>
        <p:spPr>
          <a:xfrm>
            <a:off x="566928" y="1581341"/>
            <a:ext cx="4572000" cy="310896"/>
          </a:xfrm>
          <a:prstGeom prst="rect">
            <a:avLst/>
          </a:prstGeom>
          <a:noFill/>
          <a:ln/>
        </p:spPr>
        <p:txBody>
          <a:bodyPr wrap="square" lIns="0" tIns="0" rIns="0" bIns="0" rtlCol="0" anchor="ctr"/>
          <a:lstStyle/>
          <a:p>
            <a:pPr indent="0" marL="0">
              <a:buNone/>
            </a:pPr>
            <a:r>
              <a:rPr lang="en-US" sz="1600" b="1" spc="300" kern="0" dirty="0">
                <a:solidFill>
                  <a:srgbClr val="B08D57"/>
                </a:solidFill>
                <a:latin typeface="微软雅黑" pitchFamily="34" charset="0"/>
                <a:ea typeface="微软雅黑" pitchFamily="34" charset="-122"/>
                <a:cs typeface="微软雅黑" pitchFamily="34" charset="-120"/>
              </a:rPr>
              <a:t>第10课时</a:t>
            </a:r>
            <a:endParaRPr lang="en-US" sz="1600" dirty="0"/>
          </a:p>
        </p:txBody>
      </p:sp>
      <p:sp>
        <p:nvSpPr>
          <p:cNvPr id="4" name="Text 2"/>
          <p:cNvSpPr/>
          <p:nvPr/>
        </p:nvSpPr>
        <p:spPr>
          <a:xfrm>
            <a:off x="566928" y="2001965"/>
            <a:ext cx="9326880" cy="629412"/>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检察官的客观公正义务</a:t>
            </a:r>
            <a:endParaRPr lang="en-US" sz="4200" dirty="0"/>
          </a:p>
        </p:txBody>
      </p:sp>
      <p:sp>
        <p:nvSpPr>
          <p:cNvPr id="5" name="Text 3"/>
          <p:cNvSpPr/>
          <p:nvPr/>
        </p:nvSpPr>
        <p:spPr>
          <a:xfrm>
            <a:off x="603504" y="2887409"/>
            <a:ext cx="9326880" cy="295275"/>
          </a:xfrm>
          <a:prstGeom prst="rect">
            <a:avLst/>
          </a:prstGeom>
          <a:noFill/>
          <a:ln/>
        </p:spPr>
        <p:txBody>
          <a:bodyPr wrap="square" lIns="0" tIns="0" rIns="0" bIns="0" rtlCol="0" anchor="t"/>
          <a:lstStyle/>
          <a:p>
            <a:pPr indent="0" marL="0">
              <a:lnSpc>
                <a:spcPts val="2300"/>
              </a:lnSpc>
              <a:buNone/>
            </a:pPr>
            <a:r>
              <a:rPr lang="en-US" sz="1500" dirty="0">
                <a:solidFill>
                  <a:srgbClr val="D9C29B"/>
                </a:solidFill>
                <a:latin typeface="微软雅黑" pitchFamily="34" charset="0"/>
                <a:ea typeface="微软雅黑" pitchFamily="34" charset="-122"/>
                <a:cs typeface="微软雅黑" pitchFamily="34" charset="-120"/>
              </a:rPr>
              <a:t>检察官的利益不在于赢得案件，而在于实现正义——这句话如何落为可操作的规范？</a:t>
            </a:r>
            <a:endParaRPr lang="en-US" sz="1500" dirty="0"/>
          </a:p>
        </p:txBody>
      </p:sp>
      <p:sp>
        <p:nvSpPr>
          <p:cNvPr id="6" name="Shape 4"/>
          <p:cNvSpPr/>
          <p:nvPr/>
        </p:nvSpPr>
        <p:spPr>
          <a:xfrm>
            <a:off x="566928" y="5056632"/>
            <a:ext cx="3551834" cy="1325880"/>
          </a:xfrm>
          <a:prstGeom prst="roundRect">
            <a:avLst>
              <a:gd name="adj" fmla="val 6897"/>
            </a:avLst>
          </a:prstGeom>
          <a:solidFill>
            <a:srgbClr val="25395F"/>
          </a:solidFill>
          <a:ln w="12700">
            <a:solidFill>
              <a:srgbClr val="25395F"/>
            </a:solidFill>
            <a:prstDash val="solid"/>
          </a:ln>
        </p:spPr>
      </p:sp>
      <p:sp>
        <p:nvSpPr>
          <p:cNvPr id="7" name="Shape 5"/>
          <p:cNvSpPr/>
          <p:nvPr/>
        </p:nvSpPr>
        <p:spPr>
          <a:xfrm>
            <a:off x="841248" y="5518404"/>
            <a:ext cx="402336" cy="402336"/>
          </a:xfrm>
          <a:prstGeom prst="ellipse">
            <a:avLst/>
          </a:prstGeom>
          <a:solidFill>
            <a:srgbClr val="B08D57"/>
          </a:solidFill>
          <a:ln w="12700">
            <a:solidFill>
              <a:srgbClr val="B08D57"/>
            </a:solidFill>
            <a:prstDash val="solid"/>
          </a:ln>
        </p:spPr>
      </p:sp>
      <p:pic>
        <p:nvPicPr>
          <p:cNvPr id="8" name="Image 0" descr="preencoded.png">    </p:cNvPr>
          <p:cNvPicPr>
            <a:picLocks noChangeAspect="1"/>
          </p:cNvPicPr>
          <p:nvPr/>
        </p:nvPicPr>
        <p:blipFill>
          <a:blip r:embed="rId1"/>
          <a:stretch>
            <a:fillRect/>
          </a:stretch>
        </p:blipFill>
        <p:spPr>
          <a:xfrm>
            <a:off x="961949" y="5639105"/>
            <a:ext cx="160934" cy="160934"/>
          </a:xfrm>
          <a:prstGeom prst="rect">
            <a:avLst/>
          </a:prstGeom>
        </p:spPr>
      </p:pic>
      <p:sp>
        <p:nvSpPr>
          <p:cNvPr id="9" name="Text 6"/>
          <p:cNvSpPr/>
          <p:nvPr/>
        </p:nvSpPr>
        <p:spPr>
          <a:xfrm>
            <a:off x="1353312"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客观义务的德国渊源与“最客观的官署”</a:t>
            </a:r>
            <a:endParaRPr lang="en-US" sz="1400" dirty="0"/>
          </a:p>
        </p:txBody>
      </p:sp>
      <p:sp>
        <p:nvSpPr>
          <p:cNvPr id="10" name="Shape 7"/>
          <p:cNvSpPr/>
          <p:nvPr/>
        </p:nvSpPr>
        <p:spPr>
          <a:xfrm>
            <a:off x="4319930" y="5056632"/>
            <a:ext cx="3551834" cy="1325880"/>
          </a:xfrm>
          <a:prstGeom prst="roundRect">
            <a:avLst>
              <a:gd name="adj" fmla="val 6897"/>
            </a:avLst>
          </a:prstGeom>
          <a:solidFill>
            <a:srgbClr val="25395F"/>
          </a:solidFill>
          <a:ln w="12700">
            <a:solidFill>
              <a:srgbClr val="25395F"/>
            </a:solidFill>
            <a:prstDash val="solid"/>
          </a:ln>
        </p:spPr>
      </p:sp>
      <p:sp>
        <p:nvSpPr>
          <p:cNvPr id="11" name="Shape 8"/>
          <p:cNvSpPr/>
          <p:nvPr/>
        </p:nvSpPr>
        <p:spPr>
          <a:xfrm>
            <a:off x="4594250" y="5518404"/>
            <a:ext cx="402336" cy="402336"/>
          </a:xfrm>
          <a:prstGeom prst="ellipse">
            <a:avLst/>
          </a:prstGeom>
          <a:solidFill>
            <a:srgbClr val="B08D57"/>
          </a:solidFill>
          <a:ln w="12700">
            <a:solidFill>
              <a:srgbClr val="B08D57"/>
            </a:solidFill>
            <a:prstDash val="solid"/>
          </a:ln>
        </p:spPr>
      </p:sp>
      <p:pic>
        <p:nvPicPr>
          <p:cNvPr id="12" name="Image 1" descr="preencoded.png">    </p:cNvPr>
          <p:cNvPicPr>
            <a:picLocks noChangeAspect="1"/>
          </p:cNvPicPr>
          <p:nvPr/>
        </p:nvPicPr>
        <p:blipFill>
          <a:blip r:embed="rId2"/>
          <a:stretch>
            <a:fillRect/>
          </a:stretch>
        </p:blipFill>
        <p:spPr>
          <a:xfrm>
            <a:off x="4714951" y="5639105"/>
            <a:ext cx="160934" cy="160934"/>
          </a:xfrm>
          <a:prstGeom prst="rect">
            <a:avLst/>
          </a:prstGeom>
        </p:spPr>
      </p:pic>
      <p:sp>
        <p:nvSpPr>
          <p:cNvPr id="13" name="Text 9"/>
          <p:cNvSpPr/>
          <p:nvPr/>
        </p:nvSpPr>
        <p:spPr>
          <a:xfrm>
            <a:off x="5106314"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客观义务的八项具体内容</a:t>
            </a:r>
            <a:endParaRPr lang="en-US" sz="1400" dirty="0"/>
          </a:p>
        </p:txBody>
      </p:sp>
      <p:sp>
        <p:nvSpPr>
          <p:cNvPr id="14" name="Shape 10"/>
          <p:cNvSpPr/>
          <p:nvPr/>
        </p:nvSpPr>
        <p:spPr>
          <a:xfrm>
            <a:off x="8072933" y="5056632"/>
            <a:ext cx="3551834" cy="1325880"/>
          </a:xfrm>
          <a:prstGeom prst="roundRect">
            <a:avLst>
              <a:gd name="adj" fmla="val 6897"/>
            </a:avLst>
          </a:prstGeom>
          <a:solidFill>
            <a:srgbClr val="25395F"/>
          </a:solidFill>
          <a:ln w="12700">
            <a:solidFill>
              <a:srgbClr val="25395F"/>
            </a:solidFill>
            <a:prstDash val="solid"/>
          </a:ln>
        </p:spPr>
      </p:sp>
      <p:sp>
        <p:nvSpPr>
          <p:cNvPr id="15" name="Shape 11"/>
          <p:cNvSpPr/>
          <p:nvPr/>
        </p:nvSpPr>
        <p:spPr>
          <a:xfrm>
            <a:off x="8347253" y="5518404"/>
            <a:ext cx="402336" cy="402336"/>
          </a:xfrm>
          <a:prstGeom prst="ellipse">
            <a:avLst/>
          </a:prstGeom>
          <a:solidFill>
            <a:srgbClr val="B08D57"/>
          </a:solidFill>
          <a:ln w="12700">
            <a:solidFill>
              <a:srgbClr val="B08D57"/>
            </a:solidFill>
            <a:prstDash val="solid"/>
          </a:ln>
        </p:spPr>
      </p:sp>
      <p:pic>
        <p:nvPicPr>
          <p:cNvPr id="16" name="Image 2" descr="preencoded.png">    </p:cNvPr>
          <p:cNvPicPr>
            <a:picLocks noChangeAspect="1"/>
          </p:cNvPicPr>
          <p:nvPr/>
        </p:nvPicPr>
        <p:blipFill>
          <a:blip r:embed="rId3"/>
          <a:stretch>
            <a:fillRect/>
          </a:stretch>
        </p:blipFill>
        <p:spPr>
          <a:xfrm>
            <a:off x="8467954" y="5639105"/>
            <a:ext cx="160934" cy="160934"/>
          </a:xfrm>
          <a:prstGeom prst="rect">
            <a:avLst/>
          </a:prstGeom>
        </p:spPr>
      </p:pic>
      <p:sp>
        <p:nvSpPr>
          <p:cNvPr id="17" name="Text 12"/>
          <p:cNvSpPr/>
          <p:nvPr/>
        </p:nvSpPr>
        <p:spPr>
          <a:xfrm>
            <a:off x="8859317"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考核、惯性与偏误：客观义务面临的现实挑战</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本课时结构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客观公正义务的完整展开</a:t>
            </a:r>
            <a:endParaRPr lang="en-US" sz="2800" dirty="0"/>
          </a:p>
        </p:txBody>
      </p:sp>
      <p:sp>
        <p:nvSpPr>
          <p:cNvPr id="4" name="Shape 2"/>
          <p:cNvSpPr/>
          <p:nvPr/>
        </p:nvSpPr>
        <p:spPr>
          <a:xfrm>
            <a:off x="566928" y="2619756"/>
            <a:ext cx="5300320" cy="722376"/>
          </a:xfrm>
          <a:prstGeom prst="roundRect">
            <a:avLst>
              <a:gd name="adj" fmla="val 10127"/>
            </a:avLst>
          </a:prstGeom>
          <a:solidFill>
            <a:srgbClr val="F2F4F8"/>
          </a:solidFill>
          <a:ln w="12700">
            <a:solidFill>
              <a:srgbClr val="F2F4F8"/>
            </a:solidFill>
            <a:prstDash val="solid"/>
          </a:ln>
        </p:spPr>
      </p:sp>
      <p:sp>
        <p:nvSpPr>
          <p:cNvPr id="5" name="Shape 3"/>
          <p:cNvSpPr/>
          <p:nvPr/>
        </p:nvSpPr>
        <p:spPr>
          <a:xfrm>
            <a:off x="731520" y="2798064"/>
            <a:ext cx="365760" cy="365760"/>
          </a:xfrm>
          <a:prstGeom prst="ellipse">
            <a:avLst/>
          </a:prstGeom>
          <a:solidFill>
            <a:srgbClr val="B08D57"/>
          </a:solidFill>
          <a:ln w="12700">
            <a:solidFill>
              <a:srgbClr val="B08D57"/>
            </a:solidFill>
            <a:prstDash val="solid"/>
          </a:ln>
        </p:spPr>
      </p:sp>
      <p:sp>
        <p:nvSpPr>
          <p:cNvPr id="6" name="Text 4"/>
          <p:cNvSpPr/>
          <p:nvPr/>
        </p:nvSpPr>
        <p:spPr>
          <a:xfrm>
            <a:off x="73152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一、客观义务的概念与域外渊源</a:t>
            </a:r>
            <a:endParaRPr lang="en-US" sz="1500" dirty="0"/>
          </a:p>
        </p:txBody>
      </p:sp>
      <p:sp>
        <p:nvSpPr>
          <p:cNvPr id="8" name="Shape 6"/>
          <p:cNvSpPr/>
          <p:nvPr/>
        </p:nvSpPr>
        <p:spPr>
          <a:xfrm>
            <a:off x="566928" y="3488436"/>
            <a:ext cx="5300320" cy="722376"/>
          </a:xfrm>
          <a:prstGeom prst="roundRect">
            <a:avLst>
              <a:gd name="adj" fmla="val 10127"/>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二、我国法上的规范依据</a:t>
            </a:r>
            <a:endParaRPr lang="en-US" sz="1500" dirty="0"/>
          </a:p>
        </p:txBody>
      </p:sp>
      <p:sp>
        <p:nvSpPr>
          <p:cNvPr id="12" name="Shape 10"/>
          <p:cNvSpPr/>
          <p:nvPr/>
        </p:nvSpPr>
        <p:spPr>
          <a:xfrm>
            <a:off x="566928" y="4357116"/>
            <a:ext cx="5300320" cy="722376"/>
          </a:xfrm>
          <a:prstGeom prst="roundRect">
            <a:avLst>
              <a:gd name="adj" fmla="val 10127"/>
            </a:avLst>
          </a:prstGeom>
          <a:solidFill>
            <a:srgbClr val="F2F4F8"/>
          </a:solidFill>
          <a:ln w="12700">
            <a:solidFill>
              <a:srgbClr val="F2F4F8"/>
            </a:solidFill>
            <a:prstDash val="solid"/>
          </a:ln>
        </p:spPr>
      </p:sp>
      <p:sp>
        <p:nvSpPr>
          <p:cNvPr id="13" name="Shape 11"/>
          <p:cNvSpPr/>
          <p:nvPr/>
        </p:nvSpPr>
        <p:spPr>
          <a:xfrm>
            <a:off x="731520" y="4535424"/>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三、客观义务的八项具体内容</a:t>
            </a:r>
            <a:endParaRPr lang="en-US" sz="1500" dirty="0"/>
          </a:p>
        </p:txBody>
      </p:sp>
      <p:sp>
        <p:nvSpPr>
          <p:cNvPr id="16" name="Shape 14"/>
          <p:cNvSpPr/>
          <p:nvPr/>
        </p:nvSpPr>
        <p:spPr>
          <a:xfrm>
            <a:off x="6324448" y="2619756"/>
            <a:ext cx="5300320" cy="722376"/>
          </a:xfrm>
          <a:prstGeom prst="roundRect">
            <a:avLst>
              <a:gd name="adj" fmla="val 10127"/>
            </a:avLst>
          </a:prstGeom>
          <a:solidFill>
            <a:srgbClr val="F2F4F8"/>
          </a:solidFill>
          <a:ln w="12700">
            <a:solidFill>
              <a:srgbClr val="F2F4F8"/>
            </a:solidFill>
            <a:prstDash val="solid"/>
          </a:ln>
        </p:spPr>
      </p:sp>
      <p:sp>
        <p:nvSpPr>
          <p:cNvPr id="17" name="Shape 15"/>
          <p:cNvSpPr/>
          <p:nvPr/>
        </p:nvSpPr>
        <p:spPr>
          <a:xfrm>
            <a:off x="6489040" y="2798064"/>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四、布雷迪规则与证据开示的比较</a:t>
            </a:r>
            <a:endParaRPr lang="en-US" sz="1500" dirty="0"/>
          </a:p>
        </p:txBody>
      </p:sp>
      <p:sp>
        <p:nvSpPr>
          <p:cNvPr id="20" name="Shape 18"/>
          <p:cNvSpPr/>
          <p:nvPr/>
        </p:nvSpPr>
        <p:spPr>
          <a:xfrm>
            <a:off x="6324448" y="3488436"/>
            <a:ext cx="5300320" cy="722376"/>
          </a:xfrm>
          <a:prstGeom prst="roundRect">
            <a:avLst>
              <a:gd name="adj" fmla="val 10127"/>
            </a:avLst>
          </a:prstGeom>
          <a:solidFill>
            <a:srgbClr val="F2F4F8"/>
          </a:solidFill>
          <a:ln w="12700">
            <a:solidFill>
              <a:srgbClr val="F2F4F8"/>
            </a:solidFill>
            <a:prstDash val="solid"/>
          </a:ln>
        </p:spPr>
      </p:sp>
      <p:sp>
        <p:nvSpPr>
          <p:cNvPr id="21" name="Shape 19"/>
          <p:cNvSpPr/>
          <p:nvPr/>
        </p:nvSpPr>
        <p:spPr>
          <a:xfrm>
            <a:off x="6489040" y="3666744"/>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五、客观义务面临的现实挑战</a:t>
            </a:r>
            <a:endParaRPr lang="en-US" sz="1500" dirty="0"/>
          </a:p>
        </p:txBody>
      </p:sp>
      <p:sp>
        <p:nvSpPr>
          <p:cNvPr id="24" name="Shape 22"/>
          <p:cNvSpPr/>
          <p:nvPr/>
        </p:nvSpPr>
        <p:spPr>
          <a:xfrm>
            <a:off x="6324448" y="4357116"/>
            <a:ext cx="5300320" cy="722376"/>
          </a:xfrm>
          <a:prstGeom prst="roundRect">
            <a:avLst>
              <a:gd name="adj" fmla="val 10127"/>
            </a:avLst>
          </a:prstGeom>
          <a:solidFill>
            <a:srgbClr val="F2F4F8"/>
          </a:solidFill>
          <a:ln w="12700">
            <a:solidFill>
              <a:srgbClr val="F2F4F8"/>
            </a:solidFill>
            <a:prstDash val="solid"/>
          </a:ln>
        </p:spPr>
      </p:sp>
      <p:sp>
        <p:nvSpPr>
          <p:cNvPr id="25" name="Shape 23"/>
          <p:cNvSpPr/>
          <p:nvPr/>
        </p:nvSpPr>
        <p:spPr>
          <a:xfrm>
            <a:off x="6489040" y="4535424"/>
            <a:ext cx="365760" cy="365760"/>
          </a:xfrm>
          <a:prstGeom prst="ellipse">
            <a:avLst/>
          </a:prstGeom>
          <a:solidFill>
            <a:srgbClr val="B08D57"/>
          </a:solidFill>
          <a:ln w="12700">
            <a:solidFill>
              <a:srgbClr val="B08D57"/>
            </a:solidFill>
            <a:prstDash val="solid"/>
          </a:ln>
        </p:spPr>
      </p:sp>
      <p:sp>
        <p:nvSpPr>
          <p:cNvPr id="26" name="Text 24"/>
          <p:cNvSpPr/>
          <p:nvPr/>
        </p:nvSpPr>
        <p:spPr>
          <a:xfrm>
            <a:off x="648904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7" name="Text 25"/>
          <p:cNvSpPr/>
          <p:nvPr/>
        </p:nvSpPr>
        <p:spPr>
          <a:xfrm>
            <a:off x="700110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六、冤错案件的镜鉴与本课小结</a:t>
            </a:r>
            <a:endParaRPr lang="en-US" sz="1500" dirty="0"/>
          </a:p>
        </p:txBody>
      </p:sp>
      <p:sp>
        <p:nvSpPr>
          <p:cNvPr id="28"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第10课时 · 02</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1</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客观义务的概念与域外渊源</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为什么全世界都要求追诉者同时保护被追诉者？</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第10课时 · 03</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3233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58368" y="1316736"/>
            <a:ext cx="749808" cy="749808"/>
          </a:xfrm>
          <a:prstGeom prst="rect">
            <a:avLst/>
          </a:prstGeom>
        </p:spPr>
      </p:pic>
      <p:sp>
        <p:nvSpPr>
          <p:cNvPr id="3" name="Text 0"/>
          <p:cNvSpPr/>
          <p:nvPr/>
        </p:nvSpPr>
        <p:spPr>
          <a:xfrm>
            <a:off x="1298448" y="2395728"/>
            <a:ext cx="9594799" cy="1828800"/>
          </a:xfrm>
          <a:prstGeom prst="rect">
            <a:avLst/>
          </a:prstGeom>
          <a:noFill/>
          <a:ln/>
        </p:spPr>
        <p:txBody>
          <a:bodyPr wrap="square" lIns="0" tIns="0" rIns="0" bIns="0" rtlCol="0" anchor="t"/>
          <a:lstStyle/>
          <a:p>
            <a:pPr indent="0" marL="0">
              <a:lnSpc>
                <a:spcPts val="4800"/>
              </a:lnSpc>
              <a:buNone/>
            </a:pPr>
            <a:r>
              <a:rPr lang="en-US" sz="3200" dirty="0">
                <a:solidFill>
                  <a:srgbClr val="FFFFFF"/>
                </a:solidFill>
                <a:latin typeface="微软雅黑" pitchFamily="34" charset="0"/>
                <a:ea typeface="微软雅黑" pitchFamily="34" charset="-122"/>
                <a:cs typeface="微软雅黑" pitchFamily="34" charset="-120"/>
              </a:rPr>
              <a:t>检察官不是某一场争讼中一方当事人的代理人，而是主权者的代表……其利益不在于赢得案件，而在于实现正义。</a:t>
            </a:r>
            <a:endParaRPr lang="en-US" sz="3200" dirty="0"/>
          </a:p>
        </p:txBody>
      </p:sp>
      <p:sp>
        <p:nvSpPr>
          <p:cNvPr id="4" name="Text 1"/>
          <p:cNvSpPr/>
          <p:nvPr/>
        </p:nvSpPr>
        <p:spPr>
          <a:xfrm>
            <a:off x="1335024" y="4590288"/>
            <a:ext cx="9594799" cy="365760"/>
          </a:xfrm>
          <a:prstGeom prst="rect">
            <a:avLst/>
          </a:prstGeom>
          <a:noFill/>
          <a:ln/>
        </p:spPr>
        <p:txBody>
          <a:bodyPr wrap="square" lIns="0" tIns="0" rIns="0" bIns="0" rtlCol="0" anchor="ctr"/>
          <a:lstStyle/>
          <a:p>
            <a:pPr indent="0" marL="0">
              <a:buNone/>
            </a:pPr>
            <a:r>
              <a:rPr lang="en-US" sz="1700" b="1" dirty="0">
                <a:solidFill>
                  <a:srgbClr val="B08D57"/>
                </a:solidFill>
                <a:latin typeface="微软雅黑" pitchFamily="34" charset="0"/>
                <a:ea typeface="微软雅黑" pitchFamily="34" charset="-122"/>
                <a:cs typeface="微软雅黑" pitchFamily="34" charset="-120"/>
              </a:rPr>
              <a:t>—— 美国联邦最高法院</a:t>
            </a:r>
            <a:endParaRPr lang="en-US" sz="1700" dirty="0"/>
          </a:p>
        </p:txBody>
      </p:sp>
      <p:sp>
        <p:nvSpPr>
          <p:cNvPr id="5" name="Text 2"/>
          <p:cNvSpPr/>
          <p:nvPr/>
        </p:nvSpPr>
        <p:spPr>
          <a:xfrm>
            <a:off x="1335024" y="4992624"/>
            <a:ext cx="9594799" cy="347472"/>
          </a:xfrm>
          <a:prstGeom prst="rect">
            <a:avLst/>
          </a:prstGeom>
          <a:noFill/>
          <a:ln/>
        </p:spPr>
        <p:txBody>
          <a:bodyPr wrap="square" lIns="0" tIns="0" rIns="0" bIns="0" rtlCol="0" anchor="ctr"/>
          <a:lstStyle/>
          <a:p>
            <a:pPr indent="0" marL="0">
              <a:buNone/>
            </a:pPr>
            <a:r>
              <a:rPr lang="en-US" sz="1300" dirty="0">
                <a:solidFill>
                  <a:srgbClr val="6B7684"/>
                </a:solidFill>
                <a:latin typeface="微软雅黑" pitchFamily="34" charset="0"/>
                <a:ea typeface="微软雅黑" pitchFamily="34" charset="-122"/>
                <a:cs typeface="微软雅黑" pitchFamily="34" charset="-120"/>
              </a:rPr>
              <a:t>Berger v. United States (1935) —— 英美法上关于检察官角色最经典的表述</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渊源</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客观义务的三个来源</a:t>
            </a:r>
            <a:endParaRPr lang="en-US" sz="2800" dirty="0"/>
          </a:p>
        </p:txBody>
      </p:sp>
      <p:sp>
        <p:nvSpPr>
          <p:cNvPr id="4" name="Shape 2"/>
          <p:cNvSpPr/>
          <p:nvPr/>
        </p:nvSpPr>
        <p:spPr>
          <a:xfrm>
            <a:off x="566928" y="1316736"/>
            <a:ext cx="11057839" cy="1683131"/>
          </a:xfrm>
          <a:prstGeom prst="roundRect">
            <a:avLst>
              <a:gd name="adj" fmla="val 4346"/>
            </a:avLst>
          </a:prstGeom>
          <a:solidFill>
            <a:srgbClr val="F2F4F8"/>
          </a:solidFill>
          <a:ln w="12700">
            <a:solidFill>
              <a:srgbClr val="F2F4F8"/>
            </a:solidFill>
            <a:prstDash val="solid"/>
          </a:ln>
        </p:spPr>
      </p:sp>
      <p:sp>
        <p:nvSpPr>
          <p:cNvPr id="5" name="Shape 3"/>
          <p:cNvSpPr/>
          <p:nvPr/>
        </p:nvSpPr>
        <p:spPr>
          <a:xfrm>
            <a:off x="841248" y="1902270"/>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2055889"/>
            <a:ext cx="204826" cy="204826"/>
          </a:xfrm>
          <a:prstGeom prst="rect">
            <a:avLst/>
          </a:prstGeom>
        </p:spPr>
      </p:pic>
      <p:sp>
        <p:nvSpPr>
          <p:cNvPr id="7" name="Text 4"/>
          <p:cNvSpPr/>
          <p:nvPr/>
        </p:nvSpPr>
        <p:spPr>
          <a:xfrm>
            <a:off x="1536192" y="1573276"/>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德国：检察制度的设计初衷</a:t>
            </a:r>
            <a:endParaRPr lang="en-US" sz="1650" dirty="0"/>
          </a:p>
        </p:txBody>
      </p:sp>
      <p:sp>
        <p:nvSpPr>
          <p:cNvPr id="8" name="Text 5"/>
          <p:cNvSpPr/>
          <p:nvPr/>
        </p:nvSpPr>
        <p:spPr>
          <a:xfrm>
            <a:off x="1536192" y="1914652"/>
            <a:ext cx="9832543" cy="82867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19世纪德国设立检察官制度，本意之一是以检察官制约警察与法官，防止纠问式诉讼下的恣意。检察官因此被期待为“世界上最客观的官署”（die objektivste Behörde der Welt）。《德国刑事诉讼法》第一百六十条第二款明确规定：检察机关不仅有义务查明不利于被告人的情况，也有义务查明有利于被告人的情况。</a:t>
            </a:r>
            <a:endParaRPr lang="en-US" sz="1500" dirty="0"/>
          </a:p>
        </p:txBody>
      </p:sp>
      <p:sp>
        <p:nvSpPr>
          <p:cNvPr id="9" name="Shape 6"/>
          <p:cNvSpPr/>
          <p:nvPr/>
        </p:nvSpPr>
        <p:spPr>
          <a:xfrm>
            <a:off x="566928" y="3146171"/>
            <a:ext cx="11057839" cy="1683131"/>
          </a:xfrm>
          <a:prstGeom prst="roundRect">
            <a:avLst>
              <a:gd name="adj" fmla="val 4346"/>
            </a:avLst>
          </a:prstGeom>
          <a:solidFill>
            <a:srgbClr val="FFFFFF"/>
          </a:solidFill>
          <a:ln w="12700">
            <a:solidFill>
              <a:srgbClr val="D5DBE5"/>
            </a:solidFill>
            <a:prstDash val="solid"/>
          </a:ln>
        </p:spPr>
      </p:sp>
      <p:sp>
        <p:nvSpPr>
          <p:cNvPr id="10" name="Shape 7"/>
          <p:cNvSpPr/>
          <p:nvPr/>
        </p:nvSpPr>
        <p:spPr>
          <a:xfrm>
            <a:off x="841248" y="3731705"/>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885324"/>
            <a:ext cx="204826" cy="204826"/>
          </a:xfrm>
          <a:prstGeom prst="rect">
            <a:avLst/>
          </a:prstGeom>
        </p:spPr>
      </p:pic>
      <p:sp>
        <p:nvSpPr>
          <p:cNvPr id="12" name="Text 8"/>
          <p:cNvSpPr/>
          <p:nvPr/>
        </p:nvSpPr>
        <p:spPr>
          <a:xfrm>
            <a:off x="1536192" y="340271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英美：判例与职业规则</a:t>
            </a:r>
            <a:endParaRPr lang="en-US" sz="1650" dirty="0"/>
          </a:p>
        </p:txBody>
      </p:sp>
      <p:sp>
        <p:nvSpPr>
          <p:cNvPr id="13" name="Text 9"/>
          <p:cNvSpPr/>
          <p:nvPr/>
        </p:nvSpPr>
        <p:spPr>
          <a:xfrm>
            <a:off x="1536192" y="3744087"/>
            <a:ext cx="9832543" cy="82867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Berger v. United States (1935) 确立检察官“主权者代表”的角色定位；Brady v. Maryland (1963) 确立控方不得压制对被告人有利且具实质意义的证据。ABA《律师职业行为示范规则》第3.8条专门规定检察官的特别责任，包括不得追诉缺乏合理根据的指控、及时披露有利于被告人的证据。</a:t>
            </a:r>
            <a:endParaRPr lang="en-US" sz="1500" dirty="0"/>
          </a:p>
        </p:txBody>
      </p:sp>
      <p:sp>
        <p:nvSpPr>
          <p:cNvPr id="14" name="Shape 10"/>
          <p:cNvSpPr/>
          <p:nvPr/>
        </p:nvSpPr>
        <p:spPr>
          <a:xfrm>
            <a:off x="566928" y="4975606"/>
            <a:ext cx="11057839" cy="1406906"/>
          </a:xfrm>
          <a:prstGeom prst="roundRect">
            <a:avLst>
              <a:gd name="adj" fmla="val 5199"/>
            </a:avLst>
          </a:prstGeom>
          <a:solidFill>
            <a:srgbClr val="F2F4F8"/>
          </a:solidFill>
          <a:ln w="12700">
            <a:solidFill>
              <a:srgbClr val="F2F4F8"/>
            </a:solidFill>
            <a:prstDash val="solid"/>
          </a:ln>
        </p:spPr>
      </p:sp>
      <p:sp>
        <p:nvSpPr>
          <p:cNvPr id="15" name="Shape 11"/>
          <p:cNvSpPr/>
          <p:nvPr/>
        </p:nvSpPr>
        <p:spPr>
          <a:xfrm>
            <a:off x="841248" y="5423027"/>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5576646"/>
            <a:ext cx="204826" cy="204826"/>
          </a:xfrm>
          <a:prstGeom prst="rect">
            <a:avLst/>
          </a:prstGeom>
        </p:spPr>
      </p:pic>
      <p:sp>
        <p:nvSpPr>
          <p:cNvPr id="17" name="Text 12"/>
          <p:cNvSpPr/>
          <p:nvPr/>
        </p:nvSpPr>
        <p:spPr>
          <a:xfrm>
            <a:off x="1536192" y="5232146"/>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我国：法定化的客观公正立场</a:t>
            </a:r>
            <a:endParaRPr lang="en-US" sz="1650" dirty="0"/>
          </a:p>
        </p:txBody>
      </p:sp>
      <p:sp>
        <p:nvSpPr>
          <p:cNvPr id="18" name="Text 13"/>
          <p:cNvSpPr/>
          <p:nvPr/>
        </p:nvSpPr>
        <p:spPr>
          <a:xfrm>
            <a:off x="1536192" y="5573522"/>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2019年修订《检察官法》第五条将客观公正立场直接写入检察官基本法；结合宪法上“法律监督机关”的定位，我国检察官的客观义务在规范强度上并不弱于大陆法系国家，且适用范围超出刑事领域。</a:t>
            </a:r>
            <a:endParaRPr lang="en-US" sz="150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第10课时 · 05</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法理基础</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客观义务为什么正当</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628650"/>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有人质疑：让控方为被告人着想，是否违反对抗制的基本逻辑？回答是——检察官从来不是普通的一方当事人。</a:t>
            </a:r>
            <a:endParaRPr lang="en-US" sz="1650" dirty="0"/>
          </a:p>
        </p:txBody>
      </p:sp>
      <p:sp>
        <p:nvSpPr>
          <p:cNvPr id="7" name="Text 4"/>
          <p:cNvSpPr/>
          <p:nvPr/>
        </p:nvSpPr>
        <p:spPr>
          <a:xfrm>
            <a:off x="1069848" y="2530602"/>
            <a:ext cx="10051999" cy="3541014"/>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第一，权力不对等。检察官掌握侦查资源、强制措施与国家机器，被追诉人往往身陷囹圄、举证能力薄弱。武器不平等的诉讼结构，必须由控方的自我克制来平衡。</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第二，目的不相同。私人当事人的目的是胜诉，国家追诉的目的是实现刑罚权的正确行使。错误定罪不是“赢”，而是国家职能的失败——真凶逍遥法外，无辜者身陷牢狱，双重失败。</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第三，信息不对称。控方掌握全部侦查卷宗，辩方所见有限。若允许控方选择性出示，对抗制赖以运转的信息基础即告瓦解。</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第四，公信力所系。刑事司法的正当性建立在“不冤枉一个好人”之上。一次错案对制度信任的损害，远大于数十次成功追诉所积累的信任。</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因此，客观义务不是对对抗制的背离，而恰恰是使对抗制得以正当运转的前提条件。</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第10课时 · 06</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2</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我国法上的规范依据</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从宪法定位到诉讼法条文，再到检察工作规则</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第10课时 · 07</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核心条文</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三个层次的规范依据</a:t>
            </a:r>
            <a:endParaRPr lang="en-US" sz="2800" dirty="0"/>
          </a:p>
        </p:txBody>
      </p:sp>
      <p:sp>
        <p:nvSpPr>
          <p:cNvPr id="4" name="Shape 2"/>
          <p:cNvSpPr/>
          <p:nvPr/>
        </p:nvSpPr>
        <p:spPr>
          <a:xfrm>
            <a:off x="566928" y="1316736"/>
            <a:ext cx="11057839" cy="1500759"/>
          </a:xfrm>
          <a:prstGeom prst="roundRect">
            <a:avLst>
              <a:gd name="adj" fmla="val 6093"/>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《检察官法》第五条</a:t>
            </a:r>
            <a:endParaRPr lang="en-US" sz="1500" dirty="0"/>
          </a:p>
        </p:txBody>
      </p:sp>
      <p:sp>
        <p:nvSpPr>
          <p:cNvPr id="8" name="Text 6"/>
          <p:cNvSpPr/>
          <p:nvPr/>
        </p:nvSpPr>
        <p:spPr>
          <a:xfrm>
            <a:off x="960120" y="1956816"/>
            <a:ext cx="10271455" cy="641223"/>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检察官应当以事实为根据，以法律为准绳，秉持客观公正的立场。</a:t>
            </a:r>
            <a:endParaRPr lang="en-US" sz="1400" dirty="0"/>
          </a:p>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检察官办理刑事案件，应当严格坚持罪刑法定原则，尊重和保障人权，既要追诉犯罪，也要保障无罪的人不受刑事追究。</a:t>
            </a:r>
            <a:endParaRPr lang="en-US" sz="1400" dirty="0"/>
          </a:p>
        </p:txBody>
      </p:sp>
      <p:sp>
        <p:nvSpPr>
          <p:cNvPr id="9" name="Shape 7"/>
          <p:cNvSpPr/>
          <p:nvPr/>
        </p:nvSpPr>
        <p:spPr>
          <a:xfrm>
            <a:off x="566928" y="3000375"/>
            <a:ext cx="11057839" cy="1767459"/>
          </a:xfrm>
          <a:prstGeom prst="roundRect">
            <a:avLst>
              <a:gd name="adj" fmla="val 5174"/>
            </a:avLst>
          </a:prstGeom>
          <a:solidFill>
            <a:srgbClr val="F6F1E8"/>
          </a:solidFill>
          <a:ln w="12700">
            <a:solidFill>
              <a:srgbClr val="F6F1E8"/>
            </a:solidFill>
            <a:prstDash val="solid"/>
          </a:ln>
        </p:spPr>
      </p:sp>
      <p:sp>
        <p:nvSpPr>
          <p:cNvPr id="10" name="Shape 8"/>
          <p:cNvSpPr/>
          <p:nvPr/>
        </p:nvSpPr>
        <p:spPr>
          <a:xfrm>
            <a:off x="877824" y="3238119"/>
            <a:ext cx="566928" cy="274320"/>
          </a:xfrm>
          <a:prstGeom prst="roundRect">
            <a:avLst>
              <a:gd name="adj" fmla="val 50000"/>
            </a:avLst>
          </a:prstGeom>
          <a:solidFill>
            <a:srgbClr val="B08D57"/>
          </a:solidFill>
          <a:ln w="12700">
            <a:solidFill>
              <a:srgbClr val="B08D57"/>
            </a:solidFill>
            <a:prstDash val="solid"/>
          </a:ln>
        </p:spPr>
      </p:sp>
      <p:sp>
        <p:nvSpPr>
          <p:cNvPr id="11" name="Text 9"/>
          <p:cNvSpPr/>
          <p:nvPr/>
        </p:nvSpPr>
        <p:spPr>
          <a:xfrm>
            <a:off x="877824" y="3238119"/>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2" name="Text 10"/>
          <p:cNvSpPr/>
          <p:nvPr/>
        </p:nvSpPr>
        <p:spPr>
          <a:xfrm>
            <a:off x="1554480" y="3219831"/>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《刑事诉讼法》第五十二条</a:t>
            </a:r>
            <a:endParaRPr lang="en-US" sz="1500" dirty="0"/>
          </a:p>
        </p:txBody>
      </p:sp>
      <p:sp>
        <p:nvSpPr>
          <p:cNvPr id="13" name="Text 11"/>
          <p:cNvSpPr/>
          <p:nvPr/>
        </p:nvSpPr>
        <p:spPr>
          <a:xfrm>
            <a:off x="960120" y="3640455"/>
            <a:ext cx="10271455" cy="907923"/>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审判人员、检察人员、侦查人员必须依照法定程序，收集能够证实犯罪嫌疑人、被告人有罪或者无罪、犯罪情节轻重的各种证据。严禁刑讯逼供和以威胁、引诱、欺骗以及其他非法方法收集证据，不得强迫任何人证实自己有罪。必须保证一切与案件有关或者了解案情的公民，有客观地充分地提供证据的条件，除特殊情况外，可以吸收他们协助调查。</a:t>
            </a:r>
            <a:endParaRPr lang="en-US" sz="1400" dirty="0"/>
          </a:p>
        </p:txBody>
      </p:sp>
      <p:sp>
        <p:nvSpPr>
          <p:cNvPr id="14" name="Shape 12"/>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5" name="Text 13"/>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6" name="Text 14"/>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请注意《刑事诉讼法》第五十二条的三层结构：第一句是全面取证义务（有罪无罪、罪重罪轻并列）；第二句是取证方法的禁止性规定与不得强迫自证其罪；第三句是保障证据来源的义务。这一条同时约束审判人员、检察人员、侦查人员，是我国客观义务在诉讼法上的总条款。</a:t>
            </a:r>
            <a:endParaRPr lang="en-US" sz="1400" dirty="0"/>
          </a:p>
        </p:txBody>
      </p:sp>
      <p:sp>
        <p:nvSpPr>
          <p:cNvPr id="17" name="Text 1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第10课时 · 08</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工作规则</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《人民检察院刑事诉讼规则》中的具体化</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628650"/>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《检察官法》与《刑事诉讼法》确立原则，《人民检察院刑事诉讼规则》将其落为可操作的办案要求。主要包括：</a:t>
            </a:r>
            <a:endParaRPr lang="en-US" sz="1650" dirty="0"/>
          </a:p>
        </p:txBody>
      </p:sp>
      <p:sp>
        <p:nvSpPr>
          <p:cNvPr id="7" name="Text 4"/>
          <p:cNvSpPr/>
          <p:nvPr/>
        </p:nvSpPr>
        <p:spPr>
          <a:xfrm>
            <a:off x="1069848" y="2530602"/>
            <a:ext cx="10051999" cy="3541014"/>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人民检察院办理刑事案件，应当全面、客观地审查证据，重证据、重调查研究，不轻信口供。</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审查逮捕、审查起诉时，应当同时审查有罪、无罪、罪重、罪轻的证据，审查是否存在非法取证情形。</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发现侦查活动存在违法情形的，应当依法提出纠正意见；发现以非法方法收集证据的，应当依法排除并可以要求侦查机关另行指派侦查人员重新调查取证。</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讯问犯罪嫌疑人应当听取其辩解；应当听取辩护人的意见，辩护人提出书面意见的应当附卷。</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经审查认为不符合起诉条件的，应当依法作出不起诉决定；不得为规避考核指标而勉强起诉或者久拖不决。</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第10课时 · 09</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3</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客观义务的八项具体内容</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把一句原则，拆成八件可以检验的具体事情</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第10课时 · 10</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内容拆解</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客观义务的八项要求</a:t>
            </a:r>
            <a:endParaRPr lang="en-US" sz="2800" dirty="0"/>
          </a:p>
        </p:txBody>
      </p:sp>
      <p:sp>
        <p:nvSpPr>
          <p:cNvPr id="4" name="Shape 2"/>
          <p:cNvSpPr/>
          <p:nvPr/>
        </p:nvSpPr>
        <p:spPr>
          <a:xfrm>
            <a:off x="566928" y="1483170"/>
            <a:ext cx="5382616" cy="981329"/>
          </a:xfrm>
          <a:prstGeom prst="roundRect">
            <a:avLst>
              <a:gd name="adj" fmla="val 7454"/>
            </a:avLst>
          </a:prstGeom>
          <a:solidFill>
            <a:srgbClr val="F2F4F8"/>
          </a:solidFill>
          <a:ln w="12700">
            <a:solidFill>
              <a:srgbClr val="F2F4F8"/>
            </a:solidFill>
            <a:prstDash val="solid"/>
          </a:ln>
        </p:spPr>
      </p:sp>
      <p:sp>
        <p:nvSpPr>
          <p:cNvPr id="5" name="Shape 3"/>
          <p:cNvSpPr/>
          <p:nvPr/>
        </p:nvSpPr>
        <p:spPr>
          <a:xfrm>
            <a:off x="822960" y="1745234"/>
            <a:ext cx="457200" cy="457200"/>
          </a:xfrm>
          <a:prstGeom prst="ellipse">
            <a:avLst/>
          </a:prstGeom>
          <a:solidFill>
            <a:srgbClr val="13233F"/>
          </a:solidFill>
          <a:ln w="12700">
            <a:solidFill>
              <a:srgbClr val="13233F"/>
            </a:solidFill>
            <a:prstDash val="solid"/>
          </a:ln>
        </p:spPr>
      </p:sp>
      <p:sp>
        <p:nvSpPr>
          <p:cNvPr id="6" name="Text 4"/>
          <p:cNvSpPr/>
          <p:nvPr/>
        </p:nvSpPr>
        <p:spPr>
          <a:xfrm>
            <a:off x="822960" y="174523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444752" y="1620330"/>
            <a:ext cx="4340200" cy="219456"/>
          </a:xfrm>
          <a:prstGeom prst="rect">
            <a:avLst/>
          </a:prstGeom>
          <a:noFill/>
          <a:ln/>
        </p:spPr>
        <p:txBody>
          <a:bodyPr wrap="square" lIns="0" tIns="0" rIns="0" bIns="0" rtlCol="0" anchor="t"/>
          <a:lstStyle/>
          <a:p>
            <a:pPr indent="0" marL="0">
              <a:lnSpc>
                <a:spcPts val="1728"/>
              </a:lnSpc>
              <a:buNone/>
            </a:pPr>
            <a:r>
              <a:rPr lang="en-US" sz="1350" b="1" dirty="0">
                <a:solidFill>
                  <a:srgbClr val="13233F"/>
                </a:solidFill>
                <a:latin typeface="微软雅黑" pitchFamily="34" charset="0"/>
                <a:ea typeface="微软雅黑" pitchFamily="34" charset="-122"/>
                <a:cs typeface="微软雅黑" pitchFamily="34" charset="-120"/>
              </a:rPr>
              <a:t>一、全面收集与审查证据</a:t>
            </a:r>
            <a:endParaRPr lang="en-US" sz="1350" dirty="0"/>
          </a:p>
        </p:txBody>
      </p:sp>
      <p:sp>
        <p:nvSpPr>
          <p:cNvPr id="8" name="Text 6"/>
          <p:cNvSpPr/>
          <p:nvPr/>
        </p:nvSpPr>
        <p:spPr>
          <a:xfrm>
            <a:off x="1444752" y="1903794"/>
            <a:ext cx="4340200" cy="423545"/>
          </a:xfrm>
          <a:prstGeom prst="rect">
            <a:avLst/>
          </a:prstGeom>
          <a:noFill/>
          <a:ln/>
        </p:spPr>
        <p:txBody>
          <a:bodyPr wrap="square" lIns="0" tIns="0" rIns="0" bIns="0" rtlCol="0" anchor="t"/>
          <a:lstStyle/>
          <a:p>
            <a:pPr indent="0" marL="0">
              <a:lnSpc>
                <a:spcPts val="1668"/>
              </a:lnSpc>
              <a:buNone/>
            </a:pPr>
            <a:r>
              <a:rPr lang="en-US" sz="1150" dirty="0">
                <a:solidFill>
                  <a:srgbClr val="32404F"/>
                </a:solidFill>
                <a:latin typeface="微软雅黑" pitchFamily="34" charset="0"/>
                <a:ea typeface="微软雅黑" pitchFamily="34" charset="-122"/>
                <a:cs typeface="微软雅黑" pitchFamily="34" charset="-120"/>
              </a:rPr>
              <a:t>既要收集有罪、罪重的证据，也要收集无罪、罪轻的证据；对侦查机关移送的证据材料须实质审查，不得照单全收。</a:t>
            </a:r>
            <a:endParaRPr lang="en-US" sz="1150" dirty="0"/>
          </a:p>
        </p:txBody>
      </p:sp>
      <p:sp>
        <p:nvSpPr>
          <p:cNvPr id="9" name="Shape 7"/>
          <p:cNvSpPr/>
          <p:nvPr/>
        </p:nvSpPr>
        <p:spPr>
          <a:xfrm>
            <a:off x="566928" y="2592515"/>
            <a:ext cx="5382616" cy="1193102"/>
          </a:xfrm>
          <a:prstGeom prst="roundRect">
            <a:avLst>
              <a:gd name="adj" fmla="val 6131"/>
            </a:avLst>
          </a:prstGeom>
          <a:solidFill>
            <a:srgbClr val="FFFFFF"/>
          </a:solidFill>
          <a:ln w="12700">
            <a:solidFill>
              <a:srgbClr val="D5DBE5"/>
            </a:solidFill>
            <a:prstDash val="solid"/>
          </a:ln>
        </p:spPr>
      </p:sp>
      <p:sp>
        <p:nvSpPr>
          <p:cNvPr id="10" name="Shape 8"/>
          <p:cNvSpPr/>
          <p:nvPr/>
        </p:nvSpPr>
        <p:spPr>
          <a:xfrm>
            <a:off x="822960" y="2960465"/>
            <a:ext cx="457200" cy="457200"/>
          </a:xfrm>
          <a:prstGeom prst="ellipse">
            <a:avLst/>
          </a:prstGeom>
          <a:solidFill>
            <a:srgbClr val="13233F"/>
          </a:solidFill>
          <a:ln w="12700">
            <a:solidFill>
              <a:srgbClr val="13233F"/>
            </a:solidFill>
            <a:prstDash val="solid"/>
          </a:ln>
        </p:spPr>
      </p:sp>
      <p:sp>
        <p:nvSpPr>
          <p:cNvPr id="11" name="Text 9"/>
          <p:cNvSpPr/>
          <p:nvPr/>
        </p:nvSpPr>
        <p:spPr>
          <a:xfrm>
            <a:off x="822960" y="2960465"/>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1444752" y="2729675"/>
            <a:ext cx="4340200" cy="219456"/>
          </a:xfrm>
          <a:prstGeom prst="rect">
            <a:avLst/>
          </a:prstGeom>
          <a:noFill/>
          <a:ln/>
        </p:spPr>
        <p:txBody>
          <a:bodyPr wrap="square" lIns="0" tIns="0" rIns="0" bIns="0" rtlCol="0" anchor="t"/>
          <a:lstStyle/>
          <a:p>
            <a:pPr indent="0" marL="0">
              <a:lnSpc>
                <a:spcPts val="1728"/>
              </a:lnSpc>
              <a:buNone/>
            </a:pPr>
            <a:r>
              <a:rPr lang="en-US" sz="1350" b="1" dirty="0">
                <a:solidFill>
                  <a:srgbClr val="13233F"/>
                </a:solidFill>
                <a:latin typeface="微软雅黑" pitchFamily="34" charset="0"/>
                <a:ea typeface="微软雅黑" pitchFamily="34" charset="-122"/>
                <a:cs typeface="微软雅黑" pitchFamily="34" charset="-120"/>
              </a:rPr>
              <a:t>二、排除非法证据</a:t>
            </a:r>
            <a:endParaRPr lang="en-US" sz="1350" dirty="0"/>
          </a:p>
        </p:txBody>
      </p:sp>
      <p:sp>
        <p:nvSpPr>
          <p:cNvPr id="13" name="Text 11"/>
          <p:cNvSpPr/>
          <p:nvPr/>
        </p:nvSpPr>
        <p:spPr>
          <a:xfrm>
            <a:off x="1444752" y="3013139"/>
            <a:ext cx="4340200" cy="635318"/>
          </a:xfrm>
          <a:prstGeom prst="rect">
            <a:avLst/>
          </a:prstGeom>
          <a:noFill/>
          <a:ln/>
        </p:spPr>
        <p:txBody>
          <a:bodyPr wrap="square" lIns="0" tIns="0" rIns="0" bIns="0" rtlCol="0" anchor="t"/>
          <a:lstStyle/>
          <a:p>
            <a:pPr indent="0" marL="0">
              <a:lnSpc>
                <a:spcPts val="1668"/>
              </a:lnSpc>
              <a:buNone/>
            </a:pPr>
            <a:r>
              <a:rPr lang="en-US" sz="1150" dirty="0">
                <a:solidFill>
                  <a:srgbClr val="32404F"/>
                </a:solidFill>
                <a:latin typeface="微软雅黑" pitchFamily="34" charset="0"/>
                <a:ea typeface="微软雅黑" pitchFamily="34" charset="-122"/>
                <a:cs typeface="微软雅黑" pitchFamily="34" charset="-120"/>
              </a:rPr>
              <a:t>发现以刑讯逼供等非法方法收集的言词证据，应当依法排除，不得作为起诉的依据；对物证书证的取得程序瑕疵，应当要求补正或作出合理解释。</a:t>
            </a:r>
            <a:endParaRPr lang="en-US" sz="1150" dirty="0"/>
          </a:p>
        </p:txBody>
      </p:sp>
      <p:sp>
        <p:nvSpPr>
          <p:cNvPr id="14" name="Shape 12"/>
          <p:cNvSpPr/>
          <p:nvPr/>
        </p:nvSpPr>
        <p:spPr>
          <a:xfrm>
            <a:off x="566928" y="3913632"/>
            <a:ext cx="5382616" cy="981329"/>
          </a:xfrm>
          <a:prstGeom prst="roundRect">
            <a:avLst>
              <a:gd name="adj" fmla="val 7454"/>
            </a:avLst>
          </a:prstGeom>
          <a:solidFill>
            <a:srgbClr val="F2F4F8"/>
          </a:solidFill>
          <a:ln w="12700">
            <a:solidFill>
              <a:srgbClr val="F2F4F8"/>
            </a:solidFill>
            <a:prstDash val="solid"/>
          </a:ln>
        </p:spPr>
      </p:sp>
      <p:sp>
        <p:nvSpPr>
          <p:cNvPr id="15" name="Shape 13"/>
          <p:cNvSpPr/>
          <p:nvPr/>
        </p:nvSpPr>
        <p:spPr>
          <a:xfrm>
            <a:off x="822960" y="4175697"/>
            <a:ext cx="457200" cy="457200"/>
          </a:xfrm>
          <a:prstGeom prst="ellipse">
            <a:avLst/>
          </a:prstGeom>
          <a:solidFill>
            <a:srgbClr val="13233F"/>
          </a:solidFill>
          <a:ln w="12700">
            <a:solidFill>
              <a:srgbClr val="13233F"/>
            </a:solidFill>
            <a:prstDash val="solid"/>
          </a:ln>
        </p:spPr>
      </p:sp>
      <p:sp>
        <p:nvSpPr>
          <p:cNvPr id="16" name="Text 14"/>
          <p:cNvSpPr/>
          <p:nvPr/>
        </p:nvSpPr>
        <p:spPr>
          <a:xfrm>
            <a:off x="822960" y="4175697"/>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1444752" y="4050792"/>
            <a:ext cx="4340200" cy="219456"/>
          </a:xfrm>
          <a:prstGeom prst="rect">
            <a:avLst/>
          </a:prstGeom>
          <a:noFill/>
          <a:ln/>
        </p:spPr>
        <p:txBody>
          <a:bodyPr wrap="square" lIns="0" tIns="0" rIns="0" bIns="0" rtlCol="0" anchor="t"/>
          <a:lstStyle/>
          <a:p>
            <a:pPr indent="0" marL="0">
              <a:lnSpc>
                <a:spcPts val="1728"/>
              </a:lnSpc>
              <a:buNone/>
            </a:pPr>
            <a:r>
              <a:rPr lang="en-US" sz="1350" b="1" dirty="0">
                <a:solidFill>
                  <a:srgbClr val="13233F"/>
                </a:solidFill>
                <a:latin typeface="微软雅黑" pitchFamily="34" charset="0"/>
                <a:ea typeface="微软雅黑" pitchFamily="34" charset="-122"/>
                <a:cs typeface="微软雅黑" pitchFamily="34" charset="-120"/>
              </a:rPr>
              <a:t>三、保障辩护权与阅卷权</a:t>
            </a:r>
            <a:endParaRPr lang="en-US" sz="1350" dirty="0"/>
          </a:p>
        </p:txBody>
      </p:sp>
      <p:sp>
        <p:nvSpPr>
          <p:cNvPr id="18" name="Text 16"/>
          <p:cNvSpPr/>
          <p:nvPr/>
        </p:nvSpPr>
        <p:spPr>
          <a:xfrm>
            <a:off x="1444752" y="4334256"/>
            <a:ext cx="4340200" cy="423545"/>
          </a:xfrm>
          <a:prstGeom prst="rect">
            <a:avLst/>
          </a:prstGeom>
          <a:noFill/>
          <a:ln/>
        </p:spPr>
        <p:txBody>
          <a:bodyPr wrap="square" lIns="0" tIns="0" rIns="0" bIns="0" rtlCol="0" anchor="t"/>
          <a:lstStyle/>
          <a:p>
            <a:pPr indent="0" marL="0">
              <a:lnSpc>
                <a:spcPts val="1668"/>
              </a:lnSpc>
              <a:buNone/>
            </a:pPr>
            <a:r>
              <a:rPr lang="en-US" sz="1150" dirty="0">
                <a:solidFill>
                  <a:srgbClr val="32404F"/>
                </a:solidFill>
                <a:latin typeface="微软雅黑" pitchFamily="34" charset="0"/>
                <a:ea typeface="微软雅黑" pitchFamily="34" charset="-122"/>
                <a:cs typeface="微软雅黑" pitchFamily="34" charset="-120"/>
              </a:rPr>
              <a:t>依法保障辩护律师的会见、阅卷、调查取证权；不得以任何形式拖延、变相限制阅卷；应当听取并附卷辩护人的书面意见。</a:t>
            </a:r>
            <a:endParaRPr lang="en-US" sz="1150" dirty="0"/>
          </a:p>
        </p:txBody>
      </p:sp>
      <p:sp>
        <p:nvSpPr>
          <p:cNvPr id="19" name="Shape 17"/>
          <p:cNvSpPr/>
          <p:nvPr/>
        </p:nvSpPr>
        <p:spPr>
          <a:xfrm>
            <a:off x="566928" y="5022977"/>
            <a:ext cx="5382616" cy="1193102"/>
          </a:xfrm>
          <a:prstGeom prst="roundRect">
            <a:avLst>
              <a:gd name="adj" fmla="val 6131"/>
            </a:avLst>
          </a:prstGeom>
          <a:solidFill>
            <a:srgbClr val="FFFFFF"/>
          </a:solidFill>
          <a:ln w="12700">
            <a:solidFill>
              <a:srgbClr val="D5DBE5"/>
            </a:solidFill>
            <a:prstDash val="solid"/>
          </a:ln>
        </p:spPr>
      </p:sp>
      <p:sp>
        <p:nvSpPr>
          <p:cNvPr id="20" name="Shape 18"/>
          <p:cNvSpPr/>
          <p:nvPr/>
        </p:nvSpPr>
        <p:spPr>
          <a:xfrm>
            <a:off x="822960" y="5390928"/>
            <a:ext cx="457200" cy="457200"/>
          </a:xfrm>
          <a:prstGeom prst="ellipse">
            <a:avLst/>
          </a:prstGeom>
          <a:solidFill>
            <a:srgbClr val="13233F"/>
          </a:solidFill>
          <a:ln w="12700">
            <a:solidFill>
              <a:srgbClr val="13233F"/>
            </a:solidFill>
            <a:prstDash val="solid"/>
          </a:ln>
        </p:spPr>
      </p:sp>
      <p:sp>
        <p:nvSpPr>
          <p:cNvPr id="21" name="Text 19"/>
          <p:cNvSpPr/>
          <p:nvPr/>
        </p:nvSpPr>
        <p:spPr>
          <a:xfrm>
            <a:off x="822960" y="5390928"/>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1444752" y="5160137"/>
            <a:ext cx="4340200" cy="219456"/>
          </a:xfrm>
          <a:prstGeom prst="rect">
            <a:avLst/>
          </a:prstGeom>
          <a:noFill/>
          <a:ln/>
        </p:spPr>
        <p:txBody>
          <a:bodyPr wrap="square" lIns="0" tIns="0" rIns="0" bIns="0" rtlCol="0" anchor="t"/>
          <a:lstStyle/>
          <a:p>
            <a:pPr indent="0" marL="0">
              <a:lnSpc>
                <a:spcPts val="1728"/>
              </a:lnSpc>
              <a:buNone/>
            </a:pPr>
            <a:r>
              <a:rPr lang="en-US" sz="1350" b="1" dirty="0">
                <a:solidFill>
                  <a:srgbClr val="13233F"/>
                </a:solidFill>
                <a:latin typeface="微软雅黑" pitchFamily="34" charset="0"/>
                <a:ea typeface="微软雅黑" pitchFamily="34" charset="-122"/>
                <a:cs typeface="微软雅黑" pitchFamily="34" charset="-120"/>
              </a:rPr>
              <a:t>四、依法不批捕、不起诉</a:t>
            </a:r>
            <a:endParaRPr lang="en-US" sz="1350" dirty="0"/>
          </a:p>
        </p:txBody>
      </p:sp>
      <p:sp>
        <p:nvSpPr>
          <p:cNvPr id="23" name="Text 21"/>
          <p:cNvSpPr/>
          <p:nvPr/>
        </p:nvSpPr>
        <p:spPr>
          <a:xfrm>
            <a:off x="1444752" y="5443601"/>
            <a:ext cx="4340200" cy="635318"/>
          </a:xfrm>
          <a:prstGeom prst="rect">
            <a:avLst/>
          </a:prstGeom>
          <a:noFill/>
          <a:ln/>
        </p:spPr>
        <p:txBody>
          <a:bodyPr wrap="square" lIns="0" tIns="0" rIns="0" bIns="0" rtlCol="0" anchor="t"/>
          <a:lstStyle/>
          <a:p>
            <a:pPr indent="0" marL="0">
              <a:lnSpc>
                <a:spcPts val="1668"/>
              </a:lnSpc>
              <a:buNone/>
            </a:pPr>
            <a:r>
              <a:rPr lang="en-US" sz="1150" dirty="0">
                <a:solidFill>
                  <a:srgbClr val="32404F"/>
                </a:solidFill>
                <a:latin typeface="微软雅黑" pitchFamily="34" charset="0"/>
                <a:ea typeface="微软雅黑" pitchFamily="34" charset="-122"/>
                <a:cs typeface="微软雅黑" pitchFamily="34" charset="-120"/>
              </a:rPr>
              <a:t>不符合逮捕条件的坚决不批准逮捕，不符合起诉条件的依法作出不起诉决定。不起诉不是“办案失败”，而是客观义务的正常履行结果。</a:t>
            </a:r>
            <a:endParaRPr lang="en-US" sz="1150" dirty="0"/>
          </a:p>
        </p:txBody>
      </p:sp>
      <p:sp>
        <p:nvSpPr>
          <p:cNvPr id="24" name="Shape 22"/>
          <p:cNvSpPr/>
          <p:nvPr/>
        </p:nvSpPr>
        <p:spPr>
          <a:xfrm>
            <a:off x="6242152" y="1377283"/>
            <a:ext cx="5382616" cy="981329"/>
          </a:xfrm>
          <a:prstGeom prst="roundRect">
            <a:avLst>
              <a:gd name="adj" fmla="val 7454"/>
            </a:avLst>
          </a:prstGeom>
          <a:solidFill>
            <a:srgbClr val="F2F4F8"/>
          </a:solidFill>
          <a:ln w="12700">
            <a:solidFill>
              <a:srgbClr val="F2F4F8"/>
            </a:solidFill>
            <a:prstDash val="solid"/>
          </a:ln>
        </p:spPr>
      </p:sp>
      <p:sp>
        <p:nvSpPr>
          <p:cNvPr id="25" name="Shape 23"/>
          <p:cNvSpPr/>
          <p:nvPr/>
        </p:nvSpPr>
        <p:spPr>
          <a:xfrm>
            <a:off x="6498184" y="1639348"/>
            <a:ext cx="457200" cy="457200"/>
          </a:xfrm>
          <a:prstGeom prst="ellipse">
            <a:avLst/>
          </a:prstGeom>
          <a:solidFill>
            <a:srgbClr val="13233F"/>
          </a:solidFill>
          <a:ln w="12700">
            <a:solidFill>
              <a:srgbClr val="13233F"/>
            </a:solidFill>
            <a:prstDash val="solid"/>
          </a:ln>
        </p:spPr>
      </p:sp>
      <p:sp>
        <p:nvSpPr>
          <p:cNvPr id="26" name="Text 24"/>
          <p:cNvSpPr/>
          <p:nvPr/>
        </p:nvSpPr>
        <p:spPr>
          <a:xfrm>
            <a:off x="6498184" y="1639348"/>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5</a:t>
            </a:r>
            <a:endParaRPr lang="en-US" sz="1600" dirty="0"/>
          </a:p>
        </p:txBody>
      </p:sp>
      <p:sp>
        <p:nvSpPr>
          <p:cNvPr id="27" name="Text 25"/>
          <p:cNvSpPr/>
          <p:nvPr/>
        </p:nvSpPr>
        <p:spPr>
          <a:xfrm>
            <a:off x="7119976" y="1514443"/>
            <a:ext cx="4340200" cy="219456"/>
          </a:xfrm>
          <a:prstGeom prst="rect">
            <a:avLst/>
          </a:prstGeom>
          <a:noFill/>
          <a:ln/>
        </p:spPr>
        <p:txBody>
          <a:bodyPr wrap="square" lIns="0" tIns="0" rIns="0" bIns="0" rtlCol="0" anchor="t"/>
          <a:lstStyle/>
          <a:p>
            <a:pPr indent="0" marL="0">
              <a:lnSpc>
                <a:spcPts val="1728"/>
              </a:lnSpc>
              <a:buNone/>
            </a:pPr>
            <a:r>
              <a:rPr lang="en-US" sz="1350" b="1" dirty="0">
                <a:solidFill>
                  <a:srgbClr val="13233F"/>
                </a:solidFill>
                <a:latin typeface="微软雅黑" pitchFamily="34" charset="0"/>
                <a:ea typeface="微软雅黑" pitchFamily="34" charset="-122"/>
                <a:cs typeface="微软雅黑" pitchFamily="34" charset="-120"/>
              </a:rPr>
              <a:t>五、量刑建议的客观性</a:t>
            </a:r>
            <a:endParaRPr lang="en-US" sz="1350" dirty="0"/>
          </a:p>
        </p:txBody>
      </p:sp>
      <p:sp>
        <p:nvSpPr>
          <p:cNvPr id="28" name="Text 26"/>
          <p:cNvSpPr/>
          <p:nvPr/>
        </p:nvSpPr>
        <p:spPr>
          <a:xfrm>
            <a:off x="7119976" y="1797907"/>
            <a:ext cx="4340200" cy="423545"/>
          </a:xfrm>
          <a:prstGeom prst="rect">
            <a:avLst/>
          </a:prstGeom>
          <a:noFill/>
          <a:ln/>
        </p:spPr>
        <p:txBody>
          <a:bodyPr wrap="square" lIns="0" tIns="0" rIns="0" bIns="0" rtlCol="0" anchor="t"/>
          <a:lstStyle/>
          <a:p>
            <a:pPr indent="0" marL="0">
              <a:lnSpc>
                <a:spcPts val="1668"/>
              </a:lnSpc>
              <a:buNone/>
            </a:pPr>
            <a:r>
              <a:rPr lang="en-US" sz="1150" dirty="0">
                <a:solidFill>
                  <a:srgbClr val="32404F"/>
                </a:solidFill>
                <a:latin typeface="微软雅黑" pitchFamily="34" charset="0"/>
                <a:ea typeface="微软雅黑" pitchFamily="34" charset="-122"/>
                <a:cs typeface="微软雅黑" pitchFamily="34" charset="-120"/>
              </a:rPr>
              <a:t>量刑建议应当依据法定与酌定情节提出，罪责刑相适应；不得为追求认罪率而提出畸轻建议，也不得以从重量刑建议施压迫使认罪。</a:t>
            </a:r>
            <a:endParaRPr lang="en-US" sz="1150" dirty="0"/>
          </a:p>
        </p:txBody>
      </p:sp>
      <p:sp>
        <p:nvSpPr>
          <p:cNvPr id="29" name="Shape 27"/>
          <p:cNvSpPr/>
          <p:nvPr/>
        </p:nvSpPr>
        <p:spPr>
          <a:xfrm>
            <a:off x="6242152" y="2486628"/>
            <a:ext cx="5382616" cy="1193102"/>
          </a:xfrm>
          <a:prstGeom prst="roundRect">
            <a:avLst>
              <a:gd name="adj" fmla="val 6131"/>
            </a:avLst>
          </a:prstGeom>
          <a:solidFill>
            <a:srgbClr val="FFFFFF"/>
          </a:solidFill>
          <a:ln w="12700">
            <a:solidFill>
              <a:srgbClr val="D5DBE5"/>
            </a:solidFill>
            <a:prstDash val="solid"/>
          </a:ln>
        </p:spPr>
      </p:sp>
      <p:sp>
        <p:nvSpPr>
          <p:cNvPr id="30" name="Shape 28"/>
          <p:cNvSpPr/>
          <p:nvPr/>
        </p:nvSpPr>
        <p:spPr>
          <a:xfrm>
            <a:off x="6498184" y="2854579"/>
            <a:ext cx="457200" cy="457200"/>
          </a:xfrm>
          <a:prstGeom prst="ellipse">
            <a:avLst/>
          </a:prstGeom>
          <a:solidFill>
            <a:srgbClr val="13233F"/>
          </a:solidFill>
          <a:ln w="12700">
            <a:solidFill>
              <a:srgbClr val="13233F"/>
            </a:solidFill>
            <a:prstDash val="solid"/>
          </a:ln>
        </p:spPr>
      </p:sp>
      <p:sp>
        <p:nvSpPr>
          <p:cNvPr id="31" name="Text 29"/>
          <p:cNvSpPr/>
          <p:nvPr/>
        </p:nvSpPr>
        <p:spPr>
          <a:xfrm>
            <a:off x="6498184" y="2854579"/>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6</a:t>
            </a:r>
            <a:endParaRPr lang="en-US" sz="1600" dirty="0"/>
          </a:p>
        </p:txBody>
      </p:sp>
      <p:sp>
        <p:nvSpPr>
          <p:cNvPr id="32" name="Text 30"/>
          <p:cNvSpPr/>
          <p:nvPr/>
        </p:nvSpPr>
        <p:spPr>
          <a:xfrm>
            <a:off x="7119976" y="2623788"/>
            <a:ext cx="4340200" cy="219456"/>
          </a:xfrm>
          <a:prstGeom prst="rect">
            <a:avLst/>
          </a:prstGeom>
          <a:noFill/>
          <a:ln/>
        </p:spPr>
        <p:txBody>
          <a:bodyPr wrap="square" lIns="0" tIns="0" rIns="0" bIns="0" rtlCol="0" anchor="t"/>
          <a:lstStyle/>
          <a:p>
            <a:pPr indent="0" marL="0">
              <a:lnSpc>
                <a:spcPts val="1728"/>
              </a:lnSpc>
              <a:buNone/>
            </a:pPr>
            <a:r>
              <a:rPr lang="en-US" sz="1350" b="1" dirty="0">
                <a:solidFill>
                  <a:srgbClr val="13233F"/>
                </a:solidFill>
                <a:latin typeface="微软雅黑" pitchFamily="34" charset="0"/>
                <a:ea typeface="微软雅黑" pitchFamily="34" charset="-122"/>
                <a:cs typeface="微软雅黑" pitchFamily="34" charset="-120"/>
              </a:rPr>
              <a:t>六、认罪认罚中的自愿性审查</a:t>
            </a:r>
            <a:endParaRPr lang="en-US" sz="1350" dirty="0"/>
          </a:p>
        </p:txBody>
      </p:sp>
      <p:sp>
        <p:nvSpPr>
          <p:cNvPr id="33" name="Text 31"/>
          <p:cNvSpPr/>
          <p:nvPr/>
        </p:nvSpPr>
        <p:spPr>
          <a:xfrm>
            <a:off x="7119976" y="2907252"/>
            <a:ext cx="4340200" cy="635318"/>
          </a:xfrm>
          <a:prstGeom prst="rect">
            <a:avLst/>
          </a:prstGeom>
          <a:noFill/>
          <a:ln/>
        </p:spPr>
        <p:txBody>
          <a:bodyPr wrap="square" lIns="0" tIns="0" rIns="0" bIns="0" rtlCol="0" anchor="t"/>
          <a:lstStyle/>
          <a:p>
            <a:pPr indent="0" marL="0">
              <a:lnSpc>
                <a:spcPts val="1668"/>
              </a:lnSpc>
              <a:buNone/>
            </a:pPr>
            <a:r>
              <a:rPr lang="en-US" sz="1150" dirty="0">
                <a:solidFill>
                  <a:srgbClr val="32404F"/>
                </a:solidFill>
                <a:latin typeface="微软雅黑" pitchFamily="34" charset="0"/>
                <a:ea typeface="微软雅黑" pitchFamily="34" charset="-122"/>
                <a:cs typeface="微软雅黑" pitchFamily="34" charset="-120"/>
              </a:rPr>
              <a:t>必须审查认罪认罚的自愿性、明知性与合法性；确保值班律师或辩护人在场并提供有效帮助；发现非自愿或以非法方法取得认罪的，不得据以从宽。</a:t>
            </a:r>
            <a:endParaRPr lang="en-US" sz="1150" dirty="0"/>
          </a:p>
        </p:txBody>
      </p:sp>
      <p:sp>
        <p:nvSpPr>
          <p:cNvPr id="34" name="Shape 32"/>
          <p:cNvSpPr/>
          <p:nvPr/>
        </p:nvSpPr>
        <p:spPr>
          <a:xfrm>
            <a:off x="6242152" y="3807746"/>
            <a:ext cx="5382616" cy="1193102"/>
          </a:xfrm>
          <a:prstGeom prst="roundRect">
            <a:avLst>
              <a:gd name="adj" fmla="val 6131"/>
            </a:avLst>
          </a:prstGeom>
          <a:solidFill>
            <a:srgbClr val="F2F4F8"/>
          </a:solidFill>
          <a:ln w="12700">
            <a:solidFill>
              <a:srgbClr val="F2F4F8"/>
            </a:solidFill>
            <a:prstDash val="solid"/>
          </a:ln>
        </p:spPr>
      </p:sp>
      <p:sp>
        <p:nvSpPr>
          <p:cNvPr id="35" name="Shape 33"/>
          <p:cNvSpPr/>
          <p:nvPr/>
        </p:nvSpPr>
        <p:spPr>
          <a:xfrm>
            <a:off x="6498184" y="4175697"/>
            <a:ext cx="457200" cy="457200"/>
          </a:xfrm>
          <a:prstGeom prst="ellipse">
            <a:avLst/>
          </a:prstGeom>
          <a:solidFill>
            <a:srgbClr val="13233F"/>
          </a:solidFill>
          <a:ln w="12700">
            <a:solidFill>
              <a:srgbClr val="13233F"/>
            </a:solidFill>
            <a:prstDash val="solid"/>
          </a:ln>
        </p:spPr>
      </p:sp>
      <p:sp>
        <p:nvSpPr>
          <p:cNvPr id="36" name="Text 34"/>
          <p:cNvSpPr/>
          <p:nvPr/>
        </p:nvSpPr>
        <p:spPr>
          <a:xfrm>
            <a:off x="6498184" y="4175697"/>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7</a:t>
            </a:r>
            <a:endParaRPr lang="en-US" sz="1600" dirty="0"/>
          </a:p>
        </p:txBody>
      </p:sp>
      <p:sp>
        <p:nvSpPr>
          <p:cNvPr id="37" name="Text 35"/>
          <p:cNvSpPr/>
          <p:nvPr/>
        </p:nvSpPr>
        <p:spPr>
          <a:xfrm>
            <a:off x="7119976" y="3944906"/>
            <a:ext cx="4340200" cy="219456"/>
          </a:xfrm>
          <a:prstGeom prst="rect">
            <a:avLst/>
          </a:prstGeom>
          <a:noFill/>
          <a:ln/>
        </p:spPr>
        <p:txBody>
          <a:bodyPr wrap="square" lIns="0" tIns="0" rIns="0" bIns="0" rtlCol="0" anchor="t"/>
          <a:lstStyle/>
          <a:p>
            <a:pPr indent="0" marL="0">
              <a:lnSpc>
                <a:spcPts val="1728"/>
              </a:lnSpc>
              <a:buNone/>
            </a:pPr>
            <a:r>
              <a:rPr lang="en-US" sz="1350" b="1" dirty="0">
                <a:solidFill>
                  <a:srgbClr val="13233F"/>
                </a:solidFill>
                <a:latin typeface="微软雅黑" pitchFamily="34" charset="0"/>
                <a:ea typeface="微软雅黑" pitchFamily="34" charset="-122"/>
                <a:cs typeface="微软雅黑" pitchFamily="34" charset="-120"/>
              </a:rPr>
              <a:t>七、有利于被告人的抗诉与申诉处理</a:t>
            </a:r>
            <a:endParaRPr lang="en-US" sz="1350" dirty="0"/>
          </a:p>
        </p:txBody>
      </p:sp>
      <p:sp>
        <p:nvSpPr>
          <p:cNvPr id="38" name="Text 36"/>
          <p:cNvSpPr/>
          <p:nvPr/>
        </p:nvSpPr>
        <p:spPr>
          <a:xfrm>
            <a:off x="7119976" y="4228370"/>
            <a:ext cx="4340200" cy="635318"/>
          </a:xfrm>
          <a:prstGeom prst="rect">
            <a:avLst/>
          </a:prstGeom>
          <a:noFill/>
          <a:ln/>
        </p:spPr>
        <p:txBody>
          <a:bodyPr wrap="square" lIns="0" tIns="0" rIns="0" bIns="0" rtlCol="0" anchor="t"/>
          <a:lstStyle/>
          <a:p>
            <a:pPr indent="0" marL="0">
              <a:lnSpc>
                <a:spcPts val="1668"/>
              </a:lnSpc>
              <a:buNone/>
            </a:pPr>
            <a:r>
              <a:rPr lang="en-US" sz="1150" dirty="0">
                <a:solidFill>
                  <a:srgbClr val="32404F"/>
                </a:solidFill>
                <a:latin typeface="微软雅黑" pitchFamily="34" charset="0"/>
                <a:ea typeface="微软雅黑" pitchFamily="34" charset="-122"/>
                <a:cs typeface="微软雅黑" pitchFamily="34" charset="-120"/>
              </a:rPr>
              <a:t>对确有错误的裁判，无论错误是对被告人不利还是有利，均应依法提出抗诉；对当事人的申诉应当认真审查，不得因涉及本院既往办案而消极处理。</a:t>
            </a:r>
            <a:endParaRPr lang="en-US" sz="1150" dirty="0"/>
          </a:p>
        </p:txBody>
      </p:sp>
      <p:sp>
        <p:nvSpPr>
          <p:cNvPr id="39" name="Shape 37"/>
          <p:cNvSpPr/>
          <p:nvPr/>
        </p:nvSpPr>
        <p:spPr>
          <a:xfrm>
            <a:off x="6242152" y="5128863"/>
            <a:ext cx="5382616" cy="1193102"/>
          </a:xfrm>
          <a:prstGeom prst="roundRect">
            <a:avLst>
              <a:gd name="adj" fmla="val 6131"/>
            </a:avLst>
          </a:prstGeom>
          <a:solidFill>
            <a:srgbClr val="FFFFFF"/>
          </a:solidFill>
          <a:ln w="12700">
            <a:solidFill>
              <a:srgbClr val="D5DBE5"/>
            </a:solidFill>
            <a:prstDash val="solid"/>
          </a:ln>
        </p:spPr>
      </p:sp>
      <p:sp>
        <p:nvSpPr>
          <p:cNvPr id="40" name="Shape 38"/>
          <p:cNvSpPr/>
          <p:nvPr/>
        </p:nvSpPr>
        <p:spPr>
          <a:xfrm>
            <a:off x="6498184" y="5496814"/>
            <a:ext cx="457200" cy="457200"/>
          </a:xfrm>
          <a:prstGeom prst="ellipse">
            <a:avLst/>
          </a:prstGeom>
          <a:solidFill>
            <a:srgbClr val="13233F"/>
          </a:solidFill>
          <a:ln w="12700">
            <a:solidFill>
              <a:srgbClr val="13233F"/>
            </a:solidFill>
            <a:prstDash val="solid"/>
          </a:ln>
        </p:spPr>
      </p:sp>
      <p:sp>
        <p:nvSpPr>
          <p:cNvPr id="41" name="Text 39"/>
          <p:cNvSpPr/>
          <p:nvPr/>
        </p:nvSpPr>
        <p:spPr>
          <a:xfrm>
            <a:off x="6498184" y="549681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8</a:t>
            </a:r>
            <a:endParaRPr lang="en-US" sz="1600" dirty="0"/>
          </a:p>
        </p:txBody>
      </p:sp>
      <p:sp>
        <p:nvSpPr>
          <p:cNvPr id="42" name="Text 40"/>
          <p:cNvSpPr/>
          <p:nvPr/>
        </p:nvSpPr>
        <p:spPr>
          <a:xfrm>
            <a:off x="7119976" y="5266023"/>
            <a:ext cx="4340200" cy="219456"/>
          </a:xfrm>
          <a:prstGeom prst="rect">
            <a:avLst/>
          </a:prstGeom>
          <a:noFill/>
          <a:ln/>
        </p:spPr>
        <p:txBody>
          <a:bodyPr wrap="square" lIns="0" tIns="0" rIns="0" bIns="0" rtlCol="0" anchor="t"/>
          <a:lstStyle/>
          <a:p>
            <a:pPr indent="0" marL="0">
              <a:lnSpc>
                <a:spcPts val="1728"/>
              </a:lnSpc>
              <a:buNone/>
            </a:pPr>
            <a:r>
              <a:rPr lang="en-US" sz="1350" b="1" dirty="0">
                <a:solidFill>
                  <a:srgbClr val="13233F"/>
                </a:solidFill>
                <a:latin typeface="微软雅黑" pitchFamily="34" charset="0"/>
                <a:ea typeface="微软雅黑" pitchFamily="34" charset="-122"/>
                <a:cs typeface="微软雅黑" pitchFamily="34" charset="-120"/>
              </a:rPr>
              <a:t>八、发现冤错案件的纠正义务</a:t>
            </a:r>
            <a:endParaRPr lang="en-US" sz="1350" dirty="0"/>
          </a:p>
        </p:txBody>
      </p:sp>
      <p:sp>
        <p:nvSpPr>
          <p:cNvPr id="43" name="Text 41"/>
          <p:cNvSpPr/>
          <p:nvPr/>
        </p:nvSpPr>
        <p:spPr>
          <a:xfrm>
            <a:off x="7119976" y="5549487"/>
            <a:ext cx="4340200" cy="635318"/>
          </a:xfrm>
          <a:prstGeom prst="rect">
            <a:avLst/>
          </a:prstGeom>
          <a:noFill/>
          <a:ln/>
        </p:spPr>
        <p:txBody>
          <a:bodyPr wrap="square" lIns="0" tIns="0" rIns="0" bIns="0" rtlCol="0" anchor="t"/>
          <a:lstStyle/>
          <a:p>
            <a:pPr indent="0" marL="0">
              <a:lnSpc>
                <a:spcPts val="1668"/>
              </a:lnSpc>
              <a:buNone/>
            </a:pPr>
            <a:r>
              <a:rPr lang="en-US" sz="1150" dirty="0">
                <a:solidFill>
                  <a:srgbClr val="32404F"/>
                </a:solidFill>
                <a:latin typeface="微软雅黑" pitchFamily="34" charset="0"/>
                <a:ea typeface="微软雅黑" pitchFamily="34" charset="-122"/>
                <a:cs typeface="微软雅黑" pitchFamily="34" charset="-120"/>
              </a:rPr>
              <a:t>办案中发现原判决可能错误的，应当及时报告并依法启动监督程序。及时纠正比掩盖错误更能维护司法公信——这是检察机关“担当”品格最直接的检验。</a:t>
            </a:r>
            <a:endParaRPr lang="en-US" sz="1150" dirty="0"/>
          </a:p>
        </p:txBody>
      </p:sp>
      <p:sp>
        <p:nvSpPr>
          <p:cNvPr id="44" name="Text 42"/>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第10课时 · 11</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4</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布雷迪规则与证据开示的比较</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控方的证据披露义务：两大法系不同的技术路径</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第10课时 · 12</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比较</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两种制度设计</a:t>
            </a:r>
            <a:endParaRPr lang="en-US" sz="2800" dirty="0"/>
          </a:p>
        </p:txBody>
      </p:sp>
      <p:sp>
        <p:nvSpPr>
          <p:cNvPr id="4" name="Shape 2"/>
          <p:cNvSpPr/>
          <p:nvPr/>
        </p:nvSpPr>
        <p:spPr>
          <a:xfrm>
            <a:off x="566928" y="1799908"/>
            <a:ext cx="5410048" cy="4099433"/>
          </a:xfrm>
          <a:prstGeom prst="roundRect">
            <a:avLst>
              <a:gd name="adj" fmla="val 2231"/>
            </a:avLst>
          </a:prstGeom>
          <a:solidFill>
            <a:srgbClr val="F2F4F8"/>
          </a:solidFill>
          <a:ln w="12700">
            <a:solidFill>
              <a:srgbClr val="F2F4F8"/>
            </a:solidFill>
            <a:prstDash val="solid"/>
          </a:ln>
        </p:spPr>
      </p:sp>
      <p:sp>
        <p:nvSpPr>
          <p:cNvPr id="5" name="Shape 3"/>
          <p:cNvSpPr/>
          <p:nvPr/>
        </p:nvSpPr>
        <p:spPr>
          <a:xfrm>
            <a:off x="841248" y="2055940"/>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0559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美国：布雷迪规则（证据开示）</a:t>
            </a:r>
            <a:endParaRPr lang="en-US" sz="1600" dirty="0"/>
          </a:p>
        </p:txBody>
      </p:sp>
      <p:sp>
        <p:nvSpPr>
          <p:cNvPr id="7" name="Text 5"/>
          <p:cNvSpPr/>
          <p:nvPr/>
        </p:nvSpPr>
        <p:spPr>
          <a:xfrm>
            <a:off x="932688" y="2714308"/>
            <a:ext cx="4678528" cy="29472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Brady v. Maryland (1963)：控方压制对被告人有利且具实质意义的证据，无论是否出于恶意，均违反正当程序。</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“实质意义”（materiality）标准：若披露该证据存在使结果不同的合理可能性，即属实质性。</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后续判例扩展至弹劾证据（Giglio）、警方掌握而检方未知的证据（Kyles）。</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救济方式：撤销原判、发回重审；检察官可能面临职业惩戒。</a:t>
            </a:r>
            <a:endParaRPr lang="en-US" sz="1450" dirty="0"/>
          </a:p>
        </p:txBody>
      </p:sp>
      <p:sp>
        <p:nvSpPr>
          <p:cNvPr id="8" name="Shape 6"/>
          <p:cNvSpPr/>
          <p:nvPr/>
        </p:nvSpPr>
        <p:spPr>
          <a:xfrm>
            <a:off x="6214720" y="1799908"/>
            <a:ext cx="5410048" cy="4099433"/>
          </a:xfrm>
          <a:prstGeom prst="roundRect">
            <a:avLst>
              <a:gd name="adj" fmla="val 2231"/>
            </a:avLst>
          </a:prstGeom>
          <a:solidFill>
            <a:srgbClr val="F6F1E8"/>
          </a:solidFill>
          <a:ln w="12700">
            <a:solidFill>
              <a:srgbClr val="F6F1E8"/>
            </a:solidFill>
            <a:prstDash val="solid"/>
          </a:ln>
        </p:spPr>
      </p:sp>
      <p:sp>
        <p:nvSpPr>
          <p:cNvPr id="9" name="Shape 7"/>
          <p:cNvSpPr/>
          <p:nvPr/>
        </p:nvSpPr>
        <p:spPr>
          <a:xfrm>
            <a:off x="6489040" y="2055940"/>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0559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我国：全面移送与阅卷权保障</a:t>
            </a:r>
            <a:endParaRPr lang="en-US" sz="1600" dirty="0"/>
          </a:p>
        </p:txBody>
      </p:sp>
      <p:sp>
        <p:nvSpPr>
          <p:cNvPr id="11" name="Text 9"/>
          <p:cNvSpPr/>
          <p:nvPr/>
        </p:nvSpPr>
        <p:spPr>
          <a:xfrm>
            <a:off x="6580480" y="2714308"/>
            <a:ext cx="4678528" cy="29472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采卷宗移送主义：检察机关提起公诉应当将案卷材料、证据移送人民法院。</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辩护律师自审查起诉之日起可以查阅、摘抄、复制本案的案卷材料。</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控方负有全面取证与全面移送义务，制度上不设“选择性开示”的空间。</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优点：辩方获取信息的路径更直接；难点在于“应当移送而未移送”的隐性遗漏如何发现与救济。</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第10课时 · 13</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案例研讨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未随案移送的证据</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实务难题</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那份被“遗漏”的证言</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某抢劫案审查起诉阶段，承办检察官在提审时，被告人称案发当晚有一名同事与其在一起。承办人调取侦查卷宗，未见相关证言；询问侦查人员，答复称“当时问过，那人说记不清了，就没做笔录”。</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承办人自行联系该同事，其陈述称当晚确与被告人在一起，但时间点记忆模糊，且承认与被告人关系较好。该陈述若成立，与被害人指认的作案时间存在冲突。</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本案其他证据包括被害人辨认、现场提取的部分痕迹物证。若采信该同事陈述，案件可能达不到起诉条件。承办人面临选择：将该陈述制作笔录随案移送，还是以“证言不可靠”为由不予采纳、不予记录。</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342642"/>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342642"/>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3102"/>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承办人应当如何处理？请援引具体规范。</a:t>
            </a:r>
            <a:endParaRPr lang="en-US" sz="1400" dirty="0"/>
          </a:p>
        </p:txBody>
      </p:sp>
      <p:sp>
        <p:nvSpPr>
          <p:cNvPr id="14" name="Shape 12"/>
          <p:cNvSpPr/>
          <p:nvPr/>
        </p:nvSpPr>
        <p:spPr>
          <a:xfrm>
            <a:off x="7958023" y="3352038"/>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3352038"/>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3222498"/>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“证言不可靠”能否作为不予记录的理由？</a:t>
            </a:r>
            <a:endParaRPr lang="en-US" sz="1400" dirty="0"/>
          </a:p>
        </p:txBody>
      </p:sp>
      <p:sp>
        <p:nvSpPr>
          <p:cNvPr id="17" name="Shape 15"/>
          <p:cNvSpPr/>
          <p:nvPr/>
        </p:nvSpPr>
        <p:spPr>
          <a:xfrm>
            <a:off x="7958023" y="4361434"/>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4361434"/>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4231894"/>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若不制作笔录，可能构成哪一项违纪或犯罪？</a:t>
            </a:r>
            <a:endParaRPr lang="en-US" sz="1400" dirty="0"/>
          </a:p>
        </p:txBody>
      </p:sp>
      <p:sp>
        <p:nvSpPr>
          <p:cNvPr id="20" name="Shape 18"/>
          <p:cNvSpPr/>
          <p:nvPr/>
        </p:nvSpPr>
        <p:spPr>
          <a:xfrm>
            <a:off x="7958023" y="5370830"/>
            <a:ext cx="274320" cy="274320"/>
          </a:xfrm>
          <a:prstGeom prst="ellipse">
            <a:avLst/>
          </a:prstGeom>
          <a:solidFill>
            <a:srgbClr val="B08D57"/>
          </a:solidFill>
          <a:ln w="12700">
            <a:solidFill>
              <a:srgbClr val="B08D57"/>
            </a:solidFill>
            <a:prstDash val="solid"/>
          </a:ln>
        </p:spPr>
      </p:sp>
      <p:sp>
        <p:nvSpPr>
          <p:cNvPr id="21" name="Text 19"/>
          <p:cNvSpPr/>
          <p:nvPr/>
        </p:nvSpPr>
        <p:spPr>
          <a:xfrm>
            <a:off x="7958023" y="5370830"/>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8323783" y="5241290"/>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这一情形与布雷迪规则所处理的问题是否相同？</a:t>
            </a:r>
            <a:endParaRPr lang="en-US" sz="1400" dirty="0"/>
          </a:p>
        </p:txBody>
      </p:sp>
      <p:sp>
        <p:nvSpPr>
          <p:cNvPr id="23" name="Text 21"/>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第10课时 · 14</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5</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客观义务面临的现实挑战</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制度承认人性的弱点，才能设计出有效的防线</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第10课时 · 15</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四重挑战</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为什么客观义务在实践中难以落实</a:t>
            </a:r>
            <a:endParaRPr lang="en-US" sz="2800" dirty="0"/>
          </a:p>
        </p:txBody>
      </p:sp>
      <p:sp>
        <p:nvSpPr>
          <p:cNvPr id="4" name="Shape 2"/>
          <p:cNvSpPr/>
          <p:nvPr/>
        </p:nvSpPr>
        <p:spPr>
          <a:xfrm>
            <a:off x="566928" y="1316736"/>
            <a:ext cx="11057839" cy="1156716"/>
          </a:xfrm>
          <a:prstGeom prst="roundRect">
            <a:avLst>
              <a:gd name="adj" fmla="val 6324"/>
            </a:avLst>
          </a:prstGeom>
          <a:solidFill>
            <a:srgbClr val="F2F4F8"/>
          </a:solidFill>
          <a:ln w="12700">
            <a:solidFill>
              <a:srgbClr val="F2F4F8"/>
            </a:solidFill>
            <a:prstDash val="solid"/>
          </a:ln>
        </p:spPr>
      </p:sp>
      <p:sp>
        <p:nvSpPr>
          <p:cNvPr id="5" name="Shape 3"/>
          <p:cNvSpPr/>
          <p:nvPr/>
        </p:nvSpPr>
        <p:spPr>
          <a:xfrm>
            <a:off x="841248" y="163906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792681"/>
            <a:ext cx="204826" cy="204826"/>
          </a:xfrm>
          <a:prstGeom prst="rect">
            <a:avLst/>
          </a:prstGeom>
        </p:spPr>
      </p:pic>
      <p:sp>
        <p:nvSpPr>
          <p:cNvPr id="7" name="Text 4"/>
          <p:cNvSpPr/>
          <p:nvPr/>
        </p:nvSpPr>
        <p:spPr>
          <a:xfrm>
            <a:off x="1536192" y="151047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一、考核压力与指标导向</a:t>
            </a:r>
            <a:endParaRPr lang="en-US" sz="1450" dirty="0"/>
          </a:p>
        </p:txBody>
      </p:sp>
      <p:sp>
        <p:nvSpPr>
          <p:cNvPr id="8" name="Text 5"/>
          <p:cNvSpPr/>
          <p:nvPr/>
        </p:nvSpPr>
        <p:spPr>
          <a:xfrm>
            <a:off x="1536192" y="181933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起诉率、有罪判决率、无罪判决率等指标，可能使检察官倾向于“能诉则诉”“诉了必胜”。无罪判决被视为办案质量问题，会抑制依法不起诉的积极性。近年来检察机关持续推进案件质量评价指标体系改革，正是为了消解这一扭曲。</a:t>
            </a:r>
            <a:endParaRPr lang="en-US" sz="1250" dirty="0"/>
          </a:p>
        </p:txBody>
      </p:sp>
      <p:sp>
        <p:nvSpPr>
          <p:cNvPr id="9" name="Shape 6"/>
          <p:cNvSpPr/>
          <p:nvPr/>
        </p:nvSpPr>
        <p:spPr>
          <a:xfrm>
            <a:off x="566928" y="2619756"/>
            <a:ext cx="11057839" cy="1156716"/>
          </a:xfrm>
          <a:prstGeom prst="roundRect">
            <a:avLst>
              <a:gd name="adj" fmla="val 6324"/>
            </a:avLst>
          </a:prstGeom>
          <a:solidFill>
            <a:srgbClr val="FFFFFF"/>
          </a:solidFill>
          <a:ln w="12700">
            <a:solidFill>
              <a:srgbClr val="D5DBE5"/>
            </a:solidFill>
            <a:prstDash val="solid"/>
          </a:ln>
        </p:spPr>
      </p:sp>
      <p:sp>
        <p:nvSpPr>
          <p:cNvPr id="10" name="Shape 7"/>
          <p:cNvSpPr/>
          <p:nvPr/>
        </p:nvSpPr>
        <p:spPr>
          <a:xfrm>
            <a:off x="841248" y="294208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095701"/>
            <a:ext cx="204826" cy="204826"/>
          </a:xfrm>
          <a:prstGeom prst="rect">
            <a:avLst/>
          </a:prstGeom>
        </p:spPr>
      </p:pic>
      <p:sp>
        <p:nvSpPr>
          <p:cNvPr id="12" name="Text 8"/>
          <p:cNvSpPr/>
          <p:nvPr/>
        </p:nvSpPr>
        <p:spPr>
          <a:xfrm>
            <a:off x="1536192" y="281349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二、追诉惯性与确认偏误</a:t>
            </a:r>
            <a:endParaRPr lang="en-US" sz="1450" dirty="0"/>
          </a:p>
        </p:txBody>
      </p:sp>
      <p:sp>
        <p:nvSpPr>
          <p:cNvPr id="13" name="Text 9"/>
          <p:cNvSpPr/>
          <p:nvPr/>
        </p:nvSpPr>
        <p:spPr>
          <a:xfrm>
            <a:off x="1536192" y="312235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一个人在论证某结论半年之后，很难对相反证据保持开放心态。心理学上的“确认偏误”使人倾向于寻找支持既有判断的信息、忽视相反信息。这不是品德问题，而是普遍的认知规律，因此需要制度性的反向检验机制。</a:t>
            </a:r>
            <a:endParaRPr lang="en-US" sz="1250" dirty="0"/>
          </a:p>
        </p:txBody>
      </p:sp>
      <p:sp>
        <p:nvSpPr>
          <p:cNvPr id="14" name="Shape 10"/>
          <p:cNvSpPr/>
          <p:nvPr/>
        </p:nvSpPr>
        <p:spPr>
          <a:xfrm>
            <a:off x="566928" y="3922776"/>
            <a:ext cx="11057839" cy="1156716"/>
          </a:xfrm>
          <a:prstGeom prst="roundRect">
            <a:avLst>
              <a:gd name="adj" fmla="val 6324"/>
            </a:avLst>
          </a:prstGeom>
          <a:solidFill>
            <a:srgbClr val="F2F4F8"/>
          </a:solidFill>
          <a:ln w="12700">
            <a:solidFill>
              <a:srgbClr val="F2F4F8"/>
            </a:solidFill>
            <a:prstDash val="solid"/>
          </a:ln>
        </p:spPr>
      </p:sp>
      <p:sp>
        <p:nvSpPr>
          <p:cNvPr id="15" name="Shape 11"/>
          <p:cNvSpPr/>
          <p:nvPr/>
        </p:nvSpPr>
        <p:spPr>
          <a:xfrm>
            <a:off x="841248" y="42451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398721"/>
            <a:ext cx="204826" cy="204826"/>
          </a:xfrm>
          <a:prstGeom prst="rect">
            <a:avLst/>
          </a:prstGeom>
        </p:spPr>
      </p:pic>
      <p:sp>
        <p:nvSpPr>
          <p:cNvPr id="17" name="Text 12"/>
          <p:cNvSpPr/>
          <p:nvPr/>
        </p:nvSpPr>
        <p:spPr>
          <a:xfrm>
            <a:off x="1536192" y="411651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三、侦查中心主义的惯性</a:t>
            </a:r>
            <a:endParaRPr lang="en-US" sz="1450" dirty="0"/>
          </a:p>
        </p:txBody>
      </p:sp>
      <p:sp>
        <p:nvSpPr>
          <p:cNvPr id="18" name="Text 13"/>
          <p:cNvSpPr/>
          <p:nvPr/>
        </p:nvSpPr>
        <p:spPr>
          <a:xfrm>
            <a:off x="1536192" y="442537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当审查起诉高度依赖侦查卷宗，检察官容易成为侦查结论的确认者而非审查者。以审判为中心的诉讼制度改革，正是要求检察官以庭审的证据标准倒推审查起诉的标准。</a:t>
            </a:r>
            <a:endParaRPr lang="en-US" sz="1250" dirty="0"/>
          </a:p>
        </p:txBody>
      </p:sp>
      <p:sp>
        <p:nvSpPr>
          <p:cNvPr id="19" name="Shape 14"/>
          <p:cNvSpPr/>
          <p:nvPr/>
        </p:nvSpPr>
        <p:spPr>
          <a:xfrm>
            <a:off x="566928" y="5225796"/>
            <a:ext cx="11057839" cy="1156716"/>
          </a:xfrm>
          <a:prstGeom prst="roundRect">
            <a:avLst>
              <a:gd name="adj" fmla="val 6324"/>
            </a:avLst>
          </a:prstGeom>
          <a:solidFill>
            <a:srgbClr val="FFFFFF"/>
          </a:solidFill>
          <a:ln w="12700">
            <a:solidFill>
              <a:srgbClr val="D5DBE5"/>
            </a:solidFill>
            <a:prstDash val="solid"/>
          </a:ln>
        </p:spPr>
      </p:sp>
      <p:sp>
        <p:nvSpPr>
          <p:cNvPr id="20" name="Shape 15"/>
          <p:cNvSpPr/>
          <p:nvPr/>
        </p:nvSpPr>
        <p:spPr>
          <a:xfrm>
            <a:off x="841248" y="5548122"/>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01741"/>
            <a:ext cx="204826" cy="204826"/>
          </a:xfrm>
          <a:prstGeom prst="rect">
            <a:avLst/>
          </a:prstGeom>
        </p:spPr>
      </p:pic>
      <p:sp>
        <p:nvSpPr>
          <p:cNvPr id="22" name="Text 16"/>
          <p:cNvSpPr/>
          <p:nvPr/>
        </p:nvSpPr>
        <p:spPr>
          <a:xfrm>
            <a:off x="1536192" y="541953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四、舆论与被害人压力</a:t>
            </a:r>
            <a:endParaRPr lang="en-US" sz="1450" dirty="0"/>
          </a:p>
        </p:txBody>
      </p:sp>
      <p:sp>
        <p:nvSpPr>
          <p:cNvPr id="23" name="Text 17"/>
          <p:cNvSpPr/>
          <p:nvPr/>
        </p:nvSpPr>
        <p:spPr>
          <a:xfrm>
            <a:off x="1536192" y="572839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重大案件中，被害方与公众往往强烈要求追诉。检察官若作出不起诉决定，可能面临巨大压力。此时应当强化说理、公开听证、依法答复，而不是以牺牲客观立场换取压力的缓解。</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第10课时 · 16</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制度回应</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如何让客观义务落地</a:t>
            </a:r>
            <a:endParaRPr lang="en-US" sz="2800" dirty="0"/>
          </a:p>
        </p:txBody>
      </p:sp>
      <p:sp>
        <p:nvSpPr>
          <p:cNvPr id="4" name="Shape 2"/>
          <p:cNvSpPr/>
          <p:nvPr/>
        </p:nvSpPr>
        <p:spPr>
          <a:xfrm>
            <a:off x="566928" y="1316736"/>
            <a:ext cx="5410048" cy="2423160"/>
          </a:xfrm>
          <a:prstGeom prst="roundRect">
            <a:avLst>
              <a:gd name="adj" fmla="val 3774"/>
            </a:avLst>
          </a:prstGeom>
          <a:solidFill>
            <a:srgbClr val="F2F4F8"/>
          </a:solidFill>
          <a:ln w="12700">
            <a:solidFill>
              <a:srgbClr val="F2F4F8"/>
            </a:solidFill>
            <a:prstDash val="solid"/>
          </a:ln>
        </p:spPr>
      </p:sp>
      <p:sp>
        <p:nvSpPr>
          <p:cNvPr id="5" name="Shape 3"/>
          <p:cNvSpPr/>
          <p:nvPr/>
        </p:nvSpPr>
        <p:spPr>
          <a:xfrm>
            <a:off x="886968" y="1609344"/>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746504"/>
            <a:ext cx="182880" cy="182880"/>
          </a:xfrm>
          <a:prstGeom prst="rect">
            <a:avLst/>
          </a:prstGeom>
        </p:spPr>
      </p:pic>
      <p:sp>
        <p:nvSpPr>
          <p:cNvPr id="7" name="Text 4"/>
          <p:cNvSpPr/>
          <p:nvPr/>
        </p:nvSpPr>
        <p:spPr>
          <a:xfrm>
            <a:off x="886968" y="2231136"/>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考核指标改革</a:t>
            </a:r>
            <a:endParaRPr lang="en-US" sz="1700" dirty="0"/>
          </a:p>
        </p:txBody>
      </p:sp>
      <p:sp>
        <p:nvSpPr>
          <p:cNvPr id="8" name="Text 5"/>
          <p:cNvSpPr/>
          <p:nvPr/>
        </p:nvSpPr>
        <p:spPr>
          <a:xfrm>
            <a:off x="886968" y="2629027"/>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弱化单一的有罪判决率考核，建立以案件质量为核心的综合评价体系；将依法不起诉、依法排除非法证据、依法监督纠正纳入正向评价。</a:t>
            </a:r>
            <a:endParaRPr lang="en-US" sz="1450" dirty="0"/>
          </a:p>
        </p:txBody>
      </p:sp>
      <p:sp>
        <p:nvSpPr>
          <p:cNvPr id="9" name="Shape 6"/>
          <p:cNvSpPr/>
          <p:nvPr/>
        </p:nvSpPr>
        <p:spPr>
          <a:xfrm>
            <a:off x="6214720" y="1316736"/>
            <a:ext cx="5410048" cy="2423160"/>
          </a:xfrm>
          <a:prstGeom prst="roundRect">
            <a:avLst>
              <a:gd name="adj" fmla="val 3774"/>
            </a:avLst>
          </a:prstGeom>
          <a:solidFill>
            <a:srgbClr val="F6F1E8"/>
          </a:solidFill>
          <a:ln w="12700">
            <a:solidFill>
              <a:srgbClr val="F6F1E8"/>
            </a:solidFill>
            <a:prstDash val="solid"/>
          </a:ln>
        </p:spPr>
      </p:sp>
      <p:sp>
        <p:nvSpPr>
          <p:cNvPr id="10" name="Shape 7"/>
          <p:cNvSpPr/>
          <p:nvPr/>
        </p:nvSpPr>
        <p:spPr>
          <a:xfrm>
            <a:off x="6534760" y="1609344"/>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6671920" y="1746504"/>
            <a:ext cx="182880" cy="182880"/>
          </a:xfrm>
          <a:prstGeom prst="rect">
            <a:avLst/>
          </a:prstGeom>
        </p:spPr>
      </p:pic>
      <p:sp>
        <p:nvSpPr>
          <p:cNvPr id="12" name="Text 8"/>
          <p:cNvSpPr/>
          <p:nvPr/>
        </p:nvSpPr>
        <p:spPr>
          <a:xfrm>
            <a:off x="6534760" y="2231136"/>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程序性检验机制</a:t>
            </a:r>
            <a:endParaRPr lang="en-US" sz="1700" dirty="0"/>
          </a:p>
        </p:txBody>
      </p:sp>
      <p:sp>
        <p:nvSpPr>
          <p:cNvPr id="13" name="Text 9"/>
          <p:cNvSpPr/>
          <p:nvPr/>
        </p:nvSpPr>
        <p:spPr>
          <a:xfrm>
            <a:off x="6534760" y="2629027"/>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非法证据排除程序、羁押必要性审查、公开听证、检察官联席会议、案件质量评查等，均为对既有判断的反向检验装置。</a:t>
            </a:r>
            <a:endParaRPr lang="en-US" sz="1450" dirty="0"/>
          </a:p>
        </p:txBody>
      </p:sp>
      <p:sp>
        <p:nvSpPr>
          <p:cNvPr id="14" name="Shape 10"/>
          <p:cNvSpPr/>
          <p:nvPr/>
        </p:nvSpPr>
        <p:spPr>
          <a:xfrm>
            <a:off x="566928" y="3959352"/>
            <a:ext cx="5410048" cy="2423160"/>
          </a:xfrm>
          <a:prstGeom prst="roundRect">
            <a:avLst>
              <a:gd name="adj" fmla="val 3774"/>
            </a:avLst>
          </a:prstGeom>
          <a:solidFill>
            <a:srgbClr val="ECF3F2"/>
          </a:solidFill>
          <a:ln w="12700">
            <a:solidFill>
              <a:srgbClr val="ECF3F2"/>
            </a:solidFill>
            <a:prstDash val="solid"/>
          </a:ln>
        </p:spPr>
      </p:sp>
      <p:sp>
        <p:nvSpPr>
          <p:cNvPr id="15" name="Shape 11"/>
          <p:cNvSpPr/>
          <p:nvPr/>
        </p:nvSpPr>
        <p:spPr>
          <a:xfrm>
            <a:off x="886968" y="4251960"/>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1024128" y="4389120"/>
            <a:ext cx="182880" cy="182880"/>
          </a:xfrm>
          <a:prstGeom prst="rect">
            <a:avLst/>
          </a:prstGeom>
        </p:spPr>
      </p:pic>
      <p:sp>
        <p:nvSpPr>
          <p:cNvPr id="17" name="Text 12"/>
          <p:cNvSpPr/>
          <p:nvPr/>
        </p:nvSpPr>
        <p:spPr>
          <a:xfrm>
            <a:off x="886968" y="4873752"/>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辩方参与的保障</a:t>
            </a:r>
            <a:endParaRPr lang="en-US" sz="1700" dirty="0"/>
          </a:p>
        </p:txBody>
      </p:sp>
      <p:sp>
        <p:nvSpPr>
          <p:cNvPr id="18" name="Text 13"/>
          <p:cNvSpPr/>
          <p:nvPr/>
        </p:nvSpPr>
        <p:spPr>
          <a:xfrm>
            <a:off x="886968" y="5271643"/>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保障会见、阅卷、调查取证权，听取并附卷辩护意见，认罪认罚案件保障律师有效参与——辩方的实质参与，是对追诉惯性最有效的外部纠偏。</a:t>
            </a:r>
            <a:endParaRPr lang="en-US" sz="1450" dirty="0"/>
          </a:p>
        </p:txBody>
      </p:sp>
      <p:sp>
        <p:nvSpPr>
          <p:cNvPr id="19" name="Shape 14"/>
          <p:cNvSpPr/>
          <p:nvPr/>
        </p:nvSpPr>
        <p:spPr>
          <a:xfrm>
            <a:off x="6214720" y="3959352"/>
            <a:ext cx="5410048" cy="2423160"/>
          </a:xfrm>
          <a:prstGeom prst="roundRect">
            <a:avLst>
              <a:gd name="adj" fmla="val 3774"/>
            </a:avLst>
          </a:prstGeom>
          <a:solidFill>
            <a:srgbClr val="F8EFF0"/>
          </a:solidFill>
          <a:ln w="12700">
            <a:solidFill>
              <a:srgbClr val="F8EFF0"/>
            </a:solidFill>
            <a:prstDash val="solid"/>
          </a:ln>
        </p:spPr>
      </p:sp>
      <p:sp>
        <p:nvSpPr>
          <p:cNvPr id="20" name="Shape 15"/>
          <p:cNvSpPr/>
          <p:nvPr/>
        </p:nvSpPr>
        <p:spPr>
          <a:xfrm>
            <a:off x="6534760" y="4251960"/>
            <a:ext cx="457200" cy="457200"/>
          </a:xfrm>
          <a:prstGeom prst="ellipse">
            <a:avLst/>
          </a:prstGeom>
          <a:solidFill>
            <a:srgbClr val="8E2C3B"/>
          </a:solidFill>
          <a:ln w="12700">
            <a:solidFill>
              <a:srgbClr val="8E2C3B"/>
            </a:solidFill>
            <a:prstDash val="solid"/>
          </a:ln>
        </p:spPr>
      </p:sp>
      <p:pic>
        <p:nvPicPr>
          <p:cNvPr id="21" name="Image 3" descr="preencoded.png">    </p:cNvPr>
          <p:cNvPicPr>
            <a:picLocks noChangeAspect="1"/>
          </p:cNvPicPr>
          <p:nvPr/>
        </p:nvPicPr>
        <p:blipFill>
          <a:blip r:embed="rId4"/>
          <a:stretch>
            <a:fillRect/>
          </a:stretch>
        </p:blipFill>
        <p:spPr>
          <a:xfrm>
            <a:off x="6671920" y="4389120"/>
            <a:ext cx="182880" cy="182880"/>
          </a:xfrm>
          <a:prstGeom prst="rect">
            <a:avLst/>
          </a:prstGeom>
        </p:spPr>
      </p:pic>
      <p:sp>
        <p:nvSpPr>
          <p:cNvPr id="22" name="Text 16"/>
          <p:cNvSpPr/>
          <p:nvPr/>
        </p:nvSpPr>
        <p:spPr>
          <a:xfrm>
            <a:off x="6534760" y="4873752"/>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留痕与说理</a:t>
            </a:r>
            <a:endParaRPr lang="en-US" sz="1700" dirty="0"/>
          </a:p>
        </p:txBody>
      </p:sp>
      <p:sp>
        <p:nvSpPr>
          <p:cNvPr id="23" name="Text 17"/>
          <p:cNvSpPr/>
          <p:nvPr/>
        </p:nvSpPr>
        <p:spPr>
          <a:xfrm>
            <a:off x="6534760" y="5271643"/>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不起诉决定书、量刑建议、非法证据排除决定均应说理充分并依法公开；说理的过程本身就是自我检验的过程。</a:t>
            </a:r>
            <a:endParaRPr lang="en-US" sz="14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第10课时 · 17</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6</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冤错案件的镜鉴</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每一起被纠正的冤错案件，都是对客观义务的一次沉痛提醒</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第10课时 · 18</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教训</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从已纠正的重大冤错案件中能学到什么</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628650"/>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近年来，呼格吉勒图案（2014年再审改判无罪）、张氏叔侄案（2013年再审改判无罪）、聂树斌案（2016年最高人民法院再审改判无罪）等案件相继得到纠正。这些案件的共同教训值得反复咀嚼。</a:t>
            </a:r>
            <a:endParaRPr lang="en-US" sz="1650" dirty="0"/>
          </a:p>
        </p:txBody>
      </p:sp>
      <p:sp>
        <p:nvSpPr>
          <p:cNvPr id="7" name="Text 4"/>
          <p:cNvSpPr/>
          <p:nvPr/>
        </p:nvSpPr>
        <p:spPr>
          <a:xfrm>
            <a:off x="1069848" y="2530602"/>
            <a:ext cx="10051999" cy="3541014"/>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共同点一：证据体系存在重大疑点而未被认真对待。疑点在当时的卷宗中往往已经存在，只是被“合理化”解释掉了。客观义务的第一要求，就是对疑点保持敏感而非急于消解。</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共同点二：口供中心，重口供轻其他证据。当有罪供述与其他证据存在矛盾时，倾向于相信供述、怀疑物证，这正是客观立场丧失的典型表现。</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共同点三：程序性权利保障不足。辩护权、阅卷权、非法证据排除的申请未能获得实质回应。</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共同点四：纠错阻力来自“维护既有结论”的组织惯性。因此《检察官职业道德基本准则》将“担当”单列——纠错需要的不只是发现能力，更是承认错误的勇气。</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请各位记住：客观义务真正发挥作用的时刻，永远是在你已经形成判断、并且改变判断会让你付出代价的时候。</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第10课时 · 19</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课堂研讨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思考与讨论</a:t>
            </a:r>
            <a:endParaRPr lang="en-US" sz="2800" dirty="0"/>
          </a:p>
        </p:txBody>
      </p:sp>
      <p:sp>
        <p:nvSpPr>
          <p:cNvPr id="4" name="Shape 2"/>
          <p:cNvSpPr/>
          <p:nvPr/>
        </p:nvSpPr>
        <p:spPr>
          <a:xfrm>
            <a:off x="566928" y="1316736"/>
            <a:ext cx="11057839" cy="1156716"/>
          </a:xfrm>
          <a:prstGeom prst="roundRect">
            <a:avLst>
              <a:gd name="adj" fmla="val 7115"/>
            </a:avLst>
          </a:prstGeom>
          <a:solidFill>
            <a:srgbClr val="ECF3F2"/>
          </a:solidFill>
          <a:ln w="12700">
            <a:solidFill>
              <a:srgbClr val="ECF3F2"/>
            </a:solidFill>
            <a:prstDash val="solid"/>
          </a:ln>
        </p:spPr>
      </p:sp>
      <p:sp>
        <p:nvSpPr>
          <p:cNvPr id="5" name="Shape 3"/>
          <p:cNvSpPr/>
          <p:nvPr/>
        </p:nvSpPr>
        <p:spPr>
          <a:xfrm>
            <a:off x="859536" y="1666494"/>
            <a:ext cx="457200" cy="457200"/>
          </a:xfrm>
          <a:prstGeom prst="ellipse">
            <a:avLst/>
          </a:prstGeom>
          <a:solidFill>
            <a:srgbClr val="2F6E6A"/>
          </a:solidFill>
          <a:ln w="12700">
            <a:solidFill>
              <a:srgbClr val="2F6E6A"/>
            </a:solidFill>
            <a:prstDash val="solid"/>
          </a:ln>
        </p:spPr>
      </p:sp>
      <p:sp>
        <p:nvSpPr>
          <p:cNvPr id="6" name="Text 4"/>
          <p:cNvSpPr/>
          <p:nvPr/>
        </p:nvSpPr>
        <p:spPr>
          <a:xfrm>
            <a:off x="859536" y="166649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99616" y="159029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有观点认为，客观义务与对抗制存在根本矛盾：既然设置了辩护人为被告人说话，就不必要求检察官也为被告人着想，否则角色重叠、责任模糊。你如何回应？</a:t>
            </a:r>
            <a:endParaRPr lang="en-US" sz="1600" dirty="0"/>
          </a:p>
        </p:txBody>
      </p:sp>
      <p:sp>
        <p:nvSpPr>
          <p:cNvPr id="8" name="Shape 6"/>
          <p:cNvSpPr/>
          <p:nvPr/>
        </p:nvSpPr>
        <p:spPr>
          <a:xfrm>
            <a:off x="566928" y="2619756"/>
            <a:ext cx="11057839" cy="1156716"/>
          </a:xfrm>
          <a:prstGeom prst="roundRect">
            <a:avLst>
              <a:gd name="adj" fmla="val 7115"/>
            </a:avLst>
          </a:prstGeom>
          <a:solidFill>
            <a:srgbClr val="ECF3F2"/>
          </a:solidFill>
          <a:ln w="12700">
            <a:solidFill>
              <a:srgbClr val="ECF3F2"/>
            </a:solidFill>
            <a:prstDash val="solid"/>
          </a:ln>
        </p:spPr>
      </p:sp>
      <p:sp>
        <p:nvSpPr>
          <p:cNvPr id="9" name="Shape 7"/>
          <p:cNvSpPr/>
          <p:nvPr/>
        </p:nvSpPr>
        <p:spPr>
          <a:xfrm>
            <a:off x="859536" y="2969514"/>
            <a:ext cx="457200" cy="457200"/>
          </a:xfrm>
          <a:prstGeom prst="ellipse">
            <a:avLst/>
          </a:prstGeom>
          <a:solidFill>
            <a:srgbClr val="2F6E6A"/>
          </a:solidFill>
          <a:ln w="12700">
            <a:solidFill>
              <a:srgbClr val="2F6E6A"/>
            </a:solidFill>
            <a:prstDash val="solid"/>
          </a:ln>
        </p:spPr>
      </p:sp>
      <p:sp>
        <p:nvSpPr>
          <p:cNvPr id="10" name="Text 8"/>
          <p:cNvSpPr/>
          <p:nvPr/>
        </p:nvSpPr>
        <p:spPr>
          <a:xfrm>
            <a:off x="859536" y="296951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99616" y="289331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认罪认罚从宽制度下，检察官的量刑建议对判决具有较强影响力。这一权力扩张对客观义务提出了哪些新要求？如何防止以量刑差额迫使被告人放弃辩护权？</a:t>
            </a:r>
            <a:endParaRPr lang="en-US" sz="1600" dirty="0"/>
          </a:p>
        </p:txBody>
      </p:sp>
      <p:sp>
        <p:nvSpPr>
          <p:cNvPr id="12" name="Shape 10"/>
          <p:cNvSpPr/>
          <p:nvPr/>
        </p:nvSpPr>
        <p:spPr>
          <a:xfrm>
            <a:off x="566928" y="3922776"/>
            <a:ext cx="11057839" cy="1156716"/>
          </a:xfrm>
          <a:prstGeom prst="roundRect">
            <a:avLst>
              <a:gd name="adj" fmla="val 7115"/>
            </a:avLst>
          </a:prstGeom>
          <a:solidFill>
            <a:srgbClr val="ECF3F2"/>
          </a:solidFill>
          <a:ln w="12700">
            <a:solidFill>
              <a:srgbClr val="ECF3F2"/>
            </a:solidFill>
            <a:prstDash val="solid"/>
          </a:ln>
        </p:spPr>
      </p:sp>
      <p:sp>
        <p:nvSpPr>
          <p:cNvPr id="13" name="Shape 11"/>
          <p:cNvSpPr/>
          <p:nvPr/>
        </p:nvSpPr>
        <p:spPr>
          <a:xfrm>
            <a:off x="859536" y="4272534"/>
            <a:ext cx="457200" cy="457200"/>
          </a:xfrm>
          <a:prstGeom prst="ellipse">
            <a:avLst/>
          </a:prstGeom>
          <a:solidFill>
            <a:srgbClr val="2F6E6A"/>
          </a:solidFill>
          <a:ln w="12700">
            <a:solidFill>
              <a:srgbClr val="2F6E6A"/>
            </a:solidFill>
            <a:prstDash val="solid"/>
          </a:ln>
        </p:spPr>
      </p:sp>
      <p:sp>
        <p:nvSpPr>
          <p:cNvPr id="14" name="Text 12"/>
          <p:cNvSpPr/>
          <p:nvPr/>
        </p:nvSpPr>
        <p:spPr>
          <a:xfrm>
            <a:off x="859536" y="427253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99616" y="419633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假设某案证据“基本够但有疑点”，起诉可能定罪、不起诉则被害人强烈不满。检察官应当如何决策？请写出你的分析路径与说理提纲。</a:t>
            </a:r>
            <a:endParaRPr lang="en-US" sz="1600" dirty="0"/>
          </a:p>
        </p:txBody>
      </p:sp>
      <p:sp>
        <p:nvSpPr>
          <p:cNvPr id="16" name="Shape 14"/>
          <p:cNvSpPr/>
          <p:nvPr/>
        </p:nvSpPr>
        <p:spPr>
          <a:xfrm>
            <a:off x="566928" y="5225796"/>
            <a:ext cx="11057839" cy="1156716"/>
          </a:xfrm>
          <a:prstGeom prst="roundRect">
            <a:avLst>
              <a:gd name="adj" fmla="val 7115"/>
            </a:avLst>
          </a:prstGeom>
          <a:solidFill>
            <a:srgbClr val="ECF3F2"/>
          </a:solidFill>
          <a:ln w="12700">
            <a:solidFill>
              <a:srgbClr val="ECF3F2"/>
            </a:solidFill>
            <a:prstDash val="solid"/>
          </a:ln>
        </p:spPr>
      </p:sp>
      <p:sp>
        <p:nvSpPr>
          <p:cNvPr id="17" name="Shape 15"/>
          <p:cNvSpPr/>
          <p:nvPr/>
        </p:nvSpPr>
        <p:spPr>
          <a:xfrm>
            <a:off x="859536" y="5575554"/>
            <a:ext cx="457200" cy="457200"/>
          </a:xfrm>
          <a:prstGeom prst="ellipse">
            <a:avLst/>
          </a:prstGeom>
          <a:solidFill>
            <a:srgbClr val="2F6E6A"/>
          </a:solidFill>
          <a:ln w="12700">
            <a:solidFill>
              <a:srgbClr val="2F6E6A"/>
            </a:solidFill>
            <a:prstDash val="solid"/>
          </a:ln>
        </p:spPr>
      </p:sp>
      <p:sp>
        <p:nvSpPr>
          <p:cNvPr id="18" name="Text 16"/>
          <p:cNvSpPr/>
          <p:nvPr/>
        </p:nvSpPr>
        <p:spPr>
          <a:xfrm>
            <a:off x="859536" y="557555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99616" y="549935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请设计一套“客观义务履行情况”的自查清单（不少于八项），供承办检察官在案件移送审查起诉前逐项核对。</a:t>
            </a:r>
            <a:endParaRPr lang="en-US" sz="16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第10课时 · 20</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3233F"/>
        </a:solidFill>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本课小结</a:t>
            </a:r>
            <a:endParaRPr lang="en-US" sz="1250" dirty="0"/>
          </a:p>
        </p:txBody>
      </p:sp>
      <p:sp>
        <p:nvSpPr>
          <p:cNvPr id="3" name="Text 1"/>
          <p:cNvSpPr/>
          <p:nvPr/>
        </p:nvSpPr>
        <p:spPr>
          <a:xfrm>
            <a:off x="566928" y="786384"/>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微软雅黑" pitchFamily="34" charset="0"/>
                <a:ea typeface="微软雅黑" pitchFamily="34" charset="-122"/>
                <a:cs typeface="微软雅黑" pitchFamily="34" charset="-120"/>
              </a:rPr>
              <a:t>第10课时要点回顾</a:t>
            </a:r>
            <a:endParaRPr lang="en-US" sz="3000" dirty="0"/>
          </a:p>
        </p:txBody>
      </p:sp>
      <p:sp>
        <p:nvSpPr>
          <p:cNvPr id="4" name="Shape 2"/>
          <p:cNvSpPr/>
          <p:nvPr/>
        </p:nvSpPr>
        <p:spPr>
          <a:xfrm>
            <a:off x="566928" y="1591056"/>
            <a:ext cx="11057839" cy="718291"/>
          </a:xfrm>
          <a:prstGeom prst="roundRect">
            <a:avLst>
              <a:gd name="adj" fmla="val 10184"/>
            </a:avLst>
          </a:prstGeom>
          <a:solidFill>
            <a:srgbClr val="25395F"/>
          </a:solidFill>
          <a:ln w="12700">
            <a:solidFill>
              <a:srgbClr val="25395F"/>
            </a:solidFill>
            <a:prstDash val="solid"/>
          </a:ln>
        </p:spPr>
      </p:sp>
      <p:sp>
        <p:nvSpPr>
          <p:cNvPr id="5" name="Shape 3"/>
          <p:cNvSpPr/>
          <p:nvPr/>
        </p:nvSpPr>
        <p:spPr>
          <a:xfrm>
            <a:off x="859536" y="1749033"/>
            <a:ext cx="402336" cy="402336"/>
          </a:xfrm>
          <a:prstGeom prst="ellipse">
            <a:avLst/>
          </a:prstGeom>
          <a:solidFill>
            <a:srgbClr val="B08D57"/>
          </a:solidFill>
          <a:ln w="12700">
            <a:solidFill>
              <a:srgbClr val="B08D57"/>
            </a:solidFill>
            <a:prstDash val="solid"/>
          </a:ln>
        </p:spPr>
      </p:sp>
      <p:pic>
        <p:nvPicPr>
          <p:cNvPr id="6" name="Image 0" descr="preencoded.png">    </p:cNvPr>
          <p:cNvPicPr>
            <a:picLocks noChangeAspect="1"/>
          </p:cNvPicPr>
          <p:nvPr/>
        </p:nvPicPr>
        <p:blipFill>
          <a:blip r:embed="rId1"/>
          <a:stretch>
            <a:fillRect/>
          </a:stretch>
        </p:blipFill>
        <p:spPr>
          <a:xfrm>
            <a:off x="980237" y="1869734"/>
            <a:ext cx="160934" cy="160934"/>
          </a:xfrm>
          <a:prstGeom prst="rect">
            <a:avLst/>
          </a:prstGeom>
        </p:spPr>
      </p:pic>
      <p:sp>
        <p:nvSpPr>
          <p:cNvPr id="7" name="Text 4"/>
          <p:cNvSpPr/>
          <p:nvPr/>
        </p:nvSpPr>
        <p:spPr>
          <a:xfrm>
            <a:off x="1444752" y="1731126"/>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客观公正义务源于德国检察制度的设计初衷（“最客观的官署”，《德国刑事诉讼法》第160条第2款），并在英美法上通过 Berger、Brady 等判例确立。我国于2019年《检察官法》第五条将其法定化。</a:t>
            </a:r>
            <a:endParaRPr lang="en-US" sz="1150" dirty="0"/>
          </a:p>
        </p:txBody>
      </p:sp>
      <p:sp>
        <p:nvSpPr>
          <p:cNvPr id="8" name="Shape 5"/>
          <p:cNvSpPr/>
          <p:nvPr/>
        </p:nvSpPr>
        <p:spPr>
          <a:xfrm>
            <a:off x="566928" y="2446507"/>
            <a:ext cx="11057839" cy="514202"/>
          </a:xfrm>
          <a:prstGeom prst="roundRect">
            <a:avLst>
              <a:gd name="adj" fmla="val 14226"/>
            </a:avLst>
          </a:prstGeom>
          <a:solidFill>
            <a:srgbClr val="25395F"/>
          </a:solidFill>
          <a:ln w="12700">
            <a:solidFill>
              <a:srgbClr val="25395F"/>
            </a:solidFill>
            <a:prstDash val="solid"/>
          </a:ln>
        </p:spPr>
      </p:sp>
      <p:sp>
        <p:nvSpPr>
          <p:cNvPr id="9" name="Shape 6"/>
          <p:cNvSpPr/>
          <p:nvPr/>
        </p:nvSpPr>
        <p:spPr>
          <a:xfrm>
            <a:off x="859536" y="2528803"/>
            <a:ext cx="349610" cy="349610"/>
          </a:xfrm>
          <a:prstGeom prst="ellipse">
            <a:avLst/>
          </a:prstGeom>
          <a:solidFill>
            <a:srgbClr val="B08D57"/>
          </a:solidFill>
          <a:ln w="12700">
            <a:solidFill>
              <a:srgbClr val="B08D57"/>
            </a:solidFill>
            <a:prstDash val="solid"/>
          </a:ln>
        </p:spPr>
      </p:sp>
      <p:pic>
        <p:nvPicPr>
          <p:cNvPr id="10" name="Image 1" descr="preencoded.png">    </p:cNvPr>
          <p:cNvPicPr>
            <a:picLocks noChangeAspect="1"/>
          </p:cNvPicPr>
          <p:nvPr/>
        </p:nvPicPr>
        <p:blipFill>
          <a:blip r:embed="rId2"/>
          <a:stretch>
            <a:fillRect/>
          </a:stretch>
        </p:blipFill>
        <p:spPr>
          <a:xfrm>
            <a:off x="964419" y="2633686"/>
            <a:ext cx="139844" cy="139844"/>
          </a:xfrm>
          <a:prstGeom prst="rect">
            <a:avLst/>
          </a:prstGeom>
        </p:spPr>
      </p:pic>
      <p:sp>
        <p:nvSpPr>
          <p:cNvPr id="11" name="Text 7"/>
          <p:cNvSpPr/>
          <p:nvPr/>
        </p:nvSpPr>
        <p:spPr>
          <a:xfrm>
            <a:off x="1444752" y="2594070"/>
            <a:ext cx="9997135" cy="219075"/>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其法理基础有四：权力不对等、目的不相同、信息不对称、公信力所系。客观义务不是对对抗制的背离，而是使对抗制得以正当运转的前提。</a:t>
            </a:r>
            <a:endParaRPr lang="en-US" sz="1150" dirty="0"/>
          </a:p>
        </p:txBody>
      </p:sp>
      <p:sp>
        <p:nvSpPr>
          <p:cNvPr id="12" name="Shape 8"/>
          <p:cNvSpPr/>
          <p:nvPr/>
        </p:nvSpPr>
        <p:spPr>
          <a:xfrm>
            <a:off x="566928" y="3097869"/>
            <a:ext cx="11057839" cy="718291"/>
          </a:xfrm>
          <a:prstGeom prst="roundRect">
            <a:avLst>
              <a:gd name="adj" fmla="val 10184"/>
            </a:avLst>
          </a:prstGeom>
          <a:solidFill>
            <a:srgbClr val="25395F"/>
          </a:solidFill>
          <a:ln w="12700">
            <a:solidFill>
              <a:srgbClr val="25395F"/>
            </a:solidFill>
            <a:prstDash val="solid"/>
          </a:ln>
        </p:spPr>
      </p:sp>
      <p:sp>
        <p:nvSpPr>
          <p:cNvPr id="13" name="Shape 9"/>
          <p:cNvSpPr/>
          <p:nvPr/>
        </p:nvSpPr>
        <p:spPr>
          <a:xfrm>
            <a:off x="859536" y="3255846"/>
            <a:ext cx="402336" cy="402336"/>
          </a:xfrm>
          <a:prstGeom prst="ellipse">
            <a:avLst/>
          </a:prstGeom>
          <a:solidFill>
            <a:srgbClr val="B08D57"/>
          </a:solidFill>
          <a:ln w="12700">
            <a:solidFill>
              <a:srgbClr val="B08D57"/>
            </a:solidFill>
            <a:prstDash val="solid"/>
          </a:ln>
        </p:spPr>
      </p:sp>
      <p:pic>
        <p:nvPicPr>
          <p:cNvPr id="14" name="Image 2" descr="preencoded.png">    </p:cNvPr>
          <p:cNvPicPr>
            <a:picLocks noChangeAspect="1"/>
          </p:cNvPicPr>
          <p:nvPr/>
        </p:nvPicPr>
        <p:blipFill>
          <a:blip r:embed="rId3"/>
          <a:stretch>
            <a:fillRect/>
          </a:stretch>
        </p:blipFill>
        <p:spPr>
          <a:xfrm>
            <a:off x="980237" y="3376547"/>
            <a:ext cx="160934" cy="160934"/>
          </a:xfrm>
          <a:prstGeom prst="rect">
            <a:avLst/>
          </a:prstGeom>
        </p:spPr>
      </p:pic>
      <p:sp>
        <p:nvSpPr>
          <p:cNvPr id="15" name="Text 10"/>
          <p:cNvSpPr/>
          <p:nvPr/>
        </p:nvSpPr>
        <p:spPr>
          <a:xfrm>
            <a:off x="1444752" y="3237939"/>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规范依据：《检察官法》第五条、《刑事诉讼法》第五十二条（全面取证、禁止非法取证、不得强迫自证其罪）、《人民检察院刑事诉讼规则》的具体要求。</a:t>
            </a:r>
            <a:endParaRPr lang="en-US" sz="1150" dirty="0"/>
          </a:p>
        </p:txBody>
      </p:sp>
      <p:sp>
        <p:nvSpPr>
          <p:cNvPr id="16" name="Shape 11"/>
          <p:cNvSpPr/>
          <p:nvPr/>
        </p:nvSpPr>
        <p:spPr>
          <a:xfrm>
            <a:off x="566928" y="3953320"/>
            <a:ext cx="11057839" cy="718291"/>
          </a:xfrm>
          <a:prstGeom prst="roundRect">
            <a:avLst>
              <a:gd name="adj" fmla="val 10184"/>
            </a:avLst>
          </a:prstGeom>
          <a:solidFill>
            <a:srgbClr val="25395F"/>
          </a:solidFill>
          <a:ln w="12700">
            <a:solidFill>
              <a:srgbClr val="25395F"/>
            </a:solidFill>
            <a:prstDash val="solid"/>
          </a:ln>
        </p:spPr>
      </p:sp>
      <p:sp>
        <p:nvSpPr>
          <p:cNvPr id="17" name="Shape 12"/>
          <p:cNvSpPr/>
          <p:nvPr/>
        </p:nvSpPr>
        <p:spPr>
          <a:xfrm>
            <a:off x="859536" y="4111297"/>
            <a:ext cx="402336" cy="402336"/>
          </a:xfrm>
          <a:prstGeom prst="ellipse">
            <a:avLst/>
          </a:prstGeom>
          <a:solidFill>
            <a:srgbClr val="B08D57"/>
          </a:solidFill>
          <a:ln w="12700">
            <a:solidFill>
              <a:srgbClr val="B08D57"/>
            </a:solidFill>
            <a:prstDash val="solid"/>
          </a:ln>
        </p:spPr>
      </p:sp>
      <p:pic>
        <p:nvPicPr>
          <p:cNvPr id="18" name="Image 3" descr="preencoded.png">    </p:cNvPr>
          <p:cNvPicPr>
            <a:picLocks noChangeAspect="1"/>
          </p:cNvPicPr>
          <p:nvPr/>
        </p:nvPicPr>
        <p:blipFill>
          <a:blip r:embed="rId4"/>
          <a:stretch>
            <a:fillRect/>
          </a:stretch>
        </p:blipFill>
        <p:spPr>
          <a:xfrm>
            <a:off x="980237" y="4231998"/>
            <a:ext cx="160934" cy="160934"/>
          </a:xfrm>
          <a:prstGeom prst="rect">
            <a:avLst/>
          </a:prstGeom>
        </p:spPr>
      </p:pic>
      <p:sp>
        <p:nvSpPr>
          <p:cNvPr id="19" name="Text 13"/>
          <p:cNvSpPr/>
          <p:nvPr/>
        </p:nvSpPr>
        <p:spPr>
          <a:xfrm>
            <a:off x="1444752" y="4093390"/>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客观义务的八项内容：全面收集审查证据、排除非法证据、保障辩护权与阅卷权、依法不批捕不起诉、量刑建议客观、认罪认罚自愿性审查、有利于被告人的抗诉与申诉处理、发现冤错的纠正义务。</a:t>
            </a:r>
            <a:endParaRPr lang="en-US" sz="1150" dirty="0"/>
          </a:p>
        </p:txBody>
      </p:sp>
      <p:sp>
        <p:nvSpPr>
          <p:cNvPr id="20" name="Shape 14"/>
          <p:cNvSpPr/>
          <p:nvPr/>
        </p:nvSpPr>
        <p:spPr>
          <a:xfrm>
            <a:off x="566928" y="4808770"/>
            <a:ext cx="11057839" cy="718291"/>
          </a:xfrm>
          <a:prstGeom prst="roundRect">
            <a:avLst>
              <a:gd name="adj" fmla="val 10184"/>
            </a:avLst>
          </a:prstGeom>
          <a:solidFill>
            <a:srgbClr val="25395F"/>
          </a:solidFill>
          <a:ln w="12700">
            <a:solidFill>
              <a:srgbClr val="25395F"/>
            </a:solidFill>
            <a:prstDash val="solid"/>
          </a:ln>
        </p:spPr>
      </p:sp>
      <p:sp>
        <p:nvSpPr>
          <p:cNvPr id="21" name="Shape 15"/>
          <p:cNvSpPr/>
          <p:nvPr/>
        </p:nvSpPr>
        <p:spPr>
          <a:xfrm>
            <a:off x="859536" y="4966748"/>
            <a:ext cx="402336" cy="402336"/>
          </a:xfrm>
          <a:prstGeom prst="ellipse">
            <a:avLst/>
          </a:prstGeom>
          <a:solidFill>
            <a:srgbClr val="B08D57"/>
          </a:solidFill>
          <a:ln w="12700">
            <a:solidFill>
              <a:srgbClr val="B08D57"/>
            </a:solidFill>
            <a:prstDash val="solid"/>
          </a:ln>
        </p:spPr>
      </p:sp>
      <p:pic>
        <p:nvPicPr>
          <p:cNvPr id="22" name="Image 4" descr="preencoded.png">    </p:cNvPr>
          <p:cNvPicPr>
            <a:picLocks noChangeAspect="1"/>
          </p:cNvPicPr>
          <p:nvPr/>
        </p:nvPicPr>
        <p:blipFill>
          <a:blip r:embed="rId5"/>
          <a:stretch>
            <a:fillRect/>
          </a:stretch>
        </p:blipFill>
        <p:spPr>
          <a:xfrm>
            <a:off x="980237" y="5087449"/>
            <a:ext cx="160934" cy="160934"/>
          </a:xfrm>
          <a:prstGeom prst="rect">
            <a:avLst/>
          </a:prstGeom>
        </p:spPr>
      </p:pic>
      <p:sp>
        <p:nvSpPr>
          <p:cNvPr id="23" name="Text 16"/>
          <p:cNvSpPr/>
          <p:nvPr/>
        </p:nvSpPr>
        <p:spPr>
          <a:xfrm>
            <a:off x="1444752" y="4948841"/>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现实挑战有四：考核压力与指标导向、追诉惯性与确认偏误、侦查中心主义惯性、舆论与被害人压力。制度回应包括考核改革、程序性检验机制、辩方参与保障、留痕与说理。</a:t>
            </a:r>
            <a:endParaRPr lang="en-US" sz="1150" dirty="0"/>
          </a:p>
        </p:txBody>
      </p:sp>
      <p:sp>
        <p:nvSpPr>
          <p:cNvPr id="24" name="Shape 17"/>
          <p:cNvSpPr/>
          <p:nvPr/>
        </p:nvSpPr>
        <p:spPr>
          <a:xfrm>
            <a:off x="566928" y="5664221"/>
            <a:ext cx="11057839" cy="718291"/>
          </a:xfrm>
          <a:prstGeom prst="roundRect">
            <a:avLst>
              <a:gd name="adj" fmla="val 10184"/>
            </a:avLst>
          </a:prstGeom>
          <a:solidFill>
            <a:srgbClr val="25395F"/>
          </a:solidFill>
          <a:ln w="12700">
            <a:solidFill>
              <a:srgbClr val="25395F"/>
            </a:solidFill>
            <a:prstDash val="solid"/>
          </a:ln>
        </p:spPr>
      </p:sp>
      <p:sp>
        <p:nvSpPr>
          <p:cNvPr id="25" name="Shape 18"/>
          <p:cNvSpPr/>
          <p:nvPr/>
        </p:nvSpPr>
        <p:spPr>
          <a:xfrm>
            <a:off x="859536" y="5822199"/>
            <a:ext cx="402336" cy="402336"/>
          </a:xfrm>
          <a:prstGeom prst="ellipse">
            <a:avLst/>
          </a:prstGeom>
          <a:solidFill>
            <a:srgbClr val="B08D57"/>
          </a:solidFill>
          <a:ln w="12700">
            <a:solidFill>
              <a:srgbClr val="B08D57"/>
            </a:solidFill>
            <a:prstDash val="solid"/>
          </a:ln>
        </p:spPr>
      </p:sp>
      <p:pic>
        <p:nvPicPr>
          <p:cNvPr id="26" name="Image 5" descr="preencoded.png">    </p:cNvPr>
          <p:cNvPicPr>
            <a:picLocks noChangeAspect="1"/>
          </p:cNvPicPr>
          <p:nvPr/>
        </p:nvPicPr>
        <p:blipFill>
          <a:blip r:embed="rId6"/>
          <a:stretch>
            <a:fillRect/>
          </a:stretch>
        </p:blipFill>
        <p:spPr>
          <a:xfrm>
            <a:off x="980237" y="5942899"/>
            <a:ext cx="160934" cy="160934"/>
          </a:xfrm>
          <a:prstGeom prst="rect">
            <a:avLst/>
          </a:prstGeom>
        </p:spPr>
      </p:pic>
      <p:sp>
        <p:nvSpPr>
          <p:cNvPr id="27" name="Text 19"/>
          <p:cNvSpPr/>
          <p:nvPr/>
        </p:nvSpPr>
        <p:spPr>
          <a:xfrm>
            <a:off x="1444752" y="5804292"/>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冤错案件的共同教训：疑点被合理化、口供中心、程序权利保障不足、纠错受组织惯性阻碍。客观义务真正发挥作用的时刻，永远是改变判断会让自己付出代价的时候。</a:t>
            </a:r>
            <a:endParaRPr lang="en-US" sz="11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9509760" y="-1371600"/>
            <a:ext cx="5120640" cy="5120640"/>
          </a:xfrm>
          <a:prstGeom prst="ellipse">
            <a:avLst/>
          </a:prstGeom>
          <a:solidFill>
            <a:srgbClr val="25395F"/>
          </a:solidFill>
          <a:ln w="12700">
            <a:solidFill>
              <a:srgbClr val="25395F"/>
            </a:solidFill>
            <a:prstDash val="solid"/>
          </a:ln>
        </p:spPr>
      </p:sp>
      <p:sp>
        <p:nvSpPr>
          <p:cNvPr id="3" name="Text 1"/>
          <p:cNvSpPr/>
          <p:nvPr/>
        </p:nvSpPr>
        <p:spPr>
          <a:xfrm>
            <a:off x="566928" y="1266635"/>
            <a:ext cx="4572000" cy="310896"/>
          </a:xfrm>
          <a:prstGeom prst="rect">
            <a:avLst/>
          </a:prstGeom>
          <a:noFill/>
          <a:ln/>
        </p:spPr>
        <p:txBody>
          <a:bodyPr wrap="square" lIns="0" tIns="0" rIns="0" bIns="0" rtlCol="0" anchor="ctr"/>
          <a:lstStyle/>
          <a:p>
            <a:pPr indent="0" marL="0">
              <a:buNone/>
            </a:pPr>
            <a:r>
              <a:rPr lang="en-US" sz="1600" b="1" spc="300" kern="0" dirty="0">
                <a:solidFill>
                  <a:srgbClr val="B08D57"/>
                </a:solidFill>
                <a:latin typeface="微软雅黑" pitchFamily="34" charset="0"/>
                <a:ea typeface="微软雅黑" pitchFamily="34" charset="-122"/>
                <a:cs typeface="微软雅黑" pitchFamily="34" charset="-120"/>
              </a:rPr>
              <a:t>第11课时</a:t>
            </a:r>
            <a:endParaRPr lang="en-US" sz="1600" dirty="0"/>
          </a:p>
        </p:txBody>
      </p:sp>
      <p:sp>
        <p:nvSpPr>
          <p:cNvPr id="4" name="Text 2"/>
          <p:cNvSpPr/>
          <p:nvPr/>
        </p:nvSpPr>
        <p:spPr>
          <a:xfrm>
            <a:off x="566928" y="1687259"/>
            <a:ext cx="9326880" cy="1258824"/>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检察官职业道德五项准则与检察责任追究</a:t>
            </a:r>
            <a:endParaRPr lang="en-US" sz="4200" dirty="0"/>
          </a:p>
        </p:txBody>
      </p:sp>
      <p:sp>
        <p:nvSpPr>
          <p:cNvPr id="5" name="Text 3"/>
          <p:cNvSpPr/>
          <p:nvPr/>
        </p:nvSpPr>
        <p:spPr>
          <a:xfrm>
            <a:off x="603504" y="3202115"/>
            <a:ext cx="9326880" cy="295275"/>
          </a:xfrm>
          <a:prstGeom prst="rect">
            <a:avLst/>
          </a:prstGeom>
          <a:noFill/>
          <a:ln/>
        </p:spPr>
        <p:txBody>
          <a:bodyPr wrap="square" lIns="0" tIns="0" rIns="0" bIns="0" rtlCol="0" anchor="t"/>
          <a:lstStyle/>
          <a:p>
            <a:pPr indent="0" marL="0">
              <a:lnSpc>
                <a:spcPts val="2300"/>
              </a:lnSpc>
              <a:buNone/>
            </a:pPr>
            <a:r>
              <a:rPr lang="en-US" sz="1500" dirty="0">
                <a:solidFill>
                  <a:srgbClr val="D9C29B"/>
                </a:solidFill>
                <a:latin typeface="微软雅黑" pitchFamily="34" charset="0"/>
                <a:ea typeface="微软雅黑" pitchFamily="34" charset="-122"/>
                <a:cs typeface="微软雅黑" pitchFamily="34" charset="-120"/>
              </a:rPr>
              <a:t>忠诚、为民、担当、公正、廉洁——从理念到行为规范，再到责任追究</a:t>
            </a:r>
            <a:endParaRPr lang="en-US" sz="1500" dirty="0"/>
          </a:p>
        </p:txBody>
      </p:sp>
      <p:sp>
        <p:nvSpPr>
          <p:cNvPr id="6" name="Shape 4"/>
          <p:cNvSpPr/>
          <p:nvPr/>
        </p:nvSpPr>
        <p:spPr>
          <a:xfrm>
            <a:off x="566928" y="5056632"/>
            <a:ext cx="3551834" cy="1325880"/>
          </a:xfrm>
          <a:prstGeom prst="roundRect">
            <a:avLst>
              <a:gd name="adj" fmla="val 6897"/>
            </a:avLst>
          </a:prstGeom>
          <a:solidFill>
            <a:srgbClr val="25395F"/>
          </a:solidFill>
          <a:ln w="12700">
            <a:solidFill>
              <a:srgbClr val="25395F"/>
            </a:solidFill>
            <a:prstDash val="solid"/>
          </a:ln>
        </p:spPr>
      </p:sp>
      <p:sp>
        <p:nvSpPr>
          <p:cNvPr id="7" name="Shape 5"/>
          <p:cNvSpPr/>
          <p:nvPr/>
        </p:nvSpPr>
        <p:spPr>
          <a:xfrm>
            <a:off x="841248" y="5518404"/>
            <a:ext cx="402336" cy="402336"/>
          </a:xfrm>
          <a:prstGeom prst="ellipse">
            <a:avLst/>
          </a:prstGeom>
          <a:solidFill>
            <a:srgbClr val="B08D57"/>
          </a:solidFill>
          <a:ln w="12700">
            <a:solidFill>
              <a:srgbClr val="B08D57"/>
            </a:solidFill>
            <a:prstDash val="solid"/>
          </a:ln>
        </p:spPr>
      </p:sp>
      <p:pic>
        <p:nvPicPr>
          <p:cNvPr id="8" name="Image 0" descr="preencoded.png">    </p:cNvPr>
          <p:cNvPicPr>
            <a:picLocks noChangeAspect="1"/>
          </p:cNvPicPr>
          <p:nvPr/>
        </p:nvPicPr>
        <p:blipFill>
          <a:blip r:embed="rId1"/>
          <a:stretch>
            <a:fillRect/>
          </a:stretch>
        </p:blipFill>
        <p:spPr>
          <a:xfrm>
            <a:off x="961949" y="5639105"/>
            <a:ext cx="160934" cy="160934"/>
          </a:xfrm>
          <a:prstGeom prst="rect">
            <a:avLst/>
          </a:prstGeom>
        </p:spPr>
      </p:pic>
      <p:sp>
        <p:nvSpPr>
          <p:cNvPr id="9" name="Text 6"/>
          <p:cNvSpPr/>
          <p:nvPr/>
        </p:nvSpPr>
        <p:spPr>
          <a:xfrm>
            <a:off x="1353312"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五项准则的规范内涵与行为要求</a:t>
            </a:r>
            <a:endParaRPr lang="en-US" sz="1400" dirty="0"/>
          </a:p>
        </p:txBody>
      </p:sp>
      <p:sp>
        <p:nvSpPr>
          <p:cNvPr id="10" name="Shape 7"/>
          <p:cNvSpPr/>
          <p:nvPr/>
        </p:nvSpPr>
        <p:spPr>
          <a:xfrm>
            <a:off x="4319930" y="5056632"/>
            <a:ext cx="3551834" cy="1325880"/>
          </a:xfrm>
          <a:prstGeom prst="roundRect">
            <a:avLst>
              <a:gd name="adj" fmla="val 6897"/>
            </a:avLst>
          </a:prstGeom>
          <a:solidFill>
            <a:srgbClr val="25395F"/>
          </a:solidFill>
          <a:ln w="12700">
            <a:solidFill>
              <a:srgbClr val="25395F"/>
            </a:solidFill>
            <a:prstDash val="solid"/>
          </a:ln>
        </p:spPr>
      </p:sp>
      <p:sp>
        <p:nvSpPr>
          <p:cNvPr id="11" name="Shape 8"/>
          <p:cNvSpPr/>
          <p:nvPr/>
        </p:nvSpPr>
        <p:spPr>
          <a:xfrm>
            <a:off x="4594250" y="5518404"/>
            <a:ext cx="402336" cy="402336"/>
          </a:xfrm>
          <a:prstGeom prst="ellipse">
            <a:avLst/>
          </a:prstGeom>
          <a:solidFill>
            <a:srgbClr val="B08D57"/>
          </a:solidFill>
          <a:ln w="12700">
            <a:solidFill>
              <a:srgbClr val="B08D57"/>
            </a:solidFill>
            <a:prstDash val="solid"/>
          </a:ln>
        </p:spPr>
      </p:sp>
      <p:pic>
        <p:nvPicPr>
          <p:cNvPr id="12" name="Image 1" descr="preencoded.png">    </p:cNvPr>
          <p:cNvPicPr>
            <a:picLocks noChangeAspect="1"/>
          </p:cNvPicPr>
          <p:nvPr/>
        </p:nvPicPr>
        <p:blipFill>
          <a:blip r:embed="rId2"/>
          <a:stretch>
            <a:fillRect/>
          </a:stretch>
        </p:blipFill>
        <p:spPr>
          <a:xfrm>
            <a:off x="4714951" y="5639105"/>
            <a:ext cx="160934" cy="160934"/>
          </a:xfrm>
          <a:prstGeom prst="rect">
            <a:avLst/>
          </a:prstGeom>
        </p:spPr>
      </p:pic>
      <p:sp>
        <p:nvSpPr>
          <p:cNvPr id="13" name="Text 9"/>
          <p:cNvSpPr/>
          <p:nvPr/>
        </p:nvSpPr>
        <p:spPr>
          <a:xfrm>
            <a:off x="5106314"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兼职禁止、任职回避与离任回避</a:t>
            </a:r>
            <a:endParaRPr lang="en-US" sz="1400" dirty="0"/>
          </a:p>
        </p:txBody>
      </p:sp>
      <p:sp>
        <p:nvSpPr>
          <p:cNvPr id="14" name="Shape 10"/>
          <p:cNvSpPr/>
          <p:nvPr/>
        </p:nvSpPr>
        <p:spPr>
          <a:xfrm>
            <a:off x="8072933" y="5056632"/>
            <a:ext cx="3551834" cy="1325880"/>
          </a:xfrm>
          <a:prstGeom prst="roundRect">
            <a:avLst>
              <a:gd name="adj" fmla="val 6897"/>
            </a:avLst>
          </a:prstGeom>
          <a:solidFill>
            <a:srgbClr val="25395F"/>
          </a:solidFill>
          <a:ln w="12700">
            <a:solidFill>
              <a:srgbClr val="25395F"/>
            </a:solidFill>
            <a:prstDash val="solid"/>
          </a:ln>
        </p:spPr>
      </p:sp>
      <p:sp>
        <p:nvSpPr>
          <p:cNvPr id="15" name="Shape 11"/>
          <p:cNvSpPr/>
          <p:nvPr/>
        </p:nvSpPr>
        <p:spPr>
          <a:xfrm>
            <a:off x="8347253" y="5518404"/>
            <a:ext cx="402336" cy="402336"/>
          </a:xfrm>
          <a:prstGeom prst="ellipse">
            <a:avLst/>
          </a:prstGeom>
          <a:solidFill>
            <a:srgbClr val="B08D57"/>
          </a:solidFill>
          <a:ln w="12700">
            <a:solidFill>
              <a:srgbClr val="B08D57"/>
            </a:solidFill>
            <a:prstDash val="solid"/>
          </a:ln>
        </p:spPr>
      </p:sp>
      <p:pic>
        <p:nvPicPr>
          <p:cNvPr id="16" name="Image 2" descr="preencoded.png">    </p:cNvPr>
          <p:cNvPicPr>
            <a:picLocks noChangeAspect="1"/>
          </p:cNvPicPr>
          <p:nvPr/>
        </p:nvPicPr>
        <p:blipFill>
          <a:blip r:embed="rId3"/>
          <a:stretch>
            <a:fillRect/>
          </a:stretch>
        </p:blipFill>
        <p:spPr>
          <a:xfrm>
            <a:off x="8467954" y="5639105"/>
            <a:ext cx="160934" cy="160934"/>
          </a:xfrm>
          <a:prstGeom prst="rect">
            <a:avLst/>
          </a:prstGeom>
        </p:spPr>
      </p:pic>
      <p:sp>
        <p:nvSpPr>
          <p:cNvPr id="17" name="Text 12"/>
          <p:cNvSpPr/>
          <p:nvPr/>
        </p:nvSpPr>
        <p:spPr>
          <a:xfrm>
            <a:off x="8859317"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检察官惩戒制度与刑事责任</a:t>
            </a:r>
            <a:endParaRPr lang="en-US" sz="1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本课时结构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从准则到责任</a:t>
            </a:r>
            <a:endParaRPr lang="en-US" sz="2800" dirty="0"/>
          </a:p>
        </p:txBody>
      </p:sp>
      <p:sp>
        <p:nvSpPr>
          <p:cNvPr id="4" name="Shape 2"/>
          <p:cNvSpPr/>
          <p:nvPr/>
        </p:nvSpPr>
        <p:spPr>
          <a:xfrm>
            <a:off x="566928" y="2619756"/>
            <a:ext cx="5300320" cy="722376"/>
          </a:xfrm>
          <a:prstGeom prst="roundRect">
            <a:avLst>
              <a:gd name="adj" fmla="val 10127"/>
            </a:avLst>
          </a:prstGeom>
          <a:solidFill>
            <a:srgbClr val="F2F4F8"/>
          </a:solidFill>
          <a:ln w="12700">
            <a:solidFill>
              <a:srgbClr val="F2F4F8"/>
            </a:solidFill>
            <a:prstDash val="solid"/>
          </a:ln>
        </p:spPr>
      </p:sp>
      <p:sp>
        <p:nvSpPr>
          <p:cNvPr id="5" name="Shape 3"/>
          <p:cNvSpPr/>
          <p:nvPr/>
        </p:nvSpPr>
        <p:spPr>
          <a:xfrm>
            <a:off x="731520" y="2798064"/>
            <a:ext cx="365760" cy="365760"/>
          </a:xfrm>
          <a:prstGeom prst="ellipse">
            <a:avLst/>
          </a:prstGeom>
          <a:solidFill>
            <a:srgbClr val="B08D57"/>
          </a:solidFill>
          <a:ln w="12700">
            <a:solidFill>
              <a:srgbClr val="B08D57"/>
            </a:solidFill>
            <a:prstDash val="solid"/>
          </a:ln>
        </p:spPr>
      </p:sp>
      <p:sp>
        <p:nvSpPr>
          <p:cNvPr id="6" name="Text 4"/>
          <p:cNvSpPr/>
          <p:nvPr/>
        </p:nvSpPr>
        <p:spPr>
          <a:xfrm>
            <a:off x="73152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一、五项准则的逐条展开</a:t>
            </a:r>
            <a:endParaRPr lang="en-US" sz="1500" dirty="0"/>
          </a:p>
        </p:txBody>
      </p:sp>
      <p:sp>
        <p:nvSpPr>
          <p:cNvPr id="8" name="Shape 6"/>
          <p:cNvSpPr/>
          <p:nvPr/>
        </p:nvSpPr>
        <p:spPr>
          <a:xfrm>
            <a:off x="566928" y="3488436"/>
            <a:ext cx="5300320" cy="722376"/>
          </a:xfrm>
          <a:prstGeom prst="roundRect">
            <a:avLst>
              <a:gd name="adj" fmla="val 10127"/>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二、检察官的义务与行为规范</a:t>
            </a:r>
            <a:endParaRPr lang="en-US" sz="1500" dirty="0"/>
          </a:p>
        </p:txBody>
      </p:sp>
      <p:sp>
        <p:nvSpPr>
          <p:cNvPr id="12" name="Shape 10"/>
          <p:cNvSpPr/>
          <p:nvPr/>
        </p:nvSpPr>
        <p:spPr>
          <a:xfrm>
            <a:off x="566928" y="4357116"/>
            <a:ext cx="5300320" cy="722376"/>
          </a:xfrm>
          <a:prstGeom prst="roundRect">
            <a:avLst>
              <a:gd name="adj" fmla="val 10127"/>
            </a:avLst>
          </a:prstGeom>
          <a:solidFill>
            <a:srgbClr val="F2F4F8"/>
          </a:solidFill>
          <a:ln w="12700">
            <a:solidFill>
              <a:srgbClr val="F2F4F8"/>
            </a:solidFill>
            <a:prstDash val="solid"/>
          </a:ln>
        </p:spPr>
      </p:sp>
      <p:sp>
        <p:nvSpPr>
          <p:cNvPr id="13" name="Shape 11"/>
          <p:cNvSpPr/>
          <p:nvPr/>
        </p:nvSpPr>
        <p:spPr>
          <a:xfrm>
            <a:off x="731520" y="4535424"/>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三、兼职禁止、任职回避与离任回避</a:t>
            </a:r>
            <a:endParaRPr lang="en-US" sz="1500" dirty="0"/>
          </a:p>
        </p:txBody>
      </p:sp>
      <p:sp>
        <p:nvSpPr>
          <p:cNvPr id="16" name="Shape 14"/>
          <p:cNvSpPr/>
          <p:nvPr/>
        </p:nvSpPr>
        <p:spPr>
          <a:xfrm>
            <a:off x="6324448" y="2619756"/>
            <a:ext cx="5300320" cy="722376"/>
          </a:xfrm>
          <a:prstGeom prst="roundRect">
            <a:avLst>
              <a:gd name="adj" fmla="val 10127"/>
            </a:avLst>
          </a:prstGeom>
          <a:solidFill>
            <a:srgbClr val="F2F4F8"/>
          </a:solidFill>
          <a:ln w="12700">
            <a:solidFill>
              <a:srgbClr val="F2F4F8"/>
            </a:solidFill>
            <a:prstDash val="solid"/>
          </a:ln>
        </p:spPr>
      </p:sp>
      <p:sp>
        <p:nvSpPr>
          <p:cNvPr id="17" name="Shape 15"/>
          <p:cNvSpPr/>
          <p:nvPr/>
        </p:nvSpPr>
        <p:spPr>
          <a:xfrm>
            <a:off x="6489040" y="2798064"/>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四、检察官与律师的交往规范</a:t>
            </a:r>
            <a:endParaRPr lang="en-US" sz="1500" dirty="0"/>
          </a:p>
        </p:txBody>
      </p:sp>
      <p:sp>
        <p:nvSpPr>
          <p:cNvPr id="20" name="Shape 18"/>
          <p:cNvSpPr/>
          <p:nvPr/>
        </p:nvSpPr>
        <p:spPr>
          <a:xfrm>
            <a:off x="6324448" y="3488436"/>
            <a:ext cx="5300320" cy="722376"/>
          </a:xfrm>
          <a:prstGeom prst="roundRect">
            <a:avLst>
              <a:gd name="adj" fmla="val 10127"/>
            </a:avLst>
          </a:prstGeom>
          <a:solidFill>
            <a:srgbClr val="F2F4F8"/>
          </a:solidFill>
          <a:ln w="12700">
            <a:solidFill>
              <a:srgbClr val="F2F4F8"/>
            </a:solidFill>
            <a:prstDash val="solid"/>
          </a:ln>
        </p:spPr>
      </p:sp>
      <p:sp>
        <p:nvSpPr>
          <p:cNvPr id="21" name="Shape 19"/>
          <p:cNvSpPr/>
          <p:nvPr/>
        </p:nvSpPr>
        <p:spPr>
          <a:xfrm>
            <a:off x="6489040" y="3666744"/>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五、检察官惩戒制度与刑事责任</a:t>
            </a:r>
            <a:endParaRPr lang="en-US" sz="1500" dirty="0"/>
          </a:p>
        </p:txBody>
      </p:sp>
      <p:sp>
        <p:nvSpPr>
          <p:cNvPr id="24" name="Shape 22"/>
          <p:cNvSpPr/>
          <p:nvPr/>
        </p:nvSpPr>
        <p:spPr>
          <a:xfrm>
            <a:off x="6324448" y="4357116"/>
            <a:ext cx="5300320" cy="722376"/>
          </a:xfrm>
          <a:prstGeom prst="roundRect">
            <a:avLst>
              <a:gd name="adj" fmla="val 10127"/>
            </a:avLst>
          </a:prstGeom>
          <a:solidFill>
            <a:srgbClr val="F2F4F8"/>
          </a:solidFill>
          <a:ln w="12700">
            <a:solidFill>
              <a:srgbClr val="F2F4F8"/>
            </a:solidFill>
            <a:prstDash val="solid"/>
          </a:ln>
        </p:spPr>
      </p:sp>
      <p:sp>
        <p:nvSpPr>
          <p:cNvPr id="25" name="Shape 23"/>
          <p:cNvSpPr/>
          <p:nvPr/>
        </p:nvSpPr>
        <p:spPr>
          <a:xfrm>
            <a:off x="6489040" y="4535424"/>
            <a:ext cx="365760" cy="365760"/>
          </a:xfrm>
          <a:prstGeom prst="ellipse">
            <a:avLst/>
          </a:prstGeom>
          <a:solidFill>
            <a:srgbClr val="B08D57"/>
          </a:solidFill>
          <a:ln w="12700">
            <a:solidFill>
              <a:srgbClr val="B08D57"/>
            </a:solidFill>
            <a:prstDash val="solid"/>
          </a:ln>
        </p:spPr>
      </p:sp>
      <p:sp>
        <p:nvSpPr>
          <p:cNvPr id="26" name="Text 24"/>
          <p:cNvSpPr/>
          <p:nvPr/>
        </p:nvSpPr>
        <p:spPr>
          <a:xfrm>
            <a:off x="648904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7" name="Text 25"/>
          <p:cNvSpPr/>
          <p:nvPr/>
        </p:nvSpPr>
        <p:spPr>
          <a:xfrm>
            <a:off x="700110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六、案例研讨与第三编总结</a:t>
            </a:r>
            <a:endParaRPr lang="en-US" sz="1500" dirty="0"/>
          </a:p>
        </p:txBody>
      </p:sp>
      <p:sp>
        <p:nvSpPr>
          <p:cNvPr id="28"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第11课时 · 02</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1</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五项准则的逐条展开</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2016年修订版《检察官职业道德基本准则》不分章节，仅五条，字字有指向</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第11课时 · 03</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准则</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五项准则及其规范内涵</a:t>
            </a:r>
            <a:endParaRPr lang="en-US" sz="2800" dirty="0"/>
          </a:p>
        </p:txBody>
      </p:sp>
      <p:sp>
        <p:nvSpPr>
          <p:cNvPr id="4" name="Shape 2"/>
          <p:cNvSpPr/>
          <p:nvPr/>
        </p:nvSpPr>
        <p:spPr>
          <a:xfrm>
            <a:off x="566928" y="1316736"/>
            <a:ext cx="11057839" cy="829818"/>
          </a:xfrm>
          <a:prstGeom prst="roundRect">
            <a:avLst>
              <a:gd name="adj" fmla="val 8815"/>
            </a:avLst>
          </a:prstGeom>
          <a:solidFill>
            <a:srgbClr val="F2F4F8"/>
          </a:solidFill>
          <a:ln w="12700">
            <a:solidFill>
              <a:srgbClr val="F2F4F8"/>
            </a:solidFill>
            <a:prstDash val="solid"/>
          </a:ln>
        </p:spPr>
      </p:sp>
      <p:sp>
        <p:nvSpPr>
          <p:cNvPr id="5" name="Shape 3"/>
          <p:cNvSpPr/>
          <p:nvPr/>
        </p:nvSpPr>
        <p:spPr>
          <a:xfrm>
            <a:off x="841248" y="1475613"/>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629232"/>
            <a:ext cx="204826" cy="204826"/>
          </a:xfrm>
          <a:prstGeom prst="rect">
            <a:avLst/>
          </a:prstGeom>
        </p:spPr>
      </p:pic>
      <p:sp>
        <p:nvSpPr>
          <p:cNvPr id="7" name="Text 4"/>
          <p:cNvSpPr/>
          <p:nvPr/>
        </p:nvSpPr>
        <p:spPr>
          <a:xfrm>
            <a:off x="1536192" y="1522794"/>
            <a:ext cx="9832543" cy="178816"/>
          </a:xfrm>
          <a:prstGeom prst="rect">
            <a:avLst/>
          </a:prstGeom>
          <a:noFill/>
          <a:ln/>
        </p:spPr>
        <p:txBody>
          <a:bodyPr wrap="square" lIns="0" tIns="0" rIns="0" bIns="0" rtlCol="0" anchor="t"/>
          <a:lstStyle/>
          <a:p>
            <a:pPr indent="0" marL="0">
              <a:lnSpc>
                <a:spcPts val="1408"/>
              </a:lnSpc>
              <a:buNone/>
            </a:pPr>
            <a:r>
              <a:rPr lang="en-US" sz="1100" b="1" dirty="0">
                <a:solidFill>
                  <a:srgbClr val="13233F"/>
                </a:solidFill>
                <a:latin typeface="微软雅黑" pitchFamily="34" charset="0"/>
                <a:ea typeface="微软雅黑" pitchFamily="34" charset="-122"/>
                <a:cs typeface="微软雅黑" pitchFamily="34" charset="-120"/>
              </a:rPr>
              <a:t>一、坚持忠诚品格，永葆政治本色</a:t>
            </a:r>
            <a:endParaRPr lang="en-US" sz="1100" dirty="0"/>
          </a:p>
        </p:txBody>
      </p:sp>
      <p:sp>
        <p:nvSpPr>
          <p:cNvPr id="8" name="Text 5"/>
          <p:cNvSpPr/>
          <p:nvPr/>
        </p:nvSpPr>
        <p:spPr>
          <a:xfrm>
            <a:off x="1536192" y="1774762"/>
            <a:ext cx="9832543" cy="165735"/>
          </a:xfrm>
          <a:prstGeom prst="rect">
            <a:avLst/>
          </a:prstGeom>
          <a:noFill/>
          <a:ln/>
        </p:spPr>
        <p:txBody>
          <a:bodyPr wrap="square" lIns="0" tIns="0" rIns="0" bIns="0" rtlCol="0" anchor="t"/>
          <a:lstStyle/>
          <a:p>
            <a:pPr indent="0" marL="0">
              <a:lnSpc>
                <a:spcPts val="1305"/>
              </a:lnSpc>
              <a:buNone/>
            </a:pPr>
            <a:r>
              <a:rPr lang="en-US" sz="900" dirty="0">
                <a:solidFill>
                  <a:srgbClr val="32404F"/>
                </a:solidFill>
                <a:latin typeface="微软雅黑" pitchFamily="34" charset="0"/>
                <a:ea typeface="微软雅黑" pitchFamily="34" charset="-122"/>
                <a:cs typeface="微软雅黑" pitchFamily="34" charset="-120"/>
              </a:rPr>
              <a:t>忠诚于党、忠诚于国家、忠诚于人民、忠诚于法律。要求检察官坚定理想信念，牢固树立社会主义法治理念，自觉维护宪法法律权威。这是我国检察官职业道德区别于域外准则的首要特征。</a:t>
            </a:r>
            <a:endParaRPr lang="en-US" sz="900" dirty="0"/>
          </a:p>
        </p:txBody>
      </p:sp>
      <p:sp>
        <p:nvSpPr>
          <p:cNvPr id="9" name="Shape 6"/>
          <p:cNvSpPr/>
          <p:nvPr/>
        </p:nvSpPr>
        <p:spPr>
          <a:xfrm>
            <a:off x="566928" y="2292858"/>
            <a:ext cx="11057839" cy="995553"/>
          </a:xfrm>
          <a:prstGeom prst="roundRect">
            <a:avLst>
              <a:gd name="adj" fmla="val 7348"/>
            </a:avLst>
          </a:prstGeom>
          <a:solidFill>
            <a:srgbClr val="FFFFFF"/>
          </a:solidFill>
          <a:ln w="12700">
            <a:solidFill>
              <a:srgbClr val="D5DBE5"/>
            </a:solidFill>
            <a:prstDash val="solid"/>
          </a:ln>
        </p:spPr>
      </p:sp>
      <p:sp>
        <p:nvSpPr>
          <p:cNvPr id="10" name="Shape 7"/>
          <p:cNvSpPr/>
          <p:nvPr/>
        </p:nvSpPr>
        <p:spPr>
          <a:xfrm>
            <a:off x="841248" y="2534603"/>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2688222"/>
            <a:ext cx="204826" cy="204826"/>
          </a:xfrm>
          <a:prstGeom prst="rect">
            <a:avLst/>
          </a:prstGeom>
        </p:spPr>
      </p:pic>
      <p:sp>
        <p:nvSpPr>
          <p:cNvPr id="12" name="Text 8"/>
          <p:cNvSpPr/>
          <p:nvPr/>
        </p:nvSpPr>
        <p:spPr>
          <a:xfrm>
            <a:off x="1536192" y="2498916"/>
            <a:ext cx="9832543" cy="178816"/>
          </a:xfrm>
          <a:prstGeom prst="rect">
            <a:avLst/>
          </a:prstGeom>
          <a:noFill/>
          <a:ln/>
        </p:spPr>
        <p:txBody>
          <a:bodyPr wrap="square" lIns="0" tIns="0" rIns="0" bIns="0" rtlCol="0" anchor="t"/>
          <a:lstStyle/>
          <a:p>
            <a:pPr indent="0" marL="0">
              <a:lnSpc>
                <a:spcPts val="1408"/>
              </a:lnSpc>
              <a:buNone/>
            </a:pPr>
            <a:r>
              <a:rPr lang="en-US" sz="1100" b="1" dirty="0">
                <a:solidFill>
                  <a:srgbClr val="13233F"/>
                </a:solidFill>
                <a:latin typeface="微软雅黑" pitchFamily="34" charset="0"/>
                <a:ea typeface="微软雅黑" pitchFamily="34" charset="-122"/>
                <a:cs typeface="微软雅黑" pitchFamily="34" charset="-120"/>
              </a:rPr>
              <a:t>二、坚持为民宗旨，保障人民权益</a:t>
            </a:r>
            <a:endParaRPr lang="en-US" sz="1100" dirty="0"/>
          </a:p>
        </p:txBody>
      </p:sp>
      <p:sp>
        <p:nvSpPr>
          <p:cNvPr id="13" name="Text 9"/>
          <p:cNvSpPr/>
          <p:nvPr/>
        </p:nvSpPr>
        <p:spPr>
          <a:xfrm>
            <a:off x="1536192" y="2750884"/>
            <a:ext cx="9832543" cy="331470"/>
          </a:xfrm>
          <a:prstGeom prst="rect">
            <a:avLst/>
          </a:prstGeom>
          <a:noFill/>
          <a:ln/>
        </p:spPr>
        <p:txBody>
          <a:bodyPr wrap="square" lIns="0" tIns="0" rIns="0" bIns="0" rtlCol="0" anchor="t"/>
          <a:lstStyle/>
          <a:p>
            <a:pPr indent="0" marL="0">
              <a:lnSpc>
                <a:spcPts val="1305"/>
              </a:lnSpc>
              <a:buNone/>
            </a:pPr>
            <a:r>
              <a:rPr lang="en-US" sz="900" dirty="0">
                <a:solidFill>
                  <a:srgbClr val="32404F"/>
                </a:solidFill>
                <a:latin typeface="微软雅黑" pitchFamily="34" charset="0"/>
                <a:ea typeface="微软雅黑" pitchFamily="34" charset="-122"/>
                <a:cs typeface="微软雅黑" pitchFamily="34" charset="-120"/>
              </a:rPr>
              <a:t>检察权来自人民，必须用于保障人民权益。具体表现为：依法保障当事人与诉讼参与人的权利；认真办理群众来信来访，做到件件有回复；开展司法救助；在未成年人检察、支持起诉等工作中体现司法温度。</a:t>
            </a:r>
            <a:endParaRPr lang="en-US" sz="900" dirty="0"/>
          </a:p>
        </p:txBody>
      </p:sp>
      <p:sp>
        <p:nvSpPr>
          <p:cNvPr id="14" name="Shape 10"/>
          <p:cNvSpPr/>
          <p:nvPr/>
        </p:nvSpPr>
        <p:spPr>
          <a:xfrm>
            <a:off x="566928" y="3434715"/>
            <a:ext cx="11057839" cy="995553"/>
          </a:xfrm>
          <a:prstGeom prst="roundRect">
            <a:avLst>
              <a:gd name="adj" fmla="val 7348"/>
            </a:avLst>
          </a:prstGeom>
          <a:solidFill>
            <a:srgbClr val="F2F4F8"/>
          </a:solidFill>
          <a:ln w="12700">
            <a:solidFill>
              <a:srgbClr val="F2F4F8"/>
            </a:solidFill>
            <a:prstDash val="solid"/>
          </a:ln>
        </p:spPr>
      </p:sp>
      <p:sp>
        <p:nvSpPr>
          <p:cNvPr id="15" name="Shape 11"/>
          <p:cNvSpPr/>
          <p:nvPr/>
        </p:nvSpPr>
        <p:spPr>
          <a:xfrm>
            <a:off x="841248" y="3676460"/>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3830079"/>
            <a:ext cx="204826" cy="204826"/>
          </a:xfrm>
          <a:prstGeom prst="rect">
            <a:avLst/>
          </a:prstGeom>
        </p:spPr>
      </p:pic>
      <p:sp>
        <p:nvSpPr>
          <p:cNvPr id="17" name="Text 12"/>
          <p:cNvSpPr/>
          <p:nvPr/>
        </p:nvSpPr>
        <p:spPr>
          <a:xfrm>
            <a:off x="1536192" y="3640773"/>
            <a:ext cx="9832543" cy="178816"/>
          </a:xfrm>
          <a:prstGeom prst="rect">
            <a:avLst/>
          </a:prstGeom>
          <a:noFill/>
          <a:ln/>
        </p:spPr>
        <p:txBody>
          <a:bodyPr wrap="square" lIns="0" tIns="0" rIns="0" bIns="0" rtlCol="0" anchor="t"/>
          <a:lstStyle/>
          <a:p>
            <a:pPr indent="0" marL="0">
              <a:lnSpc>
                <a:spcPts val="1408"/>
              </a:lnSpc>
              <a:buNone/>
            </a:pPr>
            <a:r>
              <a:rPr lang="en-US" sz="1100" b="1" dirty="0">
                <a:solidFill>
                  <a:srgbClr val="13233F"/>
                </a:solidFill>
                <a:latin typeface="微软雅黑" pitchFamily="34" charset="0"/>
                <a:ea typeface="微软雅黑" pitchFamily="34" charset="-122"/>
                <a:cs typeface="微软雅黑" pitchFamily="34" charset="-120"/>
              </a:rPr>
              <a:t>三、坚持担当精神，强化法律监督</a:t>
            </a:r>
            <a:endParaRPr lang="en-US" sz="1100" dirty="0"/>
          </a:p>
        </p:txBody>
      </p:sp>
      <p:sp>
        <p:nvSpPr>
          <p:cNvPr id="18" name="Text 13"/>
          <p:cNvSpPr/>
          <p:nvPr/>
        </p:nvSpPr>
        <p:spPr>
          <a:xfrm>
            <a:off x="1536192" y="3892741"/>
            <a:ext cx="9832543" cy="331470"/>
          </a:xfrm>
          <a:prstGeom prst="rect">
            <a:avLst/>
          </a:prstGeom>
          <a:noFill/>
          <a:ln/>
        </p:spPr>
        <p:txBody>
          <a:bodyPr wrap="square" lIns="0" tIns="0" rIns="0" bIns="0" rtlCol="0" anchor="t"/>
          <a:lstStyle/>
          <a:p>
            <a:pPr indent="0" marL="0">
              <a:lnSpc>
                <a:spcPts val="1305"/>
              </a:lnSpc>
              <a:buNone/>
            </a:pPr>
            <a:r>
              <a:rPr lang="en-US" sz="900" dirty="0">
                <a:solidFill>
                  <a:srgbClr val="32404F"/>
                </a:solidFill>
                <a:latin typeface="微软雅黑" pitchFamily="34" charset="0"/>
                <a:ea typeface="微软雅黑" pitchFamily="34" charset="-122"/>
                <a:cs typeface="微软雅黑" pitchFamily="34" charset="-120"/>
              </a:rPr>
              <a:t>2016年新增的关键词。要求检察官敢于监督、善于监督——包括监督侦查机关的违法取证、监督法院的错误裁判、监督刑事执行活动。担当意味着在必要时站到“自己人”的对立面，这恰恰是最需要勇气的部分。</a:t>
            </a:r>
            <a:endParaRPr lang="en-US" sz="900" dirty="0"/>
          </a:p>
        </p:txBody>
      </p:sp>
      <p:sp>
        <p:nvSpPr>
          <p:cNvPr id="19" name="Shape 14"/>
          <p:cNvSpPr/>
          <p:nvPr/>
        </p:nvSpPr>
        <p:spPr>
          <a:xfrm>
            <a:off x="566928" y="4576572"/>
            <a:ext cx="11057839" cy="829818"/>
          </a:xfrm>
          <a:prstGeom prst="roundRect">
            <a:avLst>
              <a:gd name="adj" fmla="val 8815"/>
            </a:avLst>
          </a:prstGeom>
          <a:solidFill>
            <a:srgbClr val="FFFFFF"/>
          </a:solidFill>
          <a:ln w="12700">
            <a:solidFill>
              <a:srgbClr val="D5DBE5"/>
            </a:solidFill>
            <a:prstDash val="solid"/>
          </a:ln>
        </p:spPr>
      </p:sp>
      <p:sp>
        <p:nvSpPr>
          <p:cNvPr id="20" name="Shape 15"/>
          <p:cNvSpPr/>
          <p:nvPr/>
        </p:nvSpPr>
        <p:spPr>
          <a:xfrm>
            <a:off x="841248" y="4735449"/>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4889068"/>
            <a:ext cx="204826" cy="204826"/>
          </a:xfrm>
          <a:prstGeom prst="rect">
            <a:avLst/>
          </a:prstGeom>
        </p:spPr>
      </p:pic>
      <p:sp>
        <p:nvSpPr>
          <p:cNvPr id="22" name="Text 16"/>
          <p:cNvSpPr/>
          <p:nvPr/>
        </p:nvSpPr>
        <p:spPr>
          <a:xfrm>
            <a:off x="1536192" y="4782630"/>
            <a:ext cx="9832543" cy="178816"/>
          </a:xfrm>
          <a:prstGeom prst="rect">
            <a:avLst/>
          </a:prstGeom>
          <a:noFill/>
          <a:ln/>
        </p:spPr>
        <p:txBody>
          <a:bodyPr wrap="square" lIns="0" tIns="0" rIns="0" bIns="0" rtlCol="0" anchor="t"/>
          <a:lstStyle/>
          <a:p>
            <a:pPr indent="0" marL="0">
              <a:lnSpc>
                <a:spcPts val="1408"/>
              </a:lnSpc>
              <a:buNone/>
            </a:pPr>
            <a:r>
              <a:rPr lang="en-US" sz="1100" b="1" dirty="0">
                <a:solidFill>
                  <a:srgbClr val="13233F"/>
                </a:solidFill>
                <a:latin typeface="微软雅黑" pitchFamily="34" charset="0"/>
                <a:ea typeface="微软雅黑" pitchFamily="34" charset="-122"/>
                <a:cs typeface="微软雅黑" pitchFamily="34" charset="-120"/>
              </a:rPr>
              <a:t>四、坚持公正理念，维护法制统一</a:t>
            </a:r>
            <a:endParaRPr lang="en-US" sz="1100" dirty="0"/>
          </a:p>
        </p:txBody>
      </p:sp>
      <p:sp>
        <p:nvSpPr>
          <p:cNvPr id="23" name="Text 17"/>
          <p:cNvSpPr/>
          <p:nvPr/>
        </p:nvSpPr>
        <p:spPr>
          <a:xfrm>
            <a:off x="1536192" y="5034598"/>
            <a:ext cx="9832543" cy="165735"/>
          </a:xfrm>
          <a:prstGeom prst="rect">
            <a:avLst/>
          </a:prstGeom>
          <a:noFill/>
          <a:ln/>
        </p:spPr>
        <p:txBody>
          <a:bodyPr wrap="square" lIns="0" tIns="0" rIns="0" bIns="0" rtlCol="0" anchor="t"/>
          <a:lstStyle/>
          <a:p>
            <a:pPr indent="0" marL="0">
              <a:lnSpc>
                <a:spcPts val="1305"/>
              </a:lnSpc>
              <a:buNone/>
            </a:pPr>
            <a:r>
              <a:rPr lang="en-US" sz="900" dirty="0">
                <a:solidFill>
                  <a:srgbClr val="32404F"/>
                </a:solidFill>
                <a:latin typeface="微软雅黑" pitchFamily="34" charset="0"/>
                <a:ea typeface="微软雅黑" pitchFamily="34" charset="-122"/>
                <a:cs typeface="微软雅黑" pitchFamily="34" charset="-120"/>
              </a:rPr>
              <a:t>秉持客观公正立场，严格依法办案，不因当事人身份、地位、财富而区别对待；确保同案同处理，避免因地区、时期不同而标准不一。“维护法制统一”是法律监督机关定位的直接要求。</a:t>
            </a:r>
            <a:endParaRPr lang="en-US" sz="900" dirty="0"/>
          </a:p>
        </p:txBody>
      </p:sp>
      <p:sp>
        <p:nvSpPr>
          <p:cNvPr id="24" name="Shape 18"/>
          <p:cNvSpPr/>
          <p:nvPr/>
        </p:nvSpPr>
        <p:spPr>
          <a:xfrm>
            <a:off x="566928" y="5552694"/>
            <a:ext cx="11057839" cy="829818"/>
          </a:xfrm>
          <a:prstGeom prst="roundRect">
            <a:avLst>
              <a:gd name="adj" fmla="val 8815"/>
            </a:avLst>
          </a:prstGeom>
          <a:solidFill>
            <a:srgbClr val="F2F4F8"/>
          </a:solidFill>
          <a:ln w="12700">
            <a:solidFill>
              <a:srgbClr val="F2F4F8"/>
            </a:solidFill>
            <a:prstDash val="solid"/>
          </a:ln>
        </p:spPr>
      </p:sp>
      <p:sp>
        <p:nvSpPr>
          <p:cNvPr id="25" name="Shape 19"/>
          <p:cNvSpPr/>
          <p:nvPr/>
        </p:nvSpPr>
        <p:spPr>
          <a:xfrm>
            <a:off x="841248" y="5711571"/>
            <a:ext cx="512064" cy="512064"/>
          </a:xfrm>
          <a:prstGeom prst="ellipse">
            <a:avLst/>
          </a:prstGeom>
          <a:solidFill>
            <a:srgbClr val="13233F"/>
          </a:solidFill>
          <a:ln w="12700">
            <a:solidFill>
              <a:srgbClr val="13233F"/>
            </a:solidFill>
            <a:prstDash val="solid"/>
          </a:ln>
        </p:spPr>
      </p:sp>
      <p:pic>
        <p:nvPicPr>
          <p:cNvPr id="26" name="Image 4" descr="preencoded.png">    </p:cNvPr>
          <p:cNvPicPr>
            <a:picLocks noChangeAspect="1"/>
          </p:cNvPicPr>
          <p:nvPr/>
        </p:nvPicPr>
        <p:blipFill>
          <a:blip r:embed="rId5"/>
          <a:stretch>
            <a:fillRect/>
          </a:stretch>
        </p:blipFill>
        <p:spPr>
          <a:xfrm>
            <a:off x="994867" y="5865190"/>
            <a:ext cx="204826" cy="204826"/>
          </a:xfrm>
          <a:prstGeom prst="rect">
            <a:avLst/>
          </a:prstGeom>
        </p:spPr>
      </p:pic>
      <p:sp>
        <p:nvSpPr>
          <p:cNvPr id="27" name="Text 20"/>
          <p:cNvSpPr/>
          <p:nvPr/>
        </p:nvSpPr>
        <p:spPr>
          <a:xfrm>
            <a:off x="1536192" y="5758752"/>
            <a:ext cx="9832543" cy="178816"/>
          </a:xfrm>
          <a:prstGeom prst="rect">
            <a:avLst/>
          </a:prstGeom>
          <a:noFill/>
          <a:ln/>
        </p:spPr>
        <p:txBody>
          <a:bodyPr wrap="square" lIns="0" tIns="0" rIns="0" bIns="0" rtlCol="0" anchor="t"/>
          <a:lstStyle/>
          <a:p>
            <a:pPr indent="0" marL="0">
              <a:lnSpc>
                <a:spcPts val="1408"/>
              </a:lnSpc>
              <a:buNone/>
            </a:pPr>
            <a:r>
              <a:rPr lang="en-US" sz="1100" b="1" dirty="0">
                <a:solidFill>
                  <a:srgbClr val="13233F"/>
                </a:solidFill>
                <a:latin typeface="微软雅黑" pitchFamily="34" charset="0"/>
                <a:ea typeface="微软雅黑" pitchFamily="34" charset="-122"/>
                <a:cs typeface="微软雅黑" pitchFamily="34" charset="-120"/>
              </a:rPr>
              <a:t>五、坚持廉洁操守，自觉接受监督</a:t>
            </a:r>
            <a:endParaRPr lang="en-US" sz="1100" dirty="0"/>
          </a:p>
        </p:txBody>
      </p:sp>
      <p:sp>
        <p:nvSpPr>
          <p:cNvPr id="28" name="Text 21"/>
          <p:cNvSpPr/>
          <p:nvPr/>
        </p:nvSpPr>
        <p:spPr>
          <a:xfrm>
            <a:off x="1536192" y="6010720"/>
            <a:ext cx="9832543" cy="165735"/>
          </a:xfrm>
          <a:prstGeom prst="rect">
            <a:avLst/>
          </a:prstGeom>
          <a:noFill/>
          <a:ln/>
        </p:spPr>
        <p:txBody>
          <a:bodyPr wrap="square" lIns="0" tIns="0" rIns="0" bIns="0" rtlCol="0" anchor="t"/>
          <a:lstStyle/>
          <a:p>
            <a:pPr indent="0" marL="0">
              <a:lnSpc>
                <a:spcPts val="1305"/>
              </a:lnSpc>
              <a:buNone/>
            </a:pPr>
            <a:r>
              <a:rPr lang="en-US" sz="900" dirty="0">
                <a:solidFill>
                  <a:srgbClr val="32404F"/>
                </a:solidFill>
                <a:latin typeface="微软雅黑" pitchFamily="34" charset="0"/>
                <a:ea typeface="微软雅黑" pitchFamily="34" charset="-122"/>
                <a:cs typeface="微软雅黑" pitchFamily="34" charset="-120"/>
              </a:rPr>
              <a:t>不接受当事人及其委托人的请客送礼；不利用职务便利谋取私利；不违规过问、干预案件；约束近亲属与身边工作人员；依法接受人大监督、监察监督、社会监督与内部监督。</a:t>
            </a:r>
            <a:endParaRPr lang="en-US" sz="900" dirty="0"/>
          </a:p>
        </p:txBody>
      </p:sp>
      <p:sp>
        <p:nvSpPr>
          <p:cNvPr id="29" name="Text 22"/>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第11课时 · 04</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对照</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2009年试行版与2016年修订版的差异</a:t>
            </a:r>
            <a:endParaRPr lang="en-US" sz="2800" dirty="0"/>
          </a:p>
        </p:txBody>
      </p:sp>
      <p:sp>
        <p:nvSpPr>
          <p:cNvPr id="4" name="Shape 2"/>
          <p:cNvSpPr/>
          <p:nvPr/>
        </p:nvSpPr>
        <p:spPr>
          <a:xfrm>
            <a:off x="566928" y="2214245"/>
            <a:ext cx="5410048" cy="3270758"/>
          </a:xfrm>
          <a:prstGeom prst="roundRect">
            <a:avLst>
              <a:gd name="adj" fmla="val 2796"/>
            </a:avLst>
          </a:prstGeom>
          <a:solidFill>
            <a:srgbClr val="F2F4F8"/>
          </a:solidFill>
          <a:ln w="12700">
            <a:solidFill>
              <a:srgbClr val="F2F4F8"/>
            </a:solidFill>
            <a:prstDash val="solid"/>
          </a:ln>
        </p:spPr>
      </p:sp>
      <p:sp>
        <p:nvSpPr>
          <p:cNvPr id="5" name="Shape 3"/>
          <p:cNvSpPr/>
          <p:nvPr/>
        </p:nvSpPr>
        <p:spPr>
          <a:xfrm>
            <a:off x="841248" y="2470277"/>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470277"/>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2009年试行版</a:t>
            </a:r>
            <a:endParaRPr lang="en-US" sz="1600" dirty="0"/>
          </a:p>
        </p:txBody>
      </p:sp>
      <p:sp>
        <p:nvSpPr>
          <p:cNvPr id="7" name="Text 5"/>
          <p:cNvSpPr/>
          <p:nvPr/>
        </p:nvSpPr>
        <p:spPr>
          <a:xfrm>
            <a:off x="932688" y="3128645"/>
            <a:ext cx="4678528" cy="211861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关键词：忠诚、公正、清廉、文明。</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体例：分六章四十八条（总则、忠诚、公正、清廉、文明、附则）。</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特点：条文较多，内容详尽，兼具行为规范功能。</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2016年12月修订版印发时，试行版同时废止。</a:t>
            </a:r>
            <a:endParaRPr lang="en-US" sz="1450" dirty="0"/>
          </a:p>
        </p:txBody>
      </p:sp>
      <p:sp>
        <p:nvSpPr>
          <p:cNvPr id="8" name="Shape 6"/>
          <p:cNvSpPr/>
          <p:nvPr/>
        </p:nvSpPr>
        <p:spPr>
          <a:xfrm>
            <a:off x="6214720" y="2214245"/>
            <a:ext cx="5410048" cy="3270758"/>
          </a:xfrm>
          <a:prstGeom prst="roundRect">
            <a:avLst>
              <a:gd name="adj" fmla="val 2796"/>
            </a:avLst>
          </a:prstGeom>
          <a:solidFill>
            <a:srgbClr val="F6F1E8"/>
          </a:solidFill>
          <a:ln w="12700">
            <a:solidFill>
              <a:srgbClr val="F6F1E8"/>
            </a:solidFill>
            <a:prstDash val="solid"/>
          </a:ln>
        </p:spPr>
      </p:sp>
      <p:sp>
        <p:nvSpPr>
          <p:cNvPr id="9" name="Shape 7"/>
          <p:cNvSpPr/>
          <p:nvPr/>
        </p:nvSpPr>
        <p:spPr>
          <a:xfrm>
            <a:off x="6489040" y="2470277"/>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470277"/>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2016年修订版</a:t>
            </a:r>
            <a:endParaRPr lang="en-US" sz="1600" dirty="0"/>
          </a:p>
        </p:txBody>
      </p:sp>
      <p:sp>
        <p:nvSpPr>
          <p:cNvPr id="11" name="Text 9"/>
          <p:cNvSpPr/>
          <p:nvPr/>
        </p:nvSpPr>
        <p:spPr>
          <a:xfrm>
            <a:off x="6580480" y="3128645"/>
            <a:ext cx="4678528" cy="211861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关键词：忠诚、为民、担当、公正、廉洁。</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体例：不分章节，仅五条，高度凝练。</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变化：新增“为民”与“担当”，删去“文明”（融入其他各项）。</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意义：“担当”的加入直接呼应法律监督职能的强化，包括公益诉讼等新职能的拓展。</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第11课时 · 05</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2</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检察官的义务与行为规范</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从《检察官法》的义务条款到具体的办案行为要求</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第11课时 · 06</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基本义务</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《检察官法》第十条：检察官的义务</a:t>
            </a:r>
            <a:endParaRPr lang="en-US" sz="2800" dirty="0"/>
          </a:p>
        </p:txBody>
      </p:sp>
      <p:sp>
        <p:nvSpPr>
          <p:cNvPr id="4" name="Shape 2"/>
          <p:cNvSpPr/>
          <p:nvPr/>
        </p:nvSpPr>
        <p:spPr>
          <a:xfrm>
            <a:off x="566928" y="1816227"/>
            <a:ext cx="11057839" cy="2452116"/>
          </a:xfrm>
          <a:prstGeom prst="roundRect">
            <a:avLst>
              <a:gd name="adj" fmla="val 3729"/>
            </a:avLst>
          </a:prstGeom>
          <a:solidFill>
            <a:srgbClr val="F6F1E8"/>
          </a:solidFill>
          <a:ln w="12700">
            <a:solidFill>
              <a:srgbClr val="F6F1E8"/>
            </a:solidFill>
            <a:prstDash val="solid"/>
          </a:ln>
        </p:spPr>
      </p:sp>
      <p:sp>
        <p:nvSpPr>
          <p:cNvPr id="5" name="Shape 3"/>
          <p:cNvSpPr/>
          <p:nvPr/>
        </p:nvSpPr>
        <p:spPr>
          <a:xfrm>
            <a:off x="877824" y="2053971"/>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2053971"/>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2035683"/>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《中华人民共和国检察官法》第十条</a:t>
            </a:r>
            <a:endParaRPr lang="en-US" sz="1500" dirty="0"/>
          </a:p>
        </p:txBody>
      </p:sp>
      <p:sp>
        <p:nvSpPr>
          <p:cNvPr id="8" name="Text 6"/>
          <p:cNvSpPr/>
          <p:nvPr/>
        </p:nvSpPr>
        <p:spPr>
          <a:xfrm>
            <a:off x="960120" y="2456307"/>
            <a:ext cx="10271455" cy="1592580"/>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检察官应当履行下列义务：</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（一）严格遵守宪法和法律；</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（二）秉公办案，不得徇私枉法；</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（三）依法保障诉讼参与人的诉讼权利；</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（四）维护国家利益、社会公共利益，维护个人和组织的合法权益；</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（五）保守国家秘密和检察工作秘密，对履行职责中知悉的商业秘密和个人隐私予以保密；</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（六）依法接受法律监督和人民群众监督；</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（七）法律规定的其他义务。</a:t>
            </a:r>
            <a:endParaRPr lang="en-US" sz="1550" dirty="0"/>
          </a:p>
        </p:txBody>
      </p:sp>
      <p:sp>
        <p:nvSpPr>
          <p:cNvPr id="9" name="Shape 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0" name="Text 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请与《法官法》第十条对照：两条结构完全平行，仅第（二）项表述略有不同（法官法为“依法履行审判职责，秉公办案，不得徇私枉法”）。这种平行结构说明：法官与检察官虽角色不同，但作为司法人员的基本义务是共通的——守法、公正、保障权利、维护公益、保密、接受监督。</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第11课时 · 07</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办案行为</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四个关键办案环节的伦理要求</a:t>
            </a:r>
            <a:endParaRPr lang="en-US" sz="2800" dirty="0"/>
          </a:p>
        </p:txBody>
      </p:sp>
      <p:sp>
        <p:nvSpPr>
          <p:cNvPr id="4" name="Shape 2"/>
          <p:cNvSpPr/>
          <p:nvPr/>
        </p:nvSpPr>
        <p:spPr>
          <a:xfrm>
            <a:off x="566928" y="1316736"/>
            <a:ext cx="5410048" cy="2423160"/>
          </a:xfrm>
          <a:prstGeom prst="roundRect">
            <a:avLst>
              <a:gd name="adj" fmla="val 3774"/>
            </a:avLst>
          </a:prstGeom>
          <a:solidFill>
            <a:srgbClr val="F2F4F8"/>
          </a:solidFill>
          <a:ln w="12700">
            <a:solidFill>
              <a:srgbClr val="F2F4F8"/>
            </a:solidFill>
            <a:prstDash val="solid"/>
          </a:ln>
        </p:spPr>
      </p:sp>
      <p:sp>
        <p:nvSpPr>
          <p:cNvPr id="5" name="Shape 3"/>
          <p:cNvSpPr/>
          <p:nvPr/>
        </p:nvSpPr>
        <p:spPr>
          <a:xfrm>
            <a:off x="886968" y="1609344"/>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746504"/>
            <a:ext cx="182880" cy="182880"/>
          </a:xfrm>
          <a:prstGeom prst="rect">
            <a:avLst/>
          </a:prstGeom>
        </p:spPr>
      </p:pic>
      <p:sp>
        <p:nvSpPr>
          <p:cNvPr id="7" name="Text 4"/>
          <p:cNvSpPr/>
          <p:nvPr/>
        </p:nvSpPr>
        <p:spPr>
          <a:xfrm>
            <a:off x="886968" y="2231136"/>
            <a:ext cx="4769968" cy="254000"/>
          </a:xfrm>
          <a:prstGeom prst="rect">
            <a:avLst/>
          </a:prstGeom>
          <a:noFill/>
          <a:ln/>
        </p:spPr>
        <p:txBody>
          <a:bodyPr wrap="square" lIns="0" tIns="0" rIns="0" bIns="0" rtlCol="0" anchor="t"/>
          <a:lstStyle/>
          <a:p>
            <a:pPr indent="0" marL="0">
              <a:lnSpc>
                <a:spcPts val="2000"/>
              </a:lnSpc>
              <a:buNone/>
            </a:pPr>
            <a:r>
              <a:rPr lang="en-US" sz="1600" b="1" dirty="0">
                <a:solidFill>
                  <a:srgbClr val="13233F"/>
                </a:solidFill>
                <a:latin typeface="微软雅黑" pitchFamily="34" charset="0"/>
                <a:ea typeface="微软雅黑" pitchFamily="34" charset="-122"/>
                <a:cs typeface="微软雅黑" pitchFamily="34" charset="-120"/>
              </a:rPr>
              <a:t>审查逮捕</a:t>
            </a:r>
            <a:endParaRPr lang="en-US" sz="1600" dirty="0"/>
          </a:p>
        </p:txBody>
      </p:sp>
      <p:sp>
        <p:nvSpPr>
          <p:cNvPr id="8" name="Text 5"/>
          <p:cNvSpPr/>
          <p:nvPr/>
        </p:nvSpPr>
        <p:spPr>
          <a:xfrm>
            <a:off x="886968" y="2613152"/>
            <a:ext cx="4769968" cy="907288"/>
          </a:xfrm>
          <a:prstGeom prst="rect">
            <a:avLst/>
          </a:prstGeom>
          <a:noFill/>
          <a:ln/>
        </p:spPr>
        <p:txBody>
          <a:bodyPr wrap="square" lIns="0" tIns="0" rIns="0" bIns="0" rtlCol="0" anchor="t"/>
          <a:lstStyle/>
          <a:p>
            <a:pPr indent="0" marL="0">
              <a:lnSpc>
                <a:spcPts val="2025"/>
              </a:lnSpc>
              <a:buNone/>
            </a:pPr>
            <a:r>
              <a:rPr lang="en-US" sz="1350" dirty="0">
                <a:solidFill>
                  <a:srgbClr val="32404F"/>
                </a:solidFill>
                <a:latin typeface="微软雅黑" pitchFamily="34" charset="0"/>
                <a:ea typeface="微软雅黑" pitchFamily="34" charset="-122"/>
                <a:cs typeface="微软雅黑" pitchFamily="34" charset="-120"/>
              </a:rPr>
              <a:t>严格把握逮捕的社会危险性条件，能不捕的不捕；开展羁押必要性审查，对不需要继续羁押的建议释放或变更强制措施；不得以捕促供、以捕代侦。</a:t>
            </a:r>
            <a:endParaRPr lang="en-US" sz="1350" dirty="0"/>
          </a:p>
        </p:txBody>
      </p:sp>
      <p:sp>
        <p:nvSpPr>
          <p:cNvPr id="9" name="Shape 6"/>
          <p:cNvSpPr/>
          <p:nvPr/>
        </p:nvSpPr>
        <p:spPr>
          <a:xfrm>
            <a:off x="6214720" y="1316736"/>
            <a:ext cx="5410048" cy="2423160"/>
          </a:xfrm>
          <a:prstGeom prst="roundRect">
            <a:avLst>
              <a:gd name="adj" fmla="val 3774"/>
            </a:avLst>
          </a:prstGeom>
          <a:solidFill>
            <a:srgbClr val="F6F1E8"/>
          </a:solidFill>
          <a:ln w="12700">
            <a:solidFill>
              <a:srgbClr val="F6F1E8"/>
            </a:solidFill>
            <a:prstDash val="solid"/>
          </a:ln>
        </p:spPr>
      </p:sp>
      <p:sp>
        <p:nvSpPr>
          <p:cNvPr id="10" name="Shape 7"/>
          <p:cNvSpPr/>
          <p:nvPr/>
        </p:nvSpPr>
        <p:spPr>
          <a:xfrm>
            <a:off x="6534760" y="1609344"/>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6671920" y="1746504"/>
            <a:ext cx="182880" cy="182880"/>
          </a:xfrm>
          <a:prstGeom prst="rect">
            <a:avLst/>
          </a:prstGeom>
        </p:spPr>
      </p:pic>
      <p:sp>
        <p:nvSpPr>
          <p:cNvPr id="12" name="Text 8"/>
          <p:cNvSpPr/>
          <p:nvPr/>
        </p:nvSpPr>
        <p:spPr>
          <a:xfrm>
            <a:off x="6534760" y="2231136"/>
            <a:ext cx="4769968" cy="254000"/>
          </a:xfrm>
          <a:prstGeom prst="rect">
            <a:avLst/>
          </a:prstGeom>
          <a:noFill/>
          <a:ln/>
        </p:spPr>
        <p:txBody>
          <a:bodyPr wrap="square" lIns="0" tIns="0" rIns="0" bIns="0" rtlCol="0" anchor="t"/>
          <a:lstStyle/>
          <a:p>
            <a:pPr indent="0" marL="0">
              <a:lnSpc>
                <a:spcPts val="2000"/>
              </a:lnSpc>
              <a:buNone/>
            </a:pPr>
            <a:r>
              <a:rPr lang="en-US" sz="1600" b="1" dirty="0">
                <a:solidFill>
                  <a:srgbClr val="13233F"/>
                </a:solidFill>
                <a:latin typeface="微软雅黑" pitchFamily="34" charset="0"/>
                <a:ea typeface="微软雅黑" pitchFamily="34" charset="-122"/>
                <a:cs typeface="微软雅黑" pitchFamily="34" charset="-120"/>
              </a:rPr>
              <a:t>审查起诉</a:t>
            </a:r>
            <a:endParaRPr lang="en-US" sz="1600" dirty="0"/>
          </a:p>
        </p:txBody>
      </p:sp>
      <p:sp>
        <p:nvSpPr>
          <p:cNvPr id="13" name="Text 9"/>
          <p:cNvSpPr/>
          <p:nvPr/>
        </p:nvSpPr>
        <p:spPr>
          <a:xfrm>
            <a:off x="6534760" y="2613152"/>
            <a:ext cx="4769968" cy="907288"/>
          </a:xfrm>
          <a:prstGeom prst="rect">
            <a:avLst/>
          </a:prstGeom>
          <a:noFill/>
          <a:ln/>
        </p:spPr>
        <p:txBody>
          <a:bodyPr wrap="square" lIns="0" tIns="0" rIns="0" bIns="0" rtlCol="0" anchor="t"/>
          <a:lstStyle/>
          <a:p>
            <a:pPr indent="0" marL="0">
              <a:lnSpc>
                <a:spcPts val="2025"/>
              </a:lnSpc>
              <a:buNone/>
            </a:pPr>
            <a:r>
              <a:rPr lang="en-US" sz="1350" dirty="0">
                <a:solidFill>
                  <a:srgbClr val="32404F"/>
                </a:solidFill>
                <a:latin typeface="微软雅黑" pitchFamily="34" charset="0"/>
                <a:ea typeface="微软雅黑" pitchFamily="34" charset="-122"/>
                <a:cs typeface="微软雅黑" pitchFamily="34" charset="-120"/>
              </a:rPr>
              <a:t>全面客观审查证据，讯问犯罪嫌疑人并听取辩解；听取辩护人、被害人及其代理人意见并附卷；不符合起诉条件的依法不起诉；不得久拖不决或反复退回补充侦查。</a:t>
            </a:r>
            <a:endParaRPr lang="en-US" sz="1350" dirty="0"/>
          </a:p>
        </p:txBody>
      </p:sp>
      <p:sp>
        <p:nvSpPr>
          <p:cNvPr id="14" name="Shape 10"/>
          <p:cNvSpPr/>
          <p:nvPr/>
        </p:nvSpPr>
        <p:spPr>
          <a:xfrm>
            <a:off x="566928" y="3959352"/>
            <a:ext cx="5410048" cy="2423160"/>
          </a:xfrm>
          <a:prstGeom prst="roundRect">
            <a:avLst>
              <a:gd name="adj" fmla="val 3774"/>
            </a:avLst>
          </a:prstGeom>
          <a:solidFill>
            <a:srgbClr val="ECF3F2"/>
          </a:solidFill>
          <a:ln w="12700">
            <a:solidFill>
              <a:srgbClr val="ECF3F2"/>
            </a:solidFill>
            <a:prstDash val="solid"/>
          </a:ln>
        </p:spPr>
      </p:sp>
      <p:sp>
        <p:nvSpPr>
          <p:cNvPr id="15" name="Shape 11"/>
          <p:cNvSpPr/>
          <p:nvPr/>
        </p:nvSpPr>
        <p:spPr>
          <a:xfrm>
            <a:off x="886968" y="4251960"/>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1024128" y="4389120"/>
            <a:ext cx="182880" cy="182880"/>
          </a:xfrm>
          <a:prstGeom prst="rect">
            <a:avLst/>
          </a:prstGeom>
        </p:spPr>
      </p:pic>
      <p:sp>
        <p:nvSpPr>
          <p:cNvPr id="17" name="Text 12"/>
          <p:cNvSpPr/>
          <p:nvPr/>
        </p:nvSpPr>
        <p:spPr>
          <a:xfrm>
            <a:off x="886968" y="4873752"/>
            <a:ext cx="4769968" cy="254000"/>
          </a:xfrm>
          <a:prstGeom prst="rect">
            <a:avLst/>
          </a:prstGeom>
          <a:noFill/>
          <a:ln/>
        </p:spPr>
        <p:txBody>
          <a:bodyPr wrap="square" lIns="0" tIns="0" rIns="0" bIns="0" rtlCol="0" anchor="t"/>
          <a:lstStyle/>
          <a:p>
            <a:pPr indent="0" marL="0">
              <a:lnSpc>
                <a:spcPts val="2000"/>
              </a:lnSpc>
              <a:buNone/>
            </a:pPr>
            <a:r>
              <a:rPr lang="en-US" sz="1600" b="1" dirty="0">
                <a:solidFill>
                  <a:srgbClr val="13233F"/>
                </a:solidFill>
                <a:latin typeface="微软雅黑" pitchFamily="34" charset="0"/>
                <a:ea typeface="微软雅黑" pitchFamily="34" charset="-122"/>
                <a:cs typeface="微软雅黑" pitchFamily="34" charset="-120"/>
              </a:rPr>
              <a:t>出庭公诉</a:t>
            </a:r>
            <a:endParaRPr lang="en-US" sz="1600" dirty="0"/>
          </a:p>
        </p:txBody>
      </p:sp>
      <p:sp>
        <p:nvSpPr>
          <p:cNvPr id="18" name="Text 13"/>
          <p:cNvSpPr/>
          <p:nvPr/>
        </p:nvSpPr>
        <p:spPr>
          <a:xfrm>
            <a:off x="886968" y="5255768"/>
            <a:ext cx="4769968" cy="907288"/>
          </a:xfrm>
          <a:prstGeom prst="rect">
            <a:avLst/>
          </a:prstGeom>
          <a:noFill/>
          <a:ln/>
        </p:spPr>
        <p:txBody>
          <a:bodyPr wrap="square" lIns="0" tIns="0" rIns="0" bIns="0" rtlCol="0" anchor="t"/>
          <a:lstStyle/>
          <a:p>
            <a:pPr indent="0" marL="0">
              <a:lnSpc>
                <a:spcPts val="2025"/>
              </a:lnSpc>
              <a:buNone/>
            </a:pPr>
            <a:r>
              <a:rPr lang="en-US" sz="1350" dirty="0">
                <a:solidFill>
                  <a:srgbClr val="32404F"/>
                </a:solidFill>
                <a:latin typeface="微软雅黑" pitchFamily="34" charset="0"/>
                <a:ea typeface="微软雅黑" pitchFamily="34" charset="-122"/>
                <a:cs typeface="微软雅黑" pitchFamily="34" charset="-120"/>
              </a:rPr>
              <a:t>客观全面地举证质证，不得隐瞒有利于被告人的证据；发表公诉意见应当依据事实和法律，不得进行人身攻击或情绪化表达；发现指控证据不足的，应当依法变更或者撤回起诉。</a:t>
            </a:r>
            <a:endParaRPr lang="en-US" sz="1350" dirty="0"/>
          </a:p>
        </p:txBody>
      </p:sp>
      <p:sp>
        <p:nvSpPr>
          <p:cNvPr id="19" name="Shape 14"/>
          <p:cNvSpPr/>
          <p:nvPr/>
        </p:nvSpPr>
        <p:spPr>
          <a:xfrm>
            <a:off x="6214720" y="3959352"/>
            <a:ext cx="5410048" cy="2423160"/>
          </a:xfrm>
          <a:prstGeom prst="roundRect">
            <a:avLst>
              <a:gd name="adj" fmla="val 3774"/>
            </a:avLst>
          </a:prstGeom>
          <a:solidFill>
            <a:srgbClr val="F8EFF0"/>
          </a:solidFill>
          <a:ln w="12700">
            <a:solidFill>
              <a:srgbClr val="F8EFF0"/>
            </a:solidFill>
            <a:prstDash val="solid"/>
          </a:ln>
        </p:spPr>
      </p:sp>
      <p:sp>
        <p:nvSpPr>
          <p:cNvPr id="20" name="Shape 15"/>
          <p:cNvSpPr/>
          <p:nvPr/>
        </p:nvSpPr>
        <p:spPr>
          <a:xfrm>
            <a:off x="6534760" y="4251960"/>
            <a:ext cx="457200" cy="457200"/>
          </a:xfrm>
          <a:prstGeom prst="ellipse">
            <a:avLst/>
          </a:prstGeom>
          <a:solidFill>
            <a:srgbClr val="8E2C3B"/>
          </a:solidFill>
          <a:ln w="12700">
            <a:solidFill>
              <a:srgbClr val="8E2C3B"/>
            </a:solidFill>
            <a:prstDash val="solid"/>
          </a:ln>
        </p:spPr>
      </p:sp>
      <p:pic>
        <p:nvPicPr>
          <p:cNvPr id="21" name="Image 3" descr="preencoded.png">    </p:cNvPr>
          <p:cNvPicPr>
            <a:picLocks noChangeAspect="1"/>
          </p:cNvPicPr>
          <p:nvPr/>
        </p:nvPicPr>
        <p:blipFill>
          <a:blip r:embed="rId4"/>
          <a:stretch>
            <a:fillRect/>
          </a:stretch>
        </p:blipFill>
        <p:spPr>
          <a:xfrm>
            <a:off x="6671920" y="4389120"/>
            <a:ext cx="182880" cy="182880"/>
          </a:xfrm>
          <a:prstGeom prst="rect">
            <a:avLst/>
          </a:prstGeom>
        </p:spPr>
      </p:pic>
      <p:sp>
        <p:nvSpPr>
          <p:cNvPr id="22" name="Text 16"/>
          <p:cNvSpPr/>
          <p:nvPr/>
        </p:nvSpPr>
        <p:spPr>
          <a:xfrm>
            <a:off x="6534760" y="4873752"/>
            <a:ext cx="4769968" cy="254000"/>
          </a:xfrm>
          <a:prstGeom prst="rect">
            <a:avLst/>
          </a:prstGeom>
          <a:noFill/>
          <a:ln/>
        </p:spPr>
        <p:txBody>
          <a:bodyPr wrap="square" lIns="0" tIns="0" rIns="0" bIns="0" rtlCol="0" anchor="t"/>
          <a:lstStyle/>
          <a:p>
            <a:pPr indent="0" marL="0">
              <a:lnSpc>
                <a:spcPts val="2000"/>
              </a:lnSpc>
              <a:buNone/>
            </a:pPr>
            <a:r>
              <a:rPr lang="en-US" sz="1600" b="1" dirty="0">
                <a:solidFill>
                  <a:srgbClr val="13233F"/>
                </a:solidFill>
                <a:latin typeface="微软雅黑" pitchFamily="34" charset="0"/>
                <a:ea typeface="微软雅黑" pitchFamily="34" charset="-122"/>
                <a:cs typeface="微软雅黑" pitchFamily="34" charset="-120"/>
              </a:rPr>
              <a:t>诉讼监督</a:t>
            </a:r>
            <a:endParaRPr lang="en-US" sz="1600" dirty="0"/>
          </a:p>
        </p:txBody>
      </p:sp>
      <p:sp>
        <p:nvSpPr>
          <p:cNvPr id="23" name="Text 17"/>
          <p:cNvSpPr/>
          <p:nvPr/>
        </p:nvSpPr>
        <p:spPr>
          <a:xfrm>
            <a:off x="6534760" y="5255768"/>
            <a:ext cx="4769968" cy="907288"/>
          </a:xfrm>
          <a:prstGeom prst="rect">
            <a:avLst/>
          </a:prstGeom>
          <a:noFill/>
          <a:ln/>
        </p:spPr>
        <p:txBody>
          <a:bodyPr wrap="square" lIns="0" tIns="0" rIns="0" bIns="0" rtlCol="0" anchor="t"/>
          <a:lstStyle/>
          <a:p>
            <a:pPr indent="0" marL="0">
              <a:lnSpc>
                <a:spcPts val="2025"/>
              </a:lnSpc>
              <a:buNone/>
            </a:pPr>
            <a:r>
              <a:rPr lang="en-US" sz="1350" dirty="0">
                <a:solidFill>
                  <a:srgbClr val="32404F"/>
                </a:solidFill>
                <a:latin typeface="微软雅黑" pitchFamily="34" charset="0"/>
                <a:ea typeface="微软雅黑" pitchFamily="34" charset="-122"/>
                <a:cs typeface="微软雅黑" pitchFamily="34" charset="-120"/>
              </a:rPr>
              <a:t>对侦查活动、审判活动的违法情形依法提出纠正意见；对确有错误的生效裁判依法抗诉；对刑事执行中的违法情形提出检察建议。监督应当依法定方式进行，不得以监督之名不当干预。</a:t>
            </a:r>
            <a:endParaRPr lang="en-US" sz="13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第11课时 · 08</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3</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兼职禁止、任职回避与离任回避</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与《法官法》平行的三道防线，但条号相应顺延</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第11课时 · 09</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兼职与回避</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《检察官法》的三条禁止性规定</a:t>
            </a:r>
            <a:endParaRPr lang="en-US" sz="2800" dirty="0"/>
          </a:p>
        </p:txBody>
      </p:sp>
      <p:sp>
        <p:nvSpPr>
          <p:cNvPr id="4" name="Shape 2"/>
          <p:cNvSpPr/>
          <p:nvPr/>
        </p:nvSpPr>
        <p:spPr>
          <a:xfrm>
            <a:off x="566928" y="1316736"/>
            <a:ext cx="11057839" cy="1122426"/>
          </a:xfrm>
          <a:prstGeom prst="roundRect">
            <a:avLst>
              <a:gd name="adj" fmla="val 8147"/>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《检察官法》第二十三条（兼职禁止）</a:t>
            </a:r>
            <a:endParaRPr lang="en-US" sz="1500" dirty="0"/>
          </a:p>
        </p:txBody>
      </p:sp>
      <p:sp>
        <p:nvSpPr>
          <p:cNvPr id="8" name="Text 6"/>
          <p:cNvSpPr/>
          <p:nvPr/>
        </p:nvSpPr>
        <p:spPr>
          <a:xfrm>
            <a:off x="960120" y="1956816"/>
            <a:ext cx="10271455" cy="262890"/>
          </a:xfrm>
          <a:prstGeom prst="rect">
            <a:avLst/>
          </a:prstGeom>
          <a:noFill/>
          <a:ln/>
        </p:spPr>
        <p:txBody>
          <a:bodyPr wrap="square" lIns="0" tIns="0" rIns="0" bIns="0" rtlCol="0" anchor="t"/>
          <a:lstStyle/>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检察官不得兼任人民代表大会常务委员会的组成人员，不得兼任行政机关、监察机关、审判机关的职务，不得兼任企业或者其他营利性组织、事业单位的职务，不得兼任律师、仲裁员和公证员。</a:t>
            </a:r>
            <a:endParaRPr lang="en-US" sz="850" dirty="0"/>
          </a:p>
        </p:txBody>
      </p:sp>
      <p:sp>
        <p:nvSpPr>
          <p:cNvPr id="9" name="Shape 7"/>
          <p:cNvSpPr/>
          <p:nvPr/>
        </p:nvSpPr>
        <p:spPr>
          <a:xfrm>
            <a:off x="566928" y="2622042"/>
            <a:ext cx="11057839" cy="1293876"/>
          </a:xfrm>
          <a:prstGeom prst="roundRect">
            <a:avLst>
              <a:gd name="adj" fmla="val 7067"/>
            </a:avLst>
          </a:prstGeom>
          <a:solidFill>
            <a:srgbClr val="F6F1E8"/>
          </a:solidFill>
          <a:ln w="12700">
            <a:solidFill>
              <a:srgbClr val="F6F1E8"/>
            </a:solidFill>
            <a:prstDash val="solid"/>
          </a:ln>
        </p:spPr>
      </p:sp>
      <p:sp>
        <p:nvSpPr>
          <p:cNvPr id="10" name="Shape 8"/>
          <p:cNvSpPr/>
          <p:nvPr/>
        </p:nvSpPr>
        <p:spPr>
          <a:xfrm>
            <a:off x="877824" y="2859786"/>
            <a:ext cx="566928" cy="274320"/>
          </a:xfrm>
          <a:prstGeom prst="roundRect">
            <a:avLst>
              <a:gd name="adj" fmla="val 50000"/>
            </a:avLst>
          </a:prstGeom>
          <a:solidFill>
            <a:srgbClr val="B08D57"/>
          </a:solidFill>
          <a:ln w="12700">
            <a:solidFill>
              <a:srgbClr val="B08D57"/>
            </a:solidFill>
            <a:prstDash val="solid"/>
          </a:ln>
        </p:spPr>
      </p:sp>
      <p:sp>
        <p:nvSpPr>
          <p:cNvPr id="11" name="Text 9"/>
          <p:cNvSpPr/>
          <p:nvPr/>
        </p:nvSpPr>
        <p:spPr>
          <a:xfrm>
            <a:off x="877824" y="2859786"/>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2" name="Text 10"/>
          <p:cNvSpPr/>
          <p:nvPr/>
        </p:nvSpPr>
        <p:spPr>
          <a:xfrm>
            <a:off x="1554480" y="2841498"/>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《检察官法》第二十五条（近亲属从事律师职业的任职回避）</a:t>
            </a:r>
            <a:endParaRPr lang="en-US" sz="1500" dirty="0"/>
          </a:p>
        </p:txBody>
      </p:sp>
      <p:sp>
        <p:nvSpPr>
          <p:cNvPr id="13" name="Text 11"/>
          <p:cNvSpPr/>
          <p:nvPr/>
        </p:nvSpPr>
        <p:spPr>
          <a:xfrm>
            <a:off x="960120" y="3262122"/>
            <a:ext cx="10271455" cy="434340"/>
          </a:xfrm>
          <a:prstGeom prst="rect">
            <a:avLst/>
          </a:prstGeom>
          <a:noFill/>
          <a:ln/>
        </p:spPr>
        <p:txBody>
          <a:bodyPr wrap="square" lIns="0" tIns="0" rIns="0" bIns="0" rtlCol="0" anchor="t"/>
          <a:lstStyle/>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检察官的配偶、父母、子女有下列情形之一的，检察官应当实行任职回避：</a:t>
            </a:r>
            <a:endParaRPr lang="en-US" sz="850" dirty="0"/>
          </a:p>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（一）担任该检察官所任职人民检察院辖区内律师事务所的合伙人或者设立人的；</a:t>
            </a:r>
            <a:endParaRPr lang="en-US" sz="850" dirty="0"/>
          </a:p>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（二）在该检察官所任职人民检察院辖区内以律师身份担任诉讼代理人、辩护人，或者为诉讼案件当事人提供其他有偿法律服务的。</a:t>
            </a:r>
            <a:endParaRPr lang="en-US" sz="850" dirty="0"/>
          </a:p>
        </p:txBody>
      </p:sp>
      <p:sp>
        <p:nvSpPr>
          <p:cNvPr id="14" name="Shape 12"/>
          <p:cNvSpPr/>
          <p:nvPr/>
        </p:nvSpPr>
        <p:spPr>
          <a:xfrm>
            <a:off x="566928" y="4098798"/>
            <a:ext cx="11057839" cy="1293876"/>
          </a:xfrm>
          <a:prstGeom prst="roundRect">
            <a:avLst>
              <a:gd name="adj" fmla="val 7067"/>
            </a:avLst>
          </a:prstGeom>
          <a:solidFill>
            <a:srgbClr val="F6F1E8"/>
          </a:solidFill>
          <a:ln w="12700">
            <a:solidFill>
              <a:srgbClr val="F6F1E8"/>
            </a:solidFill>
            <a:prstDash val="solid"/>
          </a:ln>
        </p:spPr>
      </p:sp>
      <p:sp>
        <p:nvSpPr>
          <p:cNvPr id="15" name="Shape 13"/>
          <p:cNvSpPr/>
          <p:nvPr/>
        </p:nvSpPr>
        <p:spPr>
          <a:xfrm>
            <a:off x="877824" y="4336542"/>
            <a:ext cx="566928" cy="274320"/>
          </a:xfrm>
          <a:prstGeom prst="roundRect">
            <a:avLst>
              <a:gd name="adj" fmla="val 50000"/>
            </a:avLst>
          </a:prstGeom>
          <a:solidFill>
            <a:srgbClr val="B08D57"/>
          </a:solidFill>
          <a:ln w="12700">
            <a:solidFill>
              <a:srgbClr val="B08D57"/>
            </a:solidFill>
            <a:prstDash val="solid"/>
          </a:ln>
        </p:spPr>
      </p:sp>
      <p:sp>
        <p:nvSpPr>
          <p:cNvPr id="16" name="Text 14"/>
          <p:cNvSpPr/>
          <p:nvPr/>
        </p:nvSpPr>
        <p:spPr>
          <a:xfrm>
            <a:off x="877824" y="4336542"/>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7" name="Text 15"/>
          <p:cNvSpPr/>
          <p:nvPr/>
        </p:nvSpPr>
        <p:spPr>
          <a:xfrm>
            <a:off x="1554480" y="4318254"/>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《检察官法》第三十七条（离任回避）</a:t>
            </a:r>
            <a:endParaRPr lang="en-US" sz="1500" dirty="0"/>
          </a:p>
        </p:txBody>
      </p:sp>
      <p:sp>
        <p:nvSpPr>
          <p:cNvPr id="18" name="Text 16"/>
          <p:cNvSpPr/>
          <p:nvPr/>
        </p:nvSpPr>
        <p:spPr>
          <a:xfrm>
            <a:off x="960120" y="4738878"/>
            <a:ext cx="10271455" cy="434340"/>
          </a:xfrm>
          <a:prstGeom prst="rect">
            <a:avLst/>
          </a:prstGeom>
          <a:noFill/>
          <a:ln/>
        </p:spPr>
        <p:txBody>
          <a:bodyPr wrap="square" lIns="0" tIns="0" rIns="0" bIns="0" rtlCol="0" anchor="t"/>
          <a:lstStyle/>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检察官从人民检察院离任后二年内，不得以律师身份担任诉讼代理人或者辩护人。</a:t>
            </a:r>
            <a:endParaRPr lang="en-US" sz="850" dirty="0"/>
          </a:p>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检察官从人民检察院离任后，不得担任原任职检察院办理案件的诉讼代理人或者辩护人，但是作为当事人的监护人或者近亲属代理诉讼或者进行辩护的除外。</a:t>
            </a:r>
            <a:endParaRPr lang="en-US" sz="850" dirty="0"/>
          </a:p>
          <a:p>
            <a:pPr indent="0" marL="0">
              <a:lnSpc>
                <a:spcPts val="1275"/>
              </a:lnSpc>
              <a:buNone/>
            </a:pPr>
            <a:r>
              <a:rPr lang="en-US" sz="850" dirty="0">
                <a:solidFill>
                  <a:srgbClr val="32404F"/>
                </a:solidFill>
                <a:latin typeface="微软雅黑" pitchFamily="34" charset="0"/>
                <a:ea typeface="微软雅黑" pitchFamily="34" charset="-122"/>
                <a:cs typeface="微软雅黑" pitchFamily="34" charset="-120"/>
              </a:rPr>
              <a:t>检察官的配偶、父母、子女不得担任该检察官所任职检察院办理案件的诉讼代理人或者辩护人。</a:t>
            </a:r>
            <a:endParaRPr lang="en-US" sz="850" dirty="0"/>
          </a:p>
        </p:txBody>
      </p:sp>
      <p:sp>
        <p:nvSpPr>
          <p:cNvPr id="19" name="Shape 1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20" name="Text 1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21" name="Text 1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条号对照记忆法：《检察官法》相关条文较《法官法》后移一条——兼职禁止（法官法22 / 检察官法23）、亲属关系任职回避（23 / 24）、近亲属律师任职回避（24 / 25）、离任回避（36 / 37）、处分事由（46 / 47）、惩戒委员会（48 / 49）。差异源于《检察官法》在相应位置多出一条奖励规定。这是法考的高频陷阱。</a:t>
            </a:r>
            <a:endParaRPr lang="en-US" sz="1400" dirty="0"/>
          </a:p>
        </p:txBody>
      </p:sp>
      <p:sp>
        <p:nvSpPr>
          <p:cNvPr id="22" name="Text 2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第11课时 · 10</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4</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检察官与律师的交往规范</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既要保障律师执业权利，又要防止不正当交往</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第11课时 · 11</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两个方向</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保障与防范的双重要求</a:t>
            </a:r>
            <a:endParaRPr lang="en-US" sz="2800" dirty="0"/>
          </a:p>
        </p:txBody>
      </p:sp>
      <p:sp>
        <p:nvSpPr>
          <p:cNvPr id="4" name="Shape 2"/>
          <p:cNvSpPr/>
          <p:nvPr/>
        </p:nvSpPr>
        <p:spPr>
          <a:xfrm>
            <a:off x="566928" y="1610995"/>
            <a:ext cx="5410048" cy="4477258"/>
          </a:xfrm>
          <a:prstGeom prst="roundRect">
            <a:avLst>
              <a:gd name="adj" fmla="val 2042"/>
            </a:avLst>
          </a:prstGeom>
          <a:solidFill>
            <a:srgbClr val="F2F4F8"/>
          </a:solidFill>
          <a:ln w="12700">
            <a:solidFill>
              <a:srgbClr val="F2F4F8"/>
            </a:solidFill>
            <a:prstDash val="solid"/>
          </a:ln>
        </p:spPr>
      </p:sp>
      <p:sp>
        <p:nvSpPr>
          <p:cNvPr id="5" name="Shape 3"/>
          <p:cNvSpPr/>
          <p:nvPr/>
        </p:nvSpPr>
        <p:spPr>
          <a:xfrm>
            <a:off x="841248" y="1867027"/>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1867027"/>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应当保障：律师执业权利</a:t>
            </a:r>
            <a:endParaRPr lang="en-US" sz="1600" dirty="0"/>
          </a:p>
        </p:txBody>
      </p:sp>
      <p:sp>
        <p:nvSpPr>
          <p:cNvPr id="7" name="Text 5"/>
          <p:cNvSpPr/>
          <p:nvPr/>
        </p:nvSpPr>
        <p:spPr>
          <a:xfrm>
            <a:off x="932688" y="2525395"/>
            <a:ext cx="4678528" cy="332511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依法保障辩护律师的会见权、阅卷权、调查取证权。</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听取辩护人、诉讼代理人的意见；辩护人提出书面意见的应当附卷。</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对律师提出的排除非法证据申请，应当依法审查并作出回应。</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建立便捷的沟通渠道，不得以任何形式刁难、拖延。</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依据：《关于律师作用的基本原则》、《刑事诉讼法》相关规定、保障律师执业权利的专门文件。</a:t>
            </a:r>
            <a:endParaRPr lang="en-US" sz="1450" dirty="0"/>
          </a:p>
        </p:txBody>
      </p:sp>
      <p:sp>
        <p:nvSpPr>
          <p:cNvPr id="8" name="Shape 6"/>
          <p:cNvSpPr/>
          <p:nvPr/>
        </p:nvSpPr>
        <p:spPr>
          <a:xfrm>
            <a:off x="6214720" y="1610995"/>
            <a:ext cx="5410048" cy="4477258"/>
          </a:xfrm>
          <a:prstGeom prst="roundRect">
            <a:avLst>
              <a:gd name="adj" fmla="val 2042"/>
            </a:avLst>
          </a:prstGeom>
          <a:solidFill>
            <a:srgbClr val="F6F1E8"/>
          </a:solidFill>
          <a:ln w="12700">
            <a:solidFill>
              <a:srgbClr val="F6F1E8"/>
            </a:solidFill>
            <a:prstDash val="solid"/>
          </a:ln>
        </p:spPr>
      </p:sp>
      <p:sp>
        <p:nvSpPr>
          <p:cNvPr id="9" name="Shape 7"/>
          <p:cNvSpPr/>
          <p:nvPr/>
        </p:nvSpPr>
        <p:spPr>
          <a:xfrm>
            <a:off x="6489040" y="1867027"/>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1867027"/>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应当防范：不正当交往</a:t>
            </a:r>
            <a:endParaRPr lang="en-US" sz="1600" dirty="0"/>
          </a:p>
        </p:txBody>
      </p:sp>
      <p:sp>
        <p:nvSpPr>
          <p:cNvPr id="11" name="Text 9"/>
          <p:cNvSpPr/>
          <p:nvPr/>
        </p:nvSpPr>
        <p:spPr>
          <a:xfrm>
            <a:off x="6580480" y="2525395"/>
            <a:ext cx="4678528" cy="332511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不得违反规定会见律师及其当事人；不得接受宴请、礼品、礼金。</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不得为当事人介绍律师，不得暗示或者要求当事人更换律师。</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不得与律师合伙经营或者存在利益输送关系。</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不得泄露办案秘密或者向律师透露不应知悉的信息。</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依据：2021年最高人民法院、最高人民检察院、司法部《关于进一步规范法院、检察院离任人员从事律师职业的意见》及“两高一部”关于禁止法官检察官与律师不正当交往的相关规定。</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第11课时 · 12</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判断标准</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正当交流与不正当交往的界分</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律师与检察官同属法律职业共同体，正常的业务交流与学术往来不仅允许，而且必要。关键在于划清界限。</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标准一（场合）：是否在办公场所、依法定程序进行？私下场合的案件沟通高度可疑。</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标准二（内容）：是否限于案件的法律适用与程序事项？涉及“结果安排”“关系疏通”的即属不正当。</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标准三（留痕）：是否作了记录并附卷？无痕的沟通无法自证清白。</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标准四（对等）：同类情形下对另一方当事人的代理人是否同等对待？只对一方开放的渠道即为偏袒。</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仍可使用“对方在场测试”：这次交流的内容与方式，能否坦然地让对方当事人及其代理人知道？</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第11课时 · 13</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5</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检察官惩戒制度与刑事责任</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从行政处分到刑事追究的完整责任链条</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第11课时 · 14</a:t>
            </a:r>
            <a:endParaRPr lang="en-US" sz="1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处分事由</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《检察官法》第四十七条</a:t>
            </a:r>
            <a:endParaRPr lang="en-US" sz="2800" dirty="0"/>
          </a:p>
        </p:txBody>
      </p:sp>
      <p:sp>
        <p:nvSpPr>
          <p:cNvPr id="4" name="Shape 2"/>
          <p:cNvSpPr/>
          <p:nvPr/>
        </p:nvSpPr>
        <p:spPr>
          <a:xfrm>
            <a:off x="566928" y="1649857"/>
            <a:ext cx="11057839" cy="3042666"/>
          </a:xfrm>
          <a:prstGeom prst="roundRect">
            <a:avLst>
              <a:gd name="adj" fmla="val 3005"/>
            </a:avLst>
          </a:prstGeom>
          <a:solidFill>
            <a:srgbClr val="F6F1E8"/>
          </a:solidFill>
          <a:ln w="12700">
            <a:solidFill>
              <a:srgbClr val="F6F1E8"/>
            </a:solidFill>
            <a:prstDash val="solid"/>
          </a:ln>
        </p:spPr>
      </p:sp>
      <p:sp>
        <p:nvSpPr>
          <p:cNvPr id="5" name="Shape 3"/>
          <p:cNvSpPr/>
          <p:nvPr/>
        </p:nvSpPr>
        <p:spPr>
          <a:xfrm>
            <a:off x="877824" y="1887601"/>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887601"/>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869313"/>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《中华人民共和国检察官法》第四十七条</a:t>
            </a:r>
            <a:endParaRPr lang="en-US" sz="1500" dirty="0"/>
          </a:p>
        </p:txBody>
      </p:sp>
      <p:sp>
        <p:nvSpPr>
          <p:cNvPr id="8" name="Text 6"/>
          <p:cNvSpPr/>
          <p:nvPr/>
        </p:nvSpPr>
        <p:spPr>
          <a:xfrm>
            <a:off x="960120" y="2289937"/>
            <a:ext cx="10271455" cy="2183130"/>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检察官有下列行为之一的，应当给予处分；构成犯罪的，依法追究刑事责任：</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（一）贪污受贿、徇私舞弊、枉法办案的；</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（二）隐瞒、伪造、变造、故意损毁证据、案件材料的；</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（三）泄露国家秘密、检察工作秘密、商业秘密或者个人隐私的；</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（四）故意违反法律法规办理案件的；</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（五）因重大过失导致案件错误并造成严重后果的；</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（六）拖延办案，贻误工作的；</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（七）利用职权为自己或者他人谋取私利的；</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（八）接受当事人及其代理人利益输送，或者违反有关规定会见当事人及其代理人的；</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（九）违反有关规定从事或者参与营利性活动，在企业或者其他营利性组织中兼任职务的；</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（十）有其他违纪违法行为的。</a:t>
            </a:r>
            <a:endParaRPr lang="en-US" sz="1550" dirty="0"/>
          </a:p>
        </p:txBody>
      </p:sp>
      <p:sp>
        <p:nvSpPr>
          <p:cNvPr id="9" name="Shape 7"/>
          <p:cNvSpPr/>
          <p:nvPr/>
        </p:nvSpPr>
        <p:spPr>
          <a:xfrm>
            <a:off x="566928" y="5208524"/>
            <a:ext cx="11057839" cy="1173988"/>
          </a:xfrm>
          <a:prstGeom prst="roundRect">
            <a:avLst>
              <a:gd name="adj" fmla="val 7789"/>
            </a:avLst>
          </a:prstGeom>
          <a:solidFill>
            <a:srgbClr val="F2F4F8"/>
          </a:solidFill>
          <a:ln w="12700">
            <a:solidFill>
              <a:srgbClr val="F2F4F8"/>
            </a:solidFill>
            <a:prstDash val="solid"/>
          </a:ln>
        </p:spPr>
      </p:sp>
      <p:sp>
        <p:nvSpPr>
          <p:cNvPr id="10" name="Text 8"/>
          <p:cNvSpPr/>
          <p:nvPr/>
        </p:nvSpPr>
        <p:spPr>
          <a:xfrm>
            <a:off x="896112" y="537311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647436"/>
            <a:ext cx="10271455" cy="60706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与《法官法》第四十六条对照：结构完全平行，仅第（一）项由“枉法裁判”改为“枉法办案”、第（五）项由“裁判结果错误”改为“案件错误”——因为检察官的产出不限于裁判。第（四）（五）项同样是司法责任的核心归责标准：故意与重大过失。</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第11课时 · 15</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惩戒主体</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《检察官法》第四十九条：检察官惩戒委员会</a:t>
            </a:r>
            <a:endParaRPr lang="en-US" sz="2800" dirty="0"/>
          </a:p>
        </p:txBody>
      </p:sp>
      <p:sp>
        <p:nvSpPr>
          <p:cNvPr id="4" name="Shape 2"/>
          <p:cNvSpPr/>
          <p:nvPr/>
        </p:nvSpPr>
        <p:spPr>
          <a:xfrm>
            <a:off x="566928" y="1816227"/>
            <a:ext cx="11057839" cy="2452116"/>
          </a:xfrm>
          <a:prstGeom prst="roundRect">
            <a:avLst>
              <a:gd name="adj" fmla="val 3729"/>
            </a:avLst>
          </a:prstGeom>
          <a:solidFill>
            <a:srgbClr val="F6F1E8"/>
          </a:solidFill>
          <a:ln w="12700">
            <a:solidFill>
              <a:srgbClr val="F6F1E8"/>
            </a:solidFill>
            <a:prstDash val="solid"/>
          </a:ln>
        </p:spPr>
      </p:sp>
      <p:sp>
        <p:nvSpPr>
          <p:cNvPr id="5" name="Shape 3"/>
          <p:cNvSpPr/>
          <p:nvPr/>
        </p:nvSpPr>
        <p:spPr>
          <a:xfrm>
            <a:off x="877824" y="2053971"/>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2053971"/>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2035683"/>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《中华人民共和国检察官法》第四十九条</a:t>
            </a:r>
            <a:endParaRPr lang="en-US" sz="1500" dirty="0"/>
          </a:p>
        </p:txBody>
      </p:sp>
      <p:sp>
        <p:nvSpPr>
          <p:cNvPr id="8" name="Text 6"/>
          <p:cNvSpPr/>
          <p:nvPr/>
        </p:nvSpPr>
        <p:spPr>
          <a:xfrm>
            <a:off x="960120" y="2456307"/>
            <a:ext cx="10271455" cy="1592580"/>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最高人民检察院和省、自治区、直辖市设立检察官惩戒委员会，负责从专业角度审查认定检察官是否存在本法第四十七条第四项、第五项规定的违反检察职责的行为，提出构成故意违反职责、存在重大过失、存在一般过失或者没有违反职责等审查意见。检察官惩戒委员会提出审查意见后，人民检察院依照有关规定作出是否予以惩戒的决定，并给予相应处理。</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检察官惩戒委员会由检察官代表、其他从事法律职业的人员和有关方面代表组成，其中检察官代表不少于半数。</a:t>
            </a:r>
            <a:endParaRPr lang="en-US" sz="1550" dirty="0"/>
          </a:p>
        </p:txBody>
      </p:sp>
      <p:sp>
        <p:nvSpPr>
          <p:cNvPr id="9" name="Shape 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0" name="Text 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与法官惩戒制度完全同构：“专业审查+组织决定”两分模式；审查范围仅限第（四）（五）项；四档审查意见（故意、重大过失、一般过失、没有违反职责）；检察官代表不少于半数。当事检察官同样享有申请回避、陈述、举证辩解的程序权利，并可对审查意见提出异议。</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第11课时 · 16</a:t>
            </a:r>
            <a:endParaRPr lang="en-US" sz="11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刑事责任</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检察官可能涉及的主要渎职犯罪</a:t>
            </a:r>
            <a:endParaRPr lang="en-US" sz="2800" dirty="0"/>
          </a:p>
        </p:txBody>
      </p:sp>
      <p:sp>
        <p:nvSpPr>
          <p:cNvPr id="4" name="Shape 2"/>
          <p:cNvSpPr/>
          <p:nvPr/>
        </p:nvSpPr>
        <p:spPr>
          <a:xfrm>
            <a:off x="566928" y="1316736"/>
            <a:ext cx="11057839" cy="1156716"/>
          </a:xfrm>
          <a:prstGeom prst="roundRect">
            <a:avLst>
              <a:gd name="adj" fmla="val 6324"/>
            </a:avLst>
          </a:prstGeom>
          <a:solidFill>
            <a:srgbClr val="F2F4F8"/>
          </a:solidFill>
          <a:ln w="12700">
            <a:solidFill>
              <a:srgbClr val="F2F4F8"/>
            </a:solidFill>
            <a:prstDash val="solid"/>
          </a:ln>
        </p:spPr>
      </p:sp>
      <p:sp>
        <p:nvSpPr>
          <p:cNvPr id="5" name="Shape 3"/>
          <p:cNvSpPr/>
          <p:nvPr/>
        </p:nvSpPr>
        <p:spPr>
          <a:xfrm>
            <a:off x="841248" y="163906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792681"/>
            <a:ext cx="204826" cy="204826"/>
          </a:xfrm>
          <a:prstGeom prst="rect">
            <a:avLst/>
          </a:prstGeom>
        </p:spPr>
      </p:pic>
      <p:sp>
        <p:nvSpPr>
          <p:cNvPr id="7" name="Text 4"/>
          <p:cNvSpPr/>
          <p:nvPr/>
        </p:nvSpPr>
        <p:spPr>
          <a:xfrm>
            <a:off x="1536192" y="151047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徇私枉法罪（《刑法》第三百九十九条第一款）</a:t>
            </a:r>
            <a:endParaRPr lang="en-US" sz="1450" dirty="0"/>
          </a:p>
        </p:txBody>
      </p:sp>
      <p:sp>
        <p:nvSpPr>
          <p:cNvPr id="8" name="Text 5"/>
          <p:cNvSpPr/>
          <p:nvPr/>
        </p:nvSpPr>
        <p:spPr>
          <a:xfrm>
            <a:off x="1536192" y="181933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司法工作人员徇私枉法、徇情枉法，对明知是无罪的人而使他受追诉、对明知是有罪的人而故意包庇不使他受追诉，或者在刑事审判活动中故意违背事实和法律作枉法裁判的，依法追究刑事责任。检察官作出的起诉或不起诉决定，均可能落入本罪的规制范围。</a:t>
            </a:r>
            <a:endParaRPr lang="en-US" sz="1250" dirty="0"/>
          </a:p>
        </p:txBody>
      </p:sp>
      <p:sp>
        <p:nvSpPr>
          <p:cNvPr id="9" name="Shape 6"/>
          <p:cNvSpPr/>
          <p:nvPr/>
        </p:nvSpPr>
        <p:spPr>
          <a:xfrm>
            <a:off x="566928" y="2619756"/>
            <a:ext cx="11057839" cy="1156716"/>
          </a:xfrm>
          <a:prstGeom prst="roundRect">
            <a:avLst>
              <a:gd name="adj" fmla="val 6324"/>
            </a:avLst>
          </a:prstGeom>
          <a:solidFill>
            <a:srgbClr val="FFFFFF"/>
          </a:solidFill>
          <a:ln w="12700">
            <a:solidFill>
              <a:srgbClr val="D5DBE5"/>
            </a:solidFill>
            <a:prstDash val="solid"/>
          </a:ln>
        </p:spPr>
      </p:sp>
      <p:sp>
        <p:nvSpPr>
          <p:cNvPr id="10" name="Shape 7"/>
          <p:cNvSpPr/>
          <p:nvPr/>
        </p:nvSpPr>
        <p:spPr>
          <a:xfrm>
            <a:off x="841248" y="294208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095701"/>
            <a:ext cx="204826" cy="204826"/>
          </a:xfrm>
          <a:prstGeom prst="rect">
            <a:avLst/>
          </a:prstGeom>
        </p:spPr>
      </p:pic>
      <p:sp>
        <p:nvSpPr>
          <p:cNvPr id="12" name="Text 8"/>
          <p:cNvSpPr/>
          <p:nvPr/>
        </p:nvSpPr>
        <p:spPr>
          <a:xfrm>
            <a:off x="1536192" y="281349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滥用职权罪与玩忽职守罪（《刑法》第三百九十七条）</a:t>
            </a:r>
            <a:endParaRPr lang="en-US" sz="1450" dirty="0"/>
          </a:p>
        </p:txBody>
      </p:sp>
      <p:sp>
        <p:nvSpPr>
          <p:cNvPr id="13" name="Text 9"/>
          <p:cNvSpPr/>
          <p:nvPr/>
        </p:nvSpPr>
        <p:spPr>
          <a:xfrm>
            <a:off x="1536192" y="312235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国家机关工作人员滥用职权或者玩忽职守，致使公共财产、国家和人民利益遭受重大损失的，依法追究刑事责任。检察官违规采取强制措施、违法处置涉案财物等，可能构成本罪。</a:t>
            </a:r>
            <a:endParaRPr lang="en-US" sz="1250" dirty="0"/>
          </a:p>
        </p:txBody>
      </p:sp>
      <p:sp>
        <p:nvSpPr>
          <p:cNvPr id="14" name="Shape 10"/>
          <p:cNvSpPr/>
          <p:nvPr/>
        </p:nvSpPr>
        <p:spPr>
          <a:xfrm>
            <a:off x="566928" y="3922776"/>
            <a:ext cx="11057839" cy="1156716"/>
          </a:xfrm>
          <a:prstGeom prst="roundRect">
            <a:avLst>
              <a:gd name="adj" fmla="val 6324"/>
            </a:avLst>
          </a:prstGeom>
          <a:solidFill>
            <a:srgbClr val="F2F4F8"/>
          </a:solidFill>
          <a:ln w="12700">
            <a:solidFill>
              <a:srgbClr val="F2F4F8"/>
            </a:solidFill>
            <a:prstDash val="solid"/>
          </a:ln>
        </p:spPr>
      </p:sp>
      <p:sp>
        <p:nvSpPr>
          <p:cNvPr id="15" name="Shape 11"/>
          <p:cNvSpPr/>
          <p:nvPr/>
        </p:nvSpPr>
        <p:spPr>
          <a:xfrm>
            <a:off x="841248" y="42451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398721"/>
            <a:ext cx="204826" cy="204826"/>
          </a:xfrm>
          <a:prstGeom prst="rect">
            <a:avLst/>
          </a:prstGeom>
        </p:spPr>
      </p:pic>
      <p:sp>
        <p:nvSpPr>
          <p:cNvPr id="17" name="Text 12"/>
          <p:cNvSpPr/>
          <p:nvPr/>
        </p:nvSpPr>
        <p:spPr>
          <a:xfrm>
            <a:off x="1536192" y="411651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受贿罪与贪污罪</a:t>
            </a:r>
            <a:endParaRPr lang="en-US" sz="1450" dirty="0"/>
          </a:p>
        </p:txBody>
      </p:sp>
      <p:sp>
        <p:nvSpPr>
          <p:cNvPr id="18" name="Text 13"/>
          <p:cNvSpPr/>
          <p:nvPr/>
        </p:nvSpPr>
        <p:spPr>
          <a:xfrm>
            <a:off x="1536192" y="442537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利用职务便利索取或者收受他人财物，为他人谋取利益的，构成受贿罪。检察官办案中收受当事人财物是最常见的形态；侵吞、挪用涉案财物的，可能构成贪污罪或挪用公款罪。</a:t>
            </a:r>
            <a:endParaRPr lang="en-US" sz="1250" dirty="0"/>
          </a:p>
        </p:txBody>
      </p:sp>
      <p:sp>
        <p:nvSpPr>
          <p:cNvPr id="19" name="Shape 14"/>
          <p:cNvSpPr/>
          <p:nvPr/>
        </p:nvSpPr>
        <p:spPr>
          <a:xfrm>
            <a:off x="566928" y="5225796"/>
            <a:ext cx="11057839" cy="1156716"/>
          </a:xfrm>
          <a:prstGeom prst="roundRect">
            <a:avLst>
              <a:gd name="adj" fmla="val 6324"/>
            </a:avLst>
          </a:prstGeom>
          <a:solidFill>
            <a:srgbClr val="FFFFFF"/>
          </a:solidFill>
          <a:ln w="12700">
            <a:solidFill>
              <a:srgbClr val="D5DBE5"/>
            </a:solidFill>
            <a:prstDash val="solid"/>
          </a:ln>
        </p:spPr>
      </p:sp>
      <p:sp>
        <p:nvSpPr>
          <p:cNvPr id="20" name="Shape 15"/>
          <p:cNvSpPr/>
          <p:nvPr/>
        </p:nvSpPr>
        <p:spPr>
          <a:xfrm>
            <a:off x="841248" y="5548122"/>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01741"/>
            <a:ext cx="204826" cy="204826"/>
          </a:xfrm>
          <a:prstGeom prst="rect">
            <a:avLst/>
          </a:prstGeom>
        </p:spPr>
      </p:pic>
      <p:sp>
        <p:nvSpPr>
          <p:cNvPr id="22" name="Text 16"/>
          <p:cNvSpPr/>
          <p:nvPr/>
        </p:nvSpPr>
        <p:spPr>
          <a:xfrm>
            <a:off x="1536192" y="541953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泄露不应公开的案件信息罪等</a:t>
            </a:r>
            <a:endParaRPr lang="en-US" sz="1450" dirty="0"/>
          </a:p>
        </p:txBody>
      </p:sp>
      <p:sp>
        <p:nvSpPr>
          <p:cNvPr id="23" name="Text 17"/>
          <p:cNvSpPr/>
          <p:nvPr/>
        </p:nvSpPr>
        <p:spPr>
          <a:xfrm>
            <a:off x="1536192" y="572839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司法工作人员泄露依法不公开审理的案件中不应当公开的信息，情节严重的，依法追究刑事责任。另有帮助犯罪分子逃避处罚罪、私放在押人员罪等与检察职务相关的罪名。</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第11课时 · 17</a:t>
            </a:r>
            <a:endParaRPr lang="en-US" sz="11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案例研讨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从违纪到犯罪的分界</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责任分层</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四种情形的责任认定</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情形一：某检察官对一起证据存在疑点的案件，未认真核实即提起公诉，法院判决无罪。经查该检察官无徇私情节，系工作疏忽。</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情形二：某检察官明知关键证人证言系刑讯逼供所得，仍未予排除并据以起诉，被告人被判处有期徒刑，后经再审改判无罪。</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情形三：某检察官接受案件当事人亲属安排的宴请与旅游，此后对该案作出相对不起诉决定。经查该案客观上确实符合相对不起诉条件。</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情形四：某检察官明知被告人无罪，因收受他人财物而故意隐匿关键无罪证据并提起公诉，致被告人被错误定罪。</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342642"/>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342642"/>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3102"/>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四种情形分别适用《检察官法》第四十七条哪一项？</a:t>
            </a:r>
            <a:endParaRPr lang="en-US" sz="1400" dirty="0"/>
          </a:p>
        </p:txBody>
      </p:sp>
      <p:sp>
        <p:nvSpPr>
          <p:cNvPr id="14" name="Shape 12"/>
          <p:cNvSpPr/>
          <p:nvPr/>
        </p:nvSpPr>
        <p:spPr>
          <a:xfrm>
            <a:off x="7958023" y="3223133"/>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3223133"/>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3226943"/>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哪些可能构成犯罪？罪名是什么？</a:t>
            </a:r>
            <a:endParaRPr lang="en-US" sz="1400" dirty="0"/>
          </a:p>
        </p:txBody>
      </p:sp>
      <p:sp>
        <p:nvSpPr>
          <p:cNvPr id="17" name="Shape 15"/>
          <p:cNvSpPr/>
          <p:nvPr/>
        </p:nvSpPr>
        <p:spPr>
          <a:xfrm>
            <a:off x="7958023" y="4103624"/>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4103624"/>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3974084"/>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情形三中“结果正确”能否阻却违纪责任？</a:t>
            </a:r>
            <a:endParaRPr lang="en-US" sz="1400" dirty="0"/>
          </a:p>
        </p:txBody>
      </p:sp>
      <p:sp>
        <p:nvSpPr>
          <p:cNvPr id="20" name="Shape 18"/>
          <p:cNvSpPr/>
          <p:nvPr/>
        </p:nvSpPr>
        <p:spPr>
          <a:xfrm>
            <a:off x="7958023" y="4984115"/>
            <a:ext cx="274320" cy="274320"/>
          </a:xfrm>
          <a:prstGeom prst="ellipse">
            <a:avLst/>
          </a:prstGeom>
          <a:solidFill>
            <a:srgbClr val="B08D57"/>
          </a:solidFill>
          <a:ln w="12700">
            <a:solidFill>
              <a:srgbClr val="B08D57"/>
            </a:solidFill>
            <a:prstDash val="solid"/>
          </a:ln>
        </p:spPr>
      </p:sp>
      <p:sp>
        <p:nvSpPr>
          <p:cNvPr id="21" name="Text 19"/>
          <p:cNvSpPr/>
          <p:nvPr/>
        </p:nvSpPr>
        <p:spPr>
          <a:xfrm>
            <a:off x="7958023" y="4984115"/>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8323783" y="4987925"/>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情形一是否应当经惩戒委员会审查？</a:t>
            </a:r>
            <a:endParaRPr lang="en-US" sz="1400" dirty="0"/>
          </a:p>
        </p:txBody>
      </p:sp>
      <p:sp>
        <p:nvSpPr>
          <p:cNvPr id="23" name="Text 21"/>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第11课时 · 18</a:t>
            </a:r>
            <a:endParaRPr lang="en-US" sz="11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课堂研讨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思考与讨论</a:t>
            </a:r>
            <a:endParaRPr lang="en-US" sz="2800" dirty="0"/>
          </a:p>
        </p:txBody>
      </p:sp>
      <p:sp>
        <p:nvSpPr>
          <p:cNvPr id="4" name="Shape 2"/>
          <p:cNvSpPr/>
          <p:nvPr/>
        </p:nvSpPr>
        <p:spPr>
          <a:xfrm>
            <a:off x="566928" y="1316736"/>
            <a:ext cx="11057839" cy="1156716"/>
          </a:xfrm>
          <a:prstGeom prst="roundRect">
            <a:avLst>
              <a:gd name="adj" fmla="val 7115"/>
            </a:avLst>
          </a:prstGeom>
          <a:solidFill>
            <a:srgbClr val="ECF3F2"/>
          </a:solidFill>
          <a:ln w="12700">
            <a:solidFill>
              <a:srgbClr val="ECF3F2"/>
            </a:solidFill>
            <a:prstDash val="solid"/>
          </a:ln>
        </p:spPr>
      </p:sp>
      <p:sp>
        <p:nvSpPr>
          <p:cNvPr id="5" name="Shape 3"/>
          <p:cNvSpPr/>
          <p:nvPr/>
        </p:nvSpPr>
        <p:spPr>
          <a:xfrm>
            <a:off x="859536" y="1666494"/>
            <a:ext cx="457200" cy="457200"/>
          </a:xfrm>
          <a:prstGeom prst="ellipse">
            <a:avLst/>
          </a:prstGeom>
          <a:solidFill>
            <a:srgbClr val="2F6E6A"/>
          </a:solidFill>
          <a:ln w="12700">
            <a:solidFill>
              <a:srgbClr val="2F6E6A"/>
            </a:solidFill>
            <a:prstDash val="solid"/>
          </a:ln>
        </p:spPr>
      </p:sp>
      <p:sp>
        <p:nvSpPr>
          <p:cNvPr id="6" name="Text 4"/>
          <p:cNvSpPr/>
          <p:nvPr/>
        </p:nvSpPr>
        <p:spPr>
          <a:xfrm>
            <a:off x="859536" y="166649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99616" y="159029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“担当”要求检察官敢于监督同级法院与侦查机关。但在实际工作关系中，监督者与被监督者往往需要长期协作。请设计一套制度安排，使“担当”不必依赖个人勇气。</a:t>
            </a:r>
            <a:endParaRPr lang="en-US" sz="1600" dirty="0"/>
          </a:p>
        </p:txBody>
      </p:sp>
      <p:sp>
        <p:nvSpPr>
          <p:cNvPr id="8" name="Shape 6"/>
          <p:cNvSpPr/>
          <p:nvPr/>
        </p:nvSpPr>
        <p:spPr>
          <a:xfrm>
            <a:off x="566928" y="2619756"/>
            <a:ext cx="11057839" cy="1156716"/>
          </a:xfrm>
          <a:prstGeom prst="roundRect">
            <a:avLst>
              <a:gd name="adj" fmla="val 7115"/>
            </a:avLst>
          </a:prstGeom>
          <a:solidFill>
            <a:srgbClr val="ECF3F2"/>
          </a:solidFill>
          <a:ln w="12700">
            <a:solidFill>
              <a:srgbClr val="ECF3F2"/>
            </a:solidFill>
            <a:prstDash val="solid"/>
          </a:ln>
        </p:spPr>
      </p:sp>
      <p:sp>
        <p:nvSpPr>
          <p:cNvPr id="9" name="Shape 7"/>
          <p:cNvSpPr/>
          <p:nvPr/>
        </p:nvSpPr>
        <p:spPr>
          <a:xfrm>
            <a:off x="859536" y="2969514"/>
            <a:ext cx="457200" cy="457200"/>
          </a:xfrm>
          <a:prstGeom prst="ellipse">
            <a:avLst/>
          </a:prstGeom>
          <a:solidFill>
            <a:srgbClr val="2F6E6A"/>
          </a:solidFill>
          <a:ln w="12700">
            <a:solidFill>
              <a:srgbClr val="2F6E6A"/>
            </a:solidFill>
            <a:prstDash val="solid"/>
          </a:ln>
        </p:spPr>
      </p:sp>
      <p:sp>
        <p:nvSpPr>
          <p:cNvPr id="10" name="Text 8"/>
          <p:cNvSpPr/>
          <p:nvPr/>
        </p:nvSpPr>
        <p:spPr>
          <a:xfrm>
            <a:off x="859536" y="296951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99616" y="289331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《检察官法》第二十五条要求近亲属在本院辖区内执业时检察官须任职回避。在律师资源集中的大城市，这一规则可能导致大量检察官被迫调离。你认为应当如何平衡规则刚性与实施可行性？</a:t>
            </a:r>
            <a:endParaRPr lang="en-US" sz="1600" dirty="0"/>
          </a:p>
        </p:txBody>
      </p:sp>
      <p:sp>
        <p:nvSpPr>
          <p:cNvPr id="12" name="Shape 10"/>
          <p:cNvSpPr/>
          <p:nvPr/>
        </p:nvSpPr>
        <p:spPr>
          <a:xfrm>
            <a:off x="566928" y="3922776"/>
            <a:ext cx="11057839" cy="1156716"/>
          </a:xfrm>
          <a:prstGeom prst="roundRect">
            <a:avLst>
              <a:gd name="adj" fmla="val 7115"/>
            </a:avLst>
          </a:prstGeom>
          <a:solidFill>
            <a:srgbClr val="ECF3F2"/>
          </a:solidFill>
          <a:ln w="12700">
            <a:solidFill>
              <a:srgbClr val="ECF3F2"/>
            </a:solidFill>
            <a:prstDash val="solid"/>
          </a:ln>
        </p:spPr>
      </p:sp>
      <p:sp>
        <p:nvSpPr>
          <p:cNvPr id="13" name="Shape 11"/>
          <p:cNvSpPr/>
          <p:nvPr/>
        </p:nvSpPr>
        <p:spPr>
          <a:xfrm>
            <a:off x="859536" y="4272534"/>
            <a:ext cx="457200" cy="457200"/>
          </a:xfrm>
          <a:prstGeom prst="ellipse">
            <a:avLst/>
          </a:prstGeom>
          <a:solidFill>
            <a:srgbClr val="2F6E6A"/>
          </a:solidFill>
          <a:ln w="12700">
            <a:solidFill>
              <a:srgbClr val="2F6E6A"/>
            </a:solidFill>
            <a:prstDash val="solid"/>
          </a:ln>
        </p:spPr>
      </p:sp>
      <p:sp>
        <p:nvSpPr>
          <p:cNvPr id="14" name="Text 12"/>
          <p:cNvSpPr/>
          <p:nvPr/>
        </p:nvSpPr>
        <p:spPr>
          <a:xfrm>
            <a:off x="859536" y="427253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99616" y="419633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检察官作出不起诉决定后被发现该案本应起诉，是否一律构成“违反检察职责”？请结合惩戒委员会四档审查意见分析，并说明“起诉裁量权”的空间。</a:t>
            </a:r>
            <a:endParaRPr lang="en-US" sz="1600" dirty="0"/>
          </a:p>
        </p:txBody>
      </p:sp>
      <p:sp>
        <p:nvSpPr>
          <p:cNvPr id="16" name="Shape 14"/>
          <p:cNvSpPr/>
          <p:nvPr/>
        </p:nvSpPr>
        <p:spPr>
          <a:xfrm>
            <a:off x="566928" y="5225796"/>
            <a:ext cx="11057839" cy="1156716"/>
          </a:xfrm>
          <a:prstGeom prst="roundRect">
            <a:avLst>
              <a:gd name="adj" fmla="val 7115"/>
            </a:avLst>
          </a:prstGeom>
          <a:solidFill>
            <a:srgbClr val="ECF3F2"/>
          </a:solidFill>
          <a:ln w="12700">
            <a:solidFill>
              <a:srgbClr val="ECF3F2"/>
            </a:solidFill>
            <a:prstDash val="solid"/>
          </a:ln>
        </p:spPr>
      </p:sp>
      <p:sp>
        <p:nvSpPr>
          <p:cNvPr id="17" name="Shape 15"/>
          <p:cNvSpPr/>
          <p:nvPr/>
        </p:nvSpPr>
        <p:spPr>
          <a:xfrm>
            <a:off x="859536" y="5575554"/>
            <a:ext cx="457200" cy="457200"/>
          </a:xfrm>
          <a:prstGeom prst="ellipse">
            <a:avLst/>
          </a:prstGeom>
          <a:solidFill>
            <a:srgbClr val="2F6E6A"/>
          </a:solidFill>
          <a:ln w="12700">
            <a:solidFill>
              <a:srgbClr val="2F6E6A"/>
            </a:solidFill>
            <a:prstDash val="solid"/>
          </a:ln>
        </p:spPr>
      </p:sp>
      <p:sp>
        <p:nvSpPr>
          <p:cNvPr id="18" name="Text 16"/>
          <p:cNvSpPr/>
          <p:nvPr/>
        </p:nvSpPr>
        <p:spPr>
          <a:xfrm>
            <a:off x="859536" y="557555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99616" y="549935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有观点认为，检察官既受《检察官法》约束，又受党纪、政务处分与刑事责任规制，责任体系过于繁复，可能导致“寒蝉效应”。你如何看待责任体系的合理边界？</a:t>
            </a:r>
            <a:endParaRPr lang="en-US" sz="16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第11课时 · 19</a:t>
            </a:r>
            <a:endParaRPr lang="en-US" sz="11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13233F"/>
        </a:solidFill>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第三编总结</a:t>
            </a:r>
            <a:endParaRPr lang="en-US" sz="1250" dirty="0"/>
          </a:p>
        </p:txBody>
      </p:sp>
      <p:sp>
        <p:nvSpPr>
          <p:cNvPr id="3" name="Text 1"/>
          <p:cNvSpPr/>
          <p:nvPr/>
        </p:nvSpPr>
        <p:spPr>
          <a:xfrm>
            <a:off x="566928" y="786384"/>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微软雅黑" pitchFamily="34" charset="0"/>
                <a:ea typeface="微软雅黑" pitchFamily="34" charset="-122"/>
                <a:cs typeface="微软雅黑" pitchFamily="34" charset="-120"/>
              </a:rPr>
              <a:t>第11课时要点与检察官职业伦理小结</a:t>
            </a:r>
            <a:endParaRPr lang="en-US" sz="3000" dirty="0"/>
          </a:p>
        </p:txBody>
      </p:sp>
      <p:sp>
        <p:nvSpPr>
          <p:cNvPr id="4" name="Shape 2"/>
          <p:cNvSpPr/>
          <p:nvPr/>
        </p:nvSpPr>
        <p:spPr>
          <a:xfrm>
            <a:off x="566928" y="1591056"/>
            <a:ext cx="11057839" cy="752306"/>
          </a:xfrm>
          <a:prstGeom prst="roundRect">
            <a:avLst>
              <a:gd name="adj" fmla="val 9724"/>
            </a:avLst>
          </a:prstGeom>
          <a:solidFill>
            <a:srgbClr val="25395F"/>
          </a:solidFill>
          <a:ln w="12700">
            <a:solidFill>
              <a:srgbClr val="25395F"/>
            </a:solidFill>
            <a:prstDash val="solid"/>
          </a:ln>
        </p:spPr>
      </p:sp>
      <p:sp>
        <p:nvSpPr>
          <p:cNvPr id="5" name="Shape 3"/>
          <p:cNvSpPr/>
          <p:nvPr/>
        </p:nvSpPr>
        <p:spPr>
          <a:xfrm>
            <a:off x="859536" y="1766041"/>
            <a:ext cx="402336" cy="402336"/>
          </a:xfrm>
          <a:prstGeom prst="ellipse">
            <a:avLst/>
          </a:prstGeom>
          <a:solidFill>
            <a:srgbClr val="B08D57"/>
          </a:solidFill>
          <a:ln w="12700">
            <a:solidFill>
              <a:srgbClr val="B08D57"/>
            </a:solidFill>
            <a:prstDash val="solid"/>
          </a:ln>
        </p:spPr>
      </p:sp>
      <p:pic>
        <p:nvPicPr>
          <p:cNvPr id="6" name="Image 0" descr="preencoded.png">    </p:cNvPr>
          <p:cNvPicPr>
            <a:picLocks noChangeAspect="1"/>
          </p:cNvPicPr>
          <p:nvPr/>
        </p:nvPicPr>
        <p:blipFill>
          <a:blip r:embed="rId1"/>
          <a:stretch>
            <a:fillRect/>
          </a:stretch>
        </p:blipFill>
        <p:spPr>
          <a:xfrm>
            <a:off x="980237" y="1886742"/>
            <a:ext cx="160934" cy="160934"/>
          </a:xfrm>
          <a:prstGeom prst="rect">
            <a:avLst/>
          </a:prstGeom>
        </p:spPr>
      </p:pic>
      <p:sp>
        <p:nvSpPr>
          <p:cNvPr id="7" name="Text 4"/>
          <p:cNvSpPr/>
          <p:nvPr/>
        </p:nvSpPr>
        <p:spPr>
          <a:xfrm>
            <a:off x="1444752" y="1748134"/>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五项准则：忠诚（政治本色）、为民（保障人民权益）、担当（强化法律监督）、公正（维护法制统一）、廉洁（自觉接受监督）。2016年修订版新增“为民”“担当”，删去“文明”。</a:t>
            </a:r>
            <a:endParaRPr lang="en-US" sz="1150" dirty="0"/>
          </a:p>
        </p:txBody>
      </p:sp>
      <p:sp>
        <p:nvSpPr>
          <p:cNvPr id="8" name="Shape 5"/>
          <p:cNvSpPr/>
          <p:nvPr/>
        </p:nvSpPr>
        <p:spPr>
          <a:xfrm>
            <a:off x="566928" y="2480522"/>
            <a:ext cx="11057839" cy="548217"/>
          </a:xfrm>
          <a:prstGeom prst="roundRect">
            <a:avLst>
              <a:gd name="adj" fmla="val 13344"/>
            </a:avLst>
          </a:prstGeom>
          <a:solidFill>
            <a:srgbClr val="25395F"/>
          </a:solidFill>
          <a:ln w="12700">
            <a:solidFill>
              <a:srgbClr val="25395F"/>
            </a:solidFill>
            <a:prstDash val="solid"/>
          </a:ln>
        </p:spPr>
      </p:sp>
      <p:sp>
        <p:nvSpPr>
          <p:cNvPr id="9" name="Shape 6"/>
          <p:cNvSpPr/>
          <p:nvPr/>
        </p:nvSpPr>
        <p:spPr>
          <a:xfrm>
            <a:off x="859536" y="2562818"/>
            <a:ext cx="383625" cy="383625"/>
          </a:xfrm>
          <a:prstGeom prst="ellipse">
            <a:avLst/>
          </a:prstGeom>
          <a:solidFill>
            <a:srgbClr val="B08D57"/>
          </a:solidFill>
          <a:ln w="12700">
            <a:solidFill>
              <a:srgbClr val="B08D57"/>
            </a:solidFill>
            <a:prstDash val="solid"/>
          </a:ln>
        </p:spPr>
      </p:sp>
      <p:pic>
        <p:nvPicPr>
          <p:cNvPr id="10" name="Image 1" descr="preencoded.png">    </p:cNvPr>
          <p:cNvPicPr>
            <a:picLocks noChangeAspect="1"/>
          </p:cNvPicPr>
          <p:nvPr/>
        </p:nvPicPr>
        <p:blipFill>
          <a:blip r:embed="rId2"/>
          <a:stretch>
            <a:fillRect/>
          </a:stretch>
        </p:blipFill>
        <p:spPr>
          <a:xfrm>
            <a:off x="974623" y="2677905"/>
            <a:ext cx="153450" cy="153450"/>
          </a:xfrm>
          <a:prstGeom prst="rect">
            <a:avLst/>
          </a:prstGeom>
        </p:spPr>
      </p:pic>
      <p:sp>
        <p:nvSpPr>
          <p:cNvPr id="11" name="Text 7"/>
          <p:cNvSpPr/>
          <p:nvPr/>
        </p:nvSpPr>
        <p:spPr>
          <a:xfrm>
            <a:off x="1444752" y="2645093"/>
            <a:ext cx="9997135" cy="219075"/>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《检察官法》第十条规定检察官的七项义务，与《法官法》第十条完全平行；办案行为规范覆盖审查逮捕、审查起诉、出庭公诉、诉讼监督四个关键环节。</a:t>
            </a:r>
            <a:endParaRPr lang="en-US" sz="1150" dirty="0"/>
          </a:p>
        </p:txBody>
      </p:sp>
      <p:sp>
        <p:nvSpPr>
          <p:cNvPr id="12" name="Shape 8"/>
          <p:cNvSpPr/>
          <p:nvPr/>
        </p:nvSpPr>
        <p:spPr>
          <a:xfrm>
            <a:off x="566928" y="3165898"/>
            <a:ext cx="11057839" cy="752306"/>
          </a:xfrm>
          <a:prstGeom prst="roundRect">
            <a:avLst>
              <a:gd name="adj" fmla="val 9724"/>
            </a:avLst>
          </a:prstGeom>
          <a:solidFill>
            <a:srgbClr val="25395F"/>
          </a:solidFill>
          <a:ln w="12700">
            <a:solidFill>
              <a:srgbClr val="25395F"/>
            </a:solidFill>
            <a:prstDash val="solid"/>
          </a:ln>
        </p:spPr>
      </p:sp>
      <p:sp>
        <p:nvSpPr>
          <p:cNvPr id="13" name="Shape 9"/>
          <p:cNvSpPr/>
          <p:nvPr/>
        </p:nvSpPr>
        <p:spPr>
          <a:xfrm>
            <a:off x="859536" y="3340883"/>
            <a:ext cx="402336" cy="402336"/>
          </a:xfrm>
          <a:prstGeom prst="ellipse">
            <a:avLst/>
          </a:prstGeom>
          <a:solidFill>
            <a:srgbClr val="B08D57"/>
          </a:solidFill>
          <a:ln w="12700">
            <a:solidFill>
              <a:srgbClr val="B08D57"/>
            </a:solidFill>
            <a:prstDash val="solid"/>
          </a:ln>
        </p:spPr>
      </p:sp>
      <p:pic>
        <p:nvPicPr>
          <p:cNvPr id="14" name="Image 2" descr="preencoded.png">    </p:cNvPr>
          <p:cNvPicPr>
            <a:picLocks noChangeAspect="1"/>
          </p:cNvPicPr>
          <p:nvPr/>
        </p:nvPicPr>
        <p:blipFill>
          <a:blip r:embed="rId3"/>
          <a:stretch>
            <a:fillRect/>
          </a:stretch>
        </p:blipFill>
        <p:spPr>
          <a:xfrm>
            <a:off x="980237" y="3461584"/>
            <a:ext cx="160934" cy="160934"/>
          </a:xfrm>
          <a:prstGeom prst="rect">
            <a:avLst/>
          </a:prstGeom>
        </p:spPr>
      </p:pic>
      <p:sp>
        <p:nvSpPr>
          <p:cNvPr id="15" name="Text 10"/>
          <p:cNvSpPr/>
          <p:nvPr/>
        </p:nvSpPr>
        <p:spPr>
          <a:xfrm>
            <a:off x="1444752" y="3322976"/>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条号对照记忆：《检察官法》相关条文较《法官法》后移一条——兼职禁止23/22、亲属任职回避24/23、近亲属律师任职回避25/24、离任回避37/36、处分事由47/46、惩戒委员会49/48。</a:t>
            </a:r>
            <a:endParaRPr lang="en-US" sz="1150" dirty="0"/>
          </a:p>
        </p:txBody>
      </p:sp>
      <p:sp>
        <p:nvSpPr>
          <p:cNvPr id="16" name="Shape 11"/>
          <p:cNvSpPr/>
          <p:nvPr/>
        </p:nvSpPr>
        <p:spPr>
          <a:xfrm>
            <a:off x="566928" y="4055364"/>
            <a:ext cx="11057839" cy="548217"/>
          </a:xfrm>
          <a:prstGeom prst="roundRect">
            <a:avLst>
              <a:gd name="adj" fmla="val 13344"/>
            </a:avLst>
          </a:prstGeom>
          <a:solidFill>
            <a:srgbClr val="25395F"/>
          </a:solidFill>
          <a:ln w="12700">
            <a:solidFill>
              <a:srgbClr val="25395F"/>
            </a:solidFill>
            <a:prstDash val="solid"/>
          </a:ln>
        </p:spPr>
      </p:sp>
      <p:sp>
        <p:nvSpPr>
          <p:cNvPr id="17" name="Shape 12"/>
          <p:cNvSpPr/>
          <p:nvPr/>
        </p:nvSpPr>
        <p:spPr>
          <a:xfrm>
            <a:off x="859536" y="4137660"/>
            <a:ext cx="383625" cy="383625"/>
          </a:xfrm>
          <a:prstGeom prst="ellipse">
            <a:avLst/>
          </a:prstGeom>
          <a:solidFill>
            <a:srgbClr val="B08D57"/>
          </a:solidFill>
          <a:ln w="12700">
            <a:solidFill>
              <a:srgbClr val="B08D57"/>
            </a:solidFill>
            <a:prstDash val="solid"/>
          </a:ln>
        </p:spPr>
      </p:sp>
      <p:pic>
        <p:nvPicPr>
          <p:cNvPr id="18" name="Image 3" descr="preencoded.png">    </p:cNvPr>
          <p:cNvPicPr>
            <a:picLocks noChangeAspect="1"/>
          </p:cNvPicPr>
          <p:nvPr/>
        </p:nvPicPr>
        <p:blipFill>
          <a:blip r:embed="rId4"/>
          <a:stretch>
            <a:fillRect/>
          </a:stretch>
        </p:blipFill>
        <p:spPr>
          <a:xfrm>
            <a:off x="974623" y="4252747"/>
            <a:ext cx="153450" cy="153450"/>
          </a:xfrm>
          <a:prstGeom prst="rect">
            <a:avLst/>
          </a:prstGeom>
        </p:spPr>
      </p:pic>
      <p:sp>
        <p:nvSpPr>
          <p:cNvPr id="19" name="Text 13"/>
          <p:cNvSpPr/>
          <p:nvPr/>
        </p:nvSpPr>
        <p:spPr>
          <a:xfrm>
            <a:off x="1444752" y="4219935"/>
            <a:ext cx="9997135" cy="219075"/>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检察官与律师的关系包含保障与防范双重要求；界分标准为场合、内容、留痕、对等四项，并可使用“对方在场测试”。</a:t>
            </a:r>
            <a:endParaRPr lang="en-US" sz="1150" dirty="0"/>
          </a:p>
        </p:txBody>
      </p:sp>
      <p:sp>
        <p:nvSpPr>
          <p:cNvPr id="20" name="Shape 14"/>
          <p:cNvSpPr/>
          <p:nvPr/>
        </p:nvSpPr>
        <p:spPr>
          <a:xfrm>
            <a:off x="566928" y="4740741"/>
            <a:ext cx="11057839" cy="752306"/>
          </a:xfrm>
          <a:prstGeom prst="roundRect">
            <a:avLst>
              <a:gd name="adj" fmla="val 9724"/>
            </a:avLst>
          </a:prstGeom>
          <a:solidFill>
            <a:srgbClr val="25395F"/>
          </a:solidFill>
          <a:ln w="12700">
            <a:solidFill>
              <a:srgbClr val="25395F"/>
            </a:solidFill>
            <a:prstDash val="solid"/>
          </a:ln>
        </p:spPr>
      </p:sp>
      <p:sp>
        <p:nvSpPr>
          <p:cNvPr id="21" name="Shape 15"/>
          <p:cNvSpPr/>
          <p:nvPr/>
        </p:nvSpPr>
        <p:spPr>
          <a:xfrm>
            <a:off x="859536" y="4915726"/>
            <a:ext cx="402336" cy="402336"/>
          </a:xfrm>
          <a:prstGeom prst="ellipse">
            <a:avLst/>
          </a:prstGeom>
          <a:solidFill>
            <a:srgbClr val="B08D57"/>
          </a:solidFill>
          <a:ln w="12700">
            <a:solidFill>
              <a:srgbClr val="B08D57"/>
            </a:solidFill>
            <a:prstDash val="solid"/>
          </a:ln>
        </p:spPr>
      </p:sp>
      <p:pic>
        <p:nvPicPr>
          <p:cNvPr id="22" name="Image 4" descr="preencoded.png">    </p:cNvPr>
          <p:cNvPicPr>
            <a:picLocks noChangeAspect="1"/>
          </p:cNvPicPr>
          <p:nvPr/>
        </p:nvPicPr>
        <p:blipFill>
          <a:blip r:embed="rId5"/>
          <a:stretch>
            <a:fillRect/>
          </a:stretch>
        </p:blipFill>
        <p:spPr>
          <a:xfrm>
            <a:off x="980237" y="5036426"/>
            <a:ext cx="160934" cy="160934"/>
          </a:xfrm>
          <a:prstGeom prst="rect">
            <a:avLst/>
          </a:prstGeom>
        </p:spPr>
      </p:pic>
      <p:sp>
        <p:nvSpPr>
          <p:cNvPr id="23" name="Text 16"/>
          <p:cNvSpPr/>
          <p:nvPr/>
        </p:nvSpPr>
        <p:spPr>
          <a:xfrm>
            <a:off x="1444752" y="4897819"/>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责任体系：《检察官法》第四十七条十项处分事由；第四十九条惩戒委员会采“专业审查+组织决定”两分模式与四档审查意见；刑事责任主要涉及徇私枉法罪、滥用职权罪与玩忽职守罪、受贿罪等。</a:t>
            </a:r>
            <a:endParaRPr lang="en-US" sz="1150" dirty="0"/>
          </a:p>
        </p:txBody>
      </p:sp>
      <p:sp>
        <p:nvSpPr>
          <p:cNvPr id="24" name="Shape 17"/>
          <p:cNvSpPr/>
          <p:nvPr/>
        </p:nvSpPr>
        <p:spPr>
          <a:xfrm>
            <a:off x="566928" y="5630206"/>
            <a:ext cx="11057839" cy="752306"/>
          </a:xfrm>
          <a:prstGeom prst="roundRect">
            <a:avLst>
              <a:gd name="adj" fmla="val 9724"/>
            </a:avLst>
          </a:prstGeom>
          <a:solidFill>
            <a:srgbClr val="25395F"/>
          </a:solidFill>
          <a:ln w="12700">
            <a:solidFill>
              <a:srgbClr val="25395F"/>
            </a:solidFill>
            <a:prstDash val="solid"/>
          </a:ln>
        </p:spPr>
      </p:sp>
      <p:sp>
        <p:nvSpPr>
          <p:cNvPr id="25" name="Shape 18"/>
          <p:cNvSpPr/>
          <p:nvPr/>
        </p:nvSpPr>
        <p:spPr>
          <a:xfrm>
            <a:off x="859536" y="5805191"/>
            <a:ext cx="402336" cy="402336"/>
          </a:xfrm>
          <a:prstGeom prst="ellipse">
            <a:avLst/>
          </a:prstGeom>
          <a:solidFill>
            <a:srgbClr val="B08D57"/>
          </a:solidFill>
          <a:ln w="12700">
            <a:solidFill>
              <a:srgbClr val="B08D57"/>
            </a:solidFill>
            <a:prstDash val="solid"/>
          </a:ln>
        </p:spPr>
      </p:sp>
      <p:pic>
        <p:nvPicPr>
          <p:cNvPr id="26" name="Image 5" descr="preencoded.png">    </p:cNvPr>
          <p:cNvPicPr>
            <a:picLocks noChangeAspect="1"/>
          </p:cNvPicPr>
          <p:nvPr/>
        </p:nvPicPr>
        <p:blipFill>
          <a:blip r:embed="rId6"/>
          <a:stretch>
            <a:fillRect/>
          </a:stretch>
        </p:blipFill>
        <p:spPr>
          <a:xfrm>
            <a:off x="980237" y="5925892"/>
            <a:ext cx="160934" cy="160934"/>
          </a:xfrm>
          <a:prstGeom prst="rect">
            <a:avLst/>
          </a:prstGeom>
        </p:spPr>
      </p:pic>
      <p:sp>
        <p:nvSpPr>
          <p:cNvPr id="27" name="Text 19"/>
          <p:cNvSpPr/>
          <p:nvPr/>
        </p:nvSpPr>
        <p:spPr>
          <a:xfrm>
            <a:off x="1444752" y="5787284"/>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第三编总结：检察官的双重身份（追诉者与法律监督者）决定了客观公正义务的核心地位；检察一体化解决“由谁决定”，客观义务解决“依据什么决定”；“担当”是我国检察官伦理最具特色的要求，因为监督往往意味着与“自己人”为难。</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65</Slides>
  <Notes>65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65</vt:i4>
      </vt:variant>
    </vt:vector>
  </HeadingPairs>
  <TitlesOfParts>
    <vt:vector size="6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法律职业伦理</dc:title>
  <dc:subject>法律职业伦理 课程课件（24课时）</dc:subject>
  <dc:creator>王晓淑</dc:creator>
  <cp:lastModifiedBy>王晓淑</cp:lastModifiedBy>
  <cp:revision>1</cp:revision>
  <dcterms:created xsi:type="dcterms:W3CDTF">2026-08-23T11:47:09Z</dcterms:created>
  <dcterms:modified xsi:type="dcterms:W3CDTF">2026-08-23T11:47:09Z</dcterms:modified>
</cp:coreProperties>
</file>