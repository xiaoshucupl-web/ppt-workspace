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条第二款的“三个维护”是律师职业伦理的总纲。请注意其中的限定词“合法权益”——这四个字划定了忠诚义务的边界：律师维护的是当事人的合法权益，不包括非法利益。当事人要求造假，那个诉求不是“合法权益”，拒绝它并不违反第一个“维护”。第三条则呈现“义务—标准—监督—保障”的四段式结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言论豁免与法官的职业特权在法理上同构：如果发言者随时可能因发言被追究，他就不敢畅所欲言，而诉讼所需要的恰恰是充分表达。请注意豁免有三项除外情形，且限于“在法庭上发表的代理、辩护意见”——庭外言论、自媒体发言不在豁免范围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三个维护”的排序：当事人合法权益在先，法律正确实施与社会公平正义在后。这个排序不是价值高低的排序，而是律师工作方式的写照——律师正是通过尽力维护当事人的合法权益，参与到法律正确实施与公平正义实现的整体机制中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八项是律师执业的硬边界，凡越界者不再受“非道德性”命题的保护。请注意第（一）项“私自接受委托、收取费用”——这不只是财务问题，而是规避律所管理、逃避利益冲突审查的行为，是大量执业事故的起点。第（六）项则是刑事责任的入口，可能触及《刑法》第三百零六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包含四项强制要求：统一接受委托、书面合同、统一收费、如实入账。违反的后果是《律师法》第四十条第（一）项“私自接受委托、收取费用”，可被处以停止执业乃至吊销执业证书。请理解其制度功能：统一接受委托使利益冲突审查、质量管理、责任承担成为可能；律所不是律师的“挂靠单位”，而是委托关系的法律主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两款的不对称：委托人可以随时解除（第一款无条件），律师原则上不得拒绝（第二款有条件）。这一不对称正是信义关系的体现——委托关系建立在委托人的信任之上，信任消失即可终止；而律师中途退出会使当事人陷入无人代理的困境，因此须有正当理由。第二款列举的三项正当理由，请务必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条分别对应忠诚义务的三个侧面：不得与委托人争利（第二项）、不得为对方所用（第三项）、不得同时服务于冲突的利益（第三十九条）。请注意第（二）项“牟取当事人争议的权益”的射程：律师不得购买委托人正在争讼的标的物、不得以低价受让争议债权、不得以顾问身份取得客户的商业机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确立了“律所对外承担、内部追偿”的双层结构。其制度意义有三：其一，保障当事人能够获得实际赔偿（律所偿付能力强于个人）；其二，倒逼律所履行管理责任——律所必须对律师执业进行实质管理，否则自担风险；其三，追偿限于“故意或者重大过失”，一般过失由律所承担，为律师保留了必要的执业空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处差异必须辨析：其一，适用主体——《律师法》适用于全体律师与全部业务，《刑事诉讼法》仅适用于辩护律师；其二，例外范围——《律师法》多出“财产安全”；其三，义务形态——《律师法》表述为“除外”（不受保密义务约束，可以说但不必须说），《刑事诉讼法》表述为“应当及时告知”（负有主动告知的强制义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这三条规则实际上就是比例原则在保密义务中的运用：目的正当（防止重大危害）、手段必要（无替代手段）、损害最小（最小披露）。请各位将其作为处理一切例外情形的分析框架。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修订对律师保密义务构成了当代最重要的挑战：一方面，客户身份识别与可疑交易报告要求律师主动向监管机构提供信息；另一方面，保密义务要求律师守口如瓶。域外的通行做法是设置“法律职业特权豁免”——律师在为客户提供诉讼代理或者判断其法律地位时所获知的信息，不在报告义务范围内。我国相关配套规则仍在完善之中，请各位密切关注后续立法与实施办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1.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slideLayout" Target="../slideLayouts/slideLayout1.xml"/><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slideLayout" Target="../slideLayouts/slideLayout1.xml"/><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slideLayout" Target="../slideLayouts/slideLayout1.xml"/><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slideLayout" Target="../slideLayouts/slideLayout1.xml"/><Relationship Id="rId7"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5" Type="http://schemas.openxmlformats.org/officeDocument/2006/relationships/slideLayout" Target="../slideLayouts/slideLayout1.xml"/><Relationship Id="rId6"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image" Target="../media/image-88-4.png"/><Relationship Id="rId5" Type="http://schemas.openxmlformats.org/officeDocument/2006/relationships/image" Target="../media/image-88-5.png"/><Relationship Id="rId6" Type="http://schemas.openxmlformats.org/officeDocument/2006/relationships/image" Target="../media/image-88-6.png"/><Relationship Id="rId7" Type="http://schemas.openxmlformats.org/officeDocument/2006/relationships/slideLayout" Target="../slideLayouts/slideLayout1.xml"/><Relationship Id="rId8"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slideLayout" Target="../slideLayouts/slideLayout1.xml"/><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slideLayout" Target="../slideLayouts/slideLayout1.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slideLayout" Target="../slideLayouts/slideLayout1.xml"/><Relationship Id="rId6"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slideLayout" Target="../slideLayouts/slideLayout1.xml"/><Relationship Id="rId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slideLayout" Target="../slideLayouts/slideLayout1.xml"/><Relationship Id="rId5"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slideLayout" Target="../slideLayouts/slideLayout1.xml"/><Relationship Id="rId5"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image" Target="../media/image-111-3.png"/><Relationship Id="rId4" Type="http://schemas.openxmlformats.org/officeDocument/2006/relationships/image" Target="../media/image-111-4.png"/><Relationship Id="rId5" Type="http://schemas.openxmlformats.org/officeDocument/2006/relationships/image" Target="../media/image-111-5.png"/><Relationship Id="rId6" Type="http://schemas.openxmlformats.org/officeDocument/2006/relationships/image" Target="../media/image-111-6.png"/><Relationship Id="rId7" Type="http://schemas.openxmlformats.org/officeDocument/2006/relationships/slideLayout" Target="../slideLayouts/slideLayout1.xml"/><Relationship Id="rId8"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04</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第四编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委托关系、保密、利益冲突、收费、争讼——律师伦理的五大支柱</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a:t>
            </a:r>
            <a:endParaRPr lang="en-US" sz="850" dirty="0"/>
          </a:p>
        </p:txBody>
      </p:sp>
      <p:sp>
        <p:nvSpPr>
          <p:cNvPr id="9" name="Text 7"/>
          <p:cNvSpPr/>
          <p:nvPr/>
        </p:nvSpPr>
        <p:spPr>
          <a:xfrm>
            <a:off x="8823960" y="188366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第12课时　律师制度、律师职业伦理的性质与渊源</a:t>
            </a:r>
            <a:endParaRPr lang="en-US" sz="950" dirty="0"/>
          </a:p>
        </p:txBody>
      </p:sp>
      <p:sp>
        <p:nvSpPr>
          <p:cNvPr id="10" name="Text 8"/>
          <p:cNvSpPr/>
          <p:nvPr/>
        </p:nvSpPr>
        <p:spPr>
          <a:xfrm>
            <a:off x="8476488" y="237070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2</a:t>
            </a:r>
            <a:endParaRPr lang="en-US" sz="850" dirty="0"/>
          </a:p>
        </p:txBody>
      </p:sp>
      <p:sp>
        <p:nvSpPr>
          <p:cNvPr id="11" name="Text 9"/>
          <p:cNvSpPr/>
          <p:nvPr/>
        </p:nvSpPr>
        <p:spPr>
          <a:xfrm>
            <a:off x="8823960" y="2370709"/>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第13课时　律师的使命与基本执业行为规范</a:t>
            </a:r>
            <a:endParaRPr lang="en-US" sz="950" dirty="0"/>
          </a:p>
        </p:txBody>
      </p:sp>
      <p:sp>
        <p:nvSpPr>
          <p:cNvPr id="12" name="Text 10"/>
          <p:cNvSpPr/>
          <p:nvPr/>
        </p:nvSpPr>
        <p:spPr>
          <a:xfrm>
            <a:off x="8476488" y="2682811"/>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3</a:t>
            </a:r>
            <a:endParaRPr lang="en-US" sz="850" dirty="0"/>
          </a:p>
        </p:txBody>
      </p:sp>
      <p:sp>
        <p:nvSpPr>
          <p:cNvPr id="13" name="Text 11"/>
          <p:cNvSpPr/>
          <p:nvPr/>
        </p:nvSpPr>
        <p:spPr>
          <a:xfrm>
            <a:off x="8823960" y="2682811"/>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第14课时　委托人—律师关系（一）：关系的建立与业务推广</a:t>
            </a:r>
            <a:endParaRPr lang="en-US" sz="950" dirty="0"/>
          </a:p>
        </p:txBody>
      </p:sp>
      <p:sp>
        <p:nvSpPr>
          <p:cNvPr id="14" name="Text 12"/>
          <p:cNvSpPr/>
          <p:nvPr/>
        </p:nvSpPr>
        <p:spPr>
          <a:xfrm>
            <a:off x="8476488" y="316985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4</a:t>
            </a:r>
            <a:endParaRPr lang="en-US" sz="850" dirty="0"/>
          </a:p>
        </p:txBody>
      </p:sp>
      <p:sp>
        <p:nvSpPr>
          <p:cNvPr id="15" name="Text 13"/>
          <p:cNvSpPr/>
          <p:nvPr/>
        </p:nvSpPr>
        <p:spPr>
          <a:xfrm>
            <a:off x="8823960" y="316985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第15课时　委托人—律师关系（二）：忠诚、勤勉、告知与关系终止</a:t>
            </a:r>
            <a:endParaRPr lang="en-US" sz="950" dirty="0"/>
          </a:p>
        </p:txBody>
      </p:sp>
      <p:sp>
        <p:nvSpPr>
          <p:cNvPr id="16" name="Text 14"/>
          <p:cNvSpPr/>
          <p:nvPr/>
        </p:nvSpPr>
        <p:spPr>
          <a:xfrm>
            <a:off x="8476488" y="365690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5</a:t>
            </a:r>
            <a:endParaRPr lang="en-US" sz="850" dirty="0"/>
          </a:p>
        </p:txBody>
      </p:sp>
      <p:sp>
        <p:nvSpPr>
          <p:cNvPr id="17" name="Text 15"/>
          <p:cNvSpPr/>
          <p:nvPr/>
        </p:nvSpPr>
        <p:spPr>
          <a:xfrm>
            <a:off x="8823960" y="3656902"/>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第16课时　律师保密义务</a:t>
            </a:r>
            <a:endParaRPr lang="en-US" sz="950" dirty="0"/>
          </a:p>
        </p:txBody>
      </p:sp>
      <p:sp>
        <p:nvSpPr>
          <p:cNvPr id="18" name="Text 16"/>
          <p:cNvSpPr/>
          <p:nvPr/>
        </p:nvSpPr>
        <p:spPr>
          <a:xfrm>
            <a:off x="8476488" y="396900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6</a:t>
            </a:r>
            <a:endParaRPr lang="en-US" sz="850" dirty="0"/>
          </a:p>
        </p:txBody>
      </p:sp>
      <p:sp>
        <p:nvSpPr>
          <p:cNvPr id="19" name="Text 17"/>
          <p:cNvSpPr/>
          <p:nvPr/>
        </p:nvSpPr>
        <p:spPr>
          <a:xfrm>
            <a:off x="8823960" y="396900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第17课时　利益冲突（一）：法理基础、类型与判断标准</a:t>
            </a:r>
            <a:endParaRPr lang="en-US" sz="950" dirty="0"/>
          </a:p>
        </p:txBody>
      </p:sp>
      <p:sp>
        <p:nvSpPr>
          <p:cNvPr id="20" name="Text 18"/>
          <p:cNvSpPr/>
          <p:nvPr/>
        </p:nvSpPr>
        <p:spPr>
          <a:xfrm>
            <a:off x="8476488" y="445604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7</a:t>
            </a:r>
            <a:endParaRPr lang="en-US" sz="850" dirty="0"/>
          </a:p>
        </p:txBody>
      </p:sp>
      <p:sp>
        <p:nvSpPr>
          <p:cNvPr id="21" name="Text 19"/>
          <p:cNvSpPr/>
          <p:nvPr/>
        </p:nvSpPr>
        <p:spPr>
          <a:xfrm>
            <a:off x="8823960" y="4456049"/>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第18课时　利益冲突（二）：特殊情形、冲突审查与豁免</a:t>
            </a:r>
            <a:endParaRPr lang="en-US" sz="950" dirty="0"/>
          </a:p>
        </p:txBody>
      </p:sp>
      <p:sp>
        <p:nvSpPr>
          <p:cNvPr id="22" name="Text 20"/>
          <p:cNvSpPr/>
          <p:nvPr/>
        </p:nvSpPr>
        <p:spPr>
          <a:xfrm>
            <a:off x="8476488" y="494309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8</a:t>
            </a:r>
            <a:endParaRPr lang="en-US" sz="850" dirty="0"/>
          </a:p>
        </p:txBody>
      </p:sp>
      <p:sp>
        <p:nvSpPr>
          <p:cNvPr id="23" name="Text 21"/>
          <p:cNvSpPr/>
          <p:nvPr/>
        </p:nvSpPr>
        <p:spPr>
          <a:xfrm>
            <a:off x="8823960" y="4943094"/>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第19课时　律师服务收费与财物保管</a:t>
            </a:r>
            <a:endParaRPr lang="en-US" sz="950" dirty="0"/>
          </a:p>
        </p:txBody>
      </p:sp>
      <p:sp>
        <p:nvSpPr>
          <p:cNvPr id="24" name="Text 22"/>
          <p:cNvSpPr/>
          <p:nvPr/>
        </p:nvSpPr>
        <p:spPr>
          <a:xfrm>
            <a:off x="8476488" y="525519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9</a:t>
            </a:r>
            <a:endParaRPr lang="en-US" sz="850" dirty="0"/>
          </a:p>
        </p:txBody>
      </p:sp>
      <p:sp>
        <p:nvSpPr>
          <p:cNvPr id="25" name="Text 23"/>
          <p:cNvSpPr/>
          <p:nvPr/>
        </p:nvSpPr>
        <p:spPr>
          <a:xfrm>
            <a:off x="8823960" y="525519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第20课时　争讼业务伦理：对法庭、对方、证人与媒体的义务</a:t>
            </a:r>
            <a:endParaRPr lang="en-US" sz="950" dirty="0"/>
          </a:p>
        </p:txBody>
      </p:sp>
      <p:sp>
        <p:nvSpPr>
          <p:cNvPr id="26" name="Text 24"/>
          <p:cNvSpPr/>
          <p:nvPr/>
        </p:nvSpPr>
        <p:spPr>
          <a:xfrm>
            <a:off x="8476488" y="574224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10</a:t>
            </a:r>
            <a:endParaRPr lang="en-US" sz="850" dirty="0"/>
          </a:p>
        </p:txBody>
      </p:sp>
      <p:sp>
        <p:nvSpPr>
          <p:cNvPr id="27" name="Text 25"/>
          <p:cNvSpPr/>
          <p:nvPr/>
        </p:nvSpPr>
        <p:spPr>
          <a:xfrm>
            <a:off x="8823960" y="5742242"/>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第21课时　律师事务所治理、律师协会与司法行政管理</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第12课时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律师制度、律师职业伦理的性质与渊源</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律师忠诚于委托人，法官忠诚于法律，检察官忠诚于真相——三种忠诚为何能并存？</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我国律师制度的四十余年演进与定位转变</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律师职业伦理的自律性、双重性与非道德性</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律师执业权利的保障：为什么它是伦理问题</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进入律师伦理之前必须搞清的四件事</a:t>
            </a:r>
            <a:endParaRPr lang="en-US" sz="2800" dirty="0"/>
          </a:p>
        </p:txBody>
      </p:sp>
      <p:sp>
        <p:nvSpPr>
          <p:cNvPr id="4" name="Shape 2"/>
          <p:cNvSpPr/>
          <p:nvPr/>
        </p:nvSpPr>
        <p:spPr>
          <a:xfrm>
            <a:off x="566928" y="2550700"/>
            <a:ext cx="5300320" cy="676339"/>
          </a:xfrm>
          <a:prstGeom prst="roundRect">
            <a:avLst>
              <a:gd name="adj" fmla="val 10816"/>
            </a:avLst>
          </a:prstGeom>
          <a:solidFill>
            <a:srgbClr val="F2F4F8"/>
          </a:solidFill>
          <a:ln w="12700">
            <a:solidFill>
              <a:srgbClr val="F2F4F8"/>
            </a:solidFill>
            <a:prstDash val="solid"/>
          </a:ln>
        </p:spPr>
      </p:sp>
      <p:sp>
        <p:nvSpPr>
          <p:cNvPr id="5" name="Shape 3"/>
          <p:cNvSpPr/>
          <p:nvPr/>
        </p:nvSpPr>
        <p:spPr>
          <a:xfrm>
            <a:off x="731520" y="2705989"/>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05989"/>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750757"/>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一、我国律师制度的发展历程</a:t>
            </a:r>
            <a:endParaRPr lang="en-US" sz="1500" dirty="0"/>
          </a:p>
        </p:txBody>
      </p:sp>
      <p:sp>
        <p:nvSpPr>
          <p:cNvPr id="8" name="Shape 6"/>
          <p:cNvSpPr/>
          <p:nvPr/>
        </p:nvSpPr>
        <p:spPr>
          <a:xfrm>
            <a:off x="566928" y="3373342"/>
            <a:ext cx="5300320" cy="676339"/>
          </a:xfrm>
          <a:prstGeom prst="roundRect">
            <a:avLst>
              <a:gd name="adj" fmla="val 10816"/>
            </a:avLst>
          </a:prstGeom>
          <a:solidFill>
            <a:srgbClr val="F2F4F8"/>
          </a:solidFill>
          <a:ln w="12700">
            <a:solidFill>
              <a:srgbClr val="F2F4F8"/>
            </a:solidFill>
            <a:prstDash val="solid"/>
          </a:ln>
        </p:spPr>
      </p:sp>
      <p:sp>
        <p:nvSpPr>
          <p:cNvPr id="9" name="Shape 7"/>
          <p:cNvSpPr/>
          <p:nvPr/>
        </p:nvSpPr>
        <p:spPr>
          <a:xfrm>
            <a:off x="731520" y="3528632"/>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528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二、律师的法律定位与律师事务所的组织形式</a:t>
            </a:r>
            <a:endParaRPr lang="en-US" sz="1500" dirty="0"/>
          </a:p>
        </p:txBody>
      </p:sp>
      <p:sp>
        <p:nvSpPr>
          <p:cNvPr id="12" name="Shape 10"/>
          <p:cNvSpPr/>
          <p:nvPr/>
        </p:nvSpPr>
        <p:spPr>
          <a:xfrm>
            <a:off x="566928" y="4195985"/>
            <a:ext cx="5300320" cy="952564"/>
          </a:xfrm>
          <a:prstGeom prst="roundRect">
            <a:avLst>
              <a:gd name="adj" fmla="val 7679"/>
            </a:avLst>
          </a:prstGeom>
          <a:solidFill>
            <a:srgbClr val="F2F4F8"/>
          </a:solidFill>
          <a:ln w="12700">
            <a:solidFill>
              <a:srgbClr val="F2F4F8"/>
            </a:solidFill>
            <a:prstDash val="solid"/>
          </a:ln>
        </p:spPr>
      </p:sp>
      <p:sp>
        <p:nvSpPr>
          <p:cNvPr id="13" name="Shape 11"/>
          <p:cNvSpPr/>
          <p:nvPr/>
        </p:nvSpPr>
        <p:spPr>
          <a:xfrm>
            <a:off x="731520" y="4489387"/>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489387"/>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396042"/>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三、律师职业伦理的性质：自律性、双重性与非道德性</a:t>
            </a:r>
            <a:endParaRPr lang="en-US" sz="1500" dirty="0"/>
          </a:p>
        </p:txBody>
      </p:sp>
      <p:sp>
        <p:nvSpPr>
          <p:cNvPr id="16" name="Shape 14"/>
          <p:cNvSpPr/>
          <p:nvPr/>
        </p:nvSpPr>
        <p:spPr>
          <a:xfrm>
            <a:off x="6324448" y="2688812"/>
            <a:ext cx="5300320" cy="676339"/>
          </a:xfrm>
          <a:prstGeom prst="roundRect">
            <a:avLst>
              <a:gd name="adj" fmla="val 10816"/>
            </a:avLst>
          </a:prstGeom>
          <a:solidFill>
            <a:srgbClr val="F2F4F8"/>
          </a:solidFill>
          <a:ln w="12700">
            <a:solidFill>
              <a:srgbClr val="F2F4F8"/>
            </a:solidFill>
            <a:prstDash val="solid"/>
          </a:ln>
        </p:spPr>
      </p:sp>
      <p:sp>
        <p:nvSpPr>
          <p:cNvPr id="17" name="Shape 15"/>
          <p:cNvSpPr/>
          <p:nvPr/>
        </p:nvSpPr>
        <p:spPr>
          <a:xfrm>
            <a:off x="6489040" y="2844102"/>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84410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88869"/>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四、律师职业伦理的渊源体系</a:t>
            </a:r>
            <a:endParaRPr lang="en-US" sz="1500" dirty="0"/>
          </a:p>
        </p:txBody>
      </p:sp>
      <p:sp>
        <p:nvSpPr>
          <p:cNvPr id="20" name="Shape 18"/>
          <p:cNvSpPr/>
          <p:nvPr/>
        </p:nvSpPr>
        <p:spPr>
          <a:xfrm>
            <a:off x="6324448" y="3511455"/>
            <a:ext cx="5300320" cy="676339"/>
          </a:xfrm>
          <a:prstGeom prst="roundRect">
            <a:avLst>
              <a:gd name="adj" fmla="val 10816"/>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五、律师执业权利保障</a:t>
            </a:r>
            <a:endParaRPr lang="en-US" sz="1500" dirty="0"/>
          </a:p>
        </p:txBody>
      </p:sp>
      <p:sp>
        <p:nvSpPr>
          <p:cNvPr id="24" name="Shape 22"/>
          <p:cNvSpPr/>
          <p:nvPr/>
        </p:nvSpPr>
        <p:spPr>
          <a:xfrm>
            <a:off x="6324448" y="4334097"/>
            <a:ext cx="5300320" cy="676339"/>
          </a:xfrm>
          <a:prstGeom prst="roundRect">
            <a:avLst>
              <a:gd name="adj" fmla="val 10816"/>
            </a:avLst>
          </a:prstGeom>
          <a:solidFill>
            <a:srgbClr val="F2F4F8"/>
          </a:solidFill>
          <a:ln w="12700">
            <a:solidFill>
              <a:srgbClr val="F2F4F8"/>
            </a:solidFill>
            <a:prstDash val="solid"/>
          </a:ln>
        </p:spPr>
      </p:sp>
      <p:sp>
        <p:nvSpPr>
          <p:cNvPr id="25" name="Shape 23"/>
          <p:cNvSpPr/>
          <p:nvPr/>
        </p:nvSpPr>
        <p:spPr>
          <a:xfrm>
            <a:off x="6489040" y="4489387"/>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489387"/>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34154"/>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六、律师的义务概览与本课小结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我国律师制度的发展历程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制度的每一次转变，都带来职业伦理内容的重构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历史脉络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四个阶段</a:t>
            </a:r>
            <a:endParaRPr lang="en-US" sz="2800" dirty="0"/>
          </a:p>
        </p:txBody>
      </p:sp>
      <p:sp>
        <p:nvSpPr>
          <p:cNvPr id="4" name="Shape 2"/>
          <p:cNvSpPr/>
          <p:nvPr/>
        </p:nvSpPr>
        <p:spPr>
          <a:xfrm>
            <a:off x="566928" y="2209038"/>
            <a:ext cx="5382616" cy="1576578"/>
          </a:xfrm>
          <a:prstGeom prst="roundRect">
            <a:avLst>
              <a:gd name="adj" fmla="val 4640"/>
            </a:avLst>
          </a:prstGeom>
          <a:solidFill>
            <a:srgbClr val="F2F4F8"/>
          </a:solidFill>
          <a:ln w="12700">
            <a:solidFill>
              <a:srgbClr val="F2F4F8"/>
            </a:solidFill>
            <a:prstDash val="solid"/>
          </a:ln>
        </p:spPr>
      </p:sp>
      <p:sp>
        <p:nvSpPr>
          <p:cNvPr id="5" name="Shape 3"/>
          <p:cNvSpPr/>
          <p:nvPr/>
        </p:nvSpPr>
        <p:spPr>
          <a:xfrm>
            <a:off x="822960" y="2768727"/>
            <a:ext cx="457200" cy="457200"/>
          </a:xfrm>
          <a:prstGeom prst="ellipse">
            <a:avLst/>
          </a:prstGeom>
          <a:solidFill>
            <a:srgbClr val="13233F"/>
          </a:solidFill>
          <a:ln w="12700">
            <a:solidFill>
              <a:srgbClr val="13233F"/>
            </a:solidFill>
            <a:prstDash val="solid"/>
          </a:ln>
        </p:spPr>
      </p:sp>
      <p:sp>
        <p:nvSpPr>
          <p:cNvPr id="6" name="Text 4"/>
          <p:cNvSpPr/>
          <p:nvPr/>
        </p:nvSpPr>
        <p:spPr>
          <a:xfrm>
            <a:off x="822960" y="276872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3461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初创与中断（1950年代）</a:t>
            </a:r>
            <a:endParaRPr lang="en-US" sz="1500" dirty="0"/>
          </a:p>
        </p:txBody>
      </p:sp>
      <p:sp>
        <p:nvSpPr>
          <p:cNvPr id="8" name="Text 6"/>
          <p:cNvSpPr/>
          <p:nvPr/>
        </p:nvSpPr>
        <p:spPr>
          <a:xfrm>
            <a:off x="1444752" y="2654046"/>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1954年《人民法院组织法》确认被告人有权获得辩护；1956年国务院批准司法部关于建立律师工作的请示报告，律师制度初步建立，设立法律顾问处。1957年后律师制度被迫中断二十余年。</a:t>
            </a:r>
            <a:endParaRPr lang="en-US" sz="1350" dirty="0"/>
          </a:p>
        </p:txBody>
      </p:sp>
      <p:sp>
        <p:nvSpPr>
          <p:cNvPr id="9" name="Shape 7"/>
          <p:cNvSpPr/>
          <p:nvPr/>
        </p:nvSpPr>
        <p:spPr>
          <a:xfrm>
            <a:off x="566928" y="3913632"/>
            <a:ext cx="5382616" cy="1576578"/>
          </a:xfrm>
          <a:prstGeom prst="roundRect">
            <a:avLst>
              <a:gd name="adj" fmla="val 4640"/>
            </a:avLst>
          </a:prstGeom>
          <a:solidFill>
            <a:srgbClr val="FFFFFF"/>
          </a:solidFill>
          <a:ln w="12700">
            <a:solidFill>
              <a:srgbClr val="D5DBE5"/>
            </a:solidFill>
            <a:prstDash val="solid"/>
          </a:ln>
        </p:spPr>
      </p:sp>
      <p:sp>
        <p:nvSpPr>
          <p:cNvPr id="10" name="Shape 8"/>
          <p:cNvSpPr/>
          <p:nvPr/>
        </p:nvSpPr>
        <p:spPr>
          <a:xfrm>
            <a:off x="822960" y="4473321"/>
            <a:ext cx="457200" cy="457200"/>
          </a:xfrm>
          <a:prstGeom prst="ellipse">
            <a:avLst/>
          </a:prstGeom>
          <a:solidFill>
            <a:srgbClr val="13233F"/>
          </a:solidFill>
          <a:ln w="12700">
            <a:solidFill>
              <a:srgbClr val="13233F"/>
            </a:solidFill>
            <a:prstDash val="solid"/>
          </a:ln>
        </p:spPr>
      </p:sp>
      <p:sp>
        <p:nvSpPr>
          <p:cNvPr id="11" name="Text 9"/>
          <p:cNvSpPr/>
          <p:nvPr/>
        </p:nvSpPr>
        <p:spPr>
          <a:xfrm>
            <a:off x="822960" y="447332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恢复重建（1979—1980）</a:t>
            </a:r>
            <a:endParaRPr lang="en-US" sz="1500" dirty="0"/>
          </a:p>
        </p:txBody>
      </p:sp>
      <p:sp>
        <p:nvSpPr>
          <p:cNvPr id="13" name="Text 11"/>
          <p:cNvSpPr/>
          <p:nvPr/>
        </p:nvSpPr>
        <p:spPr>
          <a:xfrm>
            <a:off x="1444752" y="4358640"/>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1979年《刑事诉讼法》恢复辩护制度。1980年《律师暂行条例》颁布，律师被定位为“国家法律工作者”，在具有国家机关性质的法律顾问处工作，拿国家工资。此阶段职业伦理主要表现为纪律要求。</a:t>
            </a:r>
            <a:endParaRPr lang="en-US" sz="1350" dirty="0"/>
          </a:p>
        </p:txBody>
      </p:sp>
      <p:sp>
        <p:nvSpPr>
          <p:cNvPr id="14" name="Shape 12"/>
          <p:cNvSpPr/>
          <p:nvPr/>
        </p:nvSpPr>
        <p:spPr>
          <a:xfrm>
            <a:off x="6242152" y="2209038"/>
            <a:ext cx="5382616" cy="1576578"/>
          </a:xfrm>
          <a:prstGeom prst="roundRect">
            <a:avLst>
              <a:gd name="adj" fmla="val 4640"/>
            </a:avLst>
          </a:prstGeom>
          <a:solidFill>
            <a:srgbClr val="F2F4F8"/>
          </a:solidFill>
          <a:ln w="12700">
            <a:solidFill>
              <a:srgbClr val="F2F4F8"/>
            </a:solidFill>
            <a:prstDash val="solid"/>
          </a:ln>
        </p:spPr>
      </p:sp>
      <p:sp>
        <p:nvSpPr>
          <p:cNvPr id="15" name="Shape 13"/>
          <p:cNvSpPr/>
          <p:nvPr/>
        </p:nvSpPr>
        <p:spPr>
          <a:xfrm>
            <a:off x="6498184" y="2768727"/>
            <a:ext cx="457200" cy="457200"/>
          </a:xfrm>
          <a:prstGeom prst="ellipse">
            <a:avLst/>
          </a:prstGeom>
          <a:solidFill>
            <a:srgbClr val="13233F"/>
          </a:solidFill>
          <a:ln w="12700">
            <a:solidFill>
              <a:srgbClr val="13233F"/>
            </a:solidFill>
            <a:prstDash val="solid"/>
          </a:ln>
        </p:spPr>
      </p:sp>
      <p:sp>
        <p:nvSpPr>
          <p:cNvPr id="16" name="Text 14"/>
          <p:cNvSpPr/>
          <p:nvPr/>
        </p:nvSpPr>
        <p:spPr>
          <a:xfrm>
            <a:off x="6498184" y="276872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7119976" y="23461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职业化转型（1996—2007）</a:t>
            </a:r>
            <a:endParaRPr lang="en-US" sz="1500" dirty="0"/>
          </a:p>
        </p:txBody>
      </p:sp>
      <p:sp>
        <p:nvSpPr>
          <p:cNvPr id="18" name="Text 16"/>
          <p:cNvSpPr/>
          <p:nvPr/>
        </p:nvSpPr>
        <p:spPr>
          <a:xfrm>
            <a:off x="7119976" y="2654046"/>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1996年《律师法》颁布，律师定位转变为“为社会提供法律服务的执业人员”。历经2001年修正、2007年修订、2012年与2017年修正，形成现行文本。定位的转变使独立的职业伦理成为必需。</a:t>
            </a:r>
            <a:endParaRPr lang="en-US" sz="1350" dirty="0"/>
          </a:p>
        </p:txBody>
      </p:sp>
      <p:sp>
        <p:nvSpPr>
          <p:cNvPr id="19" name="Shape 17"/>
          <p:cNvSpPr/>
          <p:nvPr/>
        </p:nvSpPr>
        <p:spPr>
          <a:xfrm>
            <a:off x="6242152" y="3913632"/>
            <a:ext cx="5382616" cy="1576578"/>
          </a:xfrm>
          <a:prstGeom prst="roundRect">
            <a:avLst>
              <a:gd name="adj" fmla="val 4640"/>
            </a:avLst>
          </a:prstGeom>
          <a:solidFill>
            <a:srgbClr val="FFFFFF"/>
          </a:solidFill>
          <a:ln w="12700">
            <a:solidFill>
              <a:srgbClr val="D5DBE5"/>
            </a:solidFill>
            <a:prstDash val="solid"/>
          </a:ln>
        </p:spPr>
      </p:sp>
      <p:sp>
        <p:nvSpPr>
          <p:cNvPr id="20" name="Shape 18"/>
          <p:cNvSpPr/>
          <p:nvPr/>
        </p:nvSpPr>
        <p:spPr>
          <a:xfrm>
            <a:off x="6498184" y="4473321"/>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447332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规范化发展（2007年至今）</a:t>
            </a:r>
            <a:endParaRPr lang="en-US" sz="1500" dirty="0"/>
          </a:p>
        </p:txBody>
      </p:sp>
      <p:sp>
        <p:nvSpPr>
          <p:cNvPr id="23" name="Text 21"/>
          <p:cNvSpPr/>
          <p:nvPr/>
        </p:nvSpPr>
        <p:spPr>
          <a:xfrm>
            <a:off x="7119976" y="4358640"/>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2007年修订大幅强化律师执业权利（会见、阅卷、调查取证）；《律师执业行为规范》等行业规范体系逐步完善；2022年《法律援助法》施行；司法部将修订《律师法》列为重点工作，各位应关注立法动态。</a:t>
            </a:r>
            <a:endParaRPr lang="en-US" sz="135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定位转变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从“国家法律工作者”到“执业人员”</a:t>
            </a:r>
            <a:endParaRPr lang="en-US" sz="2800" dirty="0"/>
          </a:p>
        </p:txBody>
      </p:sp>
      <p:sp>
        <p:nvSpPr>
          <p:cNvPr id="4" name="Shape 2"/>
          <p:cNvSpPr/>
          <p:nvPr/>
        </p:nvSpPr>
        <p:spPr>
          <a:xfrm>
            <a:off x="566928" y="2025333"/>
            <a:ext cx="5410048" cy="3648583"/>
          </a:xfrm>
          <a:prstGeom prst="roundRect">
            <a:avLst>
              <a:gd name="adj" fmla="val 2506"/>
            </a:avLst>
          </a:prstGeom>
          <a:solidFill>
            <a:srgbClr val="F2F4F8"/>
          </a:solidFill>
          <a:ln w="12700">
            <a:solidFill>
              <a:srgbClr val="F2F4F8"/>
            </a:solidFill>
            <a:prstDash val="solid"/>
          </a:ln>
        </p:spPr>
      </p:sp>
      <p:sp>
        <p:nvSpPr>
          <p:cNvPr id="5" name="Shape 3"/>
          <p:cNvSpPr/>
          <p:nvPr/>
        </p:nvSpPr>
        <p:spPr>
          <a:xfrm>
            <a:off x="841248" y="22813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1980年《律师暂行条例》</a:t>
            </a:r>
            <a:endParaRPr lang="en-US" sz="1600" dirty="0"/>
          </a:p>
        </p:txBody>
      </p:sp>
      <p:sp>
        <p:nvSpPr>
          <p:cNvPr id="7" name="Text 5"/>
          <p:cNvSpPr/>
          <p:nvPr/>
        </p:nvSpPr>
        <p:spPr>
          <a:xfrm>
            <a:off x="932688"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定位：国家法律工作者。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身份：国家干部，拿国家工资。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机构：法律顾问处，具有国家机关性质。</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伦理性质：以纪律要求为主，缺乏独立的职业伦理体系。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内在张力：既受雇于国家，又要为被追诉人辩护，角色难以自洽。</a:t>
            </a:r>
            <a:endParaRPr lang="en-US" sz="1450" dirty="0"/>
          </a:p>
        </p:txBody>
      </p:sp>
      <p:sp>
        <p:nvSpPr>
          <p:cNvPr id="8" name="Shape 6"/>
          <p:cNvSpPr/>
          <p:nvPr/>
        </p:nvSpPr>
        <p:spPr>
          <a:xfrm>
            <a:off x="6214720" y="2025333"/>
            <a:ext cx="5410048" cy="3648583"/>
          </a:xfrm>
          <a:prstGeom prst="roundRect">
            <a:avLst>
              <a:gd name="adj" fmla="val 2506"/>
            </a:avLst>
          </a:prstGeom>
          <a:solidFill>
            <a:srgbClr val="F6F1E8"/>
          </a:solidFill>
          <a:ln w="12700">
            <a:solidFill>
              <a:srgbClr val="F6F1E8"/>
            </a:solidFill>
            <a:prstDash val="solid"/>
          </a:ln>
        </p:spPr>
      </p:sp>
      <p:sp>
        <p:nvSpPr>
          <p:cNvPr id="9" name="Shape 7"/>
          <p:cNvSpPr/>
          <p:nvPr/>
        </p:nvSpPr>
        <p:spPr>
          <a:xfrm>
            <a:off x="6489040" y="22813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现行《律师法》第二条</a:t>
            </a:r>
            <a:endParaRPr lang="en-US" sz="1600" dirty="0"/>
          </a:p>
        </p:txBody>
      </p:sp>
      <p:sp>
        <p:nvSpPr>
          <p:cNvPr id="11" name="Text 9"/>
          <p:cNvSpPr/>
          <p:nvPr/>
        </p:nvSpPr>
        <p:spPr>
          <a:xfrm>
            <a:off x="6580480"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定位：依法取得律师执业证书，接受委托或者指定，为当事人提供法律服务的执业人员。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身份：自由职业者或律师事务所成员，自负盈亏。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机构：合伙律师事务所、个人律师事务所、国家出资设立的律师事务所。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伦理性质：以行业自律规范为主，与国家管理相结合。</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新的张力：市场逻辑与职业逻辑之间的冲突。</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核心定位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《律师法》第二条与第三条</a:t>
            </a:r>
            <a:endParaRPr lang="en-US" sz="2800" dirty="0"/>
          </a:p>
        </p:txBody>
      </p:sp>
      <p:sp>
        <p:nvSpPr>
          <p:cNvPr id="4" name="Shape 2"/>
          <p:cNvSpPr/>
          <p:nvPr/>
        </p:nvSpPr>
        <p:spPr>
          <a:xfrm>
            <a:off x="566928" y="1316736"/>
            <a:ext cx="11057839" cy="1634109"/>
          </a:xfrm>
          <a:prstGeom prst="roundRect">
            <a:avLst>
              <a:gd name="adj" fmla="val 5596"/>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《中华人民共和国律师法》第二条</a:t>
            </a:r>
            <a:endParaRPr lang="en-US" sz="1500" dirty="0"/>
          </a:p>
        </p:txBody>
      </p:sp>
      <p:sp>
        <p:nvSpPr>
          <p:cNvPr id="8" name="Text 6"/>
          <p:cNvSpPr/>
          <p:nvPr/>
        </p:nvSpPr>
        <p:spPr>
          <a:xfrm>
            <a:off x="960120" y="1956816"/>
            <a:ext cx="10271455" cy="77457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本法所称律师，是指依法取得律师执业证书，接受委托或者指定，为当事人提供法律服务的执业人员。</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律师应当维护当事人合法权益，维护法律正确实施，维护社会公平和正义。</a:t>
            </a:r>
            <a:endParaRPr lang="en-US" sz="1550" dirty="0"/>
          </a:p>
        </p:txBody>
      </p:sp>
      <p:sp>
        <p:nvSpPr>
          <p:cNvPr id="9" name="Shape 7"/>
          <p:cNvSpPr/>
          <p:nvPr/>
        </p:nvSpPr>
        <p:spPr>
          <a:xfrm>
            <a:off x="566928" y="3133725"/>
            <a:ext cx="11057839" cy="1634109"/>
          </a:xfrm>
          <a:prstGeom prst="roundRect">
            <a:avLst>
              <a:gd name="adj" fmla="val 5596"/>
            </a:avLst>
          </a:prstGeom>
          <a:solidFill>
            <a:srgbClr val="F6F1E8"/>
          </a:solidFill>
          <a:ln w="12700">
            <a:solidFill>
              <a:srgbClr val="F6F1E8"/>
            </a:solidFill>
            <a:prstDash val="solid"/>
          </a:ln>
        </p:spPr>
      </p:sp>
      <p:sp>
        <p:nvSpPr>
          <p:cNvPr id="10" name="Shape 8"/>
          <p:cNvSpPr/>
          <p:nvPr/>
        </p:nvSpPr>
        <p:spPr>
          <a:xfrm>
            <a:off x="877824" y="337146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7146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5318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《中华人民共和国律师法》第三条</a:t>
            </a:r>
            <a:endParaRPr lang="en-US" sz="1500" dirty="0"/>
          </a:p>
        </p:txBody>
      </p:sp>
      <p:sp>
        <p:nvSpPr>
          <p:cNvPr id="13" name="Text 11"/>
          <p:cNvSpPr/>
          <p:nvPr/>
        </p:nvSpPr>
        <p:spPr>
          <a:xfrm>
            <a:off x="960120" y="3773805"/>
            <a:ext cx="10271455" cy="77457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律师执业必须遵守宪法和法律，恪守律师职业道德和执业纪律。</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律师执业必须以事实为根据，以法律为准绳。</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律师执业应当接受国家、社会和当事人的监督。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律师依法执业受法律保护，任何组织和个人不得侵害律师的合法权益。</a:t>
            </a:r>
            <a:endParaRPr lang="en-US" sz="15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二条第二款的“三个维护”是律师职业伦理的总纲。请注意其中的限定词“合法权益”——这四个字划定了忠诚义务的边界：律师维护的是当事人的合法权益，不包括非法利益。当事人要求造假，那个诉求不是“合法权益”，拒绝它并不违反第一个“维护”。第三条则呈现“义务—标准—监督—保障”的四段式结构。</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律师事务所的组织形式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组织形式决定责任承担方式，也决定利益冲突审查的范围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三种形式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律师事务所的组织形式与责任</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合伙律师事务所</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分为普通合伙与特殊的普通合伙。普通合伙人对律所债务承担无限连带责任；特殊的普通合伙中，一名或者数名合伙人在执业活动中因故意或者重大过失造成的债务，由其承担无限责任或者无限连带责任，其他合伙人以其在律所中的财产份额为限承担责任。</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个人律师事务所</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由一名符合条件的律师设立，设立人对律所债务承担无限责任。设立人须具有一定年限的执业经历。规模小、决策快，但抗风险能力弱，且利益冲突审查的技术条件相对薄弱。</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国家出资设立的律师事务所</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依法自主开展律师业务，以其全部资产对其债务承担责任。此外还有公职律师办公室、公司律师办公室等特殊形式，其人员兼具单位职员与律师的双重身份。</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为什么组织形式是伦理问题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律所形式与职业伦理的三重关联</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组织形式看似是商法问题，实则与职业伦理密切相关。</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第一，利益冲突的审查范围。原则上，同一律师事务所的不同律师不得在同一案件中代理双方当事人——冲突的判断单位是“所”而非“人”。因此律所规模越大、分所越多，冲突审查的技术难度越高。</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第二，责任承担的方式。委托人因律师过错受损时，向谁主张？合伙律所与个人律所的责任基础不同，这直接影响委托人的救济可能性，也影响律师的执业风险防范。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管理责任的落实。《律师法》与《律师事务所管理办法》要求律所对律师执业行为承担管理责任——包括利益冲突审查、收费管理、档案管理、投诉处理。律所不是律师的“挂靠单位”，而是负有实质管理义务的主体。</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第21课时我们将专门讨论律师事务所的治理与管理责任。此处先建立一个观念：律师的执业行为，同时也是律所的行为。</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律师职业伦理的性质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自律性、双重性与非道德性——三个必须辨析清楚的命题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性质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律师职业伦理的三重性质</a:t>
            </a:r>
            <a:endParaRPr lang="en-US" sz="2800" dirty="0"/>
          </a:p>
        </p:txBody>
      </p:sp>
      <p:sp>
        <p:nvSpPr>
          <p:cNvPr id="4" name="Shape 2"/>
          <p:cNvSpPr/>
          <p:nvPr/>
        </p:nvSpPr>
        <p:spPr>
          <a:xfrm>
            <a:off x="566928" y="1316736"/>
            <a:ext cx="11057839" cy="1591056"/>
          </a:xfrm>
          <a:prstGeom prst="roundRect">
            <a:avLst>
              <a:gd name="adj" fmla="val 4598"/>
            </a:avLst>
          </a:prstGeom>
          <a:solidFill>
            <a:srgbClr val="F2F4F8"/>
          </a:solidFill>
          <a:ln w="12700">
            <a:solidFill>
              <a:srgbClr val="F2F4F8"/>
            </a:solidFill>
            <a:prstDash val="solid"/>
          </a:ln>
        </p:spPr>
      </p:sp>
      <p:sp>
        <p:nvSpPr>
          <p:cNvPr id="5" name="Shape 3"/>
          <p:cNvSpPr/>
          <p:nvPr/>
        </p:nvSpPr>
        <p:spPr>
          <a:xfrm>
            <a:off x="841248" y="185623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09851"/>
            <a:ext cx="204826" cy="204826"/>
          </a:xfrm>
          <a:prstGeom prst="rect">
            <a:avLst/>
          </a:prstGeom>
        </p:spPr>
      </p:pic>
      <p:sp>
        <p:nvSpPr>
          <p:cNvPr id="7" name="Text 4"/>
          <p:cNvSpPr/>
          <p:nvPr/>
        </p:nvSpPr>
        <p:spPr>
          <a:xfrm>
            <a:off x="1536192" y="152723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一、鲜明的自律性</a:t>
            </a:r>
            <a:endParaRPr lang="en-US" sz="1650" dirty="0"/>
          </a:p>
        </p:txBody>
      </p:sp>
      <p:sp>
        <p:nvSpPr>
          <p:cNvPr id="8" name="Text 5"/>
          <p:cNvSpPr/>
          <p:nvPr/>
        </p:nvSpPr>
        <p:spPr>
          <a:xfrm>
            <a:off x="1536192" y="186861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的职业道德具有鲜明的自律性特点。与法官、检察官不同，律师不行使公权力，其行为主要依靠行业规范与自我约束调整。我国实行司法行政机关行政管理与律师协会行业自律相结合的“两结合”体制，但行业规范仍是律师伦理最细密、最贴近实践的部分。</a:t>
            </a:r>
            <a:endParaRPr lang="en-US" sz="1500" dirty="0"/>
          </a:p>
        </p:txBody>
      </p:sp>
      <p:sp>
        <p:nvSpPr>
          <p:cNvPr id="9" name="Shape 6"/>
          <p:cNvSpPr/>
          <p:nvPr/>
        </p:nvSpPr>
        <p:spPr>
          <a:xfrm>
            <a:off x="566928" y="3054096"/>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二、内在的双重性</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法》第二条第二款要求律师同时“维护当事人合法权益、维护法律正确实施、维护社会公平和正义”。前者指向私人受托人角色，后两者指向公共职责。这一双重性使律师区别于纯粹的商业代理人，也是我国律师定位接近大陆法系“司法机关组成部分”的体现。</a:t>
            </a:r>
            <a:endParaRPr lang="en-US" sz="1500" dirty="0"/>
          </a:p>
        </p:txBody>
      </p:sp>
      <p:sp>
        <p:nvSpPr>
          <p:cNvPr id="14" name="Shape 10"/>
          <p:cNvSpPr/>
          <p:nvPr/>
        </p:nvSpPr>
        <p:spPr>
          <a:xfrm>
            <a:off x="566928" y="4791456"/>
            <a:ext cx="11057839" cy="1591056"/>
          </a:xfrm>
          <a:prstGeom prst="roundRect">
            <a:avLst>
              <a:gd name="adj" fmla="val 4598"/>
            </a:avLst>
          </a:prstGeom>
          <a:solidFill>
            <a:srgbClr val="F2F4F8"/>
          </a:solidFill>
          <a:ln w="12700">
            <a:solidFill>
              <a:srgbClr val="F2F4F8"/>
            </a:solidFill>
            <a:prstDash val="solid"/>
          </a:ln>
        </p:spPr>
      </p:sp>
      <p:sp>
        <p:nvSpPr>
          <p:cNvPr id="15" name="Shape 11"/>
          <p:cNvSpPr/>
          <p:nvPr/>
        </p:nvSpPr>
        <p:spPr>
          <a:xfrm>
            <a:off x="841248" y="533095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84571"/>
            <a:ext cx="204826" cy="204826"/>
          </a:xfrm>
          <a:prstGeom prst="rect">
            <a:avLst/>
          </a:prstGeom>
        </p:spPr>
      </p:pic>
      <p:sp>
        <p:nvSpPr>
          <p:cNvPr id="17" name="Text 12"/>
          <p:cNvSpPr/>
          <p:nvPr/>
        </p:nvSpPr>
        <p:spPr>
          <a:xfrm>
            <a:off x="1536192" y="500195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三、争议中的非道德性</a:t>
            </a:r>
            <a:endParaRPr lang="en-US" sz="1650" dirty="0"/>
          </a:p>
        </p:txBody>
      </p:sp>
      <p:sp>
        <p:nvSpPr>
          <p:cNvPr id="18" name="Text 13"/>
          <p:cNvSpPr/>
          <p:nvPr/>
        </p:nvSpPr>
        <p:spPr>
          <a:xfrm>
            <a:off x="1536192" y="534333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有学者认为律师职业具有非道德性（amoral）的特点：律师不因当事人的目的或品行而受道德归责，道德评价交由法庭依法作出。这一命题保护的是“任何人都有权获得辩护”这一原则，但其边界在于《律师法》第四十条的禁止性规定，越界即失去保护。</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张力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三个“维护”发生冲突时怎么办</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规范适用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当事人要求作虚假陈述</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某民间借贷纠纷中，被告委托律师应诉。会见中被告告知律师：借条上的签名确系本人所签，但其打算在法庭上主张签名系伪造，要求律师配合作此抗辩，并称“这是我的诉讼策略，你只需照办”。</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被告进一步表示：如果律师不配合，就解除委托并向律协投诉律师“不尽职”。</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相关规范包括：《律师法》第二条第二款“三个维护”；第四十条第（六）项禁止故意提供虚假证据或者威胁、利诱他人提供虚假证据；《律师执业行为规范》关于不得帮助委托人实施违法行为的规定；以及《刑法》第三百零六条辩护人、诉讼代理人妨害作证罪（限于刑事诉讼）。</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律师应否配合？请指出规范依据。</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“维护当事人合法权益”是否要求律师照办？</a:t>
            </a:r>
            <a:endParaRPr lang="en-US" sz="1400" dirty="0"/>
          </a:p>
        </p:txBody>
      </p:sp>
      <p:sp>
        <p:nvSpPr>
          <p:cNvPr id="17" name="Shape 15"/>
          <p:cNvSpPr/>
          <p:nvPr/>
        </p:nvSpPr>
        <p:spPr>
          <a:xfrm>
            <a:off x="7958023" y="397471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97471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852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律师可以采取哪些正当的应对方式？</a:t>
            </a:r>
            <a:endParaRPr lang="en-US" sz="1400" dirty="0"/>
          </a:p>
        </p:txBody>
      </p:sp>
      <p:sp>
        <p:nvSpPr>
          <p:cNvPr id="20" name="Shape 18"/>
          <p:cNvSpPr/>
          <p:nvPr/>
        </p:nvSpPr>
        <p:spPr>
          <a:xfrm>
            <a:off x="7958023" y="472630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72630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73011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若律师照办，可能承担什么责任？</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律师职业伦理的渊源体系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四部核心规范加配套规则，构成我国最细密的职业伦理规范群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四部核心规范及其分工（复习并深化）</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《律师法》：基本法与法律责任</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第三章“律师的权利和义务”（第二十八条至第四十二条）是伦理规范的法律层核心，规定业务范围、执业权利、保密义务、利益冲突禁止、禁止行为清单、法律援助义务等；第七章“法律责任”规定行政处罚的种类与适用。</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《律师执业管理办法》：行政监管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司法部规章。第四章“律师执业行为规范”对执业行为提出明确要求，第五章规定司法行政机关的监督管理与行政处罚权限及程序。侧重管理与处罚，是行政责任的直接依据。</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《律师执业行为规范》：行业核心规范</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中华全国律师协会制定，是我国律师职业最重要的职业伦理规范。第二章“律师执业基本行为规范”规定基本价值取向与理想追求；其后各章分别规范律师与委托人的关系、业务推广、参与诉讼与仲裁、律师之间的关系、与司法机关的关系等。</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《律师职业道德基本准则》：理念宣示</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中华全国律师协会依据司法部关于加强律师职业道德建设的意见制定。概括性、抽象性强，主要发挥价值引领功能。因缺乏具体构成要件，一般不宜单独作为惩戒依据。</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配套规范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必须知道的配套规则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除四部核心规范外，还有一批配套规则在实务中频繁适用。</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《律师协会会员违规行为处分规则》——行业惩戒的程序与处分种类依据，包括训诫、通报批评、公开谴责、中止会员权利、取消会员资格等。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《律师办理刑事案件规范》——刑事辩护的操作指引，涉及接受委托、会见、阅卷、调查取证、质证、辩论等各环节的行为界限。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《律师执业推广行为规则》——规范广告宣传、媒体发言、案件推介、网络自媒体等行为。</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《律师承办民事诉讼案件业务操作指引》等业务指引——虽以“操作”为名，实含大量伦理要求。</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各省市律师协会的实施细则——注意地方规范可能对全国规范作出更严格的规定，从严不从宽。</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实务提示：律协规范体系庞杂且更新频繁。援引前务必核对现行有效文本与修订日期。</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律师执业权利保障</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保障律师执业权利，不只是律师的利益，更是当事人权利与法治的需要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核心权利</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《律师法》上的三项核心执业权利</a:t>
            </a:r>
            <a:endParaRPr lang="en-US" sz="2800" dirty="0"/>
          </a:p>
        </p:txBody>
      </p:sp>
      <p:sp>
        <p:nvSpPr>
          <p:cNvPr id="4" name="Shape 2"/>
          <p:cNvSpPr/>
          <p:nvPr/>
        </p:nvSpPr>
        <p:spPr>
          <a:xfrm>
            <a:off x="566928" y="1316736"/>
            <a:ext cx="11057839" cy="1763014"/>
          </a:xfrm>
          <a:prstGeom prst="roundRect">
            <a:avLst>
              <a:gd name="adj" fmla="val 518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《律师法》第三十三条（会见权）</a:t>
            </a:r>
            <a:endParaRPr lang="en-US" sz="1500" dirty="0"/>
          </a:p>
        </p:txBody>
      </p:sp>
      <p:sp>
        <p:nvSpPr>
          <p:cNvPr id="8" name="Text 6"/>
          <p:cNvSpPr/>
          <p:nvPr/>
        </p:nvSpPr>
        <p:spPr>
          <a:xfrm>
            <a:off x="960120" y="1956816"/>
            <a:ext cx="10271455" cy="903478"/>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犯罪嫌疑人被侦查机关第一次讯问或者采取强制措施之日起，受委托的律师凭律师执业证书、律师事务所证明和委托书或者法律援助公函，有权会见犯罪嫌疑人、被告人并了解有关情况。律师会见犯罪嫌疑人、被告人，不被监听。</a:t>
            </a:r>
            <a:endParaRPr lang="en-US" sz="1550" dirty="0"/>
          </a:p>
        </p:txBody>
      </p:sp>
      <p:sp>
        <p:nvSpPr>
          <p:cNvPr id="9" name="Shape 7"/>
          <p:cNvSpPr/>
          <p:nvPr/>
        </p:nvSpPr>
        <p:spPr>
          <a:xfrm>
            <a:off x="566928" y="3262630"/>
            <a:ext cx="11057839" cy="1763014"/>
          </a:xfrm>
          <a:prstGeom prst="roundRect">
            <a:avLst>
              <a:gd name="adj" fmla="val 5187"/>
            </a:avLst>
          </a:prstGeom>
          <a:solidFill>
            <a:srgbClr val="F6F1E8"/>
          </a:solidFill>
          <a:ln w="12700">
            <a:solidFill>
              <a:srgbClr val="F6F1E8"/>
            </a:solidFill>
            <a:prstDash val="solid"/>
          </a:ln>
        </p:spPr>
      </p:sp>
      <p:sp>
        <p:nvSpPr>
          <p:cNvPr id="10" name="Shape 8"/>
          <p:cNvSpPr/>
          <p:nvPr/>
        </p:nvSpPr>
        <p:spPr>
          <a:xfrm>
            <a:off x="877824" y="3500374"/>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50037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48208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《律师法》第三十七条（言论豁免）</a:t>
            </a:r>
            <a:endParaRPr lang="en-US" sz="1500" dirty="0"/>
          </a:p>
        </p:txBody>
      </p:sp>
      <p:sp>
        <p:nvSpPr>
          <p:cNvPr id="13" name="Text 11"/>
          <p:cNvSpPr/>
          <p:nvPr/>
        </p:nvSpPr>
        <p:spPr>
          <a:xfrm>
            <a:off x="960120" y="3902710"/>
            <a:ext cx="10271455" cy="903478"/>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律师在执业活动中的人身权利不受侵犯。</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律师在法庭上发表的代理、辩护意见不受法律追究。但是，发表危害国家安全、恶意诽谤他人、严重扰乱法庭秩序的言论除外。</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言论豁免与法官的职业特权在法理上同构：如果发言者随时可能因发言被追究，他就不敢畅所欲言，而诉讼所需要的恰恰是充分表达。请注意豁免有三项除外情形，且限于“在法庭上发表的代理、辩护意见”——庭外言论、自媒体发言不在豁免范围内。</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会见难、阅卷难、调查取证难</a:t>
            </a:r>
            <a:endParaRPr lang="en-US" sz="2800" dirty="0"/>
          </a:p>
        </p:txBody>
      </p:sp>
      <p:sp>
        <p:nvSpPr>
          <p:cNvPr id="4" name="Shape 2"/>
          <p:cNvSpPr/>
          <p:nvPr/>
        </p:nvSpPr>
        <p:spPr>
          <a:xfrm>
            <a:off x="566928" y="1384491"/>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7709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14259"/>
            <a:ext cx="182880" cy="182880"/>
          </a:xfrm>
          <a:prstGeom prst="rect">
            <a:avLst/>
          </a:prstGeom>
        </p:spPr>
      </p:pic>
      <p:sp>
        <p:nvSpPr>
          <p:cNvPr id="7" name="Text 4"/>
          <p:cNvSpPr/>
          <p:nvPr/>
        </p:nvSpPr>
        <p:spPr>
          <a:xfrm>
            <a:off x="886968"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会见权</a:t>
            </a:r>
            <a:endParaRPr lang="en-US" sz="1400" dirty="0"/>
          </a:p>
        </p:txBody>
      </p:sp>
      <p:sp>
        <p:nvSpPr>
          <p:cNvPr id="8" name="Text 5"/>
          <p:cNvSpPr/>
          <p:nvPr/>
        </p:nvSpPr>
        <p:spPr>
          <a:xfrm>
            <a:off x="886968"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辩护律师持律师执业证书、律师事务所证明和委托书或者法律援助公函，要求会见在押的犯罪嫌疑人、被告人的，看守所应当及时安排会见，至迟不得超过四十八小时。会见不被监听。三类特殊案件在侦查期间会见须经侦查机关许可。</a:t>
            </a:r>
            <a:endParaRPr lang="en-US" sz="1150" dirty="0"/>
          </a:p>
        </p:txBody>
      </p:sp>
      <p:sp>
        <p:nvSpPr>
          <p:cNvPr id="9" name="Shape 6"/>
          <p:cNvSpPr/>
          <p:nvPr/>
        </p:nvSpPr>
        <p:spPr>
          <a:xfrm>
            <a:off x="6214720" y="1384491"/>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77099"/>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14259"/>
            <a:ext cx="182880" cy="182880"/>
          </a:xfrm>
          <a:prstGeom prst="rect">
            <a:avLst/>
          </a:prstGeom>
        </p:spPr>
      </p:pic>
      <p:sp>
        <p:nvSpPr>
          <p:cNvPr id="12" name="Text 8"/>
          <p:cNvSpPr/>
          <p:nvPr/>
        </p:nvSpPr>
        <p:spPr>
          <a:xfrm>
            <a:off x="6534760"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阅卷权</a:t>
            </a:r>
            <a:endParaRPr lang="en-US" sz="1400" dirty="0"/>
          </a:p>
        </p:txBody>
      </p:sp>
      <p:sp>
        <p:nvSpPr>
          <p:cNvPr id="13" name="Text 9"/>
          <p:cNvSpPr/>
          <p:nvPr/>
        </p:nvSpPr>
        <p:spPr>
          <a:xfrm>
            <a:off x="6534760"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辩护律师自人民检察院对案件审查起诉之日起，可以查阅、摘抄、复制本案的案卷材料。其他辩护人经许可，也可以查阅、摘抄、复制上述材料。实务中的问题多为变相拖延而非明确拒绝。</a:t>
            </a:r>
            <a:endParaRPr lang="en-US" sz="1150" dirty="0"/>
          </a:p>
        </p:txBody>
      </p:sp>
      <p:sp>
        <p:nvSpPr>
          <p:cNvPr id="14" name="Shape 10"/>
          <p:cNvSpPr/>
          <p:nvPr/>
        </p:nvSpPr>
        <p:spPr>
          <a:xfrm>
            <a:off x="566928" y="4027107"/>
            <a:ext cx="5410048" cy="2287651"/>
          </a:xfrm>
          <a:prstGeom prst="roundRect">
            <a:avLst>
              <a:gd name="adj" fmla="val 3997"/>
            </a:avLst>
          </a:prstGeom>
          <a:solidFill>
            <a:srgbClr val="ECF3F2"/>
          </a:solidFill>
          <a:ln w="12700">
            <a:solidFill>
              <a:srgbClr val="ECF3F2"/>
            </a:solidFill>
            <a:prstDash val="solid"/>
          </a:ln>
        </p:spPr>
      </p:sp>
      <p:sp>
        <p:nvSpPr>
          <p:cNvPr id="15" name="Shape 11"/>
          <p:cNvSpPr/>
          <p:nvPr/>
        </p:nvSpPr>
        <p:spPr>
          <a:xfrm>
            <a:off x="886968" y="4319715"/>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456875"/>
            <a:ext cx="182880" cy="182880"/>
          </a:xfrm>
          <a:prstGeom prst="rect">
            <a:avLst/>
          </a:prstGeom>
        </p:spPr>
      </p:pic>
      <p:sp>
        <p:nvSpPr>
          <p:cNvPr id="17" name="Text 12"/>
          <p:cNvSpPr/>
          <p:nvPr/>
        </p:nvSpPr>
        <p:spPr>
          <a:xfrm>
            <a:off x="886968"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调查取证权</a:t>
            </a:r>
            <a:endParaRPr lang="en-US" sz="1400" dirty="0"/>
          </a:p>
        </p:txBody>
      </p:sp>
      <p:sp>
        <p:nvSpPr>
          <p:cNvPr id="18" name="Text 13"/>
          <p:cNvSpPr/>
          <p:nvPr/>
        </p:nvSpPr>
        <p:spPr>
          <a:xfrm>
            <a:off x="886968"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可以向有关单位或者个人调查、核实证据，但需其同意；向被害人及其近亲属、被害人提供的证人收集材料，须经检察院或法院许可并经本人同意。取证权受限较多，这也是《刑法》第三百零六条备受争议的背景。</a:t>
            </a:r>
            <a:endParaRPr lang="en-US" sz="1150" dirty="0"/>
          </a:p>
        </p:txBody>
      </p:sp>
      <p:sp>
        <p:nvSpPr>
          <p:cNvPr id="19" name="Shape 14"/>
          <p:cNvSpPr/>
          <p:nvPr/>
        </p:nvSpPr>
        <p:spPr>
          <a:xfrm>
            <a:off x="6214720" y="4027107"/>
            <a:ext cx="5410048" cy="2287651"/>
          </a:xfrm>
          <a:prstGeom prst="roundRect">
            <a:avLst>
              <a:gd name="adj" fmla="val 3997"/>
            </a:avLst>
          </a:prstGeom>
          <a:solidFill>
            <a:srgbClr val="F8EFF0"/>
          </a:solidFill>
          <a:ln w="12700">
            <a:solidFill>
              <a:srgbClr val="F8EFF0"/>
            </a:solidFill>
            <a:prstDash val="solid"/>
          </a:ln>
        </p:spPr>
      </p:sp>
      <p:sp>
        <p:nvSpPr>
          <p:cNvPr id="20" name="Shape 15"/>
          <p:cNvSpPr/>
          <p:nvPr/>
        </p:nvSpPr>
        <p:spPr>
          <a:xfrm>
            <a:off x="6534760" y="4319715"/>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456875"/>
            <a:ext cx="182880" cy="182880"/>
          </a:xfrm>
          <a:prstGeom prst="rect">
            <a:avLst/>
          </a:prstGeom>
        </p:spPr>
      </p:pic>
      <p:sp>
        <p:nvSpPr>
          <p:cNvPr id="22" name="Text 16"/>
          <p:cNvSpPr/>
          <p:nvPr/>
        </p:nvSpPr>
        <p:spPr>
          <a:xfrm>
            <a:off x="6534760"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权利救济</a:t>
            </a:r>
            <a:endParaRPr lang="en-US" sz="1400" dirty="0"/>
          </a:p>
        </p:txBody>
      </p:sp>
      <p:sp>
        <p:nvSpPr>
          <p:cNvPr id="23" name="Text 17"/>
          <p:cNvSpPr/>
          <p:nvPr/>
        </p:nvSpPr>
        <p:spPr>
          <a:xfrm>
            <a:off x="6534760"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律师执业权利受到阻碍的，可以向同级或者上一级人民检察院申诉、控告；检察机关应当及时审查并通知有关机关予以纠正。这是2015年建立的律师执业权利救济机制的核心渠道。</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伦理视角</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为什么执业权利保障是伦理问题</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有同学会问：律师权利保障是律师的利益问题，为什么放在职业伦理课里讲？</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第一，权利是履行义务的条件。律师负有勤勉尽责的义务，但如果见不到当事人、看不到卷宗、取不到证据，勤勉义务就无从履行。权利受限，义务也就失去了归责的基础。</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第二，权利属于当事人而非律师。会见权、阅卷权在性质上是当事人辩护权的延伸——律师只是行使者，不是所有者。因此律师不得放弃或者怠于行使这些权利，这本身就是伦理要求。</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权利保障是共同体的共同责任。《关于律师作用的基本原则》要求：律师不应因履行职责而受到威胁、妨碍、恐吓或不适当干涉。保障律师执业权利，是法官、检察官职业伦理的组成部分，而非仅仅是律师的诉求。</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请记住这一转换视角：讨论律师权利时，问的不应是“律师能得到什么”，而是“当事人能否获得有效的法律帮助”。</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1980年《律师暂行条例》将律师定位为“国家法律工作者”。这一定位在为被追诉人辩护时会产生什么内在矛盾？现行“执业人员”的定位是否完全消解了这一矛盾？</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《律师法》第二条第二款要求律师同时维护当事人合法权益、维护法律正确实施、维护社会公平和正义。当三者发生冲突时，是否存在固定的位阶？请举例说明。</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律师的言论豁免限于“在法庭上发表的代理、辩护意见”。在自媒体高度发达的今天，律师庭外就承办案件发表评论应受何种约束？请提出一个判断框架。</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《刑法》第三百零六条设立了辩护人、诉讼代理人妨害作证罪。有观点认为该条对律师取证形成“寒蝉效应”。请从执业权利保障与防止伪证的双重目标出发，评价该条的合理性。</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第12课时要点回顾</a:t>
            </a:r>
            <a:endParaRPr lang="en-US" sz="3000" dirty="0"/>
          </a:p>
        </p:txBody>
      </p:sp>
      <p:sp>
        <p:nvSpPr>
          <p:cNvPr id="4" name="Shape 2"/>
          <p:cNvSpPr/>
          <p:nvPr/>
        </p:nvSpPr>
        <p:spPr>
          <a:xfrm>
            <a:off x="566928" y="1591056"/>
            <a:ext cx="11057839" cy="799370"/>
          </a:xfrm>
          <a:prstGeom prst="roundRect">
            <a:avLst>
              <a:gd name="adj" fmla="val 9151"/>
            </a:avLst>
          </a:prstGeom>
          <a:solidFill>
            <a:srgbClr val="25395F"/>
          </a:solidFill>
          <a:ln w="12700">
            <a:solidFill>
              <a:srgbClr val="25395F"/>
            </a:solidFill>
            <a:prstDash val="solid"/>
          </a:ln>
        </p:spPr>
      </p:sp>
      <p:sp>
        <p:nvSpPr>
          <p:cNvPr id="5" name="Shape 3"/>
          <p:cNvSpPr/>
          <p:nvPr/>
        </p:nvSpPr>
        <p:spPr>
          <a:xfrm>
            <a:off x="859536" y="178957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0274"/>
            <a:ext cx="160934" cy="160934"/>
          </a:xfrm>
          <a:prstGeom prst="rect">
            <a:avLst/>
          </a:prstGeom>
        </p:spPr>
      </p:pic>
      <p:sp>
        <p:nvSpPr>
          <p:cNvPr id="7" name="Text 4"/>
          <p:cNvSpPr/>
          <p:nvPr/>
        </p:nvSpPr>
        <p:spPr>
          <a:xfrm>
            <a:off x="1444752" y="175261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我国律师制度历经初创与中断（1950年代）、恢复重建（1979—1980）、职业化转型（1996—2007）、规范化发展（2007年至今）四个阶段；定位由“国家法律工作者”转变为“为社会提供法律服务的执业人员”。</a:t>
            </a:r>
            <a:endParaRPr lang="en-US" sz="1250" dirty="0"/>
          </a:p>
        </p:txBody>
      </p:sp>
      <p:sp>
        <p:nvSpPr>
          <p:cNvPr id="8" name="Shape 5"/>
          <p:cNvSpPr/>
          <p:nvPr/>
        </p:nvSpPr>
        <p:spPr>
          <a:xfrm>
            <a:off x="566928" y="2527586"/>
            <a:ext cx="11057839" cy="799370"/>
          </a:xfrm>
          <a:prstGeom prst="roundRect">
            <a:avLst>
              <a:gd name="adj" fmla="val 9151"/>
            </a:avLst>
          </a:prstGeom>
          <a:solidFill>
            <a:srgbClr val="25395F"/>
          </a:solidFill>
          <a:ln w="12700">
            <a:solidFill>
              <a:srgbClr val="25395F"/>
            </a:solidFill>
            <a:prstDash val="solid"/>
          </a:ln>
        </p:spPr>
      </p:sp>
      <p:sp>
        <p:nvSpPr>
          <p:cNvPr id="9" name="Shape 6"/>
          <p:cNvSpPr/>
          <p:nvPr/>
        </p:nvSpPr>
        <p:spPr>
          <a:xfrm>
            <a:off x="859536" y="272610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46803"/>
            <a:ext cx="160934" cy="160934"/>
          </a:xfrm>
          <a:prstGeom prst="rect">
            <a:avLst/>
          </a:prstGeom>
        </p:spPr>
      </p:pic>
      <p:sp>
        <p:nvSpPr>
          <p:cNvPr id="11" name="Text 7"/>
          <p:cNvSpPr/>
          <p:nvPr/>
        </p:nvSpPr>
        <p:spPr>
          <a:xfrm>
            <a:off x="1444752" y="268914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《律师法》第二条第二款的“三个维护”是律师伦理总纲；“合法权益”四字划定忠诚义务边界。第三条呈现“义务—标准—监督—保障”四段式结构。</a:t>
            </a:r>
            <a:endParaRPr lang="en-US" sz="1250" dirty="0"/>
          </a:p>
        </p:txBody>
      </p:sp>
      <p:sp>
        <p:nvSpPr>
          <p:cNvPr id="12" name="Shape 8"/>
          <p:cNvSpPr/>
          <p:nvPr/>
        </p:nvSpPr>
        <p:spPr>
          <a:xfrm>
            <a:off x="566928" y="3464116"/>
            <a:ext cx="11057839" cy="569182"/>
          </a:xfrm>
          <a:prstGeom prst="roundRect">
            <a:avLst>
              <a:gd name="adj" fmla="val 12852"/>
            </a:avLst>
          </a:prstGeom>
          <a:solidFill>
            <a:srgbClr val="25395F"/>
          </a:solidFill>
          <a:ln w="12700">
            <a:solidFill>
              <a:srgbClr val="25395F"/>
            </a:solidFill>
            <a:prstDash val="solid"/>
          </a:ln>
        </p:spPr>
      </p:sp>
      <p:sp>
        <p:nvSpPr>
          <p:cNvPr id="13" name="Shape 9"/>
          <p:cNvSpPr/>
          <p:nvPr/>
        </p:nvSpPr>
        <p:spPr>
          <a:xfrm>
            <a:off x="859536" y="3547539"/>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68239"/>
            <a:ext cx="160934" cy="160934"/>
          </a:xfrm>
          <a:prstGeom prst="rect">
            <a:avLst/>
          </a:prstGeom>
        </p:spPr>
      </p:pic>
      <p:sp>
        <p:nvSpPr>
          <p:cNvPr id="15" name="Text 10"/>
          <p:cNvSpPr/>
          <p:nvPr/>
        </p:nvSpPr>
        <p:spPr>
          <a:xfrm>
            <a:off x="1444752" y="3629644"/>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律师事务所有合伙、个人、国家出资三种组织形式；组织形式关系到利益冲突的审查范围、责任承担方式与律所管理责任的落实。</a:t>
            </a:r>
            <a:endParaRPr lang="en-US" sz="1250" dirty="0"/>
          </a:p>
        </p:txBody>
      </p:sp>
      <p:sp>
        <p:nvSpPr>
          <p:cNvPr id="16" name="Shape 11"/>
          <p:cNvSpPr/>
          <p:nvPr/>
        </p:nvSpPr>
        <p:spPr>
          <a:xfrm>
            <a:off x="566928" y="4170458"/>
            <a:ext cx="11057839" cy="569182"/>
          </a:xfrm>
          <a:prstGeom prst="roundRect">
            <a:avLst>
              <a:gd name="adj" fmla="val 12852"/>
            </a:avLst>
          </a:prstGeom>
          <a:solidFill>
            <a:srgbClr val="25395F"/>
          </a:solidFill>
          <a:ln w="12700">
            <a:solidFill>
              <a:srgbClr val="25395F"/>
            </a:solidFill>
            <a:prstDash val="solid"/>
          </a:ln>
        </p:spPr>
      </p:sp>
      <p:sp>
        <p:nvSpPr>
          <p:cNvPr id="17" name="Shape 12"/>
          <p:cNvSpPr/>
          <p:nvPr/>
        </p:nvSpPr>
        <p:spPr>
          <a:xfrm>
            <a:off x="859536" y="4253881"/>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74582"/>
            <a:ext cx="160934" cy="160934"/>
          </a:xfrm>
          <a:prstGeom prst="rect">
            <a:avLst/>
          </a:prstGeom>
        </p:spPr>
      </p:pic>
      <p:sp>
        <p:nvSpPr>
          <p:cNvPr id="19" name="Text 13"/>
          <p:cNvSpPr/>
          <p:nvPr/>
        </p:nvSpPr>
        <p:spPr>
          <a:xfrm>
            <a:off x="1444752" y="433598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律师职业伦理具有鲜明的自律性、内在的双重性（私人受托人与公共职责）与争议中的非道德性；非道德性以《律师法》第四十条为硬边界。</a:t>
            </a:r>
            <a:endParaRPr lang="en-US" sz="1250" dirty="0"/>
          </a:p>
        </p:txBody>
      </p:sp>
      <p:sp>
        <p:nvSpPr>
          <p:cNvPr id="20" name="Shape 14"/>
          <p:cNvSpPr/>
          <p:nvPr/>
        </p:nvSpPr>
        <p:spPr>
          <a:xfrm>
            <a:off x="566928" y="4876800"/>
            <a:ext cx="11057839" cy="799370"/>
          </a:xfrm>
          <a:prstGeom prst="roundRect">
            <a:avLst>
              <a:gd name="adj" fmla="val 9151"/>
            </a:avLst>
          </a:prstGeom>
          <a:solidFill>
            <a:srgbClr val="25395F"/>
          </a:solidFill>
          <a:ln w="12700">
            <a:solidFill>
              <a:srgbClr val="25395F"/>
            </a:solidFill>
            <a:prstDash val="solid"/>
          </a:ln>
        </p:spPr>
      </p:sp>
      <p:sp>
        <p:nvSpPr>
          <p:cNvPr id="21" name="Shape 15"/>
          <p:cNvSpPr/>
          <p:nvPr/>
        </p:nvSpPr>
        <p:spPr>
          <a:xfrm>
            <a:off x="859536" y="5075317"/>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196018"/>
            <a:ext cx="160934" cy="160934"/>
          </a:xfrm>
          <a:prstGeom prst="rect">
            <a:avLst/>
          </a:prstGeom>
        </p:spPr>
      </p:pic>
      <p:sp>
        <p:nvSpPr>
          <p:cNvPr id="23" name="Text 16"/>
          <p:cNvSpPr/>
          <p:nvPr/>
        </p:nvSpPr>
        <p:spPr>
          <a:xfrm>
            <a:off x="1444752" y="5038360"/>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渊源体系：《律师法》（基本法与法律责任）、《律师执业管理办法》（行政监管）、《律师执业行为规范》（行业核心规范）、《律师职业道德基本准则》（理念宣示），另有处分规则、刑事业务规范、推广规则等配套。</a:t>
            </a:r>
            <a:endParaRPr lang="en-US" sz="1250" dirty="0"/>
          </a:p>
        </p:txBody>
      </p:sp>
      <p:sp>
        <p:nvSpPr>
          <p:cNvPr id="24" name="Shape 17"/>
          <p:cNvSpPr/>
          <p:nvPr/>
        </p:nvSpPr>
        <p:spPr>
          <a:xfrm>
            <a:off x="566928" y="5813330"/>
            <a:ext cx="11057839" cy="569182"/>
          </a:xfrm>
          <a:prstGeom prst="roundRect">
            <a:avLst>
              <a:gd name="adj" fmla="val 12852"/>
            </a:avLst>
          </a:prstGeom>
          <a:solidFill>
            <a:srgbClr val="25395F"/>
          </a:solidFill>
          <a:ln w="12700">
            <a:solidFill>
              <a:srgbClr val="25395F"/>
            </a:solidFill>
            <a:prstDash val="solid"/>
          </a:ln>
        </p:spPr>
      </p:sp>
      <p:sp>
        <p:nvSpPr>
          <p:cNvPr id="25" name="Shape 18"/>
          <p:cNvSpPr/>
          <p:nvPr/>
        </p:nvSpPr>
        <p:spPr>
          <a:xfrm>
            <a:off x="859536" y="5896753"/>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6017454"/>
            <a:ext cx="160934" cy="160934"/>
          </a:xfrm>
          <a:prstGeom prst="rect">
            <a:avLst/>
          </a:prstGeom>
        </p:spPr>
      </p:pic>
      <p:sp>
        <p:nvSpPr>
          <p:cNvPr id="27" name="Text 19"/>
          <p:cNvSpPr/>
          <p:nvPr/>
        </p:nvSpPr>
        <p:spPr>
          <a:xfrm>
            <a:off x="1444752" y="597885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执业权利保障是伦理问题：权利是履行义务的条件，权利在性质上属于当事人，保障律师执业权利是法律职业共同体的共同责任。</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第13课时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律师的使命与基本执业行为规范</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在讨论具体规则之前，先确立律师这个职业“为什么存在”</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律师在法治中的四项不可替代的功能</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《律师执业行为规范》第二章的基本行为要求</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律师之间的关系：同业竞争的伦理边界</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从使命到日常行为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一、律师的使命：这个职业为什么存在</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二、依法执业与独立执业</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三、诚信义务：律师职业的第一伦理</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四、勤勉尽责与专业胜任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五、律师之间的关系与公平竞争</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六、职业形象、业外行为与本课小结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律师的使命：这个职业为什么存在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一个社会为什么要花钱养一群专门替人打官司的人？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03</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四项功能</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律师在法治中不可替代的功能</a:t>
            </a:r>
            <a:endParaRPr lang="en-US" sz="2800" dirty="0"/>
          </a:p>
        </p:txBody>
      </p:sp>
      <p:sp>
        <p:nvSpPr>
          <p:cNvPr id="4" name="Shape 2"/>
          <p:cNvSpPr/>
          <p:nvPr/>
        </p:nvSpPr>
        <p:spPr>
          <a:xfrm>
            <a:off x="566928" y="1379220"/>
            <a:ext cx="5410048" cy="2360676"/>
          </a:xfrm>
          <a:prstGeom prst="roundRect">
            <a:avLst>
              <a:gd name="adj" fmla="val 3873"/>
            </a:avLst>
          </a:prstGeom>
          <a:solidFill>
            <a:srgbClr val="F2F4F8"/>
          </a:solidFill>
          <a:ln w="12700">
            <a:solidFill>
              <a:srgbClr val="F2F4F8"/>
            </a:solidFill>
            <a:prstDash val="solid"/>
          </a:ln>
        </p:spPr>
      </p:sp>
      <p:sp>
        <p:nvSpPr>
          <p:cNvPr id="5" name="Shape 3"/>
          <p:cNvSpPr/>
          <p:nvPr/>
        </p:nvSpPr>
        <p:spPr>
          <a:xfrm>
            <a:off x="886968" y="1671828"/>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08988"/>
            <a:ext cx="182880" cy="182880"/>
          </a:xfrm>
          <a:prstGeom prst="rect">
            <a:avLst/>
          </a:prstGeom>
        </p:spPr>
      </p:pic>
      <p:sp>
        <p:nvSpPr>
          <p:cNvPr id="7" name="Text 4"/>
          <p:cNvSpPr/>
          <p:nvPr/>
        </p:nvSpPr>
        <p:spPr>
          <a:xfrm>
            <a:off x="886968"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制约公权力</a:t>
            </a:r>
            <a:endParaRPr lang="en-US" sz="1500" dirty="0"/>
          </a:p>
        </p:txBody>
      </p:sp>
      <p:sp>
        <p:nvSpPr>
          <p:cNvPr id="8" name="Text 5"/>
          <p:cNvSpPr/>
          <p:nvPr/>
        </p:nvSpPr>
        <p:spPr>
          <a:xfrm>
            <a:off x="886968"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在刑事诉讼中，被追诉人独自面对国家追诉机器。律师是唯一站在他一边的专业力量。没有辩护，侦查权与公诉权将失去对抗性检验，冤错案件的概率会显著上升。这是律师最核心、最不可替代的功能。</a:t>
            </a:r>
            <a:endParaRPr lang="en-US" sz="1250" dirty="0"/>
          </a:p>
        </p:txBody>
      </p:sp>
      <p:sp>
        <p:nvSpPr>
          <p:cNvPr id="9" name="Shape 6"/>
          <p:cNvSpPr/>
          <p:nvPr/>
        </p:nvSpPr>
        <p:spPr>
          <a:xfrm>
            <a:off x="6214720" y="1379220"/>
            <a:ext cx="5410048" cy="2360676"/>
          </a:xfrm>
          <a:prstGeom prst="roundRect">
            <a:avLst>
              <a:gd name="adj" fmla="val 3873"/>
            </a:avLst>
          </a:prstGeom>
          <a:solidFill>
            <a:srgbClr val="F6F1E8"/>
          </a:solidFill>
          <a:ln w="12700">
            <a:solidFill>
              <a:srgbClr val="F6F1E8"/>
            </a:solidFill>
            <a:prstDash val="solid"/>
          </a:ln>
        </p:spPr>
      </p:sp>
      <p:sp>
        <p:nvSpPr>
          <p:cNvPr id="10" name="Shape 7"/>
          <p:cNvSpPr/>
          <p:nvPr/>
        </p:nvSpPr>
        <p:spPr>
          <a:xfrm>
            <a:off x="6534760" y="1671828"/>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08988"/>
            <a:ext cx="182880" cy="182880"/>
          </a:xfrm>
          <a:prstGeom prst="rect">
            <a:avLst/>
          </a:prstGeom>
        </p:spPr>
      </p:pic>
      <p:sp>
        <p:nvSpPr>
          <p:cNvPr id="12" name="Text 8"/>
          <p:cNvSpPr/>
          <p:nvPr/>
        </p:nvSpPr>
        <p:spPr>
          <a:xfrm>
            <a:off x="6534760"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保障权利可及</a:t>
            </a:r>
            <a:endParaRPr lang="en-US" sz="1500" dirty="0"/>
          </a:p>
        </p:txBody>
      </p:sp>
      <p:sp>
        <p:nvSpPr>
          <p:cNvPr id="13" name="Text 9"/>
          <p:cNvSpPr/>
          <p:nvPr/>
        </p:nvSpPr>
        <p:spPr>
          <a:xfrm>
            <a:off x="6534760"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法律再完善，若当事人不知如何主张，权利仍是纸面上的。律师把抽象的法律转化为具体可用的主张，使“接近正义”（access to justice）成为现实。法律援助制度正是这一功能的公共化。</a:t>
            </a:r>
            <a:endParaRPr lang="en-US" sz="1250" dirty="0"/>
          </a:p>
        </p:txBody>
      </p:sp>
      <p:sp>
        <p:nvSpPr>
          <p:cNvPr id="14" name="Shape 10"/>
          <p:cNvSpPr/>
          <p:nvPr/>
        </p:nvSpPr>
        <p:spPr>
          <a:xfrm>
            <a:off x="566928" y="3959352"/>
            <a:ext cx="5410048" cy="2360676"/>
          </a:xfrm>
          <a:prstGeom prst="roundRect">
            <a:avLst>
              <a:gd name="adj" fmla="val 3873"/>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促进交易与预防纠纷</a:t>
            </a:r>
            <a:endParaRPr lang="en-US" sz="1500" dirty="0"/>
          </a:p>
        </p:txBody>
      </p:sp>
      <p:sp>
        <p:nvSpPr>
          <p:cNvPr id="18" name="Text 13"/>
          <p:cNvSpPr/>
          <p:nvPr/>
        </p:nvSpPr>
        <p:spPr>
          <a:xfrm>
            <a:off x="886968"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非诉法律服务通过合同设计、合规审查、尽职调查，把可能的争议消解在发生之前。相比事后的诉讼，事前的预防成本更低、效果更好。这部分业务量在现代律师业务中占比越来越高。</a:t>
            </a:r>
            <a:endParaRPr lang="en-US" sz="1250" dirty="0"/>
          </a:p>
        </p:txBody>
      </p:sp>
      <p:sp>
        <p:nvSpPr>
          <p:cNvPr id="19" name="Shape 14"/>
          <p:cNvSpPr/>
          <p:nvPr/>
        </p:nvSpPr>
        <p:spPr>
          <a:xfrm>
            <a:off x="6214720" y="3959352"/>
            <a:ext cx="5410048" cy="2360676"/>
          </a:xfrm>
          <a:prstGeom prst="roundRect">
            <a:avLst>
              <a:gd name="adj" fmla="val 3873"/>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参与规则形成</a:t>
            </a:r>
            <a:endParaRPr lang="en-US" sz="1500" dirty="0"/>
          </a:p>
        </p:txBody>
      </p:sp>
      <p:sp>
        <p:nvSpPr>
          <p:cNvPr id="23" name="Text 17"/>
          <p:cNvSpPr/>
          <p:nvPr/>
        </p:nvSpPr>
        <p:spPr>
          <a:xfrm>
            <a:off x="6534760"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律师通过诉讼推动法律解释的发展，通过参与立法论证、公共讨论影响规则形成。许多重要的法律进步，起点是某个律师在某个案件中提出的一个新主张。</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04</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律师的存在，不是因为社会喜欢诉讼，而是因为社会承认：在国家权力与个人之间，必须有人替个人说话。</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律师职业的正当性基础</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这也解释了为什么“为坏人辩护”不是律师的道德污点，而是其职能的必然组成部分</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规范表达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使命的规范化：三个维护与两项基本原则</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《律师法》第一条（立法目的）</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为了完善律师制度，保障律师依法执业，规范律师行为，发挥律师在社会主义法制建设中的作用，制定本法。</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《律师法》第二条第二款</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律师应当维护当事人合法权益，维护法律正确实施，维护社会公平和正义。</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《律师法》第三条第一款、第二款</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律师执业必须遵守宪法和法律，恪守律师职业道德和执业纪律。</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律师执业必须以事实为根据，以法律为准绳。</a:t>
            </a:r>
            <a:endParaRPr lang="en-US" sz="850" dirty="0"/>
          </a:p>
        </p:txBody>
      </p:sp>
      <p:sp>
        <p:nvSpPr>
          <p:cNvPr id="19" name="Shape 1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20" name="Text 1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三个维护”的排序：当事人合法权益在先，法律正确实施与社会公平正义在后。这个排序不是价值高低的排序，而是律师工作方式的写照——律师正是通过尽力维护当事人的合法权益，参与到法律正确实施与公平正义实现的整体机制中去。</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依法执业与独立执业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律师既不是当事人的传声筒，也不是法律的旁观者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07</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基本行为规范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《律师执业行为规范》第二章的核心要求</a:t>
            </a:r>
            <a:endParaRPr lang="en-US" sz="2800" dirty="0"/>
          </a:p>
        </p:txBody>
      </p:sp>
      <p:sp>
        <p:nvSpPr>
          <p:cNvPr id="4" name="Shape 2"/>
          <p:cNvSpPr/>
          <p:nvPr/>
        </p:nvSpPr>
        <p:spPr>
          <a:xfrm>
            <a:off x="566928" y="1316736"/>
            <a:ext cx="11057839" cy="962406"/>
          </a:xfrm>
          <a:prstGeom prst="roundRect">
            <a:avLst>
              <a:gd name="adj" fmla="val 7601"/>
            </a:avLst>
          </a:prstGeom>
          <a:solidFill>
            <a:srgbClr val="F2F4F8"/>
          </a:solidFill>
          <a:ln w="12700">
            <a:solidFill>
              <a:srgbClr val="F2F4F8"/>
            </a:solidFill>
            <a:prstDash val="solid"/>
          </a:ln>
        </p:spPr>
      </p:sp>
      <p:sp>
        <p:nvSpPr>
          <p:cNvPr id="5" name="Shape 3"/>
          <p:cNvSpPr/>
          <p:nvPr/>
        </p:nvSpPr>
        <p:spPr>
          <a:xfrm>
            <a:off x="841248" y="15419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95526"/>
            <a:ext cx="204826" cy="204826"/>
          </a:xfrm>
          <a:prstGeom prst="rect">
            <a:avLst/>
          </a:prstGeom>
        </p:spPr>
      </p:pic>
      <p:sp>
        <p:nvSpPr>
          <p:cNvPr id="7" name="Text 4"/>
          <p:cNvSpPr/>
          <p:nvPr/>
        </p:nvSpPr>
        <p:spPr>
          <a:xfrm>
            <a:off x="1536192" y="150622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依法执业</a:t>
            </a:r>
            <a:endParaRPr lang="en-US" sz="1100" dirty="0"/>
          </a:p>
        </p:txBody>
      </p:sp>
      <p:sp>
        <p:nvSpPr>
          <p:cNvPr id="8" name="Text 5"/>
          <p:cNvSpPr/>
          <p:nvPr/>
        </p:nvSpPr>
        <p:spPr>
          <a:xfrm>
            <a:off x="1536192" y="1758188"/>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律师执业必须遵守宪法和法律，恪守职业道德和执业纪律；不得帮助委托人实施违法行为；不得以违法或者不正当手段承揽业务、影响案件处理。依法执业是一切执业行为的前提，任何“为当事人着想”的理由都不能突破。</a:t>
            </a:r>
            <a:endParaRPr lang="en-US" sz="900" dirty="0"/>
          </a:p>
        </p:txBody>
      </p:sp>
      <p:sp>
        <p:nvSpPr>
          <p:cNvPr id="9" name="Shape 6"/>
          <p:cNvSpPr/>
          <p:nvPr/>
        </p:nvSpPr>
        <p:spPr>
          <a:xfrm>
            <a:off x="566928" y="2425446"/>
            <a:ext cx="11057839" cy="962406"/>
          </a:xfrm>
          <a:prstGeom prst="roundRect">
            <a:avLst>
              <a:gd name="adj" fmla="val 7601"/>
            </a:avLst>
          </a:prstGeom>
          <a:solidFill>
            <a:srgbClr val="FFFFFF"/>
          </a:solidFill>
          <a:ln w="12700">
            <a:solidFill>
              <a:srgbClr val="D5DBE5"/>
            </a:solidFill>
            <a:prstDash val="solid"/>
          </a:ln>
        </p:spPr>
      </p:sp>
      <p:sp>
        <p:nvSpPr>
          <p:cNvPr id="10" name="Shape 7"/>
          <p:cNvSpPr/>
          <p:nvPr/>
        </p:nvSpPr>
        <p:spPr>
          <a:xfrm>
            <a:off x="841248" y="265061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804236"/>
            <a:ext cx="204826" cy="204826"/>
          </a:xfrm>
          <a:prstGeom prst="rect">
            <a:avLst/>
          </a:prstGeom>
        </p:spPr>
      </p:pic>
      <p:sp>
        <p:nvSpPr>
          <p:cNvPr id="12" name="Text 8"/>
          <p:cNvSpPr/>
          <p:nvPr/>
        </p:nvSpPr>
        <p:spPr>
          <a:xfrm>
            <a:off x="1536192" y="261493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独立执业</a:t>
            </a:r>
            <a:endParaRPr lang="en-US" sz="1100" dirty="0"/>
          </a:p>
        </p:txBody>
      </p:sp>
      <p:sp>
        <p:nvSpPr>
          <p:cNvPr id="13" name="Text 9"/>
          <p:cNvSpPr/>
          <p:nvPr/>
        </p:nvSpPr>
        <p:spPr>
          <a:xfrm>
            <a:off x="1536192" y="2866898"/>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律师是独立的执业人员，依据事实与法律独立提供专业意见，不是当事人意志的简单传达者。委托人有权决定委托事项与实体权利的处分，但律师对专业判断与执业方式保有独立性；对委托人的不当要求有权也有义务拒绝。</a:t>
            </a:r>
            <a:endParaRPr lang="en-US" sz="900" dirty="0"/>
          </a:p>
        </p:txBody>
      </p:sp>
      <p:sp>
        <p:nvSpPr>
          <p:cNvPr id="14" name="Shape 10"/>
          <p:cNvSpPr/>
          <p:nvPr/>
        </p:nvSpPr>
        <p:spPr>
          <a:xfrm>
            <a:off x="566928" y="3534156"/>
            <a:ext cx="11057839" cy="796671"/>
          </a:xfrm>
          <a:prstGeom prst="roundRect">
            <a:avLst>
              <a:gd name="adj" fmla="val 9182"/>
            </a:avLst>
          </a:prstGeom>
          <a:solidFill>
            <a:srgbClr val="F2F4F8"/>
          </a:solidFill>
          <a:ln w="12700">
            <a:solidFill>
              <a:srgbClr val="F2F4F8"/>
            </a:solidFill>
            <a:prstDash val="solid"/>
          </a:ln>
        </p:spPr>
      </p:sp>
      <p:sp>
        <p:nvSpPr>
          <p:cNvPr id="15" name="Shape 11"/>
          <p:cNvSpPr/>
          <p:nvPr/>
        </p:nvSpPr>
        <p:spPr>
          <a:xfrm>
            <a:off x="841248" y="367646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0079"/>
            <a:ext cx="204826" cy="204826"/>
          </a:xfrm>
          <a:prstGeom prst="rect">
            <a:avLst/>
          </a:prstGeom>
        </p:spPr>
      </p:pic>
      <p:sp>
        <p:nvSpPr>
          <p:cNvPr id="17" name="Text 12"/>
          <p:cNvSpPr/>
          <p:nvPr/>
        </p:nvSpPr>
        <p:spPr>
          <a:xfrm>
            <a:off x="1536192" y="372364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诚实信用</a:t>
            </a:r>
            <a:endParaRPr lang="en-US" sz="1100" dirty="0"/>
          </a:p>
        </p:txBody>
      </p:sp>
      <p:sp>
        <p:nvSpPr>
          <p:cNvPr id="18" name="Text 13"/>
          <p:cNvSpPr/>
          <p:nvPr/>
        </p:nvSpPr>
        <p:spPr>
          <a:xfrm>
            <a:off x="1536192" y="3975608"/>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对委托人诚实告知，不作虚假承诺；对法庭与仲裁庭如实陈述，不提供虚假证据；对同行与对方当事人守信，不作误导性表示。诚信是律师职业赖以存在的信用基础。</a:t>
            </a:r>
            <a:endParaRPr lang="en-US" sz="900" dirty="0"/>
          </a:p>
        </p:txBody>
      </p:sp>
      <p:sp>
        <p:nvSpPr>
          <p:cNvPr id="19" name="Shape 14"/>
          <p:cNvSpPr/>
          <p:nvPr/>
        </p:nvSpPr>
        <p:spPr>
          <a:xfrm>
            <a:off x="566928" y="4477131"/>
            <a:ext cx="11057839" cy="962406"/>
          </a:xfrm>
          <a:prstGeom prst="roundRect">
            <a:avLst>
              <a:gd name="adj" fmla="val 7601"/>
            </a:avLst>
          </a:prstGeom>
          <a:solidFill>
            <a:srgbClr val="FFFFFF"/>
          </a:solidFill>
          <a:ln w="12700">
            <a:solidFill>
              <a:srgbClr val="D5DBE5"/>
            </a:solidFill>
            <a:prstDash val="solid"/>
          </a:ln>
        </p:spPr>
      </p:sp>
      <p:sp>
        <p:nvSpPr>
          <p:cNvPr id="20" name="Shape 15"/>
          <p:cNvSpPr/>
          <p:nvPr/>
        </p:nvSpPr>
        <p:spPr>
          <a:xfrm>
            <a:off x="841248" y="470230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55921"/>
            <a:ext cx="204826" cy="204826"/>
          </a:xfrm>
          <a:prstGeom prst="rect">
            <a:avLst/>
          </a:prstGeom>
        </p:spPr>
      </p:pic>
      <p:sp>
        <p:nvSpPr>
          <p:cNvPr id="22" name="Text 16"/>
          <p:cNvSpPr/>
          <p:nvPr/>
        </p:nvSpPr>
        <p:spPr>
          <a:xfrm>
            <a:off x="1536192" y="4666615"/>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勤勉尽责</a:t>
            </a:r>
            <a:endParaRPr lang="en-US" sz="1100" dirty="0"/>
          </a:p>
        </p:txBody>
      </p:sp>
      <p:sp>
        <p:nvSpPr>
          <p:cNvPr id="23" name="Text 17"/>
          <p:cNvSpPr/>
          <p:nvPr/>
        </p:nvSpPr>
        <p:spPr>
          <a:xfrm>
            <a:off x="1536192" y="4918583"/>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接受委托后应当认真负责地履行受托义务，在法定或者约定的期限内完成工作，及时告知重要进展，不得无故拖延、懈怠或者擅自终止。勤勉不以胜诉为标准，而以是否尽到应有的专业努力为标准。</a:t>
            </a:r>
            <a:endParaRPr lang="en-US" sz="900" dirty="0"/>
          </a:p>
        </p:txBody>
      </p:sp>
      <p:sp>
        <p:nvSpPr>
          <p:cNvPr id="24" name="Shape 18"/>
          <p:cNvSpPr/>
          <p:nvPr/>
        </p:nvSpPr>
        <p:spPr>
          <a:xfrm>
            <a:off x="566928" y="5585841"/>
            <a:ext cx="11057839" cy="796671"/>
          </a:xfrm>
          <a:prstGeom prst="roundRect">
            <a:avLst>
              <a:gd name="adj" fmla="val 9182"/>
            </a:avLst>
          </a:prstGeom>
          <a:solidFill>
            <a:srgbClr val="F2F4F8"/>
          </a:solidFill>
          <a:ln w="12700">
            <a:solidFill>
              <a:srgbClr val="F2F4F8"/>
            </a:solidFill>
            <a:prstDash val="solid"/>
          </a:ln>
        </p:spPr>
      </p:sp>
      <p:sp>
        <p:nvSpPr>
          <p:cNvPr id="25" name="Shape 19"/>
          <p:cNvSpPr/>
          <p:nvPr/>
        </p:nvSpPr>
        <p:spPr>
          <a:xfrm>
            <a:off x="841248" y="5728145"/>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81764"/>
            <a:ext cx="204826" cy="204826"/>
          </a:xfrm>
          <a:prstGeom prst="rect">
            <a:avLst/>
          </a:prstGeom>
        </p:spPr>
      </p:pic>
      <p:sp>
        <p:nvSpPr>
          <p:cNvPr id="27" name="Text 20"/>
          <p:cNvSpPr/>
          <p:nvPr/>
        </p:nvSpPr>
        <p:spPr>
          <a:xfrm>
            <a:off x="1536192" y="5775325"/>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保守秘密</a:t>
            </a:r>
            <a:endParaRPr lang="en-US" sz="1100" dirty="0"/>
          </a:p>
        </p:txBody>
      </p:sp>
      <p:sp>
        <p:nvSpPr>
          <p:cNvPr id="28" name="Text 21"/>
          <p:cNvSpPr/>
          <p:nvPr/>
        </p:nvSpPr>
        <p:spPr>
          <a:xfrm>
            <a:off x="1536192" y="6027293"/>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保守在执业活动中知悉的国家秘密、商业秘密，不得泄露当事人隐私；对委托人不愿泄露的情况与信息予以保密。保密义务不因委托关系终止而消灭，第16课时专门展开。</a:t>
            </a:r>
            <a:endParaRPr lang="en-US" sz="9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08</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独立执业：律师听谁的？</a:t>
            </a:r>
            <a:endParaRPr lang="en-US" sz="2800" dirty="0"/>
          </a:p>
        </p:txBody>
      </p:sp>
      <p:sp>
        <p:nvSpPr>
          <p:cNvPr id="4" name="Shape 2"/>
          <p:cNvSpPr/>
          <p:nvPr/>
        </p:nvSpPr>
        <p:spPr>
          <a:xfrm>
            <a:off x="566928" y="1887220"/>
            <a:ext cx="5410048" cy="3924808"/>
          </a:xfrm>
          <a:prstGeom prst="roundRect">
            <a:avLst>
              <a:gd name="adj" fmla="val 2330"/>
            </a:avLst>
          </a:prstGeom>
          <a:solidFill>
            <a:srgbClr val="F2F4F8"/>
          </a:solidFill>
          <a:ln w="12700">
            <a:solidFill>
              <a:srgbClr val="F2F4F8"/>
            </a:solidFill>
            <a:prstDash val="solid"/>
          </a:ln>
        </p:spPr>
      </p:sp>
      <p:sp>
        <p:nvSpPr>
          <p:cNvPr id="5" name="Shape 3"/>
          <p:cNvSpPr/>
          <p:nvPr/>
        </p:nvSpPr>
        <p:spPr>
          <a:xfrm>
            <a:off x="841248" y="21432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432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委托人有权决定的事项</a:t>
            </a:r>
            <a:endParaRPr lang="en-US" sz="1600" dirty="0"/>
          </a:p>
        </p:txBody>
      </p:sp>
      <p:sp>
        <p:nvSpPr>
          <p:cNvPr id="7" name="Text 5"/>
          <p:cNvSpPr/>
          <p:nvPr/>
        </p:nvSpPr>
        <p:spPr>
          <a:xfrm>
            <a:off x="932688" y="2801620"/>
            <a:ext cx="4678528" cy="27726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是否起诉、是否应诉、是否上诉、是否申请再审。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诉讼请求的范围与实体权利的处分（撤诉、和解、放弃部分请求）。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是否接受调解及调解方案的内容。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刑事案件中是否认罪认罚（须由被追诉人本人自愿决定）。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共同点：涉及实体权利的处分与重大程序选择，属于委托人自治的核心。</a:t>
            </a:r>
            <a:endParaRPr lang="en-US" sz="1450" dirty="0"/>
          </a:p>
        </p:txBody>
      </p:sp>
      <p:sp>
        <p:nvSpPr>
          <p:cNvPr id="8" name="Shape 6"/>
          <p:cNvSpPr/>
          <p:nvPr/>
        </p:nvSpPr>
        <p:spPr>
          <a:xfrm>
            <a:off x="6214720" y="1887220"/>
            <a:ext cx="5410048" cy="3924808"/>
          </a:xfrm>
          <a:prstGeom prst="roundRect">
            <a:avLst>
              <a:gd name="adj" fmla="val 2330"/>
            </a:avLst>
          </a:prstGeom>
          <a:solidFill>
            <a:srgbClr val="F6F1E8"/>
          </a:solidFill>
          <a:ln w="12700">
            <a:solidFill>
              <a:srgbClr val="F6F1E8"/>
            </a:solidFill>
            <a:prstDash val="solid"/>
          </a:ln>
        </p:spPr>
      </p:sp>
      <p:sp>
        <p:nvSpPr>
          <p:cNvPr id="9" name="Shape 7"/>
          <p:cNvSpPr/>
          <p:nvPr/>
        </p:nvSpPr>
        <p:spPr>
          <a:xfrm>
            <a:off x="6489040" y="21432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432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律师保有独立判断的事项</a:t>
            </a:r>
            <a:endParaRPr lang="en-US" sz="1600" dirty="0"/>
          </a:p>
        </p:txBody>
      </p:sp>
      <p:sp>
        <p:nvSpPr>
          <p:cNvPr id="11" name="Text 9"/>
          <p:cNvSpPr/>
          <p:nvPr/>
        </p:nvSpPr>
        <p:spPr>
          <a:xfrm>
            <a:off x="6580480" y="2801620"/>
            <a:ext cx="4678528" cy="27726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法律意见的内容与专业结论——不得因委托人不喜欢而作违心陈述。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举证、质证、辩论的具体方式与技术路径。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是否提出某项主张——不得提出明知虚假的主张。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对违法要求的拒绝——不得因委托人施压而突破规范。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共同点：涉及专业判断与合法性底线，属于律师职业责任的核心。</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09</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委托人的意志与律师的判断</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边界辨析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“我要你按我说的写”</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某公司委托律师就一项交易出具法律意见书。经尽职调查，律师发现该交易存在重大合规瑕疵，可能被认定为无效。律师在意见书初稿中如实揭示了这一风险。</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公司负责人要求律师删除该段风险提示，理由是：意见书要提交给投资方，写上风险会影响融资；并称“你是我们请的律师，应当为我们的利益考虑”，且“这只是一种可能性，又不是确定的”。</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公司同时表示，如果律师坚持，将更换律所，并且此前约定的顾问费也将重新协商。</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律师能否删除该段？请指出规范依据。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“为委托人利益考虑”能否成为删除的理由？</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如果风险确实只是“一种可能性”，表述上有无调整空间？</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律师应当如何处理与委托人的分歧？</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10</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诚信义务：律师职业的第一伦理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律师的全部执业能力，最终都建立在“他说的话可以相信”之上</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三个方向</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诚信义务的三个指向</a:t>
            </a:r>
            <a:endParaRPr lang="en-US" sz="2800" dirty="0"/>
          </a:p>
        </p:txBody>
      </p:sp>
      <p:sp>
        <p:nvSpPr>
          <p:cNvPr id="4" name="Shape 2"/>
          <p:cNvSpPr/>
          <p:nvPr/>
        </p:nvSpPr>
        <p:spPr>
          <a:xfrm>
            <a:off x="566928" y="1316736"/>
            <a:ext cx="11057839" cy="1498981"/>
          </a:xfrm>
          <a:prstGeom prst="roundRect">
            <a:avLst>
              <a:gd name="adj" fmla="val 4880"/>
            </a:avLst>
          </a:prstGeom>
          <a:solidFill>
            <a:srgbClr val="F2F4F8"/>
          </a:solidFill>
          <a:ln w="12700">
            <a:solidFill>
              <a:srgbClr val="F2F4F8"/>
            </a:solidFill>
            <a:prstDash val="solid"/>
          </a:ln>
        </p:spPr>
      </p:sp>
      <p:sp>
        <p:nvSpPr>
          <p:cNvPr id="5" name="Shape 3"/>
          <p:cNvSpPr/>
          <p:nvPr/>
        </p:nvSpPr>
        <p:spPr>
          <a:xfrm>
            <a:off x="841248" y="181019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963814"/>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对委托人：如实告知，不作虚假承诺</a:t>
            </a:r>
            <a:endParaRPr lang="en-US" sz="1650" dirty="0"/>
          </a:p>
        </p:txBody>
      </p:sp>
      <p:sp>
        <p:nvSpPr>
          <p:cNvPr id="8" name="Text 5"/>
          <p:cNvSpPr/>
          <p:nvPr/>
        </p:nvSpPr>
        <p:spPr>
          <a:xfrm>
            <a:off x="1536192" y="196069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就案件结果作出承诺或者暗示；不得夸大自身能力、资历或者与司法机关的关系；应当如实告知案件风险、可能的不利后果、费用构成与预期。以“关系”承揽业务是律师职业最严重的失信形态之一，且往往同时构成违法。</a:t>
            </a:r>
            <a:endParaRPr lang="en-US" sz="1500" dirty="0"/>
          </a:p>
        </p:txBody>
      </p:sp>
      <p:sp>
        <p:nvSpPr>
          <p:cNvPr id="9" name="Shape 6"/>
          <p:cNvSpPr/>
          <p:nvPr/>
        </p:nvSpPr>
        <p:spPr>
          <a:xfrm>
            <a:off x="566928" y="2962021"/>
            <a:ext cx="11057839" cy="1775206"/>
          </a:xfrm>
          <a:prstGeom prst="roundRect">
            <a:avLst>
              <a:gd name="adj" fmla="val 4121"/>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对法庭：如实陈述，不提供虚假证据</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故意提供虚假证据或者威胁、利诱他人提供虚假证据；不得作明知虚假的事实陈述；不得歪曲、隐匿对己方不利的法律规定。请注意：律师可以就控方或对方证据不足提出质疑，但不得积极提出虚假事实——这是消极辩护与积极造假的分界。</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对同行与对方：守信不欺</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不得对同行的口头承诺出尔反尔；不得以欺骗方式获取对方当事人或其代理人的信息；在无代理人的对方当事人面前，不得使其误以为律师是中立的第三方或者其顾问，必要时应当明确说明自己的立场。</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硬边界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《律师法》第四十条：禁止行为清单</a:t>
            </a:r>
            <a:endParaRPr lang="en-US" sz="2800" dirty="0"/>
          </a:p>
        </p:txBody>
      </p:sp>
      <p:sp>
        <p:nvSpPr>
          <p:cNvPr id="4" name="Shape 2"/>
          <p:cNvSpPr/>
          <p:nvPr/>
        </p:nvSpPr>
        <p:spPr>
          <a:xfrm>
            <a:off x="566928" y="1520952"/>
            <a:ext cx="11057839" cy="3042666"/>
          </a:xfrm>
          <a:prstGeom prst="roundRect">
            <a:avLst>
              <a:gd name="adj" fmla="val 3005"/>
            </a:avLst>
          </a:prstGeom>
          <a:solidFill>
            <a:srgbClr val="F6F1E8"/>
          </a:solidFill>
          <a:ln w="12700">
            <a:solidFill>
              <a:srgbClr val="F6F1E8"/>
            </a:solidFill>
            <a:prstDash val="solid"/>
          </a:ln>
        </p:spPr>
      </p:sp>
      <p:sp>
        <p:nvSpPr>
          <p:cNvPr id="5" name="Shape 3"/>
          <p:cNvSpPr/>
          <p:nvPr/>
        </p:nvSpPr>
        <p:spPr>
          <a:xfrm>
            <a:off x="877824" y="175869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75869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74040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《中华人民共和国律师法》第四十条</a:t>
            </a:r>
            <a:endParaRPr lang="en-US" sz="1500" dirty="0"/>
          </a:p>
        </p:txBody>
      </p:sp>
      <p:sp>
        <p:nvSpPr>
          <p:cNvPr id="8" name="Text 6"/>
          <p:cNvSpPr/>
          <p:nvPr/>
        </p:nvSpPr>
        <p:spPr>
          <a:xfrm>
            <a:off x="960120" y="2161032"/>
            <a:ext cx="10271455" cy="21831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（三）接受对方当事人的财物或者其他利益，与对方当事人或者第三人恶意串通，侵害委托人的权益；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（四）违反规定会见法官、检察官、仲裁员以及其他有关工作人员；</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（五）向法官、检察官、仲裁员以及其他有关工作人员行贿，介绍贿赂或者指使、诱导当事人行贿；</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（六）故意提供虚假证据或者威胁、利诱他人提供虚假证据，妨碍对方当事人合法取得证据；</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（七）煽动、教唆当事人采取扰乱公共秩序、危害公共安全等非法手段解决争议；</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（八）扰乱法庭、仲裁庭秩序，干扰诉讼、仲裁活动的正常进行。</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八项是律师执业的硬边界，凡越界者不再受“非道德性”命题的保护。请注意第（一）项“私自接受委托、收取费用”——这不只是财务问题，而是规避律所管理、逃避利益冲突审查的行为，是大量执业事故的起点。第（六）项则是刑事责任的入口，可能触及《刑法》第三百零六条。</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13</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勤勉尽责与专业胜任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律师的责任标准，不是结果责任，而是过程责任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14</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勤勉尽责的判断标准</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委托人常常以“官司输了”来指责律师不尽责。这一指责在法律上并不成立——请各位建立正确的判断标准。</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第一，律师承担的是手段债务，而非结果债务。律师义务的内容是“以应有的专业注意提供服务”，而不是“保证胜诉”。因此判断标准是过程，而非结果。</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第二，判断基准是同等条件下一名合格律师的通常注意。是否在期限内提交证据？是否核对了关键事实？是否检索了相关规范与类案？是否告知了重要风险？这些是可检验的行为。</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第三，专业胜任是勤勉的前提。对不熟悉的领域，应当审慎接受委托，或者通过学习、协作、咨询达到胜任要求。明知不能胜任仍接受委托，本身即违反勤勉义务。</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第四，及时沟通是勤勉的组成部分。重大进展、不利变化、期限临近，均应当及时告知委托人并说明选项。大量投诉的真正起因不是败诉，而是“律师失联”。</a:t>
            </a:r>
            <a:endParaRPr lang="en-US" sz="1550" dirty="0"/>
          </a:p>
          <a:p>
            <a:pPr marL="228600" indent="-228600">
              <a:lnSpc>
                <a:spcPts val="2325"/>
              </a:lnSpc>
              <a:spcAft>
                <a:spcPts val="800"/>
              </a:spcAft>
              <a:buSzPct val="100000"/>
              <a:buChar char="■"/>
            </a:pPr>
            <a:r>
              <a:rPr lang="en-US" sz="1550" b="1" dirty="0">
                <a:solidFill>
                  <a:srgbClr val="32404F"/>
                </a:solidFill>
                <a:latin typeface="微软雅黑" pitchFamily="34" charset="0"/>
                <a:ea typeface="微软雅黑" pitchFamily="34" charset="-122"/>
                <a:cs typeface="微软雅黑" pitchFamily="34" charset="-120"/>
              </a:rPr>
              <a:t>实务提示：把每一次告知、每一次建议、每一次委托人的决定都书面留痕。留痕既是勤勉的证据，也是执业的护身符。</a:t>
            </a:r>
            <a:endParaRPr lang="en-US" sz="15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律师之间的关系与公平竞争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同行不是敌人，但同业竞争确实存在伦理边界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同业伦理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律师之间关系的四条规则</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相互尊重，不诋毁同行</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不得诋毁、贬低其他律师或者律师事务所的声誉、能力；不得在当事人面前贬损前任或者对方律师的专业水准以抬高自己。对同行工作的批评应当限于专业层面并有事实根据。</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不得不正当竞争</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不得以承诺办案结果、宣称与司法机关有特殊关系、支付介绍费、恶意低价等不正当手段争揽业务；不得利用与相关机构的关系强行介入他人已代理的业务。</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规范处理业务承接与移转</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当事人已委托其他律师的，接受委托前应当审慎核实其委托关系状况；接办已由他人办理的案件，应当在委托关系依法终止后进行，并妥善做好工作衔接与档案移交。</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共同维护职业权利与形象</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对同行执业权利受到侵害的，应当依规支持与声援；对同行违规行为，通过律协等正当渠道反映，而非在当事人或者媒体面前攻击。行业自治的正当性，来自成员之间既相互约束又相互保护。</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17</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热点问题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业务推广的边界：可以做什么，不可以做什么</a:t>
            </a:r>
            <a:endParaRPr lang="en-US" sz="2800" dirty="0"/>
          </a:p>
        </p:txBody>
      </p:sp>
      <p:sp>
        <p:nvSpPr>
          <p:cNvPr id="4" name="Shape 2"/>
          <p:cNvSpPr/>
          <p:nvPr/>
        </p:nvSpPr>
        <p:spPr>
          <a:xfrm>
            <a:off x="566928" y="1749108"/>
            <a:ext cx="5410048" cy="4201033"/>
          </a:xfrm>
          <a:prstGeom prst="roundRect">
            <a:avLst>
              <a:gd name="adj" fmla="val 2177"/>
            </a:avLst>
          </a:prstGeom>
          <a:solidFill>
            <a:srgbClr val="F2F4F8"/>
          </a:solidFill>
          <a:ln w="12700">
            <a:solidFill>
              <a:srgbClr val="F2F4F8"/>
            </a:solidFill>
            <a:prstDash val="solid"/>
          </a:ln>
        </p:spPr>
      </p:sp>
      <p:sp>
        <p:nvSpPr>
          <p:cNvPr id="5" name="Shape 3"/>
          <p:cNvSpPr/>
          <p:nvPr/>
        </p:nvSpPr>
        <p:spPr>
          <a:xfrm>
            <a:off x="841248" y="20051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允许的推广</a:t>
            </a:r>
            <a:endParaRPr lang="en-US" sz="1600" dirty="0"/>
          </a:p>
        </p:txBody>
      </p:sp>
      <p:sp>
        <p:nvSpPr>
          <p:cNvPr id="7" name="Text 5"/>
          <p:cNvSpPr/>
          <p:nvPr/>
        </p:nvSpPr>
        <p:spPr>
          <a:xfrm>
            <a:off x="932688"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客观介绍律所与律师的执业领域、执业年限、教育背景、专业成果。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发表专业文章、举办讲座、参与学术研讨、提供普法内容。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依规发布经当事人同意且已作脱敏处理的典型案例。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通过官方网站、公众号等渠道进行真实、准确的信息展示。</a:t>
            </a:r>
            <a:endParaRPr lang="en-US" sz="1450" dirty="0"/>
          </a:p>
        </p:txBody>
      </p:sp>
      <p:sp>
        <p:nvSpPr>
          <p:cNvPr id="8" name="Shape 6"/>
          <p:cNvSpPr/>
          <p:nvPr/>
        </p:nvSpPr>
        <p:spPr>
          <a:xfrm>
            <a:off x="6214720" y="1749108"/>
            <a:ext cx="5410048" cy="4201033"/>
          </a:xfrm>
          <a:prstGeom prst="roundRect">
            <a:avLst>
              <a:gd name="adj" fmla="val 2177"/>
            </a:avLst>
          </a:prstGeom>
          <a:solidFill>
            <a:srgbClr val="F6F1E8"/>
          </a:solidFill>
          <a:ln w="12700">
            <a:solidFill>
              <a:srgbClr val="F6F1E8"/>
            </a:solidFill>
            <a:prstDash val="solid"/>
          </a:ln>
        </p:spPr>
      </p:sp>
      <p:sp>
        <p:nvSpPr>
          <p:cNvPr id="9" name="Shape 7"/>
          <p:cNvSpPr/>
          <p:nvPr/>
        </p:nvSpPr>
        <p:spPr>
          <a:xfrm>
            <a:off x="6489040" y="20051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禁止的推广</a:t>
            </a:r>
            <a:endParaRPr lang="en-US" sz="1600" dirty="0"/>
          </a:p>
        </p:txBody>
      </p:sp>
      <p:sp>
        <p:nvSpPr>
          <p:cNvPr id="11" name="Text 9"/>
          <p:cNvSpPr/>
          <p:nvPr/>
        </p:nvSpPr>
        <p:spPr>
          <a:xfrm>
            <a:off x="6580480"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对办案结果作出承诺或者暗示（“包胜诉”“不成功不收费”的不当表述）。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宣称与法官、检察官或者其他机关工作人员有特殊关系。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虚构或者夸大执业业绩、头衔、荣誉；使用“最佳”“第一”等无依据的比较性用语。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未经同意披露委托人信息或者案件细节；在自媒体上直播、剧透正在办理的案件。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向介绍案源者支付回扣、佣金；通过中介“买案源”。</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18</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职业形象与业外行为</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律师的可信度，是其全部执业能力的基础</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19</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形象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律师职业形象的四个方面</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与法官、检察官相比，律师的业外行为受规范约束较少，但并非不受约束。</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出庭形象：按规定着律师袍或者正装出庭，遵守法庭规则，尊重法庭与其他诉讼参与人；不得迟到、不得擅自退庭。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公开言论：就承办案件在媒体或者自媒体发表言论，应当审慎、真实，不得歪曲事实、误导公众、施压办案机关；注意言论豁免不及于庭外发言。</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社会活动：不得从事有损律师职业形象的活动；不得利用律师身份为不当商业行为背书；参与社会公益、法治宣传是值得鼓励的正面形象建设。</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个人品行：律师的执业资格以品行良好为条件，受过刑事处罚等情形依法不得取得执业证书；执业期间的严重失信、违法行为可能导致资格丧失。</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请记住一个朴素的道理：律师出售的是判断与信任。一旦当事人、法官、同行不再相信你说的话，你的专业能力再强也无从施展。</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20</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“不成功不收费”的收费方式在民事案件中较为常见。这一表述是否构成对办案结果的暗示性承诺？风险代理与结果承诺的界限何在？（提示：本问题与第19课时的收费规则相关联）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某律师在自媒体上连载自己正在办理的一起刑事案件的辩护手记，内容真实、无捏造，但引发大量公众关注并形成舆论压力。该行为是否违反职业伦理？请从委托人利益、司法公正、职业形象三个角度分析。</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当事人在庭前突然告知律师一项此前隐瞒的关键事实，该事实使律师此前提交的部分主张失去依据。律师应当如何处理？他对法庭负有何种义务？</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律师甲发现同所律师乙在另一起案件中存在明显违规行为。甲应当如何处理？向律协举报同事，与“共同维护职业形象”是否矛盾？</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21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第13课时要点回顾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律师在法治中承担四项不可替代的功能：制约公权力、保障权利可及、促进交易与预防纠纷、参与规则形成。这是“为坏人辩护”不构成道德污点的根本理由。</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《律师执业行为规范》第二章的基本要求为：依法执业、独立执业、诚实信用、勤勉尽责、保守秘密。</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独立执业的关键区分：涉及实体权利处分与重大程序选择的事项由委托人决定；涉及专业判断与合法性底线的事项由律师独立判断，不得因委托人施压而突破。</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诚信义务有三个指向：对委托人如实告知不作虚假承诺、对法庭如实陈述不提供虚假证据、对同行与对方守信不欺。《律师法》第四十条八项禁止行为是硬边界。</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勤勉尽责是手段债务而非结果债务；判断基准为同等条件下合格律师的通常注意；专业胜任是勤勉的前提，及时沟通是勤勉的组成部分；书面留痕是执业的护身符。</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同业关系四规则：相互尊重不诋毁、不得不正当竞争、规范处理业务承接与移转、共同维护职业权利与形象。业务推广允许客观真实的信息展示，禁止结果承诺、关系宣称、虚假夸大与案源交易。</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第14课时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委托人—律师关系（一）：关系的建立与业务推广</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一切律师伦理问题的起点是：谁是我的委托人？我对他负有什么义务？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委托关系的信义性质与“谁是委托人”的判断</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统一接受委托、书面合同与利益冲突前置审查</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业务推广与案源获取的合规边界</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从关系的性质到关系的建立</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一、委托关系的性质：信义关系</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二、谁是委托人：一个不简单的问题</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三、委托关系的建立：统一接受委托与书面合同</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四、接受委托的限制与拒绝委托</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五、业务推广与案源获取的合规边界</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六、知情同意与案例研讨</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委托关系的性质：信义关系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它不是普通的服务合同，而是以信任为核心的信义关系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03</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性质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普通服务合同 vs 信义关系</a:t>
            </a:r>
            <a:endParaRPr lang="en-US" sz="2800" dirty="0"/>
          </a:p>
        </p:txBody>
      </p:sp>
      <p:sp>
        <p:nvSpPr>
          <p:cNvPr id="4" name="Shape 2"/>
          <p:cNvSpPr/>
          <p:nvPr/>
        </p:nvSpPr>
        <p:spPr>
          <a:xfrm>
            <a:off x="566928" y="2214245"/>
            <a:ext cx="5410048" cy="3270758"/>
          </a:xfrm>
          <a:prstGeom prst="roundRect">
            <a:avLst>
              <a:gd name="adj" fmla="val 2796"/>
            </a:avLst>
          </a:prstGeom>
          <a:solidFill>
            <a:srgbClr val="F2F4F8"/>
          </a:solidFill>
          <a:ln w="12700">
            <a:solidFill>
              <a:srgbClr val="F2F4F8"/>
            </a:solidFill>
            <a:prstDash val="solid"/>
          </a:ln>
        </p:spPr>
      </p:sp>
      <p:sp>
        <p:nvSpPr>
          <p:cNvPr id="5" name="Shape 3"/>
          <p:cNvSpPr/>
          <p:nvPr/>
        </p:nvSpPr>
        <p:spPr>
          <a:xfrm>
            <a:off x="841248" y="247027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普通服务合同</a:t>
            </a:r>
            <a:endParaRPr lang="en-US" sz="1600" dirty="0"/>
          </a:p>
        </p:txBody>
      </p:sp>
      <p:sp>
        <p:nvSpPr>
          <p:cNvPr id="7" name="Text 5"/>
          <p:cNvSpPr/>
          <p:nvPr/>
        </p:nvSpPr>
        <p:spPr>
          <a:xfrm>
            <a:off x="932688"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双方地位平等，各自追求自身利益最大化。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义务范围以合同约定为限，未约定即无义务。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一方可以在不违约的前提下追求己方利益。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典型如买卖、承揽：卖方不必替买方考虑是否划算。</a:t>
            </a:r>
            <a:endParaRPr lang="en-US" sz="1450" dirty="0"/>
          </a:p>
        </p:txBody>
      </p:sp>
      <p:sp>
        <p:nvSpPr>
          <p:cNvPr id="8" name="Shape 6"/>
          <p:cNvSpPr/>
          <p:nvPr/>
        </p:nvSpPr>
        <p:spPr>
          <a:xfrm>
            <a:off x="6214720" y="2214245"/>
            <a:ext cx="5410048" cy="3270758"/>
          </a:xfrm>
          <a:prstGeom prst="roundRect">
            <a:avLst>
              <a:gd name="adj" fmla="val 2796"/>
            </a:avLst>
          </a:prstGeom>
          <a:solidFill>
            <a:srgbClr val="F6F1E8"/>
          </a:solidFill>
          <a:ln w="12700">
            <a:solidFill>
              <a:srgbClr val="F6F1E8"/>
            </a:solidFill>
            <a:prstDash val="solid"/>
          </a:ln>
        </p:spPr>
      </p:sp>
      <p:sp>
        <p:nvSpPr>
          <p:cNvPr id="9" name="Shape 7"/>
          <p:cNvSpPr/>
          <p:nvPr/>
        </p:nvSpPr>
        <p:spPr>
          <a:xfrm>
            <a:off x="6489040" y="247027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信义关系（fiduciary relationship）</a:t>
            </a:r>
            <a:endParaRPr lang="en-US" sz="1600" dirty="0"/>
          </a:p>
        </p:txBody>
      </p:sp>
      <p:sp>
        <p:nvSpPr>
          <p:cNvPr id="11" name="Text 9"/>
          <p:cNvSpPr/>
          <p:nvPr/>
        </p:nvSpPr>
        <p:spPr>
          <a:xfrm>
            <a:off x="6580480"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一方对另一方负有超越合同约定的忠实义务。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受托人必须将委托人的利益置于自身利益之上。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因信息与能力的不对称，受托人不得利用优势地位牟利。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典型如律师与委托人、医生与患者、受托人与信托受益人。</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04</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推论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信义性质推出的四项核心义务</a:t>
            </a:r>
            <a:endParaRPr lang="en-US" sz="2800" dirty="0"/>
          </a:p>
        </p:txBody>
      </p:sp>
      <p:sp>
        <p:nvSpPr>
          <p:cNvPr id="4" name="Shape 2"/>
          <p:cNvSpPr/>
          <p:nvPr/>
        </p:nvSpPr>
        <p:spPr>
          <a:xfrm>
            <a:off x="566928" y="1316736"/>
            <a:ext cx="11057839" cy="1271810"/>
          </a:xfrm>
          <a:prstGeom prst="roundRect">
            <a:avLst>
              <a:gd name="adj" fmla="val 5752"/>
            </a:avLst>
          </a:prstGeom>
          <a:solidFill>
            <a:srgbClr val="F2F4F8"/>
          </a:solidFill>
          <a:ln w="12700">
            <a:solidFill>
              <a:srgbClr val="F2F4F8"/>
            </a:solidFill>
            <a:prstDash val="solid"/>
          </a:ln>
        </p:spPr>
      </p:sp>
      <p:sp>
        <p:nvSpPr>
          <p:cNvPr id="5" name="Shape 3"/>
          <p:cNvSpPr/>
          <p:nvPr/>
        </p:nvSpPr>
        <p:spPr>
          <a:xfrm>
            <a:off x="841248" y="1696609"/>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50228"/>
            <a:ext cx="204826" cy="204826"/>
          </a:xfrm>
          <a:prstGeom prst="rect">
            <a:avLst/>
          </a:prstGeom>
        </p:spPr>
      </p:pic>
      <p:sp>
        <p:nvSpPr>
          <p:cNvPr id="7" name="Text 4"/>
          <p:cNvSpPr/>
          <p:nvPr/>
        </p:nvSpPr>
        <p:spPr>
          <a:xfrm>
            <a:off x="1536192" y="156802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忠实义务（loyalty）</a:t>
            </a:r>
            <a:endParaRPr lang="en-US" sz="1450" dirty="0"/>
          </a:p>
        </p:txBody>
      </p:sp>
      <p:sp>
        <p:nvSpPr>
          <p:cNvPr id="8" name="Text 5"/>
          <p:cNvSpPr/>
          <p:nvPr/>
        </p:nvSpPr>
        <p:spPr>
          <a:xfrm>
            <a:off x="1536192" y="187688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不得将自身利益或者第三人利益置于委托人利益之上；不得在同一事项中同时服务于相冲突的利益。利益冲突禁止规则的全部内容，都是忠实义务的展开——第17、18课时专门讨论。</a:t>
            </a:r>
            <a:endParaRPr lang="en-US" sz="1250" dirty="0"/>
          </a:p>
        </p:txBody>
      </p:sp>
      <p:sp>
        <p:nvSpPr>
          <p:cNvPr id="9" name="Shape 6"/>
          <p:cNvSpPr/>
          <p:nvPr/>
        </p:nvSpPr>
        <p:spPr>
          <a:xfrm>
            <a:off x="566928" y="2734850"/>
            <a:ext cx="11057839" cy="1041622"/>
          </a:xfrm>
          <a:prstGeom prst="roundRect">
            <a:avLst>
              <a:gd name="adj" fmla="val 7023"/>
            </a:avLst>
          </a:prstGeom>
          <a:solidFill>
            <a:srgbClr val="FFFFFF"/>
          </a:solidFill>
          <a:ln w="12700">
            <a:solidFill>
              <a:srgbClr val="D5DBE5"/>
            </a:solidFill>
            <a:prstDash val="solid"/>
          </a:ln>
        </p:spPr>
      </p:sp>
      <p:sp>
        <p:nvSpPr>
          <p:cNvPr id="10" name="Shape 7"/>
          <p:cNvSpPr/>
          <p:nvPr/>
        </p:nvSpPr>
        <p:spPr>
          <a:xfrm>
            <a:off x="841248" y="2999629"/>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53248"/>
            <a:ext cx="204826" cy="204826"/>
          </a:xfrm>
          <a:prstGeom prst="rect">
            <a:avLst/>
          </a:prstGeom>
        </p:spPr>
      </p:pic>
      <p:sp>
        <p:nvSpPr>
          <p:cNvPr id="12" name="Text 8"/>
          <p:cNvSpPr/>
          <p:nvPr/>
        </p:nvSpPr>
        <p:spPr>
          <a:xfrm>
            <a:off x="1536192" y="29861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保密义务（confidentiality）</a:t>
            </a:r>
            <a:endParaRPr lang="en-US" sz="1450" dirty="0"/>
          </a:p>
        </p:txBody>
      </p:sp>
      <p:sp>
        <p:nvSpPr>
          <p:cNvPr id="13" name="Text 9"/>
          <p:cNvSpPr/>
          <p:nvPr/>
        </p:nvSpPr>
        <p:spPr>
          <a:xfrm>
            <a:off x="1536192" y="3294999"/>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因信任而获知的信息不得泄露或者利用。保密义务的强度远超一般合同的保密条款，且不因委托关系终止而消灭——第16课时专门讨论。</a:t>
            </a:r>
            <a:endParaRPr lang="en-US" sz="1250" dirty="0"/>
          </a:p>
        </p:txBody>
      </p:sp>
      <p:sp>
        <p:nvSpPr>
          <p:cNvPr id="14" name="Shape 10"/>
          <p:cNvSpPr/>
          <p:nvPr/>
        </p:nvSpPr>
        <p:spPr>
          <a:xfrm>
            <a:off x="566928" y="3922776"/>
            <a:ext cx="11057839" cy="1271810"/>
          </a:xfrm>
          <a:prstGeom prst="roundRect">
            <a:avLst>
              <a:gd name="adj" fmla="val 5752"/>
            </a:avLst>
          </a:prstGeom>
          <a:solidFill>
            <a:srgbClr val="F2F4F8"/>
          </a:solidFill>
          <a:ln w="12700">
            <a:solidFill>
              <a:srgbClr val="F2F4F8"/>
            </a:solidFill>
            <a:prstDash val="solid"/>
          </a:ln>
        </p:spPr>
      </p:sp>
      <p:sp>
        <p:nvSpPr>
          <p:cNvPr id="15" name="Shape 11"/>
          <p:cNvSpPr/>
          <p:nvPr/>
        </p:nvSpPr>
        <p:spPr>
          <a:xfrm>
            <a:off x="841248" y="4302649"/>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56268"/>
            <a:ext cx="204826" cy="204826"/>
          </a:xfrm>
          <a:prstGeom prst="rect">
            <a:avLst/>
          </a:prstGeom>
        </p:spPr>
      </p:pic>
      <p:sp>
        <p:nvSpPr>
          <p:cNvPr id="17" name="Text 12"/>
          <p:cNvSpPr/>
          <p:nvPr/>
        </p:nvSpPr>
        <p:spPr>
          <a:xfrm>
            <a:off x="1536192" y="417406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告知义务（disclosure）</a:t>
            </a:r>
            <a:endParaRPr lang="en-US" sz="1450" dirty="0"/>
          </a:p>
        </p:txBody>
      </p:sp>
      <p:sp>
        <p:nvSpPr>
          <p:cNvPr id="18" name="Text 13"/>
          <p:cNvSpPr/>
          <p:nvPr/>
        </p:nvSpPr>
        <p:spPr>
          <a:xfrm>
            <a:off x="1536192" y="448292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因信息不对称，律师负有主动告知的义务：案件风险、重大进展、不利变化、费用构成、可能的利益冲突。委托人只有在知情的前提下，其授权与决定才有意义。</a:t>
            </a:r>
            <a:endParaRPr lang="en-US" sz="1250" dirty="0"/>
          </a:p>
        </p:txBody>
      </p:sp>
      <p:sp>
        <p:nvSpPr>
          <p:cNvPr id="19" name="Shape 14"/>
          <p:cNvSpPr/>
          <p:nvPr/>
        </p:nvSpPr>
        <p:spPr>
          <a:xfrm>
            <a:off x="566928" y="5340890"/>
            <a:ext cx="11057839" cy="1041622"/>
          </a:xfrm>
          <a:prstGeom prst="roundRect">
            <a:avLst>
              <a:gd name="adj" fmla="val 7023"/>
            </a:avLst>
          </a:prstGeom>
          <a:solidFill>
            <a:srgbClr val="FFFFFF"/>
          </a:solidFill>
          <a:ln w="12700">
            <a:solidFill>
              <a:srgbClr val="D5DBE5"/>
            </a:solidFill>
            <a:prstDash val="solid"/>
          </a:ln>
        </p:spPr>
      </p:sp>
      <p:sp>
        <p:nvSpPr>
          <p:cNvPr id="20" name="Shape 15"/>
          <p:cNvSpPr/>
          <p:nvPr/>
        </p:nvSpPr>
        <p:spPr>
          <a:xfrm>
            <a:off x="841248" y="560566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59288"/>
            <a:ext cx="204826" cy="204826"/>
          </a:xfrm>
          <a:prstGeom prst="rect">
            <a:avLst/>
          </a:prstGeom>
        </p:spPr>
      </p:pic>
      <p:sp>
        <p:nvSpPr>
          <p:cNvPr id="22" name="Text 16"/>
          <p:cNvSpPr/>
          <p:nvPr/>
        </p:nvSpPr>
        <p:spPr>
          <a:xfrm>
            <a:off x="1536192" y="55921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勤勉义务（diligence）</a:t>
            </a:r>
            <a:endParaRPr lang="en-US" sz="1450" dirty="0"/>
          </a:p>
        </p:txBody>
      </p:sp>
      <p:sp>
        <p:nvSpPr>
          <p:cNvPr id="23" name="Text 17"/>
          <p:cNvSpPr/>
          <p:nvPr/>
        </p:nvSpPr>
        <p:spPr>
          <a:xfrm>
            <a:off x="1536192" y="5901039"/>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以应有的专业注意履行受托事务，不得懈怠、拖延或者擅自终止。与忠实义务的关系是：忠实解决“为谁做”，勤勉解决“做得如何”。</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谁是委托人：一个不简单的问题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弄错了委托人，后面所有的义务判断都会跟着错</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06</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四类情形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实务中最容易混淆的四种情形</a:t>
            </a:r>
            <a:endParaRPr lang="en-US" sz="2800" dirty="0"/>
          </a:p>
        </p:txBody>
      </p:sp>
      <p:sp>
        <p:nvSpPr>
          <p:cNvPr id="4" name="Shape 2"/>
          <p:cNvSpPr/>
          <p:nvPr/>
        </p:nvSpPr>
        <p:spPr>
          <a:xfrm>
            <a:off x="566928" y="1415733"/>
            <a:ext cx="5410048" cy="2324164"/>
          </a:xfrm>
          <a:prstGeom prst="roundRect">
            <a:avLst>
              <a:gd name="adj" fmla="val 3934"/>
            </a:avLst>
          </a:prstGeom>
          <a:solidFill>
            <a:srgbClr val="F2F4F8"/>
          </a:solidFill>
          <a:ln w="12700">
            <a:solidFill>
              <a:srgbClr val="F2F4F8"/>
            </a:solidFill>
            <a:prstDash val="solid"/>
          </a:ln>
        </p:spPr>
      </p:sp>
      <p:sp>
        <p:nvSpPr>
          <p:cNvPr id="5" name="Shape 3"/>
          <p:cNvSpPr/>
          <p:nvPr/>
        </p:nvSpPr>
        <p:spPr>
          <a:xfrm>
            <a:off x="886968" y="1708341"/>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45501"/>
            <a:ext cx="182880" cy="182880"/>
          </a:xfrm>
          <a:prstGeom prst="rect">
            <a:avLst/>
          </a:prstGeom>
        </p:spPr>
      </p:pic>
      <p:sp>
        <p:nvSpPr>
          <p:cNvPr id="7" name="Text 4"/>
          <p:cNvSpPr/>
          <p:nvPr/>
        </p:nvSpPr>
        <p:spPr>
          <a:xfrm>
            <a:off x="886968" y="2330133"/>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付费人 ≠ 委托人</a:t>
            </a:r>
            <a:endParaRPr lang="en-US" sz="1450" dirty="0"/>
          </a:p>
        </p:txBody>
      </p:sp>
      <p:sp>
        <p:nvSpPr>
          <p:cNvPr id="8" name="Text 5"/>
          <p:cNvSpPr/>
          <p:nvPr/>
        </p:nvSpPr>
        <p:spPr>
          <a:xfrm>
            <a:off x="886968" y="268833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刑事案件中常由被追诉人的亲属付费。付费人不因付费而成为委托人：律师的忠实义务指向被追诉人本人，辩护意见须以其本人意志与利益为准；未经本人同意，不得向付费的亲属披露会见内容。</a:t>
            </a:r>
            <a:endParaRPr lang="en-US" sz="1200" dirty="0"/>
          </a:p>
        </p:txBody>
      </p:sp>
      <p:sp>
        <p:nvSpPr>
          <p:cNvPr id="9" name="Shape 6"/>
          <p:cNvSpPr/>
          <p:nvPr/>
        </p:nvSpPr>
        <p:spPr>
          <a:xfrm>
            <a:off x="6214720" y="1415733"/>
            <a:ext cx="5410048" cy="2324164"/>
          </a:xfrm>
          <a:prstGeom prst="roundRect">
            <a:avLst>
              <a:gd name="adj" fmla="val 3934"/>
            </a:avLst>
          </a:prstGeom>
          <a:solidFill>
            <a:srgbClr val="F6F1E8"/>
          </a:solidFill>
          <a:ln w="12700">
            <a:solidFill>
              <a:srgbClr val="F6F1E8"/>
            </a:solidFill>
            <a:prstDash val="solid"/>
          </a:ln>
        </p:spPr>
      </p:sp>
      <p:sp>
        <p:nvSpPr>
          <p:cNvPr id="10" name="Shape 7"/>
          <p:cNvSpPr/>
          <p:nvPr/>
        </p:nvSpPr>
        <p:spPr>
          <a:xfrm>
            <a:off x="6534760" y="1708341"/>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45501"/>
            <a:ext cx="182880" cy="182880"/>
          </a:xfrm>
          <a:prstGeom prst="rect">
            <a:avLst/>
          </a:prstGeom>
        </p:spPr>
      </p:pic>
      <p:sp>
        <p:nvSpPr>
          <p:cNvPr id="12" name="Text 8"/>
          <p:cNvSpPr/>
          <p:nvPr/>
        </p:nvSpPr>
        <p:spPr>
          <a:xfrm>
            <a:off x="6534760" y="2330133"/>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公司 ≠ 法定代表人</a:t>
            </a:r>
            <a:endParaRPr lang="en-US" sz="1450" dirty="0"/>
          </a:p>
        </p:txBody>
      </p:sp>
      <p:sp>
        <p:nvSpPr>
          <p:cNvPr id="13" name="Text 9"/>
          <p:cNvSpPr/>
          <p:nvPr/>
        </p:nvSpPr>
        <p:spPr>
          <a:xfrm>
            <a:off x="6534760" y="268833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律师担任公司法律顾问的，委托人是公司这一法人，而非法定代表人个人。当法定代表人的个人利益与公司利益冲突时（如涉嫌侵占公司财产），律师应当忠于公司，必要时向董事会、监事会报告并说明立场。</a:t>
            </a:r>
            <a:endParaRPr lang="en-US" sz="1200" dirty="0"/>
          </a:p>
        </p:txBody>
      </p:sp>
      <p:sp>
        <p:nvSpPr>
          <p:cNvPr id="14" name="Shape 10"/>
          <p:cNvSpPr/>
          <p:nvPr/>
        </p:nvSpPr>
        <p:spPr>
          <a:xfrm>
            <a:off x="566928" y="3959352"/>
            <a:ext cx="5410048" cy="2324164"/>
          </a:xfrm>
          <a:prstGeom prst="roundRect">
            <a:avLst>
              <a:gd name="adj" fmla="val 393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共同委托人之间的潜在冲突</a:t>
            </a:r>
            <a:endParaRPr lang="en-US" sz="1450" dirty="0"/>
          </a:p>
        </p:txBody>
      </p:sp>
      <p:sp>
        <p:nvSpPr>
          <p:cNvPr id="18" name="Text 13"/>
          <p:cNvSpPr/>
          <p:nvPr/>
        </p:nvSpPr>
        <p:spPr>
          <a:xfrm>
            <a:off x="886968" y="523195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多名当事人共同委托同一律师的，须审查其利益是否一致。共同被告之间可能存在相互推诿责任的空间；股东之间、合伙人之间的利益也未必一致。一旦出现实质冲突，律师原则上应当退出全部委托。</a:t>
            </a:r>
            <a:endParaRPr lang="en-US" sz="1200" dirty="0"/>
          </a:p>
        </p:txBody>
      </p:sp>
      <p:sp>
        <p:nvSpPr>
          <p:cNvPr id="19" name="Shape 14"/>
          <p:cNvSpPr/>
          <p:nvPr/>
        </p:nvSpPr>
        <p:spPr>
          <a:xfrm>
            <a:off x="6214720" y="3959352"/>
            <a:ext cx="5410048" cy="2324164"/>
          </a:xfrm>
          <a:prstGeom prst="roundRect">
            <a:avLst>
              <a:gd name="adj" fmla="val 393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咨询者是否已成为委托人</a:t>
            </a:r>
            <a:endParaRPr lang="en-US" sz="1450" dirty="0"/>
          </a:p>
        </p:txBody>
      </p:sp>
      <p:sp>
        <p:nvSpPr>
          <p:cNvPr id="23" name="Text 17"/>
          <p:cNvSpPr/>
          <p:nvPr/>
        </p:nvSpPr>
        <p:spPr>
          <a:xfrm>
            <a:off x="6534760" y="523195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即使未签订委托合同，若律师已接受咨询并知悉对方的实质性保密信息，则可能产生保密义务与冲突审查义务。此后不得接受与该咨询者相对立一方的委托——“未成案的咨询”同样产生法律后果。</a:t>
            </a:r>
            <a:endParaRPr lang="en-US" sz="12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07</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亲属付费的刑事辩护</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高频难题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“我付的钱，你得听我的”</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某涉嫌职务侵占案，犯罪嫌疑人之妻委托某律师担任辩护人，并支付了全部律师费。委托手续中，犯罪嫌疑人本人后来在看守所签署了确认。</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会见后，犯罪嫌疑人向律师承认了主要事实，并表示希望争取认罪认罚从宽。但其妻坚决要求律师作无罪辩护，理由是“认罪就会被单位开除、影响孩子”，并要求律师详细告知会见的全部内容，包括丈夫是否提到家庭财产的去向。</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其妻同时表示：若律师不听安排，将立即解除委托并要求退还全部费用。</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律师应当听谁的？规范依据是什么？</a:t>
            </a:r>
            <a:endParaRPr lang="en-US" sz="1400" dirty="0"/>
          </a:p>
        </p:txBody>
      </p:sp>
      <p:sp>
        <p:nvSpPr>
          <p:cNvPr id="14" name="Shape 12"/>
          <p:cNvSpPr/>
          <p:nvPr/>
        </p:nvSpPr>
        <p:spPr>
          <a:xfrm>
            <a:off x="7958023" y="296532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296532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913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能否向其妻披露会见内容？</a:t>
            </a:r>
            <a:endParaRPr lang="en-US" sz="1400" dirty="0"/>
          </a:p>
        </p:txBody>
      </p:sp>
      <p:sp>
        <p:nvSpPr>
          <p:cNvPr id="17" name="Shape 15"/>
          <p:cNvSpPr/>
          <p:nvPr/>
        </p:nvSpPr>
        <p:spPr>
          <a:xfrm>
            <a:off x="7958023" y="371690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71690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72071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认罪认罚的决定权在谁？</a:t>
            </a:r>
            <a:endParaRPr lang="en-US" sz="1400" dirty="0"/>
          </a:p>
        </p:txBody>
      </p:sp>
      <p:sp>
        <p:nvSpPr>
          <p:cNvPr id="20" name="Shape 18"/>
          <p:cNvSpPr/>
          <p:nvPr/>
        </p:nvSpPr>
        <p:spPr>
          <a:xfrm>
            <a:off x="7958023" y="446849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46849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47230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律师应当如何与付费人沟通并留痕？</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08</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委托关系的建立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统一接受委托、书面合同、冲突审查前置——三项必经程序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09</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强制性规定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《律师法》第二十五条：统一接受委托</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《中华人民共和国律师法》第二十五条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律师承办业务，由律师事务所统一接受委托，与委托人签订书面委托合同，按照国家规定统一收取费用并如实入账。</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律师事务所和律师应当依法纳税。</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包含四项强制要求：统一接受委托、书面合同、统一收费、如实入账。违反的后果是《律师法》第四十条第（一）项“私自接受委托、收取费用”，可被处以停止执业乃至吊销执业证书。请理解其制度功能：统一接受委托使利益冲突审查、质量管理、责任承担成为可能；律所不是律师的“挂靠单位”，而是委托关系的法律主体。</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10</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建立流程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接受委托的标准流程</a:t>
            </a:r>
            <a:endParaRPr lang="en-US" sz="2800" dirty="0"/>
          </a:p>
        </p:txBody>
      </p:sp>
      <p:sp>
        <p:nvSpPr>
          <p:cNvPr id="4" name="Shape 2"/>
          <p:cNvSpPr/>
          <p:nvPr/>
        </p:nvSpPr>
        <p:spPr>
          <a:xfrm>
            <a:off x="566928" y="1729645"/>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第一步：初步接洽与信息获取</a:t>
            </a:r>
            <a:endParaRPr lang="en-US" sz="1500" dirty="0"/>
          </a:p>
        </p:txBody>
      </p:sp>
      <p:sp>
        <p:nvSpPr>
          <p:cNvPr id="8" name="Text 6"/>
          <p:cNvSpPr/>
          <p:nvPr/>
        </p:nvSpPr>
        <p:spPr>
          <a:xfrm>
            <a:off x="1444752"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了解委托事项的基本情况、当事人身份、对方当事人身份、案件性质。注意：此阶段获知的信息已受保密义务约束，即使最终未成案。</a:t>
            </a:r>
            <a:endParaRPr lang="en-US" sz="1350" dirty="0"/>
          </a:p>
        </p:txBody>
      </p:sp>
      <p:sp>
        <p:nvSpPr>
          <p:cNvPr id="9" name="Shape 7"/>
          <p:cNvSpPr/>
          <p:nvPr/>
        </p:nvSpPr>
        <p:spPr>
          <a:xfrm>
            <a:off x="566928" y="3185636"/>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第二步：利益冲突检索</a:t>
            </a:r>
            <a:endParaRPr lang="en-US" sz="1500" dirty="0"/>
          </a:p>
        </p:txBody>
      </p:sp>
      <p:sp>
        <p:nvSpPr>
          <p:cNvPr id="13" name="Text 11"/>
          <p:cNvSpPr/>
          <p:nvPr/>
        </p:nvSpPr>
        <p:spPr>
          <a:xfrm>
            <a:off x="1444752"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以本人、本所（含分所）为范围，检索是否曾为对方当事人提供服务、是否存在关联关系。检索应当在正式接受委托前完成并留存记录。这是冲突审查前置原则。</a:t>
            </a:r>
            <a:endParaRPr lang="en-US" sz="1350" dirty="0"/>
          </a:p>
        </p:txBody>
      </p:sp>
      <p:sp>
        <p:nvSpPr>
          <p:cNvPr id="14" name="Shape 12"/>
          <p:cNvSpPr/>
          <p:nvPr/>
        </p:nvSpPr>
        <p:spPr>
          <a:xfrm>
            <a:off x="566928" y="4641628"/>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507701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第三步：能力与资源评估</a:t>
            </a:r>
            <a:endParaRPr lang="en-US" sz="1500" dirty="0"/>
          </a:p>
        </p:txBody>
      </p:sp>
      <p:sp>
        <p:nvSpPr>
          <p:cNvPr id="18" name="Text 16"/>
          <p:cNvSpPr/>
          <p:nvPr/>
        </p:nvSpPr>
        <p:spPr>
          <a:xfrm>
            <a:off x="1444752"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评估是否具备专业胜任能力、是否有足够时间与人力、是否存在管辖或者时效等障碍。不能胜任的应当明确告知或者引荐、协作办理。</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第四步：风险告知与知情同意</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如实告知案件的可能结果、主要风险、诉讼周期、费用构成与可能的额外支出；不得作出结果承诺。告知内容宜书面化。</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第五步：签订书面委托合同</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由律师事务所与委托人签订，载明委托事项、权限范围、收费标准与支付方式、双方权利义务、解除条件、争议解决方式等。授权委托书应当明确一般代理还是特别授权。</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第六步：建档与内部报备</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按律所制度立卷建档，报备承办人、收费与冲突审查结论；费用统一入所账并开具发票。归档的完整性是日后责任认定的基础。</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11</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合同要点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委托合同中最容易出问题的五个条款</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委托合同不只是收费凭据，它是界定义务范围、防范纠纷的核心文件。</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委托事项与范围：写清是“一审”还是“一审至二审”，是“代理诉讼”还是“包含执行”。范围不清是费用纠纷最常见的起因。</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授权权限：一般代理与特别授权的差别极大。特别授权涉及承认、放弃、变更诉讼请求、和解、提起反诉或者上诉，必须明确并经委托人确认。</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收费标准与支付方式：明确计费方式（计件、计时、按标的比例、风险代理）、支付节点、以及办案费用（差旅、鉴定、公告费）由谁承担。</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解除条件与费用结算：约定双方解除的条件与已发生费用的结算方式，避免解除时争议不断。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沟通与告知方式：约定联系人、联系方式与告知方式，明确重大事项的确认程序。这一条看似琐碎，实际能减少大量纠纷。</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接受委托的限制与拒绝委托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律师有权选择当事人，但接受之后就不能随意退出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13</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《律师法》第三十二条：委托的解除与拒绝</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《中华人民共和国律师法》第三十二条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委托人可以拒绝已委托的律师为其辩护或者代理，同时可以另行委托律师担任辩护人或者代理人。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律师接受委托后，无正当理由的，不得拒绝辩护或者代理。但是，委托事项违法、委托人利用律师提供的服务从事违法活动或者委托人故意隐瞒与案件有关的重要事实的，律师有权拒绝辩护或者代理。</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两款的不对称：委托人可以随时解除（第一款无条件），律师原则上不得拒绝（第二款有条件）。这一不对称正是信义关系的体现——委托关系建立在委托人的信任之上，信任消失即可终止；而律师中途退出会使当事人陷入无人代理的困境，因此须有正当理由。第二款列举的三项正当理由，请务必记住。</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14</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两类情形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不得接受的委托 vs 可以拒绝的委托</a:t>
            </a:r>
            <a:endParaRPr lang="en-US" sz="2800" dirty="0"/>
          </a:p>
        </p:txBody>
      </p:sp>
      <p:sp>
        <p:nvSpPr>
          <p:cNvPr id="4" name="Shape 2"/>
          <p:cNvSpPr/>
          <p:nvPr/>
        </p:nvSpPr>
        <p:spPr>
          <a:xfrm>
            <a:off x="566928" y="2076133"/>
            <a:ext cx="5410048" cy="3546983"/>
          </a:xfrm>
          <a:prstGeom prst="roundRect">
            <a:avLst>
              <a:gd name="adj" fmla="val 2578"/>
            </a:avLst>
          </a:prstGeom>
          <a:solidFill>
            <a:srgbClr val="F2F4F8"/>
          </a:solidFill>
          <a:ln w="12700">
            <a:solidFill>
              <a:srgbClr val="F2F4F8"/>
            </a:solidFill>
            <a:prstDash val="solid"/>
          </a:ln>
        </p:spPr>
      </p:sp>
      <p:sp>
        <p:nvSpPr>
          <p:cNvPr id="5" name="Shape 3"/>
          <p:cNvSpPr/>
          <p:nvPr/>
        </p:nvSpPr>
        <p:spPr>
          <a:xfrm>
            <a:off x="841248" y="23321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不得接受（接受即违规）</a:t>
            </a:r>
            <a:endParaRPr lang="en-US" sz="1600" dirty="0"/>
          </a:p>
        </p:txBody>
      </p:sp>
      <p:sp>
        <p:nvSpPr>
          <p:cNvPr id="7" name="Text 5"/>
          <p:cNvSpPr/>
          <p:nvPr/>
        </p:nvSpPr>
        <p:spPr>
          <a:xfrm>
            <a:off x="932688"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存在法定利益冲突的：同一案件中为双方当事人担任代理人；代理与本人或者近亲属有利益冲突的法律事务。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委托事项本身违法的：如要求律师协助转移赃款、伪造证据、逃避债务执行。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明显超出专业胜任能力且无法通过协作解决的。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离任法官、检察官在法定期限内担任诉讼代理人或者辩护人的。</a:t>
            </a:r>
            <a:endParaRPr lang="en-US" sz="1450" dirty="0"/>
          </a:p>
        </p:txBody>
      </p:sp>
      <p:sp>
        <p:nvSpPr>
          <p:cNvPr id="8" name="Shape 6"/>
          <p:cNvSpPr/>
          <p:nvPr/>
        </p:nvSpPr>
        <p:spPr>
          <a:xfrm>
            <a:off x="6214720" y="2076133"/>
            <a:ext cx="5410048" cy="3546983"/>
          </a:xfrm>
          <a:prstGeom prst="roundRect">
            <a:avLst>
              <a:gd name="adj" fmla="val 2578"/>
            </a:avLst>
          </a:prstGeom>
          <a:solidFill>
            <a:srgbClr val="F6F1E8"/>
          </a:solidFill>
          <a:ln w="12700">
            <a:solidFill>
              <a:srgbClr val="F6F1E8"/>
            </a:solidFill>
            <a:prstDash val="solid"/>
          </a:ln>
        </p:spPr>
      </p:sp>
      <p:sp>
        <p:nvSpPr>
          <p:cNvPr id="9" name="Shape 7"/>
          <p:cNvSpPr/>
          <p:nvPr/>
        </p:nvSpPr>
        <p:spPr>
          <a:xfrm>
            <a:off x="6489040" y="23321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可以拒绝（接受后有权退出）</a:t>
            </a:r>
            <a:endParaRPr lang="en-US" sz="1600" dirty="0"/>
          </a:p>
        </p:txBody>
      </p:sp>
      <p:sp>
        <p:nvSpPr>
          <p:cNvPr id="11" name="Text 9"/>
          <p:cNvSpPr/>
          <p:nvPr/>
        </p:nvSpPr>
        <p:spPr>
          <a:xfrm>
            <a:off x="6580480"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委托事项违法。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委托人利用律师提供的服务从事违法活动。</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委托人故意隐瞒与案件有关的重要事实。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注意：以上三项之外，无正当理由不得拒绝；即使有正当理由，也应当妥善处理交接，避免损害委托人利益。</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15</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特别情形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法律援助案件的特殊性</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《法律援助法》自2022年1月1日起施行，它把法律援助从“政府的恩惠”提升为“国家的责任”。</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《律师法》第四十二条规定，律师、律师事务所应当按照国家规定履行法律援助义务，为受援人提供符合标准的法律服务，维护受援人的合法权益。</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法律援助是法定义务而非慈善行为。接受指派后，无正当理由不得拒绝、拖延或者终止提供法律援助服务。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援助案件的服务标准与收费案件相同。以“没收费”为由降低服务质量，是严重的执业违规，也是对受援人权利的侵害。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受援人对法律援助有异议的，可以依法向法律援助机构提出；法律援助机构应当依法处理，必要时更换承办人员。</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请各位建立一个观念：法律援助案件的当事人往往最缺乏辨别服务质量的能力，因而最容易被敷衍。恰恰因为如此，援助案件才是检验一名律师职业操守的最好试金石。</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16</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业务推广与案源获取的合规边界</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案源焦虑是真实的，但突破边界的代价更真实</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17</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四条红线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案源获取中的四条不可逾越的红线</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一、不得承诺办案结果</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不得以明示或者暗示的方式承诺胜诉、承诺不批捕、承诺缓刑等。判断标准是委托人是否会合理地理解为一种保证。“我们办过类似案件，结果不错”与“这个案子我保证给你办成缓刑”，性质完全不同。</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二、不得宣称关系</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不得宣称或者暗示与法官、检察官、仲裁员或者其他有关人员有特殊关系，不得以此招揽业务。以“关系”承揽业务，轻则行业处分，重则构成《律师法》第四十条第（五）项的行贿、介绍贿赂，涉及刑事责任。</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三、不得支付案源介绍费用</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不得向介绍案源者支付回扣、佣金或者其他利益；不得与非律师机构或者个人分享律师费。这类安排会使律师的判断受制于介绍人的利益，并可能诱发虚假诉讼、恶意诉讼。</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四、不得不当接触与骚扰</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不得在事故现场、医院、看守所门口等场所直接向当事人及其亲属兜揽业务；不得利用当事人的困境施加不当影响；不得通过不正当渠道获取当事人信息并进行营销。</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18</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某企业法律顾问在服务过程中发现，法定代表人正利用职务便利将公司资产转移至其个人控制的另一家公司。律师此时的委托人是谁？他应当如何行动？可以向监事会或者股东报告吗？这是否违反保密义务？</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一名当事人就某纠纷向律师作了一小时的免费咨询，详细陈述了案情与己方弱点，最终未签订委托合同。两周后，该纠纷的对方当事人前来委托同一律师。律师能否接受？请说明理由。</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律师在短视频平台发布“我经手的一起离婚财产分割案，女方最终多分了三百万”的内容，未透露当事人姓名。这一行为是否违规？涉及哪些规范？</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《律师法》第三十二条规定律师“无正当理由不得拒绝辩护或者代理”。如果委托人多次辱骂律师、拒不配合、拒付约定费用，律师能否解除委托？这些是否构成“正当理由”？</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19</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第14课时要点回顾</a:t>
            </a:r>
            <a:endParaRPr lang="en-US" sz="3000" dirty="0"/>
          </a:p>
        </p:txBody>
      </p:sp>
      <p:sp>
        <p:nvSpPr>
          <p:cNvPr id="4" name="Shape 2"/>
          <p:cNvSpPr/>
          <p:nvPr/>
        </p:nvSpPr>
        <p:spPr>
          <a:xfrm>
            <a:off x="566928" y="1591056"/>
            <a:ext cx="11057839" cy="548217"/>
          </a:xfrm>
          <a:prstGeom prst="roundRect">
            <a:avLst>
              <a:gd name="adj" fmla="val 13344"/>
            </a:avLst>
          </a:prstGeom>
          <a:solidFill>
            <a:srgbClr val="25395F"/>
          </a:solidFill>
          <a:ln w="12700">
            <a:solidFill>
              <a:srgbClr val="25395F"/>
            </a:solidFill>
            <a:prstDash val="solid"/>
          </a:ln>
        </p:spPr>
      </p:sp>
      <p:sp>
        <p:nvSpPr>
          <p:cNvPr id="5" name="Shape 3"/>
          <p:cNvSpPr/>
          <p:nvPr/>
        </p:nvSpPr>
        <p:spPr>
          <a:xfrm>
            <a:off x="859536" y="1673352"/>
            <a:ext cx="383625" cy="383625"/>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74623" y="1788439"/>
            <a:ext cx="153450" cy="153450"/>
          </a:xfrm>
          <a:prstGeom prst="rect">
            <a:avLst/>
          </a:prstGeom>
        </p:spPr>
      </p:pic>
      <p:sp>
        <p:nvSpPr>
          <p:cNvPr id="7" name="Text 4"/>
          <p:cNvSpPr/>
          <p:nvPr/>
        </p:nvSpPr>
        <p:spPr>
          <a:xfrm>
            <a:off x="1444752" y="1755627"/>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委托人—律师关系是信义关系而非普通服务合同，由此推出忠实、保密、告知、勤勉四项核心义务。忠实解决“为谁做”，勤勉解决“做得如何”。</a:t>
            </a:r>
            <a:endParaRPr lang="en-US" sz="1150" dirty="0"/>
          </a:p>
        </p:txBody>
      </p:sp>
      <p:sp>
        <p:nvSpPr>
          <p:cNvPr id="8" name="Shape 5"/>
          <p:cNvSpPr/>
          <p:nvPr/>
        </p:nvSpPr>
        <p:spPr>
          <a:xfrm>
            <a:off x="566928" y="2276433"/>
            <a:ext cx="11057839" cy="752306"/>
          </a:xfrm>
          <a:prstGeom prst="roundRect">
            <a:avLst>
              <a:gd name="adj" fmla="val 9724"/>
            </a:avLst>
          </a:prstGeom>
          <a:solidFill>
            <a:srgbClr val="25395F"/>
          </a:solidFill>
          <a:ln w="12700">
            <a:solidFill>
              <a:srgbClr val="25395F"/>
            </a:solidFill>
            <a:prstDash val="solid"/>
          </a:ln>
        </p:spPr>
      </p:sp>
      <p:sp>
        <p:nvSpPr>
          <p:cNvPr id="9" name="Shape 6"/>
          <p:cNvSpPr/>
          <p:nvPr/>
        </p:nvSpPr>
        <p:spPr>
          <a:xfrm>
            <a:off x="859536" y="2451418"/>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72118"/>
            <a:ext cx="160934" cy="160934"/>
          </a:xfrm>
          <a:prstGeom prst="rect">
            <a:avLst/>
          </a:prstGeom>
        </p:spPr>
      </p:pic>
      <p:sp>
        <p:nvSpPr>
          <p:cNvPr id="11" name="Text 7"/>
          <p:cNvSpPr/>
          <p:nvPr/>
        </p:nvSpPr>
        <p:spPr>
          <a:xfrm>
            <a:off x="1444752" y="243351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“谁是委托人”须辨析四种情形：付费人不等于委托人；公司不等于法定代表人；共同委托人之间可能存在冲突；未成案的咨询同样产生保密与冲突审查义务。</a:t>
            </a:r>
            <a:endParaRPr lang="en-US" sz="1150" dirty="0"/>
          </a:p>
        </p:txBody>
      </p:sp>
      <p:sp>
        <p:nvSpPr>
          <p:cNvPr id="12" name="Shape 8"/>
          <p:cNvSpPr/>
          <p:nvPr/>
        </p:nvSpPr>
        <p:spPr>
          <a:xfrm>
            <a:off x="566928" y="3165898"/>
            <a:ext cx="11057839" cy="752306"/>
          </a:xfrm>
          <a:prstGeom prst="roundRect">
            <a:avLst>
              <a:gd name="adj" fmla="val 9724"/>
            </a:avLst>
          </a:prstGeom>
          <a:solidFill>
            <a:srgbClr val="25395F"/>
          </a:solidFill>
          <a:ln w="12700">
            <a:solidFill>
              <a:srgbClr val="25395F"/>
            </a:solidFill>
            <a:prstDash val="solid"/>
          </a:ln>
        </p:spPr>
      </p:sp>
      <p:sp>
        <p:nvSpPr>
          <p:cNvPr id="13" name="Shape 9"/>
          <p:cNvSpPr/>
          <p:nvPr/>
        </p:nvSpPr>
        <p:spPr>
          <a:xfrm>
            <a:off x="859536" y="3340883"/>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61584"/>
            <a:ext cx="160934" cy="160934"/>
          </a:xfrm>
          <a:prstGeom prst="rect">
            <a:avLst/>
          </a:prstGeom>
        </p:spPr>
      </p:pic>
      <p:sp>
        <p:nvSpPr>
          <p:cNvPr id="15" name="Text 10"/>
          <p:cNvSpPr/>
          <p:nvPr/>
        </p:nvSpPr>
        <p:spPr>
          <a:xfrm>
            <a:off x="1444752" y="332297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《律师法》第二十五条确立四项强制要求：统一接受委托、书面合同、统一收费、如实入账。违反即构成第四十条第（一）项的“私自接受委托、收取费用”。</a:t>
            </a:r>
            <a:endParaRPr lang="en-US" sz="1150" dirty="0"/>
          </a:p>
        </p:txBody>
      </p:sp>
      <p:sp>
        <p:nvSpPr>
          <p:cNvPr id="16" name="Shape 11"/>
          <p:cNvSpPr/>
          <p:nvPr/>
        </p:nvSpPr>
        <p:spPr>
          <a:xfrm>
            <a:off x="566928" y="4055364"/>
            <a:ext cx="11057839" cy="752306"/>
          </a:xfrm>
          <a:prstGeom prst="roundRect">
            <a:avLst>
              <a:gd name="adj" fmla="val 9724"/>
            </a:avLst>
          </a:prstGeom>
          <a:solidFill>
            <a:srgbClr val="25395F"/>
          </a:solidFill>
          <a:ln w="12700">
            <a:solidFill>
              <a:srgbClr val="25395F"/>
            </a:solidFill>
            <a:prstDash val="solid"/>
          </a:ln>
        </p:spPr>
      </p:sp>
      <p:sp>
        <p:nvSpPr>
          <p:cNvPr id="17" name="Shape 12"/>
          <p:cNvSpPr/>
          <p:nvPr/>
        </p:nvSpPr>
        <p:spPr>
          <a:xfrm>
            <a:off x="859536" y="4230349"/>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51050"/>
            <a:ext cx="160934" cy="160934"/>
          </a:xfrm>
          <a:prstGeom prst="rect">
            <a:avLst/>
          </a:prstGeom>
        </p:spPr>
      </p:pic>
      <p:sp>
        <p:nvSpPr>
          <p:cNvPr id="19" name="Text 13"/>
          <p:cNvSpPr/>
          <p:nvPr/>
        </p:nvSpPr>
        <p:spPr>
          <a:xfrm>
            <a:off x="1444752" y="421244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接受委托的标准流程六步：初步接洽 → 利益冲突检索 → 能力与资源评估 → 风险告知与知情同意 → 签订书面委托合同 → 建档与内部报备。冲突审查必须前置。</a:t>
            </a:r>
            <a:endParaRPr lang="en-US" sz="1150" dirty="0"/>
          </a:p>
        </p:txBody>
      </p:sp>
      <p:sp>
        <p:nvSpPr>
          <p:cNvPr id="20" name="Shape 14"/>
          <p:cNvSpPr/>
          <p:nvPr/>
        </p:nvSpPr>
        <p:spPr>
          <a:xfrm>
            <a:off x="566928" y="4944830"/>
            <a:ext cx="11057839" cy="752306"/>
          </a:xfrm>
          <a:prstGeom prst="roundRect">
            <a:avLst>
              <a:gd name="adj" fmla="val 9724"/>
            </a:avLst>
          </a:prstGeom>
          <a:solidFill>
            <a:srgbClr val="25395F"/>
          </a:solidFill>
          <a:ln w="12700">
            <a:solidFill>
              <a:srgbClr val="25395F"/>
            </a:solidFill>
            <a:prstDash val="solid"/>
          </a:ln>
        </p:spPr>
      </p:sp>
      <p:sp>
        <p:nvSpPr>
          <p:cNvPr id="21" name="Shape 15"/>
          <p:cNvSpPr/>
          <p:nvPr/>
        </p:nvSpPr>
        <p:spPr>
          <a:xfrm>
            <a:off x="859536" y="5119815"/>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240515"/>
            <a:ext cx="160934" cy="160934"/>
          </a:xfrm>
          <a:prstGeom prst="rect">
            <a:avLst/>
          </a:prstGeom>
        </p:spPr>
      </p:pic>
      <p:sp>
        <p:nvSpPr>
          <p:cNvPr id="23" name="Text 16"/>
          <p:cNvSpPr/>
          <p:nvPr/>
        </p:nvSpPr>
        <p:spPr>
          <a:xfrm>
            <a:off x="1444752" y="510190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《律师法》第三十二条：委托人可以随时解除，律师无正当理由不得拒绝；正当理由限于委托事项违法、委托人利用服务从事违法活动、委托人故意隐瞒重要事实三项。</a:t>
            </a:r>
            <a:endParaRPr lang="en-US" sz="1150" dirty="0"/>
          </a:p>
        </p:txBody>
      </p:sp>
      <p:sp>
        <p:nvSpPr>
          <p:cNvPr id="24" name="Shape 17"/>
          <p:cNvSpPr/>
          <p:nvPr/>
        </p:nvSpPr>
        <p:spPr>
          <a:xfrm>
            <a:off x="566928" y="5834295"/>
            <a:ext cx="11057839" cy="548217"/>
          </a:xfrm>
          <a:prstGeom prst="roundRect">
            <a:avLst>
              <a:gd name="adj" fmla="val 13344"/>
            </a:avLst>
          </a:prstGeom>
          <a:solidFill>
            <a:srgbClr val="25395F"/>
          </a:solidFill>
          <a:ln w="12700">
            <a:solidFill>
              <a:srgbClr val="25395F"/>
            </a:solidFill>
            <a:prstDash val="solid"/>
          </a:ln>
        </p:spPr>
      </p:sp>
      <p:sp>
        <p:nvSpPr>
          <p:cNvPr id="25" name="Shape 18"/>
          <p:cNvSpPr/>
          <p:nvPr/>
        </p:nvSpPr>
        <p:spPr>
          <a:xfrm>
            <a:off x="859536" y="5916591"/>
            <a:ext cx="383625" cy="383625"/>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74623" y="6031679"/>
            <a:ext cx="153450" cy="153450"/>
          </a:xfrm>
          <a:prstGeom prst="rect">
            <a:avLst/>
          </a:prstGeom>
        </p:spPr>
      </p:pic>
      <p:sp>
        <p:nvSpPr>
          <p:cNvPr id="27" name="Text 19"/>
          <p:cNvSpPr/>
          <p:nvPr/>
        </p:nvSpPr>
        <p:spPr>
          <a:xfrm>
            <a:off x="1444752" y="5998866"/>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案源获取四条红线：不得承诺办案结果、不得宣称关系、不得支付案源介绍费用、不得不当接触与骚扰。法律援助是法定义务，服务标准与收费案件相同。</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第15课时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委托人—律师关系（二）：忠诚、勤勉、告知与关系终止</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从义务的具体内容，到关系终止后仍然存续的责任</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忠诚义务：不得让任何利益凌驾于委托人之上</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勤勉义务：期限、尽职与案件管理</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关系终止：如何退出，退出后还欠什么</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四项义务与一次退出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一、忠诚义务的具体展开</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二、勤勉尽责与期限管理</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三、告知、报告与授权确认</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四、委托关系的终止与交接</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五、终止后仍然存续的义务</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六、律师执业过错与民事赔偿责任</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02</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忠诚义务的具体展开</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忠诚不是抽象的忠心，而是一组具体的“不得”</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03</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忠诚义务的三条禁止性规定</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《律师法》第四十条第（二）项</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律师在执业活动中不得利用提供法律服务的便利牟取当事人争议的权益。</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《律师法》第四十条第（三）项</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律师在执业活动中不得接受对方当事人的财物或者其他利益，与对方当事人或者第三人恶意串通，侵害委托人的权益。</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《律师法》第三十九条</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律师不得在同一案件中为双方当事人担任代理人，不得代理与本人或者其近亲属有利益冲突的法律事务。</a:t>
            </a:r>
            <a:endParaRPr lang="en-US" sz="850" dirty="0"/>
          </a:p>
        </p:txBody>
      </p:sp>
      <p:sp>
        <p:nvSpPr>
          <p:cNvPr id="19" name="Shape 1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20" name="Text 1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三条分别对应忠诚义务的三个侧面：不得与委托人争利（第二项）、不得为对方所用（第三项）、不得同时服务于冲突的利益（第三十九条）。请注意第（二）项“牟取当事人争议的权益”的射程：律师不得购买委托人正在争讼的标的物、不得以低价受让争议债权、不得以顾问身份取得客户的商业机会。</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04</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四种典型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忠诚义务的四类高风险情形</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一、与委托人的交易</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与委托人之间的借贷、买卖、投资、股权安排，天然存在利用信息与信任优势的风险。原则上应当避免；确有必要的，须以公平合理的条件、充分书面披露、并建议委托人寻求独立法律意见，且经其书面同意。</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二、利用委托信息牟利</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不得利用因执业知悉的非公开信息为自己或者第三人谋利，如利用尽职调查中获知的并购信息买卖股票、利用客户的商业计划自行经营同类业务。此类行为可能同时构成内幕交易等违法犯罪。</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三、第三人付费的影响</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由第三人支付律师费的（如保险公司为被保险人聘请律师、公司为员工聘请律师），律师的忠诚仍指向委托人本人。不得因付费人的意愿而牺牲委托人利益，不得向付费人披露保密信息。</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四、与对方当事人的不当接触</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不得私下接受对方当事人的财物或其他利益；不得与对方代理人达成损害己方委托人的默契；与对方沟通和解方案应当在授权范围内并及时向委托人报告。</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05</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勤勉尽责与期限管理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律师执业最常见的赔偿责任，不是能力不足，而是错过期限</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06</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风险画像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律师执业过错的三大高发领域</a:t>
            </a:r>
            <a:endParaRPr lang="en-US" sz="2800" dirty="0"/>
          </a:p>
        </p:txBody>
      </p:sp>
      <p:sp>
        <p:nvSpPr>
          <p:cNvPr id="4" name="Shape 2"/>
          <p:cNvSpPr/>
          <p:nvPr/>
        </p:nvSpPr>
        <p:spPr>
          <a:xfrm>
            <a:off x="566928" y="1981454"/>
            <a:ext cx="3527450" cy="3233420"/>
          </a:xfrm>
          <a:prstGeom prst="roundRect">
            <a:avLst>
              <a:gd name="adj" fmla="val 2828"/>
            </a:avLst>
          </a:prstGeom>
          <a:solidFill>
            <a:srgbClr val="13233F"/>
          </a:solidFill>
          <a:ln w="12700">
            <a:solidFill>
              <a:srgbClr val="13233F"/>
            </a:solidFill>
            <a:prstDash val="solid"/>
          </a:ln>
        </p:spPr>
      </p:sp>
      <p:sp>
        <p:nvSpPr>
          <p:cNvPr id="5" name="Text 3"/>
          <p:cNvSpPr/>
          <p:nvPr/>
        </p:nvSpPr>
        <p:spPr>
          <a:xfrm>
            <a:off x="749808" y="2310638"/>
            <a:ext cx="3161690" cy="1024128"/>
          </a:xfrm>
          <a:prstGeom prst="rect">
            <a:avLst/>
          </a:prstGeom>
          <a:noFill/>
          <a:ln/>
        </p:spPr>
        <p:txBody>
          <a:bodyPr wrap="square" lIns="0" tIns="0" rIns="0" bIns="0" rtlCol="0" anchor="ctr"/>
          <a:lstStyle/>
          <a:p>
            <a:pPr algn="ctr" indent="0" marL="0">
              <a:buNone/>
            </a:pPr>
            <a:r>
              <a:rPr lang="en-US" sz="5800" b="1" dirty="0">
                <a:solidFill>
                  <a:srgbClr val="B08D57"/>
                </a:solidFill>
                <a:latin typeface="Arial" pitchFamily="34" charset="0"/>
                <a:ea typeface="Arial" pitchFamily="34" charset="-122"/>
                <a:cs typeface="Arial" pitchFamily="34" charset="-120"/>
              </a:rPr>
              <a:t>期限</a:t>
            </a:r>
            <a:endParaRPr lang="en-US" sz="5800" dirty="0"/>
          </a:p>
        </p:txBody>
      </p:sp>
      <p:sp>
        <p:nvSpPr>
          <p:cNvPr id="6" name="Text 4"/>
          <p:cNvSpPr/>
          <p:nvPr/>
        </p:nvSpPr>
        <p:spPr>
          <a:xfrm>
            <a:off x="886968" y="3462782"/>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超过时效与举证期限</a:t>
            </a:r>
            <a:endParaRPr lang="en-US" sz="1600" dirty="0"/>
          </a:p>
        </p:txBody>
      </p:sp>
      <p:sp>
        <p:nvSpPr>
          <p:cNvPr id="7" name="Text 5"/>
          <p:cNvSpPr/>
          <p:nvPr/>
        </p:nvSpPr>
        <p:spPr>
          <a:xfrm>
            <a:off x="886968" y="3928110"/>
            <a:ext cx="2887370" cy="1103884"/>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诉讼时效届满、举证期限逾期、上诉期错过、申请执行期间超期——这类过错后果直接、因果关系清晰，最易被认定为过失</a:t>
            </a:r>
            <a:endParaRPr lang="en-US" sz="1300" dirty="0"/>
          </a:p>
        </p:txBody>
      </p:sp>
      <p:sp>
        <p:nvSpPr>
          <p:cNvPr id="8" name="Shape 6"/>
          <p:cNvSpPr/>
          <p:nvPr/>
        </p:nvSpPr>
        <p:spPr>
          <a:xfrm>
            <a:off x="4332122" y="1981454"/>
            <a:ext cx="3527450" cy="3233420"/>
          </a:xfrm>
          <a:prstGeom prst="roundRect">
            <a:avLst>
              <a:gd name="adj" fmla="val 2828"/>
            </a:avLst>
          </a:prstGeom>
          <a:solidFill>
            <a:srgbClr val="F6F1E8"/>
          </a:solidFill>
          <a:ln w="12700">
            <a:solidFill>
              <a:srgbClr val="F6F1E8"/>
            </a:solidFill>
            <a:prstDash val="solid"/>
          </a:ln>
        </p:spPr>
      </p:sp>
      <p:sp>
        <p:nvSpPr>
          <p:cNvPr id="9" name="Text 7"/>
          <p:cNvSpPr/>
          <p:nvPr/>
        </p:nvSpPr>
        <p:spPr>
          <a:xfrm>
            <a:off x="4515002" y="2310638"/>
            <a:ext cx="3161690" cy="1024128"/>
          </a:xfrm>
          <a:prstGeom prst="rect">
            <a:avLst/>
          </a:prstGeom>
          <a:noFill/>
          <a:ln/>
        </p:spPr>
        <p:txBody>
          <a:bodyPr wrap="square" lIns="0" tIns="0" rIns="0" bIns="0" rtlCol="0" anchor="ctr"/>
          <a:lstStyle/>
          <a:p>
            <a:pPr algn="ctr" indent="0" marL="0">
              <a:buNone/>
            </a:pPr>
            <a:r>
              <a:rPr lang="en-US" sz="5800" b="1" dirty="0">
                <a:solidFill>
                  <a:srgbClr val="B08D57"/>
                </a:solidFill>
                <a:latin typeface="Arial" pitchFamily="34" charset="0"/>
                <a:ea typeface="Arial" pitchFamily="34" charset="-122"/>
                <a:cs typeface="Arial" pitchFamily="34" charset="-120"/>
              </a:rPr>
              <a:t>审查</a:t>
            </a:r>
            <a:endParaRPr lang="en-US" sz="5800" dirty="0"/>
          </a:p>
        </p:txBody>
      </p:sp>
      <p:sp>
        <p:nvSpPr>
          <p:cNvPr id="10" name="Text 8"/>
          <p:cNvSpPr/>
          <p:nvPr/>
        </p:nvSpPr>
        <p:spPr>
          <a:xfrm>
            <a:off x="4652162" y="3462782"/>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尽职调查不充分</a:t>
            </a:r>
            <a:endParaRPr lang="en-US" sz="1600" dirty="0"/>
          </a:p>
        </p:txBody>
      </p:sp>
      <p:sp>
        <p:nvSpPr>
          <p:cNvPr id="11" name="Text 9"/>
          <p:cNvSpPr/>
          <p:nvPr/>
        </p:nvSpPr>
        <p:spPr>
          <a:xfrm>
            <a:off x="4652162" y="3928110"/>
            <a:ext cx="2887370"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未核查主体资格、未查询财产线索与查封状况、未审查关联交易与担保效力，导致胜诉后无法执行或者交易失败</a:t>
            </a:r>
            <a:endParaRPr lang="en-US" sz="1300" dirty="0"/>
          </a:p>
        </p:txBody>
      </p:sp>
      <p:sp>
        <p:nvSpPr>
          <p:cNvPr id="12" name="Shape 10"/>
          <p:cNvSpPr/>
          <p:nvPr/>
        </p:nvSpPr>
        <p:spPr>
          <a:xfrm>
            <a:off x="8097317" y="1981454"/>
            <a:ext cx="3527450" cy="3233420"/>
          </a:xfrm>
          <a:prstGeom prst="roundRect">
            <a:avLst>
              <a:gd name="adj" fmla="val 2828"/>
            </a:avLst>
          </a:prstGeom>
          <a:solidFill>
            <a:srgbClr val="ECF3F2"/>
          </a:solidFill>
          <a:ln w="12700">
            <a:solidFill>
              <a:srgbClr val="ECF3F2"/>
            </a:solidFill>
            <a:prstDash val="solid"/>
          </a:ln>
        </p:spPr>
      </p:sp>
      <p:sp>
        <p:nvSpPr>
          <p:cNvPr id="13" name="Text 11"/>
          <p:cNvSpPr/>
          <p:nvPr/>
        </p:nvSpPr>
        <p:spPr>
          <a:xfrm>
            <a:off x="8280197" y="2310638"/>
            <a:ext cx="3161690" cy="1024128"/>
          </a:xfrm>
          <a:prstGeom prst="rect">
            <a:avLst/>
          </a:prstGeom>
          <a:noFill/>
          <a:ln/>
        </p:spPr>
        <p:txBody>
          <a:bodyPr wrap="square" lIns="0" tIns="0" rIns="0" bIns="0" rtlCol="0" anchor="ctr"/>
          <a:lstStyle/>
          <a:p>
            <a:pPr algn="ctr" indent="0" marL="0">
              <a:buNone/>
            </a:pPr>
            <a:r>
              <a:rPr lang="en-US" sz="5800" b="1" dirty="0">
                <a:solidFill>
                  <a:srgbClr val="2F6E6A"/>
                </a:solidFill>
                <a:latin typeface="Arial" pitchFamily="34" charset="0"/>
                <a:ea typeface="Arial" pitchFamily="34" charset="-122"/>
                <a:cs typeface="Arial" pitchFamily="34" charset="-120"/>
              </a:rPr>
              <a:t>沟通</a:t>
            </a:r>
            <a:endParaRPr lang="en-US" sz="5800" dirty="0"/>
          </a:p>
        </p:txBody>
      </p:sp>
      <p:sp>
        <p:nvSpPr>
          <p:cNvPr id="14" name="Text 12"/>
          <p:cNvSpPr/>
          <p:nvPr/>
        </p:nvSpPr>
        <p:spPr>
          <a:xfrm>
            <a:off x="8417357" y="3462782"/>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未及时告知与确认</a:t>
            </a:r>
            <a:endParaRPr lang="en-US" sz="1600" dirty="0"/>
          </a:p>
        </p:txBody>
      </p:sp>
      <p:sp>
        <p:nvSpPr>
          <p:cNvPr id="15" name="Text 13"/>
          <p:cNvSpPr/>
          <p:nvPr/>
        </p:nvSpPr>
        <p:spPr>
          <a:xfrm>
            <a:off x="8417357" y="3928110"/>
            <a:ext cx="2887370"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重大不利变化未告知、超越授权处分权利、未取得对和解方案的书面确认，是投诉与索赔的主要起因</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请注意：这三类过错都与“专业水平高低”关系不大，而与“是否建立了可靠的工作制度”直接相关。</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07</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制度建设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防范过错的五项工作制度</a:t>
            </a:r>
            <a:endParaRPr lang="en-US" sz="2800" dirty="0"/>
          </a:p>
        </p:txBody>
      </p:sp>
      <p:sp>
        <p:nvSpPr>
          <p:cNvPr id="4" name="Shape 2"/>
          <p:cNvSpPr/>
          <p:nvPr/>
        </p:nvSpPr>
        <p:spPr>
          <a:xfrm>
            <a:off x="566928" y="1978247"/>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413635"/>
            <a:ext cx="457200" cy="457200"/>
          </a:xfrm>
          <a:prstGeom prst="ellipse">
            <a:avLst/>
          </a:prstGeom>
          <a:solidFill>
            <a:srgbClr val="13233F"/>
          </a:solidFill>
          <a:ln w="12700">
            <a:solidFill>
              <a:srgbClr val="13233F"/>
            </a:solidFill>
            <a:prstDash val="solid"/>
          </a:ln>
        </p:spPr>
      </p:sp>
      <p:sp>
        <p:nvSpPr>
          <p:cNvPr id="6" name="Text 4"/>
          <p:cNvSpPr/>
          <p:nvPr/>
        </p:nvSpPr>
        <p:spPr>
          <a:xfrm>
            <a:off x="822960" y="241363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1540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一、期限台账制度</a:t>
            </a:r>
            <a:endParaRPr lang="en-US" sz="1500" dirty="0"/>
          </a:p>
        </p:txBody>
      </p:sp>
      <p:sp>
        <p:nvSpPr>
          <p:cNvPr id="8" name="Text 6"/>
          <p:cNvSpPr/>
          <p:nvPr/>
        </p:nvSpPr>
        <p:spPr>
          <a:xfrm>
            <a:off x="1444752" y="242325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接案第一天即梳理全部法定与约定期限，录入台账并设置多重提醒；期限变更须同步更新。这是律师最基本的自我保护。</a:t>
            </a:r>
            <a:endParaRPr lang="en-US" sz="1350" dirty="0"/>
          </a:p>
        </p:txBody>
      </p:sp>
      <p:sp>
        <p:nvSpPr>
          <p:cNvPr id="9" name="Shape 7"/>
          <p:cNvSpPr/>
          <p:nvPr/>
        </p:nvSpPr>
        <p:spPr>
          <a:xfrm>
            <a:off x="566928" y="3434239"/>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57139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二、双人复核制度</a:t>
            </a:r>
            <a:endParaRPr lang="en-US" sz="1500" dirty="0"/>
          </a:p>
        </p:txBody>
      </p:sp>
      <p:sp>
        <p:nvSpPr>
          <p:cNvPr id="13" name="Text 11"/>
          <p:cNvSpPr/>
          <p:nvPr/>
        </p:nvSpPr>
        <p:spPr>
          <a:xfrm>
            <a:off x="1444752" y="387924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关键文书（起诉状、上诉状、答辩状、和解协议）提交前由另一名律师复核；重大风险判断经团队讨论。</a:t>
            </a:r>
            <a:endParaRPr lang="en-US" sz="1350" dirty="0"/>
          </a:p>
        </p:txBody>
      </p:sp>
      <p:sp>
        <p:nvSpPr>
          <p:cNvPr id="14" name="Shape 12"/>
          <p:cNvSpPr/>
          <p:nvPr/>
        </p:nvSpPr>
        <p:spPr>
          <a:xfrm>
            <a:off x="566928" y="4641628"/>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三、案件进展书面记录</a:t>
            </a:r>
            <a:endParaRPr lang="en-US" sz="1500" dirty="0"/>
          </a:p>
        </p:txBody>
      </p:sp>
      <p:sp>
        <p:nvSpPr>
          <p:cNvPr id="18" name="Text 16"/>
          <p:cNvSpPr/>
          <p:nvPr/>
        </p:nvSpPr>
        <p:spPr>
          <a:xfrm>
            <a:off x="1444752" y="508663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每次会见、每次沟通、每项决定均形成书面记录并归档；重要建议以书面形式发出并保留发送记录。</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四、授权确认制度</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涉及实体权利处分的（撤诉、和解、放弃请求、变更诉讼请求），必须取得委托人的书面确认，不以口头授权为据。</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五、卷宗管理与移交制度</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按律所规范立卷、编目、归档；委托关系终止时按约定移交材料并留存签收凭证。卷宗完整是责任认定时的第一道防线。</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08</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勤勉义务的司法认定要点</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委托人起诉律师索赔时，法院通常从以下几个方面判断律师是否尽到了勤勉义务。</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是否履行了法定与约定的具体行为义务：有无按时提交诉讼文书、有无出庭、有无申请必要的保全或者鉴定。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是否达到了同类律师在同等条件下应有的注意程度：以行业通常标准衡量，而非以最优秀律师的标准衡量。</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是否履行了告知与提示义务：对于风险、不利变化、可选方案是否作了充分说明并留有记录。</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过错与损失之间是否存在因果关系：即使律师有过错，若当事人的败诉另有原因（如本身证据不足），赔偿范围仍应相应限缩。</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请记住这一实务规律：能否证明自己尽责，往往取决于记录是否完整。没有记录的勤勉，在诉讼中等同于没有勤勉。</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09</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告知、报告与授权确认</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信息不对称是信义关系的起点，告知义务是对它的矫正</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10</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四类告知</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必须主动告知的四类事项</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风险与不利变化</a:t>
            </a:r>
            <a:endParaRPr lang="en-US" sz="1600" dirty="0"/>
          </a:p>
        </p:txBody>
      </p:sp>
      <p:sp>
        <p:nvSpPr>
          <p:cNvPr id="8" name="Text 5"/>
          <p:cNvSpPr/>
          <p:nvPr/>
        </p:nvSpPr>
        <p:spPr>
          <a:xfrm>
            <a:off x="886968"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案件的主要风险、败诉可能、对方提出的新证据或新主张、程序上的不利变化（如管辖异议成立、鉴定结论不利）。应当在知悉后合理期限内告知，不得因担心委托人情绪而隐瞒。</a:t>
            </a:r>
            <a:endParaRPr lang="en-US" sz="13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重大进展与程序节点</a:t>
            </a:r>
            <a:endParaRPr lang="en-US" sz="1600" dirty="0"/>
          </a:p>
        </p:txBody>
      </p:sp>
      <p:sp>
        <p:nvSpPr>
          <p:cNvPr id="13" name="Text 9"/>
          <p:cNvSpPr/>
          <p:nvPr/>
        </p:nvSpPr>
        <p:spPr>
          <a:xfrm>
            <a:off x="6534760"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立案、保全、开庭、判决、上诉期限、执行进展等。程序节点的告知尤为重要，因为它直接关系到委托人能否及时作出决定。</a:t>
            </a:r>
            <a:endParaRPr lang="en-US" sz="13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费用与支出</a:t>
            </a:r>
            <a:endParaRPr lang="en-US" sz="1600" dirty="0"/>
          </a:p>
        </p:txBody>
      </p:sp>
      <p:sp>
        <p:nvSpPr>
          <p:cNvPr id="18" name="Text 13"/>
          <p:cNvSpPr/>
          <p:nvPr/>
        </p:nvSpPr>
        <p:spPr>
          <a:xfrm>
            <a:off x="886968"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律师费的计算方式与结算节点；办案费用的预估与实际发生额；可能产生的额外支出（鉴定费、公告费、保全担保费）。超出预估的应当事先说明并取得同意。</a:t>
            </a:r>
            <a:endParaRPr lang="en-US" sz="13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利益冲突与执业变动</a:t>
            </a:r>
            <a:endParaRPr lang="en-US" sz="1600" dirty="0"/>
          </a:p>
        </p:txBody>
      </p:sp>
      <p:sp>
        <p:nvSpPr>
          <p:cNvPr id="23" name="Text 17"/>
          <p:cNvSpPr/>
          <p:nvPr/>
        </p:nvSpPr>
        <p:spPr>
          <a:xfrm>
            <a:off x="6534760"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发现潜在或者现实的利益冲突时应当立即告知；承办律师变更、离所、律所合并分立等影响服务的事项，应当及时告知并征求委托人意见。</a:t>
            </a:r>
            <a:endParaRPr lang="en-US" sz="13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11</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口头告知 vs 书面告知</a:t>
            </a:r>
            <a:endParaRPr lang="en-US" sz="2800" dirty="0"/>
          </a:p>
        </p:txBody>
      </p:sp>
      <p:sp>
        <p:nvSpPr>
          <p:cNvPr id="4" name="Shape 2"/>
          <p:cNvSpPr/>
          <p:nvPr/>
        </p:nvSpPr>
        <p:spPr>
          <a:xfrm>
            <a:off x="566928" y="2025333"/>
            <a:ext cx="5410048" cy="3648583"/>
          </a:xfrm>
          <a:prstGeom prst="roundRect">
            <a:avLst>
              <a:gd name="adj" fmla="val 2506"/>
            </a:avLst>
          </a:prstGeom>
          <a:solidFill>
            <a:srgbClr val="F2F4F8"/>
          </a:solidFill>
          <a:ln w="12700">
            <a:solidFill>
              <a:srgbClr val="F2F4F8"/>
            </a:solidFill>
            <a:prstDash val="solid"/>
          </a:ln>
        </p:spPr>
      </p:sp>
      <p:sp>
        <p:nvSpPr>
          <p:cNvPr id="5" name="Shape 3"/>
          <p:cNvSpPr/>
          <p:nvPr/>
        </p:nvSpPr>
        <p:spPr>
          <a:xfrm>
            <a:off x="841248" y="22813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可以口头进行的沟通</a:t>
            </a:r>
            <a:endParaRPr lang="en-US" sz="1600" dirty="0"/>
          </a:p>
        </p:txBody>
      </p:sp>
      <p:sp>
        <p:nvSpPr>
          <p:cNvPr id="7" name="Text 5"/>
          <p:cNvSpPr/>
          <p:nvPr/>
        </p:nvSpPr>
        <p:spPr>
          <a:xfrm>
            <a:off x="932688"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日常进展通报、程序性事项的说明。</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初步的策略讨论与方案比较。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对委托人疑问的即时解答。</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要点：口头沟通之后，重要内容宜以微信、邮件等可留痕方式简要复述确认。</a:t>
            </a:r>
            <a:endParaRPr lang="en-US" sz="1450" dirty="0"/>
          </a:p>
        </p:txBody>
      </p:sp>
      <p:sp>
        <p:nvSpPr>
          <p:cNvPr id="8" name="Shape 6"/>
          <p:cNvSpPr/>
          <p:nvPr/>
        </p:nvSpPr>
        <p:spPr>
          <a:xfrm>
            <a:off x="6214720" y="2025333"/>
            <a:ext cx="5410048" cy="3648583"/>
          </a:xfrm>
          <a:prstGeom prst="roundRect">
            <a:avLst>
              <a:gd name="adj" fmla="val 2506"/>
            </a:avLst>
          </a:prstGeom>
          <a:solidFill>
            <a:srgbClr val="F6F1E8"/>
          </a:solidFill>
          <a:ln w="12700">
            <a:solidFill>
              <a:srgbClr val="F6F1E8"/>
            </a:solidFill>
            <a:prstDash val="solid"/>
          </a:ln>
        </p:spPr>
      </p:sp>
      <p:sp>
        <p:nvSpPr>
          <p:cNvPr id="9" name="Shape 7"/>
          <p:cNvSpPr/>
          <p:nvPr/>
        </p:nvSpPr>
        <p:spPr>
          <a:xfrm>
            <a:off x="6489040" y="22813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必须书面确认的事项</a:t>
            </a:r>
            <a:endParaRPr lang="en-US" sz="1600" dirty="0"/>
          </a:p>
        </p:txBody>
      </p:sp>
      <p:sp>
        <p:nvSpPr>
          <p:cNvPr id="11" name="Text 9"/>
          <p:cNvSpPr/>
          <p:nvPr/>
        </p:nvSpPr>
        <p:spPr>
          <a:xfrm>
            <a:off x="6580480"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委托事项、权限范围与收费标准（委托合同）。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案件重大风险与可能的不利后果（风险告知书）。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实体权利的处分：撤诉、和解、调解方案、放弃或变更诉讼请求。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利益冲突的披露与委托人的同意（在法律允许豁免的情形下）。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委托关系的解除与材料移交（解除协议与签收单）。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12</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委托关系的终止与交接</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怎么开始很重要，怎么结束同样重要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13</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终止事由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委托关系终止的五种情形</a:t>
            </a:r>
            <a:endParaRPr lang="en-US" sz="2800" dirty="0"/>
          </a:p>
        </p:txBody>
      </p:sp>
      <p:sp>
        <p:nvSpPr>
          <p:cNvPr id="4" name="Shape 2"/>
          <p:cNvSpPr/>
          <p:nvPr/>
        </p:nvSpPr>
        <p:spPr>
          <a:xfrm>
            <a:off x="566928" y="1316736"/>
            <a:ext cx="11057839" cy="855599"/>
          </a:xfrm>
          <a:prstGeom prst="roundRect">
            <a:avLst>
              <a:gd name="adj" fmla="val 8550"/>
            </a:avLst>
          </a:prstGeom>
          <a:solidFill>
            <a:srgbClr val="F2F4F8"/>
          </a:solidFill>
          <a:ln w="12700">
            <a:solidFill>
              <a:srgbClr val="F2F4F8"/>
            </a:solidFill>
            <a:prstDash val="solid"/>
          </a:ln>
        </p:spPr>
      </p:sp>
      <p:sp>
        <p:nvSpPr>
          <p:cNvPr id="5" name="Shape 3"/>
          <p:cNvSpPr/>
          <p:nvPr/>
        </p:nvSpPr>
        <p:spPr>
          <a:xfrm>
            <a:off x="841248" y="1488504"/>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42123"/>
            <a:ext cx="204826" cy="204826"/>
          </a:xfrm>
          <a:prstGeom prst="rect">
            <a:avLst/>
          </a:prstGeom>
        </p:spPr>
      </p:pic>
      <p:sp>
        <p:nvSpPr>
          <p:cNvPr id="7" name="Text 4"/>
          <p:cNvSpPr/>
          <p:nvPr/>
        </p:nvSpPr>
        <p:spPr>
          <a:xfrm>
            <a:off x="1536192" y="1501013"/>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一、委托事项完成</a:t>
            </a:r>
            <a:endParaRPr lang="en-US" sz="1300" dirty="0"/>
          </a:p>
        </p:txBody>
      </p:sp>
      <p:sp>
        <p:nvSpPr>
          <p:cNvPr id="8" name="Text 5"/>
          <p:cNvSpPr/>
          <p:nvPr/>
        </p:nvSpPr>
        <p:spPr>
          <a:xfrm>
            <a:off x="1536192" y="1785493"/>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约定的委托事项办理完毕，如判决生效且无后续委托。此时应当依约结算费用、移交材料、出具结案报告或者说明。</a:t>
            </a:r>
            <a:endParaRPr lang="en-US" sz="1100" dirty="0"/>
          </a:p>
        </p:txBody>
      </p:sp>
      <p:sp>
        <p:nvSpPr>
          <p:cNvPr id="9" name="Shape 6"/>
          <p:cNvSpPr/>
          <p:nvPr/>
        </p:nvSpPr>
        <p:spPr>
          <a:xfrm>
            <a:off x="566928" y="2318639"/>
            <a:ext cx="11057839" cy="855599"/>
          </a:xfrm>
          <a:prstGeom prst="roundRect">
            <a:avLst>
              <a:gd name="adj" fmla="val 8550"/>
            </a:avLst>
          </a:prstGeom>
          <a:solidFill>
            <a:srgbClr val="FFFFFF"/>
          </a:solidFill>
          <a:ln w="12700">
            <a:solidFill>
              <a:srgbClr val="D5DBE5"/>
            </a:solidFill>
            <a:prstDash val="solid"/>
          </a:ln>
        </p:spPr>
      </p:sp>
      <p:sp>
        <p:nvSpPr>
          <p:cNvPr id="10" name="Shape 7"/>
          <p:cNvSpPr/>
          <p:nvPr/>
        </p:nvSpPr>
        <p:spPr>
          <a:xfrm>
            <a:off x="841248" y="249040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644026"/>
            <a:ext cx="204826" cy="204826"/>
          </a:xfrm>
          <a:prstGeom prst="rect">
            <a:avLst/>
          </a:prstGeom>
        </p:spPr>
      </p:pic>
      <p:sp>
        <p:nvSpPr>
          <p:cNvPr id="12" name="Text 8"/>
          <p:cNvSpPr/>
          <p:nvPr/>
        </p:nvSpPr>
        <p:spPr>
          <a:xfrm>
            <a:off x="1536192" y="2502916"/>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二、委托期限届满</a:t>
            </a:r>
            <a:endParaRPr lang="en-US" sz="1300" dirty="0"/>
          </a:p>
        </p:txBody>
      </p:sp>
      <p:sp>
        <p:nvSpPr>
          <p:cNvPr id="13" name="Text 9"/>
          <p:cNvSpPr/>
          <p:nvPr/>
        </p:nvSpPr>
        <p:spPr>
          <a:xfrm>
            <a:off x="1536192" y="2787396"/>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合同约定期限届满而未续约。注意：期限届满前应当提示委托人是否续期，避免因期限届满而使当事人误以为律师仍在提供服务。</a:t>
            </a:r>
            <a:endParaRPr lang="en-US" sz="1100" dirty="0"/>
          </a:p>
        </p:txBody>
      </p:sp>
      <p:sp>
        <p:nvSpPr>
          <p:cNvPr id="14" name="Shape 10"/>
          <p:cNvSpPr/>
          <p:nvPr/>
        </p:nvSpPr>
        <p:spPr>
          <a:xfrm>
            <a:off x="566928" y="3320542"/>
            <a:ext cx="11057839" cy="855599"/>
          </a:xfrm>
          <a:prstGeom prst="roundRect">
            <a:avLst>
              <a:gd name="adj" fmla="val 8550"/>
            </a:avLst>
          </a:prstGeom>
          <a:solidFill>
            <a:srgbClr val="F2F4F8"/>
          </a:solidFill>
          <a:ln w="12700">
            <a:solidFill>
              <a:srgbClr val="F2F4F8"/>
            </a:solidFill>
            <a:prstDash val="solid"/>
          </a:ln>
        </p:spPr>
      </p:sp>
      <p:sp>
        <p:nvSpPr>
          <p:cNvPr id="15" name="Shape 11"/>
          <p:cNvSpPr/>
          <p:nvPr/>
        </p:nvSpPr>
        <p:spPr>
          <a:xfrm>
            <a:off x="841248" y="349231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645929"/>
            <a:ext cx="204826" cy="204826"/>
          </a:xfrm>
          <a:prstGeom prst="rect">
            <a:avLst/>
          </a:prstGeom>
        </p:spPr>
      </p:pic>
      <p:sp>
        <p:nvSpPr>
          <p:cNvPr id="17" name="Text 12"/>
          <p:cNvSpPr/>
          <p:nvPr/>
        </p:nvSpPr>
        <p:spPr>
          <a:xfrm>
            <a:off x="1536192" y="3504819"/>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三、委托人解除</a:t>
            </a:r>
            <a:endParaRPr lang="en-US" sz="1300" dirty="0"/>
          </a:p>
        </p:txBody>
      </p:sp>
      <p:sp>
        <p:nvSpPr>
          <p:cNvPr id="18" name="Text 13"/>
          <p:cNvSpPr/>
          <p:nvPr/>
        </p:nvSpPr>
        <p:spPr>
          <a:xfrm>
            <a:off x="1536192" y="3789299"/>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《律师法》第三十二条第一款，委托人可以随时解除。律师应当依法办理手续、移交材料，并依约结算已发生的费用；不得以扣留卷宗相要挟。</a:t>
            </a:r>
            <a:endParaRPr lang="en-US" sz="1100" dirty="0"/>
          </a:p>
        </p:txBody>
      </p:sp>
      <p:sp>
        <p:nvSpPr>
          <p:cNvPr id="19" name="Shape 14"/>
          <p:cNvSpPr/>
          <p:nvPr/>
        </p:nvSpPr>
        <p:spPr>
          <a:xfrm>
            <a:off x="566928" y="4322445"/>
            <a:ext cx="11057839" cy="1058164"/>
          </a:xfrm>
          <a:prstGeom prst="roundRect">
            <a:avLst>
              <a:gd name="adj" fmla="val 6913"/>
            </a:avLst>
          </a:prstGeom>
          <a:solidFill>
            <a:srgbClr val="FFFFFF"/>
          </a:solidFill>
          <a:ln w="12700">
            <a:solidFill>
              <a:srgbClr val="D5DBE5"/>
            </a:solidFill>
            <a:prstDash val="solid"/>
          </a:ln>
        </p:spPr>
      </p:sp>
      <p:sp>
        <p:nvSpPr>
          <p:cNvPr id="20" name="Shape 15"/>
          <p:cNvSpPr/>
          <p:nvPr/>
        </p:nvSpPr>
        <p:spPr>
          <a:xfrm>
            <a:off x="841248" y="4595495"/>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749114"/>
            <a:ext cx="204826" cy="204826"/>
          </a:xfrm>
          <a:prstGeom prst="rect">
            <a:avLst/>
          </a:prstGeom>
        </p:spPr>
      </p:pic>
      <p:sp>
        <p:nvSpPr>
          <p:cNvPr id="22" name="Text 16"/>
          <p:cNvSpPr/>
          <p:nvPr/>
        </p:nvSpPr>
        <p:spPr>
          <a:xfrm>
            <a:off x="1536192" y="4506722"/>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四、律师依法拒绝或者解除</a:t>
            </a:r>
            <a:endParaRPr lang="en-US" sz="1300" dirty="0"/>
          </a:p>
        </p:txBody>
      </p:sp>
      <p:sp>
        <p:nvSpPr>
          <p:cNvPr id="23" name="Text 17"/>
          <p:cNvSpPr/>
          <p:nvPr/>
        </p:nvSpPr>
        <p:spPr>
          <a:xfrm>
            <a:off x="1536192" y="4791202"/>
            <a:ext cx="9832543" cy="405130"/>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限于第三十二条第二款的三项正当理由，或者出现法定利益冲突等不得继续代理的情形。应当合理选择时机，避免使委托人陷入无人代理的困境，必要时协助其另行委托。</a:t>
            </a:r>
            <a:endParaRPr lang="en-US" sz="1100" dirty="0"/>
          </a:p>
        </p:txBody>
      </p:sp>
      <p:sp>
        <p:nvSpPr>
          <p:cNvPr id="24" name="Shape 18"/>
          <p:cNvSpPr/>
          <p:nvPr/>
        </p:nvSpPr>
        <p:spPr>
          <a:xfrm>
            <a:off x="566928" y="5526913"/>
            <a:ext cx="11057839" cy="855599"/>
          </a:xfrm>
          <a:prstGeom prst="roundRect">
            <a:avLst>
              <a:gd name="adj" fmla="val 8550"/>
            </a:avLst>
          </a:prstGeom>
          <a:solidFill>
            <a:srgbClr val="F2F4F8"/>
          </a:solidFill>
          <a:ln w="12700">
            <a:solidFill>
              <a:srgbClr val="F2F4F8"/>
            </a:solidFill>
            <a:prstDash val="solid"/>
          </a:ln>
        </p:spPr>
      </p:sp>
      <p:sp>
        <p:nvSpPr>
          <p:cNvPr id="25" name="Shape 19"/>
          <p:cNvSpPr/>
          <p:nvPr/>
        </p:nvSpPr>
        <p:spPr>
          <a:xfrm>
            <a:off x="841248" y="5698681"/>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52300"/>
            <a:ext cx="204826" cy="204826"/>
          </a:xfrm>
          <a:prstGeom prst="rect">
            <a:avLst/>
          </a:prstGeom>
        </p:spPr>
      </p:pic>
      <p:sp>
        <p:nvSpPr>
          <p:cNvPr id="27" name="Text 20"/>
          <p:cNvSpPr/>
          <p:nvPr/>
        </p:nvSpPr>
        <p:spPr>
          <a:xfrm>
            <a:off x="1536192" y="5711190"/>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五、客观情形导致不能继续</a:t>
            </a:r>
            <a:endParaRPr lang="en-US" sz="1300" dirty="0"/>
          </a:p>
        </p:txBody>
      </p:sp>
      <p:sp>
        <p:nvSpPr>
          <p:cNvPr id="28" name="Text 21"/>
          <p:cNvSpPr/>
          <p:nvPr/>
        </p:nvSpPr>
        <p:spPr>
          <a:xfrm>
            <a:off x="1536192" y="5995670"/>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律师执业证被注销或者中止、律所被处以停业、承办律师丧失执业能力或者死亡、委托人主体资格消灭等。律所应当及时安排接替或者妥善处理。</a:t>
            </a:r>
            <a:endParaRPr lang="en-US" sz="11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14</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交接清单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关系终止时必须完成的六件事</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退出不是一走了之。请把以下六项作为标准动作。</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第一，书面确认终止：签署解除协议或者出具书面通知，载明终止时间、原因与后续安排。</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第二，费用结算：依约计算已履行部分的费用，多退少补；有争议的部分单独列明，不得以留置材料的方式施压。</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第三，材料移交：将委托人提供的原始材料、代为保管的证据与财物一并返还，制作移交清单并取得签收。</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第四，工作说明：书面说明案件当前所处阶段、已完成的工作、尚待处理的事项以及紧迫的期限。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第五，程序手续：向法院、仲裁机构等办理解除委托的备案或者告知手续，避免程序上的空档。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第六，档案留存：律所保留完整的案卷副本与工作记录，保存期限依律所与行业规定执行。</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15</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终止后仍然存续的义务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委托关系结束了，义务并没有全部结束</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16</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四项后合同义务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关系终止后仍须遵守的规则</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保密义务：永久存续</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律师对在执业活动中知悉的委托人信息负有的保密义务，不因委托关系终止而消灭，且原则上不因委托人死亡或者法人终止而消灭。这是与一般合同保密条款最大的差别。</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冲突禁止：延伸至前委托人</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不得就同一或者实质相关的事项，接受与前委托人利益相冲突的新委托；不得利用因前委托而知悉的信息损害前委托人。第18课时将展开“前委托人冲突”规则。</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卷宗与信息的妥善保管</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留存的案卷、电子数据应当妥善保管、限于必要范围使用，不得擅自公开、出售或者用于业务宣传；销毁应当依规定程序进行。</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不得作出不利评价</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不得在公开场合、自媒体或者其他案件中，就前委托人作出不当评价或者披露其不利信息；对已办结案件的宣传须脱敏并取得同意。</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17</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律师执业过错与民事赔偿责任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谁承担赔偿？如何追偿？</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18</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责任主体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《律师法》第五十四条：律所先赔、内部追偿</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《中华人民共和国律师法》第五十四条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律师违法执业或者因过错给当事人造成损失的，由其所在的律师事务所承担赔偿责任。律师事务所赔偿后，可以向有故意或者重大过失行为的律师追偿。</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确立了“律所对外承担、内部追偿”的双层结构。其制度意义有三：其一，保障当事人能够获得实际赔偿（律所偿付能力强于个人）；其二，倒逼律所履行管理责任——律所必须对律师执业进行实质管理，否则自担风险；其三，追偿限于“故意或者重大过失”，一般过失由律所承担，为律师保留了必要的执业空间。</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19</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错过上诉期之后</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责任认定</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一份没有寄出的上诉状</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某买卖合同纠纷一审判决驳回原告全部诉讼请求。承办律师收到判决书后，电话告知委托人“一审输了，可以上诉，你考虑一下”。此后律师因办理其他案件未再联系委托人。</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委托人在上诉期最后一日致电律师表示要上诉，律师称“来不及了，明天就过期”。上诉期届满，判决生效。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委托人起诉律师事务所，主张：律师未书面告知上诉期限的准确届满日、未主动催促、未准备上诉状，导致丧失上诉权，请求赔偿一审诉讼请求金额的损失。</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律所抗辩：已经口头告知可以上诉；委托合同约定的委托事项为“一审代理”，不包含二审；且即便上诉，也未必能够改判。</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律师是否违反了告知与勤勉义务？</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“委托事项为一审代理”能否免除告知上诉期的义务？</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损失如何认定？“未必改判”的抗辩是否成立？</a:t>
            </a:r>
            <a:endParaRPr lang="en-US" sz="1400" dirty="0"/>
          </a:p>
        </p:txBody>
      </p:sp>
      <p:sp>
        <p:nvSpPr>
          <p:cNvPr id="20" name="Shape 18"/>
          <p:cNvSpPr/>
          <p:nvPr/>
        </p:nvSpPr>
        <p:spPr>
          <a:xfrm>
            <a:off x="7958023" y="498411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98411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792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若认定赔偿，律所可否向律师追偿？</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20</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律师能否受让委托人正在争讼的债权？若委托人主动提出以争议标的物抵付律师费，律师能否接受？请援引《律师法》第四十条第（二）项分析。</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保险公司为被保险人指定并支付费用的律师，在诉讼策略上与保险公司发生分歧时（保险公司主张尽快调解以控制成本，被保险人希望坚持诉讼），律师应当如何处理？</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委托人拒不支付已到期的律师费，律师能否以留置案卷材料的方式促其付款？请从信义义务与《民法典》留置权规则两个角度分析。</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律师执业过错的赔偿范围应当如何确定？在“错过上诉期”这类案件中，损失是“一审判决金额”还是“改判的可能性乘以金额”？请提出你的方案。</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21</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第15课时要点回顾</a:t>
            </a:r>
            <a:endParaRPr lang="en-US" sz="3000" dirty="0"/>
          </a:p>
        </p:txBody>
      </p:sp>
      <p:sp>
        <p:nvSpPr>
          <p:cNvPr id="4" name="Shape 2"/>
          <p:cNvSpPr/>
          <p:nvPr/>
        </p:nvSpPr>
        <p:spPr>
          <a:xfrm>
            <a:off x="566928" y="1591056"/>
            <a:ext cx="11057839" cy="803974"/>
          </a:xfrm>
          <a:prstGeom prst="roundRect">
            <a:avLst>
              <a:gd name="adj" fmla="val 9099"/>
            </a:avLst>
          </a:prstGeom>
          <a:solidFill>
            <a:srgbClr val="25395F"/>
          </a:solidFill>
          <a:ln w="12700">
            <a:solidFill>
              <a:srgbClr val="25395F"/>
            </a:solidFill>
            <a:prstDash val="solid"/>
          </a:ln>
        </p:spPr>
      </p:sp>
      <p:sp>
        <p:nvSpPr>
          <p:cNvPr id="5" name="Shape 3"/>
          <p:cNvSpPr/>
          <p:nvPr/>
        </p:nvSpPr>
        <p:spPr>
          <a:xfrm>
            <a:off x="859536" y="1791875"/>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2576"/>
            <a:ext cx="160934" cy="160934"/>
          </a:xfrm>
          <a:prstGeom prst="rect">
            <a:avLst/>
          </a:prstGeom>
        </p:spPr>
      </p:pic>
      <p:sp>
        <p:nvSpPr>
          <p:cNvPr id="7" name="Text 4"/>
          <p:cNvSpPr/>
          <p:nvPr/>
        </p:nvSpPr>
        <p:spPr>
          <a:xfrm>
            <a:off x="1444752" y="1745393"/>
            <a:ext cx="9997135" cy="49530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忠诚义务由三条禁止性规定支撑：不得利用便利牟取当事人争议的权益（第四十条第二项）、不得接受对方财物恶意串通（第三项）、不得同时代理双方或代理有利益冲突的事务（第三十九条）。</a:t>
            </a:r>
            <a:endParaRPr lang="en-US" sz="1300" dirty="0"/>
          </a:p>
        </p:txBody>
      </p:sp>
      <p:sp>
        <p:nvSpPr>
          <p:cNvPr id="8" name="Shape 5"/>
          <p:cNvSpPr/>
          <p:nvPr/>
        </p:nvSpPr>
        <p:spPr>
          <a:xfrm>
            <a:off x="566928" y="2532190"/>
            <a:ext cx="11057839" cy="564579"/>
          </a:xfrm>
          <a:prstGeom prst="roundRect">
            <a:avLst>
              <a:gd name="adj" fmla="val 12957"/>
            </a:avLst>
          </a:prstGeom>
          <a:solidFill>
            <a:srgbClr val="25395F"/>
          </a:solidFill>
          <a:ln w="12700">
            <a:solidFill>
              <a:srgbClr val="25395F"/>
            </a:solidFill>
            <a:prstDash val="solid"/>
          </a:ln>
        </p:spPr>
      </p:sp>
      <p:sp>
        <p:nvSpPr>
          <p:cNvPr id="9" name="Shape 6"/>
          <p:cNvSpPr/>
          <p:nvPr/>
        </p:nvSpPr>
        <p:spPr>
          <a:xfrm>
            <a:off x="859536" y="2614486"/>
            <a:ext cx="399987" cy="399987"/>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9532" y="2734481"/>
            <a:ext cx="159995" cy="159995"/>
          </a:xfrm>
          <a:prstGeom prst="rect">
            <a:avLst/>
          </a:prstGeom>
        </p:spPr>
      </p:pic>
      <p:sp>
        <p:nvSpPr>
          <p:cNvPr id="11" name="Text 7"/>
          <p:cNvSpPr/>
          <p:nvPr/>
        </p:nvSpPr>
        <p:spPr>
          <a:xfrm>
            <a:off x="1444752" y="2690654"/>
            <a:ext cx="9997135" cy="24765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四类高风险情形：与委托人的交易、利用委托信息牟利、第三人付费的影响、与对方当事人的不当接触。</a:t>
            </a:r>
            <a:endParaRPr lang="en-US" sz="1300" dirty="0"/>
          </a:p>
        </p:txBody>
      </p:sp>
      <p:sp>
        <p:nvSpPr>
          <p:cNvPr id="12" name="Shape 8"/>
          <p:cNvSpPr/>
          <p:nvPr/>
        </p:nvSpPr>
        <p:spPr>
          <a:xfrm>
            <a:off x="566928" y="3233928"/>
            <a:ext cx="11057839" cy="564579"/>
          </a:xfrm>
          <a:prstGeom prst="roundRect">
            <a:avLst>
              <a:gd name="adj" fmla="val 12957"/>
            </a:avLst>
          </a:prstGeom>
          <a:solidFill>
            <a:srgbClr val="25395F"/>
          </a:solidFill>
          <a:ln w="12700">
            <a:solidFill>
              <a:srgbClr val="25395F"/>
            </a:solidFill>
            <a:prstDash val="solid"/>
          </a:ln>
        </p:spPr>
      </p:sp>
      <p:sp>
        <p:nvSpPr>
          <p:cNvPr id="13" name="Shape 9"/>
          <p:cNvSpPr/>
          <p:nvPr/>
        </p:nvSpPr>
        <p:spPr>
          <a:xfrm>
            <a:off x="859536" y="3316224"/>
            <a:ext cx="399987" cy="399987"/>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9532" y="3436220"/>
            <a:ext cx="159995" cy="159995"/>
          </a:xfrm>
          <a:prstGeom prst="rect">
            <a:avLst/>
          </a:prstGeom>
        </p:spPr>
      </p:pic>
      <p:sp>
        <p:nvSpPr>
          <p:cNvPr id="15" name="Text 10"/>
          <p:cNvSpPr/>
          <p:nvPr/>
        </p:nvSpPr>
        <p:spPr>
          <a:xfrm>
            <a:off x="1444752" y="3392392"/>
            <a:ext cx="9997135" cy="24765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勤勉义务的三大过错高发领域为期限、审查与沟通；防范依靠五项工作制度：期限台账、双人复核、书面记录、授权确认、卷宗管理。</a:t>
            </a:r>
            <a:endParaRPr lang="en-US" sz="1300" dirty="0"/>
          </a:p>
        </p:txBody>
      </p:sp>
      <p:sp>
        <p:nvSpPr>
          <p:cNvPr id="16" name="Shape 11"/>
          <p:cNvSpPr/>
          <p:nvPr/>
        </p:nvSpPr>
        <p:spPr>
          <a:xfrm>
            <a:off x="566928" y="3935667"/>
            <a:ext cx="11057839" cy="564579"/>
          </a:xfrm>
          <a:prstGeom prst="roundRect">
            <a:avLst>
              <a:gd name="adj" fmla="val 12957"/>
            </a:avLst>
          </a:prstGeom>
          <a:solidFill>
            <a:srgbClr val="25395F"/>
          </a:solidFill>
          <a:ln w="12700">
            <a:solidFill>
              <a:srgbClr val="25395F"/>
            </a:solidFill>
            <a:prstDash val="solid"/>
          </a:ln>
        </p:spPr>
      </p:sp>
      <p:sp>
        <p:nvSpPr>
          <p:cNvPr id="17" name="Shape 12"/>
          <p:cNvSpPr/>
          <p:nvPr/>
        </p:nvSpPr>
        <p:spPr>
          <a:xfrm>
            <a:off x="859536" y="4017963"/>
            <a:ext cx="399987" cy="399987"/>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9532" y="4137958"/>
            <a:ext cx="159995" cy="159995"/>
          </a:xfrm>
          <a:prstGeom prst="rect">
            <a:avLst/>
          </a:prstGeom>
        </p:spPr>
      </p:pic>
      <p:sp>
        <p:nvSpPr>
          <p:cNvPr id="19" name="Text 13"/>
          <p:cNvSpPr/>
          <p:nvPr/>
        </p:nvSpPr>
        <p:spPr>
          <a:xfrm>
            <a:off x="1444752" y="4094131"/>
            <a:ext cx="9997135" cy="24765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必须主动告知的四类事项：风险与不利变化、重大进展与程序节点、费用与支出、利益冲突与执业变动；实体权利处分必须书面确认。</a:t>
            </a:r>
            <a:endParaRPr lang="en-US" sz="1300" dirty="0"/>
          </a:p>
        </p:txBody>
      </p:sp>
      <p:sp>
        <p:nvSpPr>
          <p:cNvPr id="20" name="Shape 14"/>
          <p:cNvSpPr/>
          <p:nvPr/>
        </p:nvSpPr>
        <p:spPr>
          <a:xfrm>
            <a:off x="566928" y="4637405"/>
            <a:ext cx="11057839" cy="803974"/>
          </a:xfrm>
          <a:prstGeom prst="roundRect">
            <a:avLst>
              <a:gd name="adj" fmla="val 9099"/>
            </a:avLst>
          </a:prstGeom>
          <a:solidFill>
            <a:srgbClr val="25395F"/>
          </a:solidFill>
          <a:ln w="12700">
            <a:solidFill>
              <a:srgbClr val="25395F"/>
            </a:solidFill>
            <a:prstDash val="solid"/>
          </a:ln>
        </p:spPr>
      </p:sp>
      <p:sp>
        <p:nvSpPr>
          <p:cNvPr id="21" name="Shape 15"/>
          <p:cNvSpPr/>
          <p:nvPr/>
        </p:nvSpPr>
        <p:spPr>
          <a:xfrm>
            <a:off x="859536" y="4838224"/>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4958925"/>
            <a:ext cx="160934" cy="160934"/>
          </a:xfrm>
          <a:prstGeom prst="rect">
            <a:avLst/>
          </a:prstGeom>
        </p:spPr>
      </p:pic>
      <p:sp>
        <p:nvSpPr>
          <p:cNvPr id="23" name="Text 16"/>
          <p:cNvSpPr/>
          <p:nvPr/>
        </p:nvSpPr>
        <p:spPr>
          <a:xfrm>
            <a:off x="1444752" y="4791742"/>
            <a:ext cx="9997135" cy="49530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委托关系终止有五种情形；终止时须完成六件事：书面确认、费用结算、材料移交、工作说明、程序手续、档案留存。不得以扣留卷宗相要挟。</a:t>
            </a:r>
            <a:endParaRPr lang="en-US" sz="1300" dirty="0"/>
          </a:p>
        </p:txBody>
      </p:sp>
      <p:sp>
        <p:nvSpPr>
          <p:cNvPr id="24" name="Shape 17"/>
          <p:cNvSpPr/>
          <p:nvPr/>
        </p:nvSpPr>
        <p:spPr>
          <a:xfrm>
            <a:off x="566928" y="5578539"/>
            <a:ext cx="11057839" cy="803974"/>
          </a:xfrm>
          <a:prstGeom prst="roundRect">
            <a:avLst>
              <a:gd name="adj" fmla="val 9099"/>
            </a:avLst>
          </a:prstGeom>
          <a:solidFill>
            <a:srgbClr val="25395F"/>
          </a:solidFill>
          <a:ln w="12700">
            <a:solidFill>
              <a:srgbClr val="25395F"/>
            </a:solidFill>
            <a:prstDash val="solid"/>
          </a:ln>
        </p:spPr>
      </p:sp>
      <p:sp>
        <p:nvSpPr>
          <p:cNvPr id="25" name="Shape 18"/>
          <p:cNvSpPr/>
          <p:nvPr/>
        </p:nvSpPr>
        <p:spPr>
          <a:xfrm>
            <a:off x="859536" y="5779357"/>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00058"/>
            <a:ext cx="160934" cy="160934"/>
          </a:xfrm>
          <a:prstGeom prst="rect">
            <a:avLst/>
          </a:prstGeom>
        </p:spPr>
      </p:pic>
      <p:sp>
        <p:nvSpPr>
          <p:cNvPr id="27" name="Text 19"/>
          <p:cNvSpPr/>
          <p:nvPr/>
        </p:nvSpPr>
        <p:spPr>
          <a:xfrm>
            <a:off x="1444752" y="5732875"/>
            <a:ext cx="9997135" cy="49530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终止后仍存续四项义务：保密义务永久存续、冲突禁止延伸至前委托人、卷宗妥善保管、不得作出不利评价。《律师法》第五十四条确立律所对外赔偿、对故意或重大过失的律师内部追偿的双层结构。</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第16课时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律师保密义务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律师最古老、最刚性、也最容易被人情压垮的一项义务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保密义务的范围、期限与对象：几乎没有边界</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例外的三种类型及其严格解释</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新《反洗钱法》带来的当代挑战</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保密义务的完整地图</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一、为什么必须保密：三重法理</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二、我国法上的规范依据</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三、保密义务的四个构成要素</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四、例外情形及其严格解释</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五、保密与其他义务的冲突</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六、当代挑战：反洗钱、数据合规与人工智能</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02</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为什么必须保密：三重法理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保密不是为了保护某一个当事人，而是为了保护整个法律服务制度</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03</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保密义务的三重正当性</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一、制度性信任：使当事人敢于说真话</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只有掌握全部事实才能提供正确的法律帮助，而当事人只有确信自己的陈述不会被外泄，才会毫无保留。若保密可以因个案的良知冲击而突破，此后没有任何被追诉人敢对律师说实话，辩护制度将从根基上瓦解。保护的是制度，不是某个恶人。</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二、防御性功能：对抗强制取证</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若律师可以被强制作证，则国家只需传唤律师即可获得被追诉人的全部供述，辩护权与不得强迫自证其罪原则将被架空。保密义务在此发挥“信息防火墙”的作用，使律师不致成为侦查的延伸。</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三、信义关系的必然要求</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委托人基于信任向律师披露信息，律师因此取得信息优势。信义关系要求受托人不得利用该优势，也不得使委托人因信任而受损。保密义务是忠诚义务在信息维度上的表达。</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04</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概念辨析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 vs 律师—委托人特免权</a:t>
            </a:r>
            <a:endParaRPr lang="en-US" sz="2800" dirty="0"/>
          </a:p>
        </p:txBody>
      </p:sp>
      <p:sp>
        <p:nvSpPr>
          <p:cNvPr id="4" name="Shape 2"/>
          <p:cNvSpPr/>
          <p:nvPr/>
        </p:nvSpPr>
        <p:spPr>
          <a:xfrm>
            <a:off x="566928" y="2214245"/>
            <a:ext cx="5410048" cy="3270758"/>
          </a:xfrm>
          <a:prstGeom prst="roundRect">
            <a:avLst>
              <a:gd name="adj" fmla="val 2796"/>
            </a:avLst>
          </a:prstGeom>
          <a:solidFill>
            <a:srgbClr val="F2F4F8"/>
          </a:solidFill>
          <a:ln w="12700">
            <a:solidFill>
              <a:srgbClr val="F2F4F8"/>
            </a:solidFill>
            <a:prstDash val="solid"/>
          </a:ln>
        </p:spPr>
      </p:sp>
      <p:sp>
        <p:nvSpPr>
          <p:cNvPr id="5" name="Shape 3"/>
          <p:cNvSpPr/>
          <p:nvPr/>
        </p:nvSpPr>
        <p:spPr>
          <a:xfrm>
            <a:off x="841248" y="247027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保密义务（duty of confidentiality）</a:t>
            </a:r>
            <a:endParaRPr lang="en-US" sz="1600" dirty="0"/>
          </a:p>
        </p:txBody>
      </p:sp>
      <p:sp>
        <p:nvSpPr>
          <p:cNvPr id="7" name="Text 5"/>
          <p:cNvSpPr/>
          <p:nvPr/>
        </p:nvSpPr>
        <p:spPr>
          <a:xfrm>
            <a:off x="932688"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性质：律师对委托人负担的职业义务。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范围广：一切因执业知悉的、委托人不愿泄露的信息，不问来源。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对象：对一切人，包括委托人的亲属、媒体、同行。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违反后果：行业处分、行政处罚、民事赔偿，甚至刑事责任。</a:t>
            </a:r>
            <a:endParaRPr lang="en-US" sz="1450" dirty="0"/>
          </a:p>
        </p:txBody>
      </p:sp>
      <p:sp>
        <p:nvSpPr>
          <p:cNvPr id="8" name="Shape 6"/>
          <p:cNvSpPr/>
          <p:nvPr/>
        </p:nvSpPr>
        <p:spPr>
          <a:xfrm>
            <a:off x="6214720" y="2214245"/>
            <a:ext cx="5410048" cy="3270758"/>
          </a:xfrm>
          <a:prstGeom prst="roundRect">
            <a:avLst>
              <a:gd name="adj" fmla="val 2796"/>
            </a:avLst>
          </a:prstGeom>
          <a:solidFill>
            <a:srgbClr val="F6F1E8"/>
          </a:solidFill>
          <a:ln w="12700">
            <a:solidFill>
              <a:srgbClr val="F6F1E8"/>
            </a:solidFill>
            <a:prstDash val="solid"/>
          </a:ln>
        </p:spPr>
      </p:sp>
      <p:sp>
        <p:nvSpPr>
          <p:cNvPr id="9" name="Shape 7"/>
          <p:cNvSpPr/>
          <p:nvPr/>
        </p:nvSpPr>
        <p:spPr>
          <a:xfrm>
            <a:off x="6489040" y="247027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特免权 / 拒证权（privilege）</a:t>
            </a:r>
            <a:endParaRPr lang="en-US" sz="1600" dirty="0"/>
          </a:p>
        </p:txBody>
      </p:sp>
      <p:sp>
        <p:nvSpPr>
          <p:cNvPr id="11" name="Text 9"/>
          <p:cNvSpPr/>
          <p:nvPr/>
        </p:nvSpPr>
        <p:spPr>
          <a:xfrm>
            <a:off x="6580480"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性质：在诉讼程序中对抗强制作证的权利。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范围窄：通常限于为获取法律意见而进行的秘密交流。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对象：主要对抗法庭、侦查机关的取证。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我国法上的体现：《刑事诉讼法》第四十八条赋予辩护律师保密的“权利”，是有限的拒证权，但尚未建立英美法那样完整的特免权制度。</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05</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我国法上的规范依据</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两条核心条文，三处必须辨析的差异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06</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《律师法》第三十八条与《刑事诉讼法》第四十八条</a:t>
            </a:r>
            <a:endParaRPr lang="en-US" sz="2800" dirty="0"/>
          </a:p>
        </p:txBody>
      </p:sp>
      <p:sp>
        <p:nvSpPr>
          <p:cNvPr id="4" name="Shape 2"/>
          <p:cNvSpPr/>
          <p:nvPr/>
        </p:nvSpPr>
        <p:spPr>
          <a:xfrm>
            <a:off x="566928" y="1316736"/>
            <a:ext cx="11057839" cy="1767459"/>
          </a:xfrm>
          <a:prstGeom prst="roundRect">
            <a:avLst>
              <a:gd name="adj" fmla="val 517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《中华人民共和国律师法》第三十八条</a:t>
            </a:r>
            <a:endParaRPr lang="en-US" sz="1500" dirty="0"/>
          </a:p>
        </p:txBody>
      </p:sp>
      <p:sp>
        <p:nvSpPr>
          <p:cNvPr id="8" name="Text 6"/>
          <p:cNvSpPr/>
          <p:nvPr/>
        </p:nvSpPr>
        <p:spPr>
          <a:xfrm>
            <a:off x="960120" y="1956816"/>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律师应当保守在执业活动中知悉的国家秘密、商业秘密，不得泄露当事人的隐私。</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对在执业活动中知悉的委托人和其他人不愿泄露的有关情况和信息，应当予以保密。但是，委托人或者其他人准备或者正在实施危害国家安全、公共安全以及其他严重危害他人人身、财产安全的犯罪事实和信息除外。</a:t>
            </a:r>
            <a:endParaRPr lang="en-US" sz="1400" dirty="0"/>
          </a:p>
        </p:txBody>
      </p:sp>
      <p:sp>
        <p:nvSpPr>
          <p:cNvPr id="9" name="Shape 7"/>
          <p:cNvSpPr/>
          <p:nvPr/>
        </p:nvSpPr>
        <p:spPr>
          <a:xfrm>
            <a:off x="566928" y="3267075"/>
            <a:ext cx="11057839" cy="1500759"/>
          </a:xfrm>
          <a:prstGeom prst="roundRect">
            <a:avLst>
              <a:gd name="adj" fmla="val 6093"/>
            </a:avLst>
          </a:prstGeom>
          <a:solidFill>
            <a:srgbClr val="F6F1E8"/>
          </a:solidFill>
          <a:ln w="12700">
            <a:solidFill>
              <a:srgbClr val="F6F1E8"/>
            </a:solidFill>
            <a:prstDash val="solid"/>
          </a:ln>
        </p:spPr>
      </p:sp>
      <p:sp>
        <p:nvSpPr>
          <p:cNvPr id="10" name="Shape 8"/>
          <p:cNvSpPr/>
          <p:nvPr/>
        </p:nvSpPr>
        <p:spPr>
          <a:xfrm>
            <a:off x="877824" y="35048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5048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4865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《中华人民共和国刑事诉讼法》第四十八条</a:t>
            </a:r>
            <a:endParaRPr lang="en-US" sz="1500" dirty="0"/>
          </a:p>
        </p:txBody>
      </p:sp>
      <p:sp>
        <p:nvSpPr>
          <p:cNvPr id="13" name="Text 11"/>
          <p:cNvSpPr/>
          <p:nvPr/>
        </p:nvSpPr>
        <p:spPr>
          <a:xfrm>
            <a:off x="960120" y="3907155"/>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辩护律师对在执业活动中知悉的委托人的有关情况和信息，有权予以保密。但是，辩护律师在执业活动中知悉委托人或者其他人，准备或者正在实施危害国家安全、公共安全以及严重危害他人人身安全的犯罪的，应当及时告知司法机关。</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三处差异必须辨析：其一，适用主体——《律师法》适用于全体律师与全部业务，《刑事诉讼法》仅适用于辩护律师；其二，例外范围——《律师法》多出“财产安全”；其三，义务形态——《律师法》表述为“除外”（不受保密义务约束，可以说但不必须说），《刑事诉讼法》表述为“应当及时告知”（负有主动告知的强制义务）。</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07</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辨析要点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“可以说”与“必须说”：区分义务形态</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读保密例外条款时，请务必看清动词。四种规范状态的后果完全不同。</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应当保密（不得说）——违反即为违规。这是原则状态。</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不受保密义务约束（可以说，但不必须说）——《律师法》第三十八条但书的效果。律师披露不构成违规，但不披露也不违规。</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应当告知（必须说）——《刑事诉讼法》第四十八条但书的效果。不告知即违反法定义务。</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不得告知（禁止说）——如涉及国家秘密而无法定披露渠道的情形。</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实务判断路径：先定性（是否属于保密信息）→ 再定场景（是否为刑事辩护）→ 再看例外（是否落入但书）→ 最后定形态（可以说还是必须说）。</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08</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保密义务的四个构成要素</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主体、客体、期限、对象——每一项都比想象中宽</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09</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要素</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四要素展开</a:t>
            </a:r>
            <a:endParaRPr lang="en-US" sz="2800" dirty="0"/>
          </a:p>
        </p:txBody>
      </p:sp>
      <p:sp>
        <p:nvSpPr>
          <p:cNvPr id="4" name="Shape 2"/>
          <p:cNvSpPr/>
          <p:nvPr/>
        </p:nvSpPr>
        <p:spPr>
          <a:xfrm>
            <a:off x="566928" y="1384491"/>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7709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14259"/>
            <a:ext cx="182880" cy="182880"/>
          </a:xfrm>
          <a:prstGeom prst="rect">
            <a:avLst/>
          </a:prstGeom>
        </p:spPr>
      </p:pic>
      <p:sp>
        <p:nvSpPr>
          <p:cNvPr id="7" name="Text 4"/>
          <p:cNvSpPr/>
          <p:nvPr/>
        </p:nvSpPr>
        <p:spPr>
          <a:xfrm>
            <a:off x="886968"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主体：不止承办律师</a:t>
            </a:r>
            <a:endParaRPr lang="en-US" sz="1400" dirty="0"/>
          </a:p>
        </p:txBody>
      </p:sp>
      <p:sp>
        <p:nvSpPr>
          <p:cNvPr id="8" name="Text 5"/>
          <p:cNvSpPr/>
          <p:nvPr/>
        </p:nvSpPr>
        <p:spPr>
          <a:xfrm>
            <a:off x="886968"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包括承办律师、律师事务所、其他知悉信息的律师与辅助人员（实习律师、助理、行政人员、翻译、专家顾问）。律所负有建立保密制度、培训人员、控制信息接触范围的管理责任。转委托或者聘请第三方服务时，应当签署保密协议。</a:t>
            </a:r>
            <a:endParaRPr lang="en-US" sz="1150" dirty="0"/>
          </a:p>
        </p:txBody>
      </p:sp>
      <p:sp>
        <p:nvSpPr>
          <p:cNvPr id="9" name="Shape 6"/>
          <p:cNvSpPr/>
          <p:nvPr/>
        </p:nvSpPr>
        <p:spPr>
          <a:xfrm>
            <a:off x="6214720" y="1384491"/>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77099"/>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14259"/>
            <a:ext cx="182880" cy="182880"/>
          </a:xfrm>
          <a:prstGeom prst="rect">
            <a:avLst/>
          </a:prstGeom>
        </p:spPr>
      </p:pic>
      <p:sp>
        <p:nvSpPr>
          <p:cNvPr id="12" name="Text 8"/>
          <p:cNvSpPr/>
          <p:nvPr/>
        </p:nvSpPr>
        <p:spPr>
          <a:xfrm>
            <a:off x="6534760"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客体：四类信息</a:t>
            </a:r>
            <a:endParaRPr lang="en-US" sz="1400" dirty="0"/>
          </a:p>
        </p:txBody>
      </p:sp>
      <p:sp>
        <p:nvSpPr>
          <p:cNvPr id="13" name="Text 9"/>
          <p:cNvSpPr/>
          <p:nvPr/>
        </p:nvSpPr>
        <p:spPr>
          <a:xfrm>
            <a:off x="6534760"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国家秘密；商业秘密；当事人隐私；以及委托人和其他人不愿泄露的有关情况和信息。第四类是兜底且最宽的一类——不以信息本身是否敏感为标准，而以“委托人是否不愿泄露”为标准。</a:t>
            </a:r>
            <a:endParaRPr lang="en-US" sz="1150" dirty="0"/>
          </a:p>
        </p:txBody>
      </p:sp>
      <p:sp>
        <p:nvSpPr>
          <p:cNvPr id="14" name="Shape 10"/>
          <p:cNvSpPr/>
          <p:nvPr/>
        </p:nvSpPr>
        <p:spPr>
          <a:xfrm>
            <a:off x="566928" y="4027107"/>
            <a:ext cx="5410048" cy="2287651"/>
          </a:xfrm>
          <a:prstGeom prst="roundRect">
            <a:avLst>
              <a:gd name="adj" fmla="val 3997"/>
            </a:avLst>
          </a:prstGeom>
          <a:solidFill>
            <a:srgbClr val="ECF3F2"/>
          </a:solidFill>
          <a:ln w="12700">
            <a:solidFill>
              <a:srgbClr val="ECF3F2"/>
            </a:solidFill>
            <a:prstDash val="solid"/>
          </a:ln>
        </p:spPr>
      </p:sp>
      <p:sp>
        <p:nvSpPr>
          <p:cNvPr id="15" name="Shape 11"/>
          <p:cNvSpPr/>
          <p:nvPr/>
        </p:nvSpPr>
        <p:spPr>
          <a:xfrm>
            <a:off x="886968" y="4319715"/>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456875"/>
            <a:ext cx="182880" cy="182880"/>
          </a:xfrm>
          <a:prstGeom prst="rect">
            <a:avLst/>
          </a:prstGeom>
        </p:spPr>
      </p:pic>
      <p:sp>
        <p:nvSpPr>
          <p:cNvPr id="17" name="Text 12"/>
          <p:cNvSpPr/>
          <p:nvPr/>
        </p:nvSpPr>
        <p:spPr>
          <a:xfrm>
            <a:off x="886968"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期限：永久</a:t>
            </a:r>
            <a:endParaRPr lang="en-US" sz="1400" dirty="0"/>
          </a:p>
        </p:txBody>
      </p:sp>
      <p:sp>
        <p:nvSpPr>
          <p:cNvPr id="18" name="Text 13"/>
          <p:cNvSpPr/>
          <p:nvPr/>
        </p:nvSpPr>
        <p:spPr>
          <a:xfrm>
            <a:off x="886968"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保密义务自接触信息时产生（即使未成案），不因委托关系终止而消灭，原则上也不因委托人死亡或者法人终止而消灭。这是律师义务体系中期限最长的一项。</a:t>
            </a:r>
            <a:endParaRPr lang="en-US" sz="1150" dirty="0"/>
          </a:p>
        </p:txBody>
      </p:sp>
      <p:sp>
        <p:nvSpPr>
          <p:cNvPr id="19" name="Shape 14"/>
          <p:cNvSpPr/>
          <p:nvPr/>
        </p:nvSpPr>
        <p:spPr>
          <a:xfrm>
            <a:off x="6214720" y="4027107"/>
            <a:ext cx="5410048" cy="2287651"/>
          </a:xfrm>
          <a:prstGeom prst="roundRect">
            <a:avLst>
              <a:gd name="adj" fmla="val 3997"/>
            </a:avLst>
          </a:prstGeom>
          <a:solidFill>
            <a:srgbClr val="F8EFF0"/>
          </a:solidFill>
          <a:ln w="12700">
            <a:solidFill>
              <a:srgbClr val="F8EFF0"/>
            </a:solidFill>
            <a:prstDash val="solid"/>
          </a:ln>
        </p:spPr>
      </p:sp>
      <p:sp>
        <p:nvSpPr>
          <p:cNvPr id="20" name="Shape 15"/>
          <p:cNvSpPr/>
          <p:nvPr/>
        </p:nvSpPr>
        <p:spPr>
          <a:xfrm>
            <a:off x="6534760" y="4319715"/>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456875"/>
            <a:ext cx="182880" cy="182880"/>
          </a:xfrm>
          <a:prstGeom prst="rect">
            <a:avLst/>
          </a:prstGeom>
        </p:spPr>
      </p:pic>
      <p:sp>
        <p:nvSpPr>
          <p:cNvPr id="22" name="Text 16"/>
          <p:cNvSpPr/>
          <p:nvPr/>
        </p:nvSpPr>
        <p:spPr>
          <a:xfrm>
            <a:off x="6534760"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对象：对一切人</a:t>
            </a:r>
            <a:endParaRPr lang="en-US" sz="1400" dirty="0"/>
          </a:p>
        </p:txBody>
      </p:sp>
      <p:sp>
        <p:nvSpPr>
          <p:cNvPr id="23" name="Text 17"/>
          <p:cNvSpPr/>
          <p:nvPr/>
        </p:nvSpPr>
        <p:spPr>
          <a:xfrm>
            <a:off x="6534760"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包括委托人的配偶、父母、子女等近亲属；包括付费的第三人；包括媒体与公众；包括同所的其他律师（除办案必要外）；也包括司法机关（除法定例外）。</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10</a:t>
            </a:r>
            <a:endParaRPr lang="en-US" sz="11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易错点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实务中最容易失守的六个场景</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保密义务在纸面上很清楚，在生活中很脆弱。以下六个场景请各位牢记。</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场景一：向家属转述会见内容。付费的家属“有权知道”是一种错觉——未经被追诉人同意，不得转述。</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场景二：与同所同事闲聊案情。除办案必要外，同所律师亦属“他人”；开放式办公区、电梯、餐厅的随口议论是泄密高发地。</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场景三：自媒体与朋友圈。发布办案照片、开庭现场、当事人材料截图，即使打码，也可能因细节被识别。</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场景四：授课与写作。以真实案例作教学素材，必须彻底脱敏并取得同意；不得使用可被反向识别的细节组合。</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场景五：电子数据管理。使用公共网盘、未加密邮箱、私人设备存储卷宗；离所时未删除客户数据。</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场景六：招投标与业绩材料。为承接新业务而在标书中列明既往客户名称与案件情况，须事先取得客户同意。</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11</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例外情形及其严格解释</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例外是刀锋，必须窄窄地握</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12</a:t>
            </a:r>
            <a:endParaRPr lang="en-US"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三类例外</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保密义务的例外类型</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一、防止未来重大危害（法定例外）</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法》第三十八条与《刑事诉讼法》第四十八条的但书。请把握两个严格限定：时间上限于“准备或者正在实施”，即面向未来与现在的危险，不包括已经完成的既往犯罪；类型上限于危害国家安全、公共安全以及严重危害他人人身（《律师法》另加财产）安全的犯罪。</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二、委托人同意（意定例外）</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保密义务的受益人是委托人，故其有权放弃。同意应当是明示的、特定的、在充分知情基础上作出的；概括性的、事先的、格式化的同意效力存疑。委托人为法人的，同意须由有权机关作出，而非任何一名员工。</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三、律师自我维护（抗辩例外）</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因执业行为被投诉、被起诉、被追究责任时，为进行必要的申辩与举证，可以在必要范围内披露相关信息；律师追索律师费时，亦可在必要限度内披露。核心限制是“必要范围”——只能披露与抗辩直接相关的部分。</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13</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解释规则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例外条款的三条解释规则</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规则一：严格解释，不得类推</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保密是原则，披露是例外。对但书条款应当作严格解释，不得以“情节严重”“社会影响恶劣”等理由类推扩张。条文没有列举的犯罪类型，不属于例外。</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规则二：最小披露原则</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即使落入例外，也只能披露为达到该目的所必需的最少信息，向必要的对象披露；不得借例外之名进行超范围的公开。</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规则三：优先选择替代手段</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在披露之外，应当优先考虑劝阻委托人、拒绝提供服务、解除委托关系等对保密损害更小的手段。只有在替代手段不足以避免危害时，才诉诸披露。</a:t>
            </a:r>
            <a:endParaRPr lang="en-US" sz="850" dirty="0"/>
          </a:p>
        </p:txBody>
      </p:sp>
      <p:sp>
        <p:nvSpPr>
          <p:cNvPr id="19" name="Shape 1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20" name="Text 1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这三条规则实际上就是比例原则在保密义务中的运用：目的正当（防止重大危害）、手段必要（无替代手段）、损害最小（最小披露）。请各位将其作为处理一切例外情形的分析框架。</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14</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四个情境，四种答案</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规范适用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例外条款的适用练习</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情境一：刑事辩护中，委托人告诉律师他三年前还实施过一起盗窃，尚未被发现。</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情境二：刑事辩护中，委托人向律师流露出出狱后“要弄死举报人”的强烈意图，并已了解对方住址。</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情境三：非诉业务中，律师得知客户正在策划一起数额特别巨大的合同诈骗，仅涉财产，不危及人身。</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情境四：委托人去世后，其继承人要求律师提供当年遗嘱起草过程中的全部沟通记录，以证明遗嘱系被胁迫所立。</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四个情境分别适用哪一条？</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情境二是“可以说”还是“必须说”？</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情境三在刑辩与非诉场景下结论是否不同？</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情境四中，委托人死亡后保密义务是否消灭？</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15</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保密与其他义务的冲突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当两项义务同时指向相反方向</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16</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冲突一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 vs 对法庭的真实义务</a:t>
            </a:r>
            <a:endParaRPr lang="en-US" sz="2800" dirty="0"/>
          </a:p>
        </p:txBody>
      </p:sp>
      <p:sp>
        <p:nvSpPr>
          <p:cNvPr id="4" name="Shape 2"/>
          <p:cNvSpPr/>
          <p:nvPr/>
        </p:nvSpPr>
        <p:spPr>
          <a:xfrm>
            <a:off x="566928" y="1661795"/>
            <a:ext cx="5410048" cy="4375658"/>
          </a:xfrm>
          <a:prstGeom prst="roundRect">
            <a:avLst>
              <a:gd name="adj" fmla="val 2090"/>
            </a:avLst>
          </a:prstGeom>
          <a:solidFill>
            <a:srgbClr val="F2F4F8"/>
          </a:solidFill>
          <a:ln w="12700">
            <a:solidFill>
              <a:srgbClr val="F2F4F8"/>
            </a:solidFill>
            <a:prstDash val="solid"/>
          </a:ln>
        </p:spPr>
      </p:sp>
      <p:sp>
        <p:nvSpPr>
          <p:cNvPr id="5" name="Shape 3"/>
          <p:cNvSpPr/>
          <p:nvPr/>
        </p:nvSpPr>
        <p:spPr>
          <a:xfrm>
            <a:off x="841248" y="19178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9178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冲突的场景</a:t>
            </a:r>
            <a:endParaRPr lang="en-US" sz="1600" dirty="0"/>
          </a:p>
        </p:txBody>
      </p:sp>
      <p:sp>
        <p:nvSpPr>
          <p:cNvPr id="7" name="Text 5"/>
          <p:cNvSpPr/>
          <p:nvPr/>
        </p:nvSpPr>
        <p:spPr>
          <a:xfrm>
            <a:off x="932688" y="2576195"/>
            <a:ext cx="4678528" cy="32235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委托人私下告知律师其陈述不实，但坚持在法庭上如此陈述。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律师此前基于委托人提供的信息，已向法庭作出某项事实陈述，事后发现该信息虚假。</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委托人提交的书证，律师有理由怀疑系伪造。</a:t>
            </a:r>
            <a:endParaRPr lang="en-US" sz="1450" dirty="0"/>
          </a:p>
        </p:txBody>
      </p:sp>
      <p:sp>
        <p:nvSpPr>
          <p:cNvPr id="8" name="Shape 6"/>
          <p:cNvSpPr/>
          <p:nvPr/>
        </p:nvSpPr>
        <p:spPr>
          <a:xfrm>
            <a:off x="6214720" y="1661795"/>
            <a:ext cx="5410048" cy="4375658"/>
          </a:xfrm>
          <a:prstGeom prst="roundRect">
            <a:avLst>
              <a:gd name="adj" fmla="val 2090"/>
            </a:avLst>
          </a:prstGeom>
          <a:solidFill>
            <a:srgbClr val="F6F1E8"/>
          </a:solidFill>
          <a:ln w="12700">
            <a:solidFill>
              <a:srgbClr val="F6F1E8"/>
            </a:solidFill>
            <a:prstDash val="solid"/>
          </a:ln>
        </p:spPr>
      </p:sp>
      <p:sp>
        <p:nvSpPr>
          <p:cNvPr id="9" name="Shape 7"/>
          <p:cNvSpPr/>
          <p:nvPr/>
        </p:nvSpPr>
        <p:spPr>
          <a:xfrm>
            <a:off x="6489040" y="19178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9178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处理规则</a:t>
            </a:r>
            <a:endParaRPr lang="en-US" sz="1600" dirty="0"/>
          </a:p>
        </p:txBody>
      </p:sp>
      <p:sp>
        <p:nvSpPr>
          <p:cNvPr id="11" name="Text 9"/>
          <p:cNvSpPr/>
          <p:nvPr/>
        </p:nvSpPr>
        <p:spPr>
          <a:xfrm>
            <a:off x="6580480" y="2576195"/>
            <a:ext cx="4678528" cy="32235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消极不作为：律师不得主动向法庭披露委托人的秘密，但也不得积极提出明知虚假的事实或者证据。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劝阻优先：应当劝阻委托人，说明伪证的法律后果；对已提交的虚假材料，应当要求委托人自行更正或者撤回。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拒绝与退出：委托人坚持的，律师应当拒绝就该虚假事实进行陈述与举证；必要时依《律师法》第三十二条第二款解除委托。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更正的限度：解除委托时，原则上仅说明“因客观原因不再代理”，不得披露具体原因，除非落入法定例外。</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17</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其他冲突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三种常见的义务冲突及处理</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保密 vs 对第三人的告知（法律意见书场景）</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出具的法律意见书将提交第三人（投资方、监管机构）时，不得明知重大不利事实而作不完整披露。处理路径：说服委托人如实披露；委托人拒绝的，律师应当拒绝出具意见书，而不是既保密又出具“半真的”意见书。</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保密 vs 律所内部管理</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利益冲突检索、质量复核、财务审计等需要接触案件信息。处理路径：以“必要知悉”为限，建立内部信息隔离墙（Chinese wall），对敏感案件实行限制访问，并对全体接触人员施加同等保密义务。</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保密 vs 司法机关的调查要求</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侦查机关要求律师提供委托人信息或者作证时，律师应当审查其是否具有法定依据，是否落入法定例外；不属例外的，应当依法说明保密义务并拒绝提供，同时可以向律师协会申请维权支持。</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18</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当代挑战：反洗钱、数据合规与人工智能</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技术与监管的变化，正在重新划定保密义务的边界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19</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新发展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新《反洗钱法》将律师事务所纳入义务主体</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《中华人民共和国反洗钱法》（2024年修订，自2025年1月1日起施行）</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该法采用“列举+兜底”的模式界定特定非金融机构的范围，将房地产开发企业与中介机构、会计师事务所、律师事务所、公证机构，以及贵金属、宝石等现货交易的交易商纳入反洗钱义务主体。</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上述机构在从事特定业务时，与金融机构共同承担客户身份识别与尽职调查、大额与可疑交易报告、开展反洗钱合作、接受反洗钱调查与监督等义务。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修订对律师保密义务构成了当代最重要的挑战：一方面，客户身份识别与可疑交易报告要求律师主动向监管机构提供信息；另一方面，保密义务要求律师守口如瓶。域外的通行做法是设置“法律职业特权豁免”——律师在为客户提供诉讼代理或者判断其法律地位时所获知的信息，不在报告义务范围内。我国相关配套规则仍在完善之中，请各位密切关注后续立法与实施办法。</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20</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新问题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三项需要建立新习惯的挑战</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数据安全与个人信息保护</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《数据安全法》《个人信息保护法》对律所处理客户数据提出了新要求：合法、正当、必要，最小必要收集，安全存储，跨境传输受限。律所应当建立数据分级、访问控制、加密存储、留痕审计与泄露应急机制。</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人工智能工具的使用</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将案情、卷宗、合同文本输入公共大模型进行分析或者润色，可能构成向第三方披露。使用前应当评估服务条款中的数据使用与训练政策，优先采用本地部署或者企业级、明确不用于训练的服务，并对内容作脱敏处理。这是当前最容易被忽视的泄密渠道。</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涉外业务中的规则冲突</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同法域的保密与披露规则不同：某些法域要求律师报告可疑交易，某些要求配合外国机构的证据开示。涉外业务中应当同时审查中国法与相关外国法的要求，并注意《国际刑事司法协助法》《数据安全法》关于向境外提供数据须经批准的规定。</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21</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377696"/>
          </a:xfrm>
          <a:prstGeom prst="roundRect">
            <a:avLst>
              <a:gd name="adj" fmla="val 5973"/>
            </a:avLst>
          </a:prstGeom>
          <a:solidFill>
            <a:srgbClr val="ECF3F2"/>
          </a:solidFill>
          <a:ln w="12700">
            <a:solidFill>
              <a:srgbClr val="ECF3F2"/>
            </a:solidFill>
            <a:prstDash val="solid"/>
          </a:ln>
        </p:spPr>
      </p:sp>
      <p:sp>
        <p:nvSpPr>
          <p:cNvPr id="5" name="Shape 3"/>
          <p:cNvSpPr/>
          <p:nvPr/>
        </p:nvSpPr>
        <p:spPr>
          <a:xfrm>
            <a:off x="859536" y="177698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769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4838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回到第1课时的“平静湖藏尸案”：现在你已经掌握了完整的规范体系。请重新回答——若该案发生在我国，律师应当如何处理？请分别就《律师法》第三十八条与《刑事诉讼法》第四十八条作出分析，并指出“劝说当事人自首”这一替代手段的意义。</a:t>
            </a:r>
            <a:endParaRPr lang="en-US" sz="1600" dirty="0"/>
          </a:p>
        </p:txBody>
      </p:sp>
      <p:sp>
        <p:nvSpPr>
          <p:cNvPr id="8" name="Shape 6"/>
          <p:cNvSpPr/>
          <p:nvPr/>
        </p:nvSpPr>
        <p:spPr>
          <a:xfrm>
            <a:off x="566928" y="2840736"/>
            <a:ext cx="11057839" cy="1083056"/>
          </a:xfrm>
          <a:prstGeom prst="roundRect">
            <a:avLst>
              <a:gd name="adj" fmla="val 7598"/>
            </a:avLst>
          </a:prstGeom>
          <a:solidFill>
            <a:srgbClr val="ECF3F2"/>
          </a:solidFill>
          <a:ln w="12700">
            <a:solidFill>
              <a:srgbClr val="ECF3F2"/>
            </a:solidFill>
            <a:prstDash val="solid"/>
          </a:ln>
        </p:spPr>
      </p:sp>
      <p:sp>
        <p:nvSpPr>
          <p:cNvPr id="9" name="Shape 7"/>
          <p:cNvSpPr/>
          <p:nvPr/>
        </p:nvSpPr>
        <p:spPr>
          <a:xfrm>
            <a:off x="859536" y="315366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53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7746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《律师法》第三十八条的例外包含“财产安全”，《刑事诉讼法》第四十八条则不包含。这一差异是立法疏漏还是有意为之？请从刑事辩护的特殊性角度论证。</a:t>
            </a:r>
            <a:endParaRPr lang="en-US" sz="1600" dirty="0"/>
          </a:p>
        </p:txBody>
      </p:sp>
      <p:sp>
        <p:nvSpPr>
          <p:cNvPr id="12" name="Shape 10"/>
          <p:cNvSpPr/>
          <p:nvPr/>
        </p:nvSpPr>
        <p:spPr>
          <a:xfrm>
            <a:off x="566928" y="4070096"/>
            <a:ext cx="11057839" cy="1083056"/>
          </a:xfrm>
          <a:prstGeom prst="roundRect">
            <a:avLst>
              <a:gd name="adj" fmla="val 7598"/>
            </a:avLst>
          </a:prstGeom>
          <a:solidFill>
            <a:srgbClr val="ECF3F2"/>
          </a:solidFill>
          <a:ln w="12700">
            <a:solidFill>
              <a:srgbClr val="ECF3F2"/>
            </a:solidFill>
            <a:prstDash val="solid"/>
          </a:ln>
        </p:spPr>
      </p:sp>
      <p:sp>
        <p:nvSpPr>
          <p:cNvPr id="13" name="Shape 11"/>
          <p:cNvSpPr/>
          <p:nvPr/>
        </p:nvSpPr>
        <p:spPr>
          <a:xfrm>
            <a:off x="859536" y="43830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83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0682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律师将客户合同输入公共人工智能工具进行审查，是否构成泄密？如果该工具承诺不使用用户数据训练模型呢？请提出一套律所可操作的人工智能使用规则。</a:t>
            </a:r>
            <a:endParaRPr lang="en-US" sz="1600" dirty="0"/>
          </a:p>
        </p:txBody>
      </p:sp>
      <p:sp>
        <p:nvSpPr>
          <p:cNvPr id="16" name="Shape 14"/>
          <p:cNvSpPr/>
          <p:nvPr/>
        </p:nvSpPr>
        <p:spPr>
          <a:xfrm>
            <a:off x="566928" y="5299456"/>
            <a:ext cx="11057839" cy="1083056"/>
          </a:xfrm>
          <a:prstGeom prst="roundRect">
            <a:avLst>
              <a:gd name="adj" fmla="val 7598"/>
            </a:avLst>
          </a:prstGeom>
          <a:solidFill>
            <a:srgbClr val="ECF3F2"/>
          </a:solidFill>
          <a:ln w="12700">
            <a:solidFill>
              <a:srgbClr val="ECF3F2"/>
            </a:solidFill>
            <a:prstDash val="solid"/>
          </a:ln>
        </p:spPr>
      </p:sp>
      <p:sp>
        <p:nvSpPr>
          <p:cNvPr id="17" name="Shape 15"/>
          <p:cNvSpPr/>
          <p:nvPr/>
        </p:nvSpPr>
        <p:spPr>
          <a:xfrm>
            <a:off x="859536" y="561238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12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3618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新《反洗钱法》要求律师事务所履行客户身份识别与可疑交易报告义务。请设计一个区分标准，界定哪些业务中的信息应当报告、哪些应当继续保密。</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22</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第16课时要点回顾</a:t>
            </a:r>
            <a:endParaRPr lang="en-US" sz="3000" dirty="0"/>
          </a:p>
        </p:txBody>
      </p:sp>
      <p:sp>
        <p:nvSpPr>
          <p:cNvPr id="4" name="Shape 2"/>
          <p:cNvSpPr/>
          <p:nvPr/>
        </p:nvSpPr>
        <p:spPr>
          <a:xfrm>
            <a:off x="566928" y="1591056"/>
            <a:ext cx="11057839" cy="514202"/>
          </a:xfrm>
          <a:prstGeom prst="roundRect">
            <a:avLst>
              <a:gd name="adj" fmla="val 14226"/>
            </a:avLst>
          </a:prstGeom>
          <a:solidFill>
            <a:srgbClr val="25395F"/>
          </a:solidFill>
          <a:ln w="12700">
            <a:solidFill>
              <a:srgbClr val="25395F"/>
            </a:solidFill>
            <a:prstDash val="solid"/>
          </a:ln>
        </p:spPr>
      </p:sp>
      <p:sp>
        <p:nvSpPr>
          <p:cNvPr id="5" name="Shape 3"/>
          <p:cNvSpPr/>
          <p:nvPr/>
        </p:nvSpPr>
        <p:spPr>
          <a:xfrm>
            <a:off x="859536" y="1673352"/>
            <a:ext cx="349610" cy="349610"/>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64419" y="1778235"/>
            <a:ext cx="139844" cy="139844"/>
          </a:xfrm>
          <a:prstGeom prst="rect">
            <a:avLst/>
          </a:prstGeom>
        </p:spPr>
      </p:pic>
      <p:sp>
        <p:nvSpPr>
          <p:cNvPr id="7" name="Text 4"/>
          <p:cNvSpPr/>
          <p:nvPr/>
        </p:nvSpPr>
        <p:spPr>
          <a:xfrm>
            <a:off x="1444752" y="1738619"/>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保密义务的三重法理：制度性信任（使当事人敢说真话）、防御性功能（对抗强制取证）、信义关系的必然要求。保护的是制度，不是某个当事人。</a:t>
            </a:r>
            <a:endParaRPr lang="en-US" sz="1150" dirty="0"/>
          </a:p>
        </p:txBody>
      </p:sp>
      <p:sp>
        <p:nvSpPr>
          <p:cNvPr id="8" name="Shape 5"/>
          <p:cNvSpPr/>
          <p:nvPr/>
        </p:nvSpPr>
        <p:spPr>
          <a:xfrm>
            <a:off x="566928" y="2242418"/>
            <a:ext cx="11057839" cy="718291"/>
          </a:xfrm>
          <a:prstGeom prst="roundRect">
            <a:avLst>
              <a:gd name="adj" fmla="val 10184"/>
            </a:avLst>
          </a:prstGeom>
          <a:solidFill>
            <a:srgbClr val="25395F"/>
          </a:solidFill>
          <a:ln w="12700">
            <a:solidFill>
              <a:srgbClr val="25395F"/>
            </a:solidFill>
            <a:prstDash val="solid"/>
          </a:ln>
        </p:spPr>
      </p:sp>
      <p:sp>
        <p:nvSpPr>
          <p:cNvPr id="9" name="Shape 6"/>
          <p:cNvSpPr/>
          <p:nvPr/>
        </p:nvSpPr>
        <p:spPr>
          <a:xfrm>
            <a:off x="859536" y="240039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21096"/>
            <a:ext cx="160934" cy="160934"/>
          </a:xfrm>
          <a:prstGeom prst="rect">
            <a:avLst/>
          </a:prstGeom>
        </p:spPr>
      </p:pic>
      <p:sp>
        <p:nvSpPr>
          <p:cNvPr id="11" name="Text 7"/>
          <p:cNvSpPr/>
          <p:nvPr/>
        </p:nvSpPr>
        <p:spPr>
          <a:xfrm>
            <a:off x="1444752" y="238248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保密义务与特免权不同：前者是对一切人的职业义务，范围广；后者是诉讼中对抗强制作证的权利，范围窄。我国《刑事诉讼法》第四十八条是有限的拒证权。</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《律师法》第三十八条与《刑事诉讼法》第四十八条有三处差异：适用主体（全体律师 / 辩护律师）、例外范围（含 / 不含财产安全）、义务形态（“除外”可以说 / “应当告知”必须说）。</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四个构成要素：主体包括律所与全部辅助人员；客体包括国家秘密、商业秘密、当事人隐私与一切不愿泄露的信息；期限为永久；对象为一切人，包括近亲属与付费人。</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例外有三类：防止未来重大危害（法定）、委托人同意（意定）、律师自我维护（抗辩）。解释规则三条：严格解释不得类推、最小披露、优先选择替代手段——实为比例原则的运用。</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当代挑战：新《反洗钱法》（2025年1月1日施行）将律师事务所纳入反洗钱义务主体；数据安全与个人信息保护提出新要求；使用公共人工智能工具可能构成向第三方披露，是当前最易忽视的泄密渠道。</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2026-08-25T09:10:22Z</dcterms:created>
  <dcterms:modified xsi:type="dcterms:W3CDTF">2026-08-25T09:10:22Z</dcterms:modified>
</cp:coreProperties>
</file>