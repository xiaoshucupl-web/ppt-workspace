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Lst>
  <p:notesMasterIdLst>
    <p:notesMasterId r:id="rId9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notesMaster" Target="notesMasters/notesMaster1.xml"/><Relationship Id="rId93" Type="http://schemas.openxmlformats.org/officeDocument/2006/relationships/presProps" Target="presProps.xml"/><Relationship Id="rId94" Type="http://schemas.openxmlformats.org/officeDocument/2006/relationships/viewProps" Target="viewProps.xml"/><Relationship Id="rId95" Type="http://schemas.openxmlformats.org/officeDocument/2006/relationships/theme" Target="theme/theme1.xml"/><Relationship Id="rId9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一条只规定了两种最核心的情形：同案双方代理（双向代理）、与本人或近亲属有利益冲突的事务。它是原则性规定，具体的类型化列举由行业规范完成。请注意“同一案件”这一限定——在实务中，什么算“同一案件”往往是争议焦点：关联案件、后续案件、同一交易衍生的多个纠纷，是否属于“同一案件”？答案需要借助行业规范与实质关联性标准来确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五十一条属于绝对禁止情形——不得建立，已建立的必须终止，且原则上不因当事人同意而正当化（第四项的县域独家例外除外）。与之相对，第五十二条规定了一类相对禁止情形：律师应当告知委托人并主动提出回避，但委托人同意继续代理的除外。绝对禁止与相对禁止的分野，是我国冲突规则最重要的结构，第18课时将详细展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请注意条文的规范结构：“应当告知 + 主动提出回避”是原则，“委托人同意”是例外。也就是说：律师不能因为觉得“当事人大概不介意”就不告知，告知是强制性的第一步；只有在告知之后，当事人明确表示同意，才可以继续办理。另请注意：告知义务针对的是本方委托人，而不是对方当事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禁止的理由各不相同：刑事、行政、国家赔偿案件涉及公权力与人身自由，若与胜负挂钩，可能诱发违法取证、干扰司法；群体性案件涉及众多当事人，风险代理容易诱发恶意诉讼与不当动员；赡养费、劳动报酬等案件的当事人本就处于弱势，从其救命钱中抽成有违公平。请各位注意：这些禁止是绝对的，当事人同意也不能变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把握《律师法》行政处罚的三级阶梯：第四十七条为最轻一级（警告、五千元以下罚款、没收违法所得），第四十八条为中间一级（警告、一万元以下罚款、没收违法所得，情节严重的停止执业），第四十九条为最重一级（停止执业六个月以上一年以下、五万元以下罚款，情节严重的吊销执业证书，构成犯罪的追究刑事责任）。私自收费属第四十八条第（一）项。而挪用当事人款项若构成职务侵占、挪用资金、侵占或者诈骗，则直接进入刑事责任层面——这才是最严重的后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特别注意第二款：这是一条重要的出罪条款。证据失实与伪造证据是两回事——律师提交的证人证言后来被证明不真实，只要不是有意伪造，就不构成本罪。这一款正是为了防止本罪被滥用而设。实践中的核心争点通常是：律师的行为属于“依法调查取证”还是“引诱证人改变证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请注意律师取证权的三重限制：其一，向单位或个人调查须其配合，律师无强制取证权；其二，依《刑事诉讼法》，向被害人及其近亲属、被害人提供的证人收集材料，须经检察院或法院许可并经本人同意；其三，取证方式受《刑法》第三百零六条的约束。正因如此，“申请司法机关调取”往往是比“自行调查”更安全的路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1.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slideLayout" Target="../slideLayouts/slideLayout1.xml"/><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slideLayout" Target="../slideLayouts/slideLayout1.xml"/><Relationship Id="rId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slideLayout" Target="../slideLayouts/slideLayout1.xml"/><Relationship Id="rId6"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image" Target="../media/image-47-5.png"/><Relationship Id="rId6" Type="http://schemas.openxmlformats.org/officeDocument/2006/relationships/image" Target="../media/image-47-6.png"/><Relationship Id="rId7" Type="http://schemas.openxmlformats.org/officeDocument/2006/relationships/slideLayout" Target="../slideLayouts/slideLayout1.xml"/><Relationship Id="rId8"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slideLayout" Target="../slideLayouts/slideLayout1.xml"/><Relationship Id="rId5"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slideLayout" Target="../slideLayouts/slideLayout1.xml"/><Relationship Id="rId5"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image" Target="../media/image-54-4.png"/><Relationship Id="rId5" Type="http://schemas.openxmlformats.org/officeDocument/2006/relationships/slideLayout" Target="../slideLayouts/slideLayout1.xml"/><Relationship Id="rId6"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image" Target="../media/image-61-3.png"/><Relationship Id="rId4" Type="http://schemas.openxmlformats.org/officeDocument/2006/relationships/image" Target="../media/image-61-4.png"/><Relationship Id="rId5" Type="http://schemas.openxmlformats.org/officeDocument/2006/relationships/slideLayout" Target="../slideLayouts/slideLayout1.xml"/><Relationship Id="rId6"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image" Target="../media/image-62-4.png"/><Relationship Id="rId5" Type="http://schemas.openxmlformats.org/officeDocument/2006/relationships/slideLayout" Target="../slideLayouts/slideLayout1.xml"/><Relationship Id="rId6"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image" Target="../media/image-68-3.png"/><Relationship Id="rId4" Type="http://schemas.openxmlformats.org/officeDocument/2006/relationships/image" Target="../media/image-68-4.png"/><Relationship Id="rId5" Type="http://schemas.openxmlformats.org/officeDocument/2006/relationships/image" Target="../media/image-68-5.png"/><Relationship Id="rId6" Type="http://schemas.openxmlformats.org/officeDocument/2006/relationships/image" Target="../media/image-68-6.png"/><Relationship Id="rId7" Type="http://schemas.openxmlformats.org/officeDocument/2006/relationships/slideLayout" Target="../slideLayouts/slideLayout1.xml"/><Relationship Id="rId8"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image" Target="../media/image-69-3.png"/><Relationship Id="rId4" Type="http://schemas.openxmlformats.org/officeDocument/2006/relationships/slideLayout" Target="../slideLayouts/slideLayout1.xml"/><Relationship Id="rId5"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image" Target="../media/image-73-3.png"/><Relationship Id="rId4" Type="http://schemas.openxmlformats.org/officeDocument/2006/relationships/image" Target="../media/image-73-4.png"/><Relationship Id="rId5" Type="http://schemas.openxmlformats.org/officeDocument/2006/relationships/slideLayout" Target="../slideLayouts/slideLayout1.xml"/><Relationship Id="rId6"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1.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image" Target="../media/image-78-2.png"/><Relationship Id="rId3" Type="http://schemas.openxmlformats.org/officeDocument/2006/relationships/image" Target="../media/image-78-3.png"/><Relationship Id="rId4" Type="http://schemas.openxmlformats.org/officeDocument/2006/relationships/slideLayout" Target="../slideLayouts/slideLayout1.xml"/><Relationship Id="rId5"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image" Target="../media/image-79-1.png"/><Relationship Id="rId2" Type="http://schemas.openxmlformats.org/officeDocument/2006/relationships/slideLayout" Target="../slideLayouts/slideLayout1.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image" Target="../media/image-82-2.png"/><Relationship Id="rId3" Type="http://schemas.openxmlformats.org/officeDocument/2006/relationships/image" Target="../media/image-82-3.png"/><Relationship Id="rId4" Type="http://schemas.openxmlformats.org/officeDocument/2006/relationships/slideLayout" Target="../slideLayouts/slideLayout1.xml"/><Relationship Id="rId5"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image" Target="../media/image-85-1.png"/><Relationship Id="rId2" Type="http://schemas.openxmlformats.org/officeDocument/2006/relationships/slideLayout" Target="../slideLayouts/slideLayout1.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image" Target="../media/image-87-1.png"/><Relationship Id="rId2" Type="http://schemas.openxmlformats.org/officeDocument/2006/relationships/image" Target="../media/image-87-2.png"/><Relationship Id="rId3" Type="http://schemas.openxmlformats.org/officeDocument/2006/relationships/image" Target="../media/image-87-3.png"/><Relationship Id="rId4" Type="http://schemas.openxmlformats.org/officeDocument/2006/relationships/slideLayout" Target="../slideLayouts/slideLayout1.xml"/><Relationship Id="rId5"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image" Target="../media/image-90-2.png"/><Relationship Id="rId3" Type="http://schemas.openxmlformats.org/officeDocument/2006/relationships/image" Target="../media/image-90-3.png"/><Relationship Id="rId4" Type="http://schemas.openxmlformats.org/officeDocument/2006/relationships/image" Target="../media/image-90-4.png"/><Relationship Id="rId5" Type="http://schemas.openxmlformats.org/officeDocument/2006/relationships/image" Target="../media/image-90-5.png"/><Relationship Id="rId6" Type="http://schemas.openxmlformats.org/officeDocument/2006/relationships/image" Target="../media/image-90-6.png"/><Relationship Id="rId7" Type="http://schemas.openxmlformats.org/officeDocument/2006/relationships/slideLayout" Target="../slideLayouts/slideLayout1.xml"/><Relationship Id="rId8" Type="http://schemas.openxmlformats.org/officeDocument/2006/relationships/notesSlide" Target="../notesSlides/notesSlide9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7863840" y="-685800"/>
            <a:ext cx="4206240" cy="4206240"/>
          </a:xfrm>
          <a:prstGeom prst="ellipse">
            <a:avLst/>
          </a:prstGeom>
          <a:solidFill>
            <a:srgbClr val="13233F"/>
          </a:solidFill>
          <a:ln w="12700">
            <a:solidFill>
              <a:srgbClr val="B08D57">
                <a:alpha val="12000"/>
              </a:srgbClr>
            </a:solidFill>
            <a:prstDash val="solid"/>
          </a:ln>
        </p:spPr>
      </p:sp>
      <p:sp>
        <p:nvSpPr>
          <p:cNvPr id="3" name="Shape 1"/>
          <p:cNvSpPr/>
          <p:nvPr/>
        </p:nvSpPr>
        <p:spPr>
          <a:xfrm>
            <a:off x="8503920" y="-45720"/>
            <a:ext cx="2926080" cy="2926080"/>
          </a:xfrm>
          <a:prstGeom prst="ellipse">
            <a:avLst/>
          </a:prstGeom>
          <a:solidFill>
            <a:srgbClr val="13233F"/>
          </a:solidFill>
          <a:ln w="12700">
            <a:solidFill>
              <a:srgbClr val="B08D57">
                <a:alpha val="18000"/>
              </a:srgbClr>
            </a:solidFill>
            <a:prstDash val="solid"/>
          </a:ln>
        </p:spPr>
      </p:sp>
      <p:sp>
        <p:nvSpPr>
          <p:cNvPr id="4" name="Shape 2"/>
          <p:cNvSpPr/>
          <p:nvPr/>
        </p:nvSpPr>
        <p:spPr>
          <a:xfrm>
            <a:off x="9098280" y="548640"/>
            <a:ext cx="1737360" cy="1737360"/>
          </a:xfrm>
          <a:prstGeom prst="ellipse">
            <a:avLst/>
          </a:prstGeom>
          <a:solidFill>
            <a:srgbClr val="13233F"/>
          </a:solidFill>
          <a:ln w="12700">
            <a:solidFill>
              <a:srgbClr val="B08D57">
                <a:alpha val="26000"/>
              </a:srgbClr>
            </a:solidFill>
            <a:prstDash val="solid"/>
          </a:ln>
        </p:spPr>
      </p:sp>
      <p:pic>
        <p:nvPicPr>
          <p:cNvPr id="5" name="Image 0" descr="preencoded.png">    </p:cNvPr>
          <p:cNvPicPr>
            <a:picLocks noChangeAspect="1"/>
          </p:cNvPicPr>
          <p:nvPr/>
        </p:nvPicPr>
        <p:blipFill>
          <a:blip r:embed="rId1"/>
          <a:stretch>
            <a:fillRect/>
          </a:stretch>
        </p:blipFill>
        <p:spPr>
          <a:xfrm>
            <a:off x="9006840" y="457200"/>
            <a:ext cx="1920240" cy="1920240"/>
          </a:xfrm>
          <a:prstGeom prst="rect">
            <a:avLst/>
          </a:prstGeom>
        </p:spPr>
      </p:pic>
      <p:sp>
        <p:nvSpPr>
          <p:cNvPr id="6" name="Text 3"/>
          <p:cNvSpPr/>
          <p:nvPr/>
        </p:nvSpPr>
        <p:spPr>
          <a:xfrm>
            <a:off x="612648" y="1691640"/>
            <a:ext cx="7863840" cy="292608"/>
          </a:xfrm>
          <a:prstGeom prst="rect">
            <a:avLst/>
          </a:prstGeom>
          <a:noFill/>
          <a:ln/>
        </p:spPr>
        <p:txBody>
          <a:bodyPr wrap="square" lIns="0" tIns="0" rIns="0" bIns="0" rtlCol="0" anchor="ctr"/>
          <a:lstStyle/>
          <a:p>
            <a:pPr indent="0" marL="0">
              <a:buNone/>
            </a:pPr>
            <a:r>
              <a:rPr lang="en-US" sz="1500" b="1" spc="300" kern="0" dirty="0">
                <a:solidFill>
                  <a:srgbClr val="D9C29B"/>
                </a:solidFill>
                <a:latin typeface="微软雅黑" pitchFamily="34" charset="0"/>
                <a:ea typeface="微软雅黑" pitchFamily="34" charset="-122"/>
                <a:cs typeface="微软雅黑" pitchFamily="34" charset="-120"/>
              </a:rPr>
              <a:t>法学专业核心必修课</a:t>
            </a:r>
            <a:endParaRPr lang="en-US" sz="1500" dirty="0"/>
          </a:p>
        </p:txBody>
      </p:sp>
      <p:sp>
        <p:nvSpPr>
          <p:cNvPr id="7" name="Text 4"/>
          <p:cNvSpPr/>
          <p:nvPr/>
        </p:nvSpPr>
        <p:spPr>
          <a:xfrm>
            <a:off x="566928" y="2084832"/>
            <a:ext cx="8229600" cy="1371600"/>
          </a:xfrm>
          <a:prstGeom prst="rect">
            <a:avLst/>
          </a:prstGeom>
          <a:noFill/>
          <a:ln/>
        </p:spPr>
        <p:txBody>
          <a:bodyPr wrap="square" lIns="0" tIns="0" rIns="0" bIns="0" rtlCol="0" anchor="t"/>
          <a:lstStyle/>
          <a:p>
            <a:pPr indent="0" marL="0">
              <a:buNone/>
            </a:pPr>
            <a:r>
              <a:rPr lang="en-US" sz="6000" b="1" spc="200" kern="0" dirty="0">
                <a:solidFill>
                  <a:srgbClr val="FFFFFF"/>
                </a:solidFill>
                <a:latin typeface="微软雅黑" pitchFamily="34" charset="0"/>
                <a:ea typeface="微软雅黑" pitchFamily="34" charset="-122"/>
                <a:cs typeface="微软雅黑" pitchFamily="34" charset="-120"/>
              </a:rPr>
              <a:t>法律职业伦理</a:t>
            </a:r>
            <a:endParaRPr lang="en-US" sz="6000" dirty="0"/>
          </a:p>
        </p:txBody>
      </p:sp>
      <p:sp>
        <p:nvSpPr>
          <p:cNvPr id="8" name="Text 5"/>
          <p:cNvSpPr/>
          <p:nvPr/>
        </p:nvSpPr>
        <p:spPr>
          <a:xfrm>
            <a:off x="612648" y="3566160"/>
            <a:ext cx="8229600" cy="457200"/>
          </a:xfrm>
          <a:prstGeom prst="rect">
            <a:avLst/>
          </a:prstGeom>
          <a:noFill/>
          <a:ln/>
        </p:spPr>
        <p:txBody>
          <a:bodyPr wrap="square" lIns="0" tIns="0" rIns="0" bIns="0" rtlCol="0" anchor="ctr"/>
          <a:lstStyle/>
          <a:p>
            <a:pPr indent="0" marL="0">
              <a:buNone/>
            </a:pPr>
            <a:r>
              <a:rPr lang="en-US" sz="1800" dirty="0">
                <a:solidFill>
                  <a:srgbClr val="D9C29B"/>
                </a:solidFill>
                <a:latin typeface="微软雅黑" pitchFamily="34" charset="0"/>
                <a:ea typeface="微软雅黑" pitchFamily="34" charset="-122"/>
                <a:cs typeface="微软雅黑" pitchFamily="34" charset="-120"/>
              </a:rPr>
              <a:t>Legal Profession Ethics ——  法治中国的职业良知</a:t>
            </a:r>
            <a:endParaRPr lang="en-US" sz="1800" dirty="0"/>
          </a:p>
        </p:txBody>
      </p:sp>
      <p:sp>
        <p:nvSpPr>
          <p:cNvPr id="9" name="Shape 6"/>
          <p:cNvSpPr/>
          <p:nvPr/>
        </p:nvSpPr>
        <p:spPr>
          <a:xfrm>
            <a:off x="612648" y="4242816"/>
            <a:ext cx="1229868" cy="420624"/>
          </a:xfrm>
          <a:prstGeom prst="roundRect">
            <a:avLst>
              <a:gd name="adj" fmla="val 50000"/>
            </a:avLst>
          </a:prstGeom>
          <a:solidFill>
            <a:srgbClr val="25395F"/>
          </a:solidFill>
          <a:ln w="12700">
            <a:solidFill>
              <a:srgbClr val="25395F"/>
            </a:solidFill>
            <a:prstDash val="solid"/>
          </a:ln>
        </p:spPr>
      </p:sp>
      <p:sp>
        <p:nvSpPr>
          <p:cNvPr id="10" name="Text 7"/>
          <p:cNvSpPr/>
          <p:nvPr/>
        </p:nvSpPr>
        <p:spPr>
          <a:xfrm>
            <a:off x="612648" y="4242816"/>
            <a:ext cx="1229868" cy="420624"/>
          </a:xfrm>
          <a:prstGeom prst="rect">
            <a:avLst/>
          </a:prstGeom>
          <a:noFill/>
          <a:ln/>
        </p:spPr>
        <p:txBody>
          <a:bodyPr wrap="square" lIns="0" tIns="0" rIns="0" bIns="0" rtlCol="0" anchor="ctr"/>
          <a:lstStyle/>
          <a:p>
            <a:pPr algn="ctr" indent="0" marL="0">
              <a:buNone/>
            </a:pPr>
            <a:r>
              <a:rPr lang="en-US" sz="1300" dirty="0">
                <a:solidFill>
                  <a:srgbClr val="D9C29B"/>
                </a:solidFill>
                <a:latin typeface="微软雅黑" pitchFamily="34" charset="0"/>
                <a:ea typeface="微软雅黑" pitchFamily="34" charset="-122"/>
                <a:cs typeface="微软雅黑" pitchFamily="34" charset="-120"/>
              </a:rPr>
              <a:t>24 课时</a:t>
            </a:r>
            <a:endParaRPr lang="en-US" sz="1300" dirty="0"/>
          </a:p>
        </p:txBody>
      </p:sp>
      <p:sp>
        <p:nvSpPr>
          <p:cNvPr id="11" name="Shape 8"/>
          <p:cNvSpPr/>
          <p:nvPr/>
        </p:nvSpPr>
        <p:spPr>
          <a:xfrm>
            <a:off x="2007108" y="4242816"/>
            <a:ext cx="1060704" cy="420624"/>
          </a:xfrm>
          <a:prstGeom prst="roundRect">
            <a:avLst>
              <a:gd name="adj" fmla="val 50000"/>
            </a:avLst>
          </a:prstGeom>
          <a:solidFill>
            <a:srgbClr val="25395F"/>
          </a:solidFill>
          <a:ln w="12700">
            <a:solidFill>
              <a:srgbClr val="25395F"/>
            </a:solidFill>
            <a:prstDash val="solid"/>
          </a:ln>
        </p:spPr>
      </p:sp>
      <p:sp>
        <p:nvSpPr>
          <p:cNvPr id="12" name="Text 9"/>
          <p:cNvSpPr/>
          <p:nvPr/>
        </p:nvSpPr>
        <p:spPr>
          <a:xfrm>
            <a:off x="2007108" y="4242816"/>
            <a:ext cx="1060704" cy="420624"/>
          </a:xfrm>
          <a:prstGeom prst="rect">
            <a:avLst/>
          </a:prstGeom>
          <a:noFill/>
          <a:ln/>
        </p:spPr>
        <p:txBody>
          <a:bodyPr wrap="square" lIns="0" tIns="0" rIns="0" bIns="0" rtlCol="0" anchor="ctr"/>
          <a:lstStyle/>
          <a:p>
            <a:pPr algn="ctr" indent="0" marL="0">
              <a:buNone/>
            </a:pPr>
            <a:r>
              <a:rPr lang="en-US" sz="1300" dirty="0">
                <a:solidFill>
                  <a:srgbClr val="D9C29B"/>
                </a:solidFill>
                <a:latin typeface="微软雅黑" pitchFamily="34" charset="0"/>
                <a:ea typeface="微软雅黑" pitchFamily="34" charset="-122"/>
                <a:cs typeface="微软雅黑" pitchFamily="34" charset="-120"/>
              </a:rPr>
              <a:t>法学本科</a:t>
            </a:r>
            <a:endParaRPr lang="en-US" sz="1300" dirty="0"/>
          </a:p>
        </p:txBody>
      </p:sp>
      <p:sp>
        <p:nvSpPr>
          <p:cNvPr id="13" name="Shape 10"/>
          <p:cNvSpPr/>
          <p:nvPr/>
        </p:nvSpPr>
        <p:spPr>
          <a:xfrm>
            <a:off x="3232404" y="4242816"/>
            <a:ext cx="1060704" cy="420624"/>
          </a:xfrm>
          <a:prstGeom prst="roundRect">
            <a:avLst>
              <a:gd name="adj" fmla="val 50000"/>
            </a:avLst>
          </a:prstGeom>
          <a:solidFill>
            <a:srgbClr val="25395F"/>
          </a:solidFill>
          <a:ln w="12700">
            <a:solidFill>
              <a:srgbClr val="25395F"/>
            </a:solidFill>
            <a:prstDash val="solid"/>
          </a:ln>
        </p:spPr>
      </p:sp>
      <p:sp>
        <p:nvSpPr>
          <p:cNvPr id="14" name="Text 11"/>
          <p:cNvSpPr/>
          <p:nvPr/>
        </p:nvSpPr>
        <p:spPr>
          <a:xfrm>
            <a:off x="3232404" y="4242816"/>
            <a:ext cx="1060704" cy="420624"/>
          </a:xfrm>
          <a:prstGeom prst="rect">
            <a:avLst/>
          </a:prstGeom>
          <a:noFill/>
          <a:ln/>
        </p:spPr>
        <p:txBody>
          <a:bodyPr wrap="square" lIns="0" tIns="0" rIns="0" bIns="0" rtlCol="0" anchor="ctr"/>
          <a:lstStyle/>
          <a:p>
            <a:pPr algn="ctr" indent="0" marL="0">
              <a:buNone/>
            </a:pPr>
            <a:r>
              <a:rPr lang="en-US" sz="1300" dirty="0">
                <a:solidFill>
                  <a:srgbClr val="D9C29B"/>
                </a:solidFill>
                <a:latin typeface="微软雅黑" pitchFamily="34" charset="0"/>
                <a:ea typeface="微软雅黑" pitchFamily="34" charset="-122"/>
                <a:cs typeface="微软雅黑" pitchFamily="34" charset="-120"/>
              </a:rPr>
              <a:t>专业必修</a:t>
            </a:r>
            <a:endParaRPr lang="en-US" sz="1300" dirty="0"/>
          </a:p>
        </p:txBody>
      </p:sp>
      <p:sp>
        <p:nvSpPr>
          <p:cNvPr id="15" name="Shape 12"/>
          <p:cNvSpPr/>
          <p:nvPr/>
        </p:nvSpPr>
        <p:spPr>
          <a:xfrm>
            <a:off x="4457700" y="4242816"/>
            <a:ext cx="1060704" cy="420624"/>
          </a:xfrm>
          <a:prstGeom prst="roundRect">
            <a:avLst>
              <a:gd name="adj" fmla="val 50000"/>
            </a:avLst>
          </a:prstGeom>
          <a:solidFill>
            <a:srgbClr val="25395F"/>
          </a:solidFill>
          <a:ln w="12700">
            <a:solidFill>
              <a:srgbClr val="25395F"/>
            </a:solidFill>
            <a:prstDash val="solid"/>
          </a:ln>
        </p:spPr>
      </p:sp>
      <p:sp>
        <p:nvSpPr>
          <p:cNvPr id="16" name="Text 13"/>
          <p:cNvSpPr/>
          <p:nvPr/>
        </p:nvSpPr>
        <p:spPr>
          <a:xfrm>
            <a:off x="4457700" y="4242816"/>
            <a:ext cx="1060704" cy="420624"/>
          </a:xfrm>
          <a:prstGeom prst="rect">
            <a:avLst/>
          </a:prstGeom>
          <a:noFill/>
          <a:ln/>
        </p:spPr>
        <p:txBody>
          <a:bodyPr wrap="square" lIns="0" tIns="0" rIns="0" bIns="0" rtlCol="0" anchor="ctr"/>
          <a:lstStyle/>
          <a:p>
            <a:pPr algn="ctr" indent="0" marL="0">
              <a:buNone/>
            </a:pPr>
            <a:r>
              <a:rPr lang="en-US" sz="1300" dirty="0">
                <a:solidFill>
                  <a:srgbClr val="D9C29B"/>
                </a:solidFill>
                <a:latin typeface="微软雅黑" pitchFamily="34" charset="0"/>
                <a:ea typeface="微软雅黑" pitchFamily="34" charset="-122"/>
                <a:cs typeface="微软雅黑" pitchFamily="34" charset="-120"/>
              </a:rPr>
              <a:t>2 学分</a:t>
            </a:r>
            <a:endParaRPr lang="en-US" sz="1300" dirty="0"/>
          </a:p>
        </p:txBody>
      </p:sp>
      <p:sp>
        <p:nvSpPr>
          <p:cNvPr id="17" name="Text 14"/>
          <p:cNvSpPr/>
          <p:nvPr/>
        </p:nvSpPr>
        <p:spPr>
          <a:xfrm>
            <a:off x="612648" y="5248656"/>
            <a:ext cx="5486400" cy="402336"/>
          </a:xfrm>
          <a:prstGeom prst="rect">
            <a:avLst/>
          </a:prstGeom>
          <a:noFill/>
          <a:ln/>
        </p:spPr>
        <p:txBody>
          <a:bodyPr wrap="square" lIns="0" tIns="0" rIns="0" bIns="0" rtlCol="0" anchor="ctr"/>
          <a:lstStyle/>
          <a:p>
            <a:pPr indent="0" marL="0">
              <a:buNone/>
            </a:pPr>
            <a:r>
              <a:rPr lang="en-US" sz="2400" b="1" dirty="0">
                <a:solidFill>
                  <a:srgbClr val="FFFFFF"/>
                </a:solidFill>
                <a:latin typeface="微软雅黑" pitchFamily="34" charset="0"/>
                <a:ea typeface="微软雅黑" pitchFamily="34" charset="-122"/>
                <a:cs typeface="微软雅黑" pitchFamily="34" charset="-120"/>
              </a:rPr>
              <a:t>王晓淑</a:t>
            </a:r>
            <a:endParaRPr lang="en-US" sz="2400" dirty="0"/>
          </a:p>
        </p:txBody>
      </p:sp>
      <p:sp>
        <p:nvSpPr>
          <p:cNvPr id="18" name="Text 15"/>
          <p:cNvSpPr/>
          <p:nvPr/>
        </p:nvSpPr>
        <p:spPr>
          <a:xfrm>
            <a:off x="612648" y="5687568"/>
            <a:ext cx="5486400" cy="310896"/>
          </a:xfrm>
          <a:prstGeom prst="rect">
            <a:avLst/>
          </a:prstGeom>
          <a:noFill/>
          <a:ln/>
        </p:spPr>
        <p:txBody>
          <a:bodyPr wrap="square" lIns="0" tIns="0" rIns="0" bIns="0" rtlCol="0" anchor="ctr"/>
          <a:lstStyle/>
          <a:p>
            <a:pPr indent="0" marL="0">
              <a:buNone/>
            </a:pPr>
            <a:r>
              <a:rPr lang="en-US" sz="1400" dirty="0">
                <a:solidFill>
                  <a:srgbClr val="6B7684"/>
                </a:solidFill>
                <a:latin typeface="微软雅黑" pitchFamily="34" charset="0"/>
                <a:ea typeface="微软雅黑" pitchFamily="34" charset="-122"/>
                <a:cs typeface="微软雅黑" pitchFamily="34" charset="-120"/>
              </a:rPr>
              <a:t>法学院 · 法学专业核心必修课</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课程总览 · COURSE MAP</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五编二十四课时</a:t>
            </a:r>
            <a:endParaRPr lang="en-US" sz="2800" dirty="0"/>
          </a:p>
        </p:txBody>
      </p:sp>
      <p:sp>
        <p:nvSpPr>
          <p:cNvPr id="4" name="Shape 2"/>
          <p:cNvSpPr/>
          <p:nvPr/>
        </p:nvSpPr>
        <p:spPr>
          <a:xfrm>
            <a:off x="566928" y="2359152"/>
            <a:ext cx="5300320" cy="896112"/>
          </a:xfrm>
          <a:prstGeom prst="roundRect">
            <a:avLst>
              <a:gd name="adj" fmla="val 8163"/>
            </a:avLst>
          </a:prstGeom>
          <a:solidFill>
            <a:srgbClr val="F2F4F8"/>
          </a:solidFill>
          <a:ln w="12700">
            <a:solidFill>
              <a:srgbClr val="F2F4F8"/>
            </a:solidFill>
            <a:prstDash val="solid"/>
          </a:ln>
        </p:spPr>
      </p:sp>
      <p:sp>
        <p:nvSpPr>
          <p:cNvPr id="5" name="Shape 3"/>
          <p:cNvSpPr/>
          <p:nvPr/>
        </p:nvSpPr>
        <p:spPr>
          <a:xfrm>
            <a:off x="731520" y="2624328"/>
            <a:ext cx="365760" cy="365760"/>
          </a:xfrm>
          <a:prstGeom prst="ellipse">
            <a:avLst/>
          </a:prstGeom>
          <a:solidFill>
            <a:srgbClr val="B08D57"/>
          </a:solidFill>
          <a:ln w="12700">
            <a:solidFill>
              <a:srgbClr val="B08D57"/>
            </a:solidFill>
            <a:prstDash val="solid"/>
          </a:ln>
        </p:spPr>
      </p:sp>
      <p:sp>
        <p:nvSpPr>
          <p:cNvPr id="6" name="Text 4"/>
          <p:cNvSpPr/>
          <p:nvPr/>
        </p:nvSpPr>
        <p:spPr>
          <a:xfrm>
            <a:off x="731520" y="26243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530983"/>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第一编　总论：法律职业与职业伦理　（第 1—4 课时，共 4 课时）</a:t>
            </a:r>
            <a:endParaRPr lang="en-US" sz="1500" dirty="0"/>
          </a:p>
        </p:txBody>
      </p:sp>
      <p:sp>
        <p:nvSpPr>
          <p:cNvPr id="8" name="Shape 6"/>
          <p:cNvSpPr/>
          <p:nvPr/>
        </p:nvSpPr>
        <p:spPr>
          <a:xfrm>
            <a:off x="566928" y="3401568"/>
            <a:ext cx="5300320" cy="896112"/>
          </a:xfrm>
          <a:prstGeom prst="roundRect">
            <a:avLst>
              <a:gd name="adj" fmla="val 8163"/>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573399"/>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第二编　法官职业伦理　（第 5—8 课时，共 4 课时）</a:t>
            </a:r>
            <a:endParaRPr lang="en-US" sz="1500" dirty="0"/>
          </a:p>
        </p:txBody>
      </p:sp>
      <p:sp>
        <p:nvSpPr>
          <p:cNvPr id="12" name="Shape 10"/>
          <p:cNvSpPr/>
          <p:nvPr/>
        </p:nvSpPr>
        <p:spPr>
          <a:xfrm>
            <a:off x="566928" y="4443984"/>
            <a:ext cx="5300320" cy="896112"/>
          </a:xfrm>
          <a:prstGeom prst="roundRect">
            <a:avLst>
              <a:gd name="adj" fmla="val 8163"/>
            </a:avLst>
          </a:prstGeom>
          <a:solidFill>
            <a:srgbClr val="F2F4F8"/>
          </a:solidFill>
          <a:ln w="12700">
            <a:solidFill>
              <a:srgbClr val="F2F4F8"/>
            </a:solidFill>
            <a:prstDash val="solid"/>
          </a:ln>
        </p:spPr>
      </p:sp>
      <p:sp>
        <p:nvSpPr>
          <p:cNvPr id="13" name="Shape 11"/>
          <p:cNvSpPr/>
          <p:nvPr/>
        </p:nvSpPr>
        <p:spPr>
          <a:xfrm>
            <a:off x="731520" y="4709160"/>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7091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615815"/>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第三编　检察官职业伦理　（第 9—11 课时，共 3 课时）</a:t>
            </a:r>
            <a:endParaRPr lang="en-US" sz="1500" dirty="0"/>
          </a:p>
        </p:txBody>
      </p:sp>
      <p:sp>
        <p:nvSpPr>
          <p:cNvPr id="16" name="Shape 14"/>
          <p:cNvSpPr/>
          <p:nvPr/>
        </p:nvSpPr>
        <p:spPr>
          <a:xfrm>
            <a:off x="6324448" y="2880360"/>
            <a:ext cx="5300320" cy="896112"/>
          </a:xfrm>
          <a:prstGeom prst="roundRect">
            <a:avLst>
              <a:gd name="adj" fmla="val 8163"/>
            </a:avLst>
          </a:prstGeom>
          <a:solidFill>
            <a:srgbClr val="F2F4F8"/>
          </a:solidFill>
          <a:ln w="12700">
            <a:solidFill>
              <a:srgbClr val="F2F4F8"/>
            </a:solidFill>
            <a:prstDash val="solid"/>
          </a:ln>
        </p:spPr>
      </p:sp>
      <p:sp>
        <p:nvSpPr>
          <p:cNvPr id="17" name="Shape 15"/>
          <p:cNvSpPr/>
          <p:nvPr/>
        </p:nvSpPr>
        <p:spPr>
          <a:xfrm>
            <a:off x="6489040" y="3145536"/>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31455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3052191"/>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第四编　律师职业伦理　（第 12—21 课时，共 10 课时）</a:t>
            </a:r>
            <a:endParaRPr lang="en-US" sz="1500" dirty="0"/>
          </a:p>
        </p:txBody>
      </p:sp>
      <p:sp>
        <p:nvSpPr>
          <p:cNvPr id="20" name="Shape 18"/>
          <p:cNvSpPr/>
          <p:nvPr/>
        </p:nvSpPr>
        <p:spPr>
          <a:xfrm>
            <a:off x="6324448" y="3922776"/>
            <a:ext cx="5300320" cy="896112"/>
          </a:xfrm>
          <a:prstGeom prst="roundRect">
            <a:avLst>
              <a:gd name="adj" fmla="val 8163"/>
            </a:avLst>
          </a:prstGeom>
          <a:solidFill>
            <a:srgbClr val="F2F4F8"/>
          </a:solidFill>
          <a:ln w="12700">
            <a:solidFill>
              <a:srgbClr val="F2F4F8"/>
            </a:solidFill>
            <a:prstDash val="solid"/>
          </a:ln>
        </p:spPr>
      </p:sp>
      <p:sp>
        <p:nvSpPr>
          <p:cNvPr id="21" name="Shape 19"/>
          <p:cNvSpPr/>
          <p:nvPr/>
        </p:nvSpPr>
        <p:spPr>
          <a:xfrm>
            <a:off x="6489040" y="4187952"/>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418795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4094607"/>
            <a:ext cx="4459072"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第五编　其他法律职业与伦理责任　（第 22—24 课时，共 3 课时）</a:t>
            </a:r>
            <a:endParaRPr lang="en-US" sz="1500" dirty="0"/>
          </a:p>
        </p:txBody>
      </p:sp>
      <p:sp>
        <p:nvSpPr>
          <p:cNvPr id="24" name="Text 2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课程总览</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729"/>
        </a:solidFill>
      </p:bgPr>
    </p:bg>
    <p:spTree>
      <p:nvGrpSpPr>
        <p:cNvPr id="1" name=""/>
        <p:cNvGrpSpPr/>
        <p:nvPr/>
      </p:nvGrpSpPr>
      <p:grpSpPr>
        <a:xfrm>
          <a:off x="0" y="0"/>
          <a:ext cx="0" cy="0"/>
          <a:chOff x="0" y="0"/>
          <a:chExt cx="0" cy="0"/>
        </a:xfrm>
      </p:grpSpPr>
      <p:sp>
        <p:nvSpPr>
          <p:cNvPr id="2" name="Text 0"/>
          <p:cNvSpPr/>
          <p:nvPr/>
        </p:nvSpPr>
        <p:spPr>
          <a:xfrm>
            <a:off x="566928" y="685800"/>
            <a:ext cx="2926080" cy="1828800"/>
          </a:xfrm>
          <a:prstGeom prst="rect">
            <a:avLst/>
          </a:prstGeom>
          <a:noFill/>
          <a:ln/>
        </p:spPr>
        <p:txBody>
          <a:bodyPr wrap="square" lIns="0" tIns="0" rIns="0" bIns="0" rtlCol="0" anchor="ctr"/>
          <a:lstStyle/>
          <a:p>
            <a:pPr indent="0" marL="0">
              <a:buNone/>
            </a:pPr>
            <a:r>
              <a:rPr lang="en-US" sz="13000" b="1" dirty="0">
                <a:solidFill>
                  <a:srgbClr val="B08D57">
                    <a:alpha val="75000"/>
                  </a:srgbClr>
                </a:solidFill>
                <a:latin typeface="Arial" pitchFamily="34" charset="0"/>
                <a:ea typeface="Arial" pitchFamily="34" charset="-122"/>
                <a:cs typeface="Arial" pitchFamily="34" charset="-120"/>
              </a:rPr>
              <a:t>04</a:t>
            </a:r>
            <a:endParaRPr lang="en-US" sz="13000" dirty="0"/>
          </a:p>
        </p:txBody>
      </p:sp>
      <p:sp>
        <p:nvSpPr>
          <p:cNvPr id="3" name="Text 1"/>
          <p:cNvSpPr/>
          <p:nvPr/>
        </p:nvSpPr>
        <p:spPr>
          <a:xfrm>
            <a:off x="621792" y="2487168"/>
            <a:ext cx="5486400" cy="310896"/>
          </a:xfrm>
          <a:prstGeom prst="rect">
            <a:avLst/>
          </a:prstGeom>
          <a:noFill/>
          <a:ln/>
        </p:spPr>
        <p:txBody>
          <a:bodyPr wrap="square" lIns="0" tIns="0" rIns="0" bIns="0" rtlCol="0" anchor="ctr"/>
          <a:lstStyle/>
          <a:p>
            <a:pPr indent="0" marL="0">
              <a:buNone/>
            </a:pPr>
            <a:r>
              <a:rPr lang="en-US" sz="1450" b="1" spc="300" kern="0" dirty="0">
                <a:solidFill>
                  <a:srgbClr val="B08D57"/>
                </a:solidFill>
                <a:latin typeface="微软雅黑" pitchFamily="34" charset="0"/>
                <a:ea typeface="微软雅黑" pitchFamily="34" charset="-122"/>
                <a:cs typeface="微软雅黑" pitchFamily="34" charset="-120"/>
              </a:rPr>
              <a:t>第四编</a:t>
            </a:r>
            <a:endParaRPr lang="en-US" sz="1450" dirty="0"/>
          </a:p>
        </p:txBody>
      </p:sp>
      <p:sp>
        <p:nvSpPr>
          <p:cNvPr id="4" name="Text 2"/>
          <p:cNvSpPr/>
          <p:nvPr/>
        </p:nvSpPr>
        <p:spPr>
          <a:xfrm>
            <a:off x="566928" y="2834640"/>
            <a:ext cx="7315200" cy="629412"/>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律师职业伦理</a:t>
            </a:r>
            <a:endParaRPr lang="en-US" sz="4200" dirty="0"/>
          </a:p>
        </p:txBody>
      </p:sp>
      <p:sp>
        <p:nvSpPr>
          <p:cNvPr id="5" name="Text 3"/>
          <p:cNvSpPr/>
          <p:nvPr/>
        </p:nvSpPr>
        <p:spPr>
          <a:xfrm>
            <a:off x="603504" y="3592068"/>
            <a:ext cx="7315200" cy="822960"/>
          </a:xfrm>
          <a:prstGeom prst="rect">
            <a:avLst/>
          </a:prstGeom>
          <a:noFill/>
          <a:ln/>
        </p:spPr>
        <p:txBody>
          <a:bodyPr wrap="square" lIns="0" tIns="0" rIns="0" bIns="0" rtlCol="0" anchor="ctr"/>
          <a:lstStyle/>
          <a:p>
            <a:pPr indent="0" marL="0">
              <a:lnSpc>
                <a:spcPts val="2400"/>
              </a:lnSpc>
              <a:buNone/>
            </a:pPr>
            <a:r>
              <a:rPr lang="en-US" sz="1500" dirty="0">
                <a:solidFill>
                  <a:srgbClr val="D9C29B"/>
                </a:solidFill>
                <a:latin typeface="微软雅黑" pitchFamily="34" charset="0"/>
                <a:ea typeface="微软雅黑" pitchFamily="34" charset="-122"/>
                <a:cs typeface="微软雅黑" pitchFamily="34" charset="-120"/>
              </a:rPr>
              <a:t>委托关系、保密、利益冲突、收费、争讼——律师伦理的五大支柱</a:t>
            </a:r>
            <a:endParaRPr lang="en-US" sz="1500" dirty="0"/>
          </a:p>
        </p:txBody>
      </p:sp>
      <p:sp>
        <p:nvSpPr>
          <p:cNvPr id="6" name="Shape 4"/>
          <p:cNvSpPr/>
          <p:nvPr/>
        </p:nvSpPr>
        <p:spPr>
          <a:xfrm>
            <a:off x="8183880" y="1188720"/>
            <a:ext cx="3440887" cy="4480560"/>
          </a:xfrm>
          <a:prstGeom prst="roundRect">
            <a:avLst>
              <a:gd name="adj" fmla="val 3189"/>
            </a:avLst>
          </a:prstGeom>
          <a:solidFill>
            <a:srgbClr val="13233F"/>
          </a:solidFill>
          <a:ln w="12700">
            <a:solidFill>
              <a:srgbClr val="13233F"/>
            </a:solidFill>
            <a:prstDash val="solid"/>
          </a:ln>
        </p:spPr>
      </p:sp>
      <p:sp>
        <p:nvSpPr>
          <p:cNvPr id="7" name="Text 5"/>
          <p:cNvSpPr/>
          <p:nvPr/>
        </p:nvSpPr>
        <p:spPr>
          <a:xfrm>
            <a:off x="8494776" y="1481328"/>
            <a:ext cx="2819095"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本编课时</a:t>
            </a:r>
            <a:endParaRPr lang="en-US" sz="1250" dirty="0"/>
          </a:p>
        </p:txBody>
      </p:sp>
      <p:sp>
        <p:nvSpPr>
          <p:cNvPr id="8" name="Text 6"/>
          <p:cNvSpPr/>
          <p:nvPr/>
        </p:nvSpPr>
        <p:spPr>
          <a:xfrm>
            <a:off x="8476488" y="1883664"/>
            <a:ext cx="310896" cy="237744"/>
          </a:xfrm>
          <a:prstGeom prst="rect">
            <a:avLst/>
          </a:prstGeom>
          <a:noFill/>
          <a:ln/>
        </p:spPr>
        <p:txBody>
          <a:bodyPr wrap="square" lIns="0" tIns="0" rIns="0" bIns="0" rtlCol="0" anchor="ctr"/>
          <a:lstStyle/>
          <a:p>
            <a:pPr indent="0" marL="0">
              <a:buNone/>
            </a:pPr>
            <a:r>
              <a:rPr lang="en-US" sz="850" b="1" dirty="0">
                <a:solidFill>
                  <a:srgbClr val="B08D57"/>
                </a:solidFill>
                <a:latin typeface="Arial" pitchFamily="34" charset="0"/>
                <a:ea typeface="Arial" pitchFamily="34" charset="-122"/>
                <a:cs typeface="Arial" pitchFamily="34" charset="-120"/>
              </a:rPr>
              <a:t>1</a:t>
            </a:r>
            <a:endParaRPr lang="en-US" sz="850" dirty="0"/>
          </a:p>
        </p:txBody>
      </p:sp>
      <p:sp>
        <p:nvSpPr>
          <p:cNvPr id="9" name="Text 7"/>
          <p:cNvSpPr/>
          <p:nvPr/>
        </p:nvSpPr>
        <p:spPr>
          <a:xfrm>
            <a:off x="8823960" y="1883664"/>
            <a:ext cx="2508199" cy="349885"/>
          </a:xfrm>
          <a:prstGeom prst="rect">
            <a:avLst/>
          </a:prstGeom>
          <a:noFill/>
          <a:ln/>
        </p:spPr>
        <p:txBody>
          <a:bodyPr wrap="square" lIns="0" tIns="0" rIns="0" bIns="0" rtlCol="0" anchor="t"/>
          <a:lstStyle/>
          <a:p>
            <a:pPr indent="0" marL="0">
              <a:lnSpc>
                <a:spcPts val="1378"/>
              </a:lnSpc>
              <a:buNone/>
            </a:pPr>
            <a:r>
              <a:rPr lang="en-US" sz="950" dirty="0">
                <a:solidFill>
                  <a:srgbClr val="E4E9F1"/>
                </a:solidFill>
                <a:latin typeface="微软雅黑" pitchFamily="34" charset="0"/>
                <a:ea typeface="微软雅黑" pitchFamily="34" charset="-122"/>
                <a:cs typeface="微软雅黑" pitchFamily="34" charset="-120"/>
              </a:rPr>
              <a:t>第12课时　律师制度、律师职业伦理的性质与渊源</a:t>
            </a:r>
            <a:endParaRPr lang="en-US" sz="950" dirty="0"/>
          </a:p>
        </p:txBody>
      </p:sp>
      <p:sp>
        <p:nvSpPr>
          <p:cNvPr id="10" name="Text 8"/>
          <p:cNvSpPr/>
          <p:nvPr/>
        </p:nvSpPr>
        <p:spPr>
          <a:xfrm>
            <a:off x="8476488" y="2370709"/>
            <a:ext cx="310896" cy="237744"/>
          </a:xfrm>
          <a:prstGeom prst="rect">
            <a:avLst/>
          </a:prstGeom>
          <a:noFill/>
          <a:ln/>
        </p:spPr>
        <p:txBody>
          <a:bodyPr wrap="square" lIns="0" tIns="0" rIns="0" bIns="0" rtlCol="0" anchor="ctr"/>
          <a:lstStyle/>
          <a:p>
            <a:pPr indent="0" marL="0">
              <a:buNone/>
            </a:pPr>
            <a:r>
              <a:rPr lang="en-US" sz="850" b="1" dirty="0">
                <a:solidFill>
                  <a:srgbClr val="B08D57"/>
                </a:solidFill>
                <a:latin typeface="Arial" pitchFamily="34" charset="0"/>
                <a:ea typeface="Arial" pitchFamily="34" charset="-122"/>
                <a:cs typeface="Arial" pitchFamily="34" charset="-120"/>
              </a:rPr>
              <a:t>2</a:t>
            </a:r>
            <a:endParaRPr lang="en-US" sz="850" dirty="0"/>
          </a:p>
        </p:txBody>
      </p:sp>
      <p:sp>
        <p:nvSpPr>
          <p:cNvPr id="11" name="Text 9"/>
          <p:cNvSpPr/>
          <p:nvPr/>
        </p:nvSpPr>
        <p:spPr>
          <a:xfrm>
            <a:off x="8823960" y="2370709"/>
            <a:ext cx="2508199" cy="174943"/>
          </a:xfrm>
          <a:prstGeom prst="rect">
            <a:avLst/>
          </a:prstGeom>
          <a:noFill/>
          <a:ln/>
        </p:spPr>
        <p:txBody>
          <a:bodyPr wrap="square" lIns="0" tIns="0" rIns="0" bIns="0" rtlCol="0" anchor="t"/>
          <a:lstStyle/>
          <a:p>
            <a:pPr indent="0" marL="0">
              <a:lnSpc>
                <a:spcPts val="1378"/>
              </a:lnSpc>
              <a:buNone/>
            </a:pPr>
            <a:r>
              <a:rPr lang="en-US" sz="950" dirty="0">
                <a:solidFill>
                  <a:srgbClr val="E4E9F1"/>
                </a:solidFill>
                <a:latin typeface="微软雅黑" pitchFamily="34" charset="0"/>
                <a:ea typeface="微软雅黑" pitchFamily="34" charset="-122"/>
                <a:cs typeface="微软雅黑" pitchFamily="34" charset="-120"/>
              </a:rPr>
              <a:t>第13课时　律师的使命与基本执业行为规范</a:t>
            </a:r>
            <a:endParaRPr lang="en-US" sz="950" dirty="0"/>
          </a:p>
        </p:txBody>
      </p:sp>
      <p:sp>
        <p:nvSpPr>
          <p:cNvPr id="12" name="Text 10"/>
          <p:cNvSpPr/>
          <p:nvPr/>
        </p:nvSpPr>
        <p:spPr>
          <a:xfrm>
            <a:off x="8476488" y="2682811"/>
            <a:ext cx="310896" cy="237744"/>
          </a:xfrm>
          <a:prstGeom prst="rect">
            <a:avLst/>
          </a:prstGeom>
          <a:noFill/>
          <a:ln/>
        </p:spPr>
        <p:txBody>
          <a:bodyPr wrap="square" lIns="0" tIns="0" rIns="0" bIns="0" rtlCol="0" anchor="ctr"/>
          <a:lstStyle/>
          <a:p>
            <a:pPr indent="0" marL="0">
              <a:buNone/>
            </a:pPr>
            <a:r>
              <a:rPr lang="en-US" sz="850" b="1" dirty="0">
                <a:solidFill>
                  <a:srgbClr val="B08D57"/>
                </a:solidFill>
                <a:latin typeface="Arial" pitchFamily="34" charset="0"/>
                <a:ea typeface="Arial" pitchFamily="34" charset="-122"/>
                <a:cs typeface="Arial" pitchFamily="34" charset="-120"/>
              </a:rPr>
              <a:t>3</a:t>
            </a:r>
            <a:endParaRPr lang="en-US" sz="850" dirty="0"/>
          </a:p>
        </p:txBody>
      </p:sp>
      <p:sp>
        <p:nvSpPr>
          <p:cNvPr id="13" name="Text 11"/>
          <p:cNvSpPr/>
          <p:nvPr/>
        </p:nvSpPr>
        <p:spPr>
          <a:xfrm>
            <a:off x="8823960" y="2682811"/>
            <a:ext cx="2508199" cy="349885"/>
          </a:xfrm>
          <a:prstGeom prst="rect">
            <a:avLst/>
          </a:prstGeom>
          <a:noFill/>
          <a:ln/>
        </p:spPr>
        <p:txBody>
          <a:bodyPr wrap="square" lIns="0" tIns="0" rIns="0" bIns="0" rtlCol="0" anchor="t"/>
          <a:lstStyle/>
          <a:p>
            <a:pPr indent="0" marL="0">
              <a:lnSpc>
                <a:spcPts val="1378"/>
              </a:lnSpc>
              <a:buNone/>
            </a:pPr>
            <a:r>
              <a:rPr lang="en-US" sz="950" dirty="0">
                <a:solidFill>
                  <a:srgbClr val="E4E9F1"/>
                </a:solidFill>
                <a:latin typeface="微软雅黑" pitchFamily="34" charset="0"/>
                <a:ea typeface="微软雅黑" pitchFamily="34" charset="-122"/>
                <a:cs typeface="微软雅黑" pitchFamily="34" charset="-120"/>
              </a:rPr>
              <a:t>第14课时　委托人—律师关系（一）：关系的建立与业务推广</a:t>
            </a:r>
            <a:endParaRPr lang="en-US" sz="950" dirty="0"/>
          </a:p>
        </p:txBody>
      </p:sp>
      <p:sp>
        <p:nvSpPr>
          <p:cNvPr id="14" name="Text 12"/>
          <p:cNvSpPr/>
          <p:nvPr/>
        </p:nvSpPr>
        <p:spPr>
          <a:xfrm>
            <a:off x="8476488" y="3169857"/>
            <a:ext cx="310896" cy="237744"/>
          </a:xfrm>
          <a:prstGeom prst="rect">
            <a:avLst/>
          </a:prstGeom>
          <a:noFill/>
          <a:ln/>
        </p:spPr>
        <p:txBody>
          <a:bodyPr wrap="square" lIns="0" tIns="0" rIns="0" bIns="0" rtlCol="0" anchor="ctr"/>
          <a:lstStyle/>
          <a:p>
            <a:pPr indent="0" marL="0">
              <a:buNone/>
            </a:pPr>
            <a:r>
              <a:rPr lang="en-US" sz="850" b="1" dirty="0">
                <a:solidFill>
                  <a:srgbClr val="B08D57"/>
                </a:solidFill>
                <a:latin typeface="Arial" pitchFamily="34" charset="0"/>
                <a:ea typeface="Arial" pitchFamily="34" charset="-122"/>
                <a:cs typeface="Arial" pitchFamily="34" charset="-120"/>
              </a:rPr>
              <a:t>4</a:t>
            </a:r>
            <a:endParaRPr lang="en-US" sz="850" dirty="0"/>
          </a:p>
        </p:txBody>
      </p:sp>
      <p:sp>
        <p:nvSpPr>
          <p:cNvPr id="15" name="Text 13"/>
          <p:cNvSpPr/>
          <p:nvPr/>
        </p:nvSpPr>
        <p:spPr>
          <a:xfrm>
            <a:off x="8823960" y="3169857"/>
            <a:ext cx="2508199" cy="349885"/>
          </a:xfrm>
          <a:prstGeom prst="rect">
            <a:avLst/>
          </a:prstGeom>
          <a:noFill/>
          <a:ln/>
        </p:spPr>
        <p:txBody>
          <a:bodyPr wrap="square" lIns="0" tIns="0" rIns="0" bIns="0" rtlCol="0" anchor="t"/>
          <a:lstStyle/>
          <a:p>
            <a:pPr indent="0" marL="0">
              <a:lnSpc>
                <a:spcPts val="1378"/>
              </a:lnSpc>
              <a:buNone/>
            </a:pPr>
            <a:r>
              <a:rPr lang="en-US" sz="950" dirty="0">
                <a:solidFill>
                  <a:srgbClr val="E4E9F1"/>
                </a:solidFill>
                <a:latin typeface="微软雅黑" pitchFamily="34" charset="0"/>
                <a:ea typeface="微软雅黑" pitchFamily="34" charset="-122"/>
                <a:cs typeface="微软雅黑" pitchFamily="34" charset="-120"/>
              </a:rPr>
              <a:t>第15课时　委托人—律师关系（二）：忠诚、勤勉、告知与关系终止</a:t>
            </a:r>
            <a:endParaRPr lang="en-US" sz="950" dirty="0"/>
          </a:p>
        </p:txBody>
      </p:sp>
      <p:sp>
        <p:nvSpPr>
          <p:cNvPr id="16" name="Text 14"/>
          <p:cNvSpPr/>
          <p:nvPr/>
        </p:nvSpPr>
        <p:spPr>
          <a:xfrm>
            <a:off x="8476488" y="3656902"/>
            <a:ext cx="310896" cy="237744"/>
          </a:xfrm>
          <a:prstGeom prst="rect">
            <a:avLst/>
          </a:prstGeom>
          <a:noFill/>
          <a:ln/>
        </p:spPr>
        <p:txBody>
          <a:bodyPr wrap="square" lIns="0" tIns="0" rIns="0" bIns="0" rtlCol="0" anchor="ctr"/>
          <a:lstStyle/>
          <a:p>
            <a:pPr indent="0" marL="0">
              <a:buNone/>
            </a:pPr>
            <a:r>
              <a:rPr lang="en-US" sz="850" b="1" dirty="0">
                <a:solidFill>
                  <a:srgbClr val="B08D57"/>
                </a:solidFill>
                <a:latin typeface="Arial" pitchFamily="34" charset="0"/>
                <a:ea typeface="Arial" pitchFamily="34" charset="-122"/>
                <a:cs typeface="Arial" pitchFamily="34" charset="-120"/>
              </a:rPr>
              <a:t>5</a:t>
            </a:r>
            <a:endParaRPr lang="en-US" sz="850" dirty="0"/>
          </a:p>
        </p:txBody>
      </p:sp>
      <p:sp>
        <p:nvSpPr>
          <p:cNvPr id="17" name="Text 15"/>
          <p:cNvSpPr/>
          <p:nvPr/>
        </p:nvSpPr>
        <p:spPr>
          <a:xfrm>
            <a:off x="8823960" y="3656902"/>
            <a:ext cx="2508199" cy="174943"/>
          </a:xfrm>
          <a:prstGeom prst="rect">
            <a:avLst/>
          </a:prstGeom>
          <a:noFill/>
          <a:ln/>
        </p:spPr>
        <p:txBody>
          <a:bodyPr wrap="square" lIns="0" tIns="0" rIns="0" bIns="0" rtlCol="0" anchor="t"/>
          <a:lstStyle/>
          <a:p>
            <a:pPr indent="0" marL="0">
              <a:lnSpc>
                <a:spcPts val="1378"/>
              </a:lnSpc>
              <a:buNone/>
            </a:pPr>
            <a:r>
              <a:rPr lang="en-US" sz="950" dirty="0">
                <a:solidFill>
                  <a:srgbClr val="E4E9F1"/>
                </a:solidFill>
                <a:latin typeface="微软雅黑" pitchFamily="34" charset="0"/>
                <a:ea typeface="微软雅黑" pitchFamily="34" charset="-122"/>
                <a:cs typeface="微软雅黑" pitchFamily="34" charset="-120"/>
              </a:rPr>
              <a:t>第16课时　律师保密义务</a:t>
            </a:r>
            <a:endParaRPr lang="en-US" sz="950" dirty="0"/>
          </a:p>
        </p:txBody>
      </p:sp>
      <p:sp>
        <p:nvSpPr>
          <p:cNvPr id="18" name="Text 16"/>
          <p:cNvSpPr/>
          <p:nvPr/>
        </p:nvSpPr>
        <p:spPr>
          <a:xfrm>
            <a:off x="8476488" y="3969004"/>
            <a:ext cx="310896" cy="237744"/>
          </a:xfrm>
          <a:prstGeom prst="rect">
            <a:avLst/>
          </a:prstGeom>
          <a:noFill/>
          <a:ln/>
        </p:spPr>
        <p:txBody>
          <a:bodyPr wrap="square" lIns="0" tIns="0" rIns="0" bIns="0" rtlCol="0" anchor="ctr"/>
          <a:lstStyle/>
          <a:p>
            <a:pPr indent="0" marL="0">
              <a:buNone/>
            </a:pPr>
            <a:r>
              <a:rPr lang="en-US" sz="850" b="1" dirty="0">
                <a:solidFill>
                  <a:srgbClr val="B08D57"/>
                </a:solidFill>
                <a:latin typeface="Arial" pitchFamily="34" charset="0"/>
                <a:ea typeface="Arial" pitchFamily="34" charset="-122"/>
                <a:cs typeface="Arial" pitchFamily="34" charset="-120"/>
              </a:rPr>
              <a:t>6</a:t>
            </a:r>
            <a:endParaRPr lang="en-US" sz="850" dirty="0"/>
          </a:p>
        </p:txBody>
      </p:sp>
      <p:sp>
        <p:nvSpPr>
          <p:cNvPr id="19" name="Text 17"/>
          <p:cNvSpPr/>
          <p:nvPr/>
        </p:nvSpPr>
        <p:spPr>
          <a:xfrm>
            <a:off x="8823960" y="3969004"/>
            <a:ext cx="2508199" cy="349885"/>
          </a:xfrm>
          <a:prstGeom prst="rect">
            <a:avLst/>
          </a:prstGeom>
          <a:noFill/>
          <a:ln/>
        </p:spPr>
        <p:txBody>
          <a:bodyPr wrap="square" lIns="0" tIns="0" rIns="0" bIns="0" rtlCol="0" anchor="t"/>
          <a:lstStyle/>
          <a:p>
            <a:pPr indent="0" marL="0">
              <a:lnSpc>
                <a:spcPts val="1378"/>
              </a:lnSpc>
              <a:buNone/>
            </a:pPr>
            <a:r>
              <a:rPr lang="en-US" sz="950" dirty="0">
                <a:solidFill>
                  <a:srgbClr val="E4E9F1"/>
                </a:solidFill>
                <a:latin typeface="微软雅黑" pitchFamily="34" charset="0"/>
                <a:ea typeface="微软雅黑" pitchFamily="34" charset="-122"/>
                <a:cs typeface="微软雅黑" pitchFamily="34" charset="-120"/>
              </a:rPr>
              <a:t>第17课时　利益冲突（一）：法理基础、类型与判断标准</a:t>
            </a:r>
            <a:endParaRPr lang="en-US" sz="950" dirty="0"/>
          </a:p>
        </p:txBody>
      </p:sp>
      <p:sp>
        <p:nvSpPr>
          <p:cNvPr id="20" name="Text 18"/>
          <p:cNvSpPr/>
          <p:nvPr/>
        </p:nvSpPr>
        <p:spPr>
          <a:xfrm>
            <a:off x="8476488" y="4456049"/>
            <a:ext cx="310896" cy="237744"/>
          </a:xfrm>
          <a:prstGeom prst="rect">
            <a:avLst/>
          </a:prstGeom>
          <a:noFill/>
          <a:ln/>
        </p:spPr>
        <p:txBody>
          <a:bodyPr wrap="square" lIns="0" tIns="0" rIns="0" bIns="0" rtlCol="0" anchor="ctr"/>
          <a:lstStyle/>
          <a:p>
            <a:pPr indent="0" marL="0">
              <a:buNone/>
            </a:pPr>
            <a:r>
              <a:rPr lang="en-US" sz="850" b="1" dirty="0">
                <a:solidFill>
                  <a:srgbClr val="B08D57"/>
                </a:solidFill>
                <a:latin typeface="Arial" pitchFamily="34" charset="0"/>
                <a:ea typeface="Arial" pitchFamily="34" charset="-122"/>
                <a:cs typeface="Arial" pitchFamily="34" charset="-120"/>
              </a:rPr>
              <a:t>7</a:t>
            </a:r>
            <a:endParaRPr lang="en-US" sz="850" dirty="0"/>
          </a:p>
        </p:txBody>
      </p:sp>
      <p:sp>
        <p:nvSpPr>
          <p:cNvPr id="21" name="Text 19"/>
          <p:cNvSpPr/>
          <p:nvPr/>
        </p:nvSpPr>
        <p:spPr>
          <a:xfrm>
            <a:off x="8823960" y="4456049"/>
            <a:ext cx="2508199" cy="349885"/>
          </a:xfrm>
          <a:prstGeom prst="rect">
            <a:avLst/>
          </a:prstGeom>
          <a:noFill/>
          <a:ln/>
        </p:spPr>
        <p:txBody>
          <a:bodyPr wrap="square" lIns="0" tIns="0" rIns="0" bIns="0" rtlCol="0" anchor="t"/>
          <a:lstStyle/>
          <a:p>
            <a:pPr indent="0" marL="0">
              <a:lnSpc>
                <a:spcPts val="1378"/>
              </a:lnSpc>
              <a:buNone/>
            </a:pPr>
            <a:r>
              <a:rPr lang="en-US" sz="950" dirty="0">
                <a:solidFill>
                  <a:srgbClr val="E4E9F1"/>
                </a:solidFill>
                <a:latin typeface="微软雅黑" pitchFamily="34" charset="0"/>
                <a:ea typeface="微软雅黑" pitchFamily="34" charset="-122"/>
                <a:cs typeface="微软雅黑" pitchFamily="34" charset="-120"/>
              </a:rPr>
              <a:t>第18课时　利益冲突（二）：特殊情形、冲突审查与豁免</a:t>
            </a:r>
            <a:endParaRPr lang="en-US" sz="950" dirty="0"/>
          </a:p>
        </p:txBody>
      </p:sp>
      <p:sp>
        <p:nvSpPr>
          <p:cNvPr id="22" name="Text 20"/>
          <p:cNvSpPr/>
          <p:nvPr/>
        </p:nvSpPr>
        <p:spPr>
          <a:xfrm>
            <a:off x="8476488" y="4943094"/>
            <a:ext cx="310896" cy="237744"/>
          </a:xfrm>
          <a:prstGeom prst="rect">
            <a:avLst/>
          </a:prstGeom>
          <a:noFill/>
          <a:ln/>
        </p:spPr>
        <p:txBody>
          <a:bodyPr wrap="square" lIns="0" tIns="0" rIns="0" bIns="0" rtlCol="0" anchor="ctr"/>
          <a:lstStyle/>
          <a:p>
            <a:pPr indent="0" marL="0">
              <a:buNone/>
            </a:pPr>
            <a:r>
              <a:rPr lang="en-US" sz="850" b="1" dirty="0">
                <a:solidFill>
                  <a:srgbClr val="B08D57"/>
                </a:solidFill>
                <a:latin typeface="Arial" pitchFamily="34" charset="0"/>
                <a:ea typeface="Arial" pitchFamily="34" charset="-122"/>
                <a:cs typeface="Arial" pitchFamily="34" charset="-120"/>
              </a:rPr>
              <a:t>8</a:t>
            </a:r>
            <a:endParaRPr lang="en-US" sz="850" dirty="0"/>
          </a:p>
        </p:txBody>
      </p:sp>
      <p:sp>
        <p:nvSpPr>
          <p:cNvPr id="23" name="Text 21"/>
          <p:cNvSpPr/>
          <p:nvPr/>
        </p:nvSpPr>
        <p:spPr>
          <a:xfrm>
            <a:off x="8823960" y="4943094"/>
            <a:ext cx="2508199" cy="174943"/>
          </a:xfrm>
          <a:prstGeom prst="rect">
            <a:avLst/>
          </a:prstGeom>
          <a:noFill/>
          <a:ln/>
        </p:spPr>
        <p:txBody>
          <a:bodyPr wrap="square" lIns="0" tIns="0" rIns="0" bIns="0" rtlCol="0" anchor="t"/>
          <a:lstStyle/>
          <a:p>
            <a:pPr indent="0" marL="0">
              <a:lnSpc>
                <a:spcPts val="1378"/>
              </a:lnSpc>
              <a:buNone/>
            </a:pPr>
            <a:r>
              <a:rPr lang="en-US" sz="950" dirty="0">
                <a:solidFill>
                  <a:srgbClr val="E4E9F1"/>
                </a:solidFill>
                <a:latin typeface="微软雅黑" pitchFamily="34" charset="0"/>
                <a:ea typeface="微软雅黑" pitchFamily="34" charset="-122"/>
                <a:cs typeface="微软雅黑" pitchFamily="34" charset="-120"/>
              </a:rPr>
              <a:t>第19课时　律师服务收费与财物保管</a:t>
            </a:r>
            <a:endParaRPr lang="en-US" sz="950" dirty="0"/>
          </a:p>
        </p:txBody>
      </p:sp>
      <p:sp>
        <p:nvSpPr>
          <p:cNvPr id="24" name="Text 22"/>
          <p:cNvSpPr/>
          <p:nvPr/>
        </p:nvSpPr>
        <p:spPr>
          <a:xfrm>
            <a:off x="8476488" y="5255197"/>
            <a:ext cx="310896" cy="237744"/>
          </a:xfrm>
          <a:prstGeom prst="rect">
            <a:avLst/>
          </a:prstGeom>
          <a:noFill/>
          <a:ln/>
        </p:spPr>
        <p:txBody>
          <a:bodyPr wrap="square" lIns="0" tIns="0" rIns="0" bIns="0" rtlCol="0" anchor="ctr"/>
          <a:lstStyle/>
          <a:p>
            <a:pPr indent="0" marL="0">
              <a:buNone/>
            </a:pPr>
            <a:r>
              <a:rPr lang="en-US" sz="850" b="1" dirty="0">
                <a:solidFill>
                  <a:srgbClr val="B08D57"/>
                </a:solidFill>
                <a:latin typeface="Arial" pitchFamily="34" charset="0"/>
                <a:ea typeface="Arial" pitchFamily="34" charset="-122"/>
                <a:cs typeface="Arial" pitchFamily="34" charset="-120"/>
              </a:rPr>
              <a:t>9</a:t>
            </a:r>
            <a:endParaRPr lang="en-US" sz="850" dirty="0"/>
          </a:p>
        </p:txBody>
      </p:sp>
      <p:sp>
        <p:nvSpPr>
          <p:cNvPr id="25" name="Text 23"/>
          <p:cNvSpPr/>
          <p:nvPr/>
        </p:nvSpPr>
        <p:spPr>
          <a:xfrm>
            <a:off x="8823960" y="5255197"/>
            <a:ext cx="2508199" cy="349885"/>
          </a:xfrm>
          <a:prstGeom prst="rect">
            <a:avLst/>
          </a:prstGeom>
          <a:noFill/>
          <a:ln/>
        </p:spPr>
        <p:txBody>
          <a:bodyPr wrap="square" lIns="0" tIns="0" rIns="0" bIns="0" rtlCol="0" anchor="t"/>
          <a:lstStyle/>
          <a:p>
            <a:pPr indent="0" marL="0">
              <a:lnSpc>
                <a:spcPts val="1378"/>
              </a:lnSpc>
              <a:buNone/>
            </a:pPr>
            <a:r>
              <a:rPr lang="en-US" sz="950" dirty="0">
                <a:solidFill>
                  <a:srgbClr val="E4E9F1"/>
                </a:solidFill>
                <a:latin typeface="微软雅黑" pitchFamily="34" charset="0"/>
                <a:ea typeface="微软雅黑" pitchFamily="34" charset="-122"/>
                <a:cs typeface="微软雅黑" pitchFamily="34" charset="-120"/>
              </a:rPr>
              <a:t>第20课时　争讼业务伦理：对法庭、对方、证人与媒体的义务</a:t>
            </a:r>
            <a:endParaRPr lang="en-US" sz="950" dirty="0"/>
          </a:p>
        </p:txBody>
      </p:sp>
      <p:sp>
        <p:nvSpPr>
          <p:cNvPr id="26" name="Text 24"/>
          <p:cNvSpPr/>
          <p:nvPr/>
        </p:nvSpPr>
        <p:spPr>
          <a:xfrm>
            <a:off x="8476488" y="5742242"/>
            <a:ext cx="310896" cy="237744"/>
          </a:xfrm>
          <a:prstGeom prst="rect">
            <a:avLst/>
          </a:prstGeom>
          <a:noFill/>
          <a:ln/>
        </p:spPr>
        <p:txBody>
          <a:bodyPr wrap="square" lIns="0" tIns="0" rIns="0" bIns="0" rtlCol="0" anchor="ctr"/>
          <a:lstStyle/>
          <a:p>
            <a:pPr indent="0" marL="0">
              <a:buNone/>
            </a:pPr>
            <a:r>
              <a:rPr lang="en-US" sz="850" b="1" dirty="0">
                <a:solidFill>
                  <a:srgbClr val="B08D57"/>
                </a:solidFill>
                <a:latin typeface="Arial" pitchFamily="34" charset="0"/>
                <a:ea typeface="Arial" pitchFamily="34" charset="-122"/>
                <a:cs typeface="Arial" pitchFamily="34" charset="-120"/>
              </a:rPr>
              <a:t>10</a:t>
            </a:r>
            <a:endParaRPr lang="en-US" sz="850" dirty="0"/>
          </a:p>
        </p:txBody>
      </p:sp>
      <p:sp>
        <p:nvSpPr>
          <p:cNvPr id="27" name="Text 25"/>
          <p:cNvSpPr/>
          <p:nvPr/>
        </p:nvSpPr>
        <p:spPr>
          <a:xfrm>
            <a:off x="8823960" y="5742242"/>
            <a:ext cx="2508199" cy="349885"/>
          </a:xfrm>
          <a:prstGeom prst="rect">
            <a:avLst/>
          </a:prstGeom>
          <a:noFill/>
          <a:ln/>
        </p:spPr>
        <p:txBody>
          <a:bodyPr wrap="square" lIns="0" tIns="0" rIns="0" bIns="0" rtlCol="0" anchor="t"/>
          <a:lstStyle/>
          <a:p>
            <a:pPr indent="0" marL="0">
              <a:lnSpc>
                <a:spcPts val="1378"/>
              </a:lnSpc>
              <a:buNone/>
            </a:pPr>
            <a:r>
              <a:rPr lang="en-US" sz="950" dirty="0">
                <a:solidFill>
                  <a:srgbClr val="E4E9F1"/>
                </a:solidFill>
                <a:latin typeface="微软雅黑" pitchFamily="34" charset="0"/>
                <a:ea typeface="微软雅黑" pitchFamily="34" charset="-122"/>
                <a:cs typeface="微软雅黑" pitchFamily="34" charset="-120"/>
              </a:rPr>
              <a:t>第21课时　律师事务所治理、律师协会与司法行政管理</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266635"/>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第17课时</a:t>
            </a:r>
            <a:endParaRPr lang="en-US" sz="1600" dirty="0"/>
          </a:p>
        </p:txBody>
      </p:sp>
      <p:sp>
        <p:nvSpPr>
          <p:cNvPr id="4" name="Text 2"/>
          <p:cNvSpPr/>
          <p:nvPr/>
        </p:nvSpPr>
        <p:spPr>
          <a:xfrm>
            <a:off x="566928" y="1687259"/>
            <a:ext cx="9326880" cy="1258824"/>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利益冲突（一）：法理基础、类型与判断标准</a:t>
            </a:r>
            <a:endParaRPr lang="en-US" sz="4200" dirty="0"/>
          </a:p>
        </p:txBody>
      </p:sp>
      <p:sp>
        <p:nvSpPr>
          <p:cNvPr id="5" name="Text 3"/>
          <p:cNvSpPr/>
          <p:nvPr/>
        </p:nvSpPr>
        <p:spPr>
          <a:xfrm>
            <a:off x="603504" y="3202115"/>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一个人不能同时为两个方向奔跑——利益冲突规则是忠诚义务最具技术性的展开</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什么是利益冲突：三种利益的角力</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四大类型：同时代理、前后委托、自身利益、第三人影响</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绝对禁止与相对禁止：可否经同意豁免</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冲突规则的原理与地图</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一、什么是利益冲突</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二、法理基础：忠诚与保密的双重支撑</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三、我国的规范体系</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四、类型一：同时代理型冲突</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五、类型二至四：前后委托、自身利益、第三人影响</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六、判断标准与案例研讨</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02</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什么是利益冲突</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冲突指向的是“风险”，而不是“已经发生的损害”</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03</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定义</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利益冲突的定义与三个要素</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利益冲突，是指律师对某一委托人的忠诚义务，因存在其他利益而面临被实质性削弱的风险。</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要素一：存在一项忠诚义务。 前提是律师与某人之间已经或者曾经存在委托关系（含未成案的实质性咨询）。</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要素二：存在另一项相竞争的利益。 可能来自另一委托人、律师自身，或者第三人。</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要素三：该竞争利益足以对忠诚义务的履行产生实质影响的风险。</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请特别注意“风险”二字：冲突规则规制的是可能性，而不要求已经发生实际损害。这与外观中立原理完全一致——因为“是否已经被影响”无法查证，只能以客观情形推定。</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因此，“我保证会公平对待双方”“我不会偏心”这类承诺，在冲突规则面前没有任何意义。规则不问你的主观意愿，只问客观处境。</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04</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三种利益</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与委托人利益相竞争的三类利益</a:t>
            </a:r>
            <a:endParaRPr lang="en-US" sz="2800" dirty="0"/>
          </a:p>
        </p:txBody>
      </p:sp>
      <p:sp>
        <p:nvSpPr>
          <p:cNvPr id="4" name="Shape 2"/>
          <p:cNvSpPr/>
          <p:nvPr/>
        </p:nvSpPr>
        <p:spPr>
          <a:xfrm>
            <a:off x="566928" y="2320036"/>
            <a:ext cx="3527450" cy="3059176"/>
          </a:xfrm>
          <a:prstGeom prst="roundRect">
            <a:avLst>
              <a:gd name="adj" fmla="val 2989"/>
            </a:avLst>
          </a:prstGeom>
          <a:solidFill>
            <a:srgbClr val="F2F4F8"/>
          </a:solidFill>
          <a:ln w="12700">
            <a:solidFill>
              <a:srgbClr val="F2F4F8"/>
            </a:solidFill>
            <a:prstDash val="solid"/>
          </a:ln>
        </p:spPr>
      </p:sp>
      <p:sp>
        <p:nvSpPr>
          <p:cNvPr id="5" name="Shape 3"/>
          <p:cNvSpPr/>
          <p:nvPr/>
        </p:nvSpPr>
        <p:spPr>
          <a:xfrm>
            <a:off x="886968" y="2612644"/>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2749804"/>
            <a:ext cx="182880" cy="182880"/>
          </a:xfrm>
          <a:prstGeom prst="rect">
            <a:avLst/>
          </a:prstGeom>
        </p:spPr>
      </p:pic>
      <p:sp>
        <p:nvSpPr>
          <p:cNvPr id="7" name="Text 4"/>
          <p:cNvSpPr/>
          <p:nvPr/>
        </p:nvSpPr>
        <p:spPr>
          <a:xfrm>
            <a:off x="886968" y="3234436"/>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其他委托人的利益</a:t>
            </a:r>
            <a:endParaRPr lang="en-US" sz="1700" dirty="0"/>
          </a:p>
        </p:txBody>
      </p:sp>
      <p:sp>
        <p:nvSpPr>
          <p:cNvPr id="8" name="Text 5"/>
          <p:cNvSpPr/>
          <p:nvPr/>
        </p:nvSpPr>
        <p:spPr>
          <a:xfrm>
            <a:off x="886968" y="3632327"/>
            <a:ext cx="2887370" cy="1527429"/>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同时或者先后代理利益相互对立的当事人。这是最典型、也最容易识别的一类，包括同案双方、关联案件的对立方、以及内部存在分歧的共同委托人。</a:t>
            </a:r>
            <a:endParaRPr lang="en-US" sz="1450" dirty="0"/>
          </a:p>
        </p:txBody>
      </p:sp>
      <p:sp>
        <p:nvSpPr>
          <p:cNvPr id="9" name="Shape 6"/>
          <p:cNvSpPr/>
          <p:nvPr/>
        </p:nvSpPr>
        <p:spPr>
          <a:xfrm>
            <a:off x="4332122" y="2320036"/>
            <a:ext cx="3527450" cy="3059176"/>
          </a:xfrm>
          <a:prstGeom prst="roundRect">
            <a:avLst>
              <a:gd name="adj" fmla="val 2989"/>
            </a:avLst>
          </a:prstGeom>
          <a:solidFill>
            <a:srgbClr val="F6F1E8"/>
          </a:solidFill>
          <a:ln w="12700">
            <a:solidFill>
              <a:srgbClr val="F6F1E8"/>
            </a:solidFill>
            <a:prstDash val="solid"/>
          </a:ln>
        </p:spPr>
      </p:sp>
      <p:sp>
        <p:nvSpPr>
          <p:cNvPr id="10" name="Shape 7"/>
          <p:cNvSpPr/>
          <p:nvPr/>
        </p:nvSpPr>
        <p:spPr>
          <a:xfrm>
            <a:off x="4652162" y="2612644"/>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4789322" y="2749804"/>
            <a:ext cx="182880" cy="182880"/>
          </a:xfrm>
          <a:prstGeom prst="rect">
            <a:avLst/>
          </a:prstGeom>
        </p:spPr>
      </p:pic>
      <p:sp>
        <p:nvSpPr>
          <p:cNvPr id="12" name="Text 8"/>
          <p:cNvSpPr/>
          <p:nvPr/>
        </p:nvSpPr>
        <p:spPr>
          <a:xfrm>
            <a:off x="4652162" y="3234436"/>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律师自身的利益</a:t>
            </a:r>
            <a:endParaRPr lang="en-US" sz="1700" dirty="0"/>
          </a:p>
        </p:txBody>
      </p:sp>
      <p:sp>
        <p:nvSpPr>
          <p:cNvPr id="13" name="Text 9"/>
          <p:cNvSpPr/>
          <p:nvPr/>
        </p:nvSpPr>
        <p:spPr>
          <a:xfrm>
            <a:off x="4652162" y="3632327"/>
            <a:ext cx="2887370" cy="1527429"/>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律师与委托人存在交易、借贷、投资关系；律师或者其近亲属与案件结果有经济上的利害关系；律师在对方当事人处任职或者持股；律师有承揽后续业务的期待。</a:t>
            </a:r>
            <a:endParaRPr lang="en-US" sz="1450" dirty="0"/>
          </a:p>
        </p:txBody>
      </p:sp>
      <p:sp>
        <p:nvSpPr>
          <p:cNvPr id="14" name="Shape 10"/>
          <p:cNvSpPr/>
          <p:nvPr/>
        </p:nvSpPr>
        <p:spPr>
          <a:xfrm>
            <a:off x="8097317" y="2320036"/>
            <a:ext cx="3527450" cy="3059176"/>
          </a:xfrm>
          <a:prstGeom prst="roundRect">
            <a:avLst>
              <a:gd name="adj" fmla="val 2989"/>
            </a:avLst>
          </a:prstGeom>
          <a:solidFill>
            <a:srgbClr val="ECF3F2"/>
          </a:solidFill>
          <a:ln w="12700">
            <a:solidFill>
              <a:srgbClr val="ECF3F2"/>
            </a:solidFill>
            <a:prstDash val="solid"/>
          </a:ln>
        </p:spPr>
      </p:sp>
      <p:sp>
        <p:nvSpPr>
          <p:cNvPr id="15" name="Shape 11"/>
          <p:cNvSpPr/>
          <p:nvPr/>
        </p:nvSpPr>
        <p:spPr>
          <a:xfrm>
            <a:off x="8417357" y="2612644"/>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8554517" y="2749804"/>
            <a:ext cx="182880" cy="182880"/>
          </a:xfrm>
          <a:prstGeom prst="rect">
            <a:avLst/>
          </a:prstGeom>
        </p:spPr>
      </p:pic>
      <p:sp>
        <p:nvSpPr>
          <p:cNvPr id="17" name="Text 12"/>
          <p:cNvSpPr/>
          <p:nvPr/>
        </p:nvSpPr>
        <p:spPr>
          <a:xfrm>
            <a:off x="8417357" y="3234436"/>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第三人的利益</a:t>
            </a:r>
            <a:endParaRPr lang="en-US" sz="1700" dirty="0"/>
          </a:p>
        </p:txBody>
      </p:sp>
      <p:sp>
        <p:nvSpPr>
          <p:cNvPr id="18" name="Text 13"/>
          <p:cNvSpPr/>
          <p:nvPr/>
        </p:nvSpPr>
        <p:spPr>
          <a:xfrm>
            <a:off x="8417357" y="3632327"/>
            <a:ext cx="2887370" cy="1527429"/>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第三方付费者的意愿；律师担任常年法律顾问的其他单位；律师的介绍人、合作方；以及律师在其他社会职务中承担的义务。</a:t>
            </a:r>
            <a:endParaRPr lang="en-US" sz="145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05</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法理基础：忠诚与保密的双重支撑</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为什么冲突规则如此刚性</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06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两条根据</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冲突规则的两个法理支点</a:t>
            </a:r>
            <a:endParaRPr lang="en-US" sz="2800" dirty="0"/>
          </a:p>
        </p:txBody>
      </p:sp>
      <p:sp>
        <p:nvSpPr>
          <p:cNvPr id="4" name="Shape 2"/>
          <p:cNvSpPr/>
          <p:nvPr/>
        </p:nvSpPr>
        <p:spPr>
          <a:xfrm>
            <a:off x="566928" y="1938020"/>
            <a:ext cx="5410048" cy="3823208"/>
          </a:xfrm>
          <a:prstGeom prst="roundRect">
            <a:avLst>
              <a:gd name="adj" fmla="val 2392"/>
            </a:avLst>
          </a:prstGeom>
          <a:solidFill>
            <a:srgbClr val="F2F4F8"/>
          </a:solidFill>
          <a:ln w="12700">
            <a:solidFill>
              <a:srgbClr val="F2F4F8"/>
            </a:solidFill>
            <a:prstDash val="solid"/>
          </a:ln>
        </p:spPr>
      </p:sp>
      <p:sp>
        <p:nvSpPr>
          <p:cNvPr id="5" name="Shape 3"/>
          <p:cNvSpPr/>
          <p:nvPr/>
        </p:nvSpPr>
        <p:spPr>
          <a:xfrm>
            <a:off x="841248" y="2194052"/>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194052"/>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忠诚义务：一心不能二用</a:t>
            </a:r>
            <a:endParaRPr lang="en-US" sz="1600" dirty="0"/>
          </a:p>
        </p:txBody>
      </p:sp>
      <p:sp>
        <p:nvSpPr>
          <p:cNvPr id="7" name="Text 5"/>
          <p:cNvSpPr/>
          <p:nvPr/>
        </p:nvSpPr>
        <p:spPr>
          <a:xfrm>
            <a:off x="932688" y="2852420"/>
            <a:ext cx="4678528" cy="267106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信义关系要求律师将委托人利益置于自身与他人利益之上。</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同时服务于对立的两方，意味着无论如何行动都会损害其中一方。</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即使律师主观上想公平，客观上也无法为双方各自争取最大利益——因为二者是此消彼长的。</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推论：这类冲突原则上不能通过“更努力”来克服，只能通过退出来解决。</a:t>
            </a:r>
            <a:endParaRPr lang="en-US" sz="1450" dirty="0"/>
          </a:p>
        </p:txBody>
      </p:sp>
      <p:sp>
        <p:nvSpPr>
          <p:cNvPr id="8" name="Shape 6"/>
          <p:cNvSpPr/>
          <p:nvPr/>
        </p:nvSpPr>
        <p:spPr>
          <a:xfrm>
            <a:off x="6214720" y="1938020"/>
            <a:ext cx="5410048" cy="3823208"/>
          </a:xfrm>
          <a:prstGeom prst="roundRect">
            <a:avLst>
              <a:gd name="adj" fmla="val 2392"/>
            </a:avLst>
          </a:prstGeom>
          <a:solidFill>
            <a:srgbClr val="F6F1E8"/>
          </a:solidFill>
          <a:ln w="12700">
            <a:solidFill>
              <a:srgbClr val="F6F1E8"/>
            </a:solidFill>
            <a:prstDash val="solid"/>
          </a:ln>
        </p:spPr>
      </p:sp>
      <p:sp>
        <p:nvSpPr>
          <p:cNvPr id="9" name="Shape 7"/>
          <p:cNvSpPr/>
          <p:nvPr/>
        </p:nvSpPr>
        <p:spPr>
          <a:xfrm>
            <a:off x="6489040" y="2194052"/>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194052"/>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保密义务：信息不能反向使用</a:t>
            </a:r>
            <a:endParaRPr lang="en-US" sz="1600" dirty="0"/>
          </a:p>
        </p:txBody>
      </p:sp>
      <p:sp>
        <p:nvSpPr>
          <p:cNvPr id="11" name="Text 9"/>
          <p:cNvSpPr/>
          <p:nvPr/>
        </p:nvSpPr>
        <p:spPr>
          <a:xfrm>
            <a:off x="6580480" y="2852420"/>
            <a:ext cx="4678528" cy="2671064"/>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律师因代理甲而知悉甲的弱点、底线与策略。</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若其后代理乙对抗甲，即使律师不主动使用该信息，也无法保证判断不受影响。</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而且，律师无法向乙充分说明自己的处境（说明本身即泄密），乙的“同意”因此不可能是充分知情的。</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推论：前后委托型冲突的核心不是忠诚，而是保密——这是第18课时的重点。</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07</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3233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58368" y="1621536"/>
            <a:ext cx="749808" cy="749808"/>
          </a:xfrm>
          <a:prstGeom prst="rect">
            <a:avLst/>
          </a:prstGeom>
        </p:spPr>
      </p:pic>
      <p:sp>
        <p:nvSpPr>
          <p:cNvPr id="3" name="Text 0"/>
          <p:cNvSpPr/>
          <p:nvPr/>
        </p:nvSpPr>
        <p:spPr>
          <a:xfrm>
            <a:off x="1298448" y="2700528"/>
            <a:ext cx="9594799" cy="1219200"/>
          </a:xfrm>
          <a:prstGeom prst="rect">
            <a:avLst/>
          </a:prstGeom>
          <a:noFill/>
          <a:ln/>
        </p:spPr>
        <p:txBody>
          <a:bodyPr wrap="square" lIns="0" tIns="0" rIns="0" bIns="0" rtlCol="0" anchor="t"/>
          <a:lstStyle/>
          <a:p>
            <a:pPr indent="0" marL="0">
              <a:lnSpc>
                <a:spcPts val="4800"/>
              </a:lnSpc>
              <a:buNone/>
            </a:pPr>
            <a:r>
              <a:rPr lang="en-US" sz="3200" dirty="0">
                <a:solidFill>
                  <a:srgbClr val="FFFFFF"/>
                </a:solidFill>
                <a:latin typeface="微软雅黑" pitchFamily="34" charset="0"/>
                <a:ea typeface="微软雅黑" pitchFamily="34" charset="-122"/>
                <a:cs typeface="微软雅黑" pitchFamily="34" charset="-120"/>
              </a:rPr>
              <a:t>冲突规则保护的不是律师的清白，而是委托人的信赖，以及公众对法律职业整体可托付性的信心。</a:t>
            </a:r>
            <a:endParaRPr lang="en-US" sz="3200" dirty="0"/>
          </a:p>
        </p:txBody>
      </p:sp>
      <p:sp>
        <p:nvSpPr>
          <p:cNvPr id="4" name="Text 1"/>
          <p:cNvSpPr/>
          <p:nvPr/>
        </p:nvSpPr>
        <p:spPr>
          <a:xfrm>
            <a:off x="1335024" y="4285488"/>
            <a:ext cx="9594799" cy="365760"/>
          </a:xfrm>
          <a:prstGeom prst="rect">
            <a:avLst/>
          </a:prstGeom>
          <a:noFill/>
          <a:ln/>
        </p:spPr>
        <p:txBody>
          <a:bodyPr wrap="square" lIns="0" tIns="0" rIns="0" bIns="0" rtlCol="0" anchor="ctr"/>
          <a:lstStyle/>
          <a:p>
            <a:pPr indent="0" marL="0">
              <a:buNone/>
            </a:pPr>
            <a:r>
              <a:rPr lang="en-US" sz="1700" b="1" dirty="0">
                <a:solidFill>
                  <a:srgbClr val="B08D57"/>
                </a:solidFill>
                <a:latin typeface="微软雅黑" pitchFamily="34" charset="0"/>
                <a:ea typeface="微软雅黑" pitchFamily="34" charset="-122"/>
                <a:cs typeface="微软雅黑" pitchFamily="34" charset="-120"/>
              </a:rPr>
              <a:t>—— 利益冲突规则的价值归属</a:t>
            </a:r>
            <a:endParaRPr lang="en-US" sz="1700" dirty="0"/>
          </a:p>
        </p:txBody>
      </p:sp>
      <p:sp>
        <p:nvSpPr>
          <p:cNvPr id="5" name="Text 2"/>
          <p:cNvSpPr/>
          <p:nvPr/>
        </p:nvSpPr>
        <p:spPr>
          <a:xfrm>
            <a:off x="1335024" y="4687824"/>
            <a:ext cx="9594799" cy="347472"/>
          </a:xfrm>
          <a:prstGeom prst="rect">
            <a:avLst/>
          </a:prstGeom>
          <a:noFill/>
          <a:ln/>
        </p:spPr>
        <p:txBody>
          <a:bodyPr wrap="square" lIns="0" tIns="0" rIns="0" bIns="0" rtlCol="0" anchor="ctr"/>
          <a:lstStyle/>
          <a:p>
            <a:pPr indent="0" marL="0">
              <a:buNone/>
            </a:pPr>
            <a:r>
              <a:rPr lang="en-US" sz="1300" dirty="0">
                <a:solidFill>
                  <a:srgbClr val="6B7684"/>
                </a:solidFill>
                <a:latin typeface="微软雅黑" pitchFamily="34" charset="0"/>
                <a:ea typeface="微软雅黑" pitchFamily="34" charset="-122"/>
                <a:cs typeface="微软雅黑" pitchFamily="34" charset="-120"/>
              </a:rPr>
              <a:t>正因为如此，当事人的个别谅解不足以正当化一切冲突——有些冲突损害的是制度，而不只是当事人</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我国的规范体系</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从《律师法》的原则规定到行业规范的类型化列举</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09</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法律层</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《律师法》第三十九条：原则性禁止</a:t>
            </a:r>
            <a:endParaRPr lang="en-US" sz="2800" dirty="0"/>
          </a:p>
        </p:txBody>
      </p:sp>
      <p:sp>
        <p:nvSpPr>
          <p:cNvPr id="4" name="Shape 2"/>
          <p:cNvSpPr/>
          <p:nvPr/>
        </p:nvSpPr>
        <p:spPr>
          <a:xfrm>
            <a:off x="566928" y="2259140"/>
            <a:ext cx="11057839" cy="1566291"/>
          </a:xfrm>
          <a:prstGeom prst="roundRect">
            <a:avLst>
              <a:gd name="adj" fmla="val 5838"/>
            </a:avLst>
          </a:prstGeom>
          <a:solidFill>
            <a:srgbClr val="F6F1E8"/>
          </a:solidFill>
          <a:ln w="12700">
            <a:solidFill>
              <a:srgbClr val="F6F1E8"/>
            </a:solidFill>
            <a:prstDash val="solid"/>
          </a:ln>
        </p:spPr>
      </p:sp>
      <p:sp>
        <p:nvSpPr>
          <p:cNvPr id="5" name="Shape 3"/>
          <p:cNvSpPr/>
          <p:nvPr/>
        </p:nvSpPr>
        <p:spPr>
          <a:xfrm>
            <a:off x="877824" y="2496884"/>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2496884"/>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2478596"/>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《中华人民共和国律师法》第三十九条</a:t>
            </a:r>
            <a:endParaRPr lang="en-US" sz="1500" dirty="0"/>
          </a:p>
        </p:txBody>
      </p:sp>
      <p:sp>
        <p:nvSpPr>
          <p:cNvPr id="8" name="Text 6"/>
          <p:cNvSpPr/>
          <p:nvPr/>
        </p:nvSpPr>
        <p:spPr>
          <a:xfrm>
            <a:off x="960120" y="2899220"/>
            <a:ext cx="10271455" cy="706755"/>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律师不得在同一案件中为双方当事人担任代理人，不得代理与本人或者其近亲属有利益冲突的法律事务。</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这一条只规定了两种最核心的情形：同案双方代理（双向代理）、与本人或近亲属有利益冲突的事务。它是原则性规定，具体的类型化列举由行业规范完成。请注意“同一案件”这一限定——在实务中，什么算“同一案件”往往是争议焦点：关联案件、后续案件、同一交易衍生的多个纠纷，是否属于“同一案件”？答案需要借助行业规范与实质关联性标准来确定。</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10</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行业规范层</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《律师执业行为规范》的双层结构</a:t>
            </a:r>
            <a:endParaRPr lang="en-US" sz="2800" dirty="0"/>
          </a:p>
        </p:txBody>
      </p:sp>
      <p:sp>
        <p:nvSpPr>
          <p:cNvPr id="4" name="Shape 2"/>
          <p:cNvSpPr/>
          <p:nvPr/>
        </p:nvSpPr>
        <p:spPr>
          <a:xfrm>
            <a:off x="566928" y="1316736"/>
            <a:ext cx="11057839" cy="1305497"/>
          </a:xfrm>
          <a:prstGeom prst="roundRect">
            <a:avLst>
              <a:gd name="adj" fmla="val 7004"/>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《律师执业行为规范》第五十条（回避）</a:t>
            </a:r>
            <a:endParaRPr lang="en-US" sz="1500" dirty="0"/>
          </a:p>
        </p:txBody>
      </p:sp>
      <p:sp>
        <p:nvSpPr>
          <p:cNvPr id="8" name="Text 6"/>
          <p:cNvSpPr/>
          <p:nvPr/>
        </p:nvSpPr>
        <p:spPr>
          <a:xfrm>
            <a:off x="960120" y="1956816"/>
            <a:ext cx="10271455" cy="445961"/>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办理委托事务的律师与委托人之间存在利害关系或者利益冲突的，不得承办该业务并应当主动提出回避。</a:t>
            </a:r>
            <a:endParaRPr lang="en-US" sz="1150" dirty="0"/>
          </a:p>
        </p:txBody>
      </p:sp>
      <p:sp>
        <p:nvSpPr>
          <p:cNvPr id="9" name="Shape 7"/>
          <p:cNvSpPr/>
          <p:nvPr/>
        </p:nvSpPr>
        <p:spPr>
          <a:xfrm>
            <a:off x="566928" y="2805113"/>
            <a:ext cx="11057839" cy="1962722"/>
          </a:xfrm>
          <a:prstGeom prst="roundRect">
            <a:avLst>
              <a:gd name="adj" fmla="val 4659"/>
            </a:avLst>
          </a:prstGeom>
          <a:solidFill>
            <a:srgbClr val="F6F1E8"/>
          </a:solidFill>
          <a:ln w="12700">
            <a:solidFill>
              <a:srgbClr val="F6F1E8"/>
            </a:solidFill>
            <a:prstDash val="solid"/>
          </a:ln>
        </p:spPr>
      </p:sp>
      <p:sp>
        <p:nvSpPr>
          <p:cNvPr id="10" name="Shape 8"/>
          <p:cNvSpPr/>
          <p:nvPr/>
        </p:nvSpPr>
        <p:spPr>
          <a:xfrm>
            <a:off x="877824" y="3042857"/>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3042857"/>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3024569"/>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《律师执业行为规范》第五十一条（绝对禁止，不得建立或者继续保持委托关系）</a:t>
            </a:r>
            <a:endParaRPr lang="en-US" sz="1500" dirty="0"/>
          </a:p>
        </p:txBody>
      </p:sp>
      <p:sp>
        <p:nvSpPr>
          <p:cNvPr id="13" name="Text 11"/>
          <p:cNvSpPr/>
          <p:nvPr/>
        </p:nvSpPr>
        <p:spPr>
          <a:xfrm>
            <a:off x="960120" y="3445193"/>
            <a:ext cx="10271455" cy="1103186"/>
          </a:xfrm>
          <a:prstGeom prst="rect">
            <a:avLst/>
          </a:prstGeom>
          <a:noFill/>
          <a:ln/>
        </p:spPr>
        <p:txBody>
          <a:bodyPr wrap="square" lIns="0" tIns="0" rIns="0" bIns="0" rtlCol="0" anchor="t"/>
          <a:lstStyle/>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（一）律师在同一案件中为双方当事人担任代理人，或者代理与本人或者其近亲属有利益冲突的法律事务的；</a:t>
            </a:r>
            <a:endParaRPr lang="en-US" sz="1150" dirty="0"/>
          </a:p>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（二）律师办理诉讼或者非诉讼业务，其近亲属是对方当事人的法定代表人或者代理人的；</a:t>
            </a:r>
            <a:endParaRPr lang="en-US" sz="1150" dirty="0"/>
          </a:p>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（三）曾经亲自处理或者审理过某一事项或者案件的行政机关工作人员、审判人员、检察人员、仲裁员，成为律师后又办理该事项或者案件的；</a:t>
            </a:r>
            <a:endParaRPr lang="en-US" sz="1150" dirty="0"/>
          </a:p>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（四）同一律师事务所的不同律师同时在同一刑事案件中担任被害人的代理人和犯罪嫌疑人、被告人的辩护人的（县域内仅有一家律师事务所且当事人事先同意的除外）；</a:t>
            </a:r>
            <a:endParaRPr lang="en-US" sz="1150" dirty="0"/>
          </a:p>
          <a:p>
            <a:pPr indent="0" marL="0">
              <a:lnSpc>
                <a:spcPts val="1725"/>
              </a:lnSpc>
              <a:buNone/>
            </a:pPr>
            <a:r>
              <a:rPr lang="en-US" sz="1150" dirty="0">
                <a:solidFill>
                  <a:srgbClr val="32404F"/>
                </a:solidFill>
                <a:latin typeface="微软雅黑" pitchFamily="34" charset="0"/>
                <a:ea typeface="微软雅黑" pitchFamily="34" charset="-122"/>
                <a:cs typeface="微软雅黑" pitchFamily="34" charset="-120"/>
              </a:rPr>
              <a:t>（五）同一律师事务所的不同律师同时担任民事诉讼、行政诉讼或者仲裁案件双方当事人的代理人的。</a:t>
            </a:r>
            <a:endParaRPr lang="en-US" sz="1150" dirty="0"/>
          </a:p>
        </p:txBody>
      </p:sp>
      <p:sp>
        <p:nvSpPr>
          <p:cNvPr id="14" name="Shape 12"/>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5" name="Text 13"/>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6" name="Text 14"/>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第五十一条属于绝对禁止情形——不得建立，已建立的必须终止，且原则上不因当事人同意而正当化（第四项的县域独家例外除外）。与之相对，第五十二条规定了一类相对禁止情形：律师应当告知委托人并主动提出回避，但委托人同意继续代理的除外。绝对禁止与相对禁止的分野，是我国冲突规则最重要的结构，第18课时将详细展开。</a:t>
            </a:r>
            <a:endParaRPr lang="en-US" sz="1400" dirty="0"/>
          </a:p>
        </p:txBody>
      </p:sp>
      <p:sp>
        <p:nvSpPr>
          <p:cNvPr id="17" name="Text 1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11</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类型一：同时代理型冲突</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最典型、最刚性、最不容妥协的一类</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12</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四种情形</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同时代理型冲突的具体形态</a:t>
            </a:r>
            <a:endParaRPr lang="en-US" sz="2800" dirty="0"/>
          </a:p>
        </p:txBody>
      </p:sp>
      <p:sp>
        <p:nvSpPr>
          <p:cNvPr id="4" name="Shape 2"/>
          <p:cNvSpPr/>
          <p:nvPr/>
        </p:nvSpPr>
        <p:spPr>
          <a:xfrm>
            <a:off x="566928" y="1316736"/>
            <a:ext cx="11057839" cy="1156716"/>
          </a:xfrm>
          <a:prstGeom prst="roundRect">
            <a:avLst>
              <a:gd name="adj" fmla="val 6324"/>
            </a:avLst>
          </a:prstGeom>
          <a:solidFill>
            <a:srgbClr val="F2F4F8"/>
          </a:solidFill>
          <a:ln w="12700">
            <a:solidFill>
              <a:srgbClr val="F2F4F8"/>
            </a:solidFill>
            <a:prstDash val="solid"/>
          </a:ln>
        </p:spPr>
      </p:sp>
      <p:sp>
        <p:nvSpPr>
          <p:cNvPr id="5" name="Shape 3"/>
          <p:cNvSpPr/>
          <p:nvPr/>
        </p:nvSpPr>
        <p:spPr>
          <a:xfrm>
            <a:off x="841248" y="163906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92681"/>
            <a:ext cx="204826" cy="204826"/>
          </a:xfrm>
          <a:prstGeom prst="rect">
            <a:avLst/>
          </a:prstGeom>
        </p:spPr>
      </p:pic>
      <p:sp>
        <p:nvSpPr>
          <p:cNvPr id="7" name="Text 4"/>
          <p:cNvSpPr/>
          <p:nvPr/>
        </p:nvSpPr>
        <p:spPr>
          <a:xfrm>
            <a:off x="1536192" y="151047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一、同案双方代理（双向代理）</a:t>
            </a:r>
            <a:endParaRPr lang="en-US" sz="1450" dirty="0"/>
          </a:p>
        </p:txBody>
      </p:sp>
      <p:sp>
        <p:nvSpPr>
          <p:cNvPr id="8" name="Text 5"/>
          <p:cNvSpPr/>
          <p:nvPr/>
        </p:nvSpPr>
        <p:spPr>
          <a:xfrm>
            <a:off x="1536192" y="181933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在同一案件中同时为原告与被告、控方与辩方担任代理人。这是最严重的形态，为《律师法》第三十九条明文禁止，且构成《律师法》第四十七条规定的应予行政处罚的行为。请注意：即使双方均同意，亦不得为之。</a:t>
            </a:r>
            <a:endParaRPr lang="en-US" sz="1250" dirty="0"/>
          </a:p>
        </p:txBody>
      </p:sp>
      <p:sp>
        <p:nvSpPr>
          <p:cNvPr id="9" name="Shape 6"/>
          <p:cNvSpPr/>
          <p:nvPr/>
        </p:nvSpPr>
        <p:spPr>
          <a:xfrm>
            <a:off x="566928" y="2619756"/>
            <a:ext cx="11057839" cy="1156716"/>
          </a:xfrm>
          <a:prstGeom prst="roundRect">
            <a:avLst>
              <a:gd name="adj" fmla="val 6324"/>
            </a:avLst>
          </a:prstGeom>
          <a:solidFill>
            <a:srgbClr val="FFFFFF"/>
          </a:solidFill>
          <a:ln w="12700">
            <a:solidFill>
              <a:srgbClr val="D5DBE5"/>
            </a:solidFill>
            <a:prstDash val="solid"/>
          </a:ln>
        </p:spPr>
      </p:sp>
      <p:sp>
        <p:nvSpPr>
          <p:cNvPr id="10" name="Shape 7"/>
          <p:cNvSpPr/>
          <p:nvPr/>
        </p:nvSpPr>
        <p:spPr>
          <a:xfrm>
            <a:off x="841248" y="294208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095701"/>
            <a:ext cx="204826" cy="204826"/>
          </a:xfrm>
          <a:prstGeom prst="rect">
            <a:avLst/>
          </a:prstGeom>
        </p:spPr>
      </p:pic>
      <p:sp>
        <p:nvSpPr>
          <p:cNvPr id="12" name="Text 8"/>
          <p:cNvSpPr/>
          <p:nvPr/>
        </p:nvSpPr>
        <p:spPr>
          <a:xfrm>
            <a:off x="1536192" y="281349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二、同所不同律师代理双方</a:t>
            </a:r>
            <a:endParaRPr lang="en-US" sz="1450" dirty="0"/>
          </a:p>
        </p:txBody>
      </p:sp>
      <p:sp>
        <p:nvSpPr>
          <p:cNvPr id="13" name="Text 9"/>
          <p:cNvSpPr/>
          <p:nvPr/>
        </p:nvSpPr>
        <p:spPr>
          <a:xfrm>
            <a:off x="1536192" y="312235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冲突的判断单位是“所”而不是“人”。同一律所的不同律师同时代理民事、行政或者仲裁案件的双方当事人，或者在同一刑事案件中分别担任被害人代理人与被告人辩护人，均属禁止（后者有县域独家例外）。</a:t>
            </a:r>
            <a:endParaRPr lang="en-US" sz="1250" dirty="0"/>
          </a:p>
        </p:txBody>
      </p:sp>
      <p:sp>
        <p:nvSpPr>
          <p:cNvPr id="14" name="Shape 10"/>
          <p:cNvSpPr/>
          <p:nvPr/>
        </p:nvSpPr>
        <p:spPr>
          <a:xfrm>
            <a:off x="566928" y="3922776"/>
            <a:ext cx="11057839" cy="1156716"/>
          </a:xfrm>
          <a:prstGeom prst="roundRect">
            <a:avLst>
              <a:gd name="adj" fmla="val 6324"/>
            </a:avLst>
          </a:prstGeom>
          <a:solidFill>
            <a:srgbClr val="F2F4F8"/>
          </a:solidFill>
          <a:ln w="12700">
            <a:solidFill>
              <a:srgbClr val="F2F4F8"/>
            </a:solidFill>
            <a:prstDash val="solid"/>
          </a:ln>
        </p:spPr>
      </p:sp>
      <p:sp>
        <p:nvSpPr>
          <p:cNvPr id="15" name="Shape 11"/>
          <p:cNvSpPr/>
          <p:nvPr/>
        </p:nvSpPr>
        <p:spPr>
          <a:xfrm>
            <a:off x="841248" y="42451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98721"/>
            <a:ext cx="204826" cy="204826"/>
          </a:xfrm>
          <a:prstGeom prst="rect">
            <a:avLst/>
          </a:prstGeom>
        </p:spPr>
      </p:pic>
      <p:sp>
        <p:nvSpPr>
          <p:cNvPr id="17" name="Text 12"/>
          <p:cNvSpPr/>
          <p:nvPr/>
        </p:nvSpPr>
        <p:spPr>
          <a:xfrm>
            <a:off x="1536192" y="411651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三、关联案件中的对立</a:t>
            </a:r>
            <a:endParaRPr lang="en-US" sz="1450" dirty="0"/>
          </a:p>
        </p:txBody>
      </p:sp>
      <p:sp>
        <p:nvSpPr>
          <p:cNvPr id="18" name="Text 13"/>
          <p:cNvSpPr/>
          <p:nvPr/>
        </p:nvSpPr>
        <p:spPr>
          <a:xfrm>
            <a:off x="1536192" y="442537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两个案件形式上不同，但事实基础、法律争点或者交易背景实质关联，且代理一方将实质性损害另一方的，同样构成冲突。判断的关键是“实质关联性”，而非案号是否相同。</a:t>
            </a:r>
            <a:endParaRPr lang="en-US" sz="1250" dirty="0"/>
          </a:p>
        </p:txBody>
      </p:sp>
      <p:sp>
        <p:nvSpPr>
          <p:cNvPr id="19" name="Shape 14"/>
          <p:cNvSpPr/>
          <p:nvPr/>
        </p:nvSpPr>
        <p:spPr>
          <a:xfrm>
            <a:off x="566928" y="5225796"/>
            <a:ext cx="11057839" cy="1156716"/>
          </a:xfrm>
          <a:prstGeom prst="roundRect">
            <a:avLst>
              <a:gd name="adj" fmla="val 6324"/>
            </a:avLst>
          </a:prstGeom>
          <a:solidFill>
            <a:srgbClr val="FFFFFF"/>
          </a:solidFill>
          <a:ln w="12700">
            <a:solidFill>
              <a:srgbClr val="D5DBE5"/>
            </a:solidFill>
            <a:prstDash val="solid"/>
          </a:ln>
        </p:spPr>
      </p:sp>
      <p:sp>
        <p:nvSpPr>
          <p:cNvPr id="20" name="Shape 15"/>
          <p:cNvSpPr/>
          <p:nvPr/>
        </p:nvSpPr>
        <p:spPr>
          <a:xfrm>
            <a:off x="841248" y="554812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01741"/>
            <a:ext cx="204826" cy="204826"/>
          </a:xfrm>
          <a:prstGeom prst="rect">
            <a:avLst/>
          </a:prstGeom>
        </p:spPr>
      </p:pic>
      <p:sp>
        <p:nvSpPr>
          <p:cNvPr id="22" name="Text 16"/>
          <p:cNvSpPr/>
          <p:nvPr/>
        </p:nvSpPr>
        <p:spPr>
          <a:xfrm>
            <a:off x="1536192" y="541953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四、共同委托人之间的内部冲突</a:t>
            </a:r>
            <a:endParaRPr lang="en-US" sz="1450" dirty="0"/>
          </a:p>
        </p:txBody>
      </p:sp>
      <p:sp>
        <p:nvSpPr>
          <p:cNvPr id="23" name="Text 17"/>
          <p:cNvSpPr/>
          <p:nvPr/>
        </p:nvSpPr>
        <p:spPr>
          <a:xfrm>
            <a:off x="1536192" y="572839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多名当事人共同委托同一律师，其后出现相互推诿、责任分担、和解意愿不一致等实质分歧的。此时律师原则上应当退出全部委托，不得保留其中一方——因为已经知悉另一方的保密信息。</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13</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案例研讨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什么算“同一案件”</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类型辨析</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实质关联性的四种情境</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情境一：律师为甲公司代理与乙公司的买卖合同纠纷。诉讼期间，乙公司请求该律师代理其与丙公司的另一起完全无关的劳动争议。</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情境二：律师为甲公司出具了某项股权转让的法律意见书。半年后，受让方丁公司因该次股权转让起诉甲公司，请求该律师代理丁公司。</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情境三：律师同时代理某交通事故中的车主与驾驶员。此后保险公司主张驾驶员系无证驾驶，车主与驾驶员之间就赔偿责任产生分歧。</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情境四：律所A的北京总所代理甲公司，上海分所在完全不知情的情况下接受了乙公司针对甲公司的委托。</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213737"/>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213737"/>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7547"/>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四种情境是否构成利益冲突？</a:t>
            </a:r>
            <a:endParaRPr lang="en-US" sz="1400" dirty="0"/>
          </a:p>
        </p:txBody>
      </p:sp>
      <p:sp>
        <p:nvSpPr>
          <p:cNvPr id="14" name="Shape 12"/>
          <p:cNvSpPr/>
          <p:nvPr/>
        </p:nvSpPr>
        <p:spPr>
          <a:xfrm>
            <a:off x="7958023" y="3094228"/>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094228"/>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2964688"/>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情境一为何通常不构成？边界在哪里？</a:t>
            </a:r>
            <a:endParaRPr lang="en-US" sz="1400" dirty="0"/>
          </a:p>
        </p:txBody>
      </p:sp>
      <p:sp>
        <p:nvSpPr>
          <p:cNvPr id="17" name="Shape 15"/>
          <p:cNvSpPr/>
          <p:nvPr/>
        </p:nvSpPr>
        <p:spPr>
          <a:xfrm>
            <a:off x="7958023" y="4103624"/>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103624"/>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3974084"/>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情境三应当如何处理？可否保留一方？</a:t>
            </a:r>
            <a:endParaRPr lang="en-US" sz="1400" dirty="0"/>
          </a:p>
        </p:txBody>
      </p:sp>
      <p:sp>
        <p:nvSpPr>
          <p:cNvPr id="20" name="Shape 18"/>
          <p:cNvSpPr/>
          <p:nvPr/>
        </p:nvSpPr>
        <p:spPr>
          <a:xfrm>
            <a:off x="7958023" y="5113020"/>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5113020"/>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4983480"/>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情境四中“不知情”能否成为抗辩理由？</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14</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627757"/>
            <a:ext cx="8726119" cy="109728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类型二至四：前后委托、自身利益、第三人影响</a:t>
            </a:r>
            <a:endParaRPr lang="en-US" sz="3600" dirty="0"/>
          </a:p>
        </p:txBody>
      </p:sp>
      <p:sp>
        <p:nvSpPr>
          <p:cNvPr id="5" name="Text 3"/>
          <p:cNvSpPr/>
          <p:nvPr/>
        </p:nvSpPr>
        <p:spPr>
          <a:xfrm>
            <a:off x="2916936" y="390791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比同时代理更隐蔽，也更容易被忽略</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15</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类型二</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前后委托型冲突（继续性冲突）</a:t>
            </a:r>
            <a:endParaRPr lang="en-US" sz="2800" dirty="0"/>
          </a:p>
        </p:txBody>
      </p:sp>
      <p:sp>
        <p:nvSpPr>
          <p:cNvPr id="4" name="Shape 2"/>
          <p:cNvSpPr/>
          <p:nvPr/>
        </p:nvSpPr>
        <p:spPr>
          <a:xfrm>
            <a:off x="566928" y="1402461"/>
            <a:ext cx="11057839" cy="1533906"/>
          </a:xfrm>
          <a:prstGeom prst="roundRect">
            <a:avLst>
              <a:gd name="adj" fmla="val 4769"/>
            </a:avLst>
          </a:prstGeom>
          <a:solidFill>
            <a:srgbClr val="F2F4F8"/>
          </a:solidFill>
          <a:ln w="12700">
            <a:solidFill>
              <a:srgbClr val="F2F4F8"/>
            </a:solidFill>
            <a:prstDash val="solid"/>
          </a:ln>
        </p:spPr>
      </p:sp>
      <p:sp>
        <p:nvSpPr>
          <p:cNvPr id="5" name="Shape 3"/>
          <p:cNvSpPr/>
          <p:nvPr/>
        </p:nvSpPr>
        <p:spPr>
          <a:xfrm>
            <a:off x="841248" y="191338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067001"/>
            <a:ext cx="204826" cy="204826"/>
          </a:xfrm>
          <a:prstGeom prst="rect">
            <a:avLst/>
          </a:prstGeom>
        </p:spPr>
      </p:pic>
      <p:sp>
        <p:nvSpPr>
          <p:cNvPr id="7" name="Text 4"/>
          <p:cNvSpPr/>
          <p:nvPr/>
        </p:nvSpPr>
        <p:spPr>
          <a:xfrm>
            <a:off x="1536192" y="172250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基本规则</a:t>
            </a:r>
            <a:endParaRPr lang="en-US" sz="1650" dirty="0"/>
          </a:p>
        </p:txBody>
      </p:sp>
      <p:sp>
        <p:nvSpPr>
          <p:cNvPr id="8" name="Text 5"/>
          <p:cNvSpPr/>
          <p:nvPr/>
        </p:nvSpPr>
        <p:spPr>
          <a:xfrm>
            <a:off x="1536192" y="206387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律师不得就同一事项或者与之实质相关的事项，接受与前委托人利益相冲突的新委托。委托关系虽已终止，因该关系产生的保密义务与忠诚残余仍然存续。</a:t>
            </a:r>
            <a:endParaRPr lang="en-US" sz="1500" dirty="0"/>
          </a:p>
        </p:txBody>
      </p:sp>
      <p:sp>
        <p:nvSpPr>
          <p:cNvPr id="9" name="Shape 6"/>
          <p:cNvSpPr/>
          <p:nvPr/>
        </p:nvSpPr>
        <p:spPr>
          <a:xfrm>
            <a:off x="566928" y="3082671"/>
            <a:ext cx="11057839" cy="1533906"/>
          </a:xfrm>
          <a:prstGeom prst="roundRect">
            <a:avLst>
              <a:gd name="adj" fmla="val 4769"/>
            </a:avLst>
          </a:prstGeom>
          <a:solidFill>
            <a:srgbClr val="FFFFFF"/>
          </a:solidFill>
          <a:ln w="12700">
            <a:solidFill>
              <a:srgbClr val="D5DBE5"/>
            </a:solidFill>
            <a:prstDash val="solid"/>
          </a:ln>
        </p:spPr>
      </p:sp>
      <p:sp>
        <p:nvSpPr>
          <p:cNvPr id="10" name="Shape 7"/>
          <p:cNvSpPr/>
          <p:nvPr/>
        </p:nvSpPr>
        <p:spPr>
          <a:xfrm>
            <a:off x="841248" y="359359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747211"/>
            <a:ext cx="204826" cy="204826"/>
          </a:xfrm>
          <a:prstGeom prst="rect">
            <a:avLst/>
          </a:prstGeom>
        </p:spPr>
      </p:pic>
      <p:sp>
        <p:nvSpPr>
          <p:cNvPr id="12" name="Text 8"/>
          <p:cNvSpPr/>
          <p:nvPr/>
        </p:nvSpPr>
        <p:spPr>
          <a:xfrm>
            <a:off x="1536192" y="340271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判断核心：是否知悉相关保密信息</a:t>
            </a:r>
            <a:endParaRPr lang="en-US" sz="1650" dirty="0"/>
          </a:p>
        </p:txBody>
      </p:sp>
      <p:sp>
        <p:nvSpPr>
          <p:cNvPr id="13" name="Text 9"/>
          <p:cNvSpPr/>
          <p:nvPr/>
        </p:nvSpPr>
        <p:spPr>
          <a:xfrm>
            <a:off x="1536192" y="374408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关键不在于时间间隔长短，而在于律师是否因前次代理而知悉了对现在这个案件具有实质意义的保密信息。若前次代理仅涉及无关事务且未获知敏感信息，通常不构成冲突。</a:t>
            </a:r>
            <a:endParaRPr lang="en-US" sz="1500" dirty="0"/>
          </a:p>
        </p:txBody>
      </p:sp>
      <p:sp>
        <p:nvSpPr>
          <p:cNvPr id="14" name="Shape 10"/>
          <p:cNvSpPr/>
          <p:nvPr/>
        </p:nvSpPr>
        <p:spPr>
          <a:xfrm>
            <a:off x="566928" y="4762881"/>
            <a:ext cx="11057839" cy="1533906"/>
          </a:xfrm>
          <a:prstGeom prst="roundRect">
            <a:avLst>
              <a:gd name="adj" fmla="val 4769"/>
            </a:avLst>
          </a:prstGeom>
          <a:solidFill>
            <a:srgbClr val="F2F4F8"/>
          </a:solidFill>
          <a:ln w="12700">
            <a:solidFill>
              <a:srgbClr val="F2F4F8"/>
            </a:solidFill>
            <a:prstDash val="solid"/>
          </a:ln>
        </p:spPr>
      </p:sp>
      <p:sp>
        <p:nvSpPr>
          <p:cNvPr id="15" name="Shape 11"/>
          <p:cNvSpPr/>
          <p:nvPr/>
        </p:nvSpPr>
        <p:spPr>
          <a:xfrm>
            <a:off x="841248" y="52738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427421"/>
            <a:ext cx="204826" cy="204826"/>
          </a:xfrm>
          <a:prstGeom prst="rect">
            <a:avLst/>
          </a:prstGeom>
        </p:spPr>
      </p:pic>
      <p:sp>
        <p:nvSpPr>
          <p:cNvPr id="17" name="Text 12"/>
          <p:cNvSpPr/>
          <p:nvPr/>
        </p:nvSpPr>
        <p:spPr>
          <a:xfrm>
            <a:off x="1536192" y="508292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“实质相关”的判断要素</a:t>
            </a:r>
            <a:endParaRPr lang="en-US" sz="1650" dirty="0"/>
          </a:p>
        </p:txBody>
      </p:sp>
      <p:sp>
        <p:nvSpPr>
          <p:cNvPr id="18" name="Text 13"/>
          <p:cNvSpPr/>
          <p:nvPr/>
        </p:nvSpPr>
        <p:spPr>
          <a:xfrm>
            <a:off x="1536192" y="542429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两次事务是否基于同一交易或者同一事实基础；是否涉及同一法律关系或者同一争议焦点；前次知悉的信息是否可能在本次中被使用；一个理性的前委托人是否会合理地感到被背叛。</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16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类型三与类型四</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自身利益型与第三人影响型冲突</a:t>
            </a:r>
            <a:endParaRPr lang="en-US" sz="2800" dirty="0"/>
          </a:p>
        </p:txBody>
      </p:sp>
      <p:sp>
        <p:nvSpPr>
          <p:cNvPr id="4" name="Shape 2"/>
          <p:cNvSpPr/>
          <p:nvPr/>
        </p:nvSpPr>
        <p:spPr>
          <a:xfrm>
            <a:off x="566928" y="1316736"/>
            <a:ext cx="11057839" cy="1683131"/>
          </a:xfrm>
          <a:prstGeom prst="roundRect">
            <a:avLst>
              <a:gd name="adj" fmla="val 4346"/>
            </a:avLst>
          </a:prstGeom>
          <a:solidFill>
            <a:srgbClr val="F2F4F8"/>
          </a:solidFill>
          <a:ln w="12700">
            <a:solidFill>
              <a:srgbClr val="F2F4F8"/>
            </a:solidFill>
            <a:prstDash val="solid"/>
          </a:ln>
        </p:spPr>
      </p:sp>
      <p:sp>
        <p:nvSpPr>
          <p:cNvPr id="5" name="Shape 3"/>
          <p:cNvSpPr/>
          <p:nvPr/>
        </p:nvSpPr>
        <p:spPr>
          <a:xfrm>
            <a:off x="841248" y="1902270"/>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055889"/>
            <a:ext cx="204826" cy="204826"/>
          </a:xfrm>
          <a:prstGeom prst="rect">
            <a:avLst/>
          </a:prstGeom>
        </p:spPr>
      </p:pic>
      <p:sp>
        <p:nvSpPr>
          <p:cNvPr id="7" name="Text 4"/>
          <p:cNvSpPr/>
          <p:nvPr/>
        </p:nvSpPr>
        <p:spPr>
          <a:xfrm>
            <a:off x="1536192" y="1573276"/>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类型三：律师自身利益型</a:t>
            </a:r>
            <a:endParaRPr lang="en-US" sz="1650" dirty="0"/>
          </a:p>
        </p:txBody>
      </p:sp>
      <p:sp>
        <p:nvSpPr>
          <p:cNvPr id="8" name="Text 5"/>
          <p:cNvSpPr/>
          <p:nvPr/>
        </p:nvSpPr>
        <p:spPr>
          <a:xfrm>
            <a:off x="1536192" y="1914652"/>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与委托人存在借贷、买卖、投资、股权安排；律师或近亲属与案件结果有经济利害关系；律师在对方当事人处任职、持股或者担任顾问；律师的近亲属是对方当事人的法定代表人或者代理人（《律师执业行为规范》第五十一条第二项明文禁止）。</a:t>
            </a:r>
            <a:endParaRPr lang="en-US" sz="1500" dirty="0"/>
          </a:p>
        </p:txBody>
      </p:sp>
      <p:sp>
        <p:nvSpPr>
          <p:cNvPr id="9" name="Shape 6"/>
          <p:cNvSpPr/>
          <p:nvPr/>
        </p:nvSpPr>
        <p:spPr>
          <a:xfrm>
            <a:off x="566928" y="3146171"/>
            <a:ext cx="11057839" cy="1406906"/>
          </a:xfrm>
          <a:prstGeom prst="roundRect">
            <a:avLst>
              <a:gd name="adj" fmla="val 5199"/>
            </a:avLst>
          </a:prstGeom>
          <a:solidFill>
            <a:srgbClr val="FFFFFF"/>
          </a:solidFill>
          <a:ln w="12700">
            <a:solidFill>
              <a:srgbClr val="D5DBE5"/>
            </a:solidFill>
            <a:prstDash val="solid"/>
          </a:ln>
        </p:spPr>
      </p:sp>
      <p:sp>
        <p:nvSpPr>
          <p:cNvPr id="10" name="Shape 7"/>
          <p:cNvSpPr/>
          <p:nvPr/>
        </p:nvSpPr>
        <p:spPr>
          <a:xfrm>
            <a:off x="841248" y="359359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747211"/>
            <a:ext cx="204826" cy="204826"/>
          </a:xfrm>
          <a:prstGeom prst="rect">
            <a:avLst/>
          </a:prstGeom>
        </p:spPr>
      </p:pic>
      <p:sp>
        <p:nvSpPr>
          <p:cNvPr id="12" name="Text 8"/>
          <p:cNvSpPr/>
          <p:nvPr/>
        </p:nvSpPr>
        <p:spPr>
          <a:xfrm>
            <a:off x="1536192" y="340271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类型四：第三人影响型</a:t>
            </a:r>
            <a:endParaRPr lang="en-US" sz="1650" dirty="0"/>
          </a:p>
        </p:txBody>
      </p:sp>
      <p:sp>
        <p:nvSpPr>
          <p:cNvPr id="13" name="Text 9"/>
          <p:cNvSpPr/>
          <p:nvPr/>
        </p:nvSpPr>
        <p:spPr>
          <a:xfrm>
            <a:off x="1536192" y="374408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第三方付费者试图影响代理策略；律师担任常年法律顾问的其他单位与本案委托人存在利益对立；介绍人、合作方对案件处理有自身诉求；律师的其他社会职务（如担任某协会理事、政府法律顾问）与本案立场相冲突。</a:t>
            </a:r>
            <a:endParaRPr lang="en-US" sz="1500" dirty="0"/>
          </a:p>
        </p:txBody>
      </p:sp>
      <p:sp>
        <p:nvSpPr>
          <p:cNvPr id="14" name="Shape 10"/>
          <p:cNvSpPr/>
          <p:nvPr/>
        </p:nvSpPr>
        <p:spPr>
          <a:xfrm>
            <a:off x="566928" y="4699381"/>
            <a:ext cx="11057839" cy="1683131"/>
          </a:xfrm>
          <a:prstGeom prst="roundRect">
            <a:avLst>
              <a:gd name="adj" fmla="val 4346"/>
            </a:avLst>
          </a:prstGeom>
          <a:solidFill>
            <a:srgbClr val="F2F4F8"/>
          </a:solidFill>
          <a:ln w="12700">
            <a:solidFill>
              <a:srgbClr val="F2F4F8"/>
            </a:solidFill>
            <a:prstDash val="solid"/>
          </a:ln>
        </p:spPr>
      </p:sp>
      <p:sp>
        <p:nvSpPr>
          <p:cNvPr id="15" name="Shape 11"/>
          <p:cNvSpPr/>
          <p:nvPr/>
        </p:nvSpPr>
        <p:spPr>
          <a:xfrm>
            <a:off x="841248" y="5284915"/>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438534"/>
            <a:ext cx="204826" cy="204826"/>
          </a:xfrm>
          <a:prstGeom prst="rect">
            <a:avLst/>
          </a:prstGeom>
        </p:spPr>
      </p:pic>
      <p:sp>
        <p:nvSpPr>
          <p:cNvPr id="17" name="Text 12"/>
          <p:cNvSpPr/>
          <p:nvPr/>
        </p:nvSpPr>
        <p:spPr>
          <a:xfrm>
            <a:off x="1536192" y="495592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特殊情形：曾任公职人员的冲突</a:t>
            </a:r>
            <a:endParaRPr lang="en-US" sz="1650" dirty="0"/>
          </a:p>
        </p:txBody>
      </p:sp>
      <p:sp>
        <p:nvSpPr>
          <p:cNvPr id="18" name="Text 13"/>
          <p:cNvSpPr/>
          <p:nvPr/>
        </p:nvSpPr>
        <p:spPr>
          <a:xfrm>
            <a:off x="1536192" y="5297297"/>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律师执业行为规范》第五十一条第三项：曾经亲自处理或者审理过某一事项或者案件的行政机关工作人员、审判人员、检察人员、仲裁员，成为律师后又办理该事项或者案件的，属绝对禁止。这与《法官法》第三十六条、《检察官法》第三十七条的离任回避共同构成“旋转门”的防线。</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17</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6</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判断标准与操作路径</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把类型学转化为可执行的判断步骤</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18</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判断路径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利益冲突审查的五步法</a:t>
            </a:r>
            <a:endParaRPr lang="en-US" sz="2800" dirty="0"/>
          </a:p>
        </p:txBody>
      </p:sp>
      <p:sp>
        <p:nvSpPr>
          <p:cNvPr id="4" name="Shape 2"/>
          <p:cNvSpPr/>
          <p:nvPr/>
        </p:nvSpPr>
        <p:spPr>
          <a:xfrm>
            <a:off x="566928" y="1853946"/>
            <a:ext cx="5382616" cy="1327976"/>
          </a:xfrm>
          <a:prstGeom prst="roundRect">
            <a:avLst>
              <a:gd name="adj" fmla="val 5509"/>
            </a:avLst>
          </a:prstGeom>
          <a:solidFill>
            <a:srgbClr val="F2F4F8"/>
          </a:solidFill>
          <a:ln w="12700">
            <a:solidFill>
              <a:srgbClr val="F2F4F8"/>
            </a:solidFill>
            <a:prstDash val="solid"/>
          </a:ln>
        </p:spPr>
      </p:sp>
      <p:sp>
        <p:nvSpPr>
          <p:cNvPr id="5" name="Shape 3"/>
          <p:cNvSpPr/>
          <p:nvPr/>
        </p:nvSpPr>
        <p:spPr>
          <a:xfrm>
            <a:off x="822960" y="2289334"/>
            <a:ext cx="457200" cy="457200"/>
          </a:xfrm>
          <a:prstGeom prst="ellipse">
            <a:avLst/>
          </a:prstGeom>
          <a:solidFill>
            <a:srgbClr val="13233F"/>
          </a:solidFill>
          <a:ln w="12700">
            <a:solidFill>
              <a:srgbClr val="13233F"/>
            </a:solidFill>
            <a:prstDash val="solid"/>
          </a:ln>
        </p:spPr>
      </p:sp>
      <p:sp>
        <p:nvSpPr>
          <p:cNvPr id="6" name="Text 4"/>
          <p:cNvSpPr/>
          <p:nvPr/>
        </p:nvSpPr>
        <p:spPr>
          <a:xfrm>
            <a:off x="822960" y="228933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44752" y="1991106"/>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第一步：识别全部相关主体</a:t>
            </a:r>
            <a:endParaRPr lang="en-US" sz="1500" dirty="0"/>
          </a:p>
        </p:txBody>
      </p:sp>
      <p:sp>
        <p:nvSpPr>
          <p:cNvPr id="8" name="Text 6"/>
          <p:cNvSpPr/>
          <p:nvPr/>
        </p:nvSpPr>
        <p:spPr>
          <a:xfrm>
            <a:off x="1444752" y="2298954"/>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本案委托人、对方当事人、第三人、关联公司、实际控制人、担保人、共同被告；以及本所曾经服务过的与上述主体相关的客户。名称检索之外，还要注意关联关系检索。</a:t>
            </a:r>
            <a:endParaRPr lang="en-US" sz="1350" dirty="0"/>
          </a:p>
        </p:txBody>
      </p:sp>
      <p:sp>
        <p:nvSpPr>
          <p:cNvPr id="9" name="Shape 7"/>
          <p:cNvSpPr/>
          <p:nvPr/>
        </p:nvSpPr>
        <p:spPr>
          <a:xfrm>
            <a:off x="566928" y="3309938"/>
            <a:ext cx="5382616" cy="1327976"/>
          </a:xfrm>
          <a:prstGeom prst="roundRect">
            <a:avLst>
              <a:gd name="adj" fmla="val 5509"/>
            </a:avLst>
          </a:prstGeom>
          <a:solidFill>
            <a:srgbClr val="FFFFFF"/>
          </a:solidFill>
          <a:ln w="12700">
            <a:solidFill>
              <a:srgbClr val="D5DBE5"/>
            </a:solidFill>
            <a:prstDash val="solid"/>
          </a:ln>
        </p:spPr>
      </p:sp>
      <p:sp>
        <p:nvSpPr>
          <p:cNvPr id="10" name="Shape 8"/>
          <p:cNvSpPr/>
          <p:nvPr/>
        </p:nvSpPr>
        <p:spPr>
          <a:xfrm>
            <a:off x="822960" y="3745325"/>
            <a:ext cx="457200" cy="457200"/>
          </a:xfrm>
          <a:prstGeom prst="ellipse">
            <a:avLst/>
          </a:prstGeom>
          <a:solidFill>
            <a:srgbClr val="13233F"/>
          </a:solidFill>
          <a:ln w="12700">
            <a:solidFill>
              <a:srgbClr val="13233F"/>
            </a:solidFill>
            <a:prstDash val="solid"/>
          </a:ln>
        </p:spPr>
      </p:sp>
      <p:sp>
        <p:nvSpPr>
          <p:cNvPr id="11" name="Text 9"/>
          <p:cNvSpPr/>
          <p:nvPr/>
        </p:nvSpPr>
        <p:spPr>
          <a:xfrm>
            <a:off x="822960" y="3745325"/>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444752" y="3447098"/>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第二步：检索本所全部业务记录</a:t>
            </a:r>
            <a:endParaRPr lang="en-US" sz="1500" dirty="0"/>
          </a:p>
        </p:txBody>
      </p:sp>
      <p:sp>
        <p:nvSpPr>
          <p:cNvPr id="13" name="Text 11"/>
          <p:cNvSpPr/>
          <p:nvPr/>
        </p:nvSpPr>
        <p:spPr>
          <a:xfrm>
            <a:off x="1444752" y="3754946"/>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以“所”为单位（含分所、联营所）检索现有与历史客户；未成案的实质性咨询同样纳入检索范围。检索结果应当留存书面记录。</a:t>
            </a:r>
            <a:endParaRPr lang="en-US" sz="1350" dirty="0"/>
          </a:p>
        </p:txBody>
      </p:sp>
      <p:sp>
        <p:nvSpPr>
          <p:cNvPr id="14" name="Shape 12"/>
          <p:cNvSpPr/>
          <p:nvPr/>
        </p:nvSpPr>
        <p:spPr>
          <a:xfrm>
            <a:off x="566928" y="4765929"/>
            <a:ext cx="5382616" cy="1079373"/>
          </a:xfrm>
          <a:prstGeom prst="roundRect">
            <a:avLst>
              <a:gd name="adj" fmla="val 6777"/>
            </a:avLst>
          </a:prstGeom>
          <a:solidFill>
            <a:srgbClr val="F2F4F8"/>
          </a:solidFill>
          <a:ln w="12700">
            <a:solidFill>
              <a:srgbClr val="F2F4F8"/>
            </a:solidFill>
            <a:prstDash val="solid"/>
          </a:ln>
        </p:spPr>
      </p:sp>
      <p:sp>
        <p:nvSpPr>
          <p:cNvPr id="15" name="Shape 13"/>
          <p:cNvSpPr/>
          <p:nvPr/>
        </p:nvSpPr>
        <p:spPr>
          <a:xfrm>
            <a:off x="822960" y="5077016"/>
            <a:ext cx="457200" cy="457200"/>
          </a:xfrm>
          <a:prstGeom prst="ellipse">
            <a:avLst/>
          </a:prstGeom>
          <a:solidFill>
            <a:srgbClr val="13233F"/>
          </a:solidFill>
          <a:ln w="12700">
            <a:solidFill>
              <a:srgbClr val="13233F"/>
            </a:solidFill>
            <a:prstDash val="solid"/>
          </a:ln>
        </p:spPr>
      </p:sp>
      <p:sp>
        <p:nvSpPr>
          <p:cNvPr id="16" name="Text 14"/>
          <p:cNvSpPr/>
          <p:nvPr/>
        </p:nvSpPr>
        <p:spPr>
          <a:xfrm>
            <a:off x="822960" y="5077016"/>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444752" y="4903089"/>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第三步：判断是否存在实质关联</a:t>
            </a:r>
            <a:endParaRPr lang="en-US" sz="1500" dirty="0"/>
          </a:p>
        </p:txBody>
      </p:sp>
      <p:sp>
        <p:nvSpPr>
          <p:cNvPr id="18" name="Text 16"/>
          <p:cNvSpPr/>
          <p:nvPr/>
        </p:nvSpPr>
        <p:spPr>
          <a:xfrm>
            <a:off x="1444752" y="5210937"/>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两项事务是否基于同一交易或事实基础？是否涉及同一法律关系或争议焦点？前次知悉的信息是否可能被使用？</a:t>
            </a:r>
            <a:endParaRPr lang="en-US" sz="1350" dirty="0"/>
          </a:p>
        </p:txBody>
      </p:sp>
      <p:sp>
        <p:nvSpPr>
          <p:cNvPr id="19" name="Shape 17"/>
          <p:cNvSpPr/>
          <p:nvPr/>
        </p:nvSpPr>
        <p:spPr>
          <a:xfrm>
            <a:off x="6242152" y="2457641"/>
            <a:ext cx="5382616" cy="1327976"/>
          </a:xfrm>
          <a:prstGeom prst="roundRect">
            <a:avLst>
              <a:gd name="adj" fmla="val 5509"/>
            </a:avLst>
          </a:prstGeom>
          <a:solidFill>
            <a:srgbClr val="FFFFFF"/>
          </a:solidFill>
          <a:ln w="12700">
            <a:solidFill>
              <a:srgbClr val="D5DBE5"/>
            </a:solidFill>
            <a:prstDash val="solid"/>
          </a:ln>
        </p:spPr>
      </p:sp>
      <p:sp>
        <p:nvSpPr>
          <p:cNvPr id="20" name="Shape 18"/>
          <p:cNvSpPr/>
          <p:nvPr/>
        </p:nvSpPr>
        <p:spPr>
          <a:xfrm>
            <a:off x="6498184" y="2893028"/>
            <a:ext cx="457200" cy="457200"/>
          </a:xfrm>
          <a:prstGeom prst="ellipse">
            <a:avLst/>
          </a:prstGeom>
          <a:solidFill>
            <a:srgbClr val="13233F"/>
          </a:solidFill>
          <a:ln w="12700">
            <a:solidFill>
              <a:srgbClr val="13233F"/>
            </a:solidFill>
            <a:prstDash val="solid"/>
          </a:ln>
        </p:spPr>
      </p:sp>
      <p:sp>
        <p:nvSpPr>
          <p:cNvPr id="21" name="Text 19"/>
          <p:cNvSpPr/>
          <p:nvPr/>
        </p:nvSpPr>
        <p:spPr>
          <a:xfrm>
            <a:off x="6498184" y="2893028"/>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7119976" y="2594801"/>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第四步：定性——绝对禁止还是相对禁止</a:t>
            </a:r>
            <a:endParaRPr lang="en-US" sz="1500" dirty="0"/>
          </a:p>
        </p:txBody>
      </p:sp>
      <p:sp>
        <p:nvSpPr>
          <p:cNvPr id="23" name="Text 21"/>
          <p:cNvSpPr/>
          <p:nvPr/>
        </p:nvSpPr>
        <p:spPr>
          <a:xfrm>
            <a:off x="7119976" y="2902649"/>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落入《律师执业行为规范》第五十一条列举情形的，属绝对禁止，不得接受；属于第五十二条情形的，须履行告知义务并取得委托人同意后方可继续。</a:t>
            </a:r>
            <a:endParaRPr lang="en-US" sz="1350" dirty="0"/>
          </a:p>
        </p:txBody>
      </p:sp>
      <p:sp>
        <p:nvSpPr>
          <p:cNvPr id="24" name="Shape 22"/>
          <p:cNvSpPr/>
          <p:nvPr/>
        </p:nvSpPr>
        <p:spPr>
          <a:xfrm>
            <a:off x="6242152" y="3913632"/>
            <a:ext cx="5382616" cy="1327976"/>
          </a:xfrm>
          <a:prstGeom prst="roundRect">
            <a:avLst>
              <a:gd name="adj" fmla="val 5509"/>
            </a:avLst>
          </a:prstGeom>
          <a:solidFill>
            <a:srgbClr val="F2F4F8"/>
          </a:solidFill>
          <a:ln w="12700">
            <a:solidFill>
              <a:srgbClr val="F2F4F8"/>
            </a:solidFill>
            <a:prstDash val="solid"/>
          </a:ln>
        </p:spPr>
      </p:sp>
      <p:sp>
        <p:nvSpPr>
          <p:cNvPr id="25" name="Shape 23"/>
          <p:cNvSpPr/>
          <p:nvPr/>
        </p:nvSpPr>
        <p:spPr>
          <a:xfrm>
            <a:off x="6498184" y="4349020"/>
            <a:ext cx="457200" cy="457200"/>
          </a:xfrm>
          <a:prstGeom prst="ellipse">
            <a:avLst/>
          </a:prstGeom>
          <a:solidFill>
            <a:srgbClr val="13233F"/>
          </a:solidFill>
          <a:ln w="12700">
            <a:solidFill>
              <a:srgbClr val="13233F"/>
            </a:solidFill>
            <a:prstDash val="solid"/>
          </a:ln>
        </p:spPr>
      </p:sp>
      <p:sp>
        <p:nvSpPr>
          <p:cNvPr id="26" name="Text 24"/>
          <p:cNvSpPr/>
          <p:nvPr/>
        </p:nvSpPr>
        <p:spPr>
          <a:xfrm>
            <a:off x="6498184" y="4349020"/>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7119976" y="4050792"/>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第五步：作出处理并留痕</a:t>
            </a:r>
            <a:endParaRPr lang="en-US" sz="1500" dirty="0"/>
          </a:p>
        </p:txBody>
      </p:sp>
      <p:sp>
        <p:nvSpPr>
          <p:cNvPr id="28" name="Text 26"/>
          <p:cNvSpPr/>
          <p:nvPr/>
        </p:nvSpPr>
        <p:spPr>
          <a:xfrm>
            <a:off x="7119976" y="4358640"/>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不接受、附条件接受（告知+同意+隔离）、或者退出既有委托。无论结论如何，审查过程与结论均应当书面记录并归档，由律所指定部门复核。</a:t>
            </a:r>
            <a:endParaRPr lang="en-US" sz="1350" dirty="0"/>
          </a:p>
        </p:txBody>
      </p:sp>
      <p:sp>
        <p:nvSpPr>
          <p:cNvPr id="29" name="Text 27"/>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19</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实务提示</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四条容易被忽略的实务规则</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冲突审查失败的原因，往往不是不懂规则，而是流程上的疏漏。</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第一，审查必须前置。 应当在正式接受委托之前完成，而不是签完合同、收完钱之后才想起来检索。事后发现冲突而退出，损害的是双方。</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第二，检索单位是“所”而非“人”。 你个人从未接触过对方当事人，不等于本所没有。这正是《律师法》第二十五条要求“由律师事务所统一接受委托”的深层理由。</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第三，动态审查。 冲突可能在代理过程中产生——追加当事人、客户被并购、共同委托人内部分歧。应当在案件重大节点重新审查。</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第四，咨询也要登记。 未成案的实质性咨询同样产生保密义务与冲突审查义务。请把每一次深度咨询登记进系统。</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一句话：冲突审查不是一次性动作，而是贯穿委托关系全程的持续义务。</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20</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377696"/>
          </a:xfrm>
          <a:prstGeom prst="roundRect">
            <a:avLst>
              <a:gd name="adj" fmla="val 5973"/>
            </a:avLst>
          </a:prstGeom>
          <a:solidFill>
            <a:srgbClr val="ECF3F2"/>
          </a:solidFill>
          <a:ln w="12700">
            <a:solidFill>
              <a:srgbClr val="ECF3F2"/>
            </a:solidFill>
            <a:prstDash val="solid"/>
          </a:ln>
        </p:spPr>
      </p:sp>
      <p:sp>
        <p:nvSpPr>
          <p:cNvPr id="5" name="Shape 3"/>
          <p:cNvSpPr/>
          <p:nvPr/>
        </p:nvSpPr>
        <p:spPr>
          <a:xfrm>
            <a:off x="859536" y="177698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7769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48384"/>
            <a:ext cx="9887407" cy="9144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律师法》第三十九条禁止“在同一案件中为双方当事人担任代理人”。请论证：在非诉业务中（如为交易双方共同起草合同、为公司与其股东同时提供服务），“同一案件”应当如何理解？共同法律服务是否一概禁止？</a:t>
            </a:r>
            <a:endParaRPr lang="en-US" sz="1600" dirty="0"/>
          </a:p>
        </p:txBody>
      </p:sp>
      <p:sp>
        <p:nvSpPr>
          <p:cNvPr id="8" name="Shape 6"/>
          <p:cNvSpPr/>
          <p:nvPr/>
        </p:nvSpPr>
        <p:spPr>
          <a:xfrm>
            <a:off x="566928" y="2840736"/>
            <a:ext cx="11057839" cy="1083056"/>
          </a:xfrm>
          <a:prstGeom prst="roundRect">
            <a:avLst>
              <a:gd name="adj" fmla="val 7598"/>
            </a:avLst>
          </a:prstGeom>
          <a:solidFill>
            <a:srgbClr val="ECF3F2"/>
          </a:solidFill>
          <a:ln w="12700">
            <a:solidFill>
              <a:srgbClr val="ECF3F2"/>
            </a:solidFill>
            <a:prstDash val="solid"/>
          </a:ln>
        </p:spPr>
      </p:sp>
      <p:sp>
        <p:nvSpPr>
          <p:cNvPr id="9" name="Shape 7"/>
          <p:cNvSpPr/>
          <p:nvPr/>
        </p:nvSpPr>
        <p:spPr>
          <a:xfrm>
            <a:off x="859536" y="315366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315366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307746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利益冲突规则以“风险”而非“实际损害”为规制对象。有人认为这过于严苛，使律师丧失大量业务机会。请从委托人信赖与举证难度两个角度回应这一批评。</a:t>
            </a:r>
            <a:endParaRPr lang="en-US" sz="1600" dirty="0"/>
          </a:p>
        </p:txBody>
      </p:sp>
      <p:sp>
        <p:nvSpPr>
          <p:cNvPr id="12" name="Shape 10"/>
          <p:cNvSpPr/>
          <p:nvPr/>
        </p:nvSpPr>
        <p:spPr>
          <a:xfrm>
            <a:off x="566928" y="4070096"/>
            <a:ext cx="11057839" cy="1083056"/>
          </a:xfrm>
          <a:prstGeom prst="roundRect">
            <a:avLst>
              <a:gd name="adj" fmla="val 7598"/>
            </a:avLst>
          </a:prstGeom>
          <a:solidFill>
            <a:srgbClr val="ECF3F2"/>
          </a:solidFill>
          <a:ln w="12700">
            <a:solidFill>
              <a:srgbClr val="ECF3F2"/>
            </a:solidFill>
            <a:prstDash val="solid"/>
          </a:ln>
        </p:spPr>
      </p:sp>
      <p:sp>
        <p:nvSpPr>
          <p:cNvPr id="13" name="Shape 11"/>
          <p:cNvSpPr/>
          <p:nvPr/>
        </p:nvSpPr>
        <p:spPr>
          <a:xfrm>
            <a:off x="859536" y="438302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38302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30682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甲律师曾为A公司提供三年常年法律顾问服务，服务内容主要为劳动合同审查。顾问关系终止两年后，B公司就一起与A公司的专利侵权纠纷委托甲律师。是否构成前后委托型冲突？请运用“实质相关”的判断要素分析。</a:t>
            </a:r>
            <a:endParaRPr lang="en-US" sz="1600" dirty="0"/>
          </a:p>
        </p:txBody>
      </p:sp>
      <p:sp>
        <p:nvSpPr>
          <p:cNvPr id="16" name="Shape 14"/>
          <p:cNvSpPr/>
          <p:nvPr/>
        </p:nvSpPr>
        <p:spPr>
          <a:xfrm>
            <a:off x="566928" y="5299456"/>
            <a:ext cx="11057839" cy="1083056"/>
          </a:xfrm>
          <a:prstGeom prst="roundRect">
            <a:avLst>
              <a:gd name="adj" fmla="val 7598"/>
            </a:avLst>
          </a:prstGeom>
          <a:solidFill>
            <a:srgbClr val="ECF3F2"/>
          </a:solidFill>
          <a:ln w="12700">
            <a:solidFill>
              <a:srgbClr val="ECF3F2"/>
            </a:solidFill>
            <a:prstDash val="solid"/>
          </a:ln>
        </p:spPr>
      </p:sp>
      <p:sp>
        <p:nvSpPr>
          <p:cNvPr id="17" name="Shape 15"/>
          <p:cNvSpPr/>
          <p:nvPr/>
        </p:nvSpPr>
        <p:spPr>
          <a:xfrm>
            <a:off x="859536" y="561238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6123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53618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《律师执业行为规范》第五十一条第四项为“县域内仅有一家律师事务所”设置了例外。这一例外的正当性基础是什么？它揭示了冲突规则背后的什么考量？</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第17课时 · 21</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本课小结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第17课时要点回顾</a:t>
            </a:r>
            <a:endParaRPr lang="en-US" sz="3000" dirty="0"/>
          </a:p>
        </p:txBody>
      </p:sp>
      <p:sp>
        <p:nvSpPr>
          <p:cNvPr id="4" name="Shape 2"/>
          <p:cNvSpPr/>
          <p:nvPr/>
        </p:nvSpPr>
        <p:spPr>
          <a:xfrm>
            <a:off x="566928" y="1591056"/>
            <a:ext cx="11057839" cy="761005"/>
          </a:xfrm>
          <a:prstGeom prst="roundRect">
            <a:avLst>
              <a:gd name="adj" fmla="val 9613"/>
            </a:avLst>
          </a:prstGeom>
          <a:solidFill>
            <a:srgbClr val="25395F"/>
          </a:solidFill>
          <a:ln w="12700">
            <a:solidFill>
              <a:srgbClr val="25395F"/>
            </a:solidFill>
            <a:prstDash val="solid"/>
          </a:ln>
        </p:spPr>
      </p:sp>
      <p:sp>
        <p:nvSpPr>
          <p:cNvPr id="5" name="Shape 3"/>
          <p:cNvSpPr/>
          <p:nvPr/>
        </p:nvSpPr>
        <p:spPr>
          <a:xfrm>
            <a:off x="859536" y="1770391"/>
            <a:ext cx="402336" cy="402336"/>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80237" y="1891091"/>
            <a:ext cx="160934" cy="160934"/>
          </a:xfrm>
          <a:prstGeom prst="rect">
            <a:avLst/>
          </a:prstGeom>
        </p:spPr>
      </p:pic>
      <p:sp>
        <p:nvSpPr>
          <p:cNvPr id="7" name="Text 4"/>
          <p:cNvSpPr/>
          <p:nvPr/>
        </p:nvSpPr>
        <p:spPr>
          <a:xfrm>
            <a:off x="1444752" y="1733434"/>
            <a:ext cx="9997135" cy="476250"/>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利益冲突是指律师对某一委托人的忠诚义务因存在其他利益而面临被实质削弱的风险；三要素为：存在忠诚义务、存在竞争利益、该利益足以产生实质影响的风险。规制对象是风险而非实际损害。</a:t>
            </a:r>
            <a:endParaRPr lang="en-US" sz="1250" dirty="0"/>
          </a:p>
        </p:txBody>
      </p:sp>
      <p:sp>
        <p:nvSpPr>
          <p:cNvPr id="8" name="Shape 5"/>
          <p:cNvSpPr/>
          <p:nvPr/>
        </p:nvSpPr>
        <p:spPr>
          <a:xfrm>
            <a:off x="566928" y="2489221"/>
            <a:ext cx="11057839" cy="761005"/>
          </a:xfrm>
          <a:prstGeom prst="roundRect">
            <a:avLst>
              <a:gd name="adj" fmla="val 9613"/>
            </a:avLst>
          </a:prstGeom>
          <a:solidFill>
            <a:srgbClr val="25395F"/>
          </a:solidFill>
          <a:ln w="12700">
            <a:solidFill>
              <a:srgbClr val="25395F"/>
            </a:solidFill>
            <a:prstDash val="solid"/>
          </a:ln>
        </p:spPr>
      </p:sp>
      <p:sp>
        <p:nvSpPr>
          <p:cNvPr id="9" name="Shape 6"/>
          <p:cNvSpPr/>
          <p:nvPr/>
        </p:nvSpPr>
        <p:spPr>
          <a:xfrm>
            <a:off x="859536" y="2668556"/>
            <a:ext cx="402336" cy="402336"/>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80237" y="2789257"/>
            <a:ext cx="160934" cy="160934"/>
          </a:xfrm>
          <a:prstGeom prst="rect">
            <a:avLst/>
          </a:prstGeom>
        </p:spPr>
      </p:pic>
      <p:sp>
        <p:nvSpPr>
          <p:cNvPr id="11" name="Text 7"/>
          <p:cNvSpPr/>
          <p:nvPr/>
        </p:nvSpPr>
        <p:spPr>
          <a:xfrm>
            <a:off x="1444752" y="2631599"/>
            <a:ext cx="9997135" cy="476250"/>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法理支点有二：忠诚义务（一心不能二用，无法通过“更努力”克服，只能退出）与保密义务（信息不能反向使用，且说明处境本身即泄密，故同意难以充分知情）。</a:t>
            </a:r>
            <a:endParaRPr lang="en-US" sz="1250" dirty="0"/>
          </a:p>
        </p:txBody>
      </p:sp>
      <p:sp>
        <p:nvSpPr>
          <p:cNvPr id="12" name="Shape 8"/>
          <p:cNvSpPr/>
          <p:nvPr/>
        </p:nvSpPr>
        <p:spPr>
          <a:xfrm>
            <a:off x="566928" y="3387386"/>
            <a:ext cx="11057839" cy="761005"/>
          </a:xfrm>
          <a:prstGeom prst="roundRect">
            <a:avLst>
              <a:gd name="adj" fmla="val 9613"/>
            </a:avLst>
          </a:prstGeom>
          <a:solidFill>
            <a:srgbClr val="25395F"/>
          </a:solidFill>
          <a:ln w="12700">
            <a:solidFill>
              <a:srgbClr val="25395F"/>
            </a:solidFill>
            <a:prstDash val="solid"/>
          </a:ln>
        </p:spPr>
      </p:sp>
      <p:sp>
        <p:nvSpPr>
          <p:cNvPr id="13" name="Shape 9"/>
          <p:cNvSpPr/>
          <p:nvPr/>
        </p:nvSpPr>
        <p:spPr>
          <a:xfrm>
            <a:off x="859536" y="3566721"/>
            <a:ext cx="402336" cy="402336"/>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80237" y="3687422"/>
            <a:ext cx="160934" cy="160934"/>
          </a:xfrm>
          <a:prstGeom prst="rect">
            <a:avLst/>
          </a:prstGeom>
        </p:spPr>
      </p:pic>
      <p:sp>
        <p:nvSpPr>
          <p:cNvPr id="15" name="Text 10"/>
          <p:cNvSpPr/>
          <p:nvPr/>
        </p:nvSpPr>
        <p:spPr>
          <a:xfrm>
            <a:off x="1444752" y="3529764"/>
            <a:ext cx="9997135" cy="476250"/>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规范体系：《律师法》第三十九条为原则性禁止；《律师执业行为规范》第五十条规定回避，第五十一条列举绝对禁止情形，第五十二条规定可经告知与同意豁免的相对禁止情形。</a:t>
            </a:r>
            <a:endParaRPr lang="en-US" sz="1250" dirty="0"/>
          </a:p>
        </p:txBody>
      </p:sp>
      <p:sp>
        <p:nvSpPr>
          <p:cNvPr id="16" name="Shape 11"/>
          <p:cNvSpPr/>
          <p:nvPr/>
        </p:nvSpPr>
        <p:spPr>
          <a:xfrm>
            <a:off x="566928" y="4285552"/>
            <a:ext cx="11057839" cy="530818"/>
          </a:xfrm>
          <a:prstGeom prst="roundRect">
            <a:avLst>
              <a:gd name="adj" fmla="val 13781"/>
            </a:avLst>
          </a:prstGeom>
          <a:solidFill>
            <a:srgbClr val="25395F"/>
          </a:solidFill>
          <a:ln w="12700">
            <a:solidFill>
              <a:srgbClr val="25395F"/>
            </a:solidFill>
            <a:prstDash val="solid"/>
          </a:ln>
        </p:spPr>
      </p:sp>
      <p:sp>
        <p:nvSpPr>
          <p:cNvPr id="17" name="Shape 12"/>
          <p:cNvSpPr/>
          <p:nvPr/>
        </p:nvSpPr>
        <p:spPr>
          <a:xfrm>
            <a:off x="859536" y="4367848"/>
            <a:ext cx="366226" cy="366226"/>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69404" y="4477715"/>
            <a:ext cx="146490" cy="146490"/>
          </a:xfrm>
          <a:prstGeom prst="rect">
            <a:avLst/>
          </a:prstGeom>
        </p:spPr>
      </p:pic>
      <p:sp>
        <p:nvSpPr>
          <p:cNvPr id="19" name="Text 13"/>
          <p:cNvSpPr/>
          <p:nvPr/>
        </p:nvSpPr>
        <p:spPr>
          <a:xfrm>
            <a:off x="1444752" y="4431898"/>
            <a:ext cx="9997135" cy="238125"/>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四大类型：同时代理型（同案双方、同所不同律师、关联案件、共同委托人内部冲突）、前后委托型、律师自身利益型、第三人影响型。</a:t>
            </a:r>
            <a:endParaRPr lang="en-US" sz="1250" dirty="0"/>
          </a:p>
        </p:txBody>
      </p:sp>
      <p:sp>
        <p:nvSpPr>
          <p:cNvPr id="20" name="Shape 14"/>
          <p:cNvSpPr/>
          <p:nvPr/>
        </p:nvSpPr>
        <p:spPr>
          <a:xfrm>
            <a:off x="566928" y="4953529"/>
            <a:ext cx="11057839" cy="530818"/>
          </a:xfrm>
          <a:prstGeom prst="roundRect">
            <a:avLst>
              <a:gd name="adj" fmla="val 13781"/>
            </a:avLst>
          </a:prstGeom>
          <a:solidFill>
            <a:srgbClr val="25395F"/>
          </a:solidFill>
          <a:ln w="12700">
            <a:solidFill>
              <a:srgbClr val="25395F"/>
            </a:solidFill>
            <a:prstDash val="solid"/>
          </a:ln>
        </p:spPr>
      </p:sp>
      <p:sp>
        <p:nvSpPr>
          <p:cNvPr id="21" name="Shape 15"/>
          <p:cNvSpPr/>
          <p:nvPr/>
        </p:nvSpPr>
        <p:spPr>
          <a:xfrm>
            <a:off x="859536" y="5035825"/>
            <a:ext cx="366226" cy="36622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69404" y="5145693"/>
            <a:ext cx="146490" cy="146490"/>
          </a:xfrm>
          <a:prstGeom prst="rect">
            <a:avLst/>
          </a:prstGeom>
        </p:spPr>
      </p:pic>
      <p:sp>
        <p:nvSpPr>
          <p:cNvPr id="23" name="Text 16"/>
          <p:cNvSpPr/>
          <p:nvPr/>
        </p:nvSpPr>
        <p:spPr>
          <a:xfrm>
            <a:off x="1444752" y="5099876"/>
            <a:ext cx="9997135" cy="238125"/>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冲突的判断单位是“所”而非“人”；前后委托型冲突的判断核心是“是否知悉对本案具有实质意义的保密信息”，而非时间间隔。</a:t>
            </a:r>
            <a:endParaRPr lang="en-US" sz="1250" dirty="0"/>
          </a:p>
        </p:txBody>
      </p:sp>
      <p:sp>
        <p:nvSpPr>
          <p:cNvPr id="24" name="Shape 17"/>
          <p:cNvSpPr/>
          <p:nvPr/>
        </p:nvSpPr>
        <p:spPr>
          <a:xfrm>
            <a:off x="566928" y="5621507"/>
            <a:ext cx="11057839" cy="761005"/>
          </a:xfrm>
          <a:prstGeom prst="roundRect">
            <a:avLst>
              <a:gd name="adj" fmla="val 9613"/>
            </a:avLst>
          </a:prstGeom>
          <a:solidFill>
            <a:srgbClr val="25395F"/>
          </a:solidFill>
          <a:ln w="12700">
            <a:solidFill>
              <a:srgbClr val="25395F"/>
            </a:solidFill>
            <a:prstDash val="solid"/>
          </a:ln>
        </p:spPr>
      </p:sp>
      <p:sp>
        <p:nvSpPr>
          <p:cNvPr id="25" name="Shape 18"/>
          <p:cNvSpPr/>
          <p:nvPr/>
        </p:nvSpPr>
        <p:spPr>
          <a:xfrm>
            <a:off x="859536" y="5800841"/>
            <a:ext cx="402336" cy="402336"/>
          </a:xfrm>
          <a:prstGeom prst="ellipse">
            <a:avLst/>
          </a:prstGeom>
          <a:solidFill>
            <a:srgbClr val="B08D57"/>
          </a:solidFill>
          <a:ln w="12700">
            <a:solidFill>
              <a:srgbClr val="B08D57"/>
            </a:solidFill>
            <a:prstDash val="solid"/>
          </a:ln>
        </p:spPr>
      </p:sp>
      <p:pic>
        <p:nvPicPr>
          <p:cNvPr id="26" name="Image 5" descr="preencoded.png">    </p:cNvPr>
          <p:cNvPicPr>
            <a:picLocks noChangeAspect="1"/>
          </p:cNvPicPr>
          <p:nvPr/>
        </p:nvPicPr>
        <p:blipFill>
          <a:blip r:embed="rId6"/>
          <a:stretch>
            <a:fillRect/>
          </a:stretch>
        </p:blipFill>
        <p:spPr>
          <a:xfrm>
            <a:off x="980237" y="5921542"/>
            <a:ext cx="160934" cy="160934"/>
          </a:xfrm>
          <a:prstGeom prst="rect">
            <a:avLst/>
          </a:prstGeom>
        </p:spPr>
      </p:pic>
      <p:sp>
        <p:nvSpPr>
          <p:cNvPr id="27" name="Text 19"/>
          <p:cNvSpPr/>
          <p:nvPr/>
        </p:nvSpPr>
        <p:spPr>
          <a:xfrm>
            <a:off x="1444752" y="5763884"/>
            <a:ext cx="9997135" cy="476250"/>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审查五步法：识别主体 → 检索本所全部业务 → 判断实质关联 → 定性（绝对/相对禁止）→ 处理并留痕。四条实务规则：审查前置、以所为单位、动态审查、咨询登记。</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266635"/>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第18课时</a:t>
            </a:r>
            <a:endParaRPr lang="en-US" sz="1600" dirty="0"/>
          </a:p>
        </p:txBody>
      </p:sp>
      <p:sp>
        <p:nvSpPr>
          <p:cNvPr id="4" name="Text 2"/>
          <p:cNvSpPr/>
          <p:nvPr/>
        </p:nvSpPr>
        <p:spPr>
          <a:xfrm>
            <a:off x="566928" y="1687259"/>
            <a:ext cx="9326880" cy="1258824"/>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利益冲突（二）：特殊情形、冲突审查与豁免</a:t>
            </a:r>
            <a:endParaRPr lang="en-US" sz="4200" dirty="0"/>
          </a:p>
        </p:txBody>
      </p:sp>
      <p:sp>
        <p:nvSpPr>
          <p:cNvPr id="5" name="Text 3"/>
          <p:cNvSpPr/>
          <p:nvPr/>
        </p:nvSpPr>
        <p:spPr>
          <a:xfrm>
            <a:off x="603504" y="3202115"/>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哪些冲突可以经同意化解？哪些无论如何都不行？发现之后又该如何收场？</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绝对禁止与相对禁止：可豁免性的分界线</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归入规则与信息隔离墙</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律所合并、律师流动与特殊主体的冲突</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从豁免到收场</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一、可豁免性的分界线：为什么有些冲突不能同意</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二、告知与同意的有效要件</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三、归入规则与信息隔离墙</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四、特殊场景：合并、流动、分所与特殊主体</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五、发现冲突后的处理规则</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六、律所冲突审查制度的建设</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02</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可豁免性的分界线</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当事人的同意能化解一部分冲突，但不能化解全部</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03</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两类冲突</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绝对禁止与相对禁止</a:t>
            </a:r>
            <a:endParaRPr lang="en-US" sz="2800" dirty="0"/>
          </a:p>
        </p:txBody>
      </p:sp>
      <p:sp>
        <p:nvSpPr>
          <p:cNvPr id="4" name="Shape 2"/>
          <p:cNvSpPr/>
          <p:nvPr/>
        </p:nvSpPr>
        <p:spPr>
          <a:xfrm>
            <a:off x="566928" y="1749108"/>
            <a:ext cx="5410048" cy="4201033"/>
          </a:xfrm>
          <a:prstGeom prst="roundRect">
            <a:avLst>
              <a:gd name="adj" fmla="val 2177"/>
            </a:avLst>
          </a:prstGeom>
          <a:solidFill>
            <a:srgbClr val="F2F4F8"/>
          </a:solidFill>
          <a:ln w="12700">
            <a:solidFill>
              <a:srgbClr val="F2F4F8"/>
            </a:solidFill>
            <a:prstDash val="solid"/>
          </a:ln>
        </p:spPr>
      </p:sp>
      <p:sp>
        <p:nvSpPr>
          <p:cNvPr id="5" name="Shape 3"/>
          <p:cNvSpPr/>
          <p:nvPr/>
        </p:nvSpPr>
        <p:spPr>
          <a:xfrm>
            <a:off x="841248" y="2005140"/>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0051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绝对禁止（第五十一条）：同意亦不可</a:t>
            </a:r>
            <a:endParaRPr lang="en-US" sz="1600" dirty="0"/>
          </a:p>
        </p:txBody>
      </p:sp>
      <p:sp>
        <p:nvSpPr>
          <p:cNvPr id="7" name="Text 5"/>
          <p:cNvSpPr/>
          <p:nvPr/>
        </p:nvSpPr>
        <p:spPr>
          <a:xfrm>
            <a:off x="932688" y="2663508"/>
            <a:ext cx="4678528" cy="30488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同一案件中为双方当事人担任代理人；代理与本人或近亲属有利益冲突的事务。</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近亲属是对方当事人的法定代表人或者代理人。</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曾亲自处理或审理该事项的公职人员，成为律师后办理该事项。</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同所不同律师在同一刑事案件中分任被害人代理人与被告人辩护人（县域独家且事先同意者除外）。</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同所不同律师同时担任民诉、行诉或仲裁双方当事人的代理人。</a:t>
            </a:r>
            <a:endParaRPr lang="en-US" sz="1450" dirty="0"/>
          </a:p>
        </p:txBody>
      </p:sp>
      <p:sp>
        <p:nvSpPr>
          <p:cNvPr id="8" name="Shape 6"/>
          <p:cNvSpPr/>
          <p:nvPr/>
        </p:nvSpPr>
        <p:spPr>
          <a:xfrm>
            <a:off x="6214720" y="1749108"/>
            <a:ext cx="5410048" cy="4201033"/>
          </a:xfrm>
          <a:prstGeom prst="roundRect">
            <a:avLst>
              <a:gd name="adj" fmla="val 2177"/>
            </a:avLst>
          </a:prstGeom>
          <a:solidFill>
            <a:srgbClr val="F6F1E8"/>
          </a:solidFill>
          <a:ln w="12700">
            <a:solidFill>
              <a:srgbClr val="F6F1E8"/>
            </a:solidFill>
            <a:prstDash val="solid"/>
          </a:ln>
        </p:spPr>
      </p:sp>
      <p:sp>
        <p:nvSpPr>
          <p:cNvPr id="9" name="Shape 7"/>
          <p:cNvSpPr/>
          <p:nvPr/>
        </p:nvSpPr>
        <p:spPr>
          <a:xfrm>
            <a:off x="6489040" y="2005140"/>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0051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相对禁止（第五十二条）：告知+同意可继续</a:t>
            </a:r>
            <a:endParaRPr lang="en-US" sz="1600" dirty="0"/>
          </a:p>
        </p:txBody>
      </p:sp>
      <p:sp>
        <p:nvSpPr>
          <p:cNvPr id="11" name="Text 9"/>
          <p:cNvSpPr/>
          <p:nvPr/>
        </p:nvSpPr>
        <p:spPr>
          <a:xfrm>
            <a:off x="6580480" y="2663508"/>
            <a:ext cx="4678528" cy="30488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应当告知委托人并主动提出回避，但委托人同意委托或者同意继续办理的除外。</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典型如：接受民事诉讼或仲裁一方当事人的委托，而同所另一律师是对方当事人的近亲属。</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典型如：担任刑事案件辩护人，而同所另一律师是被害人的近亲属。</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共同点：冲突主要损害的是特定当事人的个人利益，而非制度本身，故当事人有权处分。</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04</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原理</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为什么有些冲突不能通过同意化解</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分界线不在冲突的“严重程度”，而在于“受损的是谁的利益”。</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第一，凡损害制度本身的，不可豁免。 双向代理动摇的是对抗制的结构——即使双方都同意，法庭也无从获得真正的对抗性检验。当事人无权处分制度利益。</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第二，凡同意不可能充分知情的，不可豁免。 要让委托人真正理解冲突的严重性，往往需要披露另一方的保密信息；而披露本身即违规。同意的前提无法成就，同意即无效。</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第三，凡涉及公职廉洁性的，不可豁免。 曾亲自办理该事项的公职人员转任律师后办理同一事项，损害的是公众对公权力的信赖，与当事人是否同意无关。</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第四，凡当事人处于结构性弱势的，慎用豁免。 刑事被追诉人、消费者、劳动者在与律师的关系中议价能力薄弱，其“同意”的自愿性存疑，应当从严把握。</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一句话：当事人可以放弃自己的利益，不能放弃别人的利益，更不能放弃制度的利益。</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05</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告知与同意的有效要件</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一份无效的同意书，比没有同意书更危险</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06</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五要件</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有效同意的五项要件</a:t>
            </a:r>
            <a:endParaRPr lang="en-US" sz="2800" dirty="0"/>
          </a:p>
        </p:txBody>
      </p:sp>
      <p:sp>
        <p:nvSpPr>
          <p:cNvPr id="4" name="Shape 2"/>
          <p:cNvSpPr/>
          <p:nvPr/>
        </p:nvSpPr>
        <p:spPr>
          <a:xfrm>
            <a:off x="566928" y="1853946"/>
            <a:ext cx="5382616" cy="1327976"/>
          </a:xfrm>
          <a:prstGeom prst="roundRect">
            <a:avLst>
              <a:gd name="adj" fmla="val 5509"/>
            </a:avLst>
          </a:prstGeom>
          <a:solidFill>
            <a:srgbClr val="F2F4F8"/>
          </a:solidFill>
          <a:ln w="12700">
            <a:solidFill>
              <a:srgbClr val="F2F4F8"/>
            </a:solidFill>
            <a:prstDash val="solid"/>
          </a:ln>
        </p:spPr>
      </p:sp>
      <p:sp>
        <p:nvSpPr>
          <p:cNvPr id="5" name="Shape 3"/>
          <p:cNvSpPr/>
          <p:nvPr/>
        </p:nvSpPr>
        <p:spPr>
          <a:xfrm>
            <a:off x="822960" y="2289334"/>
            <a:ext cx="457200" cy="457200"/>
          </a:xfrm>
          <a:prstGeom prst="ellipse">
            <a:avLst/>
          </a:prstGeom>
          <a:solidFill>
            <a:srgbClr val="13233F"/>
          </a:solidFill>
          <a:ln w="12700">
            <a:solidFill>
              <a:srgbClr val="13233F"/>
            </a:solidFill>
            <a:prstDash val="solid"/>
          </a:ln>
        </p:spPr>
      </p:sp>
      <p:sp>
        <p:nvSpPr>
          <p:cNvPr id="6" name="Text 4"/>
          <p:cNvSpPr/>
          <p:nvPr/>
        </p:nvSpPr>
        <p:spPr>
          <a:xfrm>
            <a:off x="822960" y="228933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44752" y="1991106"/>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一、充分披露（informed）</a:t>
            </a:r>
            <a:endParaRPr lang="en-US" sz="1500" dirty="0"/>
          </a:p>
        </p:txBody>
      </p:sp>
      <p:sp>
        <p:nvSpPr>
          <p:cNvPr id="8" name="Text 6"/>
          <p:cNvSpPr/>
          <p:nvPr/>
        </p:nvSpPr>
        <p:spPr>
          <a:xfrm>
            <a:off x="1444752" y="2298954"/>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必须说明冲突的具体性质、可能对本人产生的不利影响、以及可以选择另行委托其他律师。仅说“存在潜在冲突，请签字确认”不构成充分披露。</a:t>
            </a:r>
            <a:endParaRPr lang="en-US" sz="1350" dirty="0"/>
          </a:p>
        </p:txBody>
      </p:sp>
      <p:sp>
        <p:nvSpPr>
          <p:cNvPr id="9" name="Shape 7"/>
          <p:cNvSpPr/>
          <p:nvPr/>
        </p:nvSpPr>
        <p:spPr>
          <a:xfrm>
            <a:off x="566928" y="3309938"/>
            <a:ext cx="5382616" cy="1079373"/>
          </a:xfrm>
          <a:prstGeom prst="roundRect">
            <a:avLst>
              <a:gd name="adj" fmla="val 6777"/>
            </a:avLst>
          </a:prstGeom>
          <a:solidFill>
            <a:srgbClr val="FFFFFF"/>
          </a:solidFill>
          <a:ln w="12700">
            <a:solidFill>
              <a:srgbClr val="D5DBE5"/>
            </a:solidFill>
            <a:prstDash val="solid"/>
          </a:ln>
        </p:spPr>
      </p:sp>
      <p:sp>
        <p:nvSpPr>
          <p:cNvPr id="10" name="Shape 8"/>
          <p:cNvSpPr/>
          <p:nvPr/>
        </p:nvSpPr>
        <p:spPr>
          <a:xfrm>
            <a:off x="822960" y="3621024"/>
            <a:ext cx="457200" cy="457200"/>
          </a:xfrm>
          <a:prstGeom prst="ellipse">
            <a:avLst/>
          </a:prstGeom>
          <a:solidFill>
            <a:srgbClr val="13233F"/>
          </a:solidFill>
          <a:ln w="12700">
            <a:solidFill>
              <a:srgbClr val="13233F"/>
            </a:solidFill>
            <a:prstDash val="solid"/>
          </a:ln>
        </p:spPr>
      </p:sp>
      <p:sp>
        <p:nvSpPr>
          <p:cNvPr id="11" name="Text 9"/>
          <p:cNvSpPr/>
          <p:nvPr/>
        </p:nvSpPr>
        <p:spPr>
          <a:xfrm>
            <a:off x="822960" y="362102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444752" y="3447098"/>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二、书面形式（written）</a:t>
            </a:r>
            <a:endParaRPr lang="en-US" sz="1500" dirty="0"/>
          </a:p>
        </p:txBody>
      </p:sp>
      <p:sp>
        <p:nvSpPr>
          <p:cNvPr id="13" name="Text 11"/>
          <p:cNvSpPr/>
          <p:nvPr/>
        </p:nvSpPr>
        <p:spPr>
          <a:xfrm>
            <a:off x="1444752" y="3754946"/>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披露内容与同意意思均应当书面化，由委托人签署并归档。口头同意在争议中几乎无法证明，等同于没有同意。</a:t>
            </a:r>
            <a:endParaRPr lang="en-US" sz="1350" dirty="0"/>
          </a:p>
        </p:txBody>
      </p:sp>
      <p:sp>
        <p:nvSpPr>
          <p:cNvPr id="14" name="Shape 12"/>
          <p:cNvSpPr/>
          <p:nvPr/>
        </p:nvSpPr>
        <p:spPr>
          <a:xfrm>
            <a:off x="566928" y="4517327"/>
            <a:ext cx="5382616" cy="1327976"/>
          </a:xfrm>
          <a:prstGeom prst="roundRect">
            <a:avLst>
              <a:gd name="adj" fmla="val 5509"/>
            </a:avLst>
          </a:prstGeom>
          <a:solidFill>
            <a:srgbClr val="F2F4F8"/>
          </a:solidFill>
          <a:ln w="12700">
            <a:solidFill>
              <a:srgbClr val="F2F4F8"/>
            </a:solidFill>
            <a:prstDash val="solid"/>
          </a:ln>
        </p:spPr>
      </p:sp>
      <p:sp>
        <p:nvSpPr>
          <p:cNvPr id="15" name="Shape 13"/>
          <p:cNvSpPr/>
          <p:nvPr/>
        </p:nvSpPr>
        <p:spPr>
          <a:xfrm>
            <a:off x="822960" y="4952714"/>
            <a:ext cx="457200" cy="457200"/>
          </a:xfrm>
          <a:prstGeom prst="ellipse">
            <a:avLst/>
          </a:prstGeom>
          <a:solidFill>
            <a:srgbClr val="13233F"/>
          </a:solidFill>
          <a:ln w="12700">
            <a:solidFill>
              <a:srgbClr val="13233F"/>
            </a:solidFill>
            <a:prstDash val="solid"/>
          </a:ln>
        </p:spPr>
      </p:sp>
      <p:sp>
        <p:nvSpPr>
          <p:cNvPr id="16" name="Text 14"/>
          <p:cNvSpPr/>
          <p:nvPr/>
        </p:nvSpPr>
        <p:spPr>
          <a:xfrm>
            <a:off x="822960" y="495271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444752" y="4654487"/>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三、具体特定（specific）</a:t>
            </a:r>
            <a:endParaRPr lang="en-US" sz="1500" dirty="0"/>
          </a:p>
        </p:txBody>
      </p:sp>
      <p:sp>
        <p:nvSpPr>
          <p:cNvPr id="18" name="Text 16"/>
          <p:cNvSpPr/>
          <p:nvPr/>
        </p:nvSpPr>
        <p:spPr>
          <a:xfrm>
            <a:off x="1444752" y="4962335"/>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针对具体的冲突情形、具体的相对方、具体的事项。委托合同中概括性的“委托人同意律所可能存在的一切利益冲突”条款，不产生豁免效力。</a:t>
            </a:r>
            <a:endParaRPr lang="en-US" sz="1350" dirty="0"/>
          </a:p>
        </p:txBody>
      </p:sp>
      <p:sp>
        <p:nvSpPr>
          <p:cNvPr id="19" name="Shape 17"/>
          <p:cNvSpPr/>
          <p:nvPr/>
        </p:nvSpPr>
        <p:spPr>
          <a:xfrm>
            <a:off x="6242152" y="2457641"/>
            <a:ext cx="5382616" cy="1327976"/>
          </a:xfrm>
          <a:prstGeom prst="roundRect">
            <a:avLst>
              <a:gd name="adj" fmla="val 5509"/>
            </a:avLst>
          </a:prstGeom>
          <a:solidFill>
            <a:srgbClr val="FFFFFF"/>
          </a:solidFill>
          <a:ln w="12700">
            <a:solidFill>
              <a:srgbClr val="D5DBE5"/>
            </a:solidFill>
            <a:prstDash val="solid"/>
          </a:ln>
        </p:spPr>
      </p:sp>
      <p:sp>
        <p:nvSpPr>
          <p:cNvPr id="20" name="Shape 18"/>
          <p:cNvSpPr/>
          <p:nvPr/>
        </p:nvSpPr>
        <p:spPr>
          <a:xfrm>
            <a:off x="6498184" y="2893028"/>
            <a:ext cx="457200" cy="457200"/>
          </a:xfrm>
          <a:prstGeom prst="ellipse">
            <a:avLst/>
          </a:prstGeom>
          <a:solidFill>
            <a:srgbClr val="13233F"/>
          </a:solidFill>
          <a:ln w="12700">
            <a:solidFill>
              <a:srgbClr val="13233F"/>
            </a:solidFill>
            <a:prstDash val="solid"/>
          </a:ln>
        </p:spPr>
      </p:sp>
      <p:sp>
        <p:nvSpPr>
          <p:cNvPr id="21" name="Text 19"/>
          <p:cNvSpPr/>
          <p:nvPr/>
        </p:nvSpPr>
        <p:spPr>
          <a:xfrm>
            <a:off x="6498184" y="2893028"/>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7119976" y="2594801"/>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四、自愿作出（voluntary）</a:t>
            </a:r>
            <a:endParaRPr lang="en-US" sz="1500" dirty="0"/>
          </a:p>
        </p:txBody>
      </p:sp>
      <p:sp>
        <p:nvSpPr>
          <p:cNvPr id="23" name="Text 21"/>
          <p:cNvSpPr/>
          <p:nvPr/>
        </p:nvSpPr>
        <p:spPr>
          <a:xfrm>
            <a:off x="7119976" y="2902649"/>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不得以拒绝提供服务、拖延办理或者其他不利后果相要挟；不得在委托人已支付大额费用、更换律师成本极高时才提出，使其实际上别无选择。</a:t>
            </a:r>
            <a:endParaRPr lang="en-US" sz="1350" dirty="0"/>
          </a:p>
        </p:txBody>
      </p:sp>
      <p:sp>
        <p:nvSpPr>
          <p:cNvPr id="24" name="Shape 22"/>
          <p:cNvSpPr/>
          <p:nvPr/>
        </p:nvSpPr>
        <p:spPr>
          <a:xfrm>
            <a:off x="6242152" y="3913632"/>
            <a:ext cx="5382616" cy="1327976"/>
          </a:xfrm>
          <a:prstGeom prst="roundRect">
            <a:avLst>
              <a:gd name="adj" fmla="val 5509"/>
            </a:avLst>
          </a:prstGeom>
          <a:solidFill>
            <a:srgbClr val="F2F4F8"/>
          </a:solidFill>
          <a:ln w="12700">
            <a:solidFill>
              <a:srgbClr val="F2F4F8"/>
            </a:solidFill>
            <a:prstDash val="solid"/>
          </a:ln>
        </p:spPr>
      </p:sp>
      <p:sp>
        <p:nvSpPr>
          <p:cNvPr id="25" name="Shape 23"/>
          <p:cNvSpPr/>
          <p:nvPr/>
        </p:nvSpPr>
        <p:spPr>
          <a:xfrm>
            <a:off x="6498184" y="4349020"/>
            <a:ext cx="457200" cy="457200"/>
          </a:xfrm>
          <a:prstGeom prst="ellipse">
            <a:avLst/>
          </a:prstGeom>
          <a:solidFill>
            <a:srgbClr val="13233F"/>
          </a:solidFill>
          <a:ln w="12700">
            <a:solidFill>
              <a:srgbClr val="13233F"/>
            </a:solidFill>
            <a:prstDash val="solid"/>
          </a:ln>
        </p:spPr>
      </p:sp>
      <p:sp>
        <p:nvSpPr>
          <p:cNvPr id="26" name="Text 24"/>
          <p:cNvSpPr/>
          <p:nvPr/>
        </p:nvSpPr>
        <p:spPr>
          <a:xfrm>
            <a:off x="6498184" y="4349020"/>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7119976" y="4050792"/>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五、律师的合理确信（reasonable belief）</a:t>
            </a:r>
            <a:endParaRPr lang="en-US" sz="1500" dirty="0"/>
          </a:p>
        </p:txBody>
      </p:sp>
      <p:sp>
        <p:nvSpPr>
          <p:cNvPr id="28" name="Text 26"/>
          <p:cNvSpPr/>
          <p:nvPr/>
        </p:nvSpPr>
        <p:spPr>
          <a:xfrm>
            <a:off x="7119976" y="4358640"/>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即使当事人同意，律师仍须自行判断：在该冲突之下，本人能否对各方均提供称职、勤勉的代理？若答案为否，即使有同意也不得接受。同意不能替代律师的独立判断。</a:t>
            </a:r>
            <a:endParaRPr lang="en-US" sz="1350" dirty="0"/>
          </a:p>
        </p:txBody>
      </p:sp>
      <p:sp>
        <p:nvSpPr>
          <p:cNvPr id="29" name="Text 27"/>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07</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规范依据</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《律师执业行为规范》第五十二条的结构</a:t>
            </a:r>
            <a:endParaRPr lang="en-US" sz="2800" dirty="0"/>
          </a:p>
        </p:txBody>
      </p:sp>
      <p:sp>
        <p:nvSpPr>
          <p:cNvPr id="4" name="Shape 2"/>
          <p:cNvSpPr/>
          <p:nvPr/>
        </p:nvSpPr>
        <p:spPr>
          <a:xfrm>
            <a:off x="566928" y="1816227"/>
            <a:ext cx="11057839" cy="2452116"/>
          </a:xfrm>
          <a:prstGeom prst="roundRect">
            <a:avLst>
              <a:gd name="adj" fmla="val 3729"/>
            </a:avLst>
          </a:prstGeom>
          <a:solidFill>
            <a:srgbClr val="F6F1E8"/>
          </a:solidFill>
          <a:ln w="12700">
            <a:solidFill>
              <a:srgbClr val="F6F1E8"/>
            </a:solidFill>
            <a:prstDash val="solid"/>
          </a:ln>
        </p:spPr>
      </p:sp>
      <p:sp>
        <p:nvSpPr>
          <p:cNvPr id="5" name="Shape 3"/>
          <p:cNvSpPr/>
          <p:nvPr/>
        </p:nvSpPr>
        <p:spPr>
          <a:xfrm>
            <a:off x="877824" y="2053971"/>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2053971"/>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2035683"/>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《律师执业行为规范》第五十二条（相对禁止情形的处理）</a:t>
            </a:r>
            <a:endParaRPr lang="en-US" sz="1500" dirty="0"/>
          </a:p>
        </p:txBody>
      </p:sp>
      <p:sp>
        <p:nvSpPr>
          <p:cNvPr id="8" name="Text 6"/>
          <p:cNvSpPr/>
          <p:nvPr/>
        </p:nvSpPr>
        <p:spPr>
          <a:xfrm>
            <a:off x="960120" y="2456307"/>
            <a:ext cx="10271455" cy="1592580"/>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存在下列情形之一的，律师应当告知委托人，并主动提出回避；但委托人同意委托或者同意继续办理的除外：</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——接受民事诉讼、仲裁案件一方当事人的委托，而同一律师事务所的其他律师是对方当事人的近亲属的；</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——在刑事案件中担任犯罪嫌疑人、被告人的辩护人，而同一律师事务所的其他律师是被害人的近亲属的；</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——以及其他可能影响独立、公正履行职责的情形。</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请注意条文的规范结构：“应当告知 + 主动提出回避”是原则，“委托人同意”是例外。也就是说：律师不能因为觉得“当事人大概不介意”就不告知，告知是强制性的第一步；只有在告知之后，当事人明确表示同意，才可以继续办理。另请注意：告知义务针对的是本方委托人，而不是对方当事人。</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08</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归入规则与信息隔离墙</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一人冲突，全所冲突——这个规则能不能被打破？</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09</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归入规则</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为什么冲突要“归入”整个律所</a:t>
            </a:r>
            <a:endParaRPr lang="en-US" sz="2800" dirty="0"/>
          </a:p>
        </p:txBody>
      </p:sp>
      <p:sp>
        <p:nvSpPr>
          <p:cNvPr id="4" name="Shape 2"/>
          <p:cNvSpPr/>
          <p:nvPr/>
        </p:nvSpPr>
        <p:spPr>
          <a:xfrm>
            <a:off x="566928" y="1316736"/>
            <a:ext cx="11057839" cy="1221169"/>
          </a:xfrm>
          <a:prstGeom prst="roundRect">
            <a:avLst>
              <a:gd name="adj" fmla="val 5990"/>
            </a:avLst>
          </a:prstGeom>
          <a:solidFill>
            <a:srgbClr val="F2F4F8"/>
          </a:solidFill>
          <a:ln w="12700">
            <a:solidFill>
              <a:srgbClr val="F2F4F8"/>
            </a:solidFill>
            <a:prstDash val="solid"/>
          </a:ln>
        </p:spPr>
      </p:sp>
      <p:sp>
        <p:nvSpPr>
          <p:cNvPr id="5" name="Shape 3"/>
          <p:cNvSpPr/>
          <p:nvPr/>
        </p:nvSpPr>
        <p:spPr>
          <a:xfrm>
            <a:off x="841248" y="1671288"/>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824907"/>
            <a:ext cx="204826" cy="204826"/>
          </a:xfrm>
          <a:prstGeom prst="rect">
            <a:avLst/>
          </a:prstGeom>
        </p:spPr>
      </p:pic>
      <p:sp>
        <p:nvSpPr>
          <p:cNvPr id="7" name="Text 4"/>
          <p:cNvSpPr/>
          <p:nvPr/>
        </p:nvSpPr>
        <p:spPr>
          <a:xfrm>
            <a:off x="1536192" y="1502886"/>
            <a:ext cx="9832543" cy="260096"/>
          </a:xfrm>
          <a:prstGeom prst="rect">
            <a:avLst/>
          </a:prstGeom>
          <a:noFill/>
          <a:ln/>
        </p:spPr>
        <p:txBody>
          <a:bodyPr wrap="square" lIns="0" tIns="0" rIns="0" bIns="0" rtlCol="0" anchor="t"/>
          <a:lstStyle/>
          <a:p>
            <a:pPr indent="0" marL="0">
              <a:lnSpc>
                <a:spcPts val="2048"/>
              </a:lnSpc>
              <a:buNone/>
            </a:pPr>
            <a:r>
              <a:rPr lang="en-US" sz="1600" b="1" dirty="0">
                <a:solidFill>
                  <a:srgbClr val="13233F"/>
                </a:solidFill>
                <a:latin typeface="微软雅黑" pitchFamily="34" charset="0"/>
                <a:ea typeface="微软雅黑" pitchFamily="34" charset="-122"/>
                <a:cs typeface="微软雅黑" pitchFamily="34" charset="-120"/>
              </a:rPr>
              <a:t>规则内容</a:t>
            </a:r>
            <a:endParaRPr lang="en-US" sz="1600" dirty="0"/>
          </a:p>
        </p:txBody>
      </p:sp>
      <p:sp>
        <p:nvSpPr>
          <p:cNvPr id="8" name="Text 5"/>
          <p:cNvSpPr/>
          <p:nvPr/>
        </p:nvSpPr>
        <p:spPr>
          <a:xfrm>
            <a:off x="1536192" y="1836134"/>
            <a:ext cx="9832543" cy="51562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一名律师存在的利益冲突，原则上归属于其所在的整个律师事务所，同所其他律师亦不得承办。《律师执业行为规范》第五十一条第四、五项即为归入规则的明文体现。</a:t>
            </a:r>
            <a:endParaRPr lang="en-US" sz="1400" dirty="0"/>
          </a:p>
        </p:txBody>
      </p:sp>
      <p:sp>
        <p:nvSpPr>
          <p:cNvPr id="9" name="Shape 6"/>
          <p:cNvSpPr/>
          <p:nvPr/>
        </p:nvSpPr>
        <p:spPr>
          <a:xfrm>
            <a:off x="566928" y="2684209"/>
            <a:ext cx="11057839" cy="1221169"/>
          </a:xfrm>
          <a:prstGeom prst="roundRect">
            <a:avLst>
              <a:gd name="adj" fmla="val 5990"/>
            </a:avLst>
          </a:prstGeom>
          <a:solidFill>
            <a:srgbClr val="FFFFFF"/>
          </a:solidFill>
          <a:ln w="12700">
            <a:solidFill>
              <a:srgbClr val="D5DBE5"/>
            </a:solidFill>
            <a:prstDash val="solid"/>
          </a:ln>
        </p:spPr>
      </p:sp>
      <p:sp>
        <p:nvSpPr>
          <p:cNvPr id="10" name="Shape 7"/>
          <p:cNvSpPr/>
          <p:nvPr/>
        </p:nvSpPr>
        <p:spPr>
          <a:xfrm>
            <a:off x="841248" y="3038761"/>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192380"/>
            <a:ext cx="204826" cy="204826"/>
          </a:xfrm>
          <a:prstGeom prst="rect">
            <a:avLst/>
          </a:prstGeom>
        </p:spPr>
      </p:pic>
      <p:sp>
        <p:nvSpPr>
          <p:cNvPr id="12" name="Text 8"/>
          <p:cNvSpPr/>
          <p:nvPr/>
        </p:nvSpPr>
        <p:spPr>
          <a:xfrm>
            <a:off x="1536192" y="2870359"/>
            <a:ext cx="9832543" cy="260096"/>
          </a:xfrm>
          <a:prstGeom prst="rect">
            <a:avLst/>
          </a:prstGeom>
          <a:noFill/>
          <a:ln/>
        </p:spPr>
        <p:txBody>
          <a:bodyPr wrap="square" lIns="0" tIns="0" rIns="0" bIns="0" rtlCol="0" anchor="t"/>
          <a:lstStyle/>
          <a:p>
            <a:pPr indent="0" marL="0">
              <a:lnSpc>
                <a:spcPts val="2048"/>
              </a:lnSpc>
              <a:buNone/>
            </a:pPr>
            <a:r>
              <a:rPr lang="en-US" sz="1600" b="1" dirty="0">
                <a:solidFill>
                  <a:srgbClr val="13233F"/>
                </a:solidFill>
                <a:latin typeface="微软雅黑" pitchFamily="34" charset="0"/>
                <a:ea typeface="微软雅黑" pitchFamily="34" charset="-122"/>
                <a:cs typeface="微软雅黑" pitchFamily="34" charset="-120"/>
              </a:rPr>
              <a:t>理由一：信息在律所内部自然流动</a:t>
            </a:r>
            <a:endParaRPr lang="en-US" sz="1600" dirty="0"/>
          </a:p>
        </p:txBody>
      </p:sp>
      <p:sp>
        <p:nvSpPr>
          <p:cNvPr id="13" name="Text 9"/>
          <p:cNvSpPr/>
          <p:nvPr/>
        </p:nvSpPr>
        <p:spPr>
          <a:xfrm>
            <a:off x="1536192" y="3203607"/>
            <a:ext cx="9832543" cy="51562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同事之间讨论案件、共享数据库、使用同一套档案系统是常态。要求同所律师之间完全不交流某个案件，在多数律所的实际运作中难以做到。</a:t>
            </a:r>
            <a:endParaRPr lang="en-US" sz="1400" dirty="0"/>
          </a:p>
        </p:txBody>
      </p:sp>
      <p:sp>
        <p:nvSpPr>
          <p:cNvPr id="14" name="Shape 10"/>
          <p:cNvSpPr/>
          <p:nvPr/>
        </p:nvSpPr>
        <p:spPr>
          <a:xfrm>
            <a:off x="566928" y="4051681"/>
            <a:ext cx="11057839" cy="963359"/>
          </a:xfrm>
          <a:prstGeom prst="roundRect">
            <a:avLst>
              <a:gd name="adj" fmla="val 7593"/>
            </a:avLst>
          </a:prstGeom>
          <a:solidFill>
            <a:srgbClr val="F2F4F8"/>
          </a:solidFill>
          <a:ln w="12700">
            <a:solidFill>
              <a:srgbClr val="F2F4F8"/>
            </a:solidFill>
            <a:prstDash val="solid"/>
          </a:ln>
        </p:spPr>
      </p:sp>
      <p:sp>
        <p:nvSpPr>
          <p:cNvPr id="15" name="Shape 11"/>
          <p:cNvSpPr/>
          <p:nvPr/>
        </p:nvSpPr>
        <p:spPr>
          <a:xfrm>
            <a:off x="841248" y="4277328"/>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430947"/>
            <a:ext cx="204826" cy="204826"/>
          </a:xfrm>
          <a:prstGeom prst="rect">
            <a:avLst/>
          </a:prstGeom>
        </p:spPr>
      </p:pic>
      <p:sp>
        <p:nvSpPr>
          <p:cNvPr id="17" name="Text 12"/>
          <p:cNvSpPr/>
          <p:nvPr/>
        </p:nvSpPr>
        <p:spPr>
          <a:xfrm>
            <a:off x="1536192" y="4237831"/>
            <a:ext cx="9832543" cy="260096"/>
          </a:xfrm>
          <a:prstGeom prst="rect">
            <a:avLst/>
          </a:prstGeom>
          <a:noFill/>
          <a:ln/>
        </p:spPr>
        <p:txBody>
          <a:bodyPr wrap="square" lIns="0" tIns="0" rIns="0" bIns="0" rtlCol="0" anchor="t"/>
          <a:lstStyle/>
          <a:p>
            <a:pPr indent="0" marL="0">
              <a:lnSpc>
                <a:spcPts val="2048"/>
              </a:lnSpc>
              <a:buNone/>
            </a:pPr>
            <a:r>
              <a:rPr lang="en-US" sz="1600" b="1" dirty="0">
                <a:solidFill>
                  <a:srgbClr val="13233F"/>
                </a:solidFill>
                <a:latin typeface="微软雅黑" pitchFamily="34" charset="0"/>
                <a:ea typeface="微软雅黑" pitchFamily="34" charset="-122"/>
                <a:cs typeface="微软雅黑" pitchFamily="34" charset="-120"/>
              </a:rPr>
              <a:t>理由二：经济利益的共同性</a:t>
            </a:r>
            <a:endParaRPr lang="en-US" sz="1600" dirty="0"/>
          </a:p>
        </p:txBody>
      </p:sp>
      <p:sp>
        <p:nvSpPr>
          <p:cNvPr id="18" name="Text 13"/>
          <p:cNvSpPr/>
          <p:nvPr/>
        </p:nvSpPr>
        <p:spPr>
          <a:xfrm>
            <a:off x="1536192" y="4571079"/>
            <a:ext cx="9832543" cy="25781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律所的收入与声誉是共同的。一方胜诉对律所整体有利，这种共同利益本身就构成对独立判断的潜在影响。</a:t>
            </a:r>
            <a:endParaRPr lang="en-US" sz="1400" dirty="0"/>
          </a:p>
        </p:txBody>
      </p:sp>
      <p:sp>
        <p:nvSpPr>
          <p:cNvPr id="19" name="Shape 14"/>
          <p:cNvSpPr/>
          <p:nvPr/>
        </p:nvSpPr>
        <p:spPr>
          <a:xfrm>
            <a:off x="566928" y="5161344"/>
            <a:ext cx="11057839" cy="1221169"/>
          </a:xfrm>
          <a:prstGeom prst="roundRect">
            <a:avLst>
              <a:gd name="adj" fmla="val 5990"/>
            </a:avLst>
          </a:prstGeom>
          <a:solidFill>
            <a:srgbClr val="FFFFFF"/>
          </a:solidFill>
          <a:ln w="12700">
            <a:solidFill>
              <a:srgbClr val="D5DBE5"/>
            </a:solidFill>
            <a:prstDash val="solid"/>
          </a:ln>
        </p:spPr>
      </p:sp>
      <p:sp>
        <p:nvSpPr>
          <p:cNvPr id="20" name="Shape 15"/>
          <p:cNvSpPr/>
          <p:nvPr/>
        </p:nvSpPr>
        <p:spPr>
          <a:xfrm>
            <a:off x="841248" y="5515896"/>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669515"/>
            <a:ext cx="204826" cy="204826"/>
          </a:xfrm>
          <a:prstGeom prst="rect">
            <a:avLst/>
          </a:prstGeom>
        </p:spPr>
      </p:pic>
      <p:sp>
        <p:nvSpPr>
          <p:cNvPr id="22" name="Text 16"/>
          <p:cNvSpPr/>
          <p:nvPr/>
        </p:nvSpPr>
        <p:spPr>
          <a:xfrm>
            <a:off x="1536192" y="5347494"/>
            <a:ext cx="9832543" cy="260096"/>
          </a:xfrm>
          <a:prstGeom prst="rect">
            <a:avLst/>
          </a:prstGeom>
          <a:noFill/>
          <a:ln/>
        </p:spPr>
        <p:txBody>
          <a:bodyPr wrap="square" lIns="0" tIns="0" rIns="0" bIns="0" rtlCol="0" anchor="t"/>
          <a:lstStyle/>
          <a:p>
            <a:pPr indent="0" marL="0">
              <a:lnSpc>
                <a:spcPts val="2048"/>
              </a:lnSpc>
              <a:buNone/>
            </a:pPr>
            <a:r>
              <a:rPr lang="en-US" sz="1600" b="1" dirty="0">
                <a:solidFill>
                  <a:srgbClr val="13233F"/>
                </a:solidFill>
                <a:latin typeface="微软雅黑" pitchFamily="34" charset="0"/>
                <a:ea typeface="微软雅黑" pitchFamily="34" charset="-122"/>
                <a:cs typeface="微软雅黑" pitchFamily="34" charset="-120"/>
              </a:rPr>
              <a:t>理由三：外观上难以取信</a:t>
            </a:r>
            <a:endParaRPr lang="en-US" sz="1600" dirty="0"/>
          </a:p>
        </p:txBody>
      </p:sp>
      <p:sp>
        <p:nvSpPr>
          <p:cNvPr id="23" name="Text 17"/>
          <p:cNvSpPr/>
          <p:nvPr/>
        </p:nvSpPr>
        <p:spPr>
          <a:xfrm>
            <a:off x="1536192" y="5680742"/>
            <a:ext cx="9832543" cy="51562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当事人无法相信“同一家律所的两个人真的会拼命互相攻击”。即使实际上做到了，也无法消除合理怀疑——这又回到了外观标准。</a:t>
            </a:r>
            <a:endParaRPr lang="en-US" sz="140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10</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隔离墙</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信息隔离墙：域外经验与我国态度</a:t>
            </a:r>
            <a:endParaRPr lang="en-US" sz="2800" dirty="0"/>
          </a:p>
        </p:txBody>
      </p:sp>
      <p:sp>
        <p:nvSpPr>
          <p:cNvPr id="4" name="Shape 2"/>
          <p:cNvSpPr/>
          <p:nvPr/>
        </p:nvSpPr>
        <p:spPr>
          <a:xfrm>
            <a:off x="566928" y="1799908"/>
            <a:ext cx="5410048" cy="4099433"/>
          </a:xfrm>
          <a:prstGeom prst="roundRect">
            <a:avLst>
              <a:gd name="adj" fmla="val 2231"/>
            </a:avLst>
          </a:prstGeom>
          <a:solidFill>
            <a:srgbClr val="F2F4F8"/>
          </a:solidFill>
          <a:ln w="12700">
            <a:solidFill>
              <a:srgbClr val="F2F4F8"/>
            </a:solidFill>
            <a:prstDash val="solid"/>
          </a:ln>
        </p:spPr>
      </p:sp>
      <p:sp>
        <p:nvSpPr>
          <p:cNvPr id="5" name="Shape 3"/>
          <p:cNvSpPr/>
          <p:nvPr/>
        </p:nvSpPr>
        <p:spPr>
          <a:xfrm>
            <a:off x="841248" y="2055940"/>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0559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域外的“隔离墙”（ethical screen）</a:t>
            </a:r>
            <a:endParaRPr lang="en-US" sz="1600" dirty="0"/>
          </a:p>
        </p:txBody>
      </p:sp>
      <p:sp>
        <p:nvSpPr>
          <p:cNvPr id="7" name="Text 5"/>
          <p:cNvSpPr/>
          <p:nvPr/>
        </p:nvSpPr>
        <p:spPr>
          <a:xfrm>
            <a:off x="932688" y="2714308"/>
            <a:ext cx="4678528" cy="29472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做法：将存在冲突的律师与承办团队物理与信息隔离——不参与讨论、不接触卷宗、系统权限屏蔽、书面承诺、及时通知前委托人。</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效果：在部分法域，有效的隔离墙可以阻断归入，使律所其他律师得以承办。</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典型适用场景：律师跳槽带来的冲突（因个人流动而使新所被“污染”）。</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前提：律所须有可验证的合规制度与记录，且通常须及时书面通知受影响的前委托人。</a:t>
            </a:r>
            <a:endParaRPr lang="en-US" sz="1450" dirty="0"/>
          </a:p>
        </p:txBody>
      </p:sp>
      <p:sp>
        <p:nvSpPr>
          <p:cNvPr id="8" name="Shape 6"/>
          <p:cNvSpPr/>
          <p:nvPr/>
        </p:nvSpPr>
        <p:spPr>
          <a:xfrm>
            <a:off x="6214720" y="1799908"/>
            <a:ext cx="5410048" cy="4099433"/>
          </a:xfrm>
          <a:prstGeom prst="roundRect">
            <a:avLst>
              <a:gd name="adj" fmla="val 2231"/>
            </a:avLst>
          </a:prstGeom>
          <a:solidFill>
            <a:srgbClr val="F6F1E8"/>
          </a:solidFill>
          <a:ln w="12700">
            <a:solidFill>
              <a:srgbClr val="F6F1E8"/>
            </a:solidFill>
            <a:prstDash val="solid"/>
          </a:ln>
        </p:spPr>
      </p:sp>
      <p:sp>
        <p:nvSpPr>
          <p:cNvPr id="9" name="Shape 7"/>
          <p:cNvSpPr/>
          <p:nvPr/>
        </p:nvSpPr>
        <p:spPr>
          <a:xfrm>
            <a:off x="6489040" y="2055940"/>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0559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我国的谨慎态度</a:t>
            </a:r>
            <a:endParaRPr lang="en-US" sz="1600" dirty="0"/>
          </a:p>
        </p:txBody>
      </p:sp>
      <p:sp>
        <p:nvSpPr>
          <p:cNvPr id="11" name="Text 9"/>
          <p:cNvSpPr/>
          <p:nvPr/>
        </p:nvSpPr>
        <p:spPr>
          <a:xfrm>
            <a:off x="6580480" y="2714308"/>
            <a:ext cx="4678528" cy="29472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现行行业规范对隔离墙未作普遍性的阻断规定，第五十一条的绝对禁止情形不因隔离而解除。</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部分地方律协规则（如上海市律师协会的利益冲突认定与处理规则）对特定情形的处理作了细化，实务中亦有律所建立内部隔离制度。</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实务立场：隔离墙可以作为风险控制与自证勤勉的手段，但不宜作为突破绝对禁止的依据。</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建议路径：能不接受的坚决不接受；确需处理的，同时采取告知、同意、隔离三重措施，并完整留痕。</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11</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特殊场景：合并、流动、分所与特殊主体</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现代律所的组织形态，让冲突问题变得越来越复杂</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12</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四种场景</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组织变动带来的冲突</a:t>
            </a:r>
            <a:endParaRPr lang="en-US" sz="2800" dirty="0"/>
          </a:p>
        </p:txBody>
      </p:sp>
      <p:sp>
        <p:nvSpPr>
          <p:cNvPr id="4" name="Shape 2"/>
          <p:cNvSpPr/>
          <p:nvPr/>
        </p:nvSpPr>
        <p:spPr>
          <a:xfrm>
            <a:off x="566928" y="1316736"/>
            <a:ext cx="11057839" cy="1156716"/>
          </a:xfrm>
          <a:prstGeom prst="roundRect">
            <a:avLst>
              <a:gd name="adj" fmla="val 6324"/>
            </a:avLst>
          </a:prstGeom>
          <a:solidFill>
            <a:srgbClr val="F2F4F8"/>
          </a:solidFill>
          <a:ln w="12700">
            <a:solidFill>
              <a:srgbClr val="F2F4F8"/>
            </a:solidFill>
            <a:prstDash val="solid"/>
          </a:ln>
        </p:spPr>
      </p:sp>
      <p:sp>
        <p:nvSpPr>
          <p:cNvPr id="5" name="Shape 3"/>
          <p:cNvSpPr/>
          <p:nvPr/>
        </p:nvSpPr>
        <p:spPr>
          <a:xfrm>
            <a:off x="841248" y="163906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92681"/>
            <a:ext cx="204826" cy="204826"/>
          </a:xfrm>
          <a:prstGeom prst="rect">
            <a:avLst/>
          </a:prstGeom>
        </p:spPr>
      </p:pic>
      <p:sp>
        <p:nvSpPr>
          <p:cNvPr id="7" name="Text 4"/>
          <p:cNvSpPr/>
          <p:nvPr/>
        </p:nvSpPr>
        <p:spPr>
          <a:xfrm>
            <a:off x="1536192" y="151047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一、律所合并与分立</a:t>
            </a:r>
            <a:endParaRPr lang="en-US" sz="1450" dirty="0"/>
          </a:p>
        </p:txBody>
      </p:sp>
      <p:sp>
        <p:nvSpPr>
          <p:cNvPr id="8" name="Text 5"/>
          <p:cNvSpPr/>
          <p:nvPr/>
        </p:nvSpPr>
        <p:spPr>
          <a:xfrm>
            <a:off x="1536192" y="181933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合并后，两所原有的客户群合并计算，可能立刻产生大量新冲突。应当在合并的尽职调查阶段即进行冲突比对，制定处理方案（退出、告知同意、隔离），并在合并前与受影响的客户沟通。</a:t>
            </a:r>
            <a:endParaRPr lang="en-US" sz="1250" dirty="0"/>
          </a:p>
        </p:txBody>
      </p:sp>
      <p:sp>
        <p:nvSpPr>
          <p:cNvPr id="9" name="Shape 6"/>
          <p:cNvSpPr/>
          <p:nvPr/>
        </p:nvSpPr>
        <p:spPr>
          <a:xfrm>
            <a:off x="566928" y="2619756"/>
            <a:ext cx="11057839" cy="1156716"/>
          </a:xfrm>
          <a:prstGeom prst="roundRect">
            <a:avLst>
              <a:gd name="adj" fmla="val 6324"/>
            </a:avLst>
          </a:prstGeom>
          <a:solidFill>
            <a:srgbClr val="FFFFFF"/>
          </a:solidFill>
          <a:ln w="12700">
            <a:solidFill>
              <a:srgbClr val="D5DBE5"/>
            </a:solidFill>
            <a:prstDash val="solid"/>
          </a:ln>
        </p:spPr>
      </p:sp>
      <p:sp>
        <p:nvSpPr>
          <p:cNvPr id="10" name="Shape 7"/>
          <p:cNvSpPr/>
          <p:nvPr/>
        </p:nvSpPr>
        <p:spPr>
          <a:xfrm>
            <a:off x="841248" y="294208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095701"/>
            <a:ext cx="204826" cy="204826"/>
          </a:xfrm>
          <a:prstGeom prst="rect">
            <a:avLst/>
          </a:prstGeom>
        </p:spPr>
      </p:pic>
      <p:sp>
        <p:nvSpPr>
          <p:cNvPr id="12" name="Text 8"/>
          <p:cNvSpPr/>
          <p:nvPr/>
        </p:nvSpPr>
        <p:spPr>
          <a:xfrm>
            <a:off x="1536192" y="281349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二、律师流动（跳槽）</a:t>
            </a:r>
            <a:endParaRPr lang="en-US" sz="1450" dirty="0"/>
          </a:p>
        </p:txBody>
      </p:sp>
      <p:sp>
        <p:nvSpPr>
          <p:cNvPr id="13" name="Text 9"/>
          <p:cNvSpPr/>
          <p:nvPr/>
        </p:nvSpPr>
        <p:spPr>
          <a:xfrm>
            <a:off x="1536192" y="312235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律师携带其在原所知悉的保密信息进入新所，可能使新所对其原所客户产生冲突。处理要点：以该律师本人是否实际知悉相关保密信息为核心判断；对确有信息的，采取隔离与限制访问；不得将原所客户信息带入新所使用。</a:t>
            </a:r>
            <a:endParaRPr lang="en-US" sz="1250" dirty="0"/>
          </a:p>
        </p:txBody>
      </p:sp>
      <p:sp>
        <p:nvSpPr>
          <p:cNvPr id="14" name="Shape 10"/>
          <p:cNvSpPr/>
          <p:nvPr/>
        </p:nvSpPr>
        <p:spPr>
          <a:xfrm>
            <a:off x="566928" y="3922776"/>
            <a:ext cx="11057839" cy="1156716"/>
          </a:xfrm>
          <a:prstGeom prst="roundRect">
            <a:avLst>
              <a:gd name="adj" fmla="val 6324"/>
            </a:avLst>
          </a:prstGeom>
          <a:solidFill>
            <a:srgbClr val="F2F4F8"/>
          </a:solidFill>
          <a:ln w="12700">
            <a:solidFill>
              <a:srgbClr val="F2F4F8"/>
            </a:solidFill>
            <a:prstDash val="solid"/>
          </a:ln>
        </p:spPr>
      </p:sp>
      <p:sp>
        <p:nvSpPr>
          <p:cNvPr id="15" name="Shape 11"/>
          <p:cNvSpPr/>
          <p:nvPr/>
        </p:nvSpPr>
        <p:spPr>
          <a:xfrm>
            <a:off x="841248" y="42451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98721"/>
            <a:ext cx="204826" cy="204826"/>
          </a:xfrm>
          <a:prstGeom prst="rect">
            <a:avLst/>
          </a:prstGeom>
        </p:spPr>
      </p:pic>
      <p:sp>
        <p:nvSpPr>
          <p:cNvPr id="17" name="Text 12"/>
          <p:cNvSpPr/>
          <p:nvPr/>
        </p:nvSpPr>
        <p:spPr>
          <a:xfrm>
            <a:off x="1536192" y="411651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三、分所、联营与联盟</a:t>
            </a:r>
            <a:endParaRPr lang="en-US" sz="1450" dirty="0"/>
          </a:p>
        </p:txBody>
      </p:sp>
      <p:sp>
        <p:nvSpPr>
          <p:cNvPr id="18" name="Text 13"/>
          <p:cNvSpPr/>
          <p:nvPr/>
        </p:nvSpPr>
        <p:spPr>
          <a:xfrm>
            <a:off x="1536192" y="442537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分所与总所属同一法律主体，冲突当然归入。律师事务所之间的联营、联盟、网络成员所，是否归入需依其组织紧密程度、是否共享客户信息与收益分配而定；对外以统一品牌执业的，应当从严把握。</a:t>
            </a:r>
            <a:endParaRPr lang="en-US" sz="1250" dirty="0"/>
          </a:p>
        </p:txBody>
      </p:sp>
      <p:sp>
        <p:nvSpPr>
          <p:cNvPr id="19" name="Shape 14"/>
          <p:cNvSpPr/>
          <p:nvPr/>
        </p:nvSpPr>
        <p:spPr>
          <a:xfrm>
            <a:off x="566928" y="5225796"/>
            <a:ext cx="11057839" cy="1156716"/>
          </a:xfrm>
          <a:prstGeom prst="roundRect">
            <a:avLst>
              <a:gd name="adj" fmla="val 6324"/>
            </a:avLst>
          </a:prstGeom>
          <a:solidFill>
            <a:srgbClr val="FFFFFF"/>
          </a:solidFill>
          <a:ln w="12700">
            <a:solidFill>
              <a:srgbClr val="D5DBE5"/>
            </a:solidFill>
            <a:prstDash val="solid"/>
          </a:ln>
        </p:spPr>
      </p:sp>
      <p:sp>
        <p:nvSpPr>
          <p:cNvPr id="20" name="Shape 15"/>
          <p:cNvSpPr/>
          <p:nvPr/>
        </p:nvSpPr>
        <p:spPr>
          <a:xfrm>
            <a:off x="841248" y="554812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01741"/>
            <a:ext cx="204826" cy="204826"/>
          </a:xfrm>
          <a:prstGeom prst="rect">
            <a:avLst/>
          </a:prstGeom>
        </p:spPr>
      </p:pic>
      <p:sp>
        <p:nvSpPr>
          <p:cNvPr id="22" name="Text 16"/>
          <p:cNvSpPr/>
          <p:nvPr/>
        </p:nvSpPr>
        <p:spPr>
          <a:xfrm>
            <a:off x="1536192" y="541953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四、公司律师、公职律师与法律顾问</a:t>
            </a:r>
            <a:endParaRPr lang="en-US" sz="1450" dirty="0"/>
          </a:p>
        </p:txBody>
      </p:sp>
      <p:sp>
        <p:nvSpPr>
          <p:cNvPr id="23" name="Text 17"/>
          <p:cNvSpPr/>
          <p:nvPr/>
        </p:nvSpPr>
        <p:spPr>
          <a:xfrm>
            <a:off x="1536192" y="572839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公司律师的委托人是所在企业，不得为其他主体提供与本企业相冲突的服务；公职律师服务于所在机关，应当避免与本机关职责相冲突的兼职；常年法律顾问单位众多的律师，须建立顾问单位清单并定期比对。</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13</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案例研讨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跳槽带来的冲突</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实务难题</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一名律师的两段职业经历</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张律师在A所工作期间，作为团队成员参与甲公司与乙公司的股权纠纷案，代理甲公司，接触了甲公司的全部内部文件与谈判底线。</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一年后张律师跳槽至B所。此时B所正在代理乙公司与甲公司的另一起关联纠纷——争议标的与前案基于同一次股权交易。张律师本人并未参与该案。</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B所提出：张律师不参与该案，不接触卷宗，系统权限屏蔽，并签署书面承诺，可否继续代理乙公司？</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甲公司得知后提出异议，要求B所退出，理由是张律师掌握甲公司的核心信息。</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342642"/>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342642"/>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3102"/>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B所是否因张律师的加入而产生冲突？</a:t>
            </a:r>
            <a:endParaRPr lang="en-US" sz="1400" dirty="0"/>
          </a:p>
        </p:txBody>
      </p:sp>
      <p:sp>
        <p:nvSpPr>
          <p:cNvPr id="14" name="Shape 12"/>
          <p:cNvSpPr/>
          <p:nvPr/>
        </p:nvSpPr>
        <p:spPr>
          <a:xfrm>
            <a:off x="7958023" y="3352038"/>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352038"/>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3222498"/>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隔离措施能否阻断归入？我国规范的态度如何？</a:t>
            </a:r>
            <a:endParaRPr lang="en-US" sz="1400" dirty="0"/>
          </a:p>
        </p:txBody>
      </p:sp>
      <p:sp>
        <p:nvSpPr>
          <p:cNvPr id="17" name="Shape 15"/>
          <p:cNvSpPr/>
          <p:nvPr/>
        </p:nvSpPr>
        <p:spPr>
          <a:xfrm>
            <a:off x="7958023" y="4361434"/>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361434"/>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4231894"/>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若B所已代理该案两年、临近开庭，处理方案是否不同？</a:t>
            </a:r>
            <a:endParaRPr lang="en-US" sz="1400" dirty="0"/>
          </a:p>
        </p:txBody>
      </p:sp>
      <p:sp>
        <p:nvSpPr>
          <p:cNvPr id="20" name="Shape 18"/>
          <p:cNvSpPr/>
          <p:nvPr/>
        </p:nvSpPr>
        <p:spPr>
          <a:xfrm>
            <a:off x="7958023" y="5241925"/>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5241925"/>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5245735"/>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张律师本人应当承担哪些义务？</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14</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发现冲突后的处理规则</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发现得早是幸运，发现得晚是考验</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15</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处理流程</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发现冲突后的六个步骤</a:t>
            </a:r>
            <a:endParaRPr lang="en-US" sz="2800" dirty="0"/>
          </a:p>
        </p:txBody>
      </p:sp>
      <p:sp>
        <p:nvSpPr>
          <p:cNvPr id="4" name="Shape 2"/>
          <p:cNvSpPr/>
          <p:nvPr/>
        </p:nvSpPr>
        <p:spPr>
          <a:xfrm>
            <a:off x="566928" y="1853946"/>
            <a:ext cx="5382616" cy="1079373"/>
          </a:xfrm>
          <a:prstGeom prst="roundRect">
            <a:avLst>
              <a:gd name="adj" fmla="val 6777"/>
            </a:avLst>
          </a:prstGeom>
          <a:solidFill>
            <a:srgbClr val="F2F4F8"/>
          </a:solidFill>
          <a:ln w="12700">
            <a:solidFill>
              <a:srgbClr val="F2F4F8"/>
            </a:solidFill>
            <a:prstDash val="solid"/>
          </a:ln>
        </p:spPr>
      </p:sp>
      <p:sp>
        <p:nvSpPr>
          <p:cNvPr id="5" name="Shape 3"/>
          <p:cNvSpPr/>
          <p:nvPr/>
        </p:nvSpPr>
        <p:spPr>
          <a:xfrm>
            <a:off x="822960" y="2165033"/>
            <a:ext cx="457200" cy="457200"/>
          </a:xfrm>
          <a:prstGeom prst="ellipse">
            <a:avLst/>
          </a:prstGeom>
          <a:solidFill>
            <a:srgbClr val="13233F"/>
          </a:solidFill>
          <a:ln w="12700">
            <a:solidFill>
              <a:srgbClr val="13233F"/>
            </a:solidFill>
            <a:prstDash val="solid"/>
          </a:ln>
        </p:spPr>
      </p:sp>
      <p:sp>
        <p:nvSpPr>
          <p:cNvPr id="6" name="Text 4"/>
          <p:cNvSpPr/>
          <p:nvPr/>
        </p:nvSpPr>
        <p:spPr>
          <a:xfrm>
            <a:off x="822960" y="2165033"/>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44752" y="1991106"/>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第一步：立即停止相关工作</a:t>
            </a:r>
            <a:endParaRPr lang="en-US" sz="1500" dirty="0"/>
          </a:p>
        </p:txBody>
      </p:sp>
      <p:sp>
        <p:nvSpPr>
          <p:cNvPr id="8" name="Text 6"/>
          <p:cNvSpPr/>
          <p:nvPr/>
        </p:nvSpPr>
        <p:spPr>
          <a:xfrm>
            <a:off x="1444752" y="2298954"/>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暂停可能损害任一方利益的行为，特别是不得再接触、使用或者传递相关信息。</a:t>
            </a:r>
            <a:endParaRPr lang="en-US" sz="1350" dirty="0"/>
          </a:p>
        </p:txBody>
      </p:sp>
      <p:sp>
        <p:nvSpPr>
          <p:cNvPr id="9" name="Shape 7"/>
          <p:cNvSpPr/>
          <p:nvPr/>
        </p:nvSpPr>
        <p:spPr>
          <a:xfrm>
            <a:off x="566928" y="3061335"/>
            <a:ext cx="5382616" cy="1327976"/>
          </a:xfrm>
          <a:prstGeom prst="roundRect">
            <a:avLst>
              <a:gd name="adj" fmla="val 5509"/>
            </a:avLst>
          </a:prstGeom>
          <a:solidFill>
            <a:srgbClr val="FFFFFF"/>
          </a:solidFill>
          <a:ln w="12700">
            <a:solidFill>
              <a:srgbClr val="D5DBE5"/>
            </a:solidFill>
            <a:prstDash val="solid"/>
          </a:ln>
        </p:spPr>
      </p:sp>
      <p:sp>
        <p:nvSpPr>
          <p:cNvPr id="10" name="Shape 8"/>
          <p:cNvSpPr/>
          <p:nvPr/>
        </p:nvSpPr>
        <p:spPr>
          <a:xfrm>
            <a:off x="822960" y="3496723"/>
            <a:ext cx="457200" cy="457200"/>
          </a:xfrm>
          <a:prstGeom prst="ellipse">
            <a:avLst/>
          </a:prstGeom>
          <a:solidFill>
            <a:srgbClr val="13233F"/>
          </a:solidFill>
          <a:ln w="12700">
            <a:solidFill>
              <a:srgbClr val="13233F"/>
            </a:solidFill>
            <a:prstDash val="solid"/>
          </a:ln>
        </p:spPr>
      </p:sp>
      <p:sp>
        <p:nvSpPr>
          <p:cNvPr id="11" name="Text 9"/>
          <p:cNvSpPr/>
          <p:nvPr/>
        </p:nvSpPr>
        <p:spPr>
          <a:xfrm>
            <a:off x="822960" y="3496723"/>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444752" y="3198495"/>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第二步：确定冲突类型与性质</a:t>
            </a:r>
            <a:endParaRPr lang="en-US" sz="1500" dirty="0"/>
          </a:p>
        </p:txBody>
      </p:sp>
      <p:sp>
        <p:nvSpPr>
          <p:cNvPr id="13" name="Text 11"/>
          <p:cNvSpPr/>
          <p:nvPr/>
        </p:nvSpPr>
        <p:spPr>
          <a:xfrm>
            <a:off x="1444752" y="3506343"/>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属绝对禁止还是相对禁止？涉及现委托人之间，还是现委托人与前委托人之间？据此确定是否存在同意豁免的空间。</a:t>
            </a:r>
            <a:endParaRPr lang="en-US" sz="1350" dirty="0"/>
          </a:p>
        </p:txBody>
      </p:sp>
      <p:sp>
        <p:nvSpPr>
          <p:cNvPr id="14" name="Shape 12"/>
          <p:cNvSpPr/>
          <p:nvPr/>
        </p:nvSpPr>
        <p:spPr>
          <a:xfrm>
            <a:off x="566928" y="4517327"/>
            <a:ext cx="5382616" cy="1327976"/>
          </a:xfrm>
          <a:prstGeom prst="roundRect">
            <a:avLst>
              <a:gd name="adj" fmla="val 5509"/>
            </a:avLst>
          </a:prstGeom>
          <a:solidFill>
            <a:srgbClr val="F2F4F8"/>
          </a:solidFill>
          <a:ln w="12700">
            <a:solidFill>
              <a:srgbClr val="F2F4F8"/>
            </a:solidFill>
            <a:prstDash val="solid"/>
          </a:ln>
        </p:spPr>
      </p:sp>
      <p:sp>
        <p:nvSpPr>
          <p:cNvPr id="15" name="Shape 13"/>
          <p:cNvSpPr/>
          <p:nvPr/>
        </p:nvSpPr>
        <p:spPr>
          <a:xfrm>
            <a:off x="822960" y="4952714"/>
            <a:ext cx="457200" cy="457200"/>
          </a:xfrm>
          <a:prstGeom prst="ellipse">
            <a:avLst/>
          </a:prstGeom>
          <a:solidFill>
            <a:srgbClr val="13233F"/>
          </a:solidFill>
          <a:ln w="12700">
            <a:solidFill>
              <a:srgbClr val="13233F"/>
            </a:solidFill>
            <a:prstDash val="solid"/>
          </a:ln>
        </p:spPr>
      </p:sp>
      <p:sp>
        <p:nvSpPr>
          <p:cNvPr id="16" name="Text 14"/>
          <p:cNvSpPr/>
          <p:nvPr/>
        </p:nvSpPr>
        <p:spPr>
          <a:xfrm>
            <a:off x="822960" y="495271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444752" y="4654487"/>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第三步：确定退出主体</a:t>
            </a:r>
            <a:endParaRPr lang="en-US" sz="1500" dirty="0"/>
          </a:p>
        </p:txBody>
      </p:sp>
      <p:sp>
        <p:nvSpPr>
          <p:cNvPr id="18" name="Text 16"/>
          <p:cNvSpPr/>
          <p:nvPr/>
        </p:nvSpPr>
        <p:spPr>
          <a:xfrm>
            <a:off x="1444752" y="4962335"/>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一般规则是“后接受者退出”；若两案均已深度进行，或者退出将严重损害某一方，可能需要双方均退出。判断标准是使损害最小化。</a:t>
            </a:r>
            <a:endParaRPr lang="en-US" sz="1350" dirty="0"/>
          </a:p>
        </p:txBody>
      </p:sp>
      <p:sp>
        <p:nvSpPr>
          <p:cNvPr id="19" name="Shape 17"/>
          <p:cNvSpPr/>
          <p:nvPr/>
        </p:nvSpPr>
        <p:spPr>
          <a:xfrm>
            <a:off x="6242152" y="1729645"/>
            <a:ext cx="5382616" cy="1327976"/>
          </a:xfrm>
          <a:prstGeom prst="roundRect">
            <a:avLst>
              <a:gd name="adj" fmla="val 5509"/>
            </a:avLst>
          </a:prstGeom>
          <a:solidFill>
            <a:srgbClr val="FFFFFF"/>
          </a:solidFill>
          <a:ln w="12700">
            <a:solidFill>
              <a:srgbClr val="D5DBE5"/>
            </a:solidFill>
            <a:prstDash val="solid"/>
          </a:ln>
        </p:spPr>
      </p:sp>
      <p:sp>
        <p:nvSpPr>
          <p:cNvPr id="20" name="Shape 18"/>
          <p:cNvSpPr/>
          <p:nvPr/>
        </p:nvSpPr>
        <p:spPr>
          <a:xfrm>
            <a:off x="6498184" y="2165033"/>
            <a:ext cx="457200" cy="457200"/>
          </a:xfrm>
          <a:prstGeom prst="ellipse">
            <a:avLst/>
          </a:prstGeom>
          <a:solidFill>
            <a:srgbClr val="13233F"/>
          </a:solidFill>
          <a:ln w="12700">
            <a:solidFill>
              <a:srgbClr val="13233F"/>
            </a:solidFill>
            <a:prstDash val="solid"/>
          </a:ln>
        </p:spPr>
      </p:sp>
      <p:sp>
        <p:nvSpPr>
          <p:cNvPr id="21" name="Text 19"/>
          <p:cNvSpPr/>
          <p:nvPr/>
        </p:nvSpPr>
        <p:spPr>
          <a:xfrm>
            <a:off x="6498184" y="2165033"/>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7119976" y="1866805"/>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第四步：履行告知义务</a:t>
            </a:r>
            <a:endParaRPr lang="en-US" sz="1500" dirty="0"/>
          </a:p>
        </p:txBody>
      </p:sp>
      <p:sp>
        <p:nvSpPr>
          <p:cNvPr id="23" name="Text 21"/>
          <p:cNvSpPr/>
          <p:nvPr/>
        </p:nvSpPr>
        <p:spPr>
          <a:xfrm>
            <a:off x="7119976" y="2174653"/>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向受影响的委托人告知冲突的存在与处理方案。注意告知的限度——不得因此披露另一方的保密信息，通常只需说明“因利益冲突不能继续代理”。</a:t>
            </a:r>
            <a:endParaRPr lang="en-US" sz="1350" dirty="0"/>
          </a:p>
        </p:txBody>
      </p:sp>
      <p:sp>
        <p:nvSpPr>
          <p:cNvPr id="24" name="Shape 22"/>
          <p:cNvSpPr/>
          <p:nvPr/>
        </p:nvSpPr>
        <p:spPr>
          <a:xfrm>
            <a:off x="6242152" y="3185636"/>
            <a:ext cx="5382616" cy="1327976"/>
          </a:xfrm>
          <a:prstGeom prst="roundRect">
            <a:avLst>
              <a:gd name="adj" fmla="val 5509"/>
            </a:avLst>
          </a:prstGeom>
          <a:solidFill>
            <a:srgbClr val="F2F4F8"/>
          </a:solidFill>
          <a:ln w="12700">
            <a:solidFill>
              <a:srgbClr val="F2F4F8"/>
            </a:solidFill>
            <a:prstDash val="solid"/>
          </a:ln>
        </p:spPr>
      </p:sp>
      <p:sp>
        <p:nvSpPr>
          <p:cNvPr id="25" name="Shape 23"/>
          <p:cNvSpPr/>
          <p:nvPr/>
        </p:nvSpPr>
        <p:spPr>
          <a:xfrm>
            <a:off x="6498184" y="3621024"/>
            <a:ext cx="457200" cy="457200"/>
          </a:xfrm>
          <a:prstGeom prst="ellipse">
            <a:avLst/>
          </a:prstGeom>
          <a:solidFill>
            <a:srgbClr val="13233F"/>
          </a:solidFill>
          <a:ln w="12700">
            <a:solidFill>
              <a:srgbClr val="13233F"/>
            </a:solidFill>
            <a:prstDash val="solid"/>
          </a:ln>
        </p:spPr>
      </p:sp>
      <p:sp>
        <p:nvSpPr>
          <p:cNvPr id="26" name="Text 24"/>
          <p:cNvSpPr/>
          <p:nvPr/>
        </p:nvSpPr>
        <p:spPr>
          <a:xfrm>
            <a:off x="6498184" y="362102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7119976" y="3322796"/>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第五步：妥善交接与费用结算</a:t>
            </a:r>
            <a:endParaRPr lang="en-US" sz="1500" dirty="0"/>
          </a:p>
        </p:txBody>
      </p:sp>
      <p:sp>
        <p:nvSpPr>
          <p:cNvPr id="28" name="Text 26"/>
          <p:cNvSpPr/>
          <p:nvPr/>
        </p:nvSpPr>
        <p:spPr>
          <a:xfrm>
            <a:off x="7119976" y="3630644"/>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移交材料、说明案件进展与紧迫期限、协助另行委托；依约结算费用。因律所过错导致退出的，通常应当退还相应费用并赔偿由此产生的额外损失。</a:t>
            </a:r>
            <a:endParaRPr lang="en-US" sz="1350" dirty="0"/>
          </a:p>
        </p:txBody>
      </p:sp>
      <p:sp>
        <p:nvSpPr>
          <p:cNvPr id="29" name="Shape 27"/>
          <p:cNvSpPr/>
          <p:nvPr/>
        </p:nvSpPr>
        <p:spPr>
          <a:xfrm>
            <a:off x="6242152" y="4641628"/>
            <a:ext cx="5382616" cy="1327976"/>
          </a:xfrm>
          <a:prstGeom prst="roundRect">
            <a:avLst>
              <a:gd name="adj" fmla="val 5509"/>
            </a:avLst>
          </a:prstGeom>
          <a:solidFill>
            <a:srgbClr val="FFFFFF"/>
          </a:solidFill>
          <a:ln w="12700">
            <a:solidFill>
              <a:srgbClr val="D5DBE5"/>
            </a:solidFill>
            <a:prstDash val="solid"/>
          </a:ln>
        </p:spPr>
      </p:sp>
      <p:sp>
        <p:nvSpPr>
          <p:cNvPr id="30" name="Shape 28"/>
          <p:cNvSpPr/>
          <p:nvPr/>
        </p:nvSpPr>
        <p:spPr>
          <a:xfrm>
            <a:off x="6498184" y="5077016"/>
            <a:ext cx="457200" cy="457200"/>
          </a:xfrm>
          <a:prstGeom prst="ellipse">
            <a:avLst/>
          </a:prstGeom>
          <a:solidFill>
            <a:srgbClr val="13233F"/>
          </a:solidFill>
          <a:ln w="12700">
            <a:solidFill>
              <a:srgbClr val="13233F"/>
            </a:solidFill>
            <a:prstDash val="solid"/>
          </a:ln>
        </p:spPr>
      </p:sp>
      <p:sp>
        <p:nvSpPr>
          <p:cNvPr id="31" name="Text 29"/>
          <p:cNvSpPr/>
          <p:nvPr/>
        </p:nvSpPr>
        <p:spPr>
          <a:xfrm>
            <a:off x="6498184" y="5077016"/>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6</a:t>
            </a:r>
            <a:endParaRPr lang="en-US" sz="1600" dirty="0"/>
          </a:p>
        </p:txBody>
      </p:sp>
      <p:sp>
        <p:nvSpPr>
          <p:cNvPr id="32" name="Text 30"/>
          <p:cNvSpPr/>
          <p:nvPr/>
        </p:nvSpPr>
        <p:spPr>
          <a:xfrm>
            <a:off x="7119976" y="4778788"/>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第六步：内部复盘与制度修补</a:t>
            </a:r>
            <a:endParaRPr lang="en-US" sz="1500" dirty="0"/>
          </a:p>
        </p:txBody>
      </p:sp>
      <p:sp>
        <p:nvSpPr>
          <p:cNvPr id="33" name="Text 31"/>
          <p:cNvSpPr/>
          <p:nvPr/>
        </p:nvSpPr>
        <p:spPr>
          <a:xfrm>
            <a:off x="7119976" y="5086636"/>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查明检索为何失效，修补制度漏洞，记录归档。冲突事故的价值在于暴露制度缺口，一次疏漏若不修补，必然重演。</a:t>
            </a:r>
            <a:endParaRPr lang="en-US" sz="1350" dirty="0"/>
          </a:p>
        </p:txBody>
      </p:sp>
      <p:sp>
        <p:nvSpPr>
          <p:cNvPr id="34" name="Text 32"/>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16</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退出的限度</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退出时不得做的三件事</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退出本身也是执业行为，同样受伦理规范约束。</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第一，不得披露冲突的具体内容。 向甲说明“我们不能继续代理您了”是必要的；说明“因为乙来找我们了、乙的情况是这样的”则构成对乙的泄密。</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第二，不得选择性地损害一方。 不得为了保住大客户而在退出小客户时草率交接、拖延移交材料或者不予退费。</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第三，不得利用已知悉的信息。 退出之后，因该委托关系知悉的一切信息仍受保密义务约束，且不得用于其后的任何案件。</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请记住第15课时的结论：委托关系结束了，义务并没有全部结束。</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17</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6</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律所冲突审查制度的建设</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把个人的谨慎，变成组织的能力</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18</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制度要素</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一套可运行的冲突审查制度包含什么</a:t>
            </a:r>
            <a:endParaRPr lang="en-US" sz="2800" dirty="0"/>
          </a:p>
        </p:txBody>
      </p:sp>
      <p:sp>
        <p:nvSpPr>
          <p:cNvPr id="4" name="Shape 2"/>
          <p:cNvSpPr/>
          <p:nvPr/>
        </p:nvSpPr>
        <p:spPr>
          <a:xfrm>
            <a:off x="566928" y="1316736"/>
            <a:ext cx="5410048" cy="2423160"/>
          </a:xfrm>
          <a:prstGeom prst="roundRect">
            <a:avLst>
              <a:gd name="adj" fmla="val 3774"/>
            </a:avLst>
          </a:prstGeom>
          <a:solidFill>
            <a:srgbClr val="F2F4F8"/>
          </a:solidFill>
          <a:ln w="12700">
            <a:solidFill>
              <a:srgbClr val="F2F4F8"/>
            </a:solidFill>
            <a:prstDash val="solid"/>
          </a:ln>
        </p:spPr>
      </p:sp>
      <p:sp>
        <p:nvSpPr>
          <p:cNvPr id="5" name="Shape 3"/>
          <p:cNvSpPr/>
          <p:nvPr/>
        </p:nvSpPr>
        <p:spPr>
          <a:xfrm>
            <a:off x="886968" y="1609344"/>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746504"/>
            <a:ext cx="182880" cy="182880"/>
          </a:xfrm>
          <a:prstGeom prst="rect">
            <a:avLst/>
          </a:prstGeom>
        </p:spPr>
      </p:pic>
      <p:sp>
        <p:nvSpPr>
          <p:cNvPr id="7" name="Text 4"/>
          <p:cNvSpPr/>
          <p:nvPr/>
        </p:nvSpPr>
        <p:spPr>
          <a:xfrm>
            <a:off x="886968" y="2231136"/>
            <a:ext cx="4769968" cy="261937"/>
          </a:xfrm>
          <a:prstGeom prst="rect">
            <a:avLst/>
          </a:prstGeom>
          <a:noFill/>
          <a:ln/>
        </p:spPr>
        <p:txBody>
          <a:bodyPr wrap="square" lIns="0" tIns="0" rIns="0" bIns="0" rtlCol="0" anchor="t"/>
          <a:lstStyle/>
          <a:p>
            <a:pPr indent="0" marL="0">
              <a:lnSpc>
                <a:spcPts val="2063"/>
              </a:lnSpc>
              <a:buNone/>
            </a:pPr>
            <a:r>
              <a:rPr lang="en-US" sz="1650" b="1" dirty="0">
                <a:solidFill>
                  <a:srgbClr val="13233F"/>
                </a:solidFill>
                <a:latin typeface="微软雅黑" pitchFamily="34" charset="0"/>
                <a:ea typeface="微软雅黑" pitchFamily="34" charset="-122"/>
                <a:cs typeface="微软雅黑" pitchFamily="34" charset="-120"/>
              </a:rPr>
              <a:t>责任分工</a:t>
            </a:r>
            <a:endParaRPr lang="en-US" sz="1650" dirty="0"/>
          </a:p>
        </p:txBody>
      </p:sp>
      <p:sp>
        <p:nvSpPr>
          <p:cNvPr id="8" name="Text 5"/>
          <p:cNvSpPr/>
          <p:nvPr/>
        </p:nvSpPr>
        <p:spPr>
          <a:xfrm>
            <a:off x="886968" y="2621090"/>
            <a:ext cx="4769968" cy="899350"/>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明确审查的责任部门与责任人（通常为风控部门或者指定合伙人）；明确承办律师的申报义务与风控部门的复核权限；重大或者疑难冲突提交管理委员会决定。</a:t>
            </a:r>
            <a:endParaRPr lang="en-US" sz="1400" dirty="0"/>
          </a:p>
        </p:txBody>
      </p:sp>
      <p:sp>
        <p:nvSpPr>
          <p:cNvPr id="9" name="Shape 6"/>
          <p:cNvSpPr/>
          <p:nvPr/>
        </p:nvSpPr>
        <p:spPr>
          <a:xfrm>
            <a:off x="6214720" y="1316736"/>
            <a:ext cx="5410048" cy="2423160"/>
          </a:xfrm>
          <a:prstGeom prst="roundRect">
            <a:avLst>
              <a:gd name="adj" fmla="val 3774"/>
            </a:avLst>
          </a:prstGeom>
          <a:solidFill>
            <a:srgbClr val="F6F1E8"/>
          </a:solidFill>
          <a:ln w="12700">
            <a:solidFill>
              <a:srgbClr val="F6F1E8"/>
            </a:solidFill>
            <a:prstDash val="solid"/>
          </a:ln>
        </p:spPr>
      </p:sp>
      <p:sp>
        <p:nvSpPr>
          <p:cNvPr id="10" name="Shape 7"/>
          <p:cNvSpPr/>
          <p:nvPr/>
        </p:nvSpPr>
        <p:spPr>
          <a:xfrm>
            <a:off x="6534760" y="1609344"/>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746504"/>
            <a:ext cx="182880" cy="182880"/>
          </a:xfrm>
          <a:prstGeom prst="rect">
            <a:avLst/>
          </a:prstGeom>
        </p:spPr>
      </p:pic>
      <p:sp>
        <p:nvSpPr>
          <p:cNvPr id="12" name="Text 8"/>
          <p:cNvSpPr/>
          <p:nvPr/>
        </p:nvSpPr>
        <p:spPr>
          <a:xfrm>
            <a:off x="6534760" y="2231136"/>
            <a:ext cx="4769968" cy="261937"/>
          </a:xfrm>
          <a:prstGeom prst="rect">
            <a:avLst/>
          </a:prstGeom>
          <a:noFill/>
          <a:ln/>
        </p:spPr>
        <p:txBody>
          <a:bodyPr wrap="square" lIns="0" tIns="0" rIns="0" bIns="0" rtlCol="0" anchor="t"/>
          <a:lstStyle/>
          <a:p>
            <a:pPr indent="0" marL="0">
              <a:lnSpc>
                <a:spcPts val="2063"/>
              </a:lnSpc>
              <a:buNone/>
            </a:pPr>
            <a:r>
              <a:rPr lang="en-US" sz="1650" b="1" dirty="0">
                <a:solidFill>
                  <a:srgbClr val="13233F"/>
                </a:solidFill>
                <a:latin typeface="微软雅黑" pitchFamily="34" charset="0"/>
                <a:ea typeface="微软雅黑" pitchFamily="34" charset="-122"/>
                <a:cs typeface="微软雅黑" pitchFamily="34" charset="-120"/>
              </a:rPr>
              <a:t>检索数据库</a:t>
            </a:r>
            <a:endParaRPr lang="en-US" sz="1650" dirty="0"/>
          </a:p>
        </p:txBody>
      </p:sp>
      <p:sp>
        <p:nvSpPr>
          <p:cNvPr id="13" name="Text 9"/>
          <p:cNvSpPr/>
          <p:nvPr/>
        </p:nvSpPr>
        <p:spPr>
          <a:xfrm>
            <a:off x="6534760" y="2621090"/>
            <a:ext cx="4769968" cy="899350"/>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建立涵盖全所（含分所）现有客户、历史客户、对方当事人、关联方、以及实质性咨询记录的数据库；支持名称、统一社会信用代码、关联关系等多维检索；数据须及时更新。</a:t>
            </a:r>
            <a:endParaRPr lang="en-US" sz="1400" dirty="0"/>
          </a:p>
        </p:txBody>
      </p:sp>
      <p:sp>
        <p:nvSpPr>
          <p:cNvPr id="14" name="Shape 10"/>
          <p:cNvSpPr/>
          <p:nvPr/>
        </p:nvSpPr>
        <p:spPr>
          <a:xfrm>
            <a:off x="566928" y="3959352"/>
            <a:ext cx="5410048" cy="2423160"/>
          </a:xfrm>
          <a:prstGeom prst="roundRect">
            <a:avLst>
              <a:gd name="adj" fmla="val 3774"/>
            </a:avLst>
          </a:prstGeom>
          <a:solidFill>
            <a:srgbClr val="ECF3F2"/>
          </a:solidFill>
          <a:ln w="12700">
            <a:solidFill>
              <a:srgbClr val="ECF3F2"/>
            </a:solidFill>
            <a:prstDash val="solid"/>
          </a:ln>
        </p:spPr>
      </p:sp>
      <p:sp>
        <p:nvSpPr>
          <p:cNvPr id="15" name="Shape 11"/>
          <p:cNvSpPr/>
          <p:nvPr/>
        </p:nvSpPr>
        <p:spPr>
          <a:xfrm>
            <a:off x="886968" y="4251960"/>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61937"/>
          </a:xfrm>
          <a:prstGeom prst="rect">
            <a:avLst/>
          </a:prstGeom>
          <a:noFill/>
          <a:ln/>
        </p:spPr>
        <p:txBody>
          <a:bodyPr wrap="square" lIns="0" tIns="0" rIns="0" bIns="0" rtlCol="0" anchor="t"/>
          <a:lstStyle/>
          <a:p>
            <a:pPr indent="0" marL="0">
              <a:lnSpc>
                <a:spcPts val="2063"/>
              </a:lnSpc>
              <a:buNone/>
            </a:pPr>
            <a:r>
              <a:rPr lang="en-US" sz="1650" b="1" dirty="0">
                <a:solidFill>
                  <a:srgbClr val="13233F"/>
                </a:solidFill>
                <a:latin typeface="微软雅黑" pitchFamily="34" charset="0"/>
                <a:ea typeface="微软雅黑" pitchFamily="34" charset="-122"/>
                <a:cs typeface="微软雅黑" pitchFamily="34" charset="-120"/>
              </a:rPr>
              <a:t>流程与节点</a:t>
            </a:r>
            <a:endParaRPr lang="en-US" sz="1650" dirty="0"/>
          </a:p>
        </p:txBody>
      </p:sp>
      <p:sp>
        <p:nvSpPr>
          <p:cNvPr id="18" name="Text 13"/>
          <p:cNvSpPr/>
          <p:nvPr/>
        </p:nvSpPr>
        <p:spPr>
          <a:xfrm>
            <a:off x="886968" y="5263706"/>
            <a:ext cx="4769968" cy="899350"/>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接案前强制检索；重大节点（追加当事人、客户并购、案件合并）重新检索；每年对常年法律顾问单位清单进行更新比对。检索未通过的，不得立案建档、不得收费。</a:t>
            </a:r>
            <a:endParaRPr lang="en-US" sz="1400" dirty="0"/>
          </a:p>
        </p:txBody>
      </p:sp>
      <p:sp>
        <p:nvSpPr>
          <p:cNvPr id="19" name="Shape 14"/>
          <p:cNvSpPr/>
          <p:nvPr/>
        </p:nvSpPr>
        <p:spPr>
          <a:xfrm>
            <a:off x="6214720" y="3959352"/>
            <a:ext cx="5410048" cy="2423160"/>
          </a:xfrm>
          <a:prstGeom prst="roundRect">
            <a:avLst>
              <a:gd name="adj" fmla="val 3774"/>
            </a:avLst>
          </a:prstGeom>
          <a:solidFill>
            <a:srgbClr val="F8EFF0"/>
          </a:solidFill>
          <a:ln w="12700">
            <a:solidFill>
              <a:srgbClr val="F8EFF0"/>
            </a:solidFill>
            <a:prstDash val="solid"/>
          </a:ln>
        </p:spPr>
      </p:sp>
      <p:sp>
        <p:nvSpPr>
          <p:cNvPr id="20" name="Shape 15"/>
          <p:cNvSpPr/>
          <p:nvPr/>
        </p:nvSpPr>
        <p:spPr>
          <a:xfrm>
            <a:off x="6534760" y="4251960"/>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61937"/>
          </a:xfrm>
          <a:prstGeom prst="rect">
            <a:avLst/>
          </a:prstGeom>
          <a:noFill/>
          <a:ln/>
        </p:spPr>
        <p:txBody>
          <a:bodyPr wrap="square" lIns="0" tIns="0" rIns="0" bIns="0" rtlCol="0" anchor="t"/>
          <a:lstStyle/>
          <a:p>
            <a:pPr indent="0" marL="0">
              <a:lnSpc>
                <a:spcPts val="2063"/>
              </a:lnSpc>
              <a:buNone/>
            </a:pPr>
            <a:r>
              <a:rPr lang="en-US" sz="1650" b="1" dirty="0">
                <a:solidFill>
                  <a:srgbClr val="13233F"/>
                </a:solidFill>
                <a:latin typeface="微软雅黑" pitchFamily="34" charset="0"/>
                <a:ea typeface="微软雅黑" pitchFamily="34" charset="-122"/>
                <a:cs typeface="微软雅黑" pitchFamily="34" charset="-120"/>
              </a:rPr>
              <a:t>记录与留痕</a:t>
            </a:r>
            <a:endParaRPr lang="en-US" sz="1650" dirty="0"/>
          </a:p>
        </p:txBody>
      </p:sp>
      <p:sp>
        <p:nvSpPr>
          <p:cNvPr id="23" name="Text 17"/>
          <p:cNvSpPr/>
          <p:nvPr/>
        </p:nvSpPr>
        <p:spPr>
          <a:xfrm>
            <a:off x="6534760" y="5263706"/>
            <a:ext cx="4769968" cy="899350"/>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检索请求、检索结果、判断意见、处理决定、告知与同意文件，全部归档保存。发生争议时，完整的审查记录是律所已尽管理义务的最有力证明。</a:t>
            </a:r>
            <a:endParaRPr lang="en-US" sz="140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19</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3233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58368" y="1316736"/>
            <a:ext cx="749808" cy="749808"/>
          </a:xfrm>
          <a:prstGeom prst="rect">
            <a:avLst/>
          </a:prstGeom>
        </p:spPr>
      </p:pic>
      <p:sp>
        <p:nvSpPr>
          <p:cNvPr id="3" name="Text 0"/>
          <p:cNvSpPr/>
          <p:nvPr/>
        </p:nvSpPr>
        <p:spPr>
          <a:xfrm>
            <a:off x="1298448" y="2395728"/>
            <a:ext cx="9594799" cy="1828800"/>
          </a:xfrm>
          <a:prstGeom prst="rect">
            <a:avLst/>
          </a:prstGeom>
          <a:noFill/>
          <a:ln/>
        </p:spPr>
        <p:txBody>
          <a:bodyPr wrap="square" lIns="0" tIns="0" rIns="0" bIns="0" rtlCol="0" anchor="t"/>
          <a:lstStyle/>
          <a:p>
            <a:pPr indent="0" marL="0">
              <a:lnSpc>
                <a:spcPts val="4800"/>
              </a:lnSpc>
              <a:buNone/>
            </a:pPr>
            <a:r>
              <a:rPr lang="en-US" sz="3200" dirty="0">
                <a:solidFill>
                  <a:srgbClr val="FFFFFF"/>
                </a:solidFill>
                <a:latin typeface="微软雅黑" pitchFamily="34" charset="0"/>
                <a:ea typeface="微软雅黑" pitchFamily="34" charset="-122"/>
                <a:cs typeface="微软雅黑" pitchFamily="34" charset="-120"/>
              </a:rPr>
              <a:t>冲突审查制度的价值，不在于它能拦下多少案子，而在于它把“要不要接这个案子”从一个人情判断，变成了一道制度程序。</a:t>
            </a:r>
            <a:endParaRPr lang="en-US" sz="3200" dirty="0"/>
          </a:p>
        </p:txBody>
      </p:sp>
      <p:sp>
        <p:nvSpPr>
          <p:cNvPr id="4" name="Text 1"/>
          <p:cNvSpPr/>
          <p:nvPr/>
        </p:nvSpPr>
        <p:spPr>
          <a:xfrm>
            <a:off x="1335024" y="4590288"/>
            <a:ext cx="9594799" cy="365760"/>
          </a:xfrm>
          <a:prstGeom prst="rect">
            <a:avLst/>
          </a:prstGeom>
          <a:noFill/>
          <a:ln/>
        </p:spPr>
        <p:txBody>
          <a:bodyPr wrap="square" lIns="0" tIns="0" rIns="0" bIns="0" rtlCol="0" anchor="ctr"/>
          <a:lstStyle/>
          <a:p>
            <a:pPr indent="0" marL="0">
              <a:buNone/>
            </a:pPr>
            <a:r>
              <a:rPr lang="en-US" sz="1700" b="1" dirty="0">
                <a:solidFill>
                  <a:srgbClr val="B08D57"/>
                </a:solidFill>
                <a:latin typeface="微软雅黑" pitchFamily="34" charset="0"/>
                <a:ea typeface="微软雅黑" pitchFamily="34" charset="-122"/>
                <a:cs typeface="微软雅黑" pitchFamily="34" charset="-120"/>
              </a:rPr>
              <a:t>—— 制度化的意义</a:t>
            </a:r>
            <a:endParaRPr lang="en-US" sz="1700" dirty="0"/>
          </a:p>
        </p:txBody>
      </p:sp>
      <p:sp>
        <p:nvSpPr>
          <p:cNvPr id="5" name="Text 2"/>
          <p:cNvSpPr/>
          <p:nvPr/>
        </p:nvSpPr>
        <p:spPr>
          <a:xfrm>
            <a:off x="1335024" y="4992624"/>
            <a:ext cx="9594799" cy="347472"/>
          </a:xfrm>
          <a:prstGeom prst="rect">
            <a:avLst/>
          </a:prstGeom>
          <a:noFill/>
          <a:ln/>
        </p:spPr>
        <p:txBody>
          <a:bodyPr wrap="square" lIns="0" tIns="0" rIns="0" bIns="0" rtlCol="0" anchor="ctr"/>
          <a:lstStyle/>
          <a:p>
            <a:pPr indent="0" marL="0">
              <a:buNone/>
            </a:pPr>
            <a:r>
              <a:rPr lang="en-US" sz="1300" dirty="0">
                <a:solidFill>
                  <a:srgbClr val="6B7684"/>
                </a:solidFill>
                <a:latin typeface="微软雅黑" pitchFamily="34" charset="0"/>
                <a:ea typeface="微软雅黑" pitchFamily="34" charset="-122"/>
                <a:cs typeface="微软雅黑" pitchFamily="34" charset="-120"/>
              </a:rPr>
              <a:t>个人可以被说服、被为难、被利益打动；一道必须签字、必须留痕、必须复核的程序不会</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009396"/>
          </a:xfrm>
          <a:prstGeom prst="roundRect">
            <a:avLst>
              <a:gd name="adj" fmla="val 8153"/>
            </a:avLst>
          </a:prstGeom>
          <a:solidFill>
            <a:srgbClr val="ECF3F2"/>
          </a:solidFill>
          <a:ln w="12700">
            <a:solidFill>
              <a:srgbClr val="ECF3F2"/>
            </a:solidFill>
            <a:prstDash val="solid"/>
          </a:ln>
        </p:spPr>
      </p:sp>
      <p:sp>
        <p:nvSpPr>
          <p:cNvPr id="5" name="Shape 3"/>
          <p:cNvSpPr/>
          <p:nvPr/>
        </p:nvSpPr>
        <p:spPr>
          <a:xfrm>
            <a:off x="859536" y="159283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59283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1663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委托合同中约定“委托人同意本所及其分所可为其他客户提供服务，即使该服务与委托人存在潜在利益冲突”。这一预先概括同意条款是否有效？请从有效同意的五项要件逐一分析。</a:t>
            </a:r>
            <a:endParaRPr lang="en-US" sz="1600" dirty="0"/>
          </a:p>
        </p:txBody>
      </p:sp>
      <p:sp>
        <p:nvSpPr>
          <p:cNvPr id="8" name="Shape 6"/>
          <p:cNvSpPr/>
          <p:nvPr/>
        </p:nvSpPr>
        <p:spPr>
          <a:xfrm>
            <a:off x="566928" y="2472436"/>
            <a:ext cx="11057839" cy="1304036"/>
          </a:xfrm>
          <a:prstGeom prst="roundRect">
            <a:avLst>
              <a:gd name="adj" fmla="val 6311"/>
            </a:avLst>
          </a:prstGeom>
          <a:solidFill>
            <a:srgbClr val="ECF3F2"/>
          </a:solidFill>
          <a:ln w="12700">
            <a:solidFill>
              <a:srgbClr val="ECF3F2"/>
            </a:solidFill>
            <a:prstDash val="solid"/>
          </a:ln>
        </p:spPr>
      </p:sp>
      <p:sp>
        <p:nvSpPr>
          <p:cNvPr id="9" name="Shape 7"/>
          <p:cNvSpPr/>
          <p:nvPr/>
        </p:nvSpPr>
        <p:spPr>
          <a:xfrm>
            <a:off x="859536" y="289585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289585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2667254"/>
            <a:ext cx="9887407" cy="9144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我国现行规范对信息隔离墙未作普遍性的阻断规定。有观点认为，在大型律所与律师频繁流动的今天，坚持严格的归入规则会造成大量业务无法承接，损害当事人选择律师的自由。你是否赞同引入隔离墙制度？请设计其适用条件与程序保障。</a:t>
            </a:r>
            <a:endParaRPr lang="en-US" sz="1600" dirty="0"/>
          </a:p>
        </p:txBody>
      </p:sp>
      <p:sp>
        <p:nvSpPr>
          <p:cNvPr id="12" name="Shape 10"/>
          <p:cNvSpPr/>
          <p:nvPr/>
        </p:nvSpPr>
        <p:spPr>
          <a:xfrm>
            <a:off x="566928" y="3922776"/>
            <a:ext cx="11057839" cy="1304036"/>
          </a:xfrm>
          <a:prstGeom prst="roundRect">
            <a:avLst>
              <a:gd name="adj" fmla="val 6311"/>
            </a:avLst>
          </a:prstGeom>
          <a:solidFill>
            <a:srgbClr val="ECF3F2"/>
          </a:solidFill>
          <a:ln w="12700">
            <a:solidFill>
              <a:srgbClr val="ECF3F2"/>
            </a:solidFill>
            <a:prstDash val="solid"/>
          </a:ln>
        </p:spPr>
      </p:sp>
      <p:sp>
        <p:nvSpPr>
          <p:cNvPr id="13" name="Shape 11"/>
          <p:cNvSpPr/>
          <p:nvPr/>
        </p:nvSpPr>
        <p:spPr>
          <a:xfrm>
            <a:off x="859536" y="434619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34619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117594"/>
            <a:ext cx="9887407" cy="9144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某律所同时担任A、B两家公司的常年法律顾问。此后A、B之间发生合同纠纷，双方均要求该所代理。律所提出由两个完全独立的团队分别代理。这一方案是否可行？若不可行，律所应当如何处理与两家顾问单位的关系？</a:t>
            </a:r>
            <a:endParaRPr lang="en-US" sz="1600" dirty="0"/>
          </a:p>
        </p:txBody>
      </p:sp>
      <p:sp>
        <p:nvSpPr>
          <p:cNvPr id="16" name="Shape 14"/>
          <p:cNvSpPr/>
          <p:nvPr/>
        </p:nvSpPr>
        <p:spPr>
          <a:xfrm>
            <a:off x="566928" y="5373116"/>
            <a:ext cx="11057839" cy="1009396"/>
          </a:xfrm>
          <a:prstGeom prst="roundRect">
            <a:avLst>
              <a:gd name="adj" fmla="val 8153"/>
            </a:avLst>
          </a:prstGeom>
          <a:solidFill>
            <a:srgbClr val="ECF3F2"/>
          </a:solidFill>
          <a:ln w="12700">
            <a:solidFill>
              <a:srgbClr val="ECF3F2"/>
            </a:solidFill>
            <a:prstDash val="solid"/>
          </a:ln>
        </p:spPr>
      </p:sp>
      <p:sp>
        <p:nvSpPr>
          <p:cNvPr id="17" name="Shape 15"/>
          <p:cNvSpPr/>
          <p:nvPr/>
        </p:nvSpPr>
        <p:spPr>
          <a:xfrm>
            <a:off x="859536" y="564921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64921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57301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在非诉交易中，为节省成本，交易双方共同聘请一名律师起草合同。这种“共同法律服务”是否违反《律师法》第三十九条？如果允许，应当设置哪些条件？（提示：注意交易性事务与争讼性事务的区别）</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第18课时 · 21</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本课小结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第18课时要点回顾</a:t>
            </a:r>
            <a:endParaRPr lang="en-US" sz="3000" dirty="0"/>
          </a:p>
        </p:txBody>
      </p:sp>
      <p:sp>
        <p:nvSpPr>
          <p:cNvPr id="4" name="Shape 2"/>
          <p:cNvSpPr/>
          <p:nvPr/>
        </p:nvSpPr>
        <p:spPr>
          <a:xfrm>
            <a:off x="566928" y="1591056"/>
            <a:ext cx="11057839" cy="746167"/>
          </a:xfrm>
          <a:prstGeom prst="roundRect">
            <a:avLst>
              <a:gd name="adj" fmla="val 9804"/>
            </a:avLst>
          </a:prstGeom>
          <a:solidFill>
            <a:srgbClr val="25395F"/>
          </a:solidFill>
          <a:ln w="12700">
            <a:solidFill>
              <a:srgbClr val="25395F"/>
            </a:solidFill>
            <a:prstDash val="solid"/>
          </a:ln>
        </p:spPr>
      </p:sp>
      <p:sp>
        <p:nvSpPr>
          <p:cNvPr id="5" name="Shape 3"/>
          <p:cNvSpPr/>
          <p:nvPr/>
        </p:nvSpPr>
        <p:spPr>
          <a:xfrm>
            <a:off x="859536" y="1762972"/>
            <a:ext cx="402336" cy="402336"/>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80237" y="1883672"/>
            <a:ext cx="160934" cy="160934"/>
          </a:xfrm>
          <a:prstGeom prst="rect">
            <a:avLst/>
          </a:prstGeom>
        </p:spPr>
      </p:pic>
      <p:sp>
        <p:nvSpPr>
          <p:cNvPr id="7" name="Text 4"/>
          <p:cNvSpPr/>
          <p:nvPr/>
        </p:nvSpPr>
        <p:spPr>
          <a:xfrm>
            <a:off x="1444752" y="1754590"/>
            <a:ext cx="9997135" cy="419100"/>
          </a:xfrm>
          <a:prstGeom prst="rect">
            <a:avLst/>
          </a:prstGeom>
          <a:noFill/>
          <a:ln/>
        </p:spPr>
        <p:txBody>
          <a:bodyPr wrap="square" lIns="0" tIns="0" rIns="0" bIns="0" rtlCol="0" anchor="t"/>
          <a:lstStyle/>
          <a:p>
            <a:pPr indent="0" marL="0">
              <a:lnSpc>
                <a:spcPts val="1650"/>
              </a:lnSpc>
              <a:buNone/>
            </a:pPr>
            <a:r>
              <a:rPr lang="en-US" sz="1100" dirty="0">
                <a:solidFill>
                  <a:srgbClr val="E4E9F1"/>
                </a:solidFill>
                <a:latin typeface="微软雅黑" pitchFamily="34" charset="0"/>
                <a:ea typeface="微软雅黑" pitchFamily="34" charset="-122"/>
                <a:cs typeface="微软雅黑" pitchFamily="34" charset="-120"/>
              </a:rPr>
              <a:t>可豁免性的分界线不在冲突的严重程度，而在受损的是谁的利益：损害制度本身的、同意不可能充分知情的、涉及公职廉洁性的，不可豁免；当事人处于结构性弱势的，慎用豁免。</a:t>
            </a:r>
            <a:endParaRPr lang="en-US" sz="1100" dirty="0"/>
          </a:p>
        </p:txBody>
      </p:sp>
      <p:sp>
        <p:nvSpPr>
          <p:cNvPr id="8" name="Shape 5"/>
          <p:cNvSpPr/>
          <p:nvPr/>
        </p:nvSpPr>
        <p:spPr>
          <a:xfrm>
            <a:off x="566928" y="2474383"/>
            <a:ext cx="11057839" cy="560493"/>
          </a:xfrm>
          <a:prstGeom prst="roundRect">
            <a:avLst>
              <a:gd name="adj" fmla="val 13051"/>
            </a:avLst>
          </a:prstGeom>
          <a:solidFill>
            <a:srgbClr val="25395F"/>
          </a:solidFill>
          <a:ln w="12700">
            <a:solidFill>
              <a:srgbClr val="25395F"/>
            </a:solidFill>
            <a:prstDash val="solid"/>
          </a:ln>
        </p:spPr>
      </p:sp>
      <p:sp>
        <p:nvSpPr>
          <p:cNvPr id="9" name="Shape 6"/>
          <p:cNvSpPr/>
          <p:nvPr/>
        </p:nvSpPr>
        <p:spPr>
          <a:xfrm>
            <a:off x="859536" y="2556679"/>
            <a:ext cx="395901" cy="395901"/>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78306" y="2675450"/>
            <a:ext cx="158361" cy="158361"/>
          </a:xfrm>
          <a:prstGeom prst="rect">
            <a:avLst/>
          </a:prstGeom>
        </p:spPr>
      </p:pic>
      <p:sp>
        <p:nvSpPr>
          <p:cNvPr id="11" name="Text 7"/>
          <p:cNvSpPr/>
          <p:nvPr/>
        </p:nvSpPr>
        <p:spPr>
          <a:xfrm>
            <a:off x="1444752" y="2649855"/>
            <a:ext cx="9997135" cy="209550"/>
          </a:xfrm>
          <a:prstGeom prst="rect">
            <a:avLst/>
          </a:prstGeom>
          <a:noFill/>
          <a:ln/>
        </p:spPr>
        <p:txBody>
          <a:bodyPr wrap="square" lIns="0" tIns="0" rIns="0" bIns="0" rtlCol="0" anchor="t"/>
          <a:lstStyle/>
          <a:p>
            <a:pPr indent="0" marL="0">
              <a:lnSpc>
                <a:spcPts val="1650"/>
              </a:lnSpc>
              <a:buNone/>
            </a:pPr>
            <a:r>
              <a:rPr lang="en-US" sz="1100" dirty="0">
                <a:solidFill>
                  <a:srgbClr val="E4E9F1"/>
                </a:solidFill>
                <a:latin typeface="微软雅黑" pitchFamily="34" charset="0"/>
                <a:ea typeface="微软雅黑" pitchFamily="34" charset="-122"/>
                <a:cs typeface="微软雅黑" pitchFamily="34" charset="-120"/>
              </a:rPr>
              <a:t>有效同意的五项要件：充分披露、书面形式、具体特定、自愿作出、律师的合理确信。概括性的预先同意条款不产生豁免效力；同意不能替代律师的独立判断。</a:t>
            </a:r>
            <a:endParaRPr lang="en-US" sz="1100" dirty="0"/>
          </a:p>
        </p:txBody>
      </p:sp>
      <p:sp>
        <p:nvSpPr>
          <p:cNvPr id="12" name="Shape 8"/>
          <p:cNvSpPr/>
          <p:nvPr/>
        </p:nvSpPr>
        <p:spPr>
          <a:xfrm>
            <a:off x="566928" y="3172037"/>
            <a:ext cx="11057839" cy="560493"/>
          </a:xfrm>
          <a:prstGeom prst="roundRect">
            <a:avLst>
              <a:gd name="adj" fmla="val 13051"/>
            </a:avLst>
          </a:prstGeom>
          <a:solidFill>
            <a:srgbClr val="25395F"/>
          </a:solidFill>
          <a:ln w="12700">
            <a:solidFill>
              <a:srgbClr val="25395F"/>
            </a:solidFill>
            <a:prstDash val="solid"/>
          </a:ln>
        </p:spPr>
      </p:sp>
      <p:sp>
        <p:nvSpPr>
          <p:cNvPr id="13" name="Shape 9"/>
          <p:cNvSpPr/>
          <p:nvPr/>
        </p:nvSpPr>
        <p:spPr>
          <a:xfrm>
            <a:off x="859536" y="3254333"/>
            <a:ext cx="395901" cy="395901"/>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78306" y="3373103"/>
            <a:ext cx="158361" cy="158361"/>
          </a:xfrm>
          <a:prstGeom prst="rect">
            <a:avLst/>
          </a:prstGeom>
        </p:spPr>
      </p:pic>
      <p:sp>
        <p:nvSpPr>
          <p:cNvPr id="15" name="Text 10"/>
          <p:cNvSpPr/>
          <p:nvPr/>
        </p:nvSpPr>
        <p:spPr>
          <a:xfrm>
            <a:off x="1444752" y="3347508"/>
            <a:ext cx="9997135" cy="209550"/>
          </a:xfrm>
          <a:prstGeom prst="rect">
            <a:avLst/>
          </a:prstGeom>
          <a:noFill/>
          <a:ln/>
        </p:spPr>
        <p:txBody>
          <a:bodyPr wrap="square" lIns="0" tIns="0" rIns="0" bIns="0" rtlCol="0" anchor="t"/>
          <a:lstStyle/>
          <a:p>
            <a:pPr indent="0" marL="0">
              <a:lnSpc>
                <a:spcPts val="1650"/>
              </a:lnSpc>
              <a:buNone/>
            </a:pPr>
            <a:r>
              <a:rPr lang="en-US" sz="1100" dirty="0">
                <a:solidFill>
                  <a:srgbClr val="E4E9F1"/>
                </a:solidFill>
                <a:latin typeface="微软雅黑" pitchFamily="34" charset="0"/>
                <a:ea typeface="微软雅黑" pitchFamily="34" charset="-122"/>
                <a:cs typeface="微软雅黑" pitchFamily="34" charset="-120"/>
              </a:rPr>
              <a:t>《律师执业行为规范》第五十二条的结构是“应当告知+主动回避”为原则，“委托人同意”为例外；告知是强制性的第一步，不得以推测当事人不介意而省略。</a:t>
            </a:r>
            <a:endParaRPr lang="en-US" sz="1100" dirty="0"/>
          </a:p>
        </p:txBody>
      </p:sp>
      <p:sp>
        <p:nvSpPr>
          <p:cNvPr id="16" name="Shape 11"/>
          <p:cNvSpPr/>
          <p:nvPr/>
        </p:nvSpPr>
        <p:spPr>
          <a:xfrm>
            <a:off x="566928" y="3869690"/>
            <a:ext cx="11057839" cy="746167"/>
          </a:xfrm>
          <a:prstGeom prst="roundRect">
            <a:avLst>
              <a:gd name="adj" fmla="val 9804"/>
            </a:avLst>
          </a:prstGeom>
          <a:solidFill>
            <a:srgbClr val="25395F"/>
          </a:solidFill>
          <a:ln w="12700">
            <a:solidFill>
              <a:srgbClr val="25395F"/>
            </a:solidFill>
            <a:prstDash val="solid"/>
          </a:ln>
        </p:spPr>
      </p:sp>
      <p:sp>
        <p:nvSpPr>
          <p:cNvPr id="17" name="Shape 12"/>
          <p:cNvSpPr/>
          <p:nvPr/>
        </p:nvSpPr>
        <p:spPr>
          <a:xfrm>
            <a:off x="859536" y="4041606"/>
            <a:ext cx="402336" cy="402336"/>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80237" y="4162306"/>
            <a:ext cx="160934" cy="160934"/>
          </a:xfrm>
          <a:prstGeom prst="rect">
            <a:avLst/>
          </a:prstGeom>
        </p:spPr>
      </p:pic>
      <p:sp>
        <p:nvSpPr>
          <p:cNvPr id="19" name="Text 13"/>
          <p:cNvSpPr/>
          <p:nvPr/>
        </p:nvSpPr>
        <p:spPr>
          <a:xfrm>
            <a:off x="1444752" y="4033224"/>
            <a:ext cx="9997135" cy="419100"/>
          </a:xfrm>
          <a:prstGeom prst="rect">
            <a:avLst/>
          </a:prstGeom>
          <a:noFill/>
          <a:ln/>
        </p:spPr>
        <p:txBody>
          <a:bodyPr wrap="square" lIns="0" tIns="0" rIns="0" bIns="0" rtlCol="0" anchor="t"/>
          <a:lstStyle/>
          <a:p>
            <a:pPr indent="0" marL="0">
              <a:lnSpc>
                <a:spcPts val="1650"/>
              </a:lnSpc>
              <a:buNone/>
            </a:pPr>
            <a:r>
              <a:rPr lang="en-US" sz="1100" dirty="0">
                <a:solidFill>
                  <a:srgbClr val="E4E9F1"/>
                </a:solidFill>
                <a:latin typeface="微软雅黑" pitchFamily="34" charset="0"/>
                <a:ea typeface="微软雅黑" pitchFamily="34" charset="-122"/>
                <a:cs typeface="微软雅黑" pitchFamily="34" charset="-120"/>
              </a:rPr>
              <a:t>归入规则：一名律师的冲突归属于整个律所，理由为信息流动、经济利益共同与外观难以取信。域外的信息隔离墙在我国宜作为风险控制手段，不宜作为突破绝对禁止的依据。</a:t>
            </a:r>
            <a:endParaRPr lang="en-US" sz="1100" dirty="0"/>
          </a:p>
        </p:txBody>
      </p:sp>
      <p:sp>
        <p:nvSpPr>
          <p:cNvPr id="20" name="Shape 14"/>
          <p:cNvSpPr/>
          <p:nvPr/>
        </p:nvSpPr>
        <p:spPr>
          <a:xfrm>
            <a:off x="566928" y="4753017"/>
            <a:ext cx="11057839" cy="746167"/>
          </a:xfrm>
          <a:prstGeom prst="roundRect">
            <a:avLst>
              <a:gd name="adj" fmla="val 9804"/>
            </a:avLst>
          </a:prstGeom>
          <a:solidFill>
            <a:srgbClr val="25395F"/>
          </a:solidFill>
          <a:ln w="12700">
            <a:solidFill>
              <a:srgbClr val="25395F"/>
            </a:solidFill>
            <a:prstDash val="solid"/>
          </a:ln>
        </p:spPr>
      </p:sp>
      <p:sp>
        <p:nvSpPr>
          <p:cNvPr id="21" name="Shape 15"/>
          <p:cNvSpPr/>
          <p:nvPr/>
        </p:nvSpPr>
        <p:spPr>
          <a:xfrm>
            <a:off x="859536" y="4924933"/>
            <a:ext cx="402336" cy="40233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80237" y="5045634"/>
            <a:ext cx="160934" cy="160934"/>
          </a:xfrm>
          <a:prstGeom prst="rect">
            <a:avLst/>
          </a:prstGeom>
        </p:spPr>
      </p:pic>
      <p:sp>
        <p:nvSpPr>
          <p:cNvPr id="23" name="Text 16"/>
          <p:cNvSpPr/>
          <p:nvPr/>
        </p:nvSpPr>
        <p:spPr>
          <a:xfrm>
            <a:off x="1444752" y="4916551"/>
            <a:ext cx="9997135" cy="419100"/>
          </a:xfrm>
          <a:prstGeom prst="rect">
            <a:avLst/>
          </a:prstGeom>
          <a:noFill/>
          <a:ln/>
        </p:spPr>
        <p:txBody>
          <a:bodyPr wrap="square" lIns="0" tIns="0" rIns="0" bIns="0" rtlCol="0" anchor="t"/>
          <a:lstStyle/>
          <a:p>
            <a:pPr indent="0" marL="0">
              <a:lnSpc>
                <a:spcPts val="1650"/>
              </a:lnSpc>
              <a:buNone/>
            </a:pPr>
            <a:r>
              <a:rPr lang="en-US" sz="1100" dirty="0">
                <a:solidFill>
                  <a:srgbClr val="E4E9F1"/>
                </a:solidFill>
                <a:latin typeface="微软雅黑" pitchFamily="34" charset="0"/>
                <a:ea typeface="微软雅黑" pitchFamily="34" charset="-122"/>
                <a:cs typeface="微软雅黑" pitchFamily="34" charset="-120"/>
              </a:rPr>
              <a:t>特殊场景：律所合并须在尽职调查阶段作冲突比对；律师流动以本人是否实际知悉保密信息为核心判断；分所当然归入，联营联盟依紧密程度判断；公司律师、公职律师与顾问单位众多者须建立清单定期比对。</a:t>
            </a:r>
            <a:endParaRPr lang="en-US" sz="1100" dirty="0"/>
          </a:p>
        </p:txBody>
      </p:sp>
      <p:sp>
        <p:nvSpPr>
          <p:cNvPr id="24" name="Shape 17"/>
          <p:cNvSpPr/>
          <p:nvPr/>
        </p:nvSpPr>
        <p:spPr>
          <a:xfrm>
            <a:off x="566928" y="5636345"/>
            <a:ext cx="11057839" cy="746167"/>
          </a:xfrm>
          <a:prstGeom prst="roundRect">
            <a:avLst>
              <a:gd name="adj" fmla="val 9804"/>
            </a:avLst>
          </a:prstGeom>
          <a:solidFill>
            <a:srgbClr val="25395F"/>
          </a:solidFill>
          <a:ln w="12700">
            <a:solidFill>
              <a:srgbClr val="25395F"/>
            </a:solidFill>
            <a:prstDash val="solid"/>
          </a:ln>
        </p:spPr>
      </p:sp>
      <p:sp>
        <p:nvSpPr>
          <p:cNvPr id="25" name="Shape 18"/>
          <p:cNvSpPr/>
          <p:nvPr/>
        </p:nvSpPr>
        <p:spPr>
          <a:xfrm>
            <a:off x="859536" y="5808260"/>
            <a:ext cx="402336" cy="402336"/>
          </a:xfrm>
          <a:prstGeom prst="ellipse">
            <a:avLst/>
          </a:prstGeom>
          <a:solidFill>
            <a:srgbClr val="B08D57"/>
          </a:solidFill>
          <a:ln w="12700">
            <a:solidFill>
              <a:srgbClr val="B08D57"/>
            </a:solidFill>
            <a:prstDash val="solid"/>
          </a:ln>
        </p:spPr>
      </p:sp>
      <p:pic>
        <p:nvPicPr>
          <p:cNvPr id="26" name="Image 5" descr="preencoded.png">    </p:cNvPr>
          <p:cNvPicPr>
            <a:picLocks noChangeAspect="1"/>
          </p:cNvPicPr>
          <p:nvPr/>
        </p:nvPicPr>
        <p:blipFill>
          <a:blip r:embed="rId6"/>
          <a:stretch>
            <a:fillRect/>
          </a:stretch>
        </p:blipFill>
        <p:spPr>
          <a:xfrm>
            <a:off x="980237" y="5928961"/>
            <a:ext cx="160934" cy="160934"/>
          </a:xfrm>
          <a:prstGeom prst="rect">
            <a:avLst/>
          </a:prstGeom>
        </p:spPr>
      </p:pic>
      <p:sp>
        <p:nvSpPr>
          <p:cNvPr id="27" name="Text 19"/>
          <p:cNvSpPr/>
          <p:nvPr/>
        </p:nvSpPr>
        <p:spPr>
          <a:xfrm>
            <a:off x="1444752" y="5799878"/>
            <a:ext cx="9997135" cy="419100"/>
          </a:xfrm>
          <a:prstGeom prst="rect">
            <a:avLst/>
          </a:prstGeom>
          <a:noFill/>
          <a:ln/>
        </p:spPr>
        <p:txBody>
          <a:bodyPr wrap="square" lIns="0" tIns="0" rIns="0" bIns="0" rtlCol="0" anchor="t"/>
          <a:lstStyle/>
          <a:p>
            <a:pPr indent="0" marL="0">
              <a:lnSpc>
                <a:spcPts val="1650"/>
              </a:lnSpc>
              <a:buNone/>
            </a:pPr>
            <a:r>
              <a:rPr lang="en-US" sz="1100" dirty="0">
                <a:solidFill>
                  <a:srgbClr val="E4E9F1"/>
                </a:solidFill>
                <a:latin typeface="微软雅黑" pitchFamily="34" charset="0"/>
                <a:ea typeface="微软雅黑" pitchFamily="34" charset="-122"/>
                <a:cs typeface="微软雅黑" pitchFamily="34" charset="-120"/>
              </a:rPr>
              <a:t>发现冲突后六步：停止工作 → 定性 → 确定退出主体（一般为后接受者，标准是损害最小化）→ 告知（有限度）→ 交接与结算 → 复盘修补。退出时不得披露冲突内容、不得选择性损害一方、不得利用已知信息。</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581341"/>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第19课时</a:t>
            </a:r>
            <a:endParaRPr lang="en-US" sz="1600" dirty="0"/>
          </a:p>
        </p:txBody>
      </p:sp>
      <p:sp>
        <p:nvSpPr>
          <p:cNvPr id="4" name="Text 2"/>
          <p:cNvSpPr/>
          <p:nvPr/>
        </p:nvSpPr>
        <p:spPr>
          <a:xfrm>
            <a:off x="566928" y="2001965"/>
            <a:ext cx="9326880" cy="629412"/>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律师服务收费与财物保管</a:t>
            </a:r>
            <a:endParaRPr lang="en-US" sz="4200" dirty="0"/>
          </a:p>
        </p:txBody>
      </p:sp>
      <p:sp>
        <p:nvSpPr>
          <p:cNvPr id="5" name="Text 3"/>
          <p:cNvSpPr/>
          <p:nvPr/>
        </p:nvSpPr>
        <p:spPr>
          <a:xfrm>
            <a:off x="603504" y="2887409"/>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钱的问题看似最俗，却是律师被处分、被起诉、被追究刑事责任最集中的领域</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收费方式、政府指导价与风险代理的新规则</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禁止风险代理的四类案件与收费上限</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代管财物：分账、不得挪用、及时交付</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从收费到保管</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一、律师收费的法律框架</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二、四种收费方式</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三、风险代理：范围与上限的新规则</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四、收费的伦理要求与常见违规</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五、代管财物与案款的规则</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六、案例研讨与本课小结</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02</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律师收费的法律框架</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律师费不是纯粹的市场价格，它受制于一套公共规制</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03</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规范体系</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收费规制的三个层次</a:t>
            </a:r>
            <a:endParaRPr lang="en-US" sz="2800" dirty="0"/>
          </a:p>
        </p:txBody>
      </p:sp>
      <p:sp>
        <p:nvSpPr>
          <p:cNvPr id="4" name="Shape 2"/>
          <p:cNvSpPr/>
          <p:nvPr/>
        </p:nvSpPr>
        <p:spPr>
          <a:xfrm>
            <a:off x="566928" y="1402461"/>
            <a:ext cx="11057839" cy="1533906"/>
          </a:xfrm>
          <a:prstGeom prst="roundRect">
            <a:avLst>
              <a:gd name="adj" fmla="val 4769"/>
            </a:avLst>
          </a:prstGeom>
          <a:solidFill>
            <a:srgbClr val="F2F4F8"/>
          </a:solidFill>
          <a:ln w="12700">
            <a:solidFill>
              <a:srgbClr val="F2F4F8"/>
            </a:solidFill>
            <a:prstDash val="solid"/>
          </a:ln>
        </p:spPr>
      </p:sp>
      <p:sp>
        <p:nvSpPr>
          <p:cNvPr id="5" name="Shape 3"/>
          <p:cNvSpPr/>
          <p:nvPr/>
        </p:nvSpPr>
        <p:spPr>
          <a:xfrm>
            <a:off x="841248" y="191338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067001"/>
            <a:ext cx="204826" cy="204826"/>
          </a:xfrm>
          <a:prstGeom prst="rect">
            <a:avLst/>
          </a:prstGeom>
        </p:spPr>
      </p:pic>
      <p:sp>
        <p:nvSpPr>
          <p:cNvPr id="7" name="Text 4"/>
          <p:cNvSpPr/>
          <p:nvPr/>
        </p:nvSpPr>
        <p:spPr>
          <a:xfrm>
            <a:off x="1536192" y="172250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法律层：《律师法》第二十五条</a:t>
            </a:r>
            <a:endParaRPr lang="en-US" sz="1650" dirty="0"/>
          </a:p>
        </p:txBody>
      </p:sp>
      <p:sp>
        <p:nvSpPr>
          <p:cNvPr id="8" name="Text 5"/>
          <p:cNvSpPr/>
          <p:nvPr/>
        </p:nvSpPr>
        <p:spPr>
          <a:xfrm>
            <a:off x="1536192" y="206387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律师承办业务，由律师事务所统一接受委托，与委托人签订书面委托合同，按照国家规定统一收取费用并如实入账。律师事务所和律师应当依法纳税。四项要求：统一接受委托、书面合同、统一收费、如实入账。</a:t>
            </a:r>
            <a:endParaRPr lang="en-US" sz="1500" dirty="0"/>
          </a:p>
        </p:txBody>
      </p:sp>
      <p:sp>
        <p:nvSpPr>
          <p:cNvPr id="9" name="Shape 6"/>
          <p:cNvSpPr/>
          <p:nvPr/>
        </p:nvSpPr>
        <p:spPr>
          <a:xfrm>
            <a:off x="566928" y="3082671"/>
            <a:ext cx="11057839" cy="1533906"/>
          </a:xfrm>
          <a:prstGeom prst="roundRect">
            <a:avLst>
              <a:gd name="adj" fmla="val 4769"/>
            </a:avLst>
          </a:prstGeom>
          <a:solidFill>
            <a:srgbClr val="FFFFFF"/>
          </a:solidFill>
          <a:ln w="12700">
            <a:solidFill>
              <a:srgbClr val="D5DBE5"/>
            </a:solidFill>
            <a:prstDash val="solid"/>
          </a:ln>
        </p:spPr>
      </p:sp>
      <p:sp>
        <p:nvSpPr>
          <p:cNvPr id="10" name="Shape 7"/>
          <p:cNvSpPr/>
          <p:nvPr/>
        </p:nvSpPr>
        <p:spPr>
          <a:xfrm>
            <a:off x="841248" y="359359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747211"/>
            <a:ext cx="204826" cy="204826"/>
          </a:xfrm>
          <a:prstGeom prst="rect">
            <a:avLst/>
          </a:prstGeom>
        </p:spPr>
      </p:pic>
      <p:sp>
        <p:nvSpPr>
          <p:cNvPr id="12" name="Text 8"/>
          <p:cNvSpPr/>
          <p:nvPr/>
        </p:nvSpPr>
        <p:spPr>
          <a:xfrm>
            <a:off x="1536192" y="340271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规章层：《律师服务收费管理办法》（2006年）</a:t>
            </a:r>
            <a:endParaRPr lang="en-US" sz="1650" dirty="0"/>
          </a:p>
        </p:txBody>
      </p:sp>
      <p:sp>
        <p:nvSpPr>
          <p:cNvPr id="13" name="Text 9"/>
          <p:cNvSpPr/>
          <p:nvPr/>
        </p:nvSpPr>
        <p:spPr>
          <a:xfrm>
            <a:off x="1536192" y="374408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由国家发展改革委与司法部联合制定。确立了政府指导价与市场调节价并行的定价机制，规定了收费方式、收费程序、明码标价与监督管理，并对风险代理的适用范围与上限作了规定。</a:t>
            </a:r>
            <a:endParaRPr lang="en-US" sz="1500" dirty="0"/>
          </a:p>
        </p:txBody>
      </p:sp>
      <p:sp>
        <p:nvSpPr>
          <p:cNvPr id="14" name="Shape 10"/>
          <p:cNvSpPr/>
          <p:nvPr/>
        </p:nvSpPr>
        <p:spPr>
          <a:xfrm>
            <a:off x="566928" y="4762881"/>
            <a:ext cx="11057839" cy="1533906"/>
          </a:xfrm>
          <a:prstGeom prst="roundRect">
            <a:avLst>
              <a:gd name="adj" fmla="val 4769"/>
            </a:avLst>
          </a:prstGeom>
          <a:solidFill>
            <a:srgbClr val="F2F4F8"/>
          </a:solidFill>
          <a:ln w="12700">
            <a:solidFill>
              <a:srgbClr val="F2F4F8"/>
            </a:solidFill>
            <a:prstDash val="solid"/>
          </a:ln>
        </p:spPr>
      </p:sp>
      <p:sp>
        <p:nvSpPr>
          <p:cNvPr id="15" name="Shape 11"/>
          <p:cNvSpPr/>
          <p:nvPr/>
        </p:nvSpPr>
        <p:spPr>
          <a:xfrm>
            <a:off x="841248" y="52738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427421"/>
            <a:ext cx="204826" cy="204826"/>
          </a:xfrm>
          <a:prstGeom prst="rect">
            <a:avLst/>
          </a:prstGeom>
        </p:spPr>
      </p:pic>
      <p:sp>
        <p:nvSpPr>
          <p:cNvPr id="17" name="Text 12"/>
          <p:cNvSpPr/>
          <p:nvPr/>
        </p:nvSpPr>
        <p:spPr>
          <a:xfrm>
            <a:off x="1536192" y="508292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政策层：《关于进一步规范律师服务收费的意见》（司发通〔2021〕87号）</a:t>
            </a:r>
            <a:endParaRPr lang="en-US" sz="1650" dirty="0"/>
          </a:p>
        </p:txBody>
      </p:sp>
      <p:sp>
        <p:nvSpPr>
          <p:cNvPr id="18" name="Text 13"/>
          <p:cNvSpPr/>
          <p:nvPr/>
        </p:nvSpPr>
        <p:spPr>
          <a:xfrm>
            <a:off x="1536192" y="542429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由司法部、国家发展改革委、国家市场监督管理总局联合印发。重申禁止风险代理的案件范围，并将风险代理收费上限由原来的合同标的额30%调整为分段累进、合计最高不超过18%。这是近年来最重要的收费规则变动。</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04</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定价机制</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政府指导价与市场调节价</a:t>
            </a:r>
            <a:endParaRPr lang="en-US" sz="2800" dirty="0"/>
          </a:p>
        </p:txBody>
      </p:sp>
      <p:sp>
        <p:nvSpPr>
          <p:cNvPr id="4" name="Shape 2"/>
          <p:cNvSpPr/>
          <p:nvPr/>
        </p:nvSpPr>
        <p:spPr>
          <a:xfrm>
            <a:off x="566928" y="1799908"/>
            <a:ext cx="5410048" cy="4099433"/>
          </a:xfrm>
          <a:prstGeom prst="roundRect">
            <a:avLst>
              <a:gd name="adj" fmla="val 2231"/>
            </a:avLst>
          </a:prstGeom>
          <a:solidFill>
            <a:srgbClr val="F2F4F8"/>
          </a:solidFill>
          <a:ln w="12700">
            <a:solidFill>
              <a:srgbClr val="F2F4F8"/>
            </a:solidFill>
            <a:prstDash val="solid"/>
          </a:ln>
        </p:spPr>
      </p:sp>
      <p:sp>
        <p:nvSpPr>
          <p:cNvPr id="5" name="Shape 3"/>
          <p:cNvSpPr/>
          <p:nvPr/>
        </p:nvSpPr>
        <p:spPr>
          <a:xfrm>
            <a:off x="841248" y="2055940"/>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0559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政府指导价</a:t>
            </a:r>
            <a:endParaRPr lang="en-US" sz="1600" dirty="0"/>
          </a:p>
        </p:txBody>
      </p:sp>
      <p:sp>
        <p:nvSpPr>
          <p:cNvPr id="7" name="Text 5"/>
          <p:cNvSpPr/>
          <p:nvPr/>
        </p:nvSpPr>
        <p:spPr>
          <a:xfrm>
            <a:off x="932688" y="2714308"/>
            <a:ext cx="4678528" cy="29472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适用范围：一般由各省、自治区、直辖市价格主管部门会同司法行政部门确定，通常覆盖与公民基本权益密切相关的部分诉讼业务。</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典型如：涉及财产关系的民事诉讼、刑事案件辩护与代理、行政诉讼、国家赔偿等基础性诉讼服务。</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效果：在政府规定的基准价与浮动幅度内协商确定，不得突破上限。</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目的：保障基本法律服务的可及性，防止过高收费损害公民诉权。</a:t>
            </a:r>
            <a:endParaRPr lang="en-US" sz="1450" dirty="0"/>
          </a:p>
        </p:txBody>
      </p:sp>
      <p:sp>
        <p:nvSpPr>
          <p:cNvPr id="8" name="Shape 6"/>
          <p:cNvSpPr/>
          <p:nvPr/>
        </p:nvSpPr>
        <p:spPr>
          <a:xfrm>
            <a:off x="6214720" y="1799908"/>
            <a:ext cx="5410048" cy="4099433"/>
          </a:xfrm>
          <a:prstGeom prst="roundRect">
            <a:avLst>
              <a:gd name="adj" fmla="val 2231"/>
            </a:avLst>
          </a:prstGeom>
          <a:solidFill>
            <a:srgbClr val="F6F1E8"/>
          </a:solidFill>
          <a:ln w="12700">
            <a:solidFill>
              <a:srgbClr val="F6F1E8"/>
            </a:solidFill>
            <a:prstDash val="solid"/>
          </a:ln>
        </p:spPr>
      </p:sp>
      <p:sp>
        <p:nvSpPr>
          <p:cNvPr id="9" name="Shape 7"/>
          <p:cNvSpPr/>
          <p:nvPr/>
        </p:nvSpPr>
        <p:spPr>
          <a:xfrm>
            <a:off x="6489040" y="2055940"/>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0559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市场调节价</a:t>
            </a:r>
            <a:endParaRPr lang="en-US" sz="1600" dirty="0"/>
          </a:p>
        </p:txBody>
      </p:sp>
      <p:sp>
        <p:nvSpPr>
          <p:cNvPr id="11" name="Text 9"/>
          <p:cNvSpPr/>
          <p:nvPr/>
        </p:nvSpPr>
        <p:spPr>
          <a:xfrm>
            <a:off x="6580480" y="2714308"/>
            <a:ext cx="4678528" cy="29472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适用范围：政府指导价范围之外的法律服务。</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典型如：非诉讼法律事务、常年法律顾问、公司并购、涉外业务、专项合规。</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效果：由律师事务所与委托人协商确定，但仍须明码标价、书面约定、如实入账。</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注意：市场调节价不等于可以随意收费——虚高收费、诱导收费、二次收费同样构成违规。</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05</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四种收费方式</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选择哪一种，本身就是一个伦理判断</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06</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方式</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四种收费方式及其适用</a:t>
            </a:r>
            <a:endParaRPr lang="en-US" sz="2800" dirty="0"/>
          </a:p>
        </p:txBody>
      </p:sp>
      <p:sp>
        <p:nvSpPr>
          <p:cNvPr id="4" name="Shape 2"/>
          <p:cNvSpPr/>
          <p:nvPr/>
        </p:nvSpPr>
        <p:spPr>
          <a:xfrm>
            <a:off x="566928" y="1316736"/>
            <a:ext cx="5410048" cy="2423160"/>
          </a:xfrm>
          <a:prstGeom prst="roundRect">
            <a:avLst>
              <a:gd name="adj" fmla="val 3774"/>
            </a:avLst>
          </a:prstGeom>
          <a:solidFill>
            <a:srgbClr val="F2F4F8"/>
          </a:solidFill>
          <a:ln w="12700">
            <a:solidFill>
              <a:srgbClr val="F2F4F8"/>
            </a:solidFill>
            <a:prstDash val="solid"/>
          </a:ln>
        </p:spPr>
      </p:sp>
      <p:sp>
        <p:nvSpPr>
          <p:cNvPr id="5" name="Shape 3"/>
          <p:cNvSpPr/>
          <p:nvPr/>
        </p:nvSpPr>
        <p:spPr>
          <a:xfrm>
            <a:off x="886968" y="1609344"/>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746504"/>
            <a:ext cx="182880" cy="182880"/>
          </a:xfrm>
          <a:prstGeom prst="rect">
            <a:avLst/>
          </a:prstGeom>
        </p:spPr>
      </p:pic>
      <p:sp>
        <p:nvSpPr>
          <p:cNvPr id="7" name="Text 4"/>
          <p:cNvSpPr/>
          <p:nvPr/>
        </p:nvSpPr>
        <p:spPr>
          <a:xfrm>
            <a:off x="886968" y="2231136"/>
            <a:ext cx="4769968" cy="261937"/>
          </a:xfrm>
          <a:prstGeom prst="rect">
            <a:avLst/>
          </a:prstGeom>
          <a:noFill/>
          <a:ln/>
        </p:spPr>
        <p:txBody>
          <a:bodyPr wrap="square" lIns="0" tIns="0" rIns="0" bIns="0" rtlCol="0" anchor="t"/>
          <a:lstStyle/>
          <a:p>
            <a:pPr indent="0" marL="0">
              <a:lnSpc>
                <a:spcPts val="2063"/>
              </a:lnSpc>
              <a:buNone/>
            </a:pPr>
            <a:r>
              <a:rPr lang="en-US" sz="1650" b="1" dirty="0">
                <a:solidFill>
                  <a:srgbClr val="13233F"/>
                </a:solidFill>
                <a:latin typeface="微软雅黑" pitchFamily="34" charset="0"/>
                <a:ea typeface="微软雅黑" pitchFamily="34" charset="-122"/>
                <a:cs typeface="微软雅黑" pitchFamily="34" charset="-120"/>
              </a:rPr>
              <a:t>计件收费</a:t>
            </a:r>
            <a:endParaRPr lang="en-US" sz="1650" dirty="0"/>
          </a:p>
        </p:txBody>
      </p:sp>
      <p:sp>
        <p:nvSpPr>
          <p:cNvPr id="8" name="Text 5"/>
          <p:cNvSpPr/>
          <p:nvPr/>
        </p:nvSpPr>
        <p:spPr>
          <a:xfrm>
            <a:off x="886968" y="2621090"/>
            <a:ext cx="4769968" cy="899350"/>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按案件件数收取固定费用。适用于争议标的额较小、工作量相对可预期的案件，以及不涉及财产关系的案件（如离婚、名誉权、刑事辩护）。优点是确定性强，委托人容易预期。</a:t>
            </a:r>
            <a:endParaRPr lang="en-US" sz="1400" dirty="0"/>
          </a:p>
        </p:txBody>
      </p:sp>
      <p:sp>
        <p:nvSpPr>
          <p:cNvPr id="9" name="Shape 6"/>
          <p:cNvSpPr/>
          <p:nvPr/>
        </p:nvSpPr>
        <p:spPr>
          <a:xfrm>
            <a:off x="6214720" y="1316736"/>
            <a:ext cx="5410048" cy="2423160"/>
          </a:xfrm>
          <a:prstGeom prst="roundRect">
            <a:avLst>
              <a:gd name="adj" fmla="val 3774"/>
            </a:avLst>
          </a:prstGeom>
          <a:solidFill>
            <a:srgbClr val="F6F1E8"/>
          </a:solidFill>
          <a:ln w="12700">
            <a:solidFill>
              <a:srgbClr val="F6F1E8"/>
            </a:solidFill>
            <a:prstDash val="solid"/>
          </a:ln>
        </p:spPr>
      </p:sp>
      <p:sp>
        <p:nvSpPr>
          <p:cNvPr id="10" name="Shape 7"/>
          <p:cNvSpPr/>
          <p:nvPr/>
        </p:nvSpPr>
        <p:spPr>
          <a:xfrm>
            <a:off x="6534760" y="1609344"/>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6671920" y="1746504"/>
            <a:ext cx="182880" cy="182880"/>
          </a:xfrm>
          <a:prstGeom prst="rect">
            <a:avLst/>
          </a:prstGeom>
        </p:spPr>
      </p:pic>
      <p:sp>
        <p:nvSpPr>
          <p:cNvPr id="12" name="Text 8"/>
          <p:cNvSpPr/>
          <p:nvPr/>
        </p:nvSpPr>
        <p:spPr>
          <a:xfrm>
            <a:off x="6534760" y="2231136"/>
            <a:ext cx="4769968" cy="261937"/>
          </a:xfrm>
          <a:prstGeom prst="rect">
            <a:avLst/>
          </a:prstGeom>
          <a:noFill/>
          <a:ln/>
        </p:spPr>
        <p:txBody>
          <a:bodyPr wrap="square" lIns="0" tIns="0" rIns="0" bIns="0" rtlCol="0" anchor="t"/>
          <a:lstStyle/>
          <a:p>
            <a:pPr indent="0" marL="0">
              <a:lnSpc>
                <a:spcPts val="2063"/>
              </a:lnSpc>
              <a:buNone/>
            </a:pPr>
            <a:r>
              <a:rPr lang="en-US" sz="1650" b="1" dirty="0">
                <a:solidFill>
                  <a:srgbClr val="13233F"/>
                </a:solidFill>
                <a:latin typeface="微软雅黑" pitchFamily="34" charset="0"/>
                <a:ea typeface="微软雅黑" pitchFamily="34" charset="-122"/>
                <a:cs typeface="微软雅黑" pitchFamily="34" charset="-120"/>
              </a:rPr>
              <a:t>按标的额比例收费</a:t>
            </a:r>
            <a:endParaRPr lang="en-US" sz="1650" dirty="0"/>
          </a:p>
        </p:txBody>
      </p:sp>
      <p:sp>
        <p:nvSpPr>
          <p:cNvPr id="13" name="Text 9"/>
          <p:cNvSpPr/>
          <p:nvPr/>
        </p:nvSpPr>
        <p:spPr>
          <a:xfrm>
            <a:off x="6534760" y="2621090"/>
            <a:ext cx="4769968" cy="899350"/>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按争议标的额分段累进计算。适用于涉及财产关系的民事案件。优点是与案件难度大致匹配；缺点是标的额与工作量并不总是正相关，须防止畸高。</a:t>
            </a:r>
            <a:endParaRPr lang="en-US" sz="1400" dirty="0"/>
          </a:p>
        </p:txBody>
      </p:sp>
      <p:sp>
        <p:nvSpPr>
          <p:cNvPr id="14" name="Shape 10"/>
          <p:cNvSpPr/>
          <p:nvPr/>
        </p:nvSpPr>
        <p:spPr>
          <a:xfrm>
            <a:off x="566928" y="3959352"/>
            <a:ext cx="5410048" cy="2423160"/>
          </a:xfrm>
          <a:prstGeom prst="roundRect">
            <a:avLst>
              <a:gd name="adj" fmla="val 3774"/>
            </a:avLst>
          </a:prstGeom>
          <a:solidFill>
            <a:srgbClr val="ECF3F2"/>
          </a:solidFill>
          <a:ln w="12700">
            <a:solidFill>
              <a:srgbClr val="ECF3F2"/>
            </a:solidFill>
            <a:prstDash val="solid"/>
          </a:ln>
        </p:spPr>
      </p:sp>
      <p:sp>
        <p:nvSpPr>
          <p:cNvPr id="15" name="Shape 11"/>
          <p:cNvSpPr/>
          <p:nvPr/>
        </p:nvSpPr>
        <p:spPr>
          <a:xfrm>
            <a:off x="886968" y="4251960"/>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61937"/>
          </a:xfrm>
          <a:prstGeom prst="rect">
            <a:avLst/>
          </a:prstGeom>
          <a:noFill/>
          <a:ln/>
        </p:spPr>
        <p:txBody>
          <a:bodyPr wrap="square" lIns="0" tIns="0" rIns="0" bIns="0" rtlCol="0" anchor="t"/>
          <a:lstStyle/>
          <a:p>
            <a:pPr indent="0" marL="0">
              <a:lnSpc>
                <a:spcPts val="2063"/>
              </a:lnSpc>
              <a:buNone/>
            </a:pPr>
            <a:r>
              <a:rPr lang="en-US" sz="1650" b="1" dirty="0">
                <a:solidFill>
                  <a:srgbClr val="13233F"/>
                </a:solidFill>
                <a:latin typeface="微软雅黑" pitchFamily="34" charset="0"/>
                <a:ea typeface="微软雅黑" pitchFamily="34" charset="-122"/>
                <a:cs typeface="微软雅黑" pitchFamily="34" charset="-120"/>
              </a:rPr>
              <a:t>计时收费</a:t>
            </a:r>
            <a:endParaRPr lang="en-US" sz="1650" dirty="0"/>
          </a:p>
        </p:txBody>
      </p:sp>
      <p:sp>
        <p:nvSpPr>
          <p:cNvPr id="18" name="Text 13"/>
          <p:cNvSpPr/>
          <p:nvPr/>
        </p:nvSpPr>
        <p:spPr>
          <a:xfrm>
            <a:off x="886968" y="5263706"/>
            <a:ext cx="4769968" cy="899350"/>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按实际工作小时数乘以小时费率计算。适用于非诉业务、常年顾问、复杂商事争议。要求律师如实记录工时并向委托人提供工时清单；虚报工时是严重的诚信违规。</a:t>
            </a:r>
            <a:endParaRPr lang="en-US" sz="1400" dirty="0"/>
          </a:p>
        </p:txBody>
      </p:sp>
      <p:sp>
        <p:nvSpPr>
          <p:cNvPr id="19" name="Shape 14"/>
          <p:cNvSpPr/>
          <p:nvPr/>
        </p:nvSpPr>
        <p:spPr>
          <a:xfrm>
            <a:off x="6214720" y="3959352"/>
            <a:ext cx="5410048" cy="2423160"/>
          </a:xfrm>
          <a:prstGeom prst="roundRect">
            <a:avLst>
              <a:gd name="adj" fmla="val 3774"/>
            </a:avLst>
          </a:prstGeom>
          <a:solidFill>
            <a:srgbClr val="F8EFF0"/>
          </a:solidFill>
          <a:ln w="12700">
            <a:solidFill>
              <a:srgbClr val="F8EFF0"/>
            </a:solidFill>
            <a:prstDash val="solid"/>
          </a:ln>
        </p:spPr>
      </p:sp>
      <p:sp>
        <p:nvSpPr>
          <p:cNvPr id="20" name="Shape 15"/>
          <p:cNvSpPr/>
          <p:nvPr/>
        </p:nvSpPr>
        <p:spPr>
          <a:xfrm>
            <a:off x="6534760" y="4251960"/>
            <a:ext cx="457200" cy="457200"/>
          </a:xfrm>
          <a:prstGeom prst="ellipse">
            <a:avLst/>
          </a:prstGeom>
          <a:solidFill>
            <a:srgbClr val="8E2C3B"/>
          </a:solidFill>
          <a:ln w="12700">
            <a:solidFill>
              <a:srgbClr val="8E2C3B"/>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61937"/>
          </a:xfrm>
          <a:prstGeom prst="rect">
            <a:avLst/>
          </a:prstGeom>
          <a:noFill/>
          <a:ln/>
        </p:spPr>
        <p:txBody>
          <a:bodyPr wrap="square" lIns="0" tIns="0" rIns="0" bIns="0" rtlCol="0" anchor="t"/>
          <a:lstStyle/>
          <a:p>
            <a:pPr indent="0" marL="0">
              <a:lnSpc>
                <a:spcPts val="2063"/>
              </a:lnSpc>
              <a:buNone/>
            </a:pPr>
            <a:r>
              <a:rPr lang="en-US" sz="1650" b="1" dirty="0">
                <a:solidFill>
                  <a:srgbClr val="13233F"/>
                </a:solidFill>
                <a:latin typeface="微软雅黑" pitchFamily="34" charset="0"/>
                <a:ea typeface="微软雅黑" pitchFamily="34" charset="-122"/>
                <a:cs typeface="微软雅黑" pitchFamily="34" charset="-120"/>
              </a:rPr>
              <a:t>风险代理收费</a:t>
            </a:r>
            <a:endParaRPr lang="en-US" sz="1650" dirty="0"/>
          </a:p>
        </p:txBody>
      </p:sp>
      <p:sp>
        <p:nvSpPr>
          <p:cNvPr id="23" name="Text 17"/>
          <p:cNvSpPr/>
          <p:nvPr/>
        </p:nvSpPr>
        <p:spPr>
          <a:xfrm>
            <a:off x="6534760" y="5263706"/>
            <a:ext cx="4769968" cy="899350"/>
          </a:xfrm>
          <a:prstGeom prst="rect">
            <a:avLst/>
          </a:prstGeom>
          <a:noFill/>
          <a:ln/>
        </p:spPr>
        <p:txBody>
          <a:bodyPr wrap="square" lIns="0" tIns="0" rIns="0" bIns="0" rtlCol="0" anchor="t"/>
          <a:lstStyle/>
          <a:p>
            <a:pPr indent="0" marL="0">
              <a:lnSpc>
                <a:spcPts val="2100"/>
              </a:lnSpc>
              <a:buNone/>
            </a:pPr>
            <a:r>
              <a:rPr lang="en-US" sz="1400" dirty="0">
                <a:solidFill>
                  <a:srgbClr val="32404F"/>
                </a:solidFill>
                <a:latin typeface="微软雅黑" pitchFamily="34" charset="0"/>
                <a:ea typeface="微软雅黑" pitchFamily="34" charset="-122"/>
                <a:cs typeface="微软雅黑" pitchFamily="34" charset="-120"/>
              </a:rPr>
              <a:t>约定基础费用较低甚至为零，视办案结果按约定比例收取。适用于委托人一时无力支付、且案件有胜诉可能的财产类案件。受严格限制，详见下节。</a:t>
            </a:r>
            <a:endParaRPr lang="en-US" sz="140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07</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选择的伦理</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收费方式的选择也受伦理约束</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律师在建议收费方式时，仍然负有忠实义务——不得为自身收益最大化而损害委托人利益。</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不得在明显可以简单计件的案件中，诱导委托人选择按标的额比例收费或者风险代理，以获取畸高报酬。</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不得在胜诉几乎确定的案件中采用高比例风险代理——此时“风险”是虚假的，实质是变相高收费。</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采用计时收费的，应当事先说明预估工时区间与上限，避免委托人对总额毫无预期；工时清单应当可核查。</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应当向委托人说明各种方式的利弊与大致费用区间，由其选择；重大差异应当书面提示。</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判断标准仍是那个老问题：这个建议，我是为了委托人的利益提出的，还是为了自己的收入提出的？</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08</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风险代理：范围与上限的新规则</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2021年的调整，是近年来最重要的收费规则变动</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09</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禁止范围</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四类案件绝对禁止风险代理</a:t>
            </a:r>
            <a:endParaRPr lang="en-US" sz="2800" dirty="0"/>
          </a:p>
        </p:txBody>
      </p:sp>
      <p:sp>
        <p:nvSpPr>
          <p:cNvPr id="4" name="Shape 2"/>
          <p:cNvSpPr/>
          <p:nvPr/>
        </p:nvSpPr>
        <p:spPr>
          <a:xfrm>
            <a:off x="566928" y="1963865"/>
            <a:ext cx="11057839" cy="2156841"/>
          </a:xfrm>
          <a:prstGeom prst="roundRect">
            <a:avLst>
              <a:gd name="adj" fmla="val 4240"/>
            </a:avLst>
          </a:prstGeom>
          <a:solidFill>
            <a:srgbClr val="F6F1E8"/>
          </a:solidFill>
          <a:ln w="12700">
            <a:solidFill>
              <a:srgbClr val="F6F1E8"/>
            </a:solidFill>
            <a:prstDash val="solid"/>
          </a:ln>
        </p:spPr>
      </p:sp>
      <p:sp>
        <p:nvSpPr>
          <p:cNvPr id="5" name="Shape 3"/>
          <p:cNvSpPr/>
          <p:nvPr/>
        </p:nvSpPr>
        <p:spPr>
          <a:xfrm>
            <a:off x="877824" y="2201609"/>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2201609"/>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2183321"/>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《关于进一步规范律师服务收费的意见》（司发通〔2021〕87号）要旨</a:t>
            </a:r>
            <a:endParaRPr lang="en-US" sz="1500" dirty="0"/>
          </a:p>
        </p:txBody>
      </p:sp>
      <p:sp>
        <p:nvSpPr>
          <p:cNvPr id="8" name="Text 6"/>
          <p:cNvSpPr/>
          <p:nvPr/>
        </p:nvSpPr>
        <p:spPr>
          <a:xfrm>
            <a:off x="960120" y="2603945"/>
            <a:ext cx="10271455" cy="1297305"/>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下列案件绝对禁止实行风险代理收费：</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（一）刑事诉讼案件；</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（二）行政诉讼案件；</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（三）国家赔偿案件；</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（四）群体性诉讼案件。</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此外，依《律师服务收费管理办法》，办理请求给付赡养费、抚养费、扶养费、抚恤金、救济金、社会保险待遇或者最低生活保障待遇，以及请求支付劳动报酬等案件，不得实行风险代理收费。</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禁止的理由各不相同：刑事、行政、国家赔偿案件涉及公权力与人身自由，若与胜负挂钩，可能诱发违法取证、干扰司法；群体性案件涉及众多当事人，风险代理容易诱发恶意诉讼与不当动员；赡养费、劳动报酬等案件的当事人本就处于弱势，从其救命钱中抽成有违公平。请各位注意：这些禁止是绝对的，当事人同意也不能变通。</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10</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收费上限</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风险代理收费上限：由30%降至分段累进最高18%</a:t>
            </a:r>
            <a:endParaRPr lang="en-US" sz="28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66928" y="2319084"/>
          <a:ext cx="11057839" cy="914400"/>
        </p:xfrm>
        <a:graphic>
          <a:graphicData uri="http://schemas.openxmlformats.org/drawingml/2006/table">
            <a:tbl>
              <a:tblPr/>
              <a:tblGrid>
                <a:gridCol w="3291840"/>
                <a:gridCol w="2377440"/>
                <a:gridCol w="5394960"/>
              </a:tblGrid>
              <a:tr h="442341">
                <a:tc>
                  <a:txBody>
                    <a:bodyPr/>
                    <a:lstStyle/>
                    <a:p>
                      <a:pPr algn="ctr" indent="0" marL="0">
                        <a:buNone/>
                      </a:pPr>
                      <a:r>
                        <a:rPr lang="en-US" sz="1350" b="1" dirty="0">
                          <a:solidFill>
                            <a:srgbClr val="FFFFFF"/>
                          </a:solidFill>
                          <a:latin typeface="微软雅黑" pitchFamily="34" charset="0"/>
                          <a:ea typeface="微软雅黑" pitchFamily="34" charset="-122"/>
                          <a:cs typeface="微软雅黑" pitchFamily="34" charset="-120"/>
                        </a:rPr>
                        <a:t>标的额区间</a:t>
                      </a:r>
                      <a:endParaRPr lang="en-US" sz="135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33F"/>
                    </a:solidFill>
                  </a:tcPr>
                </a:tc>
                <a:tc>
                  <a:txBody>
                    <a:bodyPr/>
                    <a:lstStyle/>
                    <a:p>
                      <a:pPr algn="ctr" indent="0" marL="0">
                        <a:buNone/>
                      </a:pPr>
                      <a:r>
                        <a:rPr lang="en-US" sz="1350" b="1" dirty="0">
                          <a:solidFill>
                            <a:srgbClr val="FFFFFF"/>
                          </a:solidFill>
                          <a:latin typeface="微软雅黑" pitchFamily="34" charset="0"/>
                          <a:ea typeface="微软雅黑" pitchFamily="34" charset="-122"/>
                          <a:cs typeface="微软雅黑" pitchFamily="34" charset="-120"/>
                        </a:rPr>
                        <a:t>该部分最高比例</a:t>
                      </a:r>
                      <a:endParaRPr lang="en-US" sz="135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33F"/>
                    </a:solidFill>
                  </a:tcPr>
                </a:tc>
                <a:tc>
                  <a:txBody>
                    <a:bodyPr/>
                    <a:lstStyle/>
                    <a:p>
                      <a:pPr algn="ctr" indent="0" marL="0">
                        <a:buNone/>
                      </a:pPr>
                      <a:r>
                        <a:rPr lang="en-US" sz="1350" b="1" dirty="0">
                          <a:solidFill>
                            <a:srgbClr val="FFFFFF"/>
                          </a:solidFill>
                          <a:latin typeface="微软雅黑" pitchFamily="34" charset="0"/>
                          <a:ea typeface="微软雅黑" pitchFamily="34" charset="-122"/>
                          <a:cs typeface="微软雅黑" pitchFamily="34" charset="-120"/>
                        </a:rPr>
                        <a:t>说明</a:t>
                      </a:r>
                      <a:endParaRPr lang="en-US" sz="135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13233F"/>
                    </a:solidFill>
                  </a:tcPr>
                </a:tc>
              </a:tr>
              <a:tr h="432308">
                <a:tc>
                  <a:txBody>
                    <a:bodyPr/>
                    <a:lstStyle/>
                    <a:p>
                      <a:pPr algn="l" indent="0" marL="0">
                        <a:buNone/>
                      </a:pPr>
                      <a:r>
                        <a:rPr lang="en-US" sz="1300" b="1" dirty="0">
                          <a:solidFill>
                            <a:srgbClr val="13233F"/>
                          </a:solidFill>
                          <a:latin typeface="微软雅黑" pitchFamily="34" charset="0"/>
                          <a:ea typeface="微软雅黑" pitchFamily="34" charset="-122"/>
                          <a:cs typeface="微软雅黑" pitchFamily="34" charset="-120"/>
                        </a:rPr>
                        <a:t>不足 100 万元的部分</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18%</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2006年办法规定统一上限为合同标的额的30%</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r>
              <a:tr h="432308">
                <a:tc>
                  <a:txBody>
                    <a:bodyPr/>
                    <a:lstStyle/>
                    <a:p>
                      <a:pPr algn="l" indent="0" marL="0">
                        <a:buNone/>
                      </a:pPr>
                      <a:r>
                        <a:rPr lang="en-US" sz="1300" b="1" dirty="0">
                          <a:solidFill>
                            <a:srgbClr val="13233F"/>
                          </a:solidFill>
                          <a:latin typeface="微软雅黑" pitchFamily="34" charset="0"/>
                          <a:ea typeface="微软雅黑" pitchFamily="34" charset="-122"/>
                          <a:cs typeface="微软雅黑" pitchFamily="34" charset="-120"/>
                        </a:rPr>
                        <a:t>100 万元以上不足 500 万元的部分</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15%</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2021年意见改为分段累进计算</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r>
              <a:tr h="432308">
                <a:tc>
                  <a:txBody>
                    <a:bodyPr/>
                    <a:lstStyle/>
                    <a:p>
                      <a:pPr algn="l" indent="0" marL="0">
                        <a:buNone/>
                      </a:pPr>
                      <a:r>
                        <a:rPr lang="en-US" sz="1300" b="1" dirty="0">
                          <a:solidFill>
                            <a:srgbClr val="13233F"/>
                          </a:solidFill>
                          <a:latin typeface="微软雅黑" pitchFamily="34" charset="0"/>
                          <a:ea typeface="微软雅黑" pitchFamily="34" charset="-122"/>
                          <a:cs typeface="微软雅黑" pitchFamily="34" charset="-120"/>
                        </a:rPr>
                        <a:t>500 万元以上不足 1000 万元的部分</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12%</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标的额越大，边际比例越低</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r>
              <a:tr h="432308">
                <a:tc>
                  <a:txBody>
                    <a:bodyPr/>
                    <a:lstStyle/>
                    <a:p>
                      <a:pPr algn="l" indent="0" marL="0">
                        <a:buNone/>
                      </a:pPr>
                      <a:r>
                        <a:rPr lang="en-US" sz="1300" b="1" dirty="0">
                          <a:solidFill>
                            <a:srgbClr val="13233F"/>
                          </a:solidFill>
                          <a:latin typeface="微软雅黑" pitchFamily="34" charset="0"/>
                          <a:ea typeface="微软雅黑" pitchFamily="34" charset="-122"/>
                          <a:cs typeface="微软雅黑" pitchFamily="34" charset="-120"/>
                        </a:rPr>
                        <a:t>1000 万元以上不足 5000 万元的部分</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9%</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防止大标的案件产生畸高律师费</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FFFFF"/>
                    </a:solidFill>
                  </a:tcPr>
                </a:tc>
              </a:tr>
              <a:tr h="432308">
                <a:tc>
                  <a:txBody>
                    <a:bodyPr/>
                    <a:lstStyle/>
                    <a:p>
                      <a:pPr algn="l" indent="0" marL="0">
                        <a:buNone/>
                      </a:pPr>
                      <a:r>
                        <a:rPr lang="en-US" sz="1300" b="1" dirty="0">
                          <a:solidFill>
                            <a:srgbClr val="13233F"/>
                          </a:solidFill>
                          <a:latin typeface="微软雅黑" pitchFamily="34" charset="0"/>
                          <a:ea typeface="微软雅黑" pitchFamily="34" charset="-122"/>
                          <a:cs typeface="微软雅黑" pitchFamily="34" charset="-120"/>
                        </a:rPr>
                        <a:t>5000 万元以上的部分</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6%</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c>
                  <a:txBody>
                    <a:bodyPr/>
                    <a:lstStyle/>
                    <a:p>
                      <a:pPr algn="l" indent="0" marL="0">
                        <a:buNone/>
                      </a:pPr>
                      <a:r>
                        <a:rPr lang="en-US" sz="1300" dirty="0">
                          <a:solidFill>
                            <a:srgbClr val="32404F"/>
                          </a:solidFill>
                          <a:latin typeface="微软雅黑" pitchFamily="34" charset="0"/>
                          <a:ea typeface="微软雅黑" pitchFamily="34" charset="-122"/>
                          <a:cs typeface="微软雅黑" pitchFamily="34" charset="-120"/>
                        </a:rPr>
                        <a:t>律师服务费合计最高不得超过标的额的18%</a:t>
                      </a:r>
                      <a:endParaRPr lang="en-US" sz="1300" dirty="0">
                        <a:latin typeface="微软雅黑" charset="0"/>
                        <a:ea typeface="微软雅黑" charset="0"/>
                        <a:cs typeface="微软雅黑" charset="0"/>
                      </a:endParaRPr>
                    </a:p>
                  </a:txBody>
                  <a:tcPr marL="54864" marR="54864" marT="54864" marB="54864" anchor="ctr">
                    <a:lnL w="9525" cap="flat" cmpd="sng" algn="ctr">
                      <a:solidFill>
                        <a:srgbClr val="D5DBE5"/>
                      </a:solidFill>
                      <a:prstDash val="solid"/>
                      <a:round/>
                      <a:headEnd type="none" w="med" len="med"/>
                      <a:tailEnd type="none" w="med" len="med"/>
                    </a:lnL>
                    <a:lnR w="9525" cap="flat" cmpd="sng" algn="ctr">
                      <a:solidFill>
                        <a:srgbClr val="D5DBE5"/>
                      </a:solidFill>
                      <a:prstDash val="solid"/>
                      <a:round/>
                      <a:headEnd type="none" w="med" len="med"/>
                      <a:tailEnd type="none" w="med" len="med"/>
                    </a:lnR>
                    <a:lnT w="9525" cap="flat" cmpd="sng" algn="ctr">
                      <a:solidFill>
                        <a:srgbClr val="D5DBE5"/>
                      </a:solidFill>
                      <a:prstDash val="solid"/>
                      <a:round/>
                      <a:headEnd type="none" w="med" len="med"/>
                      <a:tailEnd type="none" w="med" len="med"/>
                    </a:lnT>
                    <a:lnB w="9525" cap="flat" cmpd="sng" algn="ctr">
                      <a:solidFill>
                        <a:srgbClr val="D5DBE5"/>
                      </a:solidFill>
                      <a:prstDash val="solid"/>
                      <a:round/>
                      <a:headEnd type="none" w="med" len="med"/>
                      <a:tailEnd type="none" w="med" len="med"/>
                    </a:lnB>
                    <a:solidFill>
                      <a:srgbClr val="F2F4F8"/>
                    </a:solidFill>
                  </a:tcPr>
                </a:tc>
              </a:tr>
            </a:tbl>
          </a:graphicData>
        </a:graphic>
      </p:graphicFrame>
      <p:sp>
        <p:nvSpPr>
          <p:cNvPr id="5" name="Text 2"/>
          <p:cNvSpPr/>
          <p:nvPr/>
        </p:nvSpPr>
        <p:spPr>
          <a:xfrm>
            <a:off x="566928" y="5087557"/>
            <a:ext cx="11057839" cy="292608"/>
          </a:xfrm>
          <a:prstGeom prst="rect">
            <a:avLst/>
          </a:prstGeom>
          <a:noFill/>
          <a:ln/>
        </p:spPr>
        <p:txBody>
          <a:bodyPr wrap="square" lIns="0" tIns="0" rIns="0" bIns="0" rtlCol="0" anchor="ctr"/>
          <a:lstStyle/>
          <a:p>
            <a:pPr indent="0" marL="0">
              <a:buNone/>
            </a:pPr>
            <a:r>
              <a:rPr lang="en-US" sz="1100" dirty="0">
                <a:solidFill>
                  <a:srgbClr val="6B7684"/>
                </a:solidFill>
                <a:latin typeface="微软雅黑" pitchFamily="34" charset="0"/>
                <a:ea typeface="微软雅黑" pitchFamily="34" charset="-122"/>
                <a:cs typeface="微软雅黑" pitchFamily="34" charset="-120"/>
              </a:rPr>
              <a:t>说明：请以本地现行有效的收费规定与省级实施标准为准；各省可能在此框架内作进一步细化。</a:t>
            </a:r>
            <a:endParaRPr lang="en-US" sz="1100" dirty="0"/>
          </a:p>
        </p:txBody>
      </p:sp>
      <p:sp>
        <p:nvSpPr>
          <p:cNvPr id="6" name="Text 3"/>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11</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实务要点</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风险代理的六项操作要求</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风险代理不是“不成功不收费”这么简单，它有一整套形式与实质要求。</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第一，必须单独签订风险代理收费合同，明确约定风险责任、收费方式、收费数额或者比例、支付条件与时间。</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第二，必须事先告知委托人可以选择政府指导价的收费方式，并说明两种方式的费用差异，由其自主选择。</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第三，“风险”必须真实存在。 对胜诉已无实质悬念的案件采用高比例风险代理，属于变相突破收费上限。</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第四，办案费用应当与律师费分开约定。 不得以“办案费用”名义变相突破风险代理的收费上限。</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第五，不得以风险代理为名要求当事人预先支付高额费用，或者约定败诉亦须支付高额“基础费”。</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第六，宣传用语须谨慎。 “不成功不收费”的表述容易被理解为对结果的承诺，应当准确表述为“风险代理，按约定条件收费”。</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12</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收费的伦理要求与常见违规</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收费违规是律师被行政处罚最集中的事由</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13</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四项要求</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收费必须遵守的四项刚性要求</a:t>
            </a:r>
            <a:endParaRPr lang="en-US" sz="2800" dirty="0"/>
          </a:p>
        </p:txBody>
      </p:sp>
      <p:sp>
        <p:nvSpPr>
          <p:cNvPr id="4" name="Shape 2"/>
          <p:cNvSpPr/>
          <p:nvPr/>
        </p:nvSpPr>
        <p:spPr>
          <a:xfrm>
            <a:off x="566928" y="1316736"/>
            <a:ext cx="11057839" cy="1214263"/>
          </a:xfrm>
          <a:prstGeom prst="roundRect">
            <a:avLst>
              <a:gd name="adj" fmla="val 6024"/>
            </a:avLst>
          </a:prstGeom>
          <a:solidFill>
            <a:srgbClr val="F2F4F8"/>
          </a:solidFill>
          <a:ln w="12700">
            <a:solidFill>
              <a:srgbClr val="F2F4F8"/>
            </a:solidFill>
            <a:prstDash val="solid"/>
          </a:ln>
        </p:spPr>
      </p:sp>
      <p:sp>
        <p:nvSpPr>
          <p:cNvPr id="5" name="Shape 3"/>
          <p:cNvSpPr/>
          <p:nvPr/>
        </p:nvSpPr>
        <p:spPr>
          <a:xfrm>
            <a:off x="841248" y="1667835"/>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821455"/>
            <a:ext cx="204826" cy="204826"/>
          </a:xfrm>
          <a:prstGeom prst="rect">
            <a:avLst/>
          </a:prstGeom>
        </p:spPr>
      </p:pic>
      <p:sp>
        <p:nvSpPr>
          <p:cNvPr id="7" name="Text 4"/>
          <p:cNvSpPr/>
          <p:nvPr/>
        </p:nvSpPr>
        <p:spPr>
          <a:xfrm>
            <a:off x="1536192" y="1539248"/>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一、统一收取，如实入账</a:t>
            </a:r>
            <a:endParaRPr lang="en-US" sz="1450" dirty="0"/>
          </a:p>
        </p:txBody>
      </p:sp>
      <p:sp>
        <p:nvSpPr>
          <p:cNvPr id="8" name="Text 5"/>
          <p:cNvSpPr/>
          <p:nvPr/>
        </p:nvSpPr>
        <p:spPr>
          <a:xfrm>
            <a:off x="1536192" y="1848112"/>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费用必须由律师事务所收取、进入律所对公账户、开具合法票据。律师个人收款、收现金不入账、要求打入私人账户，均构成《律师法》第四十条第（一）项的“私自收取费用”，可处停止执业乃至吊销执业证书。</a:t>
            </a:r>
            <a:endParaRPr lang="en-US" sz="1250" dirty="0"/>
          </a:p>
        </p:txBody>
      </p:sp>
      <p:sp>
        <p:nvSpPr>
          <p:cNvPr id="9" name="Shape 6"/>
          <p:cNvSpPr/>
          <p:nvPr/>
        </p:nvSpPr>
        <p:spPr>
          <a:xfrm>
            <a:off x="566928" y="2677303"/>
            <a:ext cx="11057839" cy="1214263"/>
          </a:xfrm>
          <a:prstGeom prst="roundRect">
            <a:avLst>
              <a:gd name="adj" fmla="val 6024"/>
            </a:avLst>
          </a:prstGeom>
          <a:solidFill>
            <a:srgbClr val="FFFFFF"/>
          </a:solidFill>
          <a:ln w="12700">
            <a:solidFill>
              <a:srgbClr val="D5DBE5"/>
            </a:solidFill>
            <a:prstDash val="solid"/>
          </a:ln>
        </p:spPr>
      </p:sp>
      <p:sp>
        <p:nvSpPr>
          <p:cNvPr id="10" name="Shape 7"/>
          <p:cNvSpPr/>
          <p:nvPr/>
        </p:nvSpPr>
        <p:spPr>
          <a:xfrm>
            <a:off x="841248" y="302840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182022"/>
            <a:ext cx="204826" cy="204826"/>
          </a:xfrm>
          <a:prstGeom prst="rect">
            <a:avLst/>
          </a:prstGeom>
        </p:spPr>
      </p:pic>
      <p:sp>
        <p:nvSpPr>
          <p:cNvPr id="12" name="Text 8"/>
          <p:cNvSpPr/>
          <p:nvPr/>
        </p:nvSpPr>
        <p:spPr>
          <a:xfrm>
            <a:off x="1536192" y="289981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二、书面约定，明码标价</a:t>
            </a:r>
            <a:endParaRPr lang="en-US" sz="1450" dirty="0"/>
          </a:p>
        </p:txBody>
      </p:sp>
      <p:sp>
        <p:nvSpPr>
          <p:cNvPr id="13" name="Text 9"/>
          <p:cNvSpPr/>
          <p:nvPr/>
        </p:nvSpPr>
        <p:spPr>
          <a:xfrm>
            <a:off x="1536192" y="320867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收费标准、方式、数额、支付时间应当在书面委托合同中明确约定；律所应当在办公场所公示收费标准。未书面约定而事后主张高额费用的，难以获得支持。</a:t>
            </a:r>
            <a:endParaRPr lang="en-US" sz="1250" dirty="0"/>
          </a:p>
        </p:txBody>
      </p:sp>
      <p:sp>
        <p:nvSpPr>
          <p:cNvPr id="14" name="Shape 10"/>
          <p:cNvSpPr/>
          <p:nvPr/>
        </p:nvSpPr>
        <p:spPr>
          <a:xfrm>
            <a:off x="566928" y="4037870"/>
            <a:ext cx="11057839" cy="984075"/>
          </a:xfrm>
          <a:prstGeom prst="roundRect">
            <a:avLst>
              <a:gd name="adj" fmla="val 7434"/>
            </a:avLst>
          </a:prstGeom>
          <a:solidFill>
            <a:srgbClr val="F2F4F8"/>
          </a:solidFill>
          <a:ln w="12700">
            <a:solidFill>
              <a:srgbClr val="F2F4F8"/>
            </a:solidFill>
            <a:prstDash val="solid"/>
          </a:ln>
        </p:spPr>
      </p:sp>
      <p:sp>
        <p:nvSpPr>
          <p:cNvPr id="15" name="Shape 11"/>
          <p:cNvSpPr/>
          <p:nvPr/>
        </p:nvSpPr>
        <p:spPr>
          <a:xfrm>
            <a:off x="841248" y="4273875"/>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427495"/>
            <a:ext cx="204826" cy="204826"/>
          </a:xfrm>
          <a:prstGeom prst="rect">
            <a:avLst/>
          </a:prstGeom>
        </p:spPr>
      </p:pic>
      <p:sp>
        <p:nvSpPr>
          <p:cNvPr id="17" name="Text 12"/>
          <p:cNvSpPr/>
          <p:nvPr/>
        </p:nvSpPr>
        <p:spPr>
          <a:xfrm>
            <a:off x="1536192" y="4260382"/>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三、办案费用与律师费分离</a:t>
            </a:r>
            <a:endParaRPr lang="en-US" sz="1450" dirty="0"/>
          </a:p>
        </p:txBody>
      </p:sp>
      <p:sp>
        <p:nvSpPr>
          <p:cNvPr id="18" name="Text 13"/>
          <p:cNvSpPr/>
          <p:nvPr/>
        </p:nvSpPr>
        <p:spPr>
          <a:xfrm>
            <a:off x="1536192" y="4569246"/>
            <a:ext cx="9832543" cy="230188"/>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差旅费、鉴定费、公证费、公告费、查档费等应当单独列明、据实结算、凭票报销，不得混入律师费，也不得以办案费用名义变相加价。</a:t>
            </a:r>
            <a:endParaRPr lang="en-US" sz="1250" dirty="0"/>
          </a:p>
        </p:txBody>
      </p:sp>
      <p:sp>
        <p:nvSpPr>
          <p:cNvPr id="19" name="Shape 14"/>
          <p:cNvSpPr/>
          <p:nvPr/>
        </p:nvSpPr>
        <p:spPr>
          <a:xfrm>
            <a:off x="566928" y="5168249"/>
            <a:ext cx="11057839" cy="1214263"/>
          </a:xfrm>
          <a:prstGeom prst="roundRect">
            <a:avLst>
              <a:gd name="adj" fmla="val 6024"/>
            </a:avLst>
          </a:prstGeom>
          <a:solidFill>
            <a:srgbClr val="FFFFFF"/>
          </a:solidFill>
          <a:ln w="12700">
            <a:solidFill>
              <a:srgbClr val="D5DBE5"/>
            </a:solidFill>
            <a:prstDash val="solid"/>
          </a:ln>
        </p:spPr>
      </p:sp>
      <p:sp>
        <p:nvSpPr>
          <p:cNvPr id="20" name="Shape 15"/>
          <p:cNvSpPr/>
          <p:nvPr/>
        </p:nvSpPr>
        <p:spPr>
          <a:xfrm>
            <a:off x="841248" y="5519349"/>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672968"/>
            <a:ext cx="204826" cy="204826"/>
          </a:xfrm>
          <a:prstGeom prst="rect">
            <a:avLst/>
          </a:prstGeom>
        </p:spPr>
      </p:pic>
      <p:sp>
        <p:nvSpPr>
          <p:cNvPr id="22" name="Text 16"/>
          <p:cNvSpPr/>
          <p:nvPr/>
        </p:nvSpPr>
        <p:spPr>
          <a:xfrm>
            <a:off x="1536192" y="5390761"/>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四、不得二次收费与额外索取</a:t>
            </a:r>
            <a:endParaRPr lang="en-US" sz="1450" dirty="0"/>
          </a:p>
        </p:txBody>
      </p:sp>
      <p:sp>
        <p:nvSpPr>
          <p:cNvPr id="23" name="Text 17"/>
          <p:cNvSpPr/>
          <p:nvPr/>
        </p:nvSpPr>
        <p:spPr>
          <a:xfrm>
            <a:off x="1536192" y="5699625"/>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不得在合同约定之外，以“活动费”“关系费”“办事费”“疏通费”等名义额外收取；此类行为不仅违规，且可能构成行贿、诈骗等犯罪。</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14</a:t>
            </a:r>
            <a:endParaRPr lang="en-US" sz="11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高发违规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收费领域的四类高发违规</a:t>
            </a:r>
            <a:endParaRPr lang="en-US" sz="2800" dirty="0"/>
          </a:p>
        </p:txBody>
      </p:sp>
      <p:sp>
        <p:nvSpPr>
          <p:cNvPr id="4" name="Shape 2"/>
          <p:cNvSpPr/>
          <p:nvPr/>
        </p:nvSpPr>
        <p:spPr>
          <a:xfrm>
            <a:off x="566928" y="1316736"/>
            <a:ext cx="5410048" cy="2423160"/>
          </a:xfrm>
          <a:prstGeom prst="roundRect">
            <a:avLst>
              <a:gd name="adj" fmla="val 3774"/>
            </a:avLst>
          </a:prstGeom>
          <a:solidFill>
            <a:srgbClr val="F2F4F8"/>
          </a:solidFill>
          <a:ln w="12700">
            <a:solidFill>
              <a:srgbClr val="F2F4F8"/>
            </a:solidFill>
            <a:prstDash val="solid"/>
          </a:ln>
        </p:spPr>
      </p:sp>
      <p:sp>
        <p:nvSpPr>
          <p:cNvPr id="5" name="Shape 3"/>
          <p:cNvSpPr/>
          <p:nvPr/>
        </p:nvSpPr>
        <p:spPr>
          <a:xfrm>
            <a:off x="886968" y="1609344"/>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1746504"/>
            <a:ext cx="182880" cy="182880"/>
          </a:xfrm>
          <a:prstGeom prst="rect">
            <a:avLst/>
          </a:prstGeom>
        </p:spPr>
      </p:pic>
      <p:sp>
        <p:nvSpPr>
          <p:cNvPr id="7" name="Text 4"/>
          <p:cNvSpPr/>
          <p:nvPr/>
        </p:nvSpPr>
        <p:spPr>
          <a:xfrm>
            <a:off x="886968" y="2231136"/>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私自收费</a:t>
            </a:r>
            <a:endParaRPr lang="en-US" sz="1700" dirty="0"/>
          </a:p>
        </p:txBody>
      </p:sp>
      <p:sp>
        <p:nvSpPr>
          <p:cNvPr id="8" name="Text 5"/>
          <p:cNvSpPr/>
          <p:nvPr/>
        </p:nvSpPr>
        <p:spPr>
          <a:xfrm>
            <a:off x="886968" y="2629027"/>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绕开律所直接收取，或者只将部分费用入所账。这是最常见、也是后果最严重的违规：它同时构成规避律所管理、逃避利益冲突审查与偷逃税款。</a:t>
            </a:r>
            <a:endParaRPr lang="en-US" sz="1450" dirty="0"/>
          </a:p>
        </p:txBody>
      </p:sp>
      <p:sp>
        <p:nvSpPr>
          <p:cNvPr id="9" name="Shape 6"/>
          <p:cNvSpPr/>
          <p:nvPr/>
        </p:nvSpPr>
        <p:spPr>
          <a:xfrm>
            <a:off x="6214720" y="1316736"/>
            <a:ext cx="5410048" cy="2423160"/>
          </a:xfrm>
          <a:prstGeom prst="roundRect">
            <a:avLst>
              <a:gd name="adj" fmla="val 3774"/>
            </a:avLst>
          </a:prstGeom>
          <a:solidFill>
            <a:srgbClr val="F2F4F8"/>
          </a:solidFill>
          <a:ln w="12700">
            <a:solidFill>
              <a:srgbClr val="F2F4F8"/>
            </a:solidFill>
            <a:prstDash val="solid"/>
          </a:ln>
        </p:spPr>
      </p:sp>
      <p:sp>
        <p:nvSpPr>
          <p:cNvPr id="10" name="Shape 7"/>
          <p:cNvSpPr/>
          <p:nvPr/>
        </p:nvSpPr>
        <p:spPr>
          <a:xfrm>
            <a:off x="6534760" y="1609344"/>
            <a:ext cx="457200" cy="457200"/>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6671920" y="1746504"/>
            <a:ext cx="182880" cy="182880"/>
          </a:xfrm>
          <a:prstGeom prst="rect">
            <a:avLst/>
          </a:prstGeom>
        </p:spPr>
      </p:pic>
      <p:sp>
        <p:nvSpPr>
          <p:cNvPr id="12" name="Text 8"/>
          <p:cNvSpPr/>
          <p:nvPr/>
        </p:nvSpPr>
        <p:spPr>
          <a:xfrm>
            <a:off x="6534760" y="2231136"/>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超标准收费</a:t>
            </a:r>
            <a:endParaRPr lang="en-US" sz="1700" dirty="0"/>
          </a:p>
        </p:txBody>
      </p:sp>
      <p:sp>
        <p:nvSpPr>
          <p:cNvPr id="13" name="Text 9"/>
          <p:cNvSpPr/>
          <p:nvPr/>
        </p:nvSpPr>
        <p:spPr>
          <a:xfrm>
            <a:off x="6534760" y="2629027"/>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突破政府指导价上限、突破风险代理比例上限；或者以“另行签订咨询协议”的方式拆分收费以规避上限。</a:t>
            </a:r>
            <a:endParaRPr lang="en-US" sz="1450" dirty="0"/>
          </a:p>
        </p:txBody>
      </p:sp>
      <p:sp>
        <p:nvSpPr>
          <p:cNvPr id="14" name="Shape 10"/>
          <p:cNvSpPr/>
          <p:nvPr/>
        </p:nvSpPr>
        <p:spPr>
          <a:xfrm>
            <a:off x="566928" y="3959352"/>
            <a:ext cx="5410048" cy="2423160"/>
          </a:xfrm>
          <a:prstGeom prst="roundRect">
            <a:avLst>
              <a:gd name="adj" fmla="val 3774"/>
            </a:avLst>
          </a:prstGeom>
          <a:solidFill>
            <a:srgbClr val="F2F4F8"/>
          </a:solidFill>
          <a:ln w="12700">
            <a:solidFill>
              <a:srgbClr val="F2F4F8"/>
            </a:solidFill>
            <a:prstDash val="solid"/>
          </a:ln>
        </p:spPr>
      </p:sp>
      <p:sp>
        <p:nvSpPr>
          <p:cNvPr id="15" name="Shape 11"/>
          <p:cNvSpPr/>
          <p:nvPr/>
        </p:nvSpPr>
        <p:spPr>
          <a:xfrm>
            <a:off x="886968" y="4251960"/>
            <a:ext cx="457200" cy="457200"/>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1024128" y="4389120"/>
            <a:ext cx="182880" cy="182880"/>
          </a:xfrm>
          <a:prstGeom prst="rect">
            <a:avLst/>
          </a:prstGeom>
        </p:spPr>
      </p:pic>
      <p:sp>
        <p:nvSpPr>
          <p:cNvPr id="17" name="Text 12"/>
          <p:cNvSpPr/>
          <p:nvPr/>
        </p:nvSpPr>
        <p:spPr>
          <a:xfrm>
            <a:off x="886968" y="4873752"/>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以“关系”名义收费</a:t>
            </a:r>
            <a:endParaRPr lang="en-US" sz="1700" dirty="0"/>
          </a:p>
        </p:txBody>
      </p:sp>
      <p:sp>
        <p:nvSpPr>
          <p:cNvPr id="18" name="Text 13"/>
          <p:cNvSpPr/>
          <p:nvPr/>
        </p:nvSpPr>
        <p:spPr>
          <a:xfrm>
            <a:off x="886968" y="5271643"/>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以打点、疏通、活动为名收取费用。无论是否实际用于行贿，该行为本身即构成严重违规；若确有行贿，则涉及《律师法》第四十条第（五）项与刑事责任。</a:t>
            </a:r>
            <a:endParaRPr lang="en-US" sz="1450" dirty="0"/>
          </a:p>
        </p:txBody>
      </p:sp>
      <p:sp>
        <p:nvSpPr>
          <p:cNvPr id="19" name="Shape 14"/>
          <p:cNvSpPr/>
          <p:nvPr/>
        </p:nvSpPr>
        <p:spPr>
          <a:xfrm>
            <a:off x="6214720" y="3959352"/>
            <a:ext cx="5410048" cy="2423160"/>
          </a:xfrm>
          <a:prstGeom prst="roundRect">
            <a:avLst>
              <a:gd name="adj" fmla="val 3774"/>
            </a:avLst>
          </a:prstGeom>
          <a:solidFill>
            <a:srgbClr val="F2F4F8"/>
          </a:solidFill>
          <a:ln w="12700">
            <a:solidFill>
              <a:srgbClr val="F2F4F8"/>
            </a:solidFill>
            <a:prstDash val="solid"/>
          </a:ln>
        </p:spPr>
      </p:sp>
      <p:sp>
        <p:nvSpPr>
          <p:cNvPr id="20" name="Shape 15"/>
          <p:cNvSpPr/>
          <p:nvPr/>
        </p:nvSpPr>
        <p:spPr>
          <a:xfrm>
            <a:off x="6534760" y="4251960"/>
            <a:ext cx="457200" cy="457200"/>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6671920" y="4389120"/>
            <a:ext cx="182880" cy="182880"/>
          </a:xfrm>
          <a:prstGeom prst="rect">
            <a:avLst/>
          </a:prstGeom>
        </p:spPr>
      </p:pic>
      <p:sp>
        <p:nvSpPr>
          <p:cNvPr id="22" name="Text 16"/>
          <p:cNvSpPr/>
          <p:nvPr/>
        </p:nvSpPr>
        <p:spPr>
          <a:xfrm>
            <a:off x="6534760" y="4873752"/>
            <a:ext cx="4769968"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虚报工时与重复计费</a:t>
            </a:r>
            <a:endParaRPr lang="en-US" sz="1700" dirty="0"/>
          </a:p>
        </p:txBody>
      </p:sp>
      <p:sp>
        <p:nvSpPr>
          <p:cNvPr id="23" name="Text 17"/>
          <p:cNvSpPr/>
          <p:nvPr/>
        </p:nvSpPr>
        <p:spPr>
          <a:xfrm>
            <a:off x="6534760" y="5271643"/>
            <a:ext cx="4769968" cy="891413"/>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计时收费中虚增工作小时、将同一项工作向多个客户重复计费、将行政性事务按律师费率计费。这类行为在大所非诉业务中尤须警惕。</a:t>
            </a:r>
            <a:endParaRPr lang="en-US" sz="14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15</a:t>
            </a:r>
            <a:endParaRPr lang="en-US" sz="11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代管财物与案款的规则</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替当事人保管的钱，一分一厘都不能碰</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16</a:t>
            </a:r>
            <a:endParaRPr lang="en-US" sz="11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规范基础</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代管财物的禁止性规定</a:t>
            </a:r>
            <a:endParaRPr lang="en-US" sz="2800" dirty="0"/>
          </a:p>
        </p:txBody>
      </p:sp>
      <p:sp>
        <p:nvSpPr>
          <p:cNvPr id="4" name="Shape 2"/>
          <p:cNvSpPr/>
          <p:nvPr/>
        </p:nvSpPr>
        <p:spPr>
          <a:xfrm>
            <a:off x="566928" y="1316736"/>
            <a:ext cx="11057839" cy="1482979"/>
          </a:xfrm>
          <a:prstGeom prst="roundRect">
            <a:avLst>
              <a:gd name="adj" fmla="val 6166"/>
            </a:avLst>
          </a:prstGeom>
          <a:solidFill>
            <a:srgbClr val="F6F1E8"/>
          </a:solidFill>
          <a:ln w="12700">
            <a:solidFill>
              <a:srgbClr val="F6F1E8"/>
            </a:solidFill>
            <a:prstDash val="solid"/>
          </a:ln>
        </p:spPr>
      </p:sp>
      <p:sp>
        <p:nvSpPr>
          <p:cNvPr id="5" name="Shape 3"/>
          <p:cNvSpPr/>
          <p:nvPr/>
        </p:nvSpPr>
        <p:spPr>
          <a:xfrm>
            <a:off x="877824" y="1554480"/>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1554480"/>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1536192"/>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《律师法》第四十条第（一）（二）项</a:t>
            </a:r>
            <a:endParaRPr lang="en-US" sz="1500" dirty="0"/>
          </a:p>
        </p:txBody>
      </p:sp>
      <p:sp>
        <p:nvSpPr>
          <p:cNvPr id="8" name="Text 6"/>
          <p:cNvSpPr/>
          <p:nvPr/>
        </p:nvSpPr>
        <p:spPr>
          <a:xfrm>
            <a:off x="960120" y="1956816"/>
            <a:ext cx="10271455" cy="623443"/>
          </a:xfrm>
          <a:prstGeom prst="rect">
            <a:avLst/>
          </a:prstGeom>
          <a:noFill/>
          <a:ln/>
        </p:spPr>
        <p:txBody>
          <a:bodyPr wrap="square" lIns="0" tIns="0" rIns="0" bIns="0" rtlCol="0" anchor="t"/>
          <a:lstStyle/>
          <a:p>
            <a:pPr indent="0" marL="0">
              <a:lnSpc>
                <a:spcPts val="1800"/>
              </a:lnSpc>
              <a:buNone/>
            </a:pPr>
            <a:r>
              <a:rPr lang="en-US" sz="1200" dirty="0">
                <a:solidFill>
                  <a:srgbClr val="32404F"/>
                </a:solidFill>
                <a:latin typeface="微软雅黑" pitchFamily="34" charset="0"/>
                <a:ea typeface="微软雅黑" pitchFamily="34" charset="-122"/>
                <a:cs typeface="微软雅黑" pitchFamily="34" charset="-120"/>
              </a:rPr>
              <a:t>律师在执业活动中不得有下列行为：</a:t>
            </a:r>
            <a:endParaRPr lang="en-US" sz="1200" dirty="0"/>
          </a:p>
          <a:p>
            <a:pPr indent="0" marL="0">
              <a:lnSpc>
                <a:spcPts val="1800"/>
              </a:lnSpc>
              <a:buNone/>
            </a:pPr>
            <a:r>
              <a:rPr lang="en-US" sz="1200" dirty="0">
                <a:solidFill>
                  <a:srgbClr val="32404F"/>
                </a:solidFill>
                <a:latin typeface="微软雅黑" pitchFamily="34" charset="0"/>
                <a:ea typeface="微软雅黑" pitchFamily="34" charset="-122"/>
                <a:cs typeface="微软雅黑" pitchFamily="34" charset="-120"/>
              </a:rPr>
              <a:t>（一）私自接受委托、收取费用，接受委托人的财物或者其他利益；</a:t>
            </a:r>
            <a:endParaRPr lang="en-US" sz="1200" dirty="0"/>
          </a:p>
          <a:p>
            <a:pPr indent="0" marL="0">
              <a:lnSpc>
                <a:spcPts val="1800"/>
              </a:lnSpc>
              <a:buNone/>
            </a:pPr>
            <a:r>
              <a:rPr lang="en-US" sz="1200" dirty="0">
                <a:solidFill>
                  <a:srgbClr val="32404F"/>
                </a:solidFill>
                <a:latin typeface="微软雅黑" pitchFamily="34" charset="0"/>
                <a:ea typeface="微软雅黑" pitchFamily="34" charset="-122"/>
                <a:cs typeface="微软雅黑" pitchFamily="34" charset="-120"/>
              </a:rPr>
              <a:t>（二）利用提供法律服务的便利牟取当事人争议的权益。</a:t>
            </a:r>
            <a:endParaRPr lang="en-US" sz="1200" dirty="0"/>
          </a:p>
        </p:txBody>
      </p:sp>
      <p:sp>
        <p:nvSpPr>
          <p:cNvPr id="9" name="Shape 7"/>
          <p:cNvSpPr/>
          <p:nvPr/>
        </p:nvSpPr>
        <p:spPr>
          <a:xfrm>
            <a:off x="566928" y="2982595"/>
            <a:ext cx="11057839" cy="1711579"/>
          </a:xfrm>
          <a:prstGeom prst="roundRect">
            <a:avLst>
              <a:gd name="adj" fmla="val 5342"/>
            </a:avLst>
          </a:prstGeom>
          <a:solidFill>
            <a:srgbClr val="F6F1E8"/>
          </a:solidFill>
          <a:ln w="12700">
            <a:solidFill>
              <a:srgbClr val="F6F1E8"/>
            </a:solidFill>
            <a:prstDash val="solid"/>
          </a:ln>
        </p:spPr>
      </p:sp>
      <p:sp>
        <p:nvSpPr>
          <p:cNvPr id="10" name="Shape 8"/>
          <p:cNvSpPr/>
          <p:nvPr/>
        </p:nvSpPr>
        <p:spPr>
          <a:xfrm>
            <a:off x="877824" y="3220339"/>
            <a:ext cx="566928" cy="274320"/>
          </a:xfrm>
          <a:prstGeom prst="roundRect">
            <a:avLst>
              <a:gd name="adj" fmla="val 50000"/>
            </a:avLst>
          </a:prstGeom>
          <a:solidFill>
            <a:srgbClr val="B08D57"/>
          </a:solidFill>
          <a:ln w="12700">
            <a:solidFill>
              <a:srgbClr val="B08D57"/>
            </a:solidFill>
            <a:prstDash val="solid"/>
          </a:ln>
        </p:spPr>
      </p:sp>
      <p:sp>
        <p:nvSpPr>
          <p:cNvPr id="11" name="Text 9"/>
          <p:cNvSpPr/>
          <p:nvPr/>
        </p:nvSpPr>
        <p:spPr>
          <a:xfrm>
            <a:off x="877824" y="3220339"/>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12" name="Text 10"/>
          <p:cNvSpPr/>
          <p:nvPr/>
        </p:nvSpPr>
        <p:spPr>
          <a:xfrm>
            <a:off x="1554480" y="3202051"/>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《律师法》第四十八条（节录）</a:t>
            </a:r>
            <a:endParaRPr lang="en-US" sz="1500" dirty="0"/>
          </a:p>
        </p:txBody>
      </p:sp>
      <p:sp>
        <p:nvSpPr>
          <p:cNvPr id="13" name="Text 11"/>
          <p:cNvSpPr/>
          <p:nvPr/>
        </p:nvSpPr>
        <p:spPr>
          <a:xfrm>
            <a:off x="960120" y="3622675"/>
            <a:ext cx="10271455" cy="852043"/>
          </a:xfrm>
          <a:prstGeom prst="rect">
            <a:avLst/>
          </a:prstGeom>
          <a:noFill/>
          <a:ln/>
        </p:spPr>
        <p:txBody>
          <a:bodyPr wrap="square" lIns="0" tIns="0" rIns="0" bIns="0" rtlCol="0" anchor="t"/>
          <a:lstStyle/>
          <a:p>
            <a:pPr indent="0" marL="0">
              <a:lnSpc>
                <a:spcPts val="1800"/>
              </a:lnSpc>
              <a:buNone/>
            </a:pPr>
            <a:r>
              <a:rPr lang="en-US" sz="1200" dirty="0">
                <a:solidFill>
                  <a:srgbClr val="32404F"/>
                </a:solidFill>
                <a:latin typeface="微软雅黑" pitchFamily="34" charset="0"/>
                <a:ea typeface="微软雅黑" pitchFamily="34" charset="-122"/>
                <a:cs typeface="微软雅黑" pitchFamily="34" charset="-120"/>
              </a:rPr>
              <a:t>律师有下列行为之一的，由设区的市级或者直辖市的区人民政府司法行政部门给予警告，可以处一万元以下的罚款；有违法所得的，没收违法所得；情节严重的，给予停止执业的处罚：</a:t>
            </a:r>
            <a:endParaRPr lang="en-US" sz="1200" dirty="0"/>
          </a:p>
          <a:p>
            <a:pPr indent="0" marL="0">
              <a:lnSpc>
                <a:spcPts val="1800"/>
              </a:lnSpc>
              <a:buNone/>
            </a:pPr>
            <a:r>
              <a:rPr lang="en-US" sz="1200" dirty="0">
                <a:solidFill>
                  <a:srgbClr val="32404F"/>
                </a:solidFill>
                <a:latin typeface="微软雅黑" pitchFamily="34" charset="0"/>
                <a:ea typeface="微软雅黑" pitchFamily="34" charset="-122"/>
                <a:cs typeface="微软雅黑" pitchFamily="34" charset="-120"/>
              </a:rPr>
              <a:t>（一）私自接受委托、收取费用，接受委托人财物或者其他利益的；</a:t>
            </a:r>
            <a:endParaRPr lang="en-US" sz="1200" dirty="0"/>
          </a:p>
          <a:p>
            <a:pPr indent="0" marL="0">
              <a:lnSpc>
                <a:spcPts val="1800"/>
              </a:lnSpc>
              <a:buNone/>
            </a:pPr>
            <a:r>
              <a:rPr lang="en-US" sz="1200" dirty="0">
                <a:solidFill>
                  <a:srgbClr val="32404F"/>
                </a:solidFill>
                <a:latin typeface="微软雅黑" pitchFamily="34" charset="0"/>
                <a:ea typeface="微软雅黑" pitchFamily="34" charset="-122"/>
                <a:cs typeface="微软雅黑" pitchFamily="34" charset="-120"/>
              </a:rPr>
              <a:t>（二）接受委托后，无正当理由，拒绝辩护或者代理，不按时出庭参加诉讼或者仲裁的；</a:t>
            </a:r>
            <a:endParaRPr lang="en-US" sz="1200" dirty="0"/>
          </a:p>
          <a:p>
            <a:pPr indent="0" marL="0">
              <a:lnSpc>
                <a:spcPts val="1800"/>
              </a:lnSpc>
              <a:buNone/>
            </a:pPr>
            <a:r>
              <a:rPr lang="en-US" sz="1200" dirty="0">
                <a:solidFill>
                  <a:srgbClr val="32404F"/>
                </a:solidFill>
                <a:latin typeface="微软雅黑" pitchFamily="34" charset="0"/>
                <a:ea typeface="微软雅黑" pitchFamily="34" charset="-122"/>
                <a:cs typeface="微软雅黑" pitchFamily="34" charset="-120"/>
              </a:rPr>
              <a:t>（三）利用提供法律服务的便利牟取当事人争议的权益的；</a:t>
            </a:r>
            <a:endParaRPr lang="en-US" sz="1200" dirty="0"/>
          </a:p>
          <a:p>
            <a:pPr indent="0" marL="0">
              <a:lnSpc>
                <a:spcPts val="1800"/>
              </a:lnSpc>
              <a:buNone/>
            </a:pPr>
            <a:r>
              <a:rPr lang="en-US" sz="1200" dirty="0">
                <a:solidFill>
                  <a:srgbClr val="32404F"/>
                </a:solidFill>
                <a:latin typeface="微软雅黑" pitchFamily="34" charset="0"/>
                <a:ea typeface="微软雅黑" pitchFamily="34" charset="-122"/>
                <a:cs typeface="微软雅黑" pitchFamily="34" charset="-120"/>
              </a:rPr>
              <a:t>（四）泄露商业秘密或者个人隐私的。</a:t>
            </a:r>
            <a:endParaRPr lang="en-US" sz="1200" dirty="0"/>
          </a:p>
        </p:txBody>
      </p:sp>
      <p:sp>
        <p:nvSpPr>
          <p:cNvPr id="14" name="Shape 12"/>
          <p:cNvSpPr/>
          <p:nvPr/>
        </p:nvSpPr>
        <p:spPr>
          <a:xfrm>
            <a:off x="566928" y="4877054"/>
            <a:ext cx="11057839" cy="1505458"/>
          </a:xfrm>
          <a:prstGeom prst="roundRect">
            <a:avLst>
              <a:gd name="adj" fmla="val 6074"/>
            </a:avLst>
          </a:prstGeom>
          <a:solidFill>
            <a:srgbClr val="F2F4F8"/>
          </a:solidFill>
          <a:ln w="12700">
            <a:solidFill>
              <a:srgbClr val="F2F4F8"/>
            </a:solidFill>
            <a:prstDash val="solid"/>
          </a:ln>
        </p:spPr>
      </p:sp>
      <p:sp>
        <p:nvSpPr>
          <p:cNvPr id="15" name="Text 13"/>
          <p:cNvSpPr/>
          <p:nvPr/>
        </p:nvSpPr>
        <p:spPr>
          <a:xfrm>
            <a:off x="896112" y="504164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6" name="Text 14"/>
          <p:cNvSpPr/>
          <p:nvPr/>
        </p:nvSpPr>
        <p:spPr>
          <a:xfrm>
            <a:off x="896112" y="5315966"/>
            <a:ext cx="10271455" cy="938530"/>
          </a:xfrm>
          <a:prstGeom prst="rect">
            <a:avLst/>
          </a:prstGeom>
          <a:noFill/>
          <a:ln/>
        </p:spPr>
        <p:txBody>
          <a:bodyPr wrap="square" lIns="0" tIns="0" rIns="0" bIns="0" rtlCol="0" anchor="t"/>
          <a:lstStyle/>
          <a:p>
            <a:pPr indent="0" marL="0">
              <a:lnSpc>
                <a:spcPts val="1668"/>
              </a:lnSpc>
              <a:buNone/>
            </a:pPr>
            <a:r>
              <a:rPr lang="en-US" sz="1150" dirty="0">
                <a:solidFill>
                  <a:srgbClr val="32404F"/>
                </a:solidFill>
                <a:latin typeface="微软雅黑" pitchFamily="34" charset="0"/>
                <a:ea typeface="微软雅黑" pitchFamily="34" charset="-122"/>
                <a:cs typeface="微软雅黑" pitchFamily="34" charset="-120"/>
              </a:rPr>
              <a:t>请把握《律师法》行政处罚的三级阶梯：第四十七条为最轻一级（警告、五千元以下罚款、没收违法所得），第四十八条为中间一级（警告、一万元以下罚款、没收违法所得，情节严重的停止执业），第四十九条为最重一级（停止执业六个月以上一年以下、五万元以下罚款，情节严重的吊销执业证书，构成犯罪的追究刑事责任）。私自收费属第四十八条第（一）项。而挪用当事人款项若构成职务侵占、挪用资金、侵占或者诈骗，则直接进入刑事责任层面——这才是最严重的后果。</a:t>
            </a:r>
            <a:endParaRPr lang="en-US" sz="1150" dirty="0"/>
          </a:p>
        </p:txBody>
      </p:sp>
      <p:sp>
        <p:nvSpPr>
          <p:cNvPr id="17" name="Text 1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17</a:t>
            </a:r>
            <a:endParaRPr lang="en-US" sz="11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操作规则</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代管财物的五项规则</a:t>
            </a:r>
            <a:endParaRPr lang="en-US" sz="2800" dirty="0"/>
          </a:p>
        </p:txBody>
      </p:sp>
      <p:sp>
        <p:nvSpPr>
          <p:cNvPr id="4" name="Shape 2"/>
          <p:cNvSpPr/>
          <p:nvPr/>
        </p:nvSpPr>
        <p:spPr>
          <a:xfrm>
            <a:off x="566928" y="1978247"/>
            <a:ext cx="5382616" cy="1079373"/>
          </a:xfrm>
          <a:prstGeom prst="roundRect">
            <a:avLst>
              <a:gd name="adj" fmla="val 6777"/>
            </a:avLst>
          </a:prstGeom>
          <a:solidFill>
            <a:srgbClr val="F2F4F8"/>
          </a:solidFill>
          <a:ln w="12700">
            <a:solidFill>
              <a:srgbClr val="F2F4F8"/>
            </a:solidFill>
            <a:prstDash val="solid"/>
          </a:ln>
        </p:spPr>
      </p:sp>
      <p:sp>
        <p:nvSpPr>
          <p:cNvPr id="5" name="Shape 3"/>
          <p:cNvSpPr/>
          <p:nvPr/>
        </p:nvSpPr>
        <p:spPr>
          <a:xfrm>
            <a:off x="822960" y="2289334"/>
            <a:ext cx="457200" cy="457200"/>
          </a:xfrm>
          <a:prstGeom prst="ellipse">
            <a:avLst/>
          </a:prstGeom>
          <a:solidFill>
            <a:srgbClr val="13233F"/>
          </a:solidFill>
          <a:ln w="12700">
            <a:solidFill>
              <a:srgbClr val="13233F"/>
            </a:solidFill>
            <a:prstDash val="solid"/>
          </a:ln>
        </p:spPr>
      </p:sp>
      <p:sp>
        <p:nvSpPr>
          <p:cNvPr id="6" name="Text 4"/>
          <p:cNvSpPr/>
          <p:nvPr/>
        </p:nvSpPr>
        <p:spPr>
          <a:xfrm>
            <a:off x="822960" y="2289334"/>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444752" y="2115407"/>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一、能不代管的尽量不代管</a:t>
            </a:r>
            <a:endParaRPr lang="en-US" sz="1500" dirty="0"/>
          </a:p>
        </p:txBody>
      </p:sp>
      <p:sp>
        <p:nvSpPr>
          <p:cNvPr id="8" name="Text 6"/>
          <p:cNvSpPr/>
          <p:nvPr/>
        </p:nvSpPr>
        <p:spPr>
          <a:xfrm>
            <a:off x="1444752" y="2423255"/>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首选方案是由对方当事人或者法院直接向委托人支付。代管本身即是风险，不必要的代管应当避免。</a:t>
            </a:r>
            <a:endParaRPr lang="en-US" sz="1350" dirty="0"/>
          </a:p>
        </p:txBody>
      </p:sp>
      <p:sp>
        <p:nvSpPr>
          <p:cNvPr id="9" name="Shape 7"/>
          <p:cNvSpPr/>
          <p:nvPr/>
        </p:nvSpPr>
        <p:spPr>
          <a:xfrm>
            <a:off x="566928" y="3185636"/>
            <a:ext cx="5382616" cy="1079373"/>
          </a:xfrm>
          <a:prstGeom prst="roundRect">
            <a:avLst>
              <a:gd name="adj" fmla="val 6777"/>
            </a:avLst>
          </a:prstGeom>
          <a:solidFill>
            <a:srgbClr val="FFFFFF"/>
          </a:solidFill>
          <a:ln w="12700">
            <a:solidFill>
              <a:srgbClr val="D5DBE5"/>
            </a:solidFill>
            <a:prstDash val="solid"/>
          </a:ln>
        </p:spPr>
      </p:sp>
      <p:sp>
        <p:nvSpPr>
          <p:cNvPr id="10" name="Shape 8"/>
          <p:cNvSpPr/>
          <p:nvPr/>
        </p:nvSpPr>
        <p:spPr>
          <a:xfrm>
            <a:off x="822960" y="3496723"/>
            <a:ext cx="457200" cy="457200"/>
          </a:xfrm>
          <a:prstGeom prst="ellipse">
            <a:avLst/>
          </a:prstGeom>
          <a:solidFill>
            <a:srgbClr val="13233F"/>
          </a:solidFill>
          <a:ln w="12700">
            <a:solidFill>
              <a:srgbClr val="13233F"/>
            </a:solidFill>
            <a:prstDash val="solid"/>
          </a:ln>
        </p:spPr>
      </p:sp>
      <p:sp>
        <p:nvSpPr>
          <p:cNvPr id="11" name="Text 9"/>
          <p:cNvSpPr/>
          <p:nvPr/>
        </p:nvSpPr>
        <p:spPr>
          <a:xfrm>
            <a:off x="822960" y="3496723"/>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444752" y="3322796"/>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二、必须代管的，实行专户分账管理</a:t>
            </a:r>
            <a:endParaRPr lang="en-US" sz="1500" dirty="0"/>
          </a:p>
        </p:txBody>
      </p:sp>
      <p:sp>
        <p:nvSpPr>
          <p:cNvPr id="13" name="Text 11"/>
          <p:cNvSpPr/>
          <p:nvPr/>
        </p:nvSpPr>
        <p:spPr>
          <a:xfrm>
            <a:off x="1444752" y="3630644"/>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代管财物不得与律所自有资金、律师个人资金混同；应当设立专门账户或者专项科目，独立记账、专款专用。</a:t>
            </a:r>
            <a:endParaRPr lang="en-US" sz="1350" dirty="0"/>
          </a:p>
        </p:txBody>
      </p:sp>
      <p:sp>
        <p:nvSpPr>
          <p:cNvPr id="14" name="Shape 12"/>
          <p:cNvSpPr/>
          <p:nvPr/>
        </p:nvSpPr>
        <p:spPr>
          <a:xfrm>
            <a:off x="566928" y="4393025"/>
            <a:ext cx="5382616" cy="1327976"/>
          </a:xfrm>
          <a:prstGeom prst="roundRect">
            <a:avLst>
              <a:gd name="adj" fmla="val 5509"/>
            </a:avLst>
          </a:prstGeom>
          <a:solidFill>
            <a:srgbClr val="F2F4F8"/>
          </a:solidFill>
          <a:ln w="12700">
            <a:solidFill>
              <a:srgbClr val="F2F4F8"/>
            </a:solidFill>
            <a:prstDash val="solid"/>
          </a:ln>
        </p:spPr>
      </p:sp>
      <p:sp>
        <p:nvSpPr>
          <p:cNvPr id="15" name="Shape 13"/>
          <p:cNvSpPr/>
          <p:nvPr/>
        </p:nvSpPr>
        <p:spPr>
          <a:xfrm>
            <a:off x="822960" y="4828413"/>
            <a:ext cx="457200" cy="457200"/>
          </a:xfrm>
          <a:prstGeom prst="ellipse">
            <a:avLst/>
          </a:prstGeom>
          <a:solidFill>
            <a:srgbClr val="13233F"/>
          </a:solidFill>
          <a:ln w="12700">
            <a:solidFill>
              <a:srgbClr val="13233F"/>
            </a:solidFill>
            <a:prstDash val="solid"/>
          </a:ln>
        </p:spPr>
      </p:sp>
      <p:sp>
        <p:nvSpPr>
          <p:cNvPr id="16" name="Text 14"/>
          <p:cNvSpPr/>
          <p:nvPr/>
        </p:nvSpPr>
        <p:spPr>
          <a:xfrm>
            <a:off x="822960" y="4828413"/>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444752" y="4530185"/>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三、绝对禁止挪用与占用</a:t>
            </a:r>
            <a:endParaRPr lang="en-US" sz="1500" dirty="0"/>
          </a:p>
        </p:txBody>
      </p:sp>
      <p:sp>
        <p:nvSpPr>
          <p:cNvPr id="18" name="Text 16"/>
          <p:cNvSpPr/>
          <p:nvPr/>
        </p:nvSpPr>
        <p:spPr>
          <a:xfrm>
            <a:off x="1444752" y="4838033"/>
            <a:ext cx="4340200" cy="745808"/>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不得以任何理由、任何期限动用代管款项，包括“暂时周转”“先扣律师费”。以代管款抵扣律师费必须经委托人书面同意，且应当单独结算。</a:t>
            </a:r>
            <a:endParaRPr lang="en-US" sz="1350" dirty="0"/>
          </a:p>
        </p:txBody>
      </p:sp>
      <p:sp>
        <p:nvSpPr>
          <p:cNvPr id="19" name="Shape 17"/>
          <p:cNvSpPr/>
          <p:nvPr/>
        </p:nvSpPr>
        <p:spPr>
          <a:xfrm>
            <a:off x="6242152" y="2706243"/>
            <a:ext cx="5382616" cy="1079373"/>
          </a:xfrm>
          <a:prstGeom prst="roundRect">
            <a:avLst>
              <a:gd name="adj" fmla="val 6777"/>
            </a:avLst>
          </a:prstGeom>
          <a:solidFill>
            <a:srgbClr val="FFFFFF"/>
          </a:solidFill>
          <a:ln w="12700">
            <a:solidFill>
              <a:srgbClr val="D5DBE5"/>
            </a:solidFill>
            <a:prstDash val="solid"/>
          </a:ln>
        </p:spPr>
      </p:sp>
      <p:sp>
        <p:nvSpPr>
          <p:cNvPr id="20" name="Shape 18"/>
          <p:cNvSpPr/>
          <p:nvPr/>
        </p:nvSpPr>
        <p:spPr>
          <a:xfrm>
            <a:off x="6498184" y="3017330"/>
            <a:ext cx="457200" cy="457200"/>
          </a:xfrm>
          <a:prstGeom prst="ellipse">
            <a:avLst/>
          </a:prstGeom>
          <a:solidFill>
            <a:srgbClr val="13233F"/>
          </a:solidFill>
          <a:ln w="12700">
            <a:solidFill>
              <a:srgbClr val="13233F"/>
            </a:solidFill>
            <a:prstDash val="solid"/>
          </a:ln>
        </p:spPr>
      </p:sp>
      <p:sp>
        <p:nvSpPr>
          <p:cNvPr id="21" name="Text 19"/>
          <p:cNvSpPr/>
          <p:nvPr/>
        </p:nvSpPr>
        <p:spPr>
          <a:xfrm>
            <a:off x="6498184" y="3017330"/>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7119976" y="2843403"/>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四、及时通知与交付</a:t>
            </a:r>
            <a:endParaRPr lang="en-US" sz="1500" dirty="0"/>
          </a:p>
        </p:txBody>
      </p:sp>
      <p:sp>
        <p:nvSpPr>
          <p:cNvPr id="23" name="Text 21"/>
          <p:cNvSpPr/>
          <p:nvPr/>
        </p:nvSpPr>
        <p:spPr>
          <a:xfrm>
            <a:off x="7119976" y="3151251"/>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收到款项后应当及时通知委托人，并在约定或者合理期限内交付；不得无故拖延、不得以其他争议为由扣留。</a:t>
            </a:r>
            <a:endParaRPr lang="en-US" sz="1350" dirty="0"/>
          </a:p>
        </p:txBody>
      </p:sp>
      <p:sp>
        <p:nvSpPr>
          <p:cNvPr id="24" name="Shape 22"/>
          <p:cNvSpPr/>
          <p:nvPr/>
        </p:nvSpPr>
        <p:spPr>
          <a:xfrm>
            <a:off x="6242152" y="3913632"/>
            <a:ext cx="5382616" cy="1079373"/>
          </a:xfrm>
          <a:prstGeom prst="roundRect">
            <a:avLst>
              <a:gd name="adj" fmla="val 6777"/>
            </a:avLst>
          </a:prstGeom>
          <a:solidFill>
            <a:srgbClr val="F2F4F8"/>
          </a:solidFill>
          <a:ln w="12700">
            <a:solidFill>
              <a:srgbClr val="F2F4F8"/>
            </a:solidFill>
            <a:prstDash val="solid"/>
          </a:ln>
        </p:spPr>
      </p:sp>
      <p:sp>
        <p:nvSpPr>
          <p:cNvPr id="25" name="Shape 23"/>
          <p:cNvSpPr/>
          <p:nvPr/>
        </p:nvSpPr>
        <p:spPr>
          <a:xfrm>
            <a:off x="6498184" y="4224719"/>
            <a:ext cx="457200" cy="457200"/>
          </a:xfrm>
          <a:prstGeom prst="ellipse">
            <a:avLst/>
          </a:prstGeom>
          <a:solidFill>
            <a:srgbClr val="13233F"/>
          </a:solidFill>
          <a:ln w="12700">
            <a:solidFill>
              <a:srgbClr val="13233F"/>
            </a:solidFill>
            <a:prstDash val="solid"/>
          </a:ln>
        </p:spPr>
      </p:sp>
      <p:sp>
        <p:nvSpPr>
          <p:cNvPr id="26" name="Text 24"/>
          <p:cNvSpPr/>
          <p:nvPr/>
        </p:nvSpPr>
        <p:spPr>
          <a:xfrm>
            <a:off x="6498184" y="4224719"/>
            <a:ext cx="457200" cy="457200"/>
          </a:xfrm>
          <a:prstGeom prst="rect">
            <a:avLst/>
          </a:prstGeom>
          <a:noFill/>
          <a:ln/>
        </p:spPr>
        <p:txBody>
          <a:bodyPr wrap="square" lIns="0" tIns="0" rIns="0" bIns="0" rtlCol="0" anchor="ctr"/>
          <a:lstStyle/>
          <a:p>
            <a:pPr algn="ctr" indent="0" marL="0">
              <a:buNone/>
            </a:pPr>
            <a:r>
              <a:rPr lang="en-US" sz="1600" b="1" dirty="0">
                <a:solidFill>
                  <a:srgbClr val="B08D57"/>
                </a:solidFill>
                <a:latin typeface="Arial" pitchFamily="34" charset="0"/>
                <a:ea typeface="Arial" pitchFamily="34" charset="-122"/>
                <a:cs typeface="Arial" pitchFamily="34" charset="-120"/>
              </a:rPr>
              <a:t>5</a:t>
            </a:r>
            <a:endParaRPr lang="en-US" sz="1600" dirty="0"/>
          </a:p>
        </p:txBody>
      </p:sp>
      <p:sp>
        <p:nvSpPr>
          <p:cNvPr id="27" name="Text 25"/>
          <p:cNvSpPr/>
          <p:nvPr/>
        </p:nvSpPr>
        <p:spPr>
          <a:xfrm>
            <a:off x="7119976" y="4050792"/>
            <a:ext cx="4340200" cy="243840"/>
          </a:xfrm>
          <a:prstGeom prst="rect">
            <a:avLst/>
          </a:prstGeom>
          <a:noFill/>
          <a:ln/>
        </p:spPr>
        <p:txBody>
          <a:bodyPr wrap="square" lIns="0" tIns="0" rIns="0" bIns="0" rtlCol="0" anchor="t"/>
          <a:lstStyle/>
          <a:p>
            <a:pPr indent="0" marL="0">
              <a:lnSpc>
                <a:spcPts val="1920"/>
              </a:lnSpc>
              <a:buNone/>
            </a:pPr>
            <a:r>
              <a:rPr lang="en-US" sz="1500" b="1" dirty="0">
                <a:solidFill>
                  <a:srgbClr val="13233F"/>
                </a:solidFill>
                <a:latin typeface="微软雅黑" pitchFamily="34" charset="0"/>
                <a:ea typeface="微软雅黑" pitchFamily="34" charset="-122"/>
                <a:cs typeface="微软雅黑" pitchFamily="34" charset="-120"/>
              </a:rPr>
              <a:t>五、完整记录与对账</a:t>
            </a:r>
            <a:endParaRPr lang="en-US" sz="1500" dirty="0"/>
          </a:p>
        </p:txBody>
      </p:sp>
      <p:sp>
        <p:nvSpPr>
          <p:cNvPr id="28" name="Text 26"/>
          <p:cNvSpPr/>
          <p:nvPr/>
        </p:nvSpPr>
        <p:spPr>
          <a:xfrm>
            <a:off x="7119976" y="4358640"/>
            <a:ext cx="4340200" cy="497205"/>
          </a:xfrm>
          <a:prstGeom prst="rect">
            <a:avLst/>
          </a:prstGeom>
          <a:noFill/>
          <a:ln/>
        </p:spPr>
        <p:txBody>
          <a:bodyPr wrap="square" lIns="0" tIns="0" rIns="0" bIns="0" rtlCol="0" anchor="t"/>
          <a:lstStyle/>
          <a:p>
            <a:pPr indent="0" marL="0">
              <a:lnSpc>
                <a:spcPts val="1958"/>
              </a:lnSpc>
              <a:buNone/>
            </a:pPr>
            <a:r>
              <a:rPr lang="en-US" sz="1350" dirty="0">
                <a:solidFill>
                  <a:srgbClr val="32404F"/>
                </a:solidFill>
                <a:latin typeface="微软雅黑" pitchFamily="34" charset="0"/>
                <a:ea typeface="微软雅黑" pitchFamily="34" charset="-122"/>
                <a:cs typeface="微软雅黑" pitchFamily="34" charset="-120"/>
              </a:rPr>
              <a:t>建立代管财物台账，逐笔登记来源、金额、时间、去向；定期与委托人对账并取得书面确认；保管凭证归档。</a:t>
            </a:r>
            <a:endParaRPr lang="en-US" sz="1350" dirty="0"/>
          </a:p>
        </p:txBody>
      </p:sp>
      <p:sp>
        <p:nvSpPr>
          <p:cNvPr id="29" name="Text 27"/>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18</a:t>
            </a:r>
            <a:endParaRPr lang="en-US" sz="11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案例研讨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那笔“暂时周转”的执行款</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警示案例</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从违规到犯罪的一步之遥</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某律师代理一起买卖合同纠纷案，胜诉后代委托人向法院申请执行。法院将执行款八十万元划至该律师个人账户（律师在执行申请书中填写了本人账户）。</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律师收到款项后未告知委托人，先行扣除了合同约定的律师费十万元，又因个人资金周转困难，挪用了三十万元用于偿还个人债务，计划一个月后归还。</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两个月后委托人查询得知款项已到账，多次催要。律师归还了四十万元，其余部分因资金未能回笼而拖延。委托人向律师协会投诉并报案。</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经查，该律师此前还有两起类似情形，均在被催要后归还。</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342642"/>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342642"/>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3102"/>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本案中律师有哪些违规行为？请逐项指出规范依据。</a:t>
            </a:r>
            <a:endParaRPr lang="en-US" sz="1400" dirty="0"/>
          </a:p>
        </p:txBody>
      </p:sp>
      <p:sp>
        <p:nvSpPr>
          <p:cNvPr id="14" name="Shape 12"/>
          <p:cNvSpPr/>
          <p:nvPr/>
        </p:nvSpPr>
        <p:spPr>
          <a:xfrm>
            <a:off x="7958023" y="3352038"/>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3352038"/>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3222498"/>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“事后归还”能否阻却违规或者犯罪的成立？</a:t>
            </a:r>
            <a:endParaRPr lang="en-US" sz="1400" dirty="0"/>
          </a:p>
        </p:txBody>
      </p:sp>
      <p:sp>
        <p:nvSpPr>
          <p:cNvPr id="17" name="Shape 15"/>
          <p:cNvSpPr/>
          <p:nvPr/>
        </p:nvSpPr>
        <p:spPr>
          <a:xfrm>
            <a:off x="7958023" y="4232529"/>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4232529"/>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4236339"/>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扣除律师费的行为是否合法？</a:t>
            </a:r>
            <a:endParaRPr lang="en-US" sz="1400" dirty="0"/>
          </a:p>
        </p:txBody>
      </p:sp>
      <p:sp>
        <p:nvSpPr>
          <p:cNvPr id="20" name="Shape 18"/>
          <p:cNvSpPr/>
          <p:nvPr/>
        </p:nvSpPr>
        <p:spPr>
          <a:xfrm>
            <a:off x="7958023" y="5113020"/>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5113020"/>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4983480"/>
            <a:ext cx="2971800" cy="5334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律所应当承担什么责任？制度上如何防范？</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19</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156716"/>
          </a:xfrm>
          <a:prstGeom prst="roundRect">
            <a:avLst>
              <a:gd name="adj" fmla="val 7115"/>
            </a:avLst>
          </a:prstGeom>
          <a:solidFill>
            <a:srgbClr val="ECF3F2"/>
          </a:solidFill>
          <a:ln w="12700">
            <a:solidFill>
              <a:srgbClr val="ECF3F2"/>
            </a:solidFill>
            <a:prstDash val="solid"/>
          </a:ln>
        </p:spPr>
      </p:sp>
      <p:sp>
        <p:nvSpPr>
          <p:cNvPr id="5" name="Shape 3"/>
          <p:cNvSpPr/>
          <p:nvPr/>
        </p:nvSpPr>
        <p:spPr>
          <a:xfrm>
            <a:off x="859536" y="166649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66649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9029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2021年将风险代理收费上限由30%调整为分段累进最高18%。有观点认为，这会降低律师承接疑难案件的积极性，反而不利于当事人。请从当事人保护与激励相容两个角度评价这一调整。</a:t>
            </a:r>
            <a:endParaRPr lang="en-US" sz="1600" dirty="0"/>
          </a:p>
        </p:txBody>
      </p:sp>
      <p:sp>
        <p:nvSpPr>
          <p:cNvPr id="8" name="Shape 6"/>
          <p:cNvSpPr/>
          <p:nvPr/>
        </p:nvSpPr>
        <p:spPr>
          <a:xfrm>
            <a:off x="566928" y="2619756"/>
            <a:ext cx="11057839" cy="1156716"/>
          </a:xfrm>
          <a:prstGeom prst="roundRect">
            <a:avLst>
              <a:gd name="adj" fmla="val 7115"/>
            </a:avLst>
          </a:prstGeom>
          <a:solidFill>
            <a:srgbClr val="ECF3F2"/>
          </a:solidFill>
          <a:ln w="12700">
            <a:solidFill>
              <a:srgbClr val="ECF3F2"/>
            </a:solidFill>
            <a:prstDash val="solid"/>
          </a:ln>
        </p:spPr>
      </p:sp>
      <p:sp>
        <p:nvSpPr>
          <p:cNvPr id="9" name="Shape 7"/>
          <p:cNvSpPr/>
          <p:nvPr/>
        </p:nvSpPr>
        <p:spPr>
          <a:xfrm>
            <a:off x="859536" y="296951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296951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289331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刑事案件绝对禁止风险代理。但实践中存在“取保候审后支付一笔、判决缓刑后再支付一笔”的分期收费安排。这是否构成变相风险代理？如何判断？</a:t>
            </a:r>
            <a:endParaRPr lang="en-US" sz="1600" dirty="0"/>
          </a:p>
        </p:txBody>
      </p:sp>
      <p:sp>
        <p:nvSpPr>
          <p:cNvPr id="12" name="Shape 10"/>
          <p:cNvSpPr/>
          <p:nvPr/>
        </p:nvSpPr>
        <p:spPr>
          <a:xfrm>
            <a:off x="566928" y="3922776"/>
            <a:ext cx="11057839" cy="1156716"/>
          </a:xfrm>
          <a:prstGeom prst="roundRect">
            <a:avLst>
              <a:gd name="adj" fmla="val 7115"/>
            </a:avLst>
          </a:prstGeom>
          <a:solidFill>
            <a:srgbClr val="ECF3F2"/>
          </a:solidFill>
          <a:ln w="12700">
            <a:solidFill>
              <a:srgbClr val="ECF3F2"/>
            </a:solidFill>
            <a:prstDash val="solid"/>
          </a:ln>
        </p:spPr>
      </p:sp>
      <p:sp>
        <p:nvSpPr>
          <p:cNvPr id="13" name="Shape 11"/>
          <p:cNvSpPr/>
          <p:nvPr/>
        </p:nvSpPr>
        <p:spPr>
          <a:xfrm>
            <a:off x="859536" y="427253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27253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19633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委托人拖欠律师费，而律师手中恰有代为保管的当事人款项。律师能否直接扣除？请从代管财物规则、抵销规则与信义义务三个角度分析，并提出正确的处理方案。</a:t>
            </a:r>
            <a:endParaRPr lang="en-US" sz="1600" dirty="0"/>
          </a:p>
        </p:txBody>
      </p:sp>
      <p:sp>
        <p:nvSpPr>
          <p:cNvPr id="16" name="Shape 14"/>
          <p:cNvSpPr/>
          <p:nvPr/>
        </p:nvSpPr>
        <p:spPr>
          <a:xfrm>
            <a:off x="566928" y="5225796"/>
            <a:ext cx="11057839" cy="1156716"/>
          </a:xfrm>
          <a:prstGeom prst="roundRect">
            <a:avLst>
              <a:gd name="adj" fmla="val 7115"/>
            </a:avLst>
          </a:prstGeom>
          <a:solidFill>
            <a:srgbClr val="ECF3F2"/>
          </a:solidFill>
          <a:ln w="12700">
            <a:solidFill>
              <a:srgbClr val="ECF3F2"/>
            </a:solidFill>
            <a:prstDash val="solid"/>
          </a:ln>
        </p:spPr>
      </p:sp>
      <p:sp>
        <p:nvSpPr>
          <p:cNvPr id="17" name="Shape 15"/>
          <p:cNvSpPr/>
          <p:nvPr/>
        </p:nvSpPr>
        <p:spPr>
          <a:xfrm>
            <a:off x="859536" y="557555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57555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49935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计时收费的律师如何证明自己的工时真实？请设计一套工时记录与核查机制，使委托人能够合理信赖工时清单。</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第19课时 · 20</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本课小结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第19课时要点回顾</a:t>
            </a:r>
            <a:endParaRPr lang="en-US" sz="3000" dirty="0"/>
          </a:p>
        </p:txBody>
      </p:sp>
      <p:sp>
        <p:nvSpPr>
          <p:cNvPr id="4" name="Shape 2"/>
          <p:cNvSpPr/>
          <p:nvPr/>
        </p:nvSpPr>
        <p:spPr>
          <a:xfrm>
            <a:off x="566928" y="1591056"/>
            <a:ext cx="11057839" cy="718291"/>
          </a:xfrm>
          <a:prstGeom prst="roundRect">
            <a:avLst>
              <a:gd name="adj" fmla="val 10184"/>
            </a:avLst>
          </a:prstGeom>
          <a:solidFill>
            <a:srgbClr val="25395F"/>
          </a:solidFill>
          <a:ln w="12700">
            <a:solidFill>
              <a:srgbClr val="25395F"/>
            </a:solidFill>
            <a:prstDash val="solid"/>
          </a:ln>
        </p:spPr>
      </p:sp>
      <p:sp>
        <p:nvSpPr>
          <p:cNvPr id="5" name="Shape 3"/>
          <p:cNvSpPr/>
          <p:nvPr/>
        </p:nvSpPr>
        <p:spPr>
          <a:xfrm>
            <a:off x="859536" y="1749033"/>
            <a:ext cx="402336" cy="402336"/>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80237" y="1869734"/>
            <a:ext cx="160934" cy="160934"/>
          </a:xfrm>
          <a:prstGeom prst="rect">
            <a:avLst/>
          </a:prstGeom>
        </p:spPr>
      </p:pic>
      <p:sp>
        <p:nvSpPr>
          <p:cNvPr id="7" name="Text 4"/>
          <p:cNvSpPr/>
          <p:nvPr/>
        </p:nvSpPr>
        <p:spPr>
          <a:xfrm>
            <a:off x="1444752" y="1731126"/>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收费规制分三层：《律师法》第二十五条（统一接受委托、书面合同、统一收费、如实入账）；《律师服务收费管理办法》（2006年，政府指导价与市场调节价并行）；《关于进一步规范律师服务收费的意见》（司发通〔2021〕87号）。</a:t>
            </a:r>
            <a:endParaRPr lang="en-US" sz="1150" dirty="0"/>
          </a:p>
        </p:txBody>
      </p:sp>
      <p:sp>
        <p:nvSpPr>
          <p:cNvPr id="8" name="Shape 5"/>
          <p:cNvSpPr/>
          <p:nvPr/>
        </p:nvSpPr>
        <p:spPr>
          <a:xfrm>
            <a:off x="566928" y="2446507"/>
            <a:ext cx="11057839" cy="514202"/>
          </a:xfrm>
          <a:prstGeom prst="roundRect">
            <a:avLst>
              <a:gd name="adj" fmla="val 14226"/>
            </a:avLst>
          </a:prstGeom>
          <a:solidFill>
            <a:srgbClr val="25395F"/>
          </a:solidFill>
          <a:ln w="12700">
            <a:solidFill>
              <a:srgbClr val="25395F"/>
            </a:solidFill>
            <a:prstDash val="solid"/>
          </a:ln>
        </p:spPr>
      </p:sp>
      <p:sp>
        <p:nvSpPr>
          <p:cNvPr id="9" name="Shape 6"/>
          <p:cNvSpPr/>
          <p:nvPr/>
        </p:nvSpPr>
        <p:spPr>
          <a:xfrm>
            <a:off x="859536" y="2528803"/>
            <a:ext cx="349610" cy="349610"/>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64419" y="2633686"/>
            <a:ext cx="139844" cy="139844"/>
          </a:xfrm>
          <a:prstGeom prst="rect">
            <a:avLst/>
          </a:prstGeom>
        </p:spPr>
      </p:pic>
      <p:sp>
        <p:nvSpPr>
          <p:cNvPr id="11" name="Text 7"/>
          <p:cNvSpPr/>
          <p:nvPr/>
        </p:nvSpPr>
        <p:spPr>
          <a:xfrm>
            <a:off x="1444752" y="2594070"/>
            <a:ext cx="9997135" cy="219075"/>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四种收费方式：计件、按标的额比例、计时、风险代理。收费方式的选择本身受忠实义务约束，不得为自身收益最大化而诱导委托人。</a:t>
            </a:r>
            <a:endParaRPr lang="en-US" sz="1150" dirty="0"/>
          </a:p>
        </p:txBody>
      </p:sp>
      <p:sp>
        <p:nvSpPr>
          <p:cNvPr id="12" name="Shape 8"/>
          <p:cNvSpPr/>
          <p:nvPr/>
        </p:nvSpPr>
        <p:spPr>
          <a:xfrm>
            <a:off x="566928" y="3097869"/>
            <a:ext cx="11057839" cy="718291"/>
          </a:xfrm>
          <a:prstGeom prst="roundRect">
            <a:avLst>
              <a:gd name="adj" fmla="val 10184"/>
            </a:avLst>
          </a:prstGeom>
          <a:solidFill>
            <a:srgbClr val="25395F"/>
          </a:solidFill>
          <a:ln w="12700">
            <a:solidFill>
              <a:srgbClr val="25395F"/>
            </a:solidFill>
            <a:prstDash val="solid"/>
          </a:ln>
        </p:spPr>
      </p:sp>
      <p:sp>
        <p:nvSpPr>
          <p:cNvPr id="13" name="Shape 9"/>
          <p:cNvSpPr/>
          <p:nvPr/>
        </p:nvSpPr>
        <p:spPr>
          <a:xfrm>
            <a:off x="859536" y="3255846"/>
            <a:ext cx="402336" cy="402336"/>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80237" y="3376547"/>
            <a:ext cx="160934" cy="160934"/>
          </a:xfrm>
          <a:prstGeom prst="rect">
            <a:avLst/>
          </a:prstGeom>
        </p:spPr>
      </p:pic>
      <p:sp>
        <p:nvSpPr>
          <p:cNvPr id="15" name="Text 10"/>
          <p:cNvSpPr/>
          <p:nvPr/>
        </p:nvSpPr>
        <p:spPr>
          <a:xfrm>
            <a:off x="1444752" y="3237939"/>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风险代理绝对禁止的案件：刑事诉讼、行政诉讼、国家赔偿、群体性诉讼；此外赡养费、抚养费、抚恤金、社会保险待遇、最低生活保障、劳动报酬等案件亦不得风险代理。</a:t>
            </a:r>
            <a:endParaRPr lang="en-US" sz="1150" dirty="0"/>
          </a:p>
        </p:txBody>
      </p:sp>
      <p:sp>
        <p:nvSpPr>
          <p:cNvPr id="16" name="Shape 11"/>
          <p:cNvSpPr/>
          <p:nvPr/>
        </p:nvSpPr>
        <p:spPr>
          <a:xfrm>
            <a:off x="566928" y="3953320"/>
            <a:ext cx="11057839" cy="718291"/>
          </a:xfrm>
          <a:prstGeom prst="roundRect">
            <a:avLst>
              <a:gd name="adj" fmla="val 10184"/>
            </a:avLst>
          </a:prstGeom>
          <a:solidFill>
            <a:srgbClr val="25395F"/>
          </a:solidFill>
          <a:ln w="12700">
            <a:solidFill>
              <a:srgbClr val="25395F"/>
            </a:solidFill>
            <a:prstDash val="solid"/>
          </a:ln>
        </p:spPr>
      </p:sp>
      <p:sp>
        <p:nvSpPr>
          <p:cNvPr id="17" name="Shape 12"/>
          <p:cNvSpPr/>
          <p:nvPr/>
        </p:nvSpPr>
        <p:spPr>
          <a:xfrm>
            <a:off x="859536" y="4111297"/>
            <a:ext cx="402336" cy="402336"/>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80237" y="4231998"/>
            <a:ext cx="160934" cy="160934"/>
          </a:xfrm>
          <a:prstGeom prst="rect">
            <a:avLst/>
          </a:prstGeom>
        </p:spPr>
      </p:pic>
      <p:sp>
        <p:nvSpPr>
          <p:cNvPr id="19" name="Text 13"/>
          <p:cNvSpPr/>
          <p:nvPr/>
        </p:nvSpPr>
        <p:spPr>
          <a:xfrm>
            <a:off x="1444752" y="4093390"/>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风险代理收费上限由2006年的合同标的额30%，调整为2021年的分段累进、合计最高不超过标的额18%（100万以下18%、100—500万15%、500—1000万12%、1000—5000万9%、5000万以上6%）。</a:t>
            </a:r>
            <a:endParaRPr lang="en-US" sz="1150" dirty="0"/>
          </a:p>
        </p:txBody>
      </p:sp>
      <p:sp>
        <p:nvSpPr>
          <p:cNvPr id="20" name="Shape 14"/>
          <p:cNvSpPr/>
          <p:nvPr/>
        </p:nvSpPr>
        <p:spPr>
          <a:xfrm>
            <a:off x="566928" y="4808770"/>
            <a:ext cx="11057839" cy="718291"/>
          </a:xfrm>
          <a:prstGeom prst="roundRect">
            <a:avLst>
              <a:gd name="adj" fmla="val 10184"/>
            </a:avLst>
          </a:prstGeom>
          <a:solidFill>
            <a:srgbClr val="25395F"/>
          </a:solidFill>
          <a:ln w="12700">
            <a:solidFill>
              <a:srgbClr val="25395F"/>
            </a:solidFill>
            <a:prstDash val="solid"/>
          </a:ln>
        </p:spPr>
      </p:sp>
      <p:sp>
        <p:nvSpPr>
          <p:cNvPr id="21" name="Shape 15"/>
          <p:cNvSpPr/>
          <p:nvPr/>
        </p:nvSpPr>
        <p:spPr>
          <a:xfrm>
            <a:off x="859536" y="4966748"/>
            <a:ext cx="402336" cy="40233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80237" y="5087449"/>
            <a:ext cx="160934" cy="160934"/>
          </a:xfrm>
          <a:prstGeom prst="rect">
            <a:avLst/>
          </a:prstGeom>
        </p:spPr>
      </p:pic>
      <p:sp>
        <p:nvSpPr>
          <p:cNvPr id="23" name="Text 16"/>
          <p:cNvSpPr/>
          <p:nvPr/>
        </p:nvSpPr>
        <p:spPr>
          <a:xfrm>
            <a:off x="1444752" y="4948841"/>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收费四项刚性要求：统一收取如实入账、书面约定明码标价、办案费用与律师费分离、不得二次收费与额外索取。四类高发违规：私自收费、超标准收费、以“关系”名义收费、虚报工时与重复计费。</a:t>
            </a:r>
            <a:endParaRPr lang="en-US" sz="1150" dirty="0"/>
          </a:p>
        </p:txBody>
      </p:sp>
      <p:sp>
        <p:nvSpPr>
          <p:cNvPr id="24" name="Shape 17"/>
          <p:cNvSpPr/>
          <p:nvPr/>
        </p:nvSpPr>
        <p:spPr>
          <a:xfrm>
            <a:off x="566928" y="5664221"/>
            <a:ext cx="11057839" cy="718291"/>
          </a:xfrm>
          <a:prstGeom prst="roundRect">
            <a:avLst>
              <a:gd name="adj" fmla="val 10184"/>
            </a:avLst>
          </a:prstGeom>
          <a:solidFill>
            <a:srgbClr val="25395F"/>
          </a:solidFill>
          <a:ln w="12700">
            <a:solidFill>
              <a:srgbClr val="25395F"/>
            </a:solidFill>
            <a:prstDash val="solid"/>
          </a:ln>
        </p:spPr>
      </p:sp>
      <p:sp>
        <p:nvSpPr>
          <p:cNvPr id="25" name="Shape 18"/>
          <p:cNvSpPr/>
          <p:nvPr/>
        </p:nvSpPr>
        <p:spPr>
          <a:xfrm>
            <a:off x="859536" y="5822199"/>
            <a:ext cx="402336" cy="402336"/>
          </a:xfrm>
          <a:prstGeom prst="ellipse">
            <a:avLst/>
          </a:prstGeom>
          <a:solidFill>
            <a:srgbClr val="B08D57"/>
          </a:solidFill>
          <a:ln w="12700">
            <a:solidFill>
              <a:srgbClr val="B08D57"/>
            </a:solidFill>
            <a:prstDash val="solid"/>
          </a:ln>
        </p:spPr>
      </p:sp>
      <p:pic>
        <p:nvPicPr>
          <p:cNvPr id="26" name="Image 5" descr="preencoded.png">    </p:cNvPr>
          <p:cNvPicPr>
            <a:picLocks noChangeAspect="1"/>
          </p:cNvPicPr>
          <p:nvPr/>
        </p:nvPicPr>
        <p:blipFill>
          <a:blip r:embed="rId6"/>
          <a:stretch>
            <a:fillRect/>
          </a:stretch>
        </p:blipFill>
        <p:spPr>
          <a:xfrm>
            <a:off x="980237" y="5942899"/>
            <a:ext cx="160934" cy="160934"/>
          </a:xfrm>
          <a:prstGeom prst="rect">
            <a:avLst/>
          </a:prstGeom>
        </p:spPr>
      </p:pic>
      <p:sp>
        <p:nvSpPr>
          <p:cNvPr id="27" name="Text 19"/>
          <p:cNvSpPr/>
          <p:nvPr/>
        </p:nvSpPr>
        <p:spPr>
          <a:xfrm>
            <a:off x="1444752" y="5804292"/>
            <a:ext cx="9997135" cy="438150"/>
          </a:xfrm>
          <a:prstGeom prst="rect">
            <a:avLst/>
          </a:prstGeom>
          <a:noFill/>
          <a:ln/>
        </p:spPr>
        <p:txBody>
          <a:bodyPr wrap="square" lIns="0" tIns="0" rIns="0" bIns="0" rtlCol="0" anchor="t"/>
          <a:lstStyle/>
          <a:p>
            <a:pPr indent="0" marL="0">
              <a:lnSpc>
                <a:spcPts val="1725"/>
              </a:lnSpc>
              <a:buNone/>
            </a:pPr>
            <a:r>
              <a:rPr lang="en-US" sz="1150" dirty="0">
                <a:solidFill>
                  <a:srgbClr val="E4E9F1"/>
                </a:solidFill>
                <a:latin typeface="微软雅黑" pitchFamily="34" charset="0"/>
                <a:ea typeface="微软雅黑" pitchFamily="34" charset="-122"/>
                <a:cs typeface="微软雅黑" pitchFamily="34" charset="-120"/>
              </a:rPr>
              <a:t>代管财物五项规则：能不代管的不代管、专户分账管理、绝对禁止挪用、及时通知与交付、完整记录与对账。挪用当事人款项可能构成犯罪，事后归还不阻却责任成立。</a:t>
            </a:r>
            <a:endParaRPr lang="en-US" sz="11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13233F"/>
        </a:solidFill>
      </p:bgPr>
    </p:bg>
    <p:spTree>
      <p:nvGrpSpPr>
        <p:cNvPr id="1" name=""/>
        <p:cNvGrpSpPr/>
        <p:nvPr/>
      </p:nvGrpSpPr>
      <p:grpSpPr>
        <a:xfrm>
          <a:off x="0" y="0"/>
          <a:ext cx="0" cy="0"/>
          <a:chOff x="0" y="0"/>
          <a:chExt cx="0" cy="0"/>
        </a:xfrm>
      </p:grpSpPr>
      <p:sp>
        <p:nvSpPr>
          <p:cNvPr id="2" name="Shape 0"/>
          <p:cNvSpPr/>
          <p:nvPr/>
        </p:nvSpPr>
        <p:spPr>
          <a:xfrm>
            <a:off x="9509760" y="-1371600"/>
            <a:ext cx="5120640" cy="5120640"/>
          </a:xfrm>
          <a:prstGeom prst="ellipse">
            <a:avLst/>
          </a:prstGeom>
          <a:solidFill>
            <a:srgbClr val="25395F"/>
          </a:solidFill>
          <a:ln w="12700">
            <a:solidFill>
              <a:srgbClr val="25395F"/>
            </a:solidFill>
            <a:prstDash val="solid"/>
          </a:ln>
        </p:spPr>
      </p:sp>
      <p:sp>
        <p:nvSpPr>
          <p:cNvPr id="3" name="Text 1"/>
          <p:cNvSpPr/>
          <p:nvPr/>
        </p:nvSpPr>
        <p:spPr>
          <a:xfrm>
            <a:off x="566928" y="1266635"/>
            <a:ext cx="4572000" cy="310896"/>
          </a:xfrm>
          <a:prstGeom prst="rect">
            <a:avLst/>
          </a:prstGeom>
          <a:noFill/>
          <a:ln/>
        </p:spPr>
        <p:txBody>
          <a:bodyPr wrap="square" lIns="0" tIns="0" rIns="0" bIns="0" rtlCol="0" anchor="ctr"/>
          <a:lstStyle/>
          <a:p>
            <a:pPr indent="0" marL="0">
              <a:buNone/>
            </a:pPr>
            <a:r>
              <a:rPr lang="en-US" sz="1600" b="1" spc="300" kern="0" dirty="0">
                <a:solidFill>
                  <a:srgbClr val="B08D57"/>
                </a:solidFill>
                <a:latin typeface="微软雅黑" pitchFamily="34" charset="0"/>
                <a:ea typeface="微软雅黑" pitchFamily="34" charset="-122"/>
                <a:cs typeface="微软雅黑" pitchFamily="34" charset="-120"/>
              </a:rPr>
              <a:t>第20课时</a:t>
            </a:r>
            <a:endParaRPr lang="en-US" sz="1600" dirty="0"/>
          </a:p>
        </p:txBody>
      </p:sp>
      <p:sp>
        <p:nvSpPr>
          <p:cNvPr id="4" name="Text 2"/>
          <p:cNvSpPr/>
          <p:nvPr/>
        </p:nvSpPr>
        <p:spPr>
          <a:xfrm>
            <a:off x="566928" y="1687259"/>
            <a:ext cx="9326880" cy="1258824"/>
          </a:xfrm>
          <a:prstGeom prst="rect">
            <a:avLst/>
          </a:prstGeom>
          <a:noFill/>
          <a:ln/>
        </p:spPr>
        <p:txBody>
          <a:bodyPr wrap="square" lIns="0" tIns="0" rIns="0" bIns="0" rtlCol="0" anchor="t"/>
          <a:lstStyle/>
          <a:p>
            <a:pPr indent="0" marL="0">
              <a:buNone/>
            </a:pPr>
            <a:r>
              <a:rPr lang="en-US" sz="4200" b="1" spc="100" kern="0" dirty="0">
                <a:solidFill>
                  <a:srgbClr val="FFFFFF"/>
                </a:solidFill>
                <a:latin typeface="微软雅黑" pitchFamily="34" charset="0"/>
                <a:ea typeface="微软雅黑" pitchFamily="34" charset="-122"/>
                <a:cs typeface="微软雅黑" pitchFamily="34" charset="-120"/>
              </a:rPr>
              <a:t>争讼业务伦理：对法庭、对方、证人与媒体的义务</a:t>
            </a:r>
            <a:endParaRPr lang="en-US" sz="4200" dirty="0"/>
          </a:p>
        </p:txBody>
      </p:sp>
      <p:sp>
        <p:nvSpPr>
          <p:cNvPr id="5" name="Text 3"/>
          <p:cNvSpPr/>
          <p:nvPr/>
        </p:nvSpPr>
        <p:spPr>
          <a:xfrm>
            <a:off x="603504" y="3202115"/>
            <a:ext cx="9326880" cy="295275"/>
          </a:xfrm>
          <a:prstGeom prst="rect">
            <a:avLst/>
          </a:prstGeom>
          <a:noFill/>
          <a:ln/>
        </p:spPr>
        <p:txBody>
          <a:bodyPr wrap="square" lIns="0" tIns="0" rIns="0" bIns="0" rtlCol="0" anchor="t"/>
          <a:lstStyle/>
          <a:p>
            <a:pPr indent="0" marL="0">
              <a:lnSpc>
                <a:spcPts val="2300"/>
              </a:lnSpc>
              <a:buNone/>
            </a:pPr>
            <a:r>
              <a:rPr lang="en-US" sz="1500" dirty="0">
                <a:solidFill>
                  <a:srgbClr val="D9C29B"/>
                </a:solidFill>
                <a:latin typeface="微软雅黑" pitchFamily="34" charset="0"/>
                <a:ea typeface="微软雅黑" pitchFamily="34" charset="-122"/>
                <a:cs typeface="微软雅黑" pitchFamily="34" charset="-120"/>
              </a:rPr>
              <a:t>律师的忠诚指向委托人，但他同时对法庭、对方、证人与公众负有义务</a:t>
            </a:r>
            <a:endParaRPr lang="en-US" sz="1500" dirty="0"/>
          </a:p>
        </p:txBody>
      </p:sp>
      <p:sp>
        <p:nvSpPr>
          <p:cNvPr id="6" name="Shape 4"/>
          <p:cNvSpPr/>
          <p:nvPr/>
        </p:nvSpPr>
        <p:spPr>
          <a:xfrm>
            <a:off x="566928" y="5056632"/>
            <a:ext cx="3551834" cy="1325880"/>
          </a:xfrm>
          <a:prstGeom prst="roundRect">
            <a:avLst>
              <a:gd name="adj" fmla="val 6897"/>
            </a:avLst>
          </a:prstGeom>
          <a:solidFill>
            <a:srgbClr val="25395F"/>
          </a:solidFill>
          <a:ln w="12700">
            <a:solidFill>
              <a:srgbClr val="25395F"/>
            </a:solidFill>
            <a:prstDash val="solid"/>
          </a:ln>
        </p:spPr>
      </p:sp>
      <p:sp>
        <p:nvSpPr>
          <p:cNvPr id="7" name="Shape 5"/>
          <p:cNvSpPr/>
          <p:nvPr/>
        </p:nvSpPr>
        <p:spPr>
          <a:xfrm>
            <a:off x="841248" y="5518404"/>
            <a:ext cx="402336" cy="402336"/>
          </a:xfrm>
          <a:prstGeom prst="ellipse">
            <a:avLst/>
          </a:prstGeom>
          <a:solidFill>
            <a:srgbClr val="B08D57"/>
          </a:solidFill>
          <a:ln w="12700">
            <a:solidFill>
              <a:srgbClr val="B08D57"/>
            </a:solidFill>
            <a:prstDash val="solid"/>
          </a:ln>
        </p:spPr>
      </p:sp>
      <p:pic>
        <p:nvPicPr>
          <p:cNvPr id="8" name="Image 0" descr="preencoded.png">    </p:cNvPr>
          <p:cNvPicPr>
            <a:picLocks noChangeAspect="1"/>
          </p:cNvPicPr>
          <p:nvPr/>
        </p:nvPicPr>
        <p:blipFill>
          <a:blip r:embed="rId1"/>
          <a:stretch>
            <a:fillRect/>
          </a:stretch>
        </p:blipFill>
        <p:spPr>
          <a:xfrm>
            <a:off x="961949" y="5639105"/>
            <a:ext cx="160934" cy="160934"/>
          </a:xfrm>
          <a:prstGeom prst="rect">
            <a:avLst/>
          </a:prstGeom>
        </p:spPr>
      </p:pic>
      <p:sp>
        <p:nvSpPr>
          <p:cNvPr id="9" name="Text 6"/>
          <p:cNvSpPr/>
          <p:nvPr/>
        </p:nvSpPr>
        <p:spPr>
          <a:xfrm>
            <a:off x="1353312"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对法庭的真实义务：消极不欺骗与积极不造假</a:t>
            </a:r>
            <a:endParaRPr lang="en-US" sz="1400" dirty="0"/>
          </a:p>
        </p:txBody>
      </p:sp>
      <p:sp>
        <p:nvSpPr>
          <p:cNvPr id="10" name="Shape 7"/>
          <p:cNvSpPr/>
          <p:nvPr/>
        </p:nvSpPr>
        <p:spPr>
          <a:xfrm>
            <a:off x="4319930" y="5056632"/>
            <a:ext cx="3551834" cy="1325880"/>
          </a:xfrm>
          <a:prstGeom prst="roundRect">
            <a:avLst>
              <a:gd name="adj" fmla="val 6897"/>
            </a:avLst>
          </a:prstGeom>
          <a:solidFill>
            <a:srgbClr val="25395F"/>
          </a:solidFill>
          <a:ln w="12700">
            <a:solidFill>
              <a:srgbClr val="25395F"/>
            </a:solidFill>
            <a:prstDash val="solid"/>
          </a:ln>
        </p:spPr>
      </p:sp>
      <p:sp>
        <p:nvSpPr>
          <p:cNvPr id="11" name="Shape 8"/>
          <p:cNvSpPr/>
          <p:nvPr/>
        </p:nvSpPr>
        <p:spPr>
          <a:xfrm>
            <a:off x="4594250" y="5518404"/>
            <a:ext cx="402336" cy="402336"/>
          </a:xfrm>
          <a:prstGeom prst="ellipse">
            <a:avLst/>
          </a:prstGeom>
          <a:solidFill>
            <a:srgbClr val="B08D57"/>
          </a:solidFill>
          <a:ln w="12700">
            <a:solidFill>
              <a:srgbClr val="B08D57"/>
            </a:solidFill>
            <a:prstDash val="solid"/>
          </a:ln>
        </p:spPr>
      </p:sp>
      <p:pic>
        <p:nvPicPr>
          <p:cNvPr id="12" name="Image 1" descr="preencoded.png">    </p:cNvPr>
          <p:cNvPicPr>
            <a:picLocks noChangeAspect="1"/>
          </p:cNvPicPr>
          <p:nvPr/>
        </p:nvPicPr>
        <p:blipFill>
          <a:blip r:embed="rId2"/>
          <a:stretch>
            <a:fillRect/>
          </a:stretch>
        </p:blipFill>
        <p:spPr>
          <a:xfrm>
            <a:off x="4714951" y="5639105"/>
            <a:ext cx="160934" cy="160934"/>
          </a:xfrm>
          <a:prstGeom prst="rect">
            <a:avLst/>
          </a:prstGeom>
        </p:spPr>
      </p:pic>
      <p:sp>
        <p:nvSpPr>
          <p:cNvPr id="13" name="Text 9"/>
          <p:cNvSpPr/>
          <p:nvPr/>
        </p:nvSpPr>
        <p:spPr>
          <a:xfrm>
            <a:off x="5106314"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对方当事人、对方律师与证人的界限</a:t>
            </a:r>
            <a:endParaRPr lang="en-US" sz="1400" dirty="0"/>
          </a:p>
        </p:txBody>
      </p:sp>
      <p:sp>
        <p:nvSpPr>
          <p:cNvPr id="14" name="Shape 10"/>
          <p:cNvSpPr/>
          <p:nvPr/>
        </p:nvSpPr>
        <p:spPr>
          <a:xfrm>
            <a:off x="8072933" y="5056632"/>
            <a:ext cx="3551834" cy="1325880"/>
          </a:xfrm>
          <a:prstGeom prst="roundRect">
            <a:avLst>
              <a:gd name="adj" fmla="val 6897"/>
            </a:avLst>
          </a:prstGeom>
          <a:solidFill>
            <a:srgbClr val="25395F"/>
          </a:solidFill>
          <a:ln w="12700">
            <a:solidFill>
              <a:srgbClr val="25395F"/>
            </a:solidFill>
            <a:prstDash val="solid"/>
          </a:ln>
        </p:spPr>
      </p:sp>
      <p:sp>
        <p:nvSpPr>
          <p:cNvPr id="15" name="Shape 11"/>
          <p:cNvSpPr/>
          <p:nvPr/>
        </p:nvSpPr>
        <p:spPr>
          <a:xfrm>
            <a:off x="8347253" y="5518404"/>
            <a:ext cx="402336" cy="402336"/>
          </a:xfrm>
          <a:prstGeom prst="ellipse">
            <a:avLst/>
          </a:prstGeom>
          <a:solidFill>
            <a:srgbClr val="B08D57"/>
          </a:solidFill>
          <a:ln w="12700">
            <a:solidFill>
              <a:srgbClr val="B08D57"/>
            </a:solidFill>
            <a:prstDash val="solid"/>
          </a:ln>
        </p:spPr>
      </p:sp>
      <p:pic>
        <p:nvPicPr>
          <p:cNvPr id="16" name="Image 2" descr="preencoded.png">    </p:cNvPr>
          <p:cNvPicPr>
            <a:picLocks noChangeAspect="1"/>
          </p:cNvPicPr>
          <p:nvPr/>
        </p:nvPicPr>
        <p:blipFill>
          <a:blip r:embed="rId3"/>
          <a:stretch>
            <a:fillRect/>
          </a:stretch>
        </p:blipFill>
        <p:spPr>
          <a:xfrm>
            <a:off x="8467954" y="5639105"/>
            <a:ext cx="160934" cy="160934"/>
          </a:xfrm>
          <a:prstGeom prst="rect">
            <a:avLst/>
          </a:prstGeom>
        </p:spPr>
      </p:pic>
      <p:sp>
        <p:nvSpPr>
          <p:cNvPr id="17" name="Text 12"/>
          <p:cNvSpPr/>
          <p:nvPr/>
        </p:nvSpPr>
        <p:spPr>
          <a:xfrm>
            <a:off x="8859317" y="5184648"/>
            <a:ext cx="2509418" cy="1069848"/>
          </a:xfrm>
          <a:prstGeom prst="rect">
            <a:avLst/>
          </a:prstGeom>
          <a:noFill/>
          <a:ln/>
        </p:spPr>
        <p:txBody>
          <a:bodyPr wrap="square" lIns="0" tIns="0" rIns="0" bIns="0" rtlCol="0" anchor="ctr"/>
          <a:lstStyle/>
          <a:p>
            <a:pPr indent="0" marL="0">
              <a:lnSpc>
                <a:spcPts val="1988"/>
              </a:lnSpc>
              <a:buNone/>
            </a:pPr>
            <a:r>
              <a:rPr lang="en-US" sz="1400" dirty="0">
                <a:solidFill>
                  <a:srgbClr val="E4E9F1"/>
                </a:solidFill>
                <a:latin typeface="微软雅黑" pitchFamily="34" charset="0"/>
                <a:ea typeface="微软雅黑" pitchFamily="34" charset="-122"/>
                <a:cs typeface="微软雅黑" pitchFamily="34" charset="-120"/>
              </a:rPr>
              <a:t>庭外言论、媒体与舆论的伦理边界</a:t>
            </a:r>
            <a:endParaRPr lang="en-US" sz="1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本课时结构</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律师的四组外部义务</a:t>
            </a:r>
            <a:endParaRPr lang="en-US" sz="2800" dirty="0"/>
          </a:p>
        </p:txBody>
      </p:sp>
      <p:sp>
        <p:nvSpPr>
          <p:cNvPr id="4" name="Shape 2"/>
          <p:cNvSpPr/>
          <p:nvPr/>
        </p:nvSpPr>
        <p:spPr>
          <a:xfrm>
            <a:off x="566928" y="2619756"/>
            <a:ext cx="5300320" cy="722376"/>
          </a:xfrm>
          <a:prstGeom prst="roundRect">
            <a:avLst>
              <a:gd name="adj" fmla="val 10127"/>
            </a:avLst>
          </a:prstGeom>
          <a:solidFill>
            <a:srgbClr val="F2F4F8"/>
          </a:solidFill>
          <a:ln w="12700">
            <a:solidFill>
              <a:srgbClr val="F2F4F8"/>
            </a:solidFill>
            <a:prstDash val="solid"/>
          </a:ln>
        </p:spPr>
      </p:sp>
      <p:sp>
        <p:nvSpPr>
          <p:cNvPr id="5" name="Shape 3"/>
          <p:cNvSpPr/>
          <p:nvPr/>
        </p:nvSpPr>
        <p:spPr>
          <a:xfrm>
            <a:off x="731520" y="2798064"/>
            <a:ext cx="365760" cy="365760"/>
          </a:xfrm>
          <a:prstGeom prst="ellipse">
            <a:avLst/>
          </a:prstGeom>
          <a:solidFill>
            <a:srgbClr val="B08D57"/>
          </a:solidFill>
          <a:ln w="12700">
            <a:solidFill>
              <a:srgbClr val="B08D57"/>
            </a:solidFill>
            <a:prstDash val="solid"/>
          </a:ln>
        </p:spPr>
      </p:sp>
      <p:sp>
        <p:nvSpPr>
          <p:cNvPr id="6" name="Text 4"/>
          <p:cNvSpPr/>
          <p:nvPr/>
        </p:nvSpPr>
        <p:spPr>
          <a:xfrm>
            <a:off x="73152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24358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一、对法庭的义务：真实、尊重与不当接触之禁</a:t>
            </a:r>
            <a:endParaRPr lang="en-US" sz="1500" dirty="0"/>
          </a:p>
        </p:txBody>
      </p:sp>
      <p:sp>
        <p:nvSpPr>
          <p:cNvPr id="8" name="Shape 6"/>
          <p:cNvSpPr/>
          <p:nvPr/>
        </p:nvSpPr>
        <p:spPr>
          <a:xfrm>
            <a:off x="566928" y="3488436"/>
            <a:ext cx="5300320" cy="722376"/>
          </a:xfrm>
          <a:prstGeom prst="roundRect">
            <a:avLst>
              <a:gd name="adj" fmla="val 10127"/>
            </a:avLst>
          </a:prstGeom>
          <a:solidFill>
            <a:srgbClr val="F2F4F8"/>
          </a:solidFill>
          <a:ln w="12700">
            <a:solidFill>
              <a:srgbClr val="F2F4F8"/>
            </a:solidFill>
            <a:prstDash val="solid"/>
          </a:ln>
        </p:spPr>
      </p:sp>
      <p:sp>
        <p:nvSpPr>
          <p:cNvPr id="9" name="Shape 7"/>
          <p:cNvSpPr/>
          <p:nvPr/>
        </p:nvSpPr>
        <p:spPr>
          <a:xfrm>
            <a:off x="731520" y="3666744"/>
            <a:ext cx="365760" cy="365760"/>
          </a:xfrm>
          <a:prstGeom prst="ellipse">
            <a:avLst/>
          </a:prstGeom>
          <a:solidFill>
            <a:srgbClr val="B08D57"/>
          </a:solidFill>
          <a:ln w="12700">
            <a:solidFill>
              <a:srgbClr val="B08D57"/>
            </a:solidFill>
            <a:prstDash val="solid"/>
          </a:ln>
        </p:spPr>
      </p:sp>
      <p:sp>
        <p:nvSpPr>
          <p:cNvPr id="10" name="Text 8"/>
          <p:cNvSpPr/>
          <p:nvPr/>
        </p:nvSpPr>
        <p:spPr>
          <a:xfrm>
            <a:off x="73152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24358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二、《刑法》第三百零六条：辩护人的刑事风险</a:t>
            </a:r>
            <a:endParaRPr lang="en-US" sz="1500" dirty="0"/>
          </a:p>
        </p:txBody>
      </p:sp>
      <p:sp>
        <p:nvSpPr>
          <p:cNvPr id="12" name="Shape 10"/>
          <p:cNvSpPr/>
          <p:nvPr/>
        </p:nvSpPr>
        <p:spPr>
          <a:xfrm>
            <a:off x="566928" y="4357116"/>
            <a:ext cx="5300320" cy="722376"/>
          </a:xfrm>
          <a:prstGeom prst="roundRect">
            <a:avLst>
              <a:gd name="adj" fmla="val 10127"/>
            </a:avLst>
          </a:prstGeom>
          <a:solidFill>
            <a:srgbClr val="F2F4F8"/>
          </a:solidFill>
          <a:ln w="12700">
            <a:solidFill>
              <a:srgbClr val="F2F4F8"/>
            </a:solidFill>
            <a:prstDash val="solid"/>
          </a:ln>
        </p:spPr>
      </p:sp>
      <p:sp>
        <p:nvSpPr>
          <p:cNvPr id="13" name="Shape 11"/>
          <p:cNvSpPr/>
          <p:nvPr/>
        </p:nvSpPr>
        <p:spPr>
          <a:xfrm>
            <a:off x="731520" y="4535424"/>
            <a:ext cx="365760" cy="365760"/>
          </a:xfrm>
          <a:prstGeom prst="ellipse">
            <a:avLst/>
          </a:prstGeom>
          <a:solidFill>
            <a:srgbClr val="B08D57"/>
          </a:solidFill>
          <a:ln w="12700">
            <a:solidFill>
              <a:srgbClr val="B08D57"/>
            </a:solidFill>
            <a:prstDash val="solid"/>
          </a:ln>
        </p:spPr>
      </p:sp>
      <p:sp>
        <p:nvSpPr>
          <p:cNvPr id="14" name="Text 12"/>
          <p:cNvSpPr/>
          <p:nvPr/>
        </p:nvSpPr>
        <p:spPr>
          <a:xfrm>
            <a:off x="73152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24358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三、对对方当事人与对方律师的义务</a:t>
            </a:r>
            <a:endParaRPr lang="en-US" sz="1500" dirty="0"/>
          </a:p>
        </p:txBody>
      </p:sp>
      <p:sp>
        <p:nvSpPr>
          <p:cNvPr id="16" name="Shape 14"/>
          <p:cNvSpPr/>
          <p:nvPr/>
        </p:nvSpPr>
        <p:spPr>
          <a:xfrm>
            <a:off x="6324448" y="2619756"/>
            <a:ext cx="5300320" cy="722376"/>
          </a:xfrm>
          <a:prstGeom prst="roundRect">
            <a:avLst>
              <a:gd name="adj" fmla="val 10127"/>
            </a:avLst>
          </a:prstGeom>
          <a:solidFill>
            <a:srgbClr val="F2F4F8"/>
          </a:solidFill>
          <a:ln w="12700">
            <a:solidFill>
              <a:srgbClr val="F2F4F8"/>
            </a:solidFill>
            <a:prstDash val="solid"/>
          </a:ln>
        </p:spPr>
      </p:sp>
      <p:sp>
        <p:nvSpPr>
          <p:cNvPr id="17" name="Shape 15"/>
          <p:cNvSpPr/>
          <p:nvPr/>
        </p:nvSpPr>
        <p:spPr>
          <a:xfrm>
            <a:off x="6489040" y="2798064"/>
            <a:ext cx="365760" cy="365760"/>
          </a:xfrm>
          <a:prstGeom prst="ellipse">
            <a:avLst/>
          </a:prstGeom>
          <a:solidFill>
            <a:srgbClr val="B08D57"/>
          </a:solidFill>
          <a:ln w="12700">
            <a:solidFill>
              <a:srgbClr val="B08D57"/>
            </a:solidFill>
            <a:prstDash val="solid"/>
          </a:ln>
        </p:spPr>
      </p:sp>
      <p:sp>
        <p:nvSpPr>
          <p:cNvPr id="18" name="Text 16"/>
          <p:cNvSpPr/>
          <p:nvPr/>
        </p:nvSpPr>
        <p:spPr>
          <a:xfrm>
            <a:off x="6489040" y="2798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7001104" y="284283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四、对证人的义务：调查取证的界限</a:t>
            </a:r>
            <a:endParaRPr lang="en-US" sz="1500" dirty="0"/>
          </a:p>
        </p:txBody>
      </p:sp>
      <p:sp>
        <p:nvSpPr>
          <p:cNvPr id="20" name="Shape 18"/>
          <p:cNvSpPr/>
          <p:nvPr/>
        </p:nvSpPr>
        <p:spPr>
          <a:xfrm>
            <a:off x="6324448" y="3488436"/>
            <a:ext cx="5300320" cy="722376"/>
          </a:xfrm>
          <a:prstGeom prst="roundRect">
            <a:avLst>
              <a:gd name="adj" fmla="val 10127"/>
            </a:avLst>
          </a:prstGeom>
          <a:solidFill>
            <a:srgbClr val="F2F4F8"/>
          </a:solidFill>
          <a:ln w="12700">
            <a:solidFill>
              <a:srgbClr val="F2F4F8"/>
            </a:solidFill>
            <a:prstDash val="solid"/>
          </a:ln>
        </p:spPr>
      </p:sp>
      <p:sp>
        <p:nvSpPr>
          <p:cNvPr id="21" name="Shape 19"/>
          <p:cNvSpPr/>
          <p:nvPr/>
        </p:nvSpPr>
        <p:spPr>
          <a:xfrm>
            <a:off x="6489040" y="3666744"/>
            <a:ext cx="365760" cy="365760"/>
          </a:xfrm>
          <a:prstGeom prst="ellipse">
            <a:avLst/>
          </a:prstGeom>
          <a:solidFill>
            <a:srgbClr val="B08D57"/>
          </a:solidFill>
          <a:ln w="12700">
            <a:solidFill>
              <a:srgbClr val="B08D57"/>
            </a:solidFill>
            <a:prstDash val="solid"/>
          </a:ln>
        </p:spPr>
      </p:sp>
      <p:sp>
        <p:nvSpPr>
          <p:cNvPr id="22" name="Text 20"/>
          <p:cNvSpPr/>
          <p:nvPr/>
        </p:nvSpPr>
        <p:spPr>
          <a:xfrm>
            <a:off x="6489040" y="3666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7001104" y="371151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五、对媒体与公众的义务</a:t>
            </a:r>
            <a:endParaRPr lang="en-US" sz="1500" dirty="0"/>
          </a:p>
        </p:txBody>
      </p:sp>
      <p:sp>
        <p:nvSpPr>
          <p:cNvPr id="24" name="Shape 22"/>
          <p:cNvSpPr/>
          <p:nvPr/>
        </p:nvSpPr>
        <p:spPr>
          <a:xfrm>
            <a:off x="6324448" y="4357116"/>
            <a:ext cx="5300320" cy="722376"/>
          </a:xfrm>
          <a:prstGeom prst="roundRect">
            <a:avLst>
              <a:gd name="adj" fmla="val 10127"/>
            </a:avLst>
          </a:prstGeom>
          <a:solidFill>
            <a:srgbClr val="F2F4F8"/>
          </a:solidFill>
          <a:ln w="12700">
            <a:solidFill>
              <a:srgbClr val="F2F4F8"/>
            </a:solidFill>
            <a:prstDash val="solid"/>
          </a:ln>
        </p:spPr>
      </p:sp>
      <p:sp>
        <p:nvSpPr>
          <p:cNvPr id="25" name="Shape 23"/>
          <p:cNvSpPr/>
          <p:nvPr/>
        </p:nvSpPr>
        <p:spPr>
          <a:xfrm>
            <a:off x="6489040" y="4535424"/>
            <a:ext cx="365760" cy="365760"/>
          </a:xfrm>
          <a:prstGeom prst="ellipse">
            <a:avLst/>
          </a:prstGeom>
          <a:solidFill>
            <a:srgbClr val="B08D57"/>
          </a:solidFill>
          <a:ln w="12700">
            <a:solidFill>
              <a:srgbClr val="B08D57"/>
            </a:solidFill>
            <a:prstDash val="solid"/>
          </a:ln>
        </p:spPr>
      </p:sp>
      <p:sp>
        <p:nvSpPr>
          <p:cNvPr id="26" name="Text 24"/>
          <p:cNvSpPr/>
          <p:nvPr/>
        </p:nvSpPr>
        <p:spPr>
          <a:xfrm>
            <a:off x="6489040" y="45354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27" name="Text 25"/>
          <p:cNvSpPr/>
          <p:nvPr/>
        </p:nvSpPr>
        <p:spPr>
          <a:xfrm>
            <a:off x="7001104" y="4580192"/>
            <a:ext cx="4459072" cy="27622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六、刑事辩护的特殊难题</a:t>
            </a:r>
            <a:endParaRPr lang="en-US" sz="1500" dirty="0"/>
          </a:p>
        </p:txBody>
      </p:sp>
      <p:sp>
        <p:nvSpPr>
          <p:cNvPr id="28" name="Text 26"/>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02</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1</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对法庭的义务：真实、尊重与不当接触之禁</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律师是当事人的代理人，同时也是司法程序的参与者</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03</a:t>
            </a:r>
            <a:endParaRPr lang="en-US" sz="11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核心区分</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消极的真实义务与积极的真实义务</a:t>
            </a:r>
            <a:endParaRPr lang="en-US" sz="2800" dirty="0"/>
          </a:p>
        </p:txBody>
      </p:sp>
      <p:sp>
        <p:nvSpPr>
          <p:cNvPr id="4" name="Shape 2"/>
          <p:cNvSpPr/>
          <p:nvPr/>
        </p:nvSpPr>
        <p:spPr>
          <a:xfrm>
            <a:off x="566928" y="1799908"/>
            <a:ext cx="5410048" cy="4099433"/>
          </a:xfrm>
          <a:prstGeom prst="roundRect">
            <a:avLst>
              <a:gd name="adj" fmla="val 2231"/>
            </a:avLst>
          </a:prstGeom>
          <a:solidFill>
            <a:srgbClr val="F2F4F8"/>
          </a:solidFill>
          <a:ln w="12700">
            <a:solidFill>
              <a:srgbClr val="F2F4F8"/>
            </a:solidFill>
            <a:prstDash val="solid"/>
          </a:ln>
        </p:spPr>
      </p:sp>
      <p:sp>
        <p:nvSpPr>
          <p:cNvPr id="5" name="Shape 3"/>
          <p:cNvSpPr/>
          <p:nvPr/>
        </p:nvSpPr>
        <p:spPr>
          <a:xfrm>
            <a:off x="841248" y="2055940"/>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0559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消极真实义务（我国的基本立场）</a:t>
            </a:r>
            <a:endParaRPr lang="en-US" sz="1600" dirty="0"/>
          </a:p>
        </p:txBody>
      </p:sp>
      <p:sp>
        <p:nvSpPr>
          <p:cNvPr id="7" name="Text 5"/>
          <p:cNvSpPr/>
          <p:nvPr/>
        </p:nvSpPr>
        <p:spPr>
          <a:xfrm>
            <a:off x="932688" y="2714308"/>
            <a:ext cx="4678528" cy="29472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内容：不得主动欺骗法庭——不得提供虚假证据、不得作明知虚假的事实陈述、不得歪曲引用法律。</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不包含：主动揭发委托人的不利事实、主动提交对己方不利的证据、主动纠正对方的错误。</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理由：对抗制下发现真相的责任分配给双方与法庭，律师的片面性是制度设定的角色。</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边界：可以就对方举证不足提出质疑（正当），不得积极提出明知虚假的事实（禁止）。</a:t>
            </a:r>
            <a:endParaRPr lang="en-US" sz="1450" dirty="0"/>
          </a:p>
        </p:txBody>
      </p:sp>
      <p:sp>
        <p:nvSpPr>
          <p:cNvPr id="8" name="Shape 6"/>
          <p:cNvSpPr/>
          <p:nvPr/>
        </p:nvSpPr>
        <p:spPr>
          <a:xfrm>
            <a:off x="6214720" y="1799908"/>
            <a:ext cx="5410048" cy="4099433"/>
          </a:xfrm>
          <a:prstGeom prst="roundRect">
            <a:avLst>
              <a:gd name="adj" fmla="val 2231"/>
            </a:avLst>
          </a:prstGeom>
          <a:solidFill>
            <a:srgbClr val="F6F1E8"/>
          </a:solidFill>
          <a:ln w="12700">
            <a:solidFill>
              <a:srgbClr val="F6F1E8"/>
            </a:solidFill>
            <a:prstDash val="solid"/>
          </a:ln>
        </p:spPr>
      </p:sp>
      <p:sp>
        <p:nvSpPr>
          <p:cNvPr id="9" name="Shape 7"/>
          <p:cNvSpPr/>
          <p:nvPr/>
        </p:nvSpPr>
        <p:spPr>
          <a:xfrm>
            <a:off x="6489040" y="2055940"/>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0559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积极真实义务（部分法域的加重要求）</a:t>
            </a:r>
            <a:endParaRPr lang="en-US" sz="1600" dirty="0"/>
          </a:p>
        </p:txBody>
      </p:sp>
      <p:sp>
        <p:nvSpPr>
          <p:cNvPr id="11" name="Text 9"/>
          <p:cNvSpPr/>
          <p:nvPr/>
        </p:nvSpPr>
        <p:spPr>
          <a:xfrm>
            <a:off x="6580480" y="2714308"/>
            <a:ext cx="4678528" cy="29472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内容：在特定情形下负有主动披露的义务，如披露对己方不利但法庭可能未发现的法律权威（adverse authority）。</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英美法系部分规则要求律师主动向法庭指出对本方不利的、控制性的先例。</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大陆法系将律师视为司法机关组成部分，对真实义务的要求相对更强。</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我国：以消极真实义务为基本立场；但对已提交的虚假材料，负有要求委托人更正或者撤回的义务。</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04</a:t>
            </a:r>
            <a:endParaRPr lang="en-US" sz="11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四项具体义务</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律师对法庭的具体义务</a:t>
            </a:r>
            <a:endParaRPr lang="en-US" sz="2800" dirty="0"/>
          </a:p>
        </p:txBody>
      </p:sp>
      <p:sp>
        <p:nvSpPr>
          <p:cNvPr id="4" name="Shape 2"/>
          <p:cNvSpPr/>
          <p:nvPr/>
        </p:nvSpPr>
        <p:spPr>
          <a:xfrm>
            <a:off x="566928" y="1316736"/>
            <a:ext cx="11057839" cy="1156716"/>
          </a:xfrm>
          <a:prstGeom prst="roundRect">
            <a:avLst>
              <a:gd name="adj" fmla="val 6324"/>
            </a:avLst>
          </a:prstGeom>
          <a:solidFill>
            <a:srgbClr val="F2F4F8"/>
          </a:solidFill>
          <a:ln w="12700">
            <a:solidFill>
              <a:srgbClr val="F2F4F8"/>
            </a:solidFill>
            <a:prstDash val="solid"/>
          </a:ln>
        </p:spPr>
      </p:sp>
      <p:sp>
        <p:nvSpPr>
          <p:cNvPr id="5" name="Shape 3"/>
          <p:cNvSpPr/>
          <p:nvPr/>
        </p:nvSpPr>
        <p:spPr>
          <a:xfrm>
            <a:off x="841248" y="163906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1792681"/>
            <a:ext cx="204826" cy="204826"/>
          </a:xfrm>
          <a:prstGeom prst="rect">
            <a:avLst/>
          </a:prstGeom>
        </p:spPr>
      </p:pic>
      <p:sp>
        <p:nvSpPr>
          <p:cNvPr id="7" name="Text 4"/>
          <p:cNvSpPr/>
          <p:nvPr/>
        </p:nvSpPr>
        <p:spPr>
          <a:xfrm>
            <a:off x="1536192" y="151047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一、不得提供虚假证据、不作虚假陈述</a:t>
            </a:r>
            <a:endParaRPr lang="en-US" sz="1450" dirty="0"/>
          </a:p>
        </p:txBody>
      </p:sp>
      <p:sp>
        <p:nvSpPr>
          <p:cNvPr id="8" name="Text 5"/>
          <p:cNvSpPr/>
          <p:nvPr/>
        </p:nvSpPr>
        <p:spPr>
          <a:xfrm>
            <a:off x="1536192" y="181933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律师法》第四十条第（六）项：不得故意提供虚假证据或者威胁、利诱他人提供虚假证据，妨碍对方当事人合法取得证据。发现已提交的材料虚假的，应当要求委托人自行更正或者撤回；委托人拒绝的，律师应当拒绝就该内容举证质证，必要时解除委托。</a:t>
            </a:r>
            <a:endParaRPr lang="en-US" sz="1250" dirty="0"/>
          </a:p>
        </p:txBody>
      </p:sp>
      <p:sp>
        <p:nvSpPr>
          <p:cNvPr id="9" name="Shape 6"/>
          <p:cNvSpPr/>
          <p:nvPr/>
        </p:nvSpPr>
        <p:spPr>
          <a:xfrm>
            <a:off x="566928" y="2619756"/>
            <a:ext cx="11057839" cy="1156716"/>
          </a:xfrm>
          <a:prstGeom prst="roundRect">
            <a:avLst>
              <a:gd name="adj" fmla="val 6324"/>
            </a:avLst>
          </a:prstGeom>
          <a:solidFill>
            <a:srgbClr val="FFFFFF"/>
          </a:solidFill>
          <a:ln w="12700">
            <a:solidFill>
              <a:srgbClr val="D5DBE5"/>
            </a:solidFill>
            <a:prstDash val="solid"/>
          </a:ln>
        </p:spPr>
      </p:sp>
      <p:sp>
        <p:nvSpPr>
          <p:cNvPr id="10" name="Shape 7"/>
          <p:cNvSpPr/>
          <p:nvPr/>
        </p:nvSpPr>
        <p:spPr>
          <a:xfrm>
            <a:off x="841248" y="294208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095701"/>
            <a:ext cx="204826" cy="204826"/>
          </a:xfrm>
          <a:prstGeom prst="rect">
            <a:avLst/>
          </a:prstGeom>
        </p:spPr>
      </p:pic>
      <p:sp>
        <p:nvSpPr>
          <p:cNvPr id="12" name="Text 8"/>
          <p:cNvSpPr/>
          <p:nvPr/>
        </p:nvSpPr>
        <p:spPr>
          <a:xfrm>
            <a:off x="1536192" y="281349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二、如实引用法律与判例</a:t>
            </a:r>
            <a:endParaRPr lang="en-US" sz="1450" dirty="0"/>
          </a:p>
        </p:txBody>
      </p:sp>
      <p:sp>
        <p:nvSpPr>
          <p:cNvPr id="13" name="Text 9"/>
          <p:cNvSpPr/>
          <p:nvPr/>
        </p:nvSpPr>
        <p:spPr>
          <a:xfrm>
            <a:off x="1536192" y="312235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不得歪曲法条文义、不得断章取义地引用司法解释与指导性案例、不得虚构不存在的裁判观点。以人工智能工具生成检索结果的，必须逐一核实来源与现行有效性——虚构判例已在多国造成律师被处分的实例。</a:t>
            </a:r>
            <a:endParaRPr lang="en-US" sz="1250" dirty="0"/>
          </a:p>
        </p:txBody>
      </p:sp>
      <p:sp>
        <p:nvSpPr>
          <p:cNvPr id="14" name="Shape 10"/>
          <p:cNvSpPr/>
          <p:nvPr/>
        </p:nvSpPr>
        <p:spPr>
          <a:xfrm>
            <a:off x="566928" y="3922776"/>
            <a:ext cx="11057839" cy="1156716"/>
          </a:xfrm>
          <a:prstGeom prst="roundRect">
            <a:avLst>
              <a:gd name="adj" fmla="val 6324"/>
            </a:avLst>
          </a:prstGeom>
          <a:solidFill>
            <a:srgbClr val="F2F4F8"/>
          </a:solidFill>
          <a:ln w="12700">
            <a:solidFill>
              <a:srgbClr val="F2F4F8"/>
            </a:solidFill>
            <a:prstDash val="solid"/>
          </a:ln>
        </p:spPr>
      </p:sp>
      <p:sp>
        <p:nvSpPr>
          <p:cNvPr id="15" name="Shape 11"/>
          <p:cNvSpPr/>
          <p:nvPr/>
        </p:nvSpPr>
        <p:spPr>
          <a:xfrm>
            <a:off x="841248" y="42451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4398721"/>
            <a:ext cx="204826" cy="204826"/>
          </a:xfrm>
          <a:prstGeom prst="rect">
            <a:avLst/>
          </a:prstGeom>
        </p:spPr>
      </p:pic>
      <p:sp>
        <p:nvSpPr>
          <p:cNvPr id="17" name="Text 12"/>
          <p:cNvSpPr/>
          <p:nvPr/>
        </p:nvSpPr>
        <p:spPr>
          <a:xfrm>
            <a:off x="1536192" y="411651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三、尊重法庭、遵守法庭规则</a:t>
            </a:r>
            <a:endParaRPr lang="en-US" sz="1450" dirty="0"/>
          </a:p>
        </p:txBody>
      </p:sp>
      <p:sp>
        <p:nvSpPr>
          <p:cNvPr id="18" name="Text 13"/>
          <p:cNvSpPr/>
          <p:nvPr/>
        </p:nvSpPr>
        <p:spPr>
          <a:xfrm>
            <a:off x="1536192" y="442537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按时出庭、着装规范、听从审判长指挥；不得扰乱法庭秩序、不得擅自退庭。对法庭的不当处置，应当申请记录在案、申请复议、庭后依程序反映，而非当庭对抗——程序内的抗争优先于程序外的对抗。</a:t>
            </a:r>
            <a:endParaRPr lang="en-US" sz="1250" dirty="0"/>
          </a:p>
        </p:txBody>
      </p:sp>
      <p:sp>
        <p:nvSpPr>
          <p:cNvPr id="19" name="Shape 14"/>
          <p:cNvSpPr/>
          <p:nvPr/>
        </p:nvSpPr>
        <p:spPr>
          <a:xfrm>
            <a:off x="566928" y="5225796"/>
            <a:ext cx="11057839" cy="1156716"/>
          </a:xfrm>
          <a:prstGeom prst="roundRect">
            <a:avLst>
              <a:gd name="adj" fmla="val 6324"/>
            </a:avLst>
          </a:prstGeom>
          <a:solidFill>
            <a:srgbClr val="FFFFFF"/>
          </a:solidFill>
          <a:ln w="12700">
            <a:solidFill>
              <a:srgbClr val="D5DBE5"/>
            </a:solidFill>
            <a:prstDash val="solid"/>
          </a:ln>
        </p:spPr>
      </p:sp>
      <p:sp>
        <p:nvSpPr>
          <p:cNvPr id="20" name="Shape 15"/>
          <p:cNvSpPr/>
          <p:nvPr/>
        </p:nvSpPr>
        <p:spPr>
          <a:xfrm>
            <a:off x="841248" y="5548122"/>
            <a:ext cx="512064" cy="512064"/>
          </a:xfrm>
          <a:prstGeom prst="ellipse">
            <a:avLst/>
          </a:prstGeom>
          <a:solidFill>
            <a:srgbClr val="13233F"/>
          </a:solidFill>
          <a:ln w="12700">
            <a:solidFill>
              <a:srgbClr val="13233F"/>
            </a:solidFill>
            <a:prstDash val="solid"/>
          </a:ln>
        </p:spPr>
      </p:sp>
      <p:pic>
        <p:nvPicPr>
          <p:cNvPr id="21" name="Image 3" descr="preencoded.png">    </p:cNvPr>
          <p:cNvPicPr>
            <a:picLocks noChangeAspect="1"/>
          </p:cNvPicPr>
          <p:nvPr/>
        </p:nvPicPr>
        <p:blipFill>
          <a:blip r:embed="rId4"/>
          <a:stretch>
            <a:fillRect/>
          </a:stretch>
        </p:blipFill>
        <p:spPr>
          <a:xfrm>
            <a:off x="994867" y="5701741"/>
            <a:ext cx="204826" cy="204826"/>
          </a:xfrm>
          <a:prstGeom prst="rect">
            <a:avLst/>
          </a:prstGeom>
        </p:spPr>
      </p:pic>
      <p:sp>
        <p:nvSpPr>
          <p:cNvPr id="22" name="Text 16"/>
          <p:cNvSpPr/>
          <p:nvPr/>
        </p:nvSpPr>
        <p:spPr>
          <a:xfrm>
            <a:off x="1536192" y="5419535"/>
            <a:ext cx="9832543" cy="235712"/>
          </a:xfrm>
          <a:prstGeom prst="rect">
            <a:avLst/>
          </a:prstGeom>
          <a:noFill/>
          <a:ln/>
        </p:spPr>
        <p:txBody>
          <a:bodyPr wrap="square" lIns="0" tIns="0" rIns="0" bIns="0" rtlCol="0" anchor="t"/>
          <a:lstStyle/>
          <a:p>
            <a:pPr indent="0" marL="0">
              <a:lnSpc>
                <a:spcPts val="1856"/>
              </a:lnSpc>
              <a:buNone/>
            </a:pPr>
            <a:r>
              <a:rPr lang="en-US" sz="1450" b="1" dirty="0">
                <a:solidFill>
                  <a:srgbClr val="13233F"/>
                </a:solidFill>
                <a:latin typeface="微软雅黑" pitchFamily="34" charset="0"/>
                <a:ea typeface="微软雅黑" pitchFamily="34" charset="-122"/>
                <a:cs typeface="微软雅黑" pitchFamily="34" charset="-120"/>
              </a:rPr>
              <a:t>四、不得违规接触与影响</a:t>
            </a:r>
            <a:endParaRPr lang="en-US" sz="1450" dirty="0"/>
          </a:p>
        </p:txBody>
      </p:sp>
      <p:sp>
        <p:nvSpPr>
          <p:cNvPr id="23" name="Text 17"/>
          <p:cNvSpPr/>
          <p:nvPr/>
        </p:nvSpPr>
        <p:spPr>
          <a:xfrm>
            <a:off x="1536192" y="5728399"/>
            <a:ext cx="9832543" cy="460375"/>
          </a:xfrm>
          <a:prstGeom prst="rect">
            <a:avLst/>
          </a:prstGeom>
          <a:noFill/>
          <a:ln/>
        </p:spPr>
        <p:txBody>
          <a:bodyPr wrap="square" lIns="0" tIns="0" rIns="0" bIns="0" rtlCol="0" anchor="t"/>
          <a:lstStyle/>
          <a:p>
            <a:pPr indent="0" marL="0">
              <a:lnSpc>
                <a:spcPts val="1813"/>
              </a:lnSpc>
              <a:buNone/>
            </a:pPr>
            <a:r>
              <a:rPr lang="en-US" sz="1250" dirty="0">
                <a:solidFill>
                  <a:srgbClr val="32404F"/>
                </a:solidFill>
                <a:latin typeface="微软雅黑" pitchFamily="34" charset="0"/>
                <a:ea typeface="微软雅黑" pitchFamily="34" charset="-122"/>
                <a:cs typeface="微软雅黑" pitchFamily="34" charset="-120"/>
              </a:rPr>
              <a:t>《律师法》第四十条第（四）（五）项：不得违反规定会见法官、检察官、仲裁员及其他有关工作人员；不得行贿、介绍贿赂或者指使、诱导当事人行贿。判断标准仍是“对方在场测试”：这次接触能否坦然地让对方当事人知道？</a:t>
            </a:r>
            <a:endParaRPr lang="en-US" sz="1250" dirty="0"/>
          </a:p>
        </p:txBody>
      </p:sp>
      <p:sp>
        <p:nvSpPr>
          <p:cNvPr id="24"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05</a:t>
            </a:r>
            <a:endParaRPr lang="en-US" sz="11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2</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《刑法》第三百零六条：辩护人的刑事风险</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一条争议极大、但每一名刑辩律师都必须精确掌握的罪名</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06</a:t>
            </a:r>
            <a:endParaRPr lang="en-US" sz="11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罪状</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辩护人、诉讼代理人毁灭证据、伪造证据、妨害作证罪</a:t>
            </a:r>
            <a:endParaRPr lang="en-US" sz="2800" dirty="0"/>
          </a:p>
        </p:txBody>
      </p:sp>
      <p:sp>
        <p:nvSpPr>
          <p:cNvPr id="4" name="Shape 2"/>
          <p:cNvSpPr/>
          <p:nvPr/>
        </p:nvSpPr>
        <p:spPr>
          <a:xfrm>
            <a:off x="566928" y="1963865"/>
            <a:ext cx="11057839" cy="2156841"/>
          </a:xfrm>
          <a:prstGeom prst="roundRect">
            <a:avLst>
              <a:gd name="adj" fmla="val 4240"/>
            </a:avLst>
          </a:prstGeom>
          <a:solidFill>
            <a:srgbClr val="F6F1E8"/>
          </a:solidFill>
          <a:ln w="12700">
            <a:solidFill>
              <a:srgbClr val="F6F1E8"/>
            </a:solidFill>
            <a:prstDash val="solid"/>
          </a:ln>
        </p:spPr>
      </p:sp>
      <p:sp>
        <p:nvSpPr>
          <p:cNvPr id="5" name="Shape 3"/>
          <p:cNvSpPr/>
          <p:nvPr/>
        </p:nvSpPr>
        <p:spPr>
          <a:xfrm>
            <a:off x="877824" y="2201609"/>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2201609"/>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2183321"/>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《中华人民共和国刑法》第三百零六条</a:t>
            </a:r>
            <a:endParaRPr lang="en-US" sz="1500" dirty="0"/>
          </a:p>
        </p:txBody>
      </p:sp>
      <p:sp>
        <p:nvSpPr>
          <p:cNvPr id="8" name="Text 6"/>
          <p:cNvSpPr/>
          <p:nvPr/>
        </p:nvSpPr>
        <p:spPr>
          <a:xfrm>
            <a:off x="960120" y="2603945"/>
            <a:ext cx="10271455" cy="1297305"/>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在刑事诉讼中，辩护人、诉讼代理人毁灭、伪造证据，帮助当事人毁灭、伪造证据，威胁、引诱证人违背事实改变证言或者作伪证的，处三年以下有期徒刑或者拘役；情节严重的，处三年以上七年以下有期徒刑。</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辩护人、诉讼代理人提供、出示、引用的证人证言或者其他证据失实，不是有意伪造的，不属于伪造证据。</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特别注意第二款：这是一条重要的出罪条款。证据失实与伪造证据是两回事——律师提交的证人证言后来被证明不真实，只要不是有意伪造，就不构成本罪。这一款正是为了防止本罪被滥用而设。实践中的核心争点通常是：律师的行为属于“依法调查取证”还是“引诱证人改变证言”。</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07</a:t>
            </a:r>
            <a:endParaRPr lang="en-US" sz="11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风险防范</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刑辩律师调查取证的六条自我保护规则</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628650"/>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《刑法》第三百零六条的存在，使刑事辩护中的调查取证成为高风险动作。以下六条是行业公认的自我保护做法。</a:t>
            </a:r>
            <a:endParaRPr lang="en-US" sz="1650" dirty="0"/>
          </a:p>
        </p:txBody>
      </p:sp>
      <p:sp>
        <p:nvSpPr>
          <p:cNvPr id="7" name="Text 4"/>
          <p:cNvSpPr/>
          <p:nvPr/>
        </p:nvSpPr>
        <p:spPr>
          <a:xfrm>
            <a:off x="1069848" y="2530602"/>
            <a:ext cx="10051999" cy="3541014"/>
          </a:xfrm>
          <a:prstGeom prst="rect">
            <a:avLst/>
          </a:prstGeom>
          <a:noFill/>
          <a:ln/>
        </p:spPr>
        <p:txBody>
          <a:bodyPr wrap="square" lIns="0" tIns="0" rIns="0" bIns="0" rtlCol="0" anchor="t"/>
          <a:lstStyle/>
          <a:p>
            <a:pPr marL="228600" indent="-2286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第一，两人同行。 调查取证应当由两名律师或者一名律师加一名律师助理共同进行，避免孤证与“说不清”。</a:t>
            </a:r>
            <a:endParaRPr lang="en-US" sz="1450" dirty="0"/>
          </a:p>
          <a:p>
            <a:pPr marL="228600" indent="-2286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第二，全程记录。 在征得同意的前提下同步录音录像；制作调查笔录并由证人逐页签名、捺印、注明“以上笔录我已看过，与我说的相符”。</a:t>
            </a:r>
            <a:endParaRPr lang="en-US" sz="1450" dirty="0"/>
          </a:p>
          <a:p>
            <a:pPr marL="228600" indent="-2286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第三，先程序后实体。 向被害人及其近亲属、被害人提供的证人取证，须经人民检察院或者人民法院许可并经本人同意——程序前置，不可省略。</a:t>
            </a:r>
            <a:endParaRPr lang="en-US" sz="1450" dirty="0"/>
          </a:p>
          <a:p>
            <a:pPr marL="228600" indent="-2286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第四，不作引导性发问。 提问应当开放，避免“是不是……”“当时他是不是没在场”这类暗示答案的问法；忠实记录证人的原话。</a:t>
            </a:r>
            <a:endParaRPr lang="en-US" sz="1450" dirty="0"/>
          </a:p>
          <a:p>
            <a:pPr marL="228600" indent="-2286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第五，不涉利益。 不得向证人支付超出合理误工与交通费用的款项；一切支付均应当有据可查。</a:t>
            </a:r>
            <a:endParaRPr lang="en-US" sz="1450" dirty="0"/>
          </a:p>
          <a:p>
            <a:pPr marL="228600" indent="-2286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第六，优先申请司法机关取证。 依《律师法》与《刑事诉讼法》，律师可以申请人民检察院、人民法院收集调取证据或者通知证人出庭——把风险交给公权力程序，是最稳妥的路径。</a:t>
            </a:r>
            <a:endParaRPr lang="en-US" sz="145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08</a:t>
            </a:r>
            <a:endParaRPr lang="en-US" sz="11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3</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对对方当事人与对方律师的义务</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对抗是角色，不是敌意</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09</a:t>
            </a:r>
            <a:endParaRPr lang="en-US" sz="11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三条规则</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与对方打交道的三条规则</a:t>
            </a:r>
            <a:endParaRPr lang="en-US" sz="2800" dirty="0"/>
          </a:p>
        </p:txBody>
      </p:sp>
      <p:sp>
        <p:nvSpPr>
          <p:cNvPr id="4" name="Shape 2"/>
          <p:cNvSpPr/>
          <p:nvPr/>
        </p:nvSpPr>
        <p:spPr>
          <a:xfrm>
            <a:off x="566928" y="2181924"/>
            <a:ext cx="3527450" cy="3335401"/>
          </a:xfrm>
          <a:prstGeom prst="roundRect">
            <a:avLst>
              <a:gd name="adj" fmla="val 2741"/>
            </a:avLst>
          </a:prstGeom>
          <a:solidFill>
            <a:srgbClr val="F2F4F8"/>
          </a:solidFill>
          <a:ln w="12700">
            <a:solidFill>
              <a:srgbClr val="F2F4F8"/>
            </a:solidFill>
            <a:prstDash val="solid"/>
          </a:ln>
        </p:spPr>
      </p:sp>
      <p:sp>
        <p:nvSpPr>
          <p:cNvPr id="5" name="Shape 3"/>
          <p:cNvSpPr/>
          <p:nvPr/>
        </p:nvSpPr>
        <p:spPr>
          <a:xfrm>
            <a:off x="886968" y="2474532"/>
            <a:ext cx="457200" cy="457200"/>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1024128" y="2611692"/>
            <a:ext cx="182880" cy="182880"/>
          </a:xfrm>
          <a:prstGeom prst="rect">
            <a:avLst/>
          </a:prstGeom>
        </p:spPr>
      </p:pic>
      <p:sp>
        <p:nvSpPr>
          <p:cNvPr id="7" name="Text 4"/>
          <p:cNvSpPr/>
          <p:nvPr/>
        </p:nvSpPr>
        <p:spPr>
          <a:xfrm>
            <a:off x="886968" y="3096324"/>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不得绕过对方代理人直接接触</a:t>
            </a:r>
            <a:endParaRPr lang="en-US" sz="1700" dirty="0"/>
          </a:p>
        </p:txBody>
      </p:sp>
      <p:sp>
        <p:nvSpPr>
          <p:cNvPr id="8" name="Text 5"/>
          <p:cNvSpPr/>
          <p:nvPr/>
        </p:nvSpPr>
        <p:spPr>
          <a:xfrm>
            <a:off x="886968" y="3494215"/>
            <a:ext cx="2887370" cy="1803654"/>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对方已委托代理人的，就争议事项的实质性沟通应当通过其代理人进行，不得绕过代理人直接与对方当事人谈判或者施加影响。经对方代理人同意，或者法律另有规定的除外。</a:t>
            </a:r>
            <a:endParaRPr lang="en-US" sz="1450" dirty="0"/>
          </a:p>
        </p:txBody>
      </p:sp>
      <p:sp>
        <p:nvSpPr>
          <p:cNvPr id="9" name="Shape 6"/>
          <p:cNvSpPr/>
          <p:nvPr/>
        </p:nvSpPr>
        <p:spPr>
          <a:xfrm>
            <a:off x="4332122" y="2181924"/>
            <a:ext cx="3527450" cy="3335401"/>
          </a:xfrm>
          <a:prstGeom prst="roundRect">
            <a:avLst>
              <a:gd name="adj" fmla="val 2741"/>
            </a:avLst>
          </a:prstGeom>
          <a:solidFill>
            <a:srgbClr val="F6F1E8"/>
          </a:solidFill>
          <a:ln w="12700">
            <a:solidFill>
              <a:srgbClr val="F6F1E8"/>
            </a:solidFill>
            <a:prstDash val="solid"/>
          </a:ln>
        </p:spPr>
      </p:sp>
      <p:sp>
        <p:nvSpPr>
          <p:cNvPr id="10" name="Shape 7"/>
          <p:cNvSpPr/>
          <p:nvPr/>
        </p:nvSpPr>
        <p:spPr>
          <a:xfrm>
            <a:off x="4652162" y="2474532"/>
            <a:ext cx="457200" cy="457200"/>
          </a:xfrm>
          <a:prstGeom prst="ellipse">
            <a:avLst/>
          </a:prstGeom>
          <a:solidFill>
            <a:srgbClr val="B08D57"/>
          </a:solidFill>
          <a:ln w="12700">
            <a:solidFill>
              <a:srgbClr val="B08D57"/>
            </a:solidFill>
            <a:prstDash val="solid"/>
          </a:ln>
        </p:spPr>
      </p:sp>
      <p:pic>
        <p:nvPicPr>
          <p:cNvPr id="11" name="Image 1" descr="preencoded.png">    </p:cNvPr>
          <p:cNvPicPr>
            <a:picLocks noChangeAspect="1"/>
          </p:cNvPicPr>
          <p:nvPr/>
        </p:nvPicPr>
        <p:blipFill>
          <a:blip r:embed="rId2"/>
          <a:stretch>
            <a:fillRect/>
          </a:stretch>
        </p:blipFill>
        <p:spPr>
          <a:xfrm>
            <a:off x="4789322" y="2611692"/>
            <a:ext cx="182880" cy="182880"/>
          </a:xfrm>
          <a:prstGeom prst="rect">
            <a:avLst/>
          </a:prstGeom>
        </p:spPr>
      </p:pic>
      <p:sp>
        <p:nvSpPr>
          <p:cNvPr id="12" name="Text 8"/>
          <p:cNvSpPr/>
          <p:nvPr/>
        </p:nvSpPr>
        <p:spPr>
          <a:xfrm>
            <a:off x="4652162" y="3096324"/>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对无代理人的对方须表明立场</a:t>
            </a:r>
            <a:endParaRPr lang="en-US" sz="1700" dirty="0"/>
          </a:p>
        </p:txBody>
      </p:sp>
      <p:sp>
        <p:nvSpPr>
          <p:cNvPr id="13" name="Text 9"/>
          <p:cNvSpPr/>
          <p:nvPr/>
        </p:nvSpPr>
        <p:spPr>
          <a:xfrm>
            <a:off x="4652162" y="3494215"/>
            <a:ext cx="2887370" cy="1803654"/>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对方未委托代理人的，律师不得使其误以为自己是中立第三方或者可以为其提供帮助。应当明确说明“我是对方的代理人”，并建议其自行寻求法律帮助；不得为其提供法律意见。</a:t>
            </a:r>
            <a:endParaRPr lang="en-US" sz="1450" dirty="0"/>
          </a:p>
        </p:txBody>
      </p:sp>
      <p:sp>
        <p:nvSpPr>
          <p:cNvPr id="14" name="Shape 10"/>
          <p:cNvSpPr/>
          <p:nvPr/>
        </p:nvSpPr>
        <p:spPr>
          <a:xfrm>
            <a:off x="8097317" y="2181924"/>
            <a:ext cx="3527450" cy="3335401"/>
          </a:xfrm>
          <a:prstGeom prst="roundRect">
            <a:avLst>
              <a:gd name="adj" fmla="val 2741"/>
            </a:avLst>
          </a:prstGeom>
          <a:solidFill>
            <a:srgbClr val="ECF3F2"/>
          </a:solidFill>
          <a:ln w="12700">
            <a:solidFill>
              <a:srgbClr val="ECF3F2"/>
            </a:solidFill>
            <a:prstDash val="solid"/>
          </a:ln>
        </p:spPr>
      </p:sp>
      <p:sp>
        <p:nvSpPr>
          <p:cNvPr id="15" name="Shape 11"/>
          <p:cNvSpPr/>
          <p:nvPr/>
        </p:nvSpPr>
        <p:spPr>
          <a:xfrm>
            <a:off x="8417357" y="2474532"/>
            <a:ext cx="457200" cy="457200"/>
          </a:xfrm>
          <a:prstGeom prst="ellipse">
            <a:avLst/>
          </a:prstGeom>
          <a:solidFill>
            <a:srgbClr val="2F6E6A"/>
          </a:solidFill>
          <a:ln w="12700">
            <a:solidFill>
              <a:srgbClr val="2F6E6A"/>
            </a:solidFill>
            <a:prstDash val="solid"/>
          </a:ln>
        </p:spPr>
      </p:sp>
      <p:pic>
        <p:nvPicPr>
          <p:cNvPr id="16" name="Image 2" descr="preencoded.png">    </p:cNvPr>
          <p:cNvPicPr>
            <a:picLocks noChangeAspect="1"/>
          </p:cNvPicPr>
          <p:nvPr/>
        </p:nvPicPr>
        <p:blipFill>
          <a:blip r:embed="rId3"/>
          <a:stretch>
            <a:fillRect/>
          </a:stretch>
        </p:blipFill>
        <p:spPr>
          <a:xfrm>
            <a:off x="8554517" y="2611692"/>
            <a:ext cx="182880" cy="182880"/>
          </a:xfrm>
          <a:prstGeom prst="rect">
            <a:avLst/>
          </a:prstGeom>
        </p:spPr>
      </p:pic>
      <p:sp>
        <p:nvSpPr>
          <p:cNvPr id="17" name="Text 12"/>
          <p:cNvSpPr/>
          <p:nvPr/>
        </p:nvSpPr>
        <p:spPr>
          <a:xfrm>
            <a:off x="8417357" y="3096324"/>
            <a:ext cx="2887370" cy="269875"/>
          </a:xfrm>
          <a:prstGeom prst="rect">
            <a:avLst/>
          </a:prstGeom>
          <a:noFill/>
          <a:ln/>
        </p:spPr>
        <p:txBody>
          <a:bodyPr wrap="square" lIns="0" tIns="0" rIns="0" bIns="0" rtlCol="0" anchor="t"/>
          <a:lstStyle/>
          <a:p>
            <a:pPr indent="0" marL="0">
              <a:lnSpc>
                <a:spcPts val="2125"/>
              </a:lnSpc>
              <a:buNone/>
            </a:pPr>
            <a:r>
              <a:rPr lang="en-US" sz="1700" b="1" dirty="0">
                <a:solidFill>
                  <a:srgbClr val="13233F"/>
                </a:solidFill>
                <a:latin typeface="微软雅黑" pitchFamily="34" charset="0"/>
                <a:ea typeface="微软雅黑" pitchFamily="34" charset="-122"/>
                <a:cs typeface="微软雅黑" pitchFamily="34" charset="-120"/>
              </a:rPr>
              <a:t>不得欺骗与不当施压</a:t>
            </a:r>
            <a:endParaRPr lang="en-US" sz="1700" dirty="0"/>
          </a:p>
        </p:txBody>
      </p:sp>
      <p:sp>
        <p:nvSpPr>
          <p:cNvPr id="18" name="Text 13"/>
          <p:cNvSpPr/>
          <p:nvPr/>
        </p:nvSpPr>
        <p:spPr>
          <a:xfrm>
            <a:off x="8417357" y="3494215"/>
            <a:ext cx="2887370" cy="1803654"/>
          </a:xfrm>
          <a:prstGeom prst="rect">
            <a:avLst/>
          </a:prstGeom>
          <a:noFill/>
          <a:ln/>
        </p:spPr>
        <p:txBody>
          <a:bodyPr wrap="square" lIns="0" tIns="0" rIns="0" bIns="0" rtlCol="0" anchor="t"/>
          <a:lstStyle/>
          <a:p>
            <a:pPr indent="0" marL="0">
              <a:lnSpc>
                <a:spcPts val="2175"/>
              </a:lnSpc>
              <a:buNone/>
            </a:pPr>
            <a:r>
              <a:rPr lang="en-US" sz="1450" dirty="0">
                <a:solidFill>
                  <a:srgbClr val="32404F"/>
                </a:solidFill>
                <a:latin typeface="微软雅黑" pitchFamily="34" charset="0"/>
                <a:ea typeface="微软雅黑" pitchFamily="34" charset="-122"/>
                <a:cs typeface="微软雅黑" pitchFamily="34" charset="-120"/>
              </a:rPr>
              <a:t>不得以虚假陈述诱使对方作出让步；不得以举报、曝光、影响其家人工作等与本案无关的事项相要挟；不得利用对方的年老、疾病、语言障碍等弱势状态取得不当利益。</a:t>
            </a:r>
            <a:endParaRPr lang="en-US" sz="145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10</a:t>
            </a:r>
            <a:endParaRPr lang="en-US" sz="11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13233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58368" y="1316736"/>
            <a:ext cx="749808" cy="749808"/>
          </a:xfrm>
          <a:prstGeom prst="rect">
            <a:avLst/>
          </a:prstGeom>
        </p:spPr>
      </p:pic>
      <p:sp>
        <p:nvSpPr>
          <p:cNvPr id="3" name="Text 0"/>
          <p:cNvSpPr/>
          <p:nvPr/>
        </p:nvSpPr>
        <p:spPr>
          <a:xfrm>
            <a:off x="1298448" y="2395728"/>
            <a:ext cx="9594799" cy="1828800"/>
          </a:xfrm>
          <a:prstGeom prst="rect">
            <a:avLst/>
          </a:prstGeom>
          <a:noFill/>
          <a:ln/>
        </p:spPr>
        <p:txBody>
          <a:bodyPr wrap="square" lIns="0" tIns="0" rIns="0" bIns="0" rtlCol="0" anchor="t"/>
          <a:lstStyle/>
          <a:p>
            <a:pPr indent="0" marL="0">
              <a:lnSpc>
                <a:spcPts val="4800"/>
              </a:lnSpc>
              <a:buNone/>
            </a:pPr>
            <a:r>
              <a:rPr lang="en-US" sz="3200" dirty="0">
                <a:solidFill>
                  <a:srgbClr val="FFFFFF"/>
                </a:solidFill>
                <a:latin typeface="微软雅黑" pitchFamily="34" charset="0"/>
                <a:ea typeface="微软雅黑" pitchFamily="34" charset="-122"/>
                <a:cs typeface="微软雅黑" pitchFamily="34" charset="-120"/>
              </a:rPr>
              <a:t>对抗制要求律师全力为委托人主张，但从未要求律师把对方当作敌人。前者是职业角色，后者是个人情绪。</a:t>
            </a:r>
            <a:endParaRPr lang="en-US" sz="3200" dirty="0"/>
          </a:p>
        </p:txBody>
      </p:sp>
      <p:sp>
        <p:nvSpPr>
          <p:cNvPr id="4" name="Text 1"/>
          <p:cNvSpPr/>
          <p:nvPr/>
        </p:nvSpPr>
        <p:spPr>
          <a:xfrm>
            <a:off x="1335024" y="4590288"/>
            <a:ext cx="9594799" cy="365760"/>
          </a:xfrm>
          <a:prstGeom prst="rect">
            <a:avLst/>
          </a:prstGeom>
          <a:noFill/>
          <a:ln/>
        </p:spPr>
        <p:txBody>
          <a:bodyPr wrap="square" lIns="0" tIns="0" rIns="0" bIns="0" rtlCol="0" anchor="ctr"/>
          <a:lstStyle/>
          <a:p>
            <a:pPr indent="0" marL="0">
              <a:buNone/>
            </a:pPr>
            <a:r>
              <a:rPr lang="en-US" sz="1700" b="1" dirty="0">
                <a:solidFill>
                  <a:srgbClr val="B08D57"/>
                </a:solidFill>
                <a:latin typeface="微软雅黑" pitchFamily="34" charset="0"/>
                <a:ea typeface="微软雅黑" pitchFamily="34" charset="-122"/>
                <a:cs typeface="微软雅黑" pitchFamily="34" charset="-120"/>
              </a:rPr>
              <a:t>—— 争讼伦理的基本态度</a:t>
            </a:r>
            <a:endParaRPr lang="en-US" sz="1700" dirty="0"/>
          </a:p>
        </p:txBody>
      </p:sp>
      <p:sp>
        <p:nvSpPr>
          <p:cNvPr id="5" name="Text 2"/>
          <p:cNvSpPr/>
          <p:nvPr/>
        </p:nvSpPr>
        <p:spPr>
          <a:xfrm>
            <a:off x="1335024" y="4992624"/>
            <a:ext cx="9594799" cy="347472"/>
          </a:xfrm>
          <a:prstGeom prst="rect">
            <a:avLst/>
          </a:prstGeom>
          <a:noFill/>
          <a:ln/>
        </p:spPr>
        <p:txBody>
          <a:bodyPr wrap="square" lIns="0" tIns="0" rIns="0" bIns="0" rtlCol="0" anchor="ctr"/>
          <a:lstStyle/>
          <a:p>
            <a:pPr indent="0" marL="0">
              <a:buNone/>
            </a:pPr>
            <a:r>
              <a:rPr lang="en-US" sz="1300" dirty="0">
                <a:solidFill>
                  <a:srgbClr val="6B7684"/>
                </a:solidFill>
                <a:latin typeface="微软雅黑" pitchFamily="34" charset="0"/>
                <a:ea typeface="微软雅黑" pitchFamily="34" charset="-122"/>
                <a:cs typeface="微软雅黑" pitchFamily="34" charset="-120"/>
              </a:rPr>
              <a:t>把对抗理解为敌意，是律师庭审失态、同行相攻、乃至越过规范红线的心理起点</a:t>
            </a:r>
            <a:endParaRPr lang="en-US" sz="13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4</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对证人的义务：调查取证的界限</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律师有权取证，但取证的方式决定了它是证据还是罪证</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12</a:t>
            </a:r>
            <a:endParaRPr lang="en-US" sz="11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取证权</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《律师法》第三十五条：调查取证权及其限制</a:t>
            </a:r>
            <a:endParaRPr lang="en-US" sz="2800" dirty="0"/>
          </a:p>
        </p:txBody>
      </p:sp>
      <p:sp>
        <p:nvSpPr>
          <p:cNvPr id="4" name="Shape 2"/>
          <p:cNvSpPr/>
          <p:nvPr/>
        </p:nvSpPr>
        <p:spPr>
          <a:xfrm>
            <a:off x="566928" y="1963865"/>
            <a:ext cx="11057839" cy="2156841"/>
          </a:xfrm>
          <a:prstGeom prst="roundRect">
            <a:avLst>
              <a:gd name="adj" fmla="val 4240"/>
            </a:avLst>
          </a:prstGeom>
          <a:solidFill>
            <a:srgbClr val="F6F1E8"/>
          </a:solidFill>
          <a:ln w="12700">
            <a:solidFill>
              <a:srgbClr val="F6F1E8"/>
            </a:solidFill>
            <a:prstDash val="solid"/>
          </a:ln>
        </p:spPr>
      </p:sp>
      <p:sp>
        <p:nvSpPr>
          <p:cNvPr id="5" name="Shape 3"/>
          <p:cNvSpPr/>
          <p:nvPr/>
        </p:nvSpPr>
        <p:spPr>
          <a:xfrm>
            <a:off x="877824" y="2201609"/>
            <a:ext cx="566928" cy="274320"/>
          </a:xfrm>
          <a:prstGeom prst="roundRect">
            <a:avLst>
              <a:gd name="adj" fmla="val 50000"/>
            </a:avLst>
          </a:prstGeom>
          <a:solidFill>
            <a:srgbClr val="B08D57"/>
          </a:solidFill>
          <a:ln w="12700">
            <a:solidFill>
              <a:srgbClr val="B08D57"/>
            </a:solidFill>
            <a:prstDash val="solid"/>
          </a:ln>
        </p:spPr>
      </p:sp>
      <p:sp>
        <p:nvSpPr>
          <p:cNvPr id="6" name="Text 4"/>
          <p:cNvSpPr/>
          <p:nvPr/>
        </p:nvSpPr>
        <p:spPr>
          <a:xfrm>
            <a:off x="877824" y="2201609"/>
            <a:ext cx="566928"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法条</a:t>
            </a:r>
            <a:endParaRPr lang="en-US" sz="1050" dirty="0"/>
          </a:p>
        </p:txBody>
      </p:sp>
      <p:sp>
        <p:nvSpPr>
          <p:cNvPr id="7" name="Text 5"/>
          <p:cNvSpPr/>
          <p:nvPr/>
        </p:nvSpPr>
        <p:spPr>
          <a:xfrm>
            <a:off x="1554480" y="2183321"/>
            <a:ext cx="9686239" cy="310896"/>
          </a:xfrm>
          <a:prstGeom prst="rect">
            <a:avLst/>
          </a:prstGeom>
          <a:noFill/>
          <a:ln/>
        </p:spPr>
        <p:txBody>
          <a:bodyPr wrap="square" lIns="0" tIns="0" rIns="0" bIns="0" rtlCol="0" anchor="ctr"/>
          <a:lstStyle/>
          <a:p>
            <a:pPr indent="0" marL="0">
              <a:buNone/>
            </a:pPr>
            <a:r>
              <a:rPr lang="en-US" sz="1500" b="1" dirty="0">
                <a:solidFill>
                  <a:srgbClr val="13233F"/>
                </a:solidFill>
                <a:latin typeface="微软雅黑" pitchFamily="34" charset="0"/>
                <a:ea typeface="微软雅黑" pitchFamily="34" charset="-122"/>
                <a:cs typeface="微软雅黑" pitchFamily="34" charset="-120"/>
              </a:rPr>
              <a:t>《中华人民共和国律师法》第三十五条</a:t>
            </a:r>
            <a:endParaRPr lang="en-US" sz="1500" dirty="0"/>
          </a:p>
        </p:txBody>
      </p:sp>
      <p:sp>
        <p:nvSpPr>
          <p:cNvPr id="8" name="Text 6"/>
          <p:cNvSpPr/>
          <p:nvPr/>
        </p:nvSpPr>
        <p:spPr>
          <a:xfrm>
            <a:off x="960120" y="2603945"/>
            <a:ext cx="10271455" cy="1297305"/>
          </a:xfrm>
          <a:prstGeom prst="rect">
            <a:avLst/>
          </a:prstGeom>
          <a:noFill/>
          <a:ln/>
        </p:spPr>
        <p:txBody>
          <a:bodyPr wrap="square" lIns="0" tIns="0" rIns="0" bIns="0" rtlCol="0" anchor="t"/>
          <a:lstStyle/>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受委托的律师根据案情的需要，可以申请人民检察院、人民法院收集、调取证据或者申请人民法院通知证人出庭作证。</a:t>
            </a:r>
            <a:endParaRPr lang="en-US" sz="1550" dirty="0"/>
          </a:p>
          <a:p>
            <a:pPr indent="0" marL="0">
              <a:lnSpc>
                <a:spcPts val="2325"/>
              </a:lnSpc>
              <a:buNone/>
            </a:pPr>
            <a:r>
              <a:rPr lang="en-US" sz="1550" dirty="0">
                <a:solidFill>
                  <a:srgbClr val="32404F"/>
                </a:solidFill>
                <a:latin typeface="微软雅黑" pitchFamily="34" charset="0"/>
                <a:ea typeface="微软雅黑" pitchFamily="34" charset="-122"/>
                <a:cs typeface="微软雅黑" pitchFamily="34" charset="-120"/>
              </a:rPr>
              <a:t>律师自行调查取证的，凭律师执业证书和律师事务所证明，可以向有关单位或者个人调查与承办法律事务有关的情况。</a:t>
            </a:r>
            <a:endParaRPr lang="en-US" sz="1550" dirty="0"/>
          </a:p>
        </p:txBody>
      </p:sp>
      <p:sp>
        <p:nvSpPr>
          <p:cNvPr id="9" name="Shape 7"/>
          <p:cNvSpPr/>
          <p:nvPr/>
        </p:nvSpPr>
        <p:spPr>
          <a:xfrm>
            <a:off x="566928" y="4950714"/>
            <a:ext cx="11057839" cy="1431798"/>
          </a:xfrm>
          <a:prstGeom prst="roundRect">
            <a:avLst>
              <a:gd name="adj" fmla="val 6386"/>
            </a:avLst>
          </a:prstGeom>
          <a:solidFill>
            <a:srgbClr val="F2F4F8"/>
          </a:solidFill>
          <a:ln w="12700">
            <a:solidFill>
              <a:srgbClr val="F2F4F8"/>
            </a:solidFill>
            <a:prstDash val="solid"/>
          </a:ln>
        </p:spPr>
      </p:sp>
      <p:sp>
        <p:nvSpPr>
          <p:cNvPr id="10" name="Text 8"/>
          <p:cNvSpPr/>
          <p:nvPr/>
        </p:nvSpPr>
        <p:spPr>
          <a:xfrm>
            <a:off x="896112" y="5115306"/>
            <a:ext cx="822960" cy="237744"/>
          </a:xfrm>
          <a:prstGeom prst="rect">
            <a:avLst/>
          </a:prstGeom>
          <a:noFill/>
          <a:ln/>
        </p:spPr>
        <p:txBody>
          <a:bodyPr wrap="square" lIns="0" tIns="0" rIns="0" bIns="0" rtlCol="0" anchor="ctr"/>
          <a:lstStyle/>
          <a:p>
            <a:pPr indent="0" marL="0">
              <a:buNone/>
            </a:pPr>
            <a:r>
              <a:rPr lang="en-US" sz="1150" b="1" spc="100" kern="0" dirty="0">
                <a:solidFill>
                  <a:srgbClr val="B08D57"/>
                </a:solidFill>
                <a:latin typeface="微软雅黑" pitchFamily="34" charset="0"/>
                <a:ea typeface="微软雅黑" pitchFamily="34" charset="-122"/>
                <a:cs typeface="微软雅黑" pitchFamily="34" charset="-120"/>
              </a:rPr>
              <a:t>释义</a:t>
            </a:r>
            <a:endParaRPr lang="en-US" sz="1150" dirty="0"/>
          </a:p>
        </p:txBody>
      </p:sp>
      <p:sp>
        <p:nvSpPr>
          <p:cNvPr id="11" name="Text 9"/>
          <p:cNvSpPr/>
          <p:nvPr/>
        </p:nvSpPr>
        <p:spPr>
          <a:xfrm>
            <a:off x="896112" y="5389626"/>
            <a:ext cx="10271455" cy="864870"/>
          </a:xfrm>
          <a:prstGeom prst="rect">
            <a:avLst/>
          </a:prstGeom>
          <a:noFill/>
          <a:ln/>
        </p:spPr>
        <p:txBody>
          <a:bodyPr wrap="square" lIns="0" tIns="0" rIns="0" bIns="0" rtlCol="0" anchor="t"/>
          <a:lstStyle/>
          <a:p>
            <a:pPr indent="0" marL="0">
              <a:lnSpc>
                <a:spcPts val="2030"/>
              </a:lnSpc>
              <a:buNone/>
            </a:pPr>
            <a:r>
              <a:rPr lang="en-US" sz="1400" dirty="0">
                <a:solidFill>
                  <a:srgbClr val="32404F"/>
                </a:solidFill>
                <a:latin typeface="微软雅黑" pitchFamily="34" charset="0"/>
                <a:ea typeface="微软雅黑" pitchFamily="34" charset="-122"/>
                <a:cs typeface="微软雅黑" pitchFamily="34" charset="-120"/>
              </a:rPr>
              <a:t>请注意律师取证权的三重限制：其一，向单位或个人调查须其配合，律师无强制取证权；其二，依《刑事诉讼法》，向被害人及其近亲属、被害人提供的证人收集材料，须经检察院或法院许可并经本人同意；其三，取证方式受《刑法》第三百零六条的约束。正因如此，“申请司法机关调取”往往是比“自行调查”更安全的路径。</a:t>
            </a:r>
            <a:endParaRPr lang="en-US" sz="140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13</a:t>
            </a:r>
            <a:endParaRPr lang="en-US" sz="11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界限</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合法取证与违法取证的分界</a:t>
            </a:r>
            <a:endParaRPr lang="en-US" sz="2800" dirty="0"/>
          </a:p>
        </p:txBody>
      </p:sp>
      <p:sp>
        <p:nvSpPr>
          <p:cNvPr id="4" name="Shape 2"/>
          <p:cNvSpPr/>
          <p:nvPr/>
        </p:nvSpPr>
        <p:spPr>
          <a:xfrm>
            <a:off x="566928" y="1402461"/>
            <a:ext cx="11057839" cy="1533906"/>
          </a:xfrm>
          <a:prstGeom prst="roundRect">
            <a:avLst>
              <a:gd name="adj" fmla="val 4769"/>
            </a:avLst>
          </a:prstGeom>
          <a:solidFill>
            <a:srgbClr val="F2F4F8"/>
          </a:solidFill>
          <a:ln w="12700">
            <a:solidFill>
              <a:srgbClr val="F2F4F8"/>
            </a:solidFill>
            <a:prstDash val="solid"/>
          </a:ln>
        </p:spPr>
      </p:sp>
      <p:sp>
        <p:nvSpPr>
          <p:cNvPr id="5" name="Shape 3"/>
          <p:cNvSpPr/>
          <p:nvPr/>
        </p:nvSpPr>
        <p:spPr>
          <a:xfrm>
            <a:off x="841248" y="1913382"/>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067001"/>
            <a:ext cx="204826" cy="204826"/>
          </a:xfrm>
          <a:prstGeom prst="rect">
            <a:avLst/>
          </a:prstGeom>
        </p:spPr>
      </p:pic>
      <p:sp>
        <p:nvSpPr>
          <p:cNvPr id="7" name="Text 4"/>
          <p:cNvSpPr/>
          <p:nvPr/>
        </p:nvSpPr>
        <p:spPr>
          <a:xfrm>
            <a:off x="1536192" y="172250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合法：如实记录已有的记忆</a:t>
            </a:r>
            <a:endParaRPr lang="en-US" sz="1650" dirty="0"/>
          </a:p>
        </p:txBody>
      </p:sp>
      <p:sp>
        <p:nvSpPr>
          <p:cNvPr id="8" name="Text 5"/>
          <p:cNvSpPr/>
          <p:nvPr/>
        </p:nvSpPr>
        <p:spPr>
          <a:xfrm>
            <a:off x="1536192" y="206387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向证人说明来意与身份，询问其所知情况，如实记录其陈述，由其确认签字。证人陈述与此前证言不一致的，如实记录不一致的内容与原因，不得选择性记录。</a:t>
            </a:r>
            <a:endParaRPr lang="en-US" sz="1500" dirty="0"/>
          </a:p>
        </p:txBody>
      </p:sp>
      <p:sp>
        <p:nvSpPr>
          <p:cNvPr id="9" name="Shape 6"/>
          <p:cNvSpPr/>
          <p:nvPr/>
        </p:nvSpPr>
        <p:spPr>
          <a:xfrm>
            <a:off x="566928" y="3082671"/>
            <a:ext cx="11057839" cy="1533906"/>
          </a:xfrm>
          <a:prstGeom prst="roundRect">
            <a:avLst>
              <a:gd name="adj" fmla="val 4769"/>
            </a:avLst>
          </a:prstGeom>
          <a:solidFill>
            <a:srgbClr val="FFFFFF"/>
          </a:solidFill>
          <a:ln w="12700">
            <a:solidFill>
              <a:srgbClr val="D5DBE5"/>
            </a:solidFill>
            <a:prstDash val="solid"/>
          </a:ln>
        </p:spPr>
      </p:sp>
      <p:sp>
        <p:nvSpPr>
          <p:cNvPr id="10" name="Shape 7"/>
          <p:cNvSpPr/>
          <p:nvPr/>
        </p:nvSpPr>
        <p:spPr>
          <a:xfrm>
            <a:off x="841248" y="3593592"/>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747211"/>
            <a:ext cx="204826" cy="204826"/>
          </a:xfrm>
          <a:prstGeom prst="rect">
            <a:avLst/>
          </a:prstGeom>
        </p:spPr>
      </p:pic>
      <p:sp>
        <p:nvSpPr>
          <p:cNvPr id="12" name="Text 8"/>
          <p:cNvSpPr/>
          <p:nvPr/>
        </p:nvSpPr>
        <p:spPr>
          <a:xfrm>
            <a:off x="1536192" y="340271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灰色：提示与唤起记忆</a:t>
            </a:r>
            <a:endParaRPr lang="en-US" sz="1650" dirty="0"/>
          </a:p>
        </p:txBody>
      </p:sp>
      <p:sp>
        <p:nvSpPr>
          <p:cNvPr id="13" name="Text 9"/>
          <p:cNvSpPr/>
          <p:nvPr/>
        </p:nvSpPr>
        <p:spPr>
          <a:xfrm>
            <a:off x="1536192" y="374408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向证人出示相关材料以唤起记忆，本身并不违法，但极易滑向暗示。稳妥做法是：先让证人自由陈述并记录，再出示材料，并将出示行为与前后陈述的变化如实记入笔录。</a:t>
            </a:r>
            <a:endParaRPr lang="en-US" sz="1500" dirty="0"/>
          </a:p>
        </p:txBody>
      </p:sp>
      <p:sp>
        <p:nvSpPr>
          <p:cNvPr id="14" name="Shape 10"/>
          <p:cNvSpPr/>
          <p:nvPr/>
        </p:nvSpPr>
        <p:spPr>
          <a:xfrm>
            <a:off x="566928" y="4762881"/>
            <a:ext cx="11057839" cy="1533906"/>
          </a:xfrm>
          <a:prstGeom prst="roundRect">
            <a:avLst>
              <a:gd name="adj" fmla="val 4769"/>
            </a:avLst>
          </a:prstGeom>
          <a:solidFill>
            <a:srgbClr val="F2F4F8"/>
          </a:solidFill>
          <a:ln w="12700">
            <a:solidFill>
              <a:srgbClr val="F2F4F8"/>
            </a:solidFill>
            <a:prstDash val="solid"/>
          </a:ln>
        </p:spPr>
      </p:sp>
      <p:sp>
        <p:nvSpPr>
          <p:cNvPr id="15" name="Shape 11"/>
          <p:cNvSpPr/>
          <p:nvPr/>
        </p:nvSpPr>
        <p:spPr>
          <a:xfrm>
            <a:off x="841248" y="5273802"/>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427421"/>
            <a:ext cx="204826" cy="204826"/>
          </a:xfrm>
          <a:prstGeom prst="rect">
            <a:avLst/>
          </a:prstGeom>
        </p:spPr>
      </p:pic>
      <p:sp>
        <p:nvSpPr>
          <p:cNvPr id="17" name="Text 12"/>
          <p:cNvSpPr/>
          <p:nvPr/>
        </p:nvSpPr>
        <p:spPr>
          <a:xfrm>
            <a:off x="1536192" y="5082921"/>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违法：威胁、引诱、指使</a:t>
            </a:r>
            <a:endParaRPr lang="en-US" sz="1650" dirty="0"/>
          </a:p>
        </p:txBody>
      </p:sp>
      <p:sp>
        <p:nvSpPr>
          <p:cNvPr id="18" name="Text 13"/>
          <p:cNvSpPr/>
          <p:nvPr/>
        </p:nvSpPr>
        <p:spPr>
          <a:xfrm>
            <a:off x="1536192" y="5424297"/>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以举报、曝光、诉讼相威胁；许诺金钱、就业、撤诉等利益；直接告知“你就说他当时不在场”。此类行为构成《刑法》第三百零六条的“威胁、引诱证人违背事实改变证言”，且不以证言实际改变为要件。</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14</a:t>
            </a:r>
            <a:endParaRPr lang="en-US" sz="11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5</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对媒体与公众的义务</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自媒体时代最需要建立的新习惯</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15</a:t>
            </a:r>
            <a:endParaRPr lang="en-US" sz="11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庭外言论</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可以说什么，不可以说什么</a:t>
            </a:r>
            <a:endParaRPr lang="en-US" sz="2800" dirty="0"/>
          </a:p>
        </p:txBody>
      </p:sp>
      <p:sp>
        <p:nvSpPr>
          <p:cNvPr id="4" name="Shape 2"/>
          <p:cNvSpPr/>
          <p:nvPr/>
        </p:nvSpPr>
        <p:spPr>
          <a:xfrm>
            <a:off x="566928" y="1799908"/>
            <a:ext cx="5410048" cy="4099433"/>
          </a:xfrm>
          <a:prstGeom prst="roundRect">
            <a:avLst>
              <a:gd name="adj" fmla="val 2231"/>
            </a:avLst>
          </a:prstGeom>
          <a:solidFill>
            <a:srgbClr val="F2F4F8"/>
          </a:solidFill>
          <a:ln w="12700">
            <a:solidFill>
              <a:srgbClr val="F2F4F8"/>
            </a:solidFill>
            <a:prstDash val="solid"/>
          </a:ln>
        </p:spPr>
      </p:sp>
      <p:sp>
        <p:nvSpPr>
          <p:cNvPr id="5" name="Shape 3"/>
          <p:cNvSpPr/>
          <p:nvPr/>
        </p:nvSpPr>
        <p:spPr>
          <a:xfrm>
            <a:off x="841248" y="2055940"/>
            <a:ext cx="4861408" cy="512064"/>
          </a:xfrm>
          <a:prstGeom prst="roundRect">
            <a:avLst>
              <a:gd name="adj" fmla="val 17857"/>
            </a:avLst>
          </a:prstGeom>
          <a:solidFill>
            <a:srgbClr val="13233F"/>
          </a:solidFill>
          <a:ln w="12700">
            <a:solidFill>
              <a:srgbClr val="13233F"/>
            </a:solidFill>
            <a:prstDash val="solid"/>
          </a:ln>
        </p:spPr>
      </p:sp>
      <p:sp>
        <p:nvSpPr>
          <p:cNvPr id="6" name="Text 4"/>
          <p:cNvSpPr/>
          <p:nvPr/>
        </p:nvSpPr>
        <p:spPr>
          <a:xfrm>
            <a:off x="841248" y="20559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通常允许</a:t>
            </a:r>
            <a:endParaRPr lang="en-US" sz="1600" dirty="0"/>
          </a:p>
        </p:txBody>
      </p:sp>
      <p:sp>
        <p:nvSpPr>
          <p:cNvPr id="7" name="Text 5"/>
          <p:cNvSpPr/>
          <p:nvPr/>
        </p:nvSpPr>
        <p:spPr>
          <a:xfrm>
            <a:off x="932688" y="2714308"/>
            <a:ext cx="4678528" cy="29472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陈述已经公开的程序性信息：立案、开庭时间、判决结果。</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就已生效裁判发表专业评论，或者就抽象法律问题进行普法。</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在委托人授权的范围内，代其发表声明澄清不实报道。</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前提：真实、准确、必要，且不损害委托人利益与司法公正。</a:t>
            </a:r>
            <a:endParaRPr lang="en-US" sz="1450" dirty="0"/>
          </a:p>
        </p:txBody>
      </p:sp>
      <p:sp>
        <p:nvSpPr>
          <p:cNvPr id="8" name="Shape 6"/>
          <p:cNvSpPr/>
          <p:nvPr/>
        </p:nvSpPr>
        <p:spPr>
          <a:xfrm>
            <a:off x="6214720" y="1799908"/>
            <a:ext cx="5410048" cy="4099433"/>
          </a:xfrm>
          <a:prstGeom prst="roundRect">
            <a:avLst>
              <a:gd name="adj" fmla="val 2231"/>
            </a:avLst>
          </a:prstGeom>
          <a:solidFill>
            <a:srgbClr val="F6F1E8"/>
          </a:solidFill>
          <a:ln w="12700">
            <a:solidFill>
              <a:srgbClr val="F6F1E8"/>
            </a:solidFill>
            <a:prstDash val="solid"/>
          </a:ln>
        </p:spPr>
      </p:sp>
      <p:sp>
        <p:nvSpPr>
          <p:cNvPr id="9" name="Shape 7"/>
          <p:cNvSpPr/>
          <p:nvPr/>
        </p:nvSpPr>
        <p:spPr>
          <a:xfrm>
            <a:off x="6489040" y="2055940"/>
            <a:ext cx="4861408" cy="512064"/>
          </a:xfrm>
          <a:prstGeom prst="roundRect">
            <a:avLst>
              <a:gd name="adj" fmla="val 17857"/>
            </a:avLst>
          </a:prstGeom>
          <a:solidFill>
            <a:srgbClr val="B08D57"/>
          </a:solidFill>
          <a:ln w="12700">
            <a:solidFill>
              <a:srgbClr val="B08D57"/>
            </a:solidFill>
            <a:prstDash val="solid"/>
          </a:ln>
        </p:spPr>
      </p:sp>
      <p:sp>
        <p:nvSpPr>
          <p:cNvPr id="10" name="Text 8"/>
          <p:cNvSpPr/>
          <p:nvPr/>
        </p:nvSpPr>
        <p:spPr>
          <a:xfrm>
            <a:off x="6489040" y="2055940"/>
            <a:ext cx="4861408"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微软雅黑" pitchFamily="34" charset="0"/>
                <a:ea typeface="微软雅黑" pitchFamily="34" charset="-122"/>
                <a:cs typeface="微软雅黑" pitchFamily="34" charset="-120"/>
              </a:rPr>
              <a:t>应当避免或者禁止</a:t>
            </a:r>
            <a:endParaRPr lang="en-US" sz="1600" dirty="0"/>
          </a:p>
        </p:txBody>
      </p:sp>
      <p:sp>
        <p:nvSpPr>
          <p:cNvPr id="11" name="Text 9"/>
          <p:cNvSpPr/>
          <p:nvPr/>
        </p:nvSpPr>
        <p:spPr>
          <a:xfrm>
            <a:off x="6580480" y="2714308"/>
            <a:ext cx="4678528" cy="2947289"/>
          </a:xfrm>
          <a:prstGeom prst="rect">
            <a:avLst/>
          </a:prstGeom>
          <a:noFill/>
          <a:ln/>
        </p:spPr>
        <p:txBody>
          <a:bodyPr wrap="square" lIns="0" tIns="0" rIns="0" bIns="0" rtlCol="0" anchor="t"/>
          <a:lstStyle/>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披露保密信息、当事人隐私、未公开的证据材料与卷宗内容。</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对未决案件发表结论性评论，或者以舆论向办案机关施压。</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发表可能影响证人、鉴定人作证的言论；渲染对立情绪。</a:t>
            </a:r>
            <a:endParaRPr lang="en-US" sz="1450" dirty="0"/>
          </a:p>
          <a:p>
            <a:pPr marL="203200" indent="-203200">
              <a:lnSpc>
                <a:spcPts val="2175"/>
              </a:lnSpc>
              <a:spcAft>
                <a:spcPts val="800"/>
              </a:spcAft>
              <a:buSzPct val="100000"/>
              <a:buChar char="■"/>
            </a:pPr>
            <a:r>
              <a:rPr lang="en-US" sz="1450" dirty="0">
                <a:solidFill>
                  <a:srgbClr val="32404F"/>
                </a:solidFill>
                <a:latin typeface="微软雅黑" pitchFamily="34" charset="0"/>
                <a:ea typeface="微软雅黑" pitchFamily="34" charset="-122"/>
                <a:cs typeface="微软雅黑" pitchFamily="34" charset="-120"/>
              </a:rPr>
              <a:t>注意：《律师法》第三十七条的言论豁免仅限于“在法庭上发表的代理、辩护意见”，庭外言论不在豁免范围。</a:t>
            </a:r>
            <a:endParaRPr lang="en-US" sz="1450" dirty="0"/>
          </a:p>
        </p:txBody>
      </p:sp>
      <p:sp>
        <p:nvSpPr>
          <p:cNvPr id="12" name="Text 10"/>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16</a:t>
            </a:r>
            <a:endParaRPr lang="en-US" sz="11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判断框架</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庭外言论的四问框架</a:t>
            </a:r>
            <a:endParaRPr lang="en-US" sz="2800" dirty="0"/>
          </a:p>
        </p:txBody>
      </p:sp>
      <p:sp>
        <p:nvSpPr>
          <p:cNvPr id="4" name="Shape 2"/>
          <p:cNvSpPr/>
          <p:nvPr/>
        </p:nvSpPr>
        <p:spPr>
          <a:xfrm>
            <a:off x="566928" y="1316736"/>
            <a:ext cx="11057839" cy="5065776"/>
          </a:xfrm>
          <a:prstGeom prst="roundRect">
            <a:avLst>
              <a:gd name="adj" fmla="val 1805"/>
            </a:avLst>
          </a:prstGeom>
          <a:solidFill>
            <a:srgbClr val="F2F4F8"/>
          </a:solidFill>
          <a:ln w="12700">
            <a:solidFill>
              <a:srgbClr val="F2F4F8"/>
            </a:solidFill>
            <a:prstDash val="solid"/>
          </a:ln>
        </p:spPr>
      </p:sp>
      <p:pic>
        <p:nvPicPr>
          <p:cNvPr id="5" name="Image 0" descr="preencoded.png">    </p:cNvPr>
          <p:cNvPicPr>
            <a:picLocks noChangeAspect="1"/>
          </p:cNvPicPr>
          <p:nvPr/>
        </p:nvPicPr>
        <p:blipFill>
          <a:blip r:embed="rId1">
            <a:alphaModFix amt="6000"/>
          </a:blip>
          <a:stretch>
            <a:fillRect/>
          </a:stretch>
        </p:blipFill>
        <p:spPr>
          <a:xfrm>
            <a:off x="9658807" y="4507992"/>
            <a:ext cx="1554480" cy="1554480"/>
          </a:xfrm>
          <a:prstGeom prst="rect">
            <a:avLst/>
          </a:prstGeom>
        </p:spPr>
      </p:pic>
      <p:sp>
        <p:nvSpPr>
          <p:cNvPr id="6" name="Text 3"/>
          <p:cNvSpPr/>
          <p:nvPr/>
        </p:nvSpPr>
        <p:spPr>
          <a:xfrm>
            <a:off x="1069848" y="1645920"/>
            <a:ext cx="10051999" cy="314325"/>
          </a:xfrm>
          <a:prstGeom prst="rect">
            <a:avLst/>
          </a:prstGeom>
          <a:noFill/>
          <a:ln/>
        </p:spPr>
        <p:txBody>
          <a:bodyPr wrap="square" lIns="0" tIns="0" rIns="0" bIns="0" rtlCol="0" anchor="t"/>
          <a:lstStyle/>
          <a:p>
            <a:pPr indent="0" marL="0">
              <a:lnSpc>
                <a:spcPts val="2475"/>
              </a:lnSpc>
              <a:buNone/>
            </a:pPr>
            <a:r>
              <a:rPr lang="en-US" sz="1650" b="1" dirty="0">
                <a:solidFill>
                  <a:srgbClr val="13233F"/>
                </a:solidFill>
                <a:latin typeface="微软雅黑" pitchFamily="34" charset="0"/>
                <a:ea typeface="微软雅黑" pitchFamily="34" charset="-122"/>
                <a:cs typeface="微软雅黑" pitchFamily="34" charset="-120"/>
              </a:rPr>
              <a:t>遇到“要不要发声”的问题时，请依次问自己四个问题。</a:t>
            </a:r>
            <a:endParaRPr lang="en-US" sz="1650" dirty="0"/>
          </a:p>
        </p:txBody>
      </p:sp>
      <p:sp>
        <p:nvSpPr>
          <p:cNvPr id="7" name="Text 4"/>
          <p:cNvSpPr/>
          <p:nvPr/>
        </p:nvSpPr>
        <p:spPr>
          <a:xfrm>
            <a:off x="1069848" y="2216277"/>
            <a:ext cx="10051999" cy="3855339"/>
          </a:xfrm>
          <a:prstGeom prst="rect">
            <a:avLst/>
          </a:prstGeom>
          <a:noFill/>
          <a:ln/>
        </p:spPr>
        <p:txBody>
          <a:bodyPr wrap="square" lIns="0" tIns="0" rIns="0" bIns="0" rtlCol="0" anchor="t"/>
          <a:lstStyle/>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一问目的：我发声是为了维护委托人的合法权益，还是为了扩大个人影响、承揽业务？后者应当止步。</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二问必要：不发声是否会使委托人受到实质损害？若诉讼程序内的救济足以解决，应当优先使用程序内手段。</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三问授权：委托人是否知情并同意？涉及其隐私、商业秘密或者可能影响其社会评价的，必须取得明确授权。</a:t>
            </a:r>
            <a:endParaRPr lang="en-US" sz="1600" dirty="0"/>
          </a:p>
          <a:p>
            <a:pPr marL="228600" indent="-228600">
              <a:lnSpc>
                <a:spcPts val="2400"/>
              </a:lnSpc>
              <a:spcAft>
                <a:spcPts val="800"/>
              </a:spcAft>
              <a:buSzPct val="100000"/>
              <a:buChar char="■"/>
            </a:pPr>
            <a:r>
              <a:rPr lang="en-US" sz="1600" dirty="0">
                <a:solidFill>
                  <a:srgbClr val="32404F"/>
                </a:solidFill>
                <a:latin typeface="微软雅黑" pitchFamily="34" charset="0"/>
                <a:ea typeface="微软雅黑" pitchFamily="34" charset="-122"/>
                <a:cs typeface="微软雅黑" pitchFamily="34" charset="-120"/>
              </a:rPr>
              <a:t>四问后果：这段言论会不会影响证人、影响裁判者、影响未来的执行？会不会在案件反转时使委托人陷入更不利的境地？</a:t>
            </a:r>
            <a:endParaRPr lang="en-US" sz="1600" dirty="0"/>
          </a:p>
          <a:p>
            <a:pPr marL="228600" indent="-228600">
              <a:lnSpc>
                <a:spcPts val="2400"/>
              </a:lnSpc>
              <a:spcAft>
                <a:spcPts val="800"/>
              </a:spcAft>
              <a:buSzPct val="100000"/>
              <a:buChar char="■"/>
            </a:pPr>
            <a:r>
              <a:rPr lang="en-US" sz="1600" b="1" dirty="0">
                <a:solidFill>
                  <a:srgbClr val="32404F"/>
                </a:solidFill>
                <a:latin typeface="微软雅黑" pitchFamily="34" charset="0"/>
                <a:ea typeface="微软雅黑" pitchFamily="34" charset="-122"/>
                <a:cs typeface="微软雅黑" pitchFamily="34" charset="-120"/>
              </a:rPr>
              <a:t>请记住一个反直觉的经验：在多数案件中，律师保持沉默对委托人更有利。发声的冲动，往往来自律师自己而非当事人。</a:t>
            </a:r>
            <a:endParaRPr lang="en-US" sz="1600" dirty="0"/>
          </a:p>
        </p:txBody>
      </p:sp>
      <p:sp>
        <p:nvSpPr>
          <p:cNvPr id="8" name="Text 5"/>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17</a:t>
            </a:r>
            <a:endParaRPr lang="en-US" sz="11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66928" y="2468880"/>
            <a:ext cx="1920240" cy="1920240"/>
          </a:xfrm>
          <a:prstGeom prst="ellipse">
            <a:avLst/>
          </a:prstGeom>
          <a:solidFill>
            <a:srgbClr val="13233F"/>
          </a:solidFill>
          <a:ln w="12700">
            <a:solidFill>
              <a:srgbClr val="13233F"/>
            </a:solidFill>
            <a:prstDash val="solid"/>
          </a:ln>
        </p:spPr>
      </p:sp>
      <p:sp>
        <p:nvSpPr>
          <p:cNvPr id="3" name="Text 1"/>
          <p:cNvSpPr/>
          <p:nvPr/>
        </p:nvSpPr>
        <p:spPr>
          <a:xfrm>
            <a:off x="566928" y="2468880"/>
            <a:ext cx="1920240" cy="1920240"/>
          </a:xfrm>
          <a:prstGeom prst="rect">
            <a:avLst/>
          </a:prstGeom>
          <a:noFill/>
          <a:ln/>
        </p:spPr>
        <p:txBody>
          <a:bodyPr wrap="square" lIns="0" tIns="0" rIns="0" bIns="0" rtlCol="0" anchor="ctr"/>
          <a:lstStyle/>
          <a:p>
            <a:pPr algn="ctr" indent="0" marL="0">
              <a:buNone/>
            </a:pPr>
            <a:r>
              <a:rPr lang="en-US" sz="6200" b="1" dirty="0">
                <a:solidFill>
                  <a:srgbClr val="B08D57"/>
                </a:solidFill>
                <a:latin typeface="Arial" pitchFamily="34" charset="0"/>
                <a:ea typeface="Arial" pitchFamily="34" charset="-122"/>
                <a:cs typeface="Arial" pitchFamily="34" charset="-120"/>
              </a:rPr>
              <a:t>6</a:t>
            </a:r>
            <a:endParaRPr lang="en-US" sz="6200" dirty="0"/>
          </a:p>
        </p:txBody>
      </p:sp>
      <p:sp>
        <p:nvSpPr>
          <p:cNvPr id="4" name="Text 2"/>
          <p:cNvSpPr/>
          <p:nvPr/>
        </p:nvSpPr>
        <p:spPr>
          <a:xfrm>
            <a:off x="2898648" y="2902077"/>
            <a:ext cx="8726119" cy="548640"/>
          </a:xfrm>
          <a:prstGeom prst="rect">
            <a:avLst/>
          </a:prstGeom>
          <a:noFill/>
          <a:ln/>
        </p:spPr>
        <p:txBody>
          <a:bodyPr wrap="square" lIns="0" tIns="0" rIns="0" bIns="0" rtlCol="0" anchor="t"/>
          <a:lstStyle/>
          <a:p>
            <a:pPr indent="0" marL="0">
              <a:buNone/>
            </a:pPr>
            <a:r>
              <a:rPr lang="en-US" sz="3600" b="1" dirty="0">
                <a:solidFill>
                  <a:srgbClr val="1B2430"/>
                </a:solidFill>
                <a:latin typeface="微软雅黑" pitchFamily="34" charset="0"/>
                <a:ea typeface="微软雅黑" pitchFamily="34" charset="-122"/>
                <a:cs typeface="微软雅黑" pitchFamily="34" charset="-120"/>
              </a:rPr>
              <a:t>刑事辩护的特殊难题</a:t>
            </a:r>
            <a:endParaRPr lang="en-US" sz="3600" dirty="0"/>
          </a:p>
        </p:txBody>
      </p:sp>
      <p:sp>
        <p:nvSpPr>
          <p:cNvPr id="5" name="Text 3"/>
          <p:cNvSpPr/>
          <p:nvPr/>
        </p:nvSpPr>
        <p:spPr>
          <a:xfrm>
            <a:off x="2916936" y="3633597"/>
            <a:ext cx="8726119" cy="285750"/>
          </a:xfrm>
          <a:prstGeom prst="rect">
            <a:avLst/>
          </a:prstGeom>
          <a:noFill/>
          <a:ln/>
        </p:spPr>
        <p:txBody>
          <a:bodyPr wrap="square" lIns="0" tIns="0" rIns="0" bIns="0" rtlCol="0" anchor="t"/>
          <a:lstStyle/>
          <a:p>
            <a:pPr indent="0" marL="0">
              <a:lnSpc>
                <a:spcPts val="2300"/>
              </a:lnSpc>
              <a:buNone/>
            </a:pPr>
            <a:r>
              <a:rPr lang="en-US" sz="1500" dirty="0">
                <a:solidFill>
                  <a:srgbClr val="6B7684"/>
                </a:solidFill>
                <a:latin typeface="微软雅黑" pitchFamily="34" charset="0"/>
                <a:ea typeface="微软雅黑" pitchFamily="34" charset="-122"/>
                <a:cs typeface="微软雅黑" pitchFamily="34" charset="-120"/>
              </a:rPr>
              <a:t>三个没有标准答案、但必须有立场的问题</a:t>
            </a:r>
            <a:endParaRPr lang="en-US" sz="1500" dirty="0"/>
          </a:p>
        </p:txBody>
      </p:sp>
      <p:sp>
        <p:nvSpPr>
          <p:cNvPr id="6" name="Text 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18</a:t>
            </a:r>
            <a:endParaRPr lang="en-US" sz="11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三个难题</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刑辩伦理中最经典的三个争议</a:t>
            </a:r>
            <a:endParaRPr lang="en-US" sz="2800" dirty="0"/>
          </a:p>
        </p:txBody>
      </p:sp>
      <p:sp>
        <p:nvSpPr>
          <p:cNvPr id="4" name="Shape 2"/>
          <p:cNvSpPr/>
          <p:nvPr/>
        </p:nvSpPr>
        <p:spPr>
          <a:xfrm>
            <a:off x="566928" y="1316736"/>
            <a:ext cx="11057839" cy="1775206"/>
          </a:xfrm>
          <a:prstGeom prst="roundRect">
            <a:avLst>
              <a:gd name="adj" fmla="val 4121"/>
            </a:avLst>
          </a:prstGeom>
          <a:solidFill>
            <a:srgbClr val="F2F4F8"/>
          </a:solidFill>
          <a:ln w="12700">
            <a:solidFill>
              <a:srgbClr val="F2F4F8"/>
            </a:solidFill>
            <a:prstDash val="solid"/>
          </a:ln>
        </p:spPr>
      </p:sp>
      <p:sp>
        <p:nvSpPr>
          <p:cNvPr id="5" name="Shape 3"/>
          <p:cNvSpPr/>
          <p:nvPr/>
        </p:nvSpPr>
        <p:spPr>
          <a:xfrm>
            <a:off x="841248" y="1948307"/>
            <a:ext cx="512064" cy="512064"/>
          </a:xfrm>
          <a:prstGeom prst="ellipse">
            <a:avLst/>
          </a:prstGeom>
          <a:solidFill>
            <a:srgbClr val="13233F"/>
          </a:solidFill>
          <a:ln w="12700">
            <a:solidFill>
              <a:srgbClr val="13233F"/>
            </a:solidFill>
            <a:prstDash val="solid"/>
          </a:ln>
        </p:spPr>
      </p:sp>
      <p:pic>
        <p:nvPicPr>
          <p:cNvPr id="6" name="Image 0" descr="preencoded.png">    </p:cNvPr>
          <p:cNvPicPr>
            <a:picLocks noChangeAspect="1"/>
          </p:cNvPicPr>
          <p:nvPr/>
        </p:nvPicPr>
        <p:blipFill>
          <a:blip r:embed="rId1"/>
          <a:stretch>
            <a:fillRect/>
          </a:stretch>
        </p:blipFill>
        <p:spPr>
          <a:xfrm>
            <a:off x="994867" y="2101926"/>
            <a:ext cx="204826" cy="204826"/>
          </a:xfrm>
          <a:prstGeom prst="rect">
            <a:avLst/>
          </a:prstGeom>
        </p:spPr>
      </p:pic>
      <p:sp>
        <p:nvSpPr>
          <p:cNvPr id="7" name="Text 4"/>
          <p:cNvSpPr/>
          <p:nvPr/>
        </p:nvSpPr>
        <p:spPr>
          <a:xfrm>
            <a:off x="1536192" y="1619314"/>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一、被告人认罪，律师能否作无罪辩护？</a:t>
            </a:r>
            <a:endParaRPr lang="en-US" sz="1650" dirty="0"/>
          </a:p>
        </p:txBody>
      </p:sp>
      <p:sp>
        <p:nvSpPr>
          <p:cNvPr id="8" name="Text 5"/>
          <p:cNvSpPr/>
          <p:nvPr/>
        </p:nvSpPr>
        <p:spPr>
          <a:xfrm>
            <a:off x="1536192" y="1960690"/>
            <a:ext cx="9832543" cy="828675"/>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这是“独立辩护权”之争。一种观点认为辩护人依据事实与法律独立发表意见，可以作无罪辩护；另一种观点认为辩护权源于被追诉人，重大辩护方向应当尊重其本人意愿。折中且较为稳妥的做法是：充分沟通并说明利弊；分歧无法弥合的，可以就证据不足提出质疑而不作与被告人陈述直接矛盾的事实主张，或者依法解除委托。</a:t>
            </a:r>
            <a:endParaRPr lang="en-US" sz="1500" dirty="0"/>
          </a:p>
        </p:txBody>
      </p:sp>
      <p:sp>
        <p:nvSpPr>
          <p:cNvPr id="9" name="Shape 6"/>
          <p:cNvSpPr/>
          <p:nvPr/>
        </p:nvSpPr>
        <p:spPr>
          <a:xfrm>
            <a:off x="566928" y="3238246"/>
            <a:ext cx="11057839" cy="1498981"/>
          </a:xfrm>
          <a:prstGeom prst="roundRect">
            <a:avLst>
              <a:gd name="adj" fmla="val 4880"/>
            </a:avLst>
          </a:prstGeom>
          <a:solidFill>
            <a:srgbClr val="FFFFFF"/>
          </a:solidFill>
          <a:ln w="12700">
            <a:solidFill>
              <a:srgbClr val="D5DBE5"/>
            </a:solidFill>
            <a:prstDash val="solid"/>
          </a:ln>
        </p:spPr>
      </p:sp>
      <p:sp>
        <p:nvSpPr>
          <p:cNvPr id="10" name="Shape 7"/>
          <p:cNvSpPr/>
          <p:nvPr/>
        </p:nvSpPr>
        <p:spPr>
          <a:xfrm>
            <a:off x="841248" y="3731705"/>
            <a:ext cx="512064" cy="512064"/>
          </a:xfrm>
          <a:prstGeom prst="ellipse">
            <a:avLst/>
          </a:prstGeom>
          <a:solidFill>
            <a:srgbClr val="13233F"/>
          </a:solidFill>
          <a:ln w="12700">
            <a:solidFill>
              <a:srgbClr val="13233F"/>
            </a:solidFill>
            <a:prstDash val="solid"/>
          </a:ln>
        </p:spPr>
      </p:sp>
      <p:pic>
        <p:nvPicPr>
          <p:cNvPr id="11" name="Image 1" descr="preencoded.png">    </p:cNvPr>
          <p:cNvPicPr>
            <a:picLocks noChangeAspect="1"/>
          </p:cNvPicPr>
          <p:nvPr/>
        </p:nvPicPr>
        <p:blipFill>
          <a:blip r:embed="rId2"/>
          <a:stretch>
            <a:fillRect/>
          </a:stretch>
        </p:blipFill>
        <p:spPr>
          <a:xfrm>
            <a:off x="994867" y="3885324"/>
            <a:ext cx="204826" cy="204826"/>
          </a:xfrm>
          <a:prstGeom prst="rect">
            <a:avLst/>
          </a:prstGeom>
        </p:spPr>
      </p:pic>
      <p:sp>
        <p:nvSpPr>
          <p:cNvPr id="12" name="Text 8"/>
          <p:cNvSpPr/>
          <p:nvPr/>
        </p:nvSpPr>
        <p:spPr>
          <a:xfrm>
            <a:off x="1536192" y="3540824"/>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二、当事人当庭翻供，律师怎么办？</a:t>
            </a:r>
            <a:endParaRPr lang="en-US" sz="1650" dirty="0"/>
          </a:p>
        </p:txBody>
      </p:sp>
      <p:sp>
        <p:nvSpPr>
          <p:cNvPr id="13" name="Text 9"/>
          <p:cNvSpPr/>
          <p:nvPr/>
        </p:nvSpPr>
        <p:spPr>
          <a:xfrm>
            <a:off x="1536192" y="3882200"/>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律师不得就自己明知虚假的事实进行论证，但也不得当庭揭发委托人。可行路径：请求休庭与当事人核实；转而围绕控方证据是否达到证明标准展开辩护；情节严重且无法调和的，依《律师法》第三十二条第二款处理。</a:t>
            </a:r>
            <a:endParaRPr lang="en-US" sz="1500" dirty="0"/>
          </a:p>
        </p:txBody>
      </p:sp>
      <p:sp>
        <p:nvSpPr>
          <p:cNvPr id="14" name="Shape 10"/>
          <p:cNvSpPr/>
          <p:nvPr/>
        </p:nvSpPr>
        <p:spPr>
          <a:xfrm>
            <a:off x="566928" y="4883531"/>
            <a:ext cx="11057839" cy="1498981"/>
          </a:xfrm>
          <a:prstGeom prst="roundRect">
            <a:avLst>
              <a:gd name="adj" fmla="val 4880"/>
            </a:avLst>
          </a:prstGeom>
          <a:solidFill>
            <a:srgbClr val="F2F4F8"/>
          </a:solidFill>
          <a:ln w="12700">
            <a:solidFill>
              <a:srgbClr val="F2F4F8"/>
            </a:solidFill>
            <a:prstDash val="solid"/>
          </a:ln>
        </p:spPr>
      </p:sp>
      <p:sp>
        <p:nvSpPr>
          <p:cNvPr id="15" name="Shape 11"/>
          <p:cNvSpPr/>
          <p:nvPr/>
        </p:nvSpPr>
        <p:spPr>
          <a:xfrm>
            <a:off x="841248" y="5376990"/>
            <a:ext cx="512064" cy="512064"/>
          </a:xfrm>
          <a:prstGeom prst="ellipse">
            <a:avLst/>
          </a:prstGeom>
          <a:solidFill>
            <a:srgbClr val="13233F"/>
          </a:solidFill>
          <a:ln w="12700">
            <a:solidFill>
              <a:srgbClr val="13233F"/>
            </a:solidFill>
            <a:prstDash val="solid"/>
          </a:ln>
        </p:spPr>
      </p:sp>
      <p:pic>
        <p:nvPicPr>
          <p:cNvPr id="16" name="Image 2" descr="preencoded.png">    </p:cNvPr>
          <p:cNvPicPr>
            <a:picLocks noChangeAspect="1"/>
          </p:cNvPicPr>
          <p:nvPr/>
        </p:nvPicPr>
        <p:blipFill>
          <a:blip r:embed="rId3"/>
          <a:stretch>
            <a:fillRect/>
          </a:stretch>
        </p:blipFill>
        <p:spPr>
          <a:xfrm>
            <a:off x="994867" y="5530609"/>
            <a:ext cx="204826" cy="204826"/>
          </a:xfrm>
          <a:prstGeom prst="rect">
            <a:avLst/>
          </a:prstGeom>
        </p:spPr>
      </p:pic>
      <p:sp>
        <p:nvSpPr>
          <p:cNvPr id="17" name="Text 12"/>
          <p:cNvSpPr/>
          <p:nvPr/>
        </p:nvSpPr>
        <p:spPr>
          <a:xfrm>
            <a:off x="1536192" y="5186109"/>
            <a:ext cx="9832543" cy="268224"/>
          </a:xfrm>
          <a:prstGeom prst="rect">
            <a:avLst/>
          </a:prstGeom>
          <a:noFill/>
          <a:ln/>
        </p:spPr>
        <p:txBody>
          <a:bodyPr wrap="square" lIns="0" tIns="0" rIns="0" bIns="0" rtlCol="0" anchor="t"/>
          <a:lstStyle/>
          <a:p>
            <a:pPr indent="0" marL="0">
              <a:lnSpc>
                <a:spcPts val="2112"/>
              </a:lnSpc>
              <a:buNone/>
            </a:pPr>
            <a:r>
              <a:rPr lang="en-US" sz="1650" b="1" dirty="0">
                <a:solidFill>
                  <a:srgbClr val="13233F"/>
                </a:solidFill>
                <a:latin typeface="微软雅黑" pitchFamily="34" charset="0"/>
                <a:ea typeface="微软雅黑" pitchFamily="34" charset="-122"/>
                <a:cs typeface="微软雅黑" pitchFamily="34" charset="-120"/>
              </a:rPr>
              <a:t>三、会见中的告知边界</a:t>
            </a:r>
            <a:endParaRPr lang="en-US" sz="1650" dirty="0"/>
          </a:p>
        </p:txBody>
      </p:sp>
      <p:sp>
        <p:nvSpPr>
          <p:cNvPr id="18" name="Text 13"/>
          <p:cNvSpPr/>
          <p:nvPr/>
        </p:nvSpPr>
        <p:spPr>
          <a:xfrm>
            <a:off x="1536192" y="5527485"/>
            <a:ext cx="9832543" cy="552450"/>
          </a:xfrm>
          <a:prstGeom prst="rect">
            <a:avLst/>
          </a:prstGeom>
          <a:noFill/>
          <a:ln/>
        </p:spPr>
        <p:txBody>
          <a:bodyPr wrap="square" lIns="0" tIns="0" rIns="0" bIns="0" rtlCol="0" anchor="t"/>
          <a:lstStyle/>
          <a:p>
            <a:pPr indent="0" marL="0">
              <a:lnSpc>
                <a:spcPts val="2175"/>
              </a:lnSpc>
              <a:buNone/>
            </a:pPr>
            <a:r>
              <a:rPr lang="en-US" sz="1500" dirty="0">
                <a:solidFill>
                  <a:srgbClr val="32404F"/>
                </a:solidFill>
                <a:latin typeface="微软雅黑" pitchFamily="34" charset="0"/>
                <a:ea typeface="微软雅黑" pitchFamily="34" charset="-122"/>
                <a:cs typeface="微软雅黑" pitchFamily="34" charset="-120"/>
              </a:rPr>
              <a:t>律师可以告知案件进展、法律规定、量刑幅度、认罪认罚的后果，帮助其理解处境并作出选择；不得传递串供信息、不得转达同案犯的口供内容、不得帮助其编造辩解。核心区分：提供法律帮助与妨害刑事诉讼。</a:t>
            </a:r>
            <a:endParaRPr lang="en-US" sz="1500" dirty="0"/>
          </a:p>
        </p:txBody>
      </p:sp>
      <p:sp>
        <p:nvSpPr>
          <p:cNvPr id="19" name="Text 14"/>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19</a:t>
            </a:r>
            <a:endParaRPr lang="en-US" sz="11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案例研讨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四种情形，四条界线</a:t>
            </a:r>
            <a:endParaRPr lang="en-US" sz="2800" dirty="0"/>
          </a:p>
        </p:txBody>
      </p:sp>
      <p:sp>
        <p:nvSpPr>
          <p:cNvPr id="4" name="Shape 2"/>
          <p:cNvSpPr/>
          <p:nvPr/>
        </p:nvSpPr>
        <p:spPr>
          <a:xfrm>
            <a:off x="566928" y="1316736"/>
            <a:ext cx="6842455" cy="5065776"/>
          </a:xfrm>
          <a:prstGeom prst="roundRect">
            <a:avLst>
              <a:gd name="adj" fmla="val 1805"/>
            </a:avLst>
          </a:prstGeom>
          <a:solidFill>
            <a:srgbClr val="F8EFF0"/>
          </a:solidFill>
          <a:ln w="12700">
            <a:solidFill>
              <a:srgbClr val="F8EFF0"/>
            </a:solidFill>
            <a:prstDash val="solid"/>
          </a:ln>
        </p:spPr>
      </p:sp>
      <p:sp>
        <p:nvSpPr>
          <p:cNvPr id="5" name="Shape 3"/>
          <p:cNvSpPr/>
          <p:nvPr/>
        </p:nvSpPr>
        <p:spPr>
          <a:xfrm>
            <a:off x="877824" y="1572768"/>
            <a:ext cx="694944" cy="274320"/>
          </a:xfrm>
          <a:prstGeom prst="roundRect">
            <a:avLst>
              <a:gd name="adj" fmla="val 50000"/>
            </a:avLst>
          </a:prstGeom>
          <a:solidFill>
            <a:srgbClr val="8E2C3B"/>
          </a:solidFill>
          <a:ln w="12700">
            <a:solidFill>
              <a:srgbClr val="8E2C3B"/>
            </a:solidFill>
            <a:prstDash val="solid"/>
          </a:ln>
        </p:spPr>
      </p:sp>
      <p:sp>
        <p:nvSpPr>
          <p:cNvPr id="6" name="Text 4"/>
          <p:cNvSpPr/>
          <p:nvPr/>
        </p:nvSpPr>
        <p:spPr>
          <a:xfrm>
            <a:off x="877824" y="1572768"/>
            <a:ext cx="69494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微软雅黑" pitchFamily="34" charset="0"/>
                <a:ea typeface="微软雅黑" pitchFamily="34" charset="-122"/>
                <a:cs typeface="微软雅黑" pitchFamily="34" charset="-120"/>
              </a:rPr>
              <a:t>边界辨析</a:t>
            </a:r>
            <a:endParaRPr lang="en-US" sz="1050" dirty="0"/>
          </a:p>
        </p:txBody>
      </p:sp>
      <p:sp>
        <p:nvSpPr>
          <p:cNvPr id="7" name="Text 5"/>
          <p:cNvSpPr/>
          <p:nvPr/>
        </p:nvSpPr>
        <p:spPr>
          <a:xfrm>
            <a:off x="1682496" y="1554480"/>
            <a:ext cx="5397703" cy="329184"/>
          </a:xfrm>
          <a:prstGeom prst="rect">
            <a:avLst/>
          </a:prstGeom>
          <a:noFill/>
          <a:ln/>
        </p:spPr>
        <p:txBody>
          <a:bodyPr wrap="square" lIns="0" tIns="0" rIns="0" bIns="0" rtlCol="0" anchor="ctr"/>
          <a:lstStyle/>
          <a:p>
            <a:pPr indent="0" marL="0">
              <a:buNone/>
            </a:pPr>
            <a:r>
              <a:rPr lang="en-US" sz="1550" b="1" dirty="0">
                <a:solidFill>
                  <a:srgbClr val="8E2C3B"/>
                </a:solidFill>
                <a:latin typeface="微软雅黑" pitchFamily="34" charset="0"/>
                <a:ea typeface="微软雅黑" pitchFamily="34" charset="-122"/>
                <a:cs typeface="微软雅黑" pitchFamily="34" charset="-120"/>
              </a:rPr>
              <a:t>消极辩护与积极造假的分界</a:t>
            </a:r>
            <a:endParaRPr lang="en-US" sz="1550" dirty="0"/>
          </a:p>
        </p:txBody>
      </p:sp>
      <p:sp>
        <p:nvSpPr>
          <p:cNvPr id="8" name="Text 6"/>
          <p:cNvSpPr/>
          <p:nvPr/>
        </p:nvSpPr>
        <p:spPr>
          <a:xfrm>
            <a:off x="960120" y="2029968"/>
            <a:ext cx="6056071" cy="4059936"/>
          </a:xfrm>
          <a:prstGeom prst="rect">
            <a:avLst/>
          </a:prstGeom>
          <a:noFill/>
          <a:ln/>
        </p:spPr>
        <p:txBody>
          <a:bodyPr wrap="square" lIns="0" tIns="0" rIns="0" bIns="0" rtlCol="0" anchor="t"/>
          <a:lstStyle/>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情形一：被告人向律师承认作案，律师在法庭上主张“控方提供的现场指纹鉴定程序违法，不能作为定案依据”。</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情形二：同上，律师在法庭上主张“我的当事人案发当晚在外地，有人可以证明”，而律师明知这不是事实。</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情形三：律师会见时告知被告人“同案的另一人已经供述你参与了策划”，被告人随即改变了此前的供述。</a:t>
            </a:r>
            <a:endParaRPr lang="en-US" sz="1500" dirty="0"/>
          </a:p>
          <a:p>
            <a:pPr indent="0" marL="0">
              <a:lnSpc>
                <a:spcPts val="2280"/>
              </a:lnSpc>
              <a:spcAft>
                <a:spcPts val="800"/>
              </a:spcAft>
              <a:buNone/>
            </a:pPr>
            <a:r>
              <a:rPr lang="en-US" sz="1500" dirty="0">
                <a:solidFill>
                  <a:srgbClr val="32404F"/>
                </a:solidFill>
                <a:latin typeface="微软雅黑" pitchFamily="34" charset="0"/>
                <a:ea typeface="微软雅黑" pitchFamily="34" charset="-122"/>
                <a:cs typeface="微软雅黑" pitchFamily="34" charset="-120"/>
              </a:rPr>
              <a:t>情形四：律师发现委托人提交的一份合同复印件系伪造，此前已随起诉状提交法院。</a:t>
            </a:r>
            <a:endParaRPr lang="en-US" sz="1500" dirty="0"/>
          </a:p>
        </p:txBody>
      </p:sp>
      <p:sp>
        <p:nvSpPr>
          <p:cNvPr id="9" name="Shape 7"/>
          <p:cNvSpPr/>
          <p:nvPr/>
        </p:nvSpPr>
        <p:spPr>
          <a:xfrm>
            <a:off x="7647127" y="1316736"/>
            <a:ext cx="3977640" cy="5065776"/>
          </a:xfrm>
          <a:prstGeom prst="roundRect">
            <a:avLst>
              <a:gd name="adj" fmla="val 2299"/>
            </a:avLst>
          </a:prstGeom>
          <a:solidFill>
            <a:srgbClr val="13233F"/>
          </a:solidFill>
          <a:ln w="12700">
            <a:solidFill>
              <a:srgbClr val="13233F"/>
            </a:solidFill>
            <a:prstDash val="solid"/>
          </a:ln>
        </p:spPr>
      </p:sp>
      <p:sp>
        <p:nvSpPr>
          <p:cNvPr id="10" name="Text 8"/>
          <p:cNvSpPr/>
          <p:nvPr/>
        </p:nvSpPr>
        <p:spPr>
          <a:xfrm>
            <a:off x="7958023" y="1591056"/>
            <a:ext cx="3355848" cy="274320"/>
          </a:xfrm>
          <a:prstGeom prst="rect">
            <a:avLst/>
          </a:prstGeom>
          <a:noFill/>
          <a:ln/>
        </p:spPr>
        <p:txBody>
          <a:bodyPr wrap="square" lIns="0" tIns="0" rIns="0" bIns="0" rtlCol="0" anchor="ctr"/>
          <a:lstStyle/>
          <a:p>
            <a:pPr indent="0" marL="0">
              <a:buNone/>
            </a:pPr>
            <a:r>
              <a:rPr lang="en-US" sz="1300" b="1" spc="150" kern="0" dirty="0">
                <a:solidFill>
                  <a:srgbClr val="B08D57"/>
                </a:solidFill>
                <a:latin typeface="微软雅黑" pitchFamily="34" charset="0"/>
                <a:ea typeface="微软雅黑" pitchFamily="34" charset="-122"/>
                <a:cs typeface="微软雅黑" pitchFamily="34" charset="-120"/>
              </a:rPr>
              <a:t>讨论问题</a:t>
            </a:r>
            <a:endParaRPr lang="en-US" sz="1300" dirty="0"/>
          </a:p>
        </p:txBody>
      </p:sp>
      <p:sp>
        <p:nvSpPr>
          <p:cNvPr id="11" name="Shape 9"/>
          <p:cNvSpPr/>
          <p:nvPr/>
        </p:nvSpPr>
        <p:spPr>
          <a:xfrm>
            <a:off x="7958023" y="2213737"/>
            <a:ext cx="274320" cy="274320"/>
          </a:xfrm>
          <a:prstGeom prst="ellipse">
            <a:avLst/>
          </a:prstGeom>
          <a:solidFill>
            <a:srgbClr val="B08D57"/>
          </a:solidFill>
          <a:ln w="12700">
            <a:solidFill>
              <a:srgbClr val="B08D57"/>
            </a:solidFill>
            <a:prstDash val="solid"/>
          </a:ln>
        </p:spPr>
      </p:sp>
      <p:sp>
        <p:nvSpPr>
          <p:cNvPr id="12" name="Text 10"/>
          <p:cNvSpPr/>
          <p:nvPr/>
        </p:nvSpPr>
        <p:spPr>
          <a:xfrm>
            <a:off x="7958023" y="2213737"/>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8323783" y="2217547"/>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四种情形分别如何定性？</a:t>
            </a:r>
            <a:endParaRPr lang="en-US" sz="1400" dirty="0"/>
          </a:p>
        </p:txBody>
      </p:sp>
      <p:sp>
        <p:nvSpPr>
          <p:cNvPr id="14" name="Shape 12"/>
          <p:cNvSpPr/>
          <p:nvPr/>
        </p:nvSpPr>
        <p:spPr>
          <a:xfrm>
            <a:off x="7958023" y="2965323"/>
            <a:ext cx="274320" cy="274320"/>
          </a:xfrm>
          <a:prstGeom prst="ellipse">
            <a:avLst/>
          </a:prstGeom>
          <a:solidFill>
            <a:srgbClr val="B08D57"/>
          </a:solidFill>
          <a:ln w="12700">
            <a:solidFill>
              <a:srgbClr val="B08D57"/>
            </a:solidFill>
            <a:prstDash val="solid"/>
          </a:ln>
        </p:spPr>
      </p:sp>
      <p:sp>
        <p:nvSpPr>
          <p:cNvPr id="15" name="Text 13"/>
          <p:cNvSpPr/>
          <p:nvPr/>
        </p:nvSpPr>
        <p:spPr>
          <a:xfrm>
            <a:off x="7958023" y="2965323"/>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8323783" y="2969133"/>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情形一与情形二的分界线是什么？</a:t>
            </a:r>
            <a:endParaRPr lang="en-US" sz="1400" dirty="0"/>
          </a:p>
        </p:txBody>
      </p:sp>
      <p:sp>
        <p:nvSpPr>
          <p:cNvPr id="17" name="Shape 15"/>
          <p:cNvSpPr/>
          <p:nvPr/>
        </p:nvSpPr>
        <p:spPr>
          <a:xfrm>
            <a:off x="7958023" y="3716909"/>
            <a:ext cx="274320" cy="274320"/>
          </a:xfrm>
          <a:prstGeom prst="ellipse">
            <a:avLst/>
          </a:prstGeom>
          <a:solidFill>
            <a:srgbClr val="B08D57"/>
          </a:solidFill>
          <a:ln w="12700">
            <a:solidFill>
              <a:srgbClr val="B08D57"/>
            </a:solidFill>
            <a:prstDash val="solid"/>
          </a:ln>
        </p:spPr>
      </p:sp>
      <p:sp>
        <p:nvSpPr>
          <p:cNvPr id="18" name="Text 16"/>
          <p:cNvSpPr/>
          <p:nvPr/>
        </p:nvSpPr>
        <p:spPr>
          <a:xfrm>
            <a:off x="7958023" y="3716909"/>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8323783" y="3720719"/>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情形三是否构成妨害作证？</a:t>
            </a:r>
            <a:endParaRPr lang="en-US" sz="1400" dirty="0"/>
          </a:p>
        </p:txBody>
      </p:sp>
      <p:sp>
        <p:nvSpPr>
          <p:cNvPr id="20" name="Shape 18"/>
          <p:cNvSpPr/>
          <p:nvPr/>
        </p:nvSpPr>
        <p:spPr>
          <a:xfrm>
            <a:off x="7958023" y="4468495"/>
            <a:ext cx="274320" cy="274320"/>
          </a:xfrm>
          <a:prstGeom prst="ellipse">
            <a:avLst/>
          </a:prstGeom>
          <a:solidFill>
            <a:srgbClr val="B08D57"/>
          </a:solidFill>
          <a:ln w="12700">
            <a:solidFill>
              <a:srgbClr val="B08D57"/>
            </a:solidFill>
            <a:prstDash val="solid"/>
          </a:ln>
        </p:spPr>
      </p:sp>
      <p:sp>
        <p:nvSpPr>
          <p:cNvPr id="21" name="Text 19"/>
          <p:cNvSpPr/>
          <p:nvPr/>
        </p:nvSpPr>
        <p:spPr>
          <a:xfrm>
            <a:off x="7958023" y="4468495"/>
            <a:ext cx="274320" cy="274320"/>
          </a:xfrm>
          <a:prstGeom prst="rect">
            <a:avLst/>
          </a:prstGeom>
          <a:noFill/>
          <a:ln/>
        </p:spPr>
        <p:txBody>
          <a:bodyPr wrap="square" lIns="0" tIns="0" rIns="0" bIns="0" rtlCol="0" anchor="ctr"/>
          <a:lstStyle/>
          <a:p>
            <a:pPr algn="ctr" indent="0" marL="0">
              <a:buNone/>
            </a:pPr>
            <a:r>
              <a:rPr lang="en-US" sz="1100" b="1" dirty="0">
                <a:solidFill>
                  <a:srgbClr val="13233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8323783" y="4472305"/>
            <a:ext cx="2971800" cy="266700"/>
          </a:xfrm>
          <a:prstGeom prst="rect">
            <a:avLst/>
          </a:prstGeom>
          <a:noFill/>
          <a:ln/>
        </p:spPr>
        <p:txBody>
          <a:bodyPr wrap="square" lIns="0" tIns="0" rIns="0" bIns="0" rtlCol="0" anchor="t"/>
          <a:lstStyle/>
          <a:p>
            <a:pPr indent="0" marL="0">
              <a:lnSpc>
                <a:spcPts val="2100"/>
              </a:lnSpc>
              <a:buNone/>
            </a:pPr>
            <a:r>
              <a:rPr lang="en-US" sz="1400" dirty="0">
                <a:solidFill>
                  <a:srgbClr val="E4E9F1"/>
                </a:solidFill>
                <a:latin typeface="微软雅黑" pitchFamily="34" charset="0"/>
                <a:ea typeface="微软雅黑" pitchFamily="34" charset="-122"/>
                <a:cs typeface="微软雅黑" pitchFamily="34" charset="-120"/>
              </a:rPr>
              <a:t>情形四中律师应当采取哪些步骤？</a:t>
            </a:r>
            <a:endParaRPr lang="en-US" sz="1400" dirty="0"/>
          </a:p>
        </p:txBody>
      </p:sp>
      <p:sp>
        <p:nvSpPr>
          <p:cNvPr id="23" name="Text 21"/>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20</a:t>
            </a:r>
            <a:endParaRPr lang="en-US" sz="11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402336"/>
            <a:ext cx="9183319" cy="237744"/>
          </a:xfrm>
          <a:prstGeom prst="rect">
            <a:avLst/>
          </a:prstGeom>
          <a:noFill/>
          <a:ln/>
        </p:spPr>
        <p:txBody>
          <a:bodyPr wrap="square" lIns="0" tIns="0" rIns="0" bIns="0" rtlCol="0" anchor="ctr"/>
          <a:lstStyle/>
          <a:p>
            <a:pPr indent="0" marL="0">
              <a:buNone/>
            </a:pPr>
            <a:r>
              <a:rPr lang="en-US" sz="1250" b="1" spc="120" kern="0" dirty="0">
                <a:solidFill>
                  <a:srgbClr val="B08D57"/>
                </a:solidFill>
                <a:latin typeface="微软雅黑" pitchFamily="34" charset="0"/>
                <a:ea typeface="微软雅黑" pitchFamily="34" charset="-122"/>
                <a:cs typeface="微软雅黑" pitchFamily="34" charset="-120"/>
              </a:rPr>
              <a:t>课堂研讨</a:t>
            </a:r>
            <a:endParaRPr lang="en-US" sz="1250" dirty="0"/>
          </a:p>
        </p:txBody>
      </p:sp>
      <p:sp>
        <p:nvSpPr>
          <p:cNvPr id="3" name="Text 1"/>
          <p:cNvSpPr/>
          <p:nvPr/>
        </p:nvSpPr>
        <p:spPr>
          <a:xfrm>
            <a:off x="566928" y="676656"/>
            <a:ext cx="9183319" cy="457200"/>
          </a:xfrm>
          <a:prstGeom prst="rect">
            <a:avLst/>
          </a:prstGeom>
          <a:noFill/>
          <a:ln/>
        </p:spPr>
        <p:txBody>
          <a:bodyPr wrap="square" lIns="0" tIns="0" rIns="0" bIns="0" rtlCol="0" anchor="t"/>
          <a:lstStyle/>
          <a:p>
            <a:pPr indent="0" marL="0">
              <a:buNone/>
            </a:pPr>
            <a:r>
              <a:rPr lang="en-US" sz="2800" b="1" dirty="0">
                <a:solidFill>
                  <a:srgbClr val="1B2430"/>
                </a:solidFill>
                <a:latin typeface="微软雅黑" pitchFamily="34" charset="0"/>
                <a:ea typeface="微软雅黑" pitchFamily="34" charset="-122"/>
                <a:cs typeface="微软雅黑" pitchFamily="34" charset="-120"/>
              </a:rPr>
              <a:t>思考与讨论</a:t>
            </a:r>
            <a:endParaRPr lang="en-US" sz="2800" dirty="0"/>
          </a:p>
        </p:txBody>
      </p:sp>
      <p:sp>
        <p:nvSpPr>
          <p:cNvPr id="4" name="Shape 2"/>
          <p:cNvSpPr/>
          <p:nvPr/>
        </p:nvSpPr>
        <p:spPr>
          <a:xfrm>
            <a:off x="566928" y="1316736"/>
            <a:ext cx="11057839" cy="1156716"/>
          </a:xfrm>
          <a:prstGeom prst="roundRect">
            <a:avLst>
              <a:gd name="adj" fmla="val 7115"/>
            </a:avLst>
          </a:prstGeom>
          <a:solidFill>
            <a:srgbClr val="ECF3F2"/>
          </a:solidFill>
          <a:ln w="12700">
            <a:solidFill>
              <a:srgbClr val="ECF3F2"/>
            </a:solidFill>
            <a:prstDash val="solid"/>
          </a:ln>
        </p:spPr>
      </p:sp>
      <p:sp>
        <p:nvSpPr>
          <p:cNvPr id="5" name="Shape 3"/>
          <p:cNvSpPr/>
          <p:nvPr/>
        </p:nvSpPr>
        <p:spPr>
          <a:xfrm>
            <a:off x="859536" y="1666494"/>
            <a:ext cx="457200" cy="457200"/>
          </a:xfrm>
          <a:prstGeom prst="ellipse">
            <a:avLst/>
          </a:prstGeom>
          <a:solidFill>
            <a:srgbClr val="2F6E6A"/>
          </a:solidFill>
          <a:ln w="12700">
            <a:solidFill>
              <a:srgbClr val="2F6E6A"/>
            </a:solidFill>
            <a:prstDash val="solid"/>
          </a:ln>
        </p:spPr>
      </p:sp>
      <p:sp>
        <p:nvSpPr>
          <p:cNvPr id="6" name="Text 4"/>
          <p:cNvSpPr/>
          <p:nvPr/>
        </p:nvSpPr>
        <p:spPr>
          <a:xfrm>
            <a:off x="859536" y="166649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99616" y="159029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英美法系部分规则要求律师主动向法庭披露对本方不利的控制性先例（adverse authority）。我国是否应当引入这一“积极真实义务”？请从对抗制的运作逻辑与法官检索能力两个角度论证。</a:t>
            </a:r>
            <a:endParaRPr lang="en-US" sz="1600" dirty="0"/>
          </a:p>
        </p:txBody>
      </p:sp>
      <p:sp>
        <p:nvSpPr>
          <p:cNvPr id="8" name="Shape 6"/>
          <p:cNvSpPr/>
          <p:nvPr/>
        </p:nvSpPr>
        <p:spPr>
          <a:xfrm>
            <a:off x="566928" y="2619756"/>
            <a:ext cx="11057839" cy="1156716"/>
          </a:xfrm>
          <a:prstGeom prst="roundRect">
            <a:avLst>
              <a:gd name="adj" fmla="val 7115"/>
            </a:avLst>
          </a:prstGeom>
          <a:solidFill>
            <a:srgbClr val="ECF3F2"/>
          </a:solidFill>
          <a:ln w="12700">
            <a:solidFill>
              <a:srgbClr val="ECF3F2"/>
            </a:solidFill>
            <a:prstDash val="solid"/>
          </a:ln>
        </p:spPr>
      </p:sp>
      <p:sp>
        <p:nvSpPr>
          <p:cNvPr id="9" name="Shape 7"/>
          <p:cNvSpPr/>
          <p:nvPr/>
        </p:nvSpPr>
        <p:spPr>
          <a:xfrm>
            <a:off x="859536" y="2969514"/>
            <a:ext cx="457200" cy="457200"/>
          </a:xfrm>
          <a:prstGeom prst="ellipse">
            <a:avLst/>
          </a:prstGeom>
          <a:solidFill>
            <a:srgbClr val="2F6E6A"/>
          </a:solidFill>
          <a:ln w="12700">
            <a:solidFill>
              <a:srgbClr val="2F6E6A"/>
            </a:solidFill>
            <a:prstDash val="solid"/>
          </a:ln>
        </p:spPr>
      </p:sp>
      <p:sp>
        <p:nvSpPr>
          <p:cNvPr id="10" name="Text 8"/>
          <p:cNvSpPr/>
          <p:nvPr/>
        </p:nvSpPr>
        <p:spPr>
          <a:xfrm>
            <a:off x="859536" y="296951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99616" y="289331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《刑法》第三百零六条被称为悬在刑辩律师头上的剑。请评价该条第二款出罪条款的实际效果，并提出既能防止伪证又能保障辩护的制度改进方案。</a:t>
            </a:r>
            <a:endParaRPr lang="en-US" sz="1600" dirty="0"/>
          </a:p>
        </p:txBody>
      </p:sp>
      <p:sp>
        <p:nvSpPr>
          <p:cNvPr id="12" name="Shape 10"/>
          <p:cNvSpPr/>
          <p:nvPr/>
        </p:nvSpPr>
        <p:spPr>
          <a:xfrm>
            <a:off x="566928" y="3922776"/>
            <a:ext cx="11057839" cy="1156716"/>
          </a:xfrm>
          <a:prstGeom prst="roundRect">
            <a:avLst>
              <a:gd name="adj" fmla="val 7115"/>
            </a:avLst>
          </a:prstGeom>
          <a:solidFill>
            <a:srgbClr val="ECF3F2"/>
          </a:solidFill>
          <a:ln w="12700">
            <a:solidFill>
              <a:srgbClr val="ECF3F2"/>
            </a:solidFill>
            <a:prstDash val="solid"/>
          </a:ln>
        </p:spPr>
      </p:sp>
      <p:sp>
        <p:nvSpPr>
          <p:cNvPr id="13" name="Shape 11"/>
          <p:cNvSpPr/>
          <p:nvPr/>
        </p:nvSpPr>
        <p:spPr>
          <a:xfrm>
            <a:off x="859536" y="4272534"/>
            <a:ext cx="457200" cy="457200"/>
          </a:xfrm>
          <a:prstGeom prst="ellipse">
            <a:avLst/>
          </a:prstGeom>
          <a:solidFill>
            <a:srgbClr val="2F6E6A"/>
          </a:solidFill>
          <a:ln w="12700">
            <a:solidFill>
              <a:srgbClr val="2F6E6A"/>
            </a:solidFill>
            <a:prstDash val="solid"/>
          </a:ln>
        </p:spPr>
      </p:sp>
      <p:sp>
        <p:nvSpPr>
          <p:cNvPr id="14" name="Text 12"/>
          <p:cNvSpPr/>
          <p:nvPr/>
        </p:nvSpPr>
        <p:spPr>
          <a:xfrm>
            <a:off x="859536" y="427253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99616" y="419633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某律师使用人工智能工具检索判例，将生成的三个“判例”写入代理词，庭审时被对方指出其中两个并不存在。该律师是否违反对法庭的义务？应当承担何种责任？</a:t>
            </a:r>
            <a:endParaRPr lang="en-US" sz="1600" dirty="0"/>
          </a:p>
        </p:txBody>
      </p:sp>
      <p:sp>
        <p:nvSpPr>
          <p:cNvPr id="16" name="Shape 14"/>
          <p:cNvSpPr/>
          <p:nvPr/>
        </p:nvSpPr>
        <p:spPr>
          <a:xfrm>
            <a:off x="566928" y="5225796"/>
            <a:ext cx="11057839" cy="1156716"/>
          </a:xfrm>
          <a:prstGeom prst="roundRect">
            <a:avLst>
              <a:gd name="adj" fmla="val 7115"/>
            </a:avLst>
          </a:prstGeom>
          <a:solidFill>
            <a:srgbClr val="ECF3F2"/>
          </a:solidFill>
          <a:ln w="12700">
            <a:solidFill>
              <a:srgbClr val="ECF3F2"/>
            </a:solidFill>
            <a:prstDash val="solid"/>
          </a:ln>
        </p:spPr>
      </p:sp>
      <p:sp>
        <p:nvSpPr>
          <p:cNvPr id="17" name="Shape 15"/>
          <p:cNvSpPr/>
          <p:nvPr/>
        </p:nvSpPr>
        <p:spPr>
          <a:xfrm>
            <a:off x="859536" y="5575554"/>
            <a:ext cx="457200" cy="457200"/>
          </a:xfrm>
          <a:prstGeom prst="ellipse">
            <a:avLst/>
          </a:prstGeom>
          <a:solidFill>
            <a:srgbClr val="2F6E6A"/>
          </a:solidFill>
          <a:ln w="12700">
            <a:solidFill>
              <a:srgbClr val="2F6E6A"/>
            </a:solidFill>
            <a:prstDash val="solid"/>
          </a:ln>
        </p:spPr>
      </p:sp>
      <p:sp>
        <p:nvSpPr>
          <p:cNvPr id="18" name="Text 16"/>
          <p:cNvSpPr/>
          <p:nvPr/>
        </p:nvSpPr>
        <p:spPr>
          <a:xfrm>
            <a:off x="859536" y="557555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99616" y="5499354"/>
            <a:ext cx="9887407" cy="609600"/>
          </a:xfrm>
          <a:prstGeom prst="rect">
            <a:avLst/>
          </a:prstGeom>
          <a:noFill/>
          <a:ln/>
        </p:spPr>
        <p:txBody>
          <a:bodyPr wrap="square" lIns="0" tIns="0" rIns="0" bIns="0" rtlCol="0" anchor="t"/>
          <a:lstStyle/>
          <a:p>
            <a:pPr indent="0" marL="0">
              <a:lnSpc>
                <a:spcPts val="2400"/>
              </a:lnSpc>
              <a:buNone/>
            </a:pPr>
            <a:r>
              <a:rPr lang="en-US" sz="1600" dirty="0">
                <a:solidFill>
                  <a:srgbClr val="1B2430"/>
                </a:solidFill>
                <a:latin typeface="微软雅黑" pitchFamily="34" charset="0"/>
                <a:ea typeface="微软雅黑" pitchFamily="34" charset="-122"/>
                <a:cs typeface="微软雅黑" pitchFamily="34" charset="-120"/>
              </a:rPr>
              <a:t>被告人坚持认罪，律师根据卷宗确信其无罪。此时律师作无罪辩护，是尊重了被告人的最佳利益，还是侵犯了他的自主决定权？请给出你的立场与理由。</a:t>
            </a:r>
            <a:endParaRPr lang="en-US" sz="1600" dirty="0"/>
          </a:p>
        </p:txBody>
      </p:sp>
      <p:sp>
        <p:nvSpPr>
          <p:cNvPr id="20" name="Text 18"/>
          <p:cNvSpPr/>
          <p:nvPr/>
        </p:nvSpPr>
        <p:spPr>
          <a:xfrm>
            <a:off x="9841687" y="420624"/>
            <a:ext cx="1783080" cy="256032"/>
          </a:xfrm>
          <a:prstGeom prst="rect">
            <a:avLst/>
          </a:prstGeom>
          <a:noFill/>
          <a:ln/>
        </p:spPr>
        <p:txBody>
          <a:bodyPr wrap="square" lIns="0" tIns="0" rIns="0" bIns="0" rtlCol="0" anchor="ctr"/>
          <a:lstStyle/>
          <a:p>
            <a:pPr algn="r" indent="0" marL="0">
              <a:buNone/>
            </a:pPr>
            <a:r>
              <a:rPr lang="en-US" sz="1100" dirty="0">
                <a:solidFill>
                  <a:srgbClr val="6B7684"/>
                </a:solidFill>
                <a:latin typeface="微软雅黑" pitchFamily="34" charset="0"/>
                <a:ea typeface="微软雅黑" pitchFamily="34" charset="-122"/>
                <a:cs typeface="微软雅黑" pitchFamily="34" charset="-120"/>
              </a:rPr>
              <a:t>第20课时 · 21</a:t>
            </a:r>
            <a:endParaRPr lang="en-US" sz="11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13233F"/>
        </a:solidFill>
      </p:bgPr>
    </p:bg>
    <p:spTree>
      <p:nvGrpSpPr>
        <p:cNvPr id="1" name=""/>
        <p:cNvGrpSpPr/>
        <p:nvPr/>
      </p:nvGrpSpPr>
      <p:grpSpPr>
        <a:xfrm>
          <a:off x="0" y="0"/>
          <a:ext cx="0" cy="0"/>
          <a:chOff x="0" y="0"/>
          <a:chExt cx="0" cy="0"/>
        </a:xfrm>
      </p:grpSpPr>
      <p:sp>
        <p:nvSpPr>
          <p:cNvPr id="2" name="Text 0"/>
          <p:cNvSpPr/>
          <p:nvPr/>
        </p:nvSpPr>
        <p:spPr>
          <a:xfrm>
            <a:off x="566928" y="475488"/>
            <a:ext cx="11057839" cy="274320"/>
          </a:xfrm>
          <a:prstGeom prst="rect">
            <a:avLst/>
          </a:prstGeom>
          <a:noFill/>
          <a:ln/>
        </p:spPr>
        <p:txBody>
          <a:bodyPr wrap="square" lIns="0" tIns="0" rIns="0" bIns="0" rtlCol="0" anchor="ctr"/>
          <a:lstStyle/>
          <a:p>
            <a:pPr indent="0" marL="0">
              <a:buNone/>
            </a:pPr>
            <a:r>
              <a:rPr lang="en-US" sz="1250" b="1" spc="200" kern="0" dirty="0">
                <a:solidFill>
                  <a:srgbClr val="B08D57"/>
                </a:solidFill>
                <a:latin typeface="微软雅黑" pitchFamily="34" charset="0"/>
                <a:ea typeface="微软雅黑" pitchFamily="34" charset="-122"/>
                <a:cs typeface="微软雅黑" pitchFamily="34" charset="-120"/>
              </a:rPr>
              <a:t>本课小结</a:t>
            </a:r>
            <a:endParaRPr lang="en-US" sz="1250" dirty="0"/>
          </a:p>
        </p:txBody>
      </p:sp>
      <p:sp>
        <p:nvSpPr>
          <p:cNvPr id="3" name="Text 1"/>
          <p:cNvSpPr/>
          <p:nvPr/>
        </p:nvSpPr>
        <p:spPr>
          <a:xfrm>
            <a:off x="566928" y="7863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微软雅黑" pitchFamily="34" charset="0"/>
                <a:ea typeface="微软雅黑" pitchFamily="34" charset="-122"/>
                <a:cs typeface="微软雅黑" pitchFamily="34" charset="-120"/>
              </a:rPr>
              <a:t>第20课时要点回顾</a:t>
            </a:r>
            <a:endParaRPr lang="en-US" sz="3000" dirty="0"/>
          </a:p>
        </p:txBody>
      </p:sp>
      <p:sp>
        <p:nvSpPr>
          <p:cNvPr id="4" name="Shape 2"/>
          <p:cNvSpPr/>
          <p:nvPr/>
        </p:nvSpPr>
        <p:spPr>
          <a:xfrm>
            <a:off x="566928" y="1591056"/>
            <a:ext cx="11057839" cy="761005"/>
          </a:xfrm>
          <a:prstGeom prst="roundRect">
            <a:avLst>
              <a:gd name="adj" fmla="val 9613"/>
            </a:avLst>
          </a:prstGeom>
          <a:solidFill>
            <a:srgbClr val="25395F"/>
          </a:solidFill>
          <a:ln w="12700">
            <a:solidFill>
              <a:srgbClr val="25395F"/>
            </a:solidFill>
            <a:prstDash val="solid"/>
          </a:ln>
        </p:spPr>
      </p:sp>
      <p:sp>
        <p:nvSpPr>
          <p:cNvPr id="5" name="Shape 3"/>
          <p:cNvSpPr/>
          <p:nvPr/>
        </p:nvSpPr>
        <p:spPr>
          <a:xfrm>
            <a:off x="859536" y="1770391"/>
            <a:ext cx="402336" cy="402336"/>
          </a:xfrm>
          <a:prstGeom prst="ellipse">
            <a:avLst/>
          </a:prstGeom>
          <a:solidFill>
            <a:srgbClr val="B08D57"/>
          </a:solidFill>
          <a:ln w="12700">
            <a:solidFill>
              <a:srgbClr val="B08D57"/>
            </a:solidFill>
            <a:prstDash val="solid"/>
          </a:ln>
        </p:spPr>
      </p:sp>
      <p:pic>
        <p:nvPicPr>
          <p:cNvPr id="6" name="Image 0" descr="preencoded.png">    </p:cNvPr>
          <p:cNvPicPr>
            <a:picLocks noChangeAspect="1"/>
          </p:cNvPicPr>
          <p:nvPr/>
        </p:nvPicPr>
        <p:blipFill>
          <a:blip r:embed="rId1"/>
          <a:stretch>
            <a:fillRect/>
          </a:stretch>
        </p:blipFill>
        <p:spPr>
          <a:xfrm>
            <a:off x="980237" y="1891091"/>
            <a:ext cx="160934" cy="160934"/>
          </a:xfrm>
          <a:prstGeom prst="rect">
            <a:avLst/>
          </a:prstGeom>
        </p:spPr>
      </p:pic>
      <p:sp>
        <p:nvSpPr>
          <p:cNvPr id="7" name="Text 4"/>
          <p:cNvSpPr/>
          <p:nvPr/>
        </p:nvSpPr>
        <p:spPr>
          <a:xfrm>
            <a:off x="1444752" y="1733434"/>
            <a:ext cx="9997135" cy="476250"/>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我国以消极真实义务为基本立场：不得主动欺骗法庭，但不负有主动揭发委托人不利事实的义务。核心分界是——就对方举证不足提出质疑（正当）与积极提出明知虚假的事实（禁止）。</a:t>
            </a:r>
            <a:endParaRPr lang="en-US" sz="1250" dirty="0"/>
          </a:p>
        </p:txBody>
      </p:sp>
      <p:sp>
        <p:nvSpPr>
          <p:cNvPr id="8" name="Shape 5"/>
          <p:cNvSpPr/>
          <p:nvPr/>
        </p:nvSpPr>
        <p:spPr>
          <a:xfrm>
            <a:off x="566928" y="2489221"/>
            <a:ext cx="11057839" cy="761005"/>
          </a:xfrm>
          <a:prstGeom prst="roundRect">
            <a:avLst>
              <a:gd name="adj" fmla="val 9613"/>
            </a:avLst>
          </a:prstGeom>
          <a:solidFill>
            <a:srgbClr val="25395F"/>
          </a:solidFill>
          <a:ln w="12700">
            <a:solidFill>
              <a:srgbClr val="25395F"/>
            </a:solidFill>
            <a:prstDash val="solid"/>
          </a:ln>
        </p:spPr>
      </p:sp>
      <p:sp>
        <p:nvSpPr>
          <p:cNvPr id="9" name="Shape 6"/>
          <p:cNvSpPr/>
          <p:nvPr/>
        </p:nvSpPr>
        <p:spPr>
          <a:xfrm>
            <a:off x="859536" y="2668556"/>
            <a:ext cx="402336" cy="402336"/>
          </a:xfrm>
          <a:prstGeom prst="ellipse">
            <a:avLst/>
          </a:prstGeom>
          <a:solidFill>
            <a:srgbClr val="B08D57"/>
          </a:solidFill>
          <a:ln w="12700">
            <a:solidFill>
              <a:srgbClr val="B08D57"/>
            </a:solidFill>
            <a:prstDash val="solid"/>
          </a:ln>
        </p:spPr>
      </p:sp>
      <p:pic>
        <p:nvPicPr>
          <p:cNvPr id="10" name="Image 1" descr="preencoded.png">    </p:cNvPr>
          <p:cNvPicPr>
            <a:picLocks noChangeAspect="1"/>
          </p:cNvPicPr>
          <p:nvPr/>
        </p:nvPicPr>
        <p:blipFill>
          <a:blip r:embed="rId2"/>
          <a:stretch>
            <a:fillRect/>
          </a:stretch>
        </p:blipFill>
        <p:spPr>
          <a:xfrm>
            <a:off x="980237" y="2789257"/>
            <a:ext cx="160934" cy="160934"/>
          </a:xfrm>
          <a:prstGeom prst="rect">
            <a:avLst/>
          </a:prstGeom>
        </p:spPr>
      </p:pic>
      <p:sp>
        <p:nvSpPr>
          <p:cNvPr id="11" name="Text 7"/>
          <p:cNvSpPr/>
          <p:nvPr/>
        </p:nvSpPr>
        <p:spPr>
          <a:xfrm>
            <a:off x="1444752" y="2631599"/>
            <a:ext cx="9997135" cy="476250"/>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对法庭的四项义务：不提供虚假证据与不作虚假陈述、如实引用法律与判例（含核实人工智能生成的检索结果）、尊重法庭与遵守规则、不得违规接触与影响。</a:t>
            </a:r>
            <a:endParaRPr lang="en-US" sz="1250" dirty="0"/>
          </a:p>
        </p:txBody>
      </p:sp>
      <p:sp>
        <p:nvSpPr>
          <p:cNvPr id="12" name="Shape 8"/>
          <p:cNvSpPr/>
          <p:nvPr/>
        </p:nvSpPr>
        <p:spPr>
          <a:xfrm>
            <a:off x="566928" y="3387386"/>
            <a:ext cx="11057839" cy="761005"/>
          </a:xfrm>
          <a:prstGeom prst="roundRect">
            <a:avLst>
              <a:gd name="adj" fmla="val 9613"/>
            </a:avLst>
          </a:prstGeom>
          <a:solidFill>
            <a:srgbClr val="25395F"/>
          </a:solidFill>
          <a:ln w="12700">
            <a:solidFill>
              <a:srgbClr val="25395F"/>
            </a:solidFill>
            <a:prstDash val="solid"/>
          </a:ln>
        </p:spPr>
      </p:sp>
      <p:sp>
        <p:nvSpPr>
          <p:cNvPr id="13" name="Shape 9"/>
          <p:cNvSpPr/>
          <p:nvPr/>
        </p:nvSpPr>
        <p:spPr>
          <a:xfrm>
            <a:off x="859536" y="3566721"/>
            <a:ext cx="402336" cy="402336"/>
          </a:xfrm>
          <a:prstGeom prst="ellipse">
            <a:avLst/>
          </a:prstGeom>
          <a:solidFill>
            <a:srgbClr val="B08D57"/>
          </a:solidFill>
          <a:ln w="12700">
            <a:solidFill>
              <a:srgbClr val="B08D57"/>
            </a:solidFill>
            <a:prstDash val="solid"/>
          </a:ln>
        </p:spPr>
      </p:sp>
      <p:pic>
        <p:nvPicPr>
          <p:cNvPr id="14" name="Image 2" descr="preencoded.png">    </p:cNvPr>
          <p:cNvPicPr>
            <a:picLocks noChangeAspect="1"/>
          </p:cNvPicPr>
          <p:nvPr/>
        </p:nvPicPr>
        <p:blipFill>
          <a:blip r:embed="rId3"/>
          <a:stretch>
            <a:fillRect/>
          </a:stretch>
        </p:blipFill>
        <p:spPr>
          <a:xfrm>
            <a:off x="980237" y="3687422"/>
            <a:ext cx="160934" cy="160934"/>
          </a:xfrm>
          <a:prstGeom prst="rect">
            <a:avLst/>
          </a:prstGeom>
        </p:spPr>
      </p:pic>
      <p:sp>
        <p:nvSpPr>
          <p:cNvPr id="15" name="Text 10"/>
          <p:cNvSpPr/>
          <p:nvPr/>
        </p:nvSpPr>
        <p:spPr>
          <a:xfrm>
            <a:off x="1444752" y="3529764"/>
            <a:ext cx="9997135" cy="476250"/>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《刑法》第三百零六条第二款是重要的出罪条款：证据失实而非有意伪造的，不构成犯罪。取证六条自我保护规则：两人同行、全程记录、先程序后实体、不作引导性发问、不涉利益、优先申请司法机关取证。</a:t>
            </a:r>
            <a:endParaRPr lang="en-US" sz="1250" dirty="0"/>
          </a:p>
        </p:txBody>
      </p:sp>
      <p:sp>
        <p:nvSpPr>
          <p:cNvPr id="16" name="Shape 11"/>
          <p:cNvSpPr/>
          <p:nvPr/>
        </p:nvSpPr>
        <p:spPr>
          <a:xfrm>
            <a:off x="566928" y="4285552"/>
            <a:ext cx="11057839" cy="530818"/>
          </a:xfrm>
          <a:prstGeom prst="roundRect">
            <a:avLst>
              <a:gd name="adj" fmla="val 13781"/>
            </a:avLst>
          </a:prstGeom>
          <a:solidFill>
            <a:srgbClr val="25395F"/>
          </a:solidFill>
          <a:ln w="12700">
            <a:solidFill>
              <a:srgbClr val="25395F"/>
            </a:solidFill>
            <a:prstDash val="solid"/>
          </a:ln>
        </p:spPr>
      </p:sp>
      <p:sp>
        <p:nvSpPr>
          <p:cNvPr id="17" name="Shape 12"/>
          <p:cNvSpPr/>
          <p:nvPr/>
        </p:nvSpPr>
        <p:spPr>
          <a:xfrm>
            <a:off x="859536" y="4367848"/>
            <a:ext cx="366226" cy="366226"/>
          </a:xfrm>
          <a:prstGeom prst="ellipse">
            <a:avLst/>
          </a:prstGeom>
          <a:solidFill>
            <a:srgbClr val="B08D57"/>
          </a:solidFill>
          <a:ln w="12700">
            <a:solidFill>
              <a:srgbClr val="B08D57"/>
            </a:solidFill>
            <a:prstDash val="solid"/>
          </a:ln>
        </p:spPr>
      </p:sp>
      <p:pic>
        <p:nvPicPr>
          <p:cNvPr id="18" name="Image 3" descr="preencoded.png">    </p:cNvPr>
          <p:cNvPicPr>
            <a:picLocks noChangeAspect="1"/>
          </p:cNvPicPr>
          <p:nvPr/>
        </p:nvPicPr>
        <p:blipFill>
          <a:blip r:embed="rId4"/>
          <a:stretch>
            <a:fillRect/>
          </a:stretch>
        </p:blipFill>
        <p:spPr>
          <a:xfrm>
            <a:off x="969404" y="4477715"/>
            <a:ext cx="146490" cy="146490"/>
          </a:xfrm>
          <a:prstGeom prst="rect">
            <a:avLst/>
          </a:prstGeom>
        </p:spPr>
      </p:pic>
      <p:sp>
        <p:nvSpPr>
          <p:cNvPr id="19" name="Text 13"/>
          <p:cNvSpPr/>
          <p:nvPr/>
        </p:nvSpPr>
        <p:spPr>
          <a:xfrm>
            <a:off x="1444752" y="4431898"/>
            <a:ext cx="9997135" cy="238125"/>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对对方三条规则：不得绕过对方代理人直接接触、对无代理人的对方须表明立场、不得欺骗与不当施压。对抗是角色，不是敌意。</a:t>
            </a:r>
            <a:endParaRPr lang="en-US" sz="1250" dirty="0"/>
          </a:p>
        </p:txBody>
      </p:sp>
      <p:sp>
        <p:nvSpPr>
          <p:cNvPr id="20" name="Shape 14"/>
          <p:cNvSpPr/>
          <p:nvPr/>
        </p:nvSpPr>
        <p:spPr>
          <a:xfrm>
            <a:off x="566928" y="4953529"/>
            <a:ext cx="11057839" cy="530818"/>
          </a:xfrm>
          <a:prstGeom prst="roundRect">
            <a:avLst>
              <a:gd name="adj" fmla="val 13781"/>
            </a:avLst>
          </a:prstGeom>
          <a:solidFill>
            <a:srgbClr val="25395F"/>
          </a:solidFill>
          <a:ln w="12700">
            <a:solidFill>
              <a:srgbClr val="25395F"/>
            </a:solidFill>
            <a:prstDash val="solid"/>
          </a:ln>
        </p:spPr>
      </p:sp>
      <p:sp>
        <p:nvSpPr>
          <p:cNvPr id="21" name="Shape 15"/>
          <p:cNvSpPr/>
          <p:nvPr/>
        </p:nvSpPr>
        <p:spPr>
          <a:xfrm>
            <a:off x="859536" y="5035825"/>
            <a:ext cx="366226" cy="366226"/>
          </a:xfrm>
          <a:prstGeom prst="ellipse">
            <a:avLst/>
          </a:prstGeom>
          <a:solidFill>
            <a:srgbClr val="B08D57"/>
          </a:solidFill>
          <a:ln w="12700">
            <a:solidFill>
              <a:srgbClr val="B08D57"/>
            </a:solidFill>
            <a:prstDash val="solid"/>
          </a:ln>
        </p:spPr>
      </p:sp>
      <p:pic>
        <p:nvPicPr>
          <p:cNvPr id="22" name="Image 4" descr="preencoded.png">    </p:cNvPr>
          <p:cNvPicPr>
            <a:picLocks noChangeAspect="1"/>
          </p:cNvPicPr>
          <p:nvPr/>
        </p:nvPicPr>
        <p:blipFill>
          <a:blip r:embed="rId5"/>
          <a:stretch>
            <a:fillRect/>
          </a:stretch>
        </p:blipFill>
        <p:spPr>
          <a:xfrm>
            <a:off x="969404" y="5145693"/>
            <a:ext cx="146490" cy="146490"/>
          </a:xfrm>
          <a:prstGeom prst="rect">
            <a:avLst/>
          </a:prstGeom>
        </p:spPr>
      </p:pic>
      <p:sp>
        <p:nvSpPr>
          <p:cNvPr id="23" name="Text 16"/>
          <p:cNvSpPr/>
          <p:nvPr/>
        </p:nvSpPr>
        <p:spPr>
          <a:xfrm>
            <a:off x="1444752" y="5099876"/>
            <a:ext cx="9997135" cy="238125"/>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取证界限：如实记录已有记忆（合法）—提示与唤起记忆（灰色，须全程留痕）—威胁引诱指使（违法且不以证言实际改变为要件）。</a:t>
            </a:r>
            <a:endParaRPr lang="en-US" sz="1250" dirty="0"/>
          </a:p>
        </p:txBody>
      </p:sp>
      <p:sp>
        <p:nvSpPr>
          <p:cNvPr id="24" name="Shape 17"/>
          <p:cNvSpPr/>
          <p:nvPr/>
        </p:nvSpPr>
        <p:spPr>
          <a:xfrm>
            <a:off x="566928" y="5621507"/>
            <a:ext cx="11057839" cy="761005"/>
          </a:xfrm>
          <a:prstGeom prst="roundRect">
            <a:avLst>
              <a:gd name="adj" fmla="val 9613"/>
            </a:avLst>
          </a:prstGeom>
          <a:solidFill>
            <a:srgbClr val="25395F"/>
          </a:solidFill>
          <a:ln w="12700">
            <a:solidFill>
              <a:srgbClr val="25395F"/>
            </a:solidFill>
            <a:prstDash val="solid"/>
          </a:ln>
        </p:spPr>
      </p:sp>
      <p:sp>
        <p:nvSpPr>
          <p:cNvPr id="25" name="Shape 18"/>
          <p:cNvSpPr/>
          <p:nvPr/>
        </p:nvSpPr>
        <p:spPr>
          <a:xfrm>
            <a:off x="859536" y="5800841"/>
            <a:ext cx="402336" cy="402336"/>
          </a:xfrm>
          <a:prstGeom prst="ellipse">
            <a:avLst/>
          </a:prstGeom>
          <a:solidFill>
            <a:srgbClr val="B08D57"/>
          </a:solidFill>
          <a:ln w="12700">
            <a:solidFill>
              <a:srgbClr val="B08D57"/>
            </a:solidFill>
            <a:prstDash val="solid"/>
          </a:ln>
        </p:spPr>
      </p:sp>
      <p:pic>
        <p:nvPicPr>
          <p:cNvPr id="26" name="Image 5" descr="preencoded.png">    </p:cNvPr>
          <p:cNvPicPr>
            <a:picLocks noChangeAspect="1"/>
          </p:cNvPicPr>
          <p:nvPr/>
        </p:nvPicPr>
        <p:blipFill>
          <a:blip r:embed="rId6"/>
          <a:stretch>
            <a:fillRect/>
          </a:stretch>
        </p:blipFill>
        <p:spPr>
          <a:xfrm>
            <a:off x="980237" y="5921542"/>
            <a:ext cx="160934" cy="160934"/>
          </a:xfrm>
          <a:prstGeom prst="rect">
            <a:avLst/>
          </a:prstGeom>
        </p:spPr>
      </p:pic>
      <p:sp>
        <p:nvSpPr>
          <p:cNvPr id="27" name="Text 19"/>
          <p:cNvSpPr/>
          <p:nvPr/>
        </p:nvSpPr>
        <p:spPr>
          <a:xfrm>
            <a:off x="1444752" y="5763884"/>
            <a:ext cx="9997135" cy="476250"/>
          </a:xfrm>
          <a:prstGeom prst="rect">
            <a:avLst/>
          </a:prstGeom>
          <a:noFill/>
          <a:ln/>
        </p:spPr>
        <p:txBody>
          <a:bodyPr wrap="square" lIns="0" tIns="0" rIns="0" bIns="0" rtlCol="0" anchor="t"/>
          <a:lstStyle/>
          <a:p>
            <a:pPr indent="0" marL="0">
              <a:lnSpc>
                <a:spcPts val="1875"/>
              </a:lnSpc>
              <a:buNone/>
            </a:pPr>
            <a:r>
              <a:rPr lang="en-US" sz="1250" dirty="0">
                <a:solidFill>
                  <a:srgbClr val="E4E9F1"/>
                </a:solidFill>
                <a:latin typeface="微软雅黑" pitchFamily="34" charset="0"/>
                <a:ea typeface="微软雅黑" pitchFamily="34" charset="-122"/>
                <a:cs typeface="微软雅黑" pitchFamily="34" charset="-120"/>
              </a:rPr>
              <a:t>庭外言论四问框架：问目的、问必要、问授权、问后果。《律师法》第三十七条的言论豁免仅限于法庭上的代理、辩护意见，庭外发言不在豁免范围。</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90</Slides>
  <Notes>90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90</vt:i4>
      </vt:variant>
    </vt:vector>
  </HeadingPairs>
  <TitlesOfParts>
    <vt:vector size="9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法律职业伦理</dc:title>
  <dc:subject>法律职业伦理 课程课件（24课时）</dc:subject>
  <dc:creator>王晓淑</dc:creator>
  <cp:lastModifiedBy>王晓淑</cp:lastModifiedBy>
  <cp:revision>1</cp:revision>
  <dcterms:created xsi:type="dcterms:W3CDTF">2026-08-25T09:30:02Z</dcterms:created>
  <dcterms:modified xsi:type="dcterms:W3CDTF">2026-08-25T09:30:02Z</dcterms:modified>
</cp:coreProperties>
</file>